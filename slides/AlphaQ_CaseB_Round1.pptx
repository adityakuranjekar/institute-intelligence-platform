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pening" id="{6fa9f5cb-b47d-3a7f-0f2b-03462908ad55}">
          <p14:sldIdLst>
            <p14:sldId id="256"/>
          </p14:sldIdLst>
        </p14:section>
        <p14:section name="Problem and product" id="{9188b2e9-e1c2-82c6-1838-f20dad764358}">
          <p14:sldIdLst>
            <p14:sldId id="257"/>
            <p14:sldId id="258"/>
            <p14:sldId id="259"/>
          </p14:sldIdLst>
        </p14:section>
        <p14:section name="Technology" id="{dc097531-def0-5c8f-a6e9-0ac6517df20e}">
          <p14:sldIdLst>
            <p14:sldId id="260"/>
            <p14:sldId id="261"/>
            <p14:sldId id="262"/>
            <p14:sldId id="263"/>
            <p14:sldId id="264"/>
            <p14:sldId id="265"/>
          </p14:sldIdLst>
        </p14:section>
        <p14:section name="Business" id="{422c4dab-229b-1bed-a3f1-4c9c4843ee82}">
          <p14:sldIdLst>
            <p14:sldId id="266"/>
            <p14:sldId id="267"/>
            <p14:sldId id="268"/>
          </p14:sldIdLst>
        </p14:section>
        <p14:section name="Validation" id="{d109c930-09ca-bf18-a388-a46e463d6822}">
          <p14:sldIdLst>
            <p14:sldId id="269"/>
          </p14:sldIdLst>
        </p14:section>
        <p14:section name="Appendix" id="{7ff307e7-b271-8fac-6fef-b8ff8e9919d8}">
          <p14:sldIdLst>
            <p14:sldId id="270"/>
            <p14:sldId id="271"/>
            <p14:sldId id="272"/>
            <p14:sldId id="273"/>
            <p14:sldId id="274"/>
          </p14:sldIdLst>
        </p14:section>
        <p14:section name="Closing" id="{990fce0d-1278-ebb5-8f16-375e277dd681}">
          <p14:sldIdLst>
            <p14:sldId id="27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Title. Right-hand screens are illustrative mock-ups rendered from HTML with synthetic values: the web console and three phone screens. The two AUC figures are results on public datasets (ASSISTments 2009 under the pyKT protocol, OULAD day 28); the 3.6 rupee figure is the model's all-in cost per student per month.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Dense problem slide. The 8-15 percent and 36,000 rupee figures and the 17.3 lakh total are the guide's illustrative baselines (400 x 12% x 36,000). The roster index is an assumption in the financial model; competitor price range comes from the finance research (listed prices, low-medium confidence).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Product wall: upload, topic map, support list, profile, owner dashboard, parent report. All images are illustrative mock-ups (HTML rendered by headless Edge) using synthetic data and real report text from the report module.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New slide. Web console (owner, teacher, compliance) and phone screens (scan, mentor list, parent view in Hindi or English). All are illustrative HTML mock-ups with synthetic data. Delivery plan: Next.js PWA installed from the browser, so no app-store account is needed.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Architecture. Status tags: BUILT means working code with tests; IN BUILD means in progress; DESIGNED means specified but not coded. Evidence boxes are real: 12 messy export files and 210 synthetic OMR images exist; 31 tables and tenant isolation tested on a live PostgreSQL 16; OULAD 0.706 and ASSISTments 0.763 on public data; 20 templates and 8 checks.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Evidence: the bar chart uses the real result file (online IRT 0.763, 1-parameter 0.759, logistic baseline 0.741, BKT 0.714) next to the published pyKT values (DKT 0.754, SAKT 0.725, AKT 0.785). IRT recovery, wrong-key detection and mastery-vs-baseline come from Agent B and must replace the amber placeholders before submission.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OULAD table is real: LightGBM with isotonic calibration, student-grouped 5-fold; rules are the two deterministic baselines. Published anchors for context: 0.727, 0.794 and 0.804 at days 14, 28 and 42 (PLOS ONE 2026); ours is lower, so do not claim parity. Precision at top 10 percent is shown as P@10. Early warning on synthetic institutes and the comparison against the institute rule come from Agent C.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Prediction range is schematic until Agent C delivers coverage numbers. The report images use real template output. Do not state a verifier catch rate until the independent adversarial test passes after the E2 fixes.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Routing table mirrors contracts/routing_policy.yaml. The OULAD bars show that academic-only features lose only about 0.007 to 0.025 AUC against academic plus click behaviour: privacy is cheap here. A lawyer's check on the in-person ID flow is still recommended.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Differentiators. Item 05 (small-batch strength) is marked result pending until the difficulty-recovery curve exists. Item 08 refers to public-data results and the independent attack on the report checker, with misses listed.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Numbers are from the workbook scenarios table, mid institute. The guide's 25 percent prevention and 2.25x return are shown as the baseline we replaced. Safe wording: randomised trials in comparable settings show 5 to 30 percent among students who get outreach; we model 15 percent.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Heat tables are the two grids of the Sensitivity sheet. Bear, Base and Bull LTV/CAC for the mid institute are -0.1x, 3.7x and 24x. The segment bars show small 1.5x, mid 3.7x, large 9.1x with paybacks of 18, 6 and 3 months.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Competitor matrix shows only what vendor listings showed; a question mark means it could not be verified from the listing, not that the feature is absent. Do not state that competitors lack the features.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Replace amber pending items with measured values from deck_numbers.py. Limitations to state first: synthetic data proves the pipeline only; the percentile mapping is an assumption table; difficulty scales are comparable across institutes only through anchors.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Mandatory disclosure (Problem Statement, rule 2). Keep this as the last slide of the submitted PDF.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1737360"/>
          </a:xfrm>
          <a:prstGeom prst="rect">
            <a:avLst/>
          </a:prstGeom>
          <a:solidFill>
            <a:srgbClr val="F28C2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737360"/>
            <a:ext cx="146304" cy="1737360"/>
          </a:xfrm>
          <a:prstGeom prst="rect">
            <a:avLst/>
          </a:prstGeom>
          <a:solidFill>
            <a:srgbClr val="1FA971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3474720"/>
            <a:ext cx="146304" cy="1737360"/>
          </a:xfrm>
          <a:prstGeom prst="rect">
            <a:avLst/>
          </a:prstGeom>
          <a:solidFill>
            <a:srgbClr val="2F80D1"/>
          </a:solidFill>
          <a:ln/>
        </p:spPr>
      </p:sp>
      <p:sp>
        <p:nvSpPr>
          <p:cNvPr id="5" name="Shape 3"/>
          <p:cNvSpPr/>
          <p:nvPr/>
        </p:nvSpPr>
        <p:spPr>
          <a:xfrm>
            <a:off x="0" y="5212080"/>
            <a:ext cx="146304" cy="1645920"/>
          </a:xfrm>
          <a:prstGeom prst="rect">
            <a:avLst/>
          </a:prstGeom>
          <a:solidFill>
            <a:srgbClr val="F7B500"/>
          </a:solidFill>
          <a:ln/>
        </p:spPr>
      </p:sp>
      <p:sp>
        <p:nvSpPr>
          <p:cNvPr id="6" name="Text 4"/>
          <p:cNvSpPr/>
          <p:nvPr/>
        </p:nvSpPr>
        <p:spPr>
          <a:xfrm>
            <a:off x="10241280" y="649224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E7C4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Pragati</a:t>
            </a:r>
            <a:endParaRPr lang="en-US" sz="1100" dirty="0"/>
          </a:p>
        </p:txBody>
      </p:sp>
      <p:sp>
        <p:nvSpPr>
          <p:cNvPr id="7" name="Text 5"/>
          <p:cNvSpPr/>
          <p:nvPr>
            <p:ph idx="105" type="title" hasCustomPrompt="1"/>
          </p:nvPr>
        </p:nvSpPr>
        <p:spPr>
          <a:xfrm>
            <a:off x="411480" y="310896"/>
            <a:ext cx="11368735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400" b="1" dirty="0">
                <a:solidFill>
                  <a:srgbClr val="1E2B2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defRPr>
            </a:lvl1pPr>
          </a:lstStyle>
          <a:p>
            <a:pPr indent="0" marL="0">
              <a:buNone/>
            </a:pP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92240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75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WALL">
    <p:bg>
      <p:bgPr>
        <a:solidFill>
          <a:srgbClr val="FFF8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11480" y="310896"/>
            <a:ext cx="11368735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600" b="1" dirty="0">
                <a:solidFill>
                  <a:srgbClr val="1E2B2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defRPr>
            </a:lvl1pPr>
          </a:lstStyle>
          <a:p>
            <a:pPr indent="0" marL="0">
              <a:buNone/>
            </a:pPr>
            <a:endParaRPr lang="en-US" sz="26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ULL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FA971"/>
          </a:solidFill>
          <a:ln/>
        </p:spPr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411480" y="457200"/>
            <a:ext cx="11368735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200" b="1" dirty="0">
                <a:solidFill>
                  <a:srgbClr val="1E2B2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defRPr>
            </a:lvl1pPr>
          </a:lstStyle>
          <a:p>
            <a:pPr indent="0" marL="0">
              <a:buNone/>
            </a:pPr>
            <a:endParaRPr lang="en-US" sz="3200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11480" y="1417320"/>
            <a:ext cx="5669280" cy="21945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100" b="1" dirty="0">
                <a:solidFill>
                  <a:srgbClr val="1E2B2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defRPr>
            </a:lvl1pPr>
          </a:lstStyle>
          <a:p>
            <a:pPr indent="0" marL="0">
              <a:buNone/>
            </a:pPr>
            <a:endParaRPr lang="en-US" sz="31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92240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75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6.xml"/><Relationship Id="rId6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image" Target="../media/image-2-7.png"/><Relationship Id="rId8" Type="http://schemas.openxmlformats.org/officeDocument/2006/relationships/image" Target="../media/image-2-8.png"/><Relationship Id="rId9" Type="http://schemas.openxmlformats.org/officeDocument/2006/relationships/image" Target="../media/image-2-9.png"/><Relationship Id="rId10" Type="http://schemas.openxmlformats.org/officeDocument/2006/relationships/image" Target="../media/image-2-10.png"/><Relationship Id="rId11" Type="http://schemas.openxmlformats.org/officeDocument/2006/relationships/image" Target="../media/image-2-11.png"/><Relationship Id="rId12" Type="http://schemas.openxmlformats.org/officeDocument/2006/relationships/image" Target="../media/image-2-12.png"/><Relationship Id="rId13" Type="http://schemas.openxmlformats.org/officeDocument/2006/relationships/image" Target="../media/image-2-13.png"/><Relationship Id="rId14" Type="http://schemas.openxmlformats.org/officeDocument/2006/relationships/image" Target="../media/image-2-14.png"/><Relationship Id="rId15" Type="http://schemas.openxmlformats.org/officeDocument/2006/relationships/image" Target="../media/image-2-15.png"/><Relationship Id="rId16" Type="http://schemas.openxmlformats.org/officeDocument/2006/relationships/image" Target="../media/image-2-16.png"/><Relationship Id="rId17" Type="http://schemas.openxmlformats.org/officeDocument/2006/relationships/image" Target="../media/image-2-17.png"/><Relationship Id="rId18" Type="http://schemas.openxmlformats.org/officeDocument/2006/relationships/slideLayout" Target="../slideLayouts/slideLayout2.xml"/><Relationship Id="rId19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image" Target="../media/image-4-7.png"/><Relationship Id="rId8" Type="http://schemas.openxmlformats.org/officeDocument/2006/relationships/image" Target="../media/image-4-8.png"/><Relationship Id="rId9" Type="http://schemas.openxmlformats.org/officeDocument/2006/relationships/image" Target="../media/image-4-9.png"/><Relationship Id="rId10" Type="http://schemas.openxmlformats.org/officeDocument/2006/relationships/slideLayout" Target="../slideLayouts/slideLayout2.xml"/><Relationship Id="rId11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image" Target="../media/image-7-6.png"/><Relationship Id="rId7" Type="http://schemas.openxmlformats.org/officeDocument/2006/relationships/image" Target="../media/image-7-7.png"/><Relationship Id="rId8" Type="http://schemas.openxmlformats.org/officeDocument/2006/relationships/image" Target="../media/image-7-8.png"/><Relationship Id="rId9" Type="http://schemas.openxmlformats.org/officeDocument/2006/relationships/slideLayout" Target="../slideLayouts/slideLayout2.xml"/><Relationship Id="rId10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image" Target="../media/image-9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image" Target="../media/image-13-5.pn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image" Target="../media/image-16-5.pn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image" Target="../media/image-18-4.png"/><Relationship Id="rId5" Type="http://schemas.openxmlformats.org/officeDocument/2006/relationships/image" Target="../media/image-18-5.png"/><Relationship Id="rId6" Type="http://schemas.openxmlformats.org/officeDocument/2006/relationships/image" Target="../media/image-18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223760" y="0"/>
            <a:ext cx="4937760" cy="4937760"/>
          </a:xfrm>
          <a:prstGeom prst="ellipse">
            <a:avLst/>
          </a:prstGeom>
          <a:solidFill>
            <a:srgbClr val="FFEBD6"/>
          </a:solidFill>
          <a:ln/>
        </p:spPr>
      </p:sp>
      <p:sp>
        <p:nvSpPr>
          <p:cNvPr id="3" name="Shape 1"/>
          <p:cNvSpPr/>
          <p:nvPr/>
        </p:nvSpPr>
        <p:spPr>
          <a:xfrm>
            <a:off x="4754880" y="3611880"/>
            <a:ext cx="3108960" cy="3108960"/>
          </a:xfrm>
          <a:prstGeom prst="ellipse">
            <a:avLst/>
          </a:prstGeom>
          <a:solidFill>
            <a:srgbClr val="E4F5EC"/>
          </a:solidFill>
          <a:ln/>
        </p:spPr>
      </p:sp>
      <p:sp>
        <p:nvSpPr>
          <p:cNvPr id="4" name="Shape 2"/>
          <p:cNvSpPr/>
          <p:nvPr/>
        </p:nvSpPr>
        <p:spPr>
          <a:xfrm>
            <a:off x="10881360" y="4572000"/>
            <a:ext cx="1280160" cy="2194560"/>
          </a:xfrm>
          <a:prstGeom prst="ellipse">
            <a:avLst/>
          </a:prstGeom>
          <a:solidFill>
            <a:srgbClr val="FFF3C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411480" y="777240"/>
            <a:ext cx="5760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rgbClr val="D970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B  ·  THE DATA MOAT</a:t>
            </a:r>
            <a:endParaRPr lang="en-US" sz="1300" dirty="0"/>
          </a:p>
        </p:txBody>
      </p:sp>
      <p:sp>
        <p:nvSpPr>
          <p:cNvPr id="6" name="Text 0"/>
          <p:cNvSpPr/>
          <p:nvPr>
            <p:ph idx="100" type="title" hasCustomPrompt="1"/>
          </p:nvPr>
        </p:nvSpPr>
        <p:spPr>
          <a:xfrm>
            <a:off x="411480" y="1417320"/>
            <a:ext cx="566928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100" b="1" dirty="0">
                <a:solidFill>
                  <a:srgbClr val="1E2B2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Intelligence for the coaching institutes that run on Excel, OMR sheets and WhatsApp</a:t>
            </a:r>
            <a:endParaRPr lang="en-US" sz="3100" dirty="0"/>
          </a:p>
        </p:txBody>
      </p:sp>
      <p:sp>
        <p:nvSpPr>
          <p:cNvPr id="7" name="Text 5"/>
          <p:cNvSpPr txBox="1"/>
          <p:nvPr/>
        </p:nvSpPr>
        <p:spPr>
          <a:xfrm>
            <a:off x="411480" y="3703320"/>
            <a:ext cx="5394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2633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Pragati turns one upload into a topic map, a weekly support list and a verified Hindi and English parent report. On the web and on the phone. Offline, private, free to run.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11480" y="4846320"/>
            <a:ext cx="1737360" cy="914400"/>
          </a:xfrm>
          <a:prstGeom prst="roundRect">
            <a:avLst>
              <a:gd name="adj" fmla="val 14000"/>
            </a:avLst>
          </a:prstGeom>
          <a:solidFill>
            <a:srgbClr val="1FA971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39496" y="4892040"/>
            <a:ext cx="1508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0.763</a:t>
            </a:r>
            <a:endParaRPr lang="en-US" sz="2400" dirty="0"/>
          </a:p>
        </p:txBody>
      </p:sp>
      <p:sp>
        <p:nvSpPr>
          <p:cNvPr id="10" name="Text 8"/>
          <p:cNvSpPr txBox="1"/>
          <p:nvPr/>
        </p:nvSpPr>
        <p:spPr>
          <a:xfrm>
            <a:off x="539496" y="5349240"/>
            <a:ext cx="1508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AUC on ASSISTments (public)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2286000" y="4846320"/>
            <a:ext cx="1737360" cy="914400"/>
          </a:xfrm>
          <a:prstGeom prst="roundRect">
            <a:avLst>
              <a:gd name="adj" fmla="val 14000"/>
            </a:avLst>
          </a:prstGeom>
          <a:solidFill>
            <a:srgbClr val="F28C28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2414016" y="4892040"/>
            <a:ext cx="1508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0.706</a:t>
            </a:r>
            <a:endParaRPr lang="en-US" sz="2400" dirty="0"/>
          </a:p>
        </p:txBody>
      </p:sp>
      <p:sp>
        <p:nvSpPr>
          <p:cNvPr id="13" name="Text 11"/>
          <p:cNvSpPr txBox="1"/>
          <p:nvPr/>
        </p:nvSpPr>
        <p:spPr>
          <a:xfrm>
            <a:off x="2414016" y="5349240"/>
            <a:ext cx="1508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AUC on OULAD, day 28 (public)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4160520" y="4846320"/>
            <a:ext cx="1737360" cy="914400"/>
          </a:xfrm>
          <a:prstGeom prst="roundRect">
            <a:avLst>
              <a:gd name="adj" fmla="val 14000"/>
            </a:avLst>
          </a:prstGeom>
          <a:solidFill>
            <a:srgbClr val="2F80D1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4288536" y="4892040"/>
            <a:ext cx="1508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₹3.6</a:t>
            </a:r>
            <a:endParaRPr lang="en-US" sz="2400" dirty="0"/>
          </a:p>
        </p:txBody>
      </p:sp>
      <p:sp>
        <p:nvSpPr>
          <p:cNvPr id="16" name="Text 14"/>
          <p:cNvSpPr txBox="1"/>
          <p:nvPr/>
        </p:nvSpPr>
        <p:spPr>
          <a:xfrm>
            <a:off x="4288536" y="5349240"/>
            <a:ext cx="1508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student per month</a:t>
            </a:r>
            <a:endParaRPr lang="en-US" sz="950" dirty="0"/>
          </a:p>
        </p:txBody>
      </p:sp>
      <p:sp>
        <p:nvSpPr>
          <p:cNvPr id="17" name="Text 15"/>
          <p:cNvSpPr txBox="1"/>
          <p:nvPr/>
        </p:nvSpPr>
        <p:spPr>
          <a:xfrm>
            <a:off x="411480" y="6126480"/>
            <a:ext cx="5852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B67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Pragati  ·  Round 1  ·  Nextute x Finance Club, IIT Patna</a:t>
            </a:r>
            <a:endParaRPr lang="en-US" sz="1200" dirty="0"/>
          </a:p>
        </p:txBody>
      </p:sp>
      <p:pic>
        <p:nvPicPr>
          <p:cNvPr id="18" name="Image 0" descr="Pragati web console (illustrative)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89320" y="685800"/>
            <a:ext cx="5760720" cy="3236976"/>
          </a:xfrm>
          <a:prstGeom prst="rect">
            <a:avLst/>
          </a:prstGeom>
        </p:spPr>
      </p:pic>
      <p:pic>
        <p:nvPicPr>
          <p:cNvPr id="19" name="Image 1" descr="Pragati scan screen on a phone (illustrative)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37960" y="3063240"/>
            <a:ext cx="1600200" cy="3200400"/>
          </a:xfrm>
          <a:prstGeom prst="rect">
            <a:avLst/>
          </a:prstGeom>
        </p:spPr>
      </p:pic>
      <p:pic>
        <p:nvPicPr>
          <p:cNvPr id="20" name="Image 2" descr="Pragati mentor app (illustrative)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0" y="2834640"/>
            <a:ext cx="1600200" cy="3200400"/>
          </a:xfrm>
          <a:prstGeom prst="rect">
            <a:avLst/>
          </a:prstGeom>
        </p:spPr>
      </p:pic>
      <p:pic>
        <p:nvPicPr>
          <p:cNvPr id="21" name="Image 3" descr="Pragati parent app (illustrative)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21240" y="3063240"/>
            <a:ext cx="1600200" cy="3200400"/>
          </a:xfrm>
          <a:prstGeom prst="rect">
            <a:avLst/>
          </a:prstGeom>
        </p:spPr>
      </p:pic>
      <p:sp>
        <p:nvSpPr>
          <p:cNvPr id="22" name="Shape 16"/>
          <p:cNvSpPr/>
          <p:nvPr/>
        </p:nvSpPr>
        <p:spPr>
          <a:xfrm>
            <a:off x="9601200" y="6355080"/>
            <a:ext cx="1609344" cy="21945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B675F"/>
            </a:solidFill>
            <a:prstDash val="solid"/>
          </a:ln>
        </p:spPr>
      </p:sp>
      <p:sp>
        <p:nvSpPr>
          <p:cNvPr id="23" name="Text 17"/>
          <p:cNvSpPr txBox="1"/>
          <p:nvPr/>
        </p:nvSpPr>
        <p:spPr>
          <a:xfrm>
            <a:off x="9601200" y="6355080"/>
            <a:ext cx="160934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B67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ILLUSTRATIVE MOCK-UP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5"/>
          <p:cNvSpPr/>
          <p:nvPr>
            <p:ph idx="105" type="title" hasCustomPrompt="1"/>
          </p:nvPr>
        </p:nvSpPr>
        <p:spPr>
          <a:xfrm>
            <a:off x="411480" y="310896"/>
            <a:ext cx="113687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E2B2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Institutes hold the data, but notice a struggling student only after they leave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7589520" y="182880"/>
            <a:ext cx="41879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b="1" spc="150" kern="0" dirty="0">
                <a:solidFill>
                  <a:srgbClr val="5B67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FRAMING · PARTICIPANT GUIDE §2, §7</a:t>
            </a:r>
            <a:endParaRPr lang="en-US" sz="950" dirty="0"/>
          </a:p>
        </p:txBody>
      </p:sp>
      <p:sp>
        <p:nvSpPr>
          <p:cNvPr id="4" name="Shape 2"/>
          <p:cNvSpPr/>
          <p:nvPr/>
        </p:nvSpPr>
        <p:spPr>
          <a:xfrm>
            <a:off x="411480" y="1115568"/>
            <a:ext cx="4343400" cy="2651760"/>
          </a:xfrm>
          <a:prstGeom prst="roundRect">
            <a:avLst>
              <a:gd name="adj" fmla="val 4828"/>
            </a:avLst>
          </a:prstGeom>
          <a:solidFill>
            <a:srgbClr val="E4F5EC"/>
          </a:solidFill>
          <a:ln/>
        </p:spPr>
      </p:sp>
      <p:sp>
        <p:nvSpPr>
          <p:cNvPr id="5" name="Shape 3"/>
          <p:cNvSpPr/>
          <p:nvPr/>
        </p:nvSpPr>
        <p:spPr>
          <a:xfrm>
            <a:off x="557784" y="1220724"/>
            <a:ext cx="128016" cy="128016"/>
          </a:xfrm>
          <a:prstGeom prst="ellipse">
            <a:avLst/>
          </a:prstGeom>
          <a:solidFill>
            <a:srgbClr val="1FA971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58952" y="1161288"/>
            <a:ext cx="3886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50" kern="0" dirty="0">
                <a:solidFill>
                  <a:srgbClr val="0E7C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LOSES TODAY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48640" y="1481328"/>
            <a:ext cx="420624" cy="420624"/>
          </a:xfrm>
          <a:prstGeom prst="ellipse">
            <a:avLst/>
          </a:prstGeom>
          <a:solidFill>
            <a:srgbClr val="1FA971"/>
          </a:solidFill>
          <a:ln/>
        </p:spPr>
      </p:sp>
      <p:pic>
        <p:nvPicPr>
          <p:cNvPr id="8" name="Image 0" descr="FaChalkboardUser ic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1177" y="1573865"/>
            <a:ext cx="235549" cy="235549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097280" y="1481328"/>
            <a:ext cx="914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E2B2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Teachers</a:t>
            </a:r>
            <a:endParaRPr lang="en-US" sz="1250" dirty="0"/>
          </a:p>
        </p:txBody>
      </p:sp>
      <p:sp>
        <p:nvSpPr>
          <p:cNvPr id="10" name="Text 7"/>
          <p:cNvSpPr txBox="1"/>
          <p:nvPr/>
        </p:nvSpPr>
        <p:spPr>
          <a:xfrm>
            <a:off x="2011680" y="1481328"/>
            <a:ext cx="2651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2633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which topics are weak only after the exam.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548640" y="2029968"/>
            <a:ext cx="420624" cy="420624"/>
          </a:xfrm>
          <a:prstGeom prst="ellipse">
            <a:avLst/>
          </a:prstGeom>
          <a:solidFill>
            <a:srgbClr val="F28C28"/>
          </a:solidFill>
          <a:ln/>
        </p:spPr>
      </p:sp>
      <p:pic>
        <p:nvPicPr>
          <p:cNvPr id="12" name="Image 1" descr="FaBuilding ico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1177" y="2122505"/>
            <a:ext cx="235549" cy="235549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1097280" y="2029968"/>
            <a:ext cx="914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E2B2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Owners</a:t>
            </a:r>
            <a:endParaRPr lang="en-US" sz="1250" dirty="0"/>
          </a:p>
        </p:txBody>
      </p:sp>
      <p:sp>
        <p:nvSpPr>
          <p:cNvPr id="14" name="Text 10"/>
          <p:cNvSpPr txBox="1"/>
          <p:nvPr/>
        </p:nvSpPr>
        <p:spPr>
          <a:xfrm>
            <a:off x="2011680" y="2029968"/>
            <a:ext cx="2651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2633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Cannot compare batches or teaching methods.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548640" y="2578608"/>
            <a:ext cx="420624" cy="420624"/>
          </a:xfrm>
          <a:prstGeom prst="ellipse">
            <a:avLst/>
          </a:prstGeom>
          <a:solidFill>
            <a:srgbClr val="2F80D1"/>
          </a:solidFill>
          <a:ln/>
        </p:spPr>
      </p:sp>
      <p:pic>
        <p:nvPicPr>
          <p:cNvPr id="16" name="Image 2" descr="FaUsers ico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177" y="2671145"/>
            <a:ext cx="235549" cy="235549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1097280" y="2578608"/>
            <a:ext cx="914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E2B2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Parents</a:t>
            </a:r>
            <a:endParaRPr lang="en-US" sz="1250" dirty="0"/>
          </a:p>
        </p:txBody>
      </p:sp>
      <p:sp>
        <p:nvSpPr>
          <p:cNvPr id="18" name="Text 13"/>
          <p:cNvSpPr txBox="1"/>
          <p:nvPr/>
        </p:nvSpPr>
        <p:spPr>
          <a:xfrm>
            <a:off x="2011680" y="2578608"/>
            <a:ext cx="2651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2633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a marks list and little else, so trust suffers.</a:t>
            </a:r>
            <a:endParaRPr lang="en-US" sz="1100" dirty="0"/>
          </a:p>
        </p:txBody>
      </p:sp>
      <p:sp>
        <p:nvSpPr>
          <p:cNvPr id="19" name="Shape 14"/>
          <p:cNvSpPr/>
          <p:nvPr/>
        </p:nvSpPr>
        <p:spPr>
          <a:xfrm>
            <a:off x="548640" y="3127248"/>
            <a:ext cx="420624" cy="420624"/>
          </a:xfrm>
          <a:prstGeom prst="ellipse">
            <a:avLst/>
          </a:prstGeom>
          <a:solidFill>
            <a:srgbClr val="F7B500"/>
          </a:solidFill>
          <a:ln/>
        </p:spPr>
      </p:sp>
      <p:pic>
        <p:nvPicPr>
          <p:cNvPr id="20" name="Image 3" descr="FaChildReaching ico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1177" y="3219785"/>
            <a:ext cx="235549" cy="235549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1097280" y="3127248"/>
            <a:ext cx="914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E2B2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Students</a:t>
            </a:r>
            <a:endParaRPr lang="en-US" sz="1250" dirty="0"/>
          </a:p>
        </p:txBody>
      </p:sp>
      <p:sp>
        <p:nvSpPr>
          <p:cNvPr id="22" name="Text 16"/>
          <p:cNvSpPr txBox="1"/>
          <p:nvPr/>
        </p:nvSpPr>
        <p:spPr>
          <a:xfrm>
            <a:off x="2011680" y="3127248"/>
            <a:ext cx="2651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2633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Noticed only after they stop paying or coming.</a:t>
            </a:r>
            <a:endParaRPr lang="en-US" sz="1100" dirty="0"/>
          </a:p>
        </p:txBody>
      </p:sp>
      <p:sp>
        <p:nvSpPr>
          <p:cNvPr id="23" name="Shape 17"/>
          <p:cNvSpPr/>
          <p:nvPr/>
        </p:nvSpPr>
        <p:spPr>
          <a:xfrm>
            <a:off x="4846320" y="1115568"/>
            <a:ext cx="3977640" cy="2651760"/>
          </a:xfrm>
          <a:prstGeom prst="roundRect">
            <a:avLst>
              <a:gd name="adj" fmla="val 4828"/>
            </a:avLst>
          </a:prstGeom>
          <a:solidFill>
            <a:srgbClr val="FFEBD6"/>
          </a:solidFill>
          <a:ln/>
        </p:spPr>
      </p:sp>
      <p:sp>
        <p:nvSpPr>
          <p:cNvPr id="24" name="Shape 18"/>
          <p:cNvSpPr/>
          <p:nvPr/>
        </p:nvSpPr>
        <p:spPr>
          <a:xfrm>
            <a:off x="4992624" y="1220724"/>
            <a:ext cx="128016" cy="128016"/>
          </a:xfrm>
          <a:prstGeom prst="ellipse">
            <a:avLst/>
          </a:prstGeom>
          <a:solidFill>
            <a:srgbClr val="F28C28"/>
          </a:solidFill>
          <a:ln/>
        </p:spPr>
      </p:sp>
      <p:sp>
        <p:nvSpPr>
          <p:cNvPr id="25" name="Text 19"/>
          <p:cNvSpPr txBox="1"/>
          <p:nvPr/>
        </p:nvSpPr>
        <p:spPr>
          <a:xfrm>
            <a:off x="5193792" y="1161288"/>
            <a:ext cx="3520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50" kern="0" dirty="0">
                <a:solidFill>
                  <a:srgbClr val="D970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THE DATA LIVES</a:t>
            </a:r>
            <a:endParaRPr lang="en-US" sz="1200" dirty="0"/>
          </a:p>
        </p:txBody>
      </p:sp>
      <p:sp>
        <p:nvSpPr>
          <p:cNvPr id="26" name="Shape 20"/>
          <p:cNvSpPr/>
          <p:nvPr/>
        </p:nvSpPr>
        <p:spPr>
          <a:xfrm>
            <a:off x="4983480" y="1481328"/>
            <a:ext cx="3703320" cy="530352"/>
          </a:xfrm>
          <a:prstGeom prst="rect">
            <a:avLst/>
          </a:prstGeom>
          <a:solidFill>
            <a:srgbClr val="F1F7F3"/>
          </a:solidFill>
          <a:ln/>
        </p:spPr>
      </p:sp>
      <p:sp>
        <p:nvSpPr>
          <p:cNvPr id="27" name="Shape 21"/>
          <p:cNvSpPr/>
          <p:nvPr/>
        </p:nvSpPr>
        <p:spPr>
          <a:xfrm>
            <a:off x="5047488" y="1545336"/>
            <a:ext cx="402336" cy="402336"/>
          </a:xfrm>
          <a:prstGeom prst="ellipse">
            <a:avLst/>
          </a:prstGeom>
          <a:solidFill>
            <a:srgbClr val="1FA971"/>
          </a:solidFill>
          <a:ln/>
        </p:spPr>
      </p:sp>
      <p:pic>
        <p:nvPicPr>
          <p:cNvPr id="28" name="Image 4" descr="FaFileLines icon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136002" y="1633850"/>
            <a:ext cx="225308" cy="225308"/>
          </a:xfrm>
          <a:prstGeom prst="rect">
            <a:avLst/>
          </a:prstGeom>
        </p:spPr>
      </p:pic>
      <p:sp>
        <p:nvSpPr>
          <p:cNvPr id="29" name="Text 22"/>
          <p:cNvSpPr txBox="1"/>
          <p:nvPr/>
        </p:nvSpPr>
        <p:spPr>
          <a:xfrm>
            <a:off x="5559552" y="1481328"/>
            <a:ext cx="14630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2633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Paper OMR sheets</a:t>
            </a:r>
            <a:endParaRPr lang="en-US" sz="1150" dirty="0"/>
          </a:p>
        </p:txBody>
      </p:sp>
      <p:sp>
        <p:nvSpPr>
          <p:cNvPr id="30" name="Text 23"/>
          <p:cNvSpPr txBox="1"/>
          <p:nvPr/>
        </p:nvSpPr>
        <p:spPr>
          <a:xfrm>
            <a:off x="6995160" y="1481328"/>
            <a:ext cx="16459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2633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Marks kept; per-question answers rarely are.</a:t>
            </a:r>
            <a:endParaRPr lang="en-US" sz="1050" dirty="0"/>
          </a:p>
        </p:txBody>
      </p:sp>
      <p:sp>
        <p:nvSpPr>
          <p:cNvPr id="31" name="Shape 24"/>
          <p:cNvSpPr/>
          <p:nvPr/>
        </p:nvSpPr>
        <p:spPr>
          <a:xfrm>
            <a:off x="4983480" y="2084832"/>
            <a:ext cx="3703320" cy="530352"/>
          </a:xfrm>
          <a:prstGeom prst="rect">
            <a:avLst/>
          </a:prstGeom>
          <a:solidFill>
            <a:srgbClr val="F1F7F3"/>
          </a:solidFill>
          <a:ln/>
        </p:spPr>
      </p:sp>
      <p:sp>
        <p:nvSpPr>
          <p:cNvPr id="32" name="Shape 25"/>
          <p:cNvSpPr/>
          <p:nvPr/>
        </p:nvSpPr>
        <p:spPr>
          <a:xfrm>
            <a:off x="5047488" y="2148840"/>
            <a:ext cx="402336" cy="402336"/>
          </a:xfrm>
          <a:prstGeom prst="ellipse">
            <a:avLst/>
          </a:prstGeom>
          <a:solidFill>
            <a:srgbClr val="F28C28"/>
          </a:solidFill>
          <a:ln/>
        </p:spPr>
      </p:sp>
      <p:pic>
        <p:nvPicPr>
          <p:cNvPr id="33" name="Image 5" descr="FaFileExcel icon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136002" y="2237354"/>
            <a:ext cx="225308" cy="225308"/>
          </a:xfrm>
          <a:prstGeom prst="rect">
            <a:avLst/>
          </a:prstGeom>
        </p:spPr>
      </p:pic>
      <p:sp>
        <p:nvSpPr>
          <p:cNvPr id="34" name="Text 26"/>
          <p:cNvSpPr txBox="1"/>
          <p:nvPr/>
        </p:nvSpPr>
        <p:spPr>
          <a:xfrm>
            <a:off x="5559552" y="2084832"/>
            <a:ext cx="14630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2633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Excel and registers</a:t>
            </a:r>
            <a:endParaRPr lang="en-US" sz="1150" dirty="0"/>
          </a:p>
        </p:txBody>
      </p:sp>
      <p:sp>
        <p:nvSpPr>
          <p:cNvPr id="35" name="Text 27"/>
          <p:cNvSpPr txBox="1"/>
          <p:nvPr/>
        </p:nvSpPr>
        <p:spPr>
          <a:xfrm>
            <a:off x="6995160" y="2084832"/>
            <a:ext cx="16459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2633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Headers, names and dates differ file to file.</a:t>
            </a:r>
            <a:endParaRPr lang="en-US" sz="1050" dirty="0"/>
          </a:p>
        </p:txBody>
      </p:sp>
      <p:sp>
        <p:nvSpPr>
          <p:cNvPr id="36" name="Shape 28"/>
          <p:cNvSpPr/>
          <p:nvPr/>
        </p:nvSpPr>
        <p:spPr>
          <a:xfrm>
            <a:off x="4983480" y="2688336"/>
            <a:ext cx="3703320" cy="530352"/>
          </a:xfrm>
          <a:prstGeom prst="rect">
            <a:avLst/>
          </a:prstGeom>
          <a:solidFill>
            <a:srgbClr val="F1F7F3"/>
          </a:solidFill>
          <a:ln/>
        </p:spPr>
      </p:sp>
      <p:sp>
        <p:nvSpPr>
          <p:cNvPr id="37" name="Shape 29"/>
          <p:cNvSpPr/>
          <p:nvPr/>
        </p:nvSpPr>
        <p:spPr>
          <a:xfrm>
            <a:off x="5047488" y="2752344"/>
            <a:ext cx="402336" cy="402336"/>
          </a:xfrm>
          <a:prstGeom prst="ellipse">
            <a:avLst/>
          </a:prstGeom>
          <a:solidFill>
            <a:srgbClr val="2F80D1"/>
          </a:solidFill>
          <a:ln/>
        </p:spPr>
      </p:sp>
      <p:pic>
        <p:nvPicPr>
          <p:cNvPr id="38" name="Image 6" descr="FaWhatsapp icon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136002" y="2840858"/>
            <a:ext cx="225308" cy="225308"/>
          </a:xfrm>
          <a:prstGeom prst="rect">
            <a:avLst/>
          </a:prstGeom>
        </p:spPr>
      </p:pic>
      <p:sp>
        <p:nvSpPr>
          <p:cNvPr id="39" name="Text 30"/>
          <p:cNvSpPr txBox="1"/>
          <p:nvPr/>
        </p:nvSpPr>
        <p:spPr>
          <a:xfrm>
            <a:off x="5559552" y="2688336"/>
            <a:ext cx="14630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2633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WhatsApp groups</a:t>
            </a:r>
            <a:endParaRPr lang="en-US" sz="1150" dirty="0"/>
          </a:p>
        </p:txBody>
      </p:sp>
      <p:sp>
        <p:nvSpPr>
          <p:cNvPr id="40" name="Text 31"/>
          <p:cNvSpPr txBox="1"/>
          <p:nvPr/>
        </p:nvSpPr>
        <p:spPr>
          <a:xfrm>
            <a:off x="6995160" y="2688336"/>
            <a:ext cx="16459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2633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Photos and chats, with no structure to analyse.</a:t>
            </a:r>
            <a:endParaRPr lang="en-US" sz="1050" dirty="0"/>
          </a:p>
        </p:txBody>
      </p:sp>
      <p:sp>
        <p:nvSpPr>
          <p:cNvPr id="41" name="Shape 32"/>
          <p:cNvSpPr/>
          <p:nvPr/>
        </p:nvSpPr>
        <p:spPr>
          <a:xfrm>
            <a:off x="4983480" y="3364992"/>
            <a:ext cx="3703320" cy="274320"/>
          </a:xfrm>
          <a:prstGeom prst="roundRect">
            <a:avLst>
              <a:gd name="adj" fmla="val 50000"/>
            </a:avLst>
          </a:prstGeom>
          <a:solidFill>
            <a:srgbClr val="1F63A8"/>
          </a:solidFill>
          <a:ln/>
        </p:spPr>
      </p:sp>
      <p:sp>
        <p:nvSpPr>
          <p:cNvPr id="42" name="Text 33"/>
          <p:cNvSpPr txBox="1"/>
          <p:nvPr/>
        </p:nvSpPr>
        <p:spPr>
          <a:xfrm>
            <a:off x="5120640" y="3364992"/>
            <a:ext cx="3429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Result: no topic view, no early warning</a:t>
            </a:r>
            <a:endParaRPr lang="en-US" sz="1150" dirty="0"/>
          </a:p>
        </p:txBody>
      </p:sp>
      <p:sp>
        <p:nvSpPr>
          <p:cNvPr id="43" name="Shape 34"/>
          <p:cNvSpPr/>
          <p:nvPr/>
        </p:nvSpPr>
        <p:spPr>
          <a:xfrm>
            <a:off x="8915400" y="1115568"/>
            <a:ext cx="2864815" cy="2651760"/>
          </a:xfrm>
          <a:prstGeom prst="roundRect">
            <a:avLst>
              <a:gd name="adj" fmla="val 4828"/>
            </a:avLst>
          </a:prstGeom>
          <a:solidFill>
            <a:srgbClr val="E3EEFB"/>
          </a:solidFill>
          <a:ln/>
        </p:spPr>
      </p:sp>
      <p:sp>
        <p:nvSpPr>
          <p:cNvPr id="44" name="Shape 35"/>
          <p:cNvSpPr/>
          <p:nvPr/>
        </p:nvSpPr>
        <p:spPr>
          <a:xfrm>
            <a:off x="9061704" y="1220724"/>
            <a:ext cx="128016" cy="128016"/>
          </a:xfrm>
          <a:prstGeom prst="ellipse">
            <a:avLst/>
          </a:prstGeom>
          <a:solidFill>
            <a:srgbClr val="2F80D1"/>
          </a:solidFill>
          <a:ln/>
        </p:spPr>
      </p:sp>
      <p:sp>
        <p:nvSpPr>
          <p:cNvPr id="45" name="Text 36"/>
          <p:cNvSpPr txBox="1"/>
          <p:nvPr/>
        </p:nvSpPr>
        <p:spPr>
          <a:xfrm>
            <a:off x="9262872" y="1161288"/>
            <a:ext cx="24076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50" kern="0" dirty="0">
                <a:solidFill>
                  <a:srgbClr val="1F6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IT COSTS</a:t>
            </a:r>
            <a:endParaRPr lang="en-US" sz="1200" dirty="0"/>
          </a:p>
        </p:txBody>
      </p:sp>
      <p:sp>
        <p:nvSpPr>
          <p:cNvPr id="46" name="Shape 37"/>
          <p:cNvSpPr/>
          <p:nvPr/>
        </p:nvSpPr>
        <p:spPr>
          <a:xfrm>
            <a:off x="9025128" y="1463040"/>
            <a:ext cx="2645359" cy="585216"/>
          </a:xfrm>
          <a:prstGeom prst="rect">
            <a:avLst/>
          </a:prstGeom>
          <a:solidFill>
            <a:srgbClr val="FFF0BF"/>
          </a:solidFill>
          <a:ln/>
        </p:spPr>
      </p:sp>
      <p:sp>
        <p:nvSpPr>
          <p:cNvPr id="47" name="Text 38"/>
          <p:cNvSpPr txBox="1"/>
          <p:nvPr/>
        </p:nvSpPr>
        <p:spPr>
          <a:xfrm>
            <a:off x="9098280" y="1463040"/>
            <a:ext cx="13258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E2B2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8-15 %</a:t>
            </a:r>
            <a:endParaRPr lang="en-US" sz="1800" dirty="0"/>
          </a:p>
        </p:txBody>
      </p:sp>
      <p:sp>
        <p:nvSpPr>
          <p:cNvPr id="48" name="Text 39"/>
          <p:cNvSpPr txBox="1"/>
          <p:nvPr/>
        </p:nvSpPr>
        <p:spPr>
          <a:xfrm>
            <a:off x="10396728" y="1463040"/>
            <a:ext cx="1218895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2633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students drop out or default mid-session</a:t>
            </a:r>
            <a:endParaRPr lang="en-US" sz="1000" dirty="0"/>
          </a:p>
        </p:txBody>
      </p:sp>
      <p:sp>
        <p:nvSpPr>
          <p:cNvPr id="49" name="Shape 40"/>
          <p:cNvSpPr/>
          <p:nvPr/>
        </p:nvSpPr>
        <p:spPr>
          <a:xfrm>
            <a:off x="9025128" y="2103120"/>
            <a:ext cx="2645359" cy="585216"/>
          </a:xfrm>
          <a:prstGeom prst="rect">
            <a:avLst/>
          </a:prstGeom>
          <a:solidFill>
            <a:srgbClr val="FFF0BF"/>
          </a:solidFill>
          <a:ln/>
        </p:spPr>
      </p:sp>
      <p:sp>
        <p:nvSpPr>
          <p:cNvPr id="50" name="Text 41"/>
          <p:cNvSpPr txBox="1"/>
          <p:nvPr/>
        </p:nvSpPr>
        <p:spPr>
          <a:xfrm>
            <a:off x="9098280" y="2103120"/>
            <a:ext cx="13258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E2B2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₹36,000</a:t>
            </a:r>
            <a:endParaRPr lang="en-US" sz="1800" dirty="0"/>
          </a:p>
        </p:txBody>
      </p:sp>
      <p:sp>
        <p:nvSpPr>
          <p:cNvPr id="51" name="Text 42"/>
          <p:cNvSpPr txBox="1"/>
          <p:nvPr/>
        </p:nvSpPr>
        <p:spPr>
          <a:xfrm>
            <a:off x="10396728" y="2103120"/>
            <a:ext cx="1218895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2633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fees lost per dropout at month 4</a:t>
            </a:r>
            <a:endParaRPr lang="en-US" sz="1000" dirty="0"/>
          </a:p>
        </p:txBody>
      </p:sp>
      <p:sp>
        <p:nvSpPr>
          <p:cNvPr id="52" name="Shape 43"/>
          <p:cNvSpPr/>
          <p:nvPr/>
        </p:nvSpPr>
        <p:spPr>
          <a:xfrm>
            <a:off x="9025128" y="2743200"/>
            <a:ext cx="2645359" cy="585216"/>
          </a:xfrm>
          <a:prstGeom prst="rect">
            <a:avLst/>
          </a:prstGeom>
          <a:solidFill>
            <a:srgbClr val="FFF0BF"/>
          </a:solidFill>
          <a:ln/>
        </p:spPr>
      </p:sp>
      <p:sp>
        <p:nvSpPr>
          <p:cNvPr id="53" name="Text 44"/>
          <p:cNvSpPr txBox="1"/>
          <p:nvPr/>
        </p:nvSpPr>
        <p:spPr>
          <a:xfrm>
            <a:off x="9098280" y="2743200"/>
            <a:ext cx="13258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E2B2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₹17.3 lakh</a:t>
            </a:r>
            <a:endParaRPr lang="en-US" sz="1800" dirty="0"/>
          </a:p>
        </p:txBody>
      </p:sp>
      <p:sp>
        <p:nvSpPr>
          <p:cNvPr id="54" name="Text 45"/>
          <p:cNvSpPr txBox="1"/>
          <p:nvPr/>
        </p:nvSpPr>
        <p:spPr>
          <a:xfrm>
            <a:off x="10396728" y="2743200"/>
            <a:ext cx="1218895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2633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fees at risk a year (400 students, 12 %)</a:t>
            </a:r>
            <a:endParaRPr lang="en-US" sz="1000" dirty="0"/>
          </a:p>
        </p:txBody>
      </p:sp>
      <p:sp>
        <p:nvSpPr>
          <p:cNvPr id="55" name="Shape 46"/>
          <p:cNvSpPr/>
          <p:nvPr/>
        </p:nvSpPr>
        <p:spPr>
          <a:xfrm>
            <a:off x="9025128" y="3438144"/>
            <a:ext cx="1091184" cy="1828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B675F"/>
            </a:solidFill>
            <a:prstDash val="solid"/>
          </a:ln>
        </p:spPr>
      </p:sp>
      <p:sp>
        <p:nvSpPr>
          <p:cNvPr id="56" name="Text 47"/>
          <p:cNvSpPr txBox="1"/>
          <p:nvPr/>
        </p:nvSpPr>
        <p:spPr>
          <a:xfrm>
            <a:off x="9025128" y="3438144"/>
            <a:ext cx="10911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5B67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GUIDE BASELINE</a:t>
            </a:r>
            <a:endParaRPr lang="en-US" sz="800" dirty="0"/>
          </a:p>
        </p:txBody>
      </p:sp>
      <p:sp>
        <p:nvSpPr>
          <p:cNvPr id="57" name="Shape 48"/>
          <p:cNvSpPr/>
          <p:nvPr/>
        </p:nvSpPr>
        <p:spPr>
          <a:xfrm>
            <a:off x="411480" y="3886200"/>
            <a:ext cx="4343400" cy="2468880"/>
          </a:xfrm>
          <a:prstGeom prst="roundRect">
            <a:avLst>
              <a:gd name="adj" fmla="val 5185"/>
            </a:avLst>
          </a:prstGeom>
          <a:solidFill>
            <a:srgbClr val="FFF3CC"/>
          </a:solidFill>
          <a:ln/>
        </p:spPr>
      </p:sp>
      <p:sp>
        <p:nvSpPr>
          <p:cNvPr id="58" name="Shape 49"/>
          <p:cNvSpPr/>
          <p:nvPr/>
        </p:nvSpPr>
        <p:spPr>
          <a:xfrm>
            <a:off x="557784" y="3991356"/>
            <a:ext cx="128016" cy="128016"/>
          </a:xfrm>
          <a:prstGeom prst="ellipse">
            <a:avLst/>
          </a:prstGeom>
          <a:solidFill>
            <a:srgbClr val="F7B500"/>
          </a:solidFill>
          <a:ln/>
        </p:spPr>
      </p:sp>
      <p:sp>
        <p:nvSpPr>
          <p:cNvPr id="59" name="Text 50"/>
          <p:cNvSpPr txBox="1"/>
          <p:nvPr/>
        </p:nvSpPr>
        <p:spPr>
          <a:xfrm>
            <a:off x="758952" y="3931920"/>
            <a:ext cx="3886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50" kern="0" dirty="0">
                <a:solidFill>
                  <a:srgbClr val="C997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STUDENTS LEAVE AND RETURN</a:t>
            </a:r>
            <a:endParaRPr lang="en-US" sz="1200" dirty="0"/>
          </a:p>
        </p:txBody>
      </p:sp>
      <p:pic>
        <p:nvPicPr>
          <p:cNvPr id="60" name="Image 7" descr="Active roster index through the session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48640" y="4251960"/>
            <a:ext cx="4069080" cy="1828800"/>
          </a:xfrm>
          <a:prstGeom prst="rect">
            <a:avLst/>
          </a:prstGeom>
        </p:spPr>
      </p:pic>
      <p:sp>
        <p:nvSpPr>
          <p:cNvPr id="61" name="Shape 51"/>
          <p:cNvSpPr/>
          <p:nvPr/>
        </p:nvSpPr>
        <p:spPr>
          <a:xfrm>
            <a:off x="548640" y="6108192"/>
            <a:ext cx="1822704" cy="1828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9701A"/>
            </a:solidFill>
            <a:prstDash val="solid"/>
          </a:ln>
        </p:spPr>
      </p:sp>
      <p:sp>
        <p:nvSpPr>
          <p:cNvPr id="62" name="Text 52"/>
          <p:cNvSpPr txBox="1"/>
          <p:nvPr/>
        </p:nvSpPr>
        <p:spPr>
          <a:xfrm>
            <a:off x="548640" y="6108192"/>
            <a:ext cx="18227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D970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ASSUMPTION, LOW CONFIDENCE</a:t>
            </a:r>
            <a:endParaRPr lang="en-US" sz="800" dirty="0"/>
          </a:p>
        </p:txBody>
      </p:sp>
      <p:sp>
        <p:nvSpPr>
          <p:cNvPr id="63" name="Shape 53"/>
          <p:cNvSpPr/>
          <p:nvPr/>
        </p:nvSpPr>
        <p:spPr>
          <a:xfrm>
            <a:off x="4846320" y="3886200"/>
            <a:ext cx="3977640" cy="2468880"/>
          </a:xfrm>
          <a:prstGeom prst="roundRect">
            <a:avLst>
              <a:gd name="adj" fmla="val 5185"/>
            </a:avLst>
          </a:prstGeom>
          <a:solidFill>
            <a:srgbClr val="E4F5EC"/>
          </a:solidFill>
          <a:ln/>
        </p:spPr>
      </p:sp>
      <p:sp>
        <p:nvSpPr>
          <p:cNvPr id="64" name="Shape 54"/>
          <p:cNvSpPr/>
          <p:nvPr/>
        </p:nvSpPr>
        <p:spPr>
          <a:xfrm>
            <a:off x="4992624" y="3991356"/>
            <a:ext cx="128016" cy="128016"/>
          </a:xfrm>
          <a:prstGeom prst="ellipse">
            <a:avLst/>
          </a:prstGeom>
          <a:solidFill>
            <a:srgbClr val="1FA971"/>
          </a:solidFill>
          <a:ln/>
        </p:spPr>
      </p:sp>
      <p:sp>
        <p:nvSpPr>
          <p:cNvPr id="65" name="Text 55"/>
          <p:cNvSpPr txBox="1"/>
          <p:nvPr/>
        </p:nvSpPr>
        <p:spPr>
          <a:xfrm>
            <a:off x="5193792" y="3931920"/>
            <a:ext cx="3520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50" kern="0" dirty="0">
                <a:solidFill>
                  <a:srgbClr val="0E7C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BUYER'S CONSTRAINTS</a:t>
            </a:r>
            <a:endParaRPr lang="en-US" sz="1200" dirty="0"/>
          </a:p>
        </p:txBody>
      </p:sp>
      <p:sp>
        <p:nvSpPr>
          <p:cNvPr id="66" name="Shape 56"/>
          <p:cNvSpPr/>
          <p:nvPr/>
        </p:nvSpPr>
        <p:spPr>
          <a:xfrm>
            <a:off x="4956048" y="4251960"/>
            <a:ext cx="1828800" cy="932688"/>
          </a:xfrm>
          <a:prstGeom prst="rect">
            <a:avLst/>
          </a:prstGeom>
          <a:solidFill>
            <a:srgbClr val="F1F7F3"/>
          </a:solidFill>
          <a:ln/>
        </p:spPr>
      </p:sp>
      <p:sp>
        <p:nvSpPr>
          <p:cNvPr id="67" name="Shape 57"/>
          <p:cNvSpPr/>
          <p:nvPr/>
        </p:nvSpPr>
        <p:spPr>
          <a:xfrm>
            <a:off x="5029200" y="4325112"/>
            <a:ext cx="329184" cy="329184"/>
          </a:xfrm>
          <a:prstGeom prst="ellipse">
            <a:avLst/>
          </a:prstGeom>
          <a:solidFill>
            <a:srgbClr val="F7B500"/>
          </a:solidFill>
          <a:ln/>
        </p:spPr>
      </p:sp>
      <p:pic>
        <p:nvPicPr>
          <p:cNvPr id="68" name="Image 8" descr="FaIndianRupeeSign icon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101620" y="4397532"/>
            <a:ext cx="184343" cy="184343"/>
          </a:xfrm>
          <a:prstGeom prst="rect">
            <a:avLst/>
          </a:prstGeom>
        </p:spPr>
      </p:pic>
      <p:sp>
        <p:nvSpPr>
          <p:cNvPr id="69" name="Text 58"/>
          <p:cNvSpPr txBox="1"/>
          <p:nvPr/>
        </p:nvSpPr>
        <p:spPr>
          <a:xfrm>
            <a:off x="5413248" y="4297680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633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Price-sensitive</a:t>
            </a:r>
            <a:endParaRPr lang="en-US" sz="1100" dirty="0"/>
          </a:p>
        </p:txBody>
      </p:sp>
      <p:sp>
        <p:nvSpPr>
          <p:cNvPr id="70" name="Text 59"/>
          <p:cNvSpPr txBox="1"/>
          <p:nvPr/>
        </p:nvSpPr>
        <p:spPr>
          <a:xfrm>
            <a:off x="5029200" y="4690872"/>
            <a:ext cx="1691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2633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Generic apps cost ₹4 to ₹21 per student per month today.</a:t>
            </a:r>
            <a:endParaRPr lang="en-US" sz="950" dirty="0"/>
          </a:p>
        </p:txBody>
      </p:sp>
      <p:sp>
        <p:nvSpPr>
          <p:cNvPr id="71" name="Shape 60"/>
          <p:cNvSpPr/>
          <p:nvPr/>
        </p:nvSpPr>
        <p:spPr>
          <a:xfrm>
            <a:off x="6876288" y="4251960"/>
            <a:ext cx="1828800" cy="932688"/>
          </a:xfrm>
          <a:prstGeom prst="rect">
            <a:avLst/>
          </a:prstGeom>
          <a:solidFill>
            <a:srgbClr val="F1F7F3"/>
          </a:solidFill>
          <a:ln/>
        </p:spPr>
      </p:sp>
      <p:sp>
        <p:nvSpPr>
          <p:cNvPr id="72" name="Shape 61"/>
          <p:cNvSpPr/>
          <p:nvPr/>
        </p:nvSpPr>
        <p:spPr>
          <a:xfrm>
            <a:off x="6949440" y="4325112"/>
            <a:ext cx="329184" cy="329184"/>
          </a:xfrm>
          <a:prstGeom prst="ellipse">
            <a:avLst/>
          </a:prstGeom>
          <a:solidFill>
            <a:srgbClr val="1FA971"/>
          </a:solidFill>
          <a:ln/>
        </p:spPr>
      </p:sp>
      <p:pic>
        <p:nvPicPr>
          <p:cNvPr id="73" name="Image 9" descr="FaTable icon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021860" y="4397532"/>
            <a:ext cx="184343" cy="184343"/>
          </a:xfrm>
          <a:prstGeom prst="rect">
            <a:avLst/>
          </a:prstGeom>
        </p:spPr>
      </p:pic>
      <p:sp>
        <p:nvSpPr>
          <p:cNvPr id="74" name="Text 62"/>
          <p:cNvSpPr txBox="1"/>
          <p:nvPr/>
        </p:nvSpPr>
        <p:spPr>
          <a:xfrm>
            <a:off x="7333488" y="4297680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633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Low-tech staff</a:t>
            </a:r>
            <a:endParaRPr lang="en-US" sz="1100" dirty="0"/>
          </a:p>
        </p:txBody>
      </p:sp>
      <p:sp>
        <p:nvSpPr>
          <p:cNvPr id="75" name="Text 63"/>
          <p:cNvSpPr txBox="1"/>
          <p:nvPr/>
        </p:nvSpPr>
        <p:spPr>
          <a:xfrm>
            <a:off x="6949440" y="4690872"/>
            <a:ext cx="1691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2633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Excel, registers and the phone camera.</a:t>
            </a:r>
            <a:endParaRPr lang="en-US" sz="950" dirty="0"/>
          </a:p>
        </p:txBody>
      </p:sp>
      <p:sp>
        <p:nvSpPr>
          <p:cNvPr id="76" name="Shape 64"/>
          <p:cNvSpPr/>
          <p:nvPr/>
        </p:nvSpPr>
        <p:spPr>
          <a:xfrm>
            <a:off x="4956048" y="5276088"/>
            <a:ext cx="1828800" cy="932688"/>
          </a:xfrm>
          <a:prstGeom prst="rect">
            <a:avLst/>
          </a:prstGeom>
          <a:solidFill>
            <a:srgbClr val="F1F7F3"/>
          </a:solidFill>
          <a:ln/>
        </p:spPr>
      </p:sp>
      <p:sp>
        <p:nvSpPr>
          <p:cNvPr id="77" name="Shape 65"/>
          <p:cNvSpPr/>
          <p:nvPr/>
        </p:nvSpPr>
        <p:spPr>
          <a:xfrm>
            <a:off x="5029200" y="5349240"/>
            <a:ext cx="329184" cy="329184"/>
          </a:xfrm>
          <a:prstGeom prst="ellipse">
            <a:avLst/>
          </a:prstGeom>
          <a:solidFill>
            <a:srgbClr val="F28C28"/>
          </a:solidFill>
          <a:ln/>
        </p:spPr>
      </p:sp>
      <p:pic>
        <p:nvPicPr>
          <p:cNvPr id="78" name="Image 10" descr="FaWifi icon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101620" y="5421660"/>
            <a:ext cx="184343" cy="184343"/>
          </a:xfrm>
          <a:prstGeom prst="rect">
            <a:avLst/>
          </a:prstGeom>
        </p:spPr>
      </p:pic>
      <p:sp>
        <p:nvSpPr>
          <p:cNvPr id="79" name="Text 66"/>
          <p:cNvSpPr txBox="1"/>
          <p:nvPr/>
        </p:nvSpPr>
        <p:spPr>
          <a:xfrm>
            <a:off x="5413248" y="5321808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633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Patchy internet</a:t>
            </a:r>
            <a:endParaRPr lang="en-US" sz="1100" dirty="0"/>
          </a:p>
        </p:txBody>
      </p:sp>
      <p:sp>
        <p:nvSpPr>
          <p:cNvPr id="80" name="Text 67"/>
          <p:cNvSpPr txBox="1"/>
          <p:nvPr/>
        </p:nvSpPr>
        <p:spPr>
          <a:xfrm>
            <a:off x="5029200" y="5715000"/>
            <a:ext cx="1691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2633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it must work offline, on one laptop.</a:t>
            </a:r>
            <a:endParaRPr lang="en-US" sz="950" dirty="0"/>
          </a:p>
        </p:txBody>
      </p:sp>
      <p:sp>
        <p:nvSpPr>
          <p:cNvPr id="81" name="Shape 68"/>
          <p:cNvSpPr/>
          <p:nvPr/>
        </p:nvSpPr>
        <p:spPr>
          <a:xfrm>
            <a:off x="6876288" y="5276088"/>
            <a:ext cx="1828800" cy="932688"/>
          </a:xfrm>
          <a:prstGeom prst="rect">
            <a:avLst/>
          </a:prstGeom>
          <a:solidFill>
            <a:srgbClr val="F1F7F3"/>
          </a:solidFill>
          <a:ln/>
        </p:spPr>
      </p:sp>
      <p:sp>
        <p:nvSpPr>
          <p:cNvPr id="82" name="Shape 69"/>
          <p:cNvSpPr/>
          <p:nvPr/>
        </p:nvSpPr>
        <p:spPr>
          <a:xfrm>
            <a:off x="6949440" y="5349240"/>
            <a:ext cx="329184" cy="329184"/>
          </a:xfrm>
          <a:prstGeom prst="ellipse">
            <a:avLst/>
          </a:prstGeom>
          <a:solidFill>
            <a:srgbClr val="2F80D1"/>
          </a:solidFill>
          <a:ln/>
        </p:spPr>
      </p:sp>
      <p:pic>
        <p:nvPicPr>
          <p:cNvPr id="83" name="Image 11" descr="FaUserShield icon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021860" y="5421660"/>
            <a:ext cx="184343" cy="184343"/>
          </a:xfrm>
          <a:prstGeom prst="rect">
            <a:avLst/>
          </a:prstGeom>
        </p:spPr>
      </p:pic>
      <p:sp>
        <p:nvSpPr>
          <p:cNvPr id="84" name="Text 70"/>
          <p:cNvSpPr txBox="1"/>
          <p:nvPr/>
        </p:nvSpPr>
        <p:spPr>
          <a:xfrm>
            <a:off x="7333488" y="5321808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633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Minors' data</a:t>
            </a:r>
            <a:endParaRPr lang="en-US" sz="1100" dirty="0"/>
          </a:p>
        </p:txBody>
      </p:sp>
      <p:sp>
        <p:nvSpPr>
          <p:cNvPr id="85" name="Text 71"/>
          <p:cNvSpPr txBox="1"/>
          <p:nvPr/>
        </p:nvSpPr>
        <p:spPr>
          <a:xfrm>
            <a:off x="6949440" y="5715000"/>
            <a:ext cx="1691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2633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DPDP Act and MoE coaching rules apply.</a:t>
            </a:r>
            <a:endParaRPr lang="en-US" sz="950" dirty="0"/>
          </a:p>
        </p:txBody>
      </p:sp>
      <p:sp>
        <p:nvSpPr>
          <p:cNvPr id="86" name="Shape 72"/>
          <p:cNvSpPr/>
          <p:nvPr/>
        </p:nvSpPr>
        <p:spPr>
          <a:xfrm>
            <a:off x="8915400" y="3886200"/>
            <a:ext cx="2864815" cy="2468880"/>
          </a:xfrm>
          <a:prstGeom prst="roundRect">
            <a:avLst>
              <a:gd name="adj" fmla="val 5185"/>
            </a:avLst>
          </a:prstGeom>
          <a:solidFill>
            <a:srgbClr val="FFEBD6"/>
          </a:solidFill>
          <a:ln/>
        </p:spPr>
      </p:sp>
      <p:sp>
        <p:nvSpPr>
          <p:cNvPr id="87" name="Shape 73"/>
          <p:cNvSpPr/>
          <p:nvPr/>
        </p:nvSpPr>
        <p:spPr>
          <a:xfrm>
            <a:off x="9061704" y="3991356"/>
            <a:ext cx="128016" cy="128016"/>
          </a:xfrm>
          <a:prstGeom prst="ellipse">
            <a:avLst/>
          </a:prstGeom>
          <a:solidFill>
            <a:srgbClr val="F28C28"/>
          </a:solidFill>
          <a:ln/>
        </p:spPr>
      </p:sp>
      <p:sp>
        <p:nvSpPr>
          <p:cNvPr id="88" name="Text 74"/>
          <p:cNvSpPr txBox="1"/>
          <p:nvPr/>
        </p:nvSpPr>
        <p:spPr>
          <a:xfrm>
            <a:off x="9262872" y="3931920"/>
            <a:ext cx="24076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50" kern="0" dirty="0">
                <a:solidFill>
                  <a:srgbClr val="D970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PRAGATI DOES</a:t>
            </a:r>
            <a:endParaRPr lang="en-US" sz="1200" dirty="0"/>
          </a:p>
        </p:txBody>
      </p:sp>
      <p:pic>
        <p:nvPicPr>
          <p:cNvPr id="89" name="Image 12" descr="FaCircleCheck icon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9061704" y="4315968"/>
            <a:ext cx="201168" cy="201168"/>
          </a:xfrm>
          <a:prstGeom prst="rect">
            <a:avLst/>
          </a:prstGeom>
        </p:spPr>
      </p:pic>
      <p:sp>
        <p:nvSpPr>
          <p:cNvPr id="90" name="Text 75"/>
          <p:cNvSpPr txBox="1"/>
          <p:nvPr/>
        </p:nvSpPr>
        <p:spPr>
          <a:xfrm>
            <a:off x="9354312" y="4261104"/>
            <a:ext cx="231617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2633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Topic-level view of every student</a:t>
            </a:r>
            <a:endParaRPr lang="en-US" sz="1050" dirty="0"/>
          </a:p>
        </p:txBody>
      </p:sp>
      <p:pic>
        <p:nvPicPr>
          <p:cNvPr id="91" name="Image 13" descr="FaCircleCheck icon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9061704" y="4654296"/>
            <a:ext cx="201168" cy="201168"/>
          </a:xfrm>
          <a:prstGeom prst="rect">
            <a:avLst/>
          </a:prstGeom>
        </p:spPr>
      </p:pic>
      <p:sp>
        <p:nvSpPr>
          <p:cNvPr id="92" name="Text 76"/>
          <p:cNvSpPr txBox="1"/>
          <p:nvPr/>
        </p:nvSpPr>
        <p:spPr>
          <a:xfrm>
            <a:off x="9354312" y="4599432"/>
            <a:ext cx="231617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2633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short, supportive list each week</a:t>
            </a:r>
            <a:endParaRPr lang="en-US" sz="1050" dirty="0"/>
          </a:p>
        </p:txBody>
      </p:sp>
      <p:pic>
        <p:nvPicPr>
          <p:cNvPr id="93" name="Image 14" descr="FaCircleCheck icon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9061704" y="4992624"/>
            <a:ext cx="201168" cy="201168"/>
          </a:xfrm>
          <a:prstGeom prst="rect">
            <a:avLst/>
          </a:prstGeom>
        </p:spPr>
      </p:pic>
      <p:sp>
        <p:nvSpPr>
          <p:cNvPr id="94" name="Text 77"/>
          <p:cNvSpPr txBox="1"/>
          <p:nvPr/>
        </p:nvSpPr>
        <p:spPr>
          <a:xfrm>
            <a:off x="9354312" y="4937760"/>
            <a:ext cx="231617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2633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honest percentile range</a:t>
            </a:r>
            <a:endParaRPr lang="en-US" sz="1050" dirty="0"/>
          </a:p>
        </p:txBody>
      </p:sp>
      <p:pic>
        <p:nvPicPr>
          <p:cNvPr id="95" name="Image 15" descr="FaCircleCheck icon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9061704" y="5330952"/>
            <a:ext cx="201168" cy="201168"/>
          </a:xfrm>
          <a:prstGeom prst="rect">
            <a:avLst/>
          </a:prstGeom>
        </p:spPr>
      </p:pic>
      <p:sp>
        <p:nvSpPr>
          <p:cNvPr id="96" name="Text 78"/>
          <p:cNvSpPr txBox="1"/>
          <p:nvPr/>
        </p:nvSpPr>
        <p:spPr>
          <a:xfrm>
            <a:off x="9354312" y="5276088"/>
            <a:ext cx="231617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2633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Verified Hindi and English reports</a:t>
            </a:r>
            <a:endParaRPr lang="en-US" sz="1050" dirty="0"/>
          </a:p>
        </p:txBody>
      </p:sp>
      <p:pic>
        <p:nvPicPr>
          <p:cNvPr id="97" name="Image 16" descr="FaCircleCheck icon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9061704" y="5669280"/>
            <a:ext cx="201168" cy="201168"/>
          </a:xfrm>
          <a:prstGeom prst="rect">
            <a:avLst/>
          </a:prstGeom>
        </p:spPr>
      </p:pic>
      <p:sp>
        <p:nvSpPr>
          <p:cNvPr id="98" name="Text 79"/>
          <p:cNvSpPr txBox="1"/>
          <p:nvPr/>
        </p:nvSpPr>
        <p:spPr>
          <a:xfrm>
            <a:off x="9354312" y="5614416"/>
            <a:ext cx="231617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2633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offline, free to run</a:t>
            </a:r>
            <a:endParaRPr lang="en-US" sz="1050" dirty="0"/>
          </a:p>
        </p:txBody>
      </p:sp>
      <p:sp>
        <p:nvSpPr>
          <p:cNvPr id="99" name="Shape 80"/>
          <p:cNvSpPr/>
          <p:nvPr/>
        </p:nvSpPr>
        <p:spPr>
          <a:xfrm>
            <a:off x="9025128" y="6016752"/>
            <a:ext cx="2645359" cy="246888"/>
          </a:xfrm>
          <a:prstGeom prst="roundRect">
            <a:avLst>
              <a:gd name="adj" fmla="val 50000"/>
            </a:avLst>
          </a:prstGeom>
          <a:solidFill>
            <a:srgbClr val="0E7C4F"/>
          </a:solidFill>
          <a:ln/>
        </p:spPr>
      </p:sp>
      <p:sp>
        <p:nvSpPr>
          <p:cNvPr id="100" name="Text 81"/>
          <p:cNvSpPr txBox="1"/>
          <p:nvPr/>
        </p:nvSpPr>
        <p:spPr>
          <a:xfrm>
            <a:off x="9162288" y="6016752"/>
            <a:ext cx="2371039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Next: how it works</a:t>
            </a:r>
            <a:endParaRPr lang="en-US" sz="1050" dirty="0"/>
          </a:p>
        </p:txBody>
      </p:sp>
      <p:sp>
        <p:nvSpPr>
          <p:cNvPr id="101" name="Text 82"/>
          <p:cNvSpPr txBox="1"/>
          <p:nvPr/>
        </p:nvSpPr>
        <p:spPr>
          <a:xfrm>
            <a:off x="411480" y="6464808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5B67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Participant Guide sections 2, 6 and 7 (illustrative baselines); roster index and competitor prices from financial/ (assumptions and research, confidence low to medium).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92240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75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11480" y="310896"/>
            <a:ext cx="113687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E2B2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From one upload to action: six screens of the same flow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365760" y="1051560"/>
            <a:ext cx="3794760" cy="2176272"/>
          </a:xfrm>
          <a:prstGeom prst="rect">
            <a:avLst/>
          </a:prstGeom>
          <a:solidFill>
            <a:srgbClr val="FFFFFF"/>
          </a:solidFill>
          <a:ln w="25400">
            <a:solidFill>
              <a:srgbClr val="1FA971"/>
            </a:solidFill>
            <a:prstDash val="solid"/>
          </a:ln>
        </p:spPr>
      </p:sp>
      <p:pic>
        <p:nvPicPr>
          <p:cNvPr id="4" name="Image 0" descr="Upload and map: the system fixes the mes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1097280"/>
            <a:ext cx="3703320" cy="2084832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411480" y="3273552"/>
            <a:ext cx="292608" cy="292608"/>
          </a:xfrm>
          <a:prstGeom prst="ellipse">
            <a:avLst/>
          </a:prstGeom>
          <a:solidFill>
            <a:srgbClr val="1FA971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411480" y="327355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795528" y="3218688"/>
            <a:ext cx="3246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E2B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Upload and map: the system fixes the mess</a:t>
            </a:r>
            <a:endParaRPr lang="en-US" sz="1150" dirty="0"/>
          </a:p>
        </p:txBody>
      </p:sp>
      <p:sp>
        <p:nvSpPr>
          <p:cNvPr id="8" name="Shape 5"/>
          <p:cNvSpPr/>
          <p:nvPr/>
        </p:nvSpPr>
        <p:spPr>
          <a:xfrm>
            <a:off x="4197096" y="1051560"/>
            <a:ext cx="3794760" cy="2176272"/>
          </a:xfrm>
          <a:prstGeom prst="rect">
            <a:avLst/>
          </a:prstGeom>
          <a:solidFill>
            <a:srgbClr val="FFFFFF"/>
          </a:solidFill>
          <a:ln w="25400">
            <a:solidFill>
              <a:srgbClr val="F28C28"/>
            </a:solidFill>
            <a:prstDash val="solid"/>
          </a:ln>
        </p:spPr>
      </p:sp>
      <p:pic>
        <p:nvPicPr>
          <p:cNvPr id="9" name="Image 1" descr="Topic map: strengths, gaps, untaught topic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42816" y="1097280"/>
            <a:ext cx="3703320" cy="2084832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4242816" y="3273552"/>
            <a:ext cx="292608" cy="292608"/>
          </a:xfrm>
          <a:prstGeom prst="ellipse">
            <a:avLst/>
          </a:prstGeom>
          <a:solidFill>
            <a:srgbClr val="F28C28"/>
          </a:solidFill>
          <a:ln/>
        </p:spPr>
      </p:sp>
      <p:sp>
        <p:nvSpPr>
          <p:cNvPr id="11" name="Text 7"/>
          <p:cNvSpPr txBox="1"/>
          <p:nvPr/>
        </p:nvSpPr>
        <p:spPr>
          <a:xfrm>
            <a:off x="4242816" y="327355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2" name="Text 8"/>
          <p:cNvSpPr txBox="1"/>
          <p:nvPr/>
        </p:nvSpPr>
        <p:spPr>
          <a:xfrm>
            <a:off x="4626864" y="3218688"/>
            <a:ext cx="3246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E2B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Topic map: strengths, gaps, untaught topics</a:t>
            </a:r>
            <a:endParaRPr lang="en-US" sz="1150" dirty="0"/>
          </a:p>
        </p:txBody>
      </p:sp>
      <p:sp>
        <p:nvSpPr>
          <p:cNvPr id="13" name="Shape 9"/>
          <p:cNvSpPr/>
          <p:nvPr/>
        </p:nvSpPr>
        <p:spPr>
          <a:xfrm>
            <a:off x="8028432" y="1051560"/>
            <a:ext cx="3794760" cy="2176272"/>
          </a:xfrm>
          <a:prstGeom prst="rect">
            <a:avLst/>
          </a:prstGeom>
          <a:solidFill>
            <a:srgbClr val="FFFFFF"/>
          </a:solidFill>
          <a:ln w="25400">
            <a:solidFill>
              <a:srgbClr val="2F80D1"/>
            </a:solidFill>
            <a:prstDash val="solid"/>
          </a:ln>
        </p:spPr>
      </p:sp>
      <p:pic>
        <p:nvPicPr>
          <p:cNvPr id="14" name="Image 2" descr="Weekly support list: reasons and action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4152" y="1097280"/>
            <a:ext cx="3703320" cy="2084832"/>
          </a:xfrm>
          <a:prstGeom prst="rect">
            <a:avLst/>
          </a:prstGeom>
        </p:spPr>
      </p:pic>
      <p:sp>
        <p:nvSpPr>
          <p:cNvPr id="15" name="Shape 10"/>
          <p:cNvSpPr/>
          <p:nvPr/>
        </p:nvSpPr>
        <p:spPr>
          <a:xfrm>
            <a:off x="8074152" y="3273552"/>
            <a:ext cx="292608" cy="292608"/>
          </a:xfrm>
          <a:prstGeom prst="ellipse">
            <a:avLst/>
          </a:prstGeom>
          <a:solidFill>
            <a:srgbClr val="2F80D1"/>
          </a:solidFill>
          <a:ln/>
        </p:spPr>
      </p:sp>
      <p:sp>
        <p:nvSpPr>
          <p:cNvPr id="16" name="Text 11"/>
          <p:cNvSpPr txBox="1"/>
          <p:nvPr/>
        </p:nvSpPr>
        <p:spPr>
          <a:xfrm>
            <a:off x="8074152" y="327355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2"/>
          <p:cNvSpPr txBox="1"/>
          <p:nvPr/>
        </p:nvSpPr>
        <p:spPr>
          <a:xfrm>
            <a:off x="8458200" y="3218688"/>
            <a:ext cx="3246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E2B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Weekly support list: reasons and actions</a:t>
            </a:r>
            <a:endParaRPr lang="en-US" sz="1150" dirty="0"/>
          </a:p>
        </p:txBody>
      </p:sp>
      <p:sp>
        <p:nvSpPr>
          <p:cNvPr id="18" name="Shape 13"/>
          <p:cNvSpPr/>
          <p:nvPr/>
        </p:nvSpPr>
        <p:spPr>
          <a:xfrm>
            <a:off x="365760" y="3657600"/>
            <a:ext cx="3794760" cy="2176272"/>
          </a:xfrm>
          <a:prstGeom prst="rect">
            <a:avLst/>
          </a:prstGeom>
          <a:solidFill>
            <a:srgbClr val="FFFFFF"/>
          </a:solidFill>
          <a:ln w="25400">
            <a:solidFill>
              <a:srgbClr val="F7B500"/>
            </a:solidFill>
            <a:prstDash val="solid"/>
          </a:ln>
        </p:spPr>
      </p:sp>
      <p:pic>
        <p:nvPicPr>
          <p:cNvPr id="19" name="Image 3" descr="Student profile: mastery with doubt, honest rang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1480" y="3703320"/>
            <a:ext cx="3703320" cy="2084832"/>
          </a:xfrm>
          <a:prstGeom prst="rect">
            <a:avLst/>
          </a:prstGeom>
        </p:spPr>
      </p:pic>
      <p:sp>
        <p:nvSpPr>
          <p:cNvPr id="20" name="Shape 14"/>
          <p:cNvSpPr/>
          <p:nvPr/>
        </p:nvSpPr>
        <p:spPr>
          <a:xfrm>
            <a:off x="411480" y="5879592"/>
            <a:ext cx="292608" cy="292608"/>
          </a:xfrm>
          <a:prstGeom prst="ellipse">
            <a:avLst/>
          </a:prstGeom>
          <a:solidFill>
            <a:srgbClr val="F7B500"/>
          </a:solidFill>
          <a:ln/>
        </p:spPr>
      </p:sp>
      <p:sp>
        <p:nvSpPr>
          <p:cNvPr id="21" name="Text 15"/>
          <p:cNvSpPr txBox="1"/>
          <p:nvPr/>
        </p:nvSpPr>
        <p:spPr>
          <a:xfrm>
            <a:off x="411480" y="587959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B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22" name="Text 16"/>
          <p:cNvSpPr txBox="1"/>
          <p:nvPr/>
        </p:nvSpPr>
        <p:spPr>
          <a:xfrm>
            <a:off x="795528" y="5824728"/>
            <a:ext cx="3246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E2B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 profile: mastery with doubt, honest range</a:t>
            </a:r>
            <a:endParaRPr lang="en-US" sz="1150" dirty="0"/>
          </a:p>
        </p:txBody>
      </p:sp>
      <p:sp>
        <p:nvSpPr>
          <p:cNvPr id="23" name="Shape 17"/>
          <p:cNvSpPr/>
          <p:nvPr/>
        </p:nvSpPr>
        <p:spPr>
          <a:xfrm>
            <a:off x="4197096" y="3657600"/>
            <a:ext cx="3794760" cy="2176272"/>
          </a:xfrm>
          <a:prstGeom prst="rect">
            <a:avLst/>
          </a:prstGeom>
          <a:solidFill>
            <a:srgbClr val="FFFFFF"/>
          </a:solidFill>
          <a:ln w="25400">
            <a:solidFill>
              <a:srgbClr val="1FA971"/>
            </a:solidFill>
            <a:prstDash val="solid"/>
          </a:ln>
        </p:spPr>
      </p:sp>
      <p:pic>
        <p:nvPicPr>
          <p:cNvPr id="24" name="Image 4" descr="Owner dashboard: retention, coverage, compliance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42816" y="3703320"/>
            <a:ext cx="3703320" cy="2084832"/>
          </a:xfrm>
          <a:prstGeom prst="rect">
            <a:avLst/>
          </a:prstGeom>
        </p:spPr>
      </p:pic>
      <p:sp>
        <p:nvSpPr>
          <p:cNvPr id="25" name="Shape 18"/>
          <p:cNvSpPr/>
          <p:nvPr/>
        </p:nvSpPr>
        <p:spPr>
          <a:xfrm>
            <a:off x="4242816" y="5879592"/>
            <a:ext cx="292608" cy="292608"/>
          </a:xfrm>
          <a:prstGeom prst="ellipse">
            <a:avLst/>
          </a:prstGeom>
          <a:solidFill>
            <a:srgbClr val="1FA971"/>
          </a:solidFill>
          <a:ln/>
        </p:spPr>
      </p:sp>
      <p:sp>
        <p:nvSpPr>
          <p:cNvPr id="26" name="Text 19"/>
          <p:cNvSpPr txBox="1"/>
          <p:nvPr/>
        </p:nvSpPr>
        <p:spPr>
          <a:xfrm>
            <a:off x="4242816" y="587959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200" dirty="0"/>
          </a:p>
        </p:txBody>
      </p:sp>
      <p:sp>
        <p:nvSpPr>
          <p:cNvPr id="27" name="Text 20"/>
          <p:cNvSpPr txBox="1"/>
          <p:nvPr/>
        </p:nvSpPr>
        <p:spPr>
          <a:xfrm>
            <a:off x="4626864" y="5824728"/>
            <a:ext cx="3246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E2B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 dashboard: retention, coverage, compliance</a:t>
            </a:r>
            <a:endParaRPr lang="en-US" sz="1150" dirty="0"/>
          </a:p>
        </p:txBody>
      </p:sp>
      <p:sp>
        <p:nvSpPr>
          <p:cNvPr id="28" name="Shape 21"/>
          <p:cNvSpPr/>
          <p:nvPr/>
        </p:nvSpPr>
        <p:spPr>
          <a:xfrm>
            <a:off x="8142732" y="3657600"/>
            <a:ext cx="3566160" cy="2176272"/>
          </a:xfrm>
          <a:prstGeom prst="rect">
            <a:avLst/>
          </a:prstGeom>
          <a:solidFill>
            <a:srgbClr val="FFFFFF"/>
          </a:solidFill>
          <a:ln w="25400">
            <a:solidFill>
              <a:srgbClr val="F28C28"/>
            </a:solidFill>
            <a:prstDash val="solid"/>
          </a:ln>
        </p:spPr>
      </p:sp>
      <p:pic>
        <p:nvPicPr>
          <p:cNvPr id="29" name="Image 5" descr="Parent report in Hindi and English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88452" y="3703320"/>
            <a:ext cx="3474720" cy="2084832"/>
          </a:xfrm>
          <a:prstGeom prst="rect">
            <a:avLst/>
          </a:prstGeom>
        </p:spPr>
      </p:pic>
      <p:sp>
        <p:nvSpPr>
          <p:cNvPr id="30" name="Shape 22"/>
          <p:cNvSpPr/>
          <p:nvPr/>
        </p:nvSpPr>
        <p:spPr>
          <a:xfrm>
            <a:off x="8074152" y="5879592"/>
            <a:ext cx="292608" cy="292608"/>
          </a:xfrm>
          <a:prstGeom prst="ellipse">
            <a:avLst/>
          </a:prstGeom>
          <a:solidFill>
            <a:srgbClr val="F28C28"/>
          </a:solidFill>
          <a:ln/>
        </p:spPr>
      </p:sp>
      <p:sp>
        <p:nvSpPr>
          <p:cNvPr id="31" name="Text 23"/>
          <p:cNvSpPr txBox="1"/>
          <p:nvPr/>
        </p:nvSpPr>
        <p:spPr>
          <a:xfrm>
            <a:off x="8074152" y="587959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200" dirty="0"/>
          </a:p>
        </p:txBody>
      </p:sp>
      <p:sp>
        <p:nvSpPr>
          <p:cNvPr id="32" name="Text 24"/>
          <p:cNvSpPr txBox="1"/>
          <p:nvPr/>
        </p:nvSpPr>
        <p:spPr>
          <a:xfrm>
            <a:off x="8458200" y="5824728"/>
            <a:ext cx="3246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E2B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Parent report in Hindi and English</a:t>
            </a:r>
            <a:endParaRPr lang="en-US" sz="1150" dirty="0"/>
          </a:p>
        </p:txBody>
      </p:sp>
      <p:sp>
        <p:nvSpPr>
          <p:cNvPr id="33" name="Text 25"/>
          <p:cNvSpPr txBox="1"/>
          <p:nvPr/>
        </p:nvSpPr>
        <p:spPr>
          <a:xfrm>
            <a:off x="411480" y="6473952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B67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Illustrative mock-ups rendered from HTML with synthetic values. They become real screenshots once the web app is wired to the models.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5"/>
          <p:cNvSpPr/>
          <p:nvPr>
            <p:ph idx="105" type="title" hasCustomPrompt="1"/>
          </p:nvPr>
        </p:nvSpPr>
        <p:spPr>
          <a:xfrm>
            <a:off x="411480" y="310896"/>
            <a:ext cx="113687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E2B2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 product, two surfaces: web for the desk, phone for the floor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7589520" y="182880"/>
            <a:ext cx="41879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b="1" spc="150" kern="0" dirty="0">
                <a:solidFill>
                  <a:srgbClr val="5B67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 SURFACES</a:t>
            </a:r>
            <a:endParaRPr lang="en-US" sz="950" dirty="0"/>
          </a:p>
        </p:txBody>
      </p:sp>
      <p:sp>
        <p:nvSpPr>
          <p:cNvPr id="4" name="Shape 2"/>
          <p:cNvSpPr/>
          <p:nvPr/>
        </p:nvSpPr>
        <p:spPr>
          <a:xfrm>
            <a:off x="6400800" y="914400"/>
            <a:ext cx="5669280" cy="4572000"/>
          </a:xfrm>
          <a:prstGeom prst="ellipse">
            <a:avLst/>
          </a:prstGeom>
          <a:solidFill>
            <a:srgbClr val="E4F5EC"/>
          </a:solidFill>
          <a:ln/>
        </p:spPr>
      </p:sp>
      <p:sp>
        <p:nvSpPr>
          <p:cNvPr id="5" name="Shape 3"/>
          <p:cNvSpPr/>
          <p:nvPr/>
        </p:nvSpPr>
        <p:spPr>
          <a:xfrm>
            <a:off x="411480" y="1143000"/>
            <a:ext cx="6126480" cy="3474720"/>
          </a:xfrm>
          <a:prstGeom prst="roundRect">
            <a:avLst>
              <a:gd name="adj" fmla="val 3158"/>
            </a:avLst>
          </a:prstGeom>
          <a:solidFill>
            <a:srgbClr val="FFFFFF"/>
          </a:solidFill>
          <a:ln w="25400">
            <a:solidFill>
              <a:srgbClr val="1FA971"/>
            </a:solidFill>
            <a:prstDash val="solid"/>
          </a:ln>
        </p:spPr>
      </p:sp>
      <p:pic>
        <p:nvPicPr>
          <p:cNvPr id="6" name="Image 0" descr="Pragati web console (illustrative)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188720"/>
            <a:ext cx="6035040" cy="3392424"/>
          </a:xfrm>
          <a:prstGeom prst="rect">
            <a:avLst/>
          </a:prstGeom>
        </p:spPr>
      </p:pic>
      <p:pic>
        <p:nvPicPr>
          <p:cNvPr id="7" name="Image 1" descr="Scan an OMR sheet (illustrative)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0" y="1143000"/>
            <a:ext cx="1645920" cy="3291840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6793992" y="4526280"/>
            <a:ext cx="1591056" cy="457200"/>
          </a:xfrm>
          <a:prstGeom prst="roundRect">
            <a:avLst>
              <a:gd name="adj" fmla="val 50000"/>
            </a:avLst>
          </a:prstGeom>
          <a:solidFill>
            <a:srgbClr val="F28C28"/>
          </a:solidFill>
          <a:ln/>
        </p:spPr>
      </p:sp>
      <p:sp>
        <p:nvSpPr>
          <p:cNvPr id="9" name="Text 5"/>
          <p:cNvSpPr txBox="1"/>
          <p:nvPr/>
        </p:nvSpPr>
        <p:spPr>
          <a:xfrm>
            <a:off x="6858000" y="45262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Scan an OMR sheet</a:t>
            </a:r>
            <a:endParaRPr lang="en-US" sz="1000" dirty="0"/>
          </a:p>
        </p:txBody>
      </p:sp>
      <p:pic>
        <p:nvPicPr>
          <p:cNvPr id="10" name="Image 2" descr="Mentor: this week's list (illustrative)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58200" y="1143000"/>
            <a:ext cx="1645920" cy="3291840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8485632" y="4526280"/>
            <a:ext cx="1591056" cy="457200"/>
          </a:xfrm>
          <a:prstGeom prst="roundRect">
            <a:avLst>
              <a:gd name="adj" fmla="val 50000"/>
            </a:avLst>
          </a:prstGeom>
          <a:solidFill>
            <a:srgbClr val="1FA971"/>
          </a:solidFill>
          <a:ln/>
        </p:spPr>
      </p:sp>
      <p:sp>
        <p:nvSpPr>
          <p:cNvPr id="12" name="Text 7"/>
          <p:cNvSpPr txBox="1"/>
          <p:nvPr/>
        </p:nvSpPr>
        <p:spPr>
          <a:xfrm>
            <a:off x="8549640" y="45262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Mentor: this week's list</a:t>
            </a:r>
            <a:endParaRPr lang="en-US" sz="1000" dirty="0"/>
          </a:p>
        </p:txBody>
      </p:sp>
      <p:pic>
        <p:nvPicPr>
          <p:cNvPr id="13" name="Image 3" descr="Parent: Hindi or English (illustrative)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1143000"/>
            <a:ext cx="1645920" cy="3291840"/>
          </a:xfrm>
          <a:prstGeom prst="rect">
            <a:avLst/>
          </a:prstGeom>
        </p:spPr>
      </p:pic>
      <p:sp>
        <p:nvSpPr>
          <p:cNvPr id="14" name="Shape 8"/>
          <p:cNvSpPr/>
          <p:nvPr/>
        </p:nvSpPr>
        <p:spPr>
          <a:xfrm>
            <a:off x="10177272" y="4526280"/>
            <a:ext cx="1591056" cy="457200"/>
          </a:xfrm>
          <a:prstGeom prst="roundRect">
            <a:avLst>
              <a:gd name="adj" fmla="val 50000"/>
            </a:avLst>
          </a:prstGeom>
          <a:solidFill>
            <a:srgbClr val="2F80D1"/>
          </a:solidFill>
          <a:ln/>
        </p:spPr>
      </p:sp>
      <p:sp>
        <p:nvSpPr>
          <p:cNvPr id="15" name="Text 9"/>
          <p:cNvSpPr txBox="1"/>
          <p:nvPr/>
        </p:nvSpPr>
        <p:spPr>
          <a:xfrm>
            <a:off x="10241280" y="45262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Parent: Hindi or English</a:t>
            </a:r>
            <a:endParaRPr lang="en-US" sz="1000" dirty="0"/>
          </a:p>
        </p:txBody>
      </p:sp>
      <p:sp>
        <p:nvSpPr>
          <p:cNvPr id="16" name="Shape 10"/>
          <p:cNvSpPr/>
          <p:nvPr/>
        </p:nvSpPr>
        <p:spPr>
          <a:xfrm>
            <a:off x="1234440" y="4663440"/>
            <a:ext cx="4480560" cy="329184"/>
          </a:xfrm>
          <a:prstGeom prst="roundRect">
            <a:avLst>
              <a:gd name="adj" fmla="val 50000"/>
            </a:avLst>
          </a:prstGeom>
          <a:solidFill>
            <a:srgbClr val="0E7C4F"/>
          </a:solidFill>
          <a:ln/>
        </p:spPr>
      </p:sp>
      <p:sp>
        <p:nvSpPr>
          <p:cNvPr id="17" name="Text 11"/>
          <p:cNvSpPr txBox="1"/>
          <p:nvPr/>
        </p:nvSpPr>
        <p:spPr>
          <a:xfrm>
            <a:off x="1234440" y="4663440"/>
            <a:ext cx="4480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console: owner, teacher and compliance views</a:t>
            </a:r>
            <a:endParaRPr lang="en-US" sz="1100" dirty="0"/>
          </a:p>
        </p:txBody>
      </p:sp>
      <p:sp>
        <p:nvSpPr>
          <p:cNvPr id="18" name="Text 12"/>
          <p:cNvSpPr txBox="1"/>
          <p:nvPr/>
        </p:nvSpPr>
        <p:spPr>
          <a:xfrm>
            <a:off x="411480" y="5029200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spc="150" kern="0" dirty="0">
                <a:solidFill>
                  <a:srgbClr val="5B67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WEEKLY LOOP</a:t>
            </a:r>
            <a:endParaRPr lang="en-US" sz="1050" dirty="0"/>
          </a:p>
        </p:txBody>
      </p:sp>
      <p:sp>
        <p:nvSpPr>
          <p:cNvPr id="19" name="Shape 13"/>
          <p:cNvSpPr/>
          <p:nvPr/>
        </p:nvSpPr>
        <p:spPr>
          <a:xfrm>
            <a:off x="950976" y="5431536"/>
            <a:ext cx="676656" cy="676656"/>
          </a:xfrm>
          <a:prstGeom prst="ellipse">
            <a:avLst/>
          </a:prstGeom>
          <a:solidFill>
            <a:srgbClr val="E4F5EC"/>
          </a:solidFill>
          <a:ln/>
        </p:spPr>
      </p:sp>
      <p:sp>
        <p:nvSpPr>
          <p:cNvPr id="20" name="Shape 14"/>
          <p:cNvSpPr/>
          <p:nvPr/>
        </p:nvSpPr>
        <p:spPr>
          <a:xfrm>
            <a:off x="1005840" y="5486400"/>
            <a:ext cx="566928" cy="566928"/>
          </a:xfrm>
          <a:prstGeom prst="ellipse">
            <a:avLst/>
          </a:prstGeom>
          <a:solidFill>
            <a:srgbClr val="1FA971"/>
          </a:solidFill>
          <a:ln/>
        </p:spPr>
      </p:sp>
      <p:pic>
        <p:nvPicPr>
          <p:cNvPr id="21" name="Image 4" descr="FaCamera icon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47572" y="5628132"/>
            <a:ext cx="283464" cy="283464"/>
          </a:xfrm>
          <a:prstGeom prst="rect">
            <a:avLst/>
          </a:prstGeom>
        </p:spPr>
      </p:pic>
      <p:sp>
        <p:nvSpPr>
          <p:cNvPr id="22" name="Text 15"/>
          <p:cNvSpPr txBox="1"/>
          <p:nvPr/>
        </p:nvSpPr>
        <p:spPr>
          <a:xfrm>
            <a:off x="160020" y="6144768"/>
            <a:ext cx="2258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2B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Scan or upload</a:t>
            </a:r>
            <a:endParaRPr lang="en-US" sz="1100" dirty="0"/>
          </a:p>
        </p:txBody>
      </p:sp>
      <p:sp>
        <p:nvSpPr>
          <p:cNvPr id="23" name="Shape 16"/>
          <p:cNvSpPr/>
          <p:nvPr/>
        </p:nvSpPr>
        <p:spPr>
          <a:xfrm>
            <a:off x="1664208" y="5769864"/>
            <a:ext cx="1600200" cy="0"/>
          </a:xfrm>
          <a:prstGeom prst="line">
            <a:avLst/>
          </a:prstGeom>
          <a:noFill/>
          <a:ln w="31750">
            <a:solidFill>
              <a:srgbClr val="1FA971"/>
            </a:solidFill>
            <a:prstDash val="solid"/>
            <a:tailEnd type="triangle"/>
          </a:ln>
        </p:spPr>
      </p:sp>
      <p:sp>
        <p:nvSpPr>
          <p:cNvPr id="24" name="Shape 17"/>
          <p:cNvSpPr/>
          <p:nvPr/>
        </p:nvSpPr>
        <p:spPr>
          <a:xfrm>
            <a:off x="3300984" y="5431536"/>
            <a:ext cx="676656" cy="676656"/>
          </a:xfrm>
          <a:prstGeom prst="ellipse">
            <a:avLst/>
          </a:prstGeom>
          <a:solidFill>
            <a:srgbClr val="FFEBD6"/>
          </a:solidFill>
          <a:ln/>
        </p:spPr>
      </p:sp>
      <p:sp>
        <p:nvSpPr>
          <p:cNvPr id="25" name="Shape 18"/>
          <p:cNvSpPr/>
          <p:nvPr/>
        </p:nvSpPr>
        <p:spPr>
          <a:xfrm>
            <a:off x="3355848" y="5486400"/>
            <a:ext cx="566928" cy="566928"/>
          </a:xfrm>
          <a:prstGeom prst="ellipse">
            <a:avLst/>
          </a:prstGeom>
          <a:solidFill>
            <a:srgbClr val="F28C28"/>
          </a:solidFill>
          <a:ln/>
        </p:spPr>
      </p:sp>
      <p:pic>
        <p:nvPicPr>
          <p:cNvPr id="26" name="Image 5" descr="FaChartSimple icon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497580" y="5628132"/>
            <a:ext cx="283464" cy="283464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2510028" y="6144768"/>
            <a:ext cx="2258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2B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Topic map</a:t>
            </a:r>
            <a:endParaRPr lang="en-US" sz="1100" dirty="0"/>
          </a:p>
        </p:txBody>
      </p:sp>
      <p:sp>
        <p:nvSpPr>
          <p:cNvPr id="28" name="Shape 20"/>
          <p:cNvSpPr/>
          <p:nvPr/>
        </p:nvSpPr>
        <p:spPr>
          <a:xfrm>
            <a:off x="4014216" y="5769864"/>
            <a:ext cx="1600200" cy="0"/>
          </a:xfrm>
          <a:prstGeom prst="line">
            <a:avLst/>
          </a:prstGeom>
          <a:noFill/>
          <a:ln w="31750">
            <a:solidFill>
              <a:srgbClr val="F28C28"/>
            </a:solidFill>
            <a:prstDash val="solid"/>
            <a:tailEnd type="triangle"/>
          </a:ln>
        </p:spPr>
      </p:sp>
      <p:sp>
        <p:nvSpPr>
          <p:cNvPr id="29" name="Shape 21"/>
          <p:cNvSpPr/>
          <p:nvPr/>
        </p:nvSpPr>
        <p:spPr>
          <a:xfrm>
            <a:off x="5650992" y="5431536"/>
            <a:ext cx="676656" cy="676656"/>
          </a:xfrm>
          <a:prstGeom prst="ellipse">
            <a:avLst/>
          </a:prstGeom>
          <a:solidFill>
            <a:srgbClr val="E3EEFB"/>
          </a:solidFill>
          <a:ln/>
        </p:spPr>
      </p:sp>
      <p:sp>
        <p:nvSpPr>
          <p:cNvPr id="30" name="Shape 22"/>
          <p:cNvSpPr/>
          <p:nvPr/>
        </p:nvSpPr>
        <p:spPr>
          <a:xfrm>
            <a:off x="5705856" y="5486400"/>
            <a:ext cx="566928" cy="566928"/>
          </a:xfrm>
          <a:prstGeom prst="ellipse">
            <a:avLst/>
          </a:prstGeom>
          <a:solidFill>
            <a:srgbClr val="2F80D1"/>
          </a:solidFill>
          <a:ln/>
        </p:spPr>
      </p:sp>
      <p:pic>
        <p:nvPicPr>
          <p:cNvPr id="31" name="Image 6" descr="FaListCheck icon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847588" y="5628132"/>
            <a:ext cx="283464" cy="283464"/>
          </a:xfrm>
          <a:prstGeom prst="rect">
            <a:avLst/>
          </a:prstGeom>
        </p:spPr>
      </p:pic>
      <p:sp>
        <p:nvSpPr>
          <p:cNvPr id="32" name="Text 23"/>
          <p:cNvSpPr txBox="1"/>
          <p:nvPr/>
        </p:nvSpPr>
        <p:spPr>
          <a:xfrm>
            <a:off x="4860036" y="6144768"/>
            <a:ext cx="2258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2B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Weekly list</a:t>
            </a:r>
            <a:endParaRPr lang="en-US" sz="1100" dirty="0"/>
          </a:p>
        </p:txBody>
      </p:sp>
      <p:sp>
        <p:nvSpPr>
          <p:cNvPr id="33" name="Shape 24"/>
          <p:cNvSpPr/>
          <p:nvPr/>
        </p:nvSpPr>
        <p:spPr>
          <a:xfrm>
            <a:off x="6364224" y="5769864"/>
            <a:ext cx="1600200" cy="0"/>
          </a:xfrm>
          <a:prstGeom prst="line">
            <a:avLst/>
          </a:prstGeom>
          <a:noFill/>
          <a:ln w="31750">
            <a:solidFill>
              <a:srgbClr val="2F80D1"/>
            </a:solidFill>
            <a:prstDash val="solid"/>
            <a:tailEnd type="triangle"/>
          </a:ln>
        </p:spPr>
      </p:sp>
      <p:sp>
        <p:nvSpPr>
          <p:cNvPr id="34" name="Shape 25"/>
          <p:cNvSpPr/>
          <p:nvPr/>
        </p:nvSpPr>
        <p:spPr>
          <a:xfrm>
            <a:off x="8001000" y="5431536"/>
            <a:ext cx="676656" cy="676656"/>
          </a:xfrm>
          <a:prstGeom prst="ellipse">
            <a:avLst/>
          </a:prstGeom>
          <a:solidFill>
            <a:srgbClr val="FFF3CC"/>
          </a:solidFill>
          <a:ln/>
        </p:spPr>
      </p:sp>
      <p:sp>
        <p:nvSpPr>
          <p:cNvPr id="35" name="Shape 26"/>
          <p:cNvSpPr/>
          <p:nvPr/>
        </p:nvSpPr>
        <p:spPr>
          <a:xfrm>
            <a:off x="8055864" y="5486400"/>
            <a:ext cx="566928" cy="566928"/>
          </a:xfrm>
          <a:prstGeom prst="ellipse">
            <a:avLst/>
          </a:prstGeom>
          <a:solidFill>
            <a:srgbClr val="F7B500"/>
          </a:solidFill>
          <a:ln/>
        </p:spPr>
      </p:sp>
      <p:pic>
        <p:nvPicPr>
          <p:cNvPr id="36" name="Image 7" descr="FaPhone icon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197596" y="5628132"/>
            <a:ext cx="283464" cy="283464"/>
          </a:xfrm>
          <a:prstGeom prst="rect">
            <a:avLst/>
          </a:prstGeom>
        </p:spPr>
      </p:pic>
      <p:sp>
        <p:nvSpPr>
          <p:cNvPr id="37" name="Text 27"/>
          <p:cNvSpPr txBox="1"/>
          <p:nvPr/>
        </p:nvSpPr>
        <p:spPr>
          <a:xfrm>
            <a:off x="7210044" y="6144768"/>
            <a:ext cx="2258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2B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 or session</a:t>
            </a:r>
            <a:endParaRPr lang="en-US" sz="1100" dirty="0"/>
          </a:p>
        </p:txBody>
      </p:sp>
      <p:sp>
        <p:nvSpPr>
          <p:cNvPr id="38" name="Shape 28"/>
          <p:cNvSpPr/>
          <p:nvPr/>
        </p:nvSpPr>
        <p:spPr>
          <a:xfrm>
            <a:off x="8714232" y="5769864"/>
            <a:ext cx="1600200" cy="0"/>
          </a:xfrm>
          <a:prstGeom prst="line">
            <a:avLst/>
          </a:prstGeom>
          <a:noFill/>
          <a:ln w="31750">
            <a:solidFill>
              <a:srgbClr val="F7B500"/>
            </a:solidFill>
            <a:prstDash val="solid"/>
            <a:tailEnd type="triangle"/>
          </a:ln>
        </p:spPr>
      </p:sp>
      <p:sp>
        <p:nvSpPr>
          <p:cNvPr id="39" name="Shape 29"/>
          <p:cNvSpPr/>
          <p:nvPr/>
        </p:nvSpPr>
        <p:spPr>
          <a:xfrm>
            <a:off x="10351008" y="5431536"/>
            <a:ext cx="676656" cy="676656"/>
          </a:xfrm>
          <a:prstGeom prst="ellipse">
            <a:avLst/>
          </a:prstGeom>
          <a:solidFill>
            <a:srgbClr val="E4F5EC"/>
          </a:solidFill>
          <a:ln/>
        </p:spPr>
      </p:sp>
      <p:sp>
        <p:nvSpPr>
          <p:cNvPr id="40" name="Shape 30"/>
          <p:cNvSpPr/>
          <p:nvPr/>
        </p:nvSpPr>
        <p:spPr>
          <a:xfrm>
            <a:off x="10405872" y="5486400"/>
            <a:ext cx="566928" cy="566928"/>
          </a:xfrm>
          <a:prstGeom prst="ellipse">
            <a:avLst/>
          </a:prstGeom>
          <a:solidFill>
            <a:srgbClr val="1FA971"/>
          </a:solidFill>
          <a:ln/>
        </p:spPr>
      </p:sp>
      <p:pic>
        <p:nvPicPr>
          <p:cNvPr id="41" name="Image 8" descr="FaCircleCheck icon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547604" y="5628132"/>
            <a:ext cx="283464" cy="283464"/>
          </a:xfrm>
          <a:prstGeom prst="rect">
            <a:avLst/>
          </a:prstGeom>
        </p:spPr>
      </p:pic>
      <p:sp>
        <p:nvSpPr>
          <p:cNvPr id="42" name="Text 31"/>
          <p:cNvSpPr txBox="1"/>
          <p:nvPr/>
        </p:nvSpPr>
        <p:spPr>
          <a:xfrm>
            <a:off x="9560052" y="6144768"/>
            <a:ext cx="2258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2B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Outcome logged</a:t>
            </a:r>
            <a:endParaRPr lang="en-US" sz="1100" dirty="0"/>
          </a:p>
        </p:txBody>
      </p:sp>
      <p:sp>
        <p:nvSpPr>
          <p:cNvPr id="43" name="Shape 32"/>
          <p:cNvSpPr/>
          <p:nvPr/>
        </p:nvSpPr>
        <p:spPr>
          <a:xfrm flipV="1">
            <a:off x="1289304" y="5212080"/>
            <a:ext cx="0" cy="201168"/>
          </a:xfrm>
          <a:prstGeom prst="line">
            <a:avLst/>
          </a:prstGeom>
          <a:noFill/>
          <a:ln w="19050">
            <a:solidFill>
              <a:srgbClr val="9AA39D"/>
            </a:solidFill>
            <a:prstDash val="solid"/>
          </a:ln>
        </p:spPr>
      </p:sp>
      <p:sp>
        <p:nvSpPr>
          <p:cNvPr id="44" name="Shape 33"/>
          <p:cNvSpPr/>
          <p:nvPr/>
        </p:nvSpPr>
        <p:spPr>
          <a:xfrm>
            <a:off x="1289304" y="5212080"/>
            <a:ext cx="9400032" cy="0"/>
          </a:xfrm>
          <a:prstGeom prst="line">
            <a:avLst/>
          </a:prstGeom>
          <a:noFill/>
          <a:ln w="19050">
            <a:solidFill>
              <a:srgbClr val="9AA39D"/>
            </a:solidFill>
            <a:prstDash val="dash"/>
          </a:ln>
        </p:spPr>
      </p:sp>
      <p:sp>
        <p:nvSpPr>
          <p:cNvPr id="45" name="Shape 34"/>
          <p:cNvSpPr/>
          <p:nvPr/>
        </p:nvSpPr>
        <p:spPr>
          <a:xfrm>
            <a:off x="10689336" y="5212080"/>
            <a:ext cx="0" cy="182880"/>
          </a:xfrm>
          <a:prstGeom prst="line">
            <a:avLst/>
          </a:prstGeom>
          <a:noFill/>
          <a:ln w="19050">
            <a:solidFill>
              <a:srgbClr val="9AA39D"/>
            </a:solidFill>
            <a:prstDash val="solid"/>
            <a:tailEnd type="triangle"/>
          </a:ln>
        </p:spPr>
      </p:sp>
      <p:sp>
        <p:nvSpPr>
          <p:cNvPr id="46" name="Text 35"/>
          <p:cNvSpPr txBox="1"/>
          <p:nvPr/>
        </p:nvSpPr>
        <p:spPr>
          <a:xfrm>
            <a:off x="1572768" y="4956048"/>
            <a:ext cx="88331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5B67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Outcomes feed the next week's list</a:t>
            </a:r>
            <a:endParaRPr lang="en-US" sz="1050" dirty="0"/>
          </a:p>
        </p:txBody>
      </p:sp>
      <p:sp>
        <p:nvSpPr>
          <p:cNvPr id="47" name="Text 36"/>
          <p:cNvSpPr txBox="1"/>
          <p:nvPr/>
        </p:nvSpPr>
        <p:spPr>
          <a:xfrm>
            <a:off x="411480" y="6464808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5B67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surfaces use the same API. Phone screens are illustrative mock-ups with synthetic students; the app is a Next.js progressive web app, no app-store fee.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92240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75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ystem architecture: capture, structure, intelligence, deliver, with a trust layer underneat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5"/>
          <p:cNvSpPr/>
          <p:nvPr>
            <p:ph idx="105" type="title" hasCustomPrompt="1"/>
          </p:nvPr>
        </p:nvSpPr>
        <p:spPr>
          <a:xfrm>
            <a:off x="411480" y="310896"/>
            <a:ext cx="113687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E2B2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 estimate what each student knows, topic by topic, and say how sure we are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7589520" y="182880"/>
            <a:ext cx="41879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b="1" spc="150" kern="0" dirty="0">
                <a:solidFill>
                  <a:srgbClr val="5B67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 RIGOUR 25 % · LEARNING ANALYTICS</a:t>
            </a:r>
            <a:endParaRPr lang="en-US" sz="950" dirty="0"/>
          </a:p>
        </p:txBody>
      </p:sp>
      <p:sp>
        <p:nvSpPr>
          <p:cNvPr id="4" name="Shape 2"/>
          <p:cNvSpPr/>
          <p:nvPr/>
        </p:nvSpPr>
        <p:spPr>
          <a:xfrm>
            <a:off x="411480" y="1115568"/>
            <a:ext cx="4892040" cy="5212080"/>
          </a:xfrm>
          <a:prstGeom prst="roundRect">
            <a:avLst>
              <a:gd name="adj" fmla="val 3364"/>
            </a:avLst>
          </a:prstGeom>
          <a:solidFill>
            <a:srgbClr val="FFFFFF"/>
          </a:solidFill>
          <a:ln w="28575">
            <a:solidFill>
              <a:srgbClr val="1FA97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16786" y="1106424"/>
            <a:ext cx="2281428" cy="274320"/>
          </a:xfrm>
          <a:prstGeom prst="roundRect">
            <a:avLst>
              <a:gd name="adj" fmla="val 50000"/>
            </a:avLst>
          </a:prstGeom>
          <a:solidFill>
            <a:srgbClr val="1FA971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716786" y="1106424"/>
            <a:ext cx="22814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TEACHER SEES</a:t>
            </a:r>
            <a:endParaRPr lang="en-US" sz="1150" dirty="0"/>
          </a:p>
        </p:txBody>
      </p:sp>
      <p:pic>
        <p:nvPicPr>
          <p:cNvPr id="7" name="Image 0" descr="Topic mastery heatmap (illustrative)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481328"/>
            <a:ext cx="4572000" cy="2569464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1097280" y="3822192"/>
            <a:ext cx="274320" cy="274320"/>
          </a:xfrm>
          <a:prstGeom prst="ellipse">
            <a:avLst/>
          </a:prstGeom>
          <a:solidFill>
            <a:srgbClr val="F28C28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1097280" y="382219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1947672" y="1664208"/>
            <a:ext cx="274320" cy="274320"/>
          </a:xfrm>
          <a:prstGeom prst="ellipse">
            <a:avLst/>
          </a:prstGeom>
          <a:solidFill>
            <a:srgbClr val="F28C28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1947672" y="16642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4160520" y="2834640"/>
            <a:ext cx="274320" cy="274320"/>
          </a:xfrm>
          <a:prstGeom prst="ellipse">
            <a:avLst/>
          </a:prstGeom>
          <a:solidFill>
            <a:srgbClr val="F28C28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4160520" y="28346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566928" y="4206240"/>
            <a:ext cx="237744" cy="237744"/>
          </a:xfrm>
          <a:prstGeom prst="ellipse">
            <a:avLst/>
          </a:prstGeom>
          <a:solidFill>
            <a:srgbClr val="F28C28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566928" y="4206240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914400" y="4160520"/>
            <a:ext cx="4251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2633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Bands, not scores: building, steady, strong, or not enough data.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566928" y="4663440"/>
            <a:ext cx="237744" cy="237744"/>
          </a:xfrm>
          <a:prstGeom prst="ellipse">
            <a:avLst/>
          </a:prstGeom>
          <a:solidFill>
            <a:srgbClr val="F28C28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566928" y="4663440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914400" y="4617720"/>
            <a:ext cx="4251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2633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column low for the whole batch means probably not taught yet, not weak students.</a:t>
            </a:r>
            <a:endParaRPr lang="en-US" sz="1050" dirty="0"/>
          </a:p>
        </p:txBody>
      </p:sp>
      <p:sp>
        <p:nvSpPr>
          <p:cNvPr id="20" name="Shape 17"/>
          <p:cNvSpPr/>
          <p:nvPr/>
        </p:nvSpPr>
        <p:spPr>
          <a:xfrm>
            <a:off x="566928" y="5120640"/>
            <a:ext cx="237744" cy="237744"/>
          </a:xfrm>
          <a:prstGeom prst="ellipse">
            <a:avLst/>
          </a:prstGeom>
          <a:solidFill>
            <a:srgbClr val="F28C28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566928" y="5120640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22" name="Text 19"/>
          <p:cNvSpPr txBox="1"/>
          <p:nvPr/>
        </p:nvSpPr>
        <p:spPr>
          <a:xfrm>
            <a:off x="914400" y="5074920"/>
            <a:ext cx="4251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2633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question the best students miss is flagged as a likely wrong answer key.</a:t>
            </a:r>
            <a:endParaRPr lang="en-US" sz="1050" dirty="0"/>
          </a:p>
        </p:txBody>
      </p:sp>
      <p:sp>
        <p:nvSpPr>
          <p:cNvPr id="23" name="Shape 20"/>
          <p:cNvSpPr/>
          <p:nvPr/>
        </p:nvSpPr>
        <p:spPr>
          <a:xfrm>
            <a:off x="566928" y="5623560"/>
            <a:ext cx="1609344" cy="21945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B675F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566928" y="5623560"/>
            <a:ext cx="160934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B67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ILLUSTRATIVE MOCK-UP</a:t>
            </a:r>
            <a:endParaRPr lang="en-US" sz="900" dirty="0"/>
          </a:p>
        </p:txBody>
      </p:sp>
      <p:sp>
        <p:nvSpPr>
          <p:cNvPr id="25" name="Shape 22"/>
          <p:cNvSpPr/>
          <p:nvPr/>
        </p:nvSpPr>
        <p:spPr>
          <a:xfrm>
            <a:off x="2514600" y="5623560"/>
            <a:ext cx="1197864" cy="21945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F63A8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2514600" y="5623560"/>
            <a:ext cx="11978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F6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SYNTHETIC DATA</a:t>
            </a:r>
            <a:endParaRPr lang="en-US" sz="900" dirty="0"/>
          </a:p>
        </p:txBody>
      </p:sp>
      <p:sp>
        <p:nvSpPr>
          <p:cNvPr id="27" name="Shape 24"/>
          <p:cNvSpPr/>
          <p:nvPr/>
        </p:nvSpPr>
        <p:spPr>
          <a:xfrm>
            <a:off x="521208" y="5943600"/>
            <a:ext cx="4672584" cy="274320"/>
          </a:xfrm>
          <a:prstGeom prst="roundRect">
            <a:avLst>
              <a:gd name="adj" fmla="val 50000"/>
            </a:avLst>
          </a:prstGeom>
          <a:solidFill>
            <a:srgbClr val="0E7C4F"/>
          </a:solidFill>
          <a:ln/>
        </p:spPr>
      </p:sp>
      <p:sp>
        <p:nvSpPr>
          <p:cNvPr id="28" name="Text 25"/>
          <p:cNvSpPr txBox="1"/>
          <p:nvPr/>
        </p:nvSpPr>
        <p:spPr>
          <a:xfrm>
            <a:off x="658368" y="5943600"/>
            <a:ext cx="43982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Teacher view: topic-level, per student, per batch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5394960" y="1115568"/>
            <a:ext cx="3154680" cy="521208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28575">
            <a:solidFill>
              <a:srgbClr val="F28C28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6222492" y="1106424"/>
            <a:ext cx="1499616" cy="274320"/>
          </a:xfrm>
          <a:prstGeom prst="roundRect">
            <a:avLst>
              <a:gd name="adj" fmla="val 50000"/>
            </a:avLst>
          </a:prstGeom>
          <a:solidFill>
            <a:srgbClr val="F28C28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6222492" y="1106424"/>
            <a:ext cx="14996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WORKS</a:t>
            </a:r>
            <a:endParaRPr lang="en-US" sz="1150" dirty="0"/>
          </a:p>
        </p:txBody>
      </p:sp>
      <p:sp>
        <p:nvSpPr>
          <p:cNvPr id="32" name="Shape 29"/>
          <p:cNvSpPr/>
          <p:nvPr/>
        </p:nvSpPr>
        <p:spPr>
          <a:xfrm>
            <a:off x="5504688" y="1481328"/>
            <a:ext cx="2935224" cy="274320"/>
          </a:xfrm>
          <a:prstGeom prst="rect">
            <a:avLst/>
          </a:prstGeom>
          <a:solidFill>
            <a:srgbClr val="0E7C4F"/>
          </a:solidFill>
          <a:ln/>
        </p:spPr>
      </p:sp>
      <p:sp>
        <p:nvSpPr>
          <p:cNvPr id="33" name="Text 30"/>
          <p:cNvSpPr txBox="1"/>
          <p:nvPr/>
        </p:nvSpPr>
        <p:spPr>
          <a:xfrm>
            <a:off x="5577840" y="1481328"/>
            <a:ext cx="2788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 Answers and versioned keys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5504688" y="1755648"/>
            <a:ext cx="2935224" cy="804672"/>
          </a:xfrm>
          <a:prstGeom prst="rect">
            <a:avLst/>
          </a:prstGeom>
          <a:solidFill>
            <a:srgbClr val="E3EEFB"/>
          </a:solidFill>
          <a:ln/>
        </p:spPr>
      </p:sp>
      <p:sp>
        <p:nvSpPr>
          <p:cNvPr id="35" name="Text 32"/>
          <p:cNvSpPr txBox="1"/>
          <p:nvPr/>
        </p:nvSpPr>
        <p:spPr>
          <a:xfrm>
            <a:off x="5577840" y="1783080"/>
            <a:ext cx="27889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2633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Blank counts as wrong. Dropped and multi-correct items follow NTA rules; fixing a key re-scores everything.</a:t>
            </a:r>
            <a:endParaRPr lang="en-US" sz="1050" dirty="0"/>
          </a:p>
        </p:txBody>
      </p:sp>
      <p:sp>
        <p:nvSpPr>
          <p:cNvPr id="36" name="Shape 33"/>
          <p:cNvSpPr/>
          <p:nvPr/>
        </p:nvSpPr>
        <p:spPr>
          <a:xfrm>
            <a:off x="5504688" y="2651760"/>
            <a:ext cx="2935224" cy="274320"/>
          </a:xfrm>
          <a:prstGeom prst="rect">
            <a:avLst/>
          </a:prstGeom>
          <a:solidFill>
            <a:srgbClr val="0E7C4F"/>
          </a:solidFill>
          <a:ln/>
        </p:spPr>
      </p:sp>
      <p:sp>
        <p:nvSpPr>
          <p:cNvPr id="37" name="Text 34"/>
          <p:cNvSpPr txBox="1"/>
          <p:nvPr/>
        </p:nvSpPr>
        <p:spPr>
          <a:xfrm>
            <a:off x="5577840" y="2651760"/>
            <a:ext cx="2788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 Question difficulty</a:t>
            </a:r>
            <a:endParaRPr lang="en-US" sz="1100" dirty="0"/>
          </a:p>
        </p:txBody>
      </p:sp>
      <p:sp>
        <p:nvSpPr>
          <p:cNvPr id="38" name="Shape 35"/>
          <p:cNvSpPr/>
          <p:nvPr/>
        </p:nvSpPr>
        <p:spPr>
          <a:xfrm>
            <a:off x="5504688" y="2926080"/>
            <a:ext cx="2935224" cy="804672"/>
          </a:xfrm>
          <a:prstGeom prst="rect">
            <a:avLst/>
          </a:prstGeom>
          <a:solidFill>
            <a:srgbClr val="E3EEFB"/>
          </a:solidFill>
          <a:ln/>
        </p:spPr>
      </p:sp>
      <p:sp>
        <p:nvSpPr>
          <p:cNvPr id="39" name="Text 36"/>
          <p:cNvSpPr txBox="1"/>
          <p:nvPr/>
        </p:nvSpPr>
        <p:spPr>
          <a:xfrm>
            <a:off x="5577840" y="2953512"/>
            <a:ext cx="27889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2633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2-parameter IRT with a guessing prior; Rasch for small samples. Negative discrimination flags a bad key.</a:t>
            </a:r>
            <a:endParaRPr lang="en-US" sz="1050" dirty="0"/>
          </a:p>
        </p:txBody>
      </p:sp>
      <p:sp>
        <p:nvSpPr>
          <p:cNvPr id="40" name="Shape 37"/>
          <p:cNvSpPr/>
          <p:nvPr/>
        </p:nvSpPr>
        <p:spPr>
          <a:xfrm>
            <a:off x="5504688" y="3822192"/>
            <a:ext cx="2935224" cy="274320"/>
          </a:xfrm>
          <a:prstGeom prst="rect">
            <a:avLst/>
          </a:prstGeom>
          <a:solidFill>
            <a:srgbClr val="0E7C4F"/>
          </a:solidFill>
          <a:ln/>
        </p:spPr>
      </p:sp>
      <p:sp>
        <p:nvSpPr>
          <p:cNvPr id="41" name="Text 38"/>
          <p:cNvSpPr txBox="1"/>
          <p:nvPr/>
        </p:nvSpPr>
        <p:spPr>
          <a:xfrm>
            <a:off x="5577840" y="3822192"/>
            <a:ext cx="2788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 Mastery per topic</a:t>
            </a:r>
            <a:endParaRPr lang="en-US" sz="1100" dirty="0"/>
          </a:p>
        </p:txBody>
      </p:sp>
      <p:sp>
        <p:nvSpPr>
          <p:cNvPr id="42" name="Shape 39"/>
          <p:cNvSpPr/>
          <p:nvPr/>
        </p:nvSpPr>
        <p:spPr>
          <a:xfrm>
            <a:off x="5504688" y="4096512"/>
            <a:ext cx="2935224" cy="804672"/>
          </a:xfrm>
          <a:prstGeom prst="rect">
            <a:avLst/>
          </a:prstGeom>
          <a:solidFill>
            <a:srgbClr val="E3EEFB"/>
          </a:solidFill>
          <a:ln/>
        </p:spPr>
      </p:sp>
      <p:sp>
        <p:nvSpPr>
          <p:cNvPr id="43" name="Text 40"/>
          <p:cNvSpPr txBox="1"/>
          <p:nvPr/>
        </p:nvSpPr>
        <p:spPr>
          <a:xfrm>
            <a:off x="5577840" y="4123944"/>
            <a:ext cx="27889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2633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Shrunk toward the student's overall level and the batch; recent tests count more.</a:t>
            </a:r>
            <a:endParaRPr lang="en-US" sz="1050" dirty="0"/>
          </a:p>
        </p:txBody>
      </p:sp>
      <p:sp>
        <p:nvSpPr>
          <p:cNvPr id="44" name="Shape 41"/>
          <p:cNvSpPr/>
          <p:nvPr/>
        </p:nvSpPr>
        <p:spPr>
          <a:xfrm>
            <a:off x="5504688" y="4992624"/>
            <a:ext cx="2935224" cy="274320"/>
          </a:xfrm>
          <a:prstGeom prst="rect">
            <a:avLst/>
          </a:prstGeom>
          <a:solidFill>
            <a:srgbClr val="0E7C4F"/>
          </a:solidFill>
          <a:ln/>
        </p:spPr>
      </p:sp>
      <p:sp>
        <p:nvSpPr>
          <p:cNvPr id="45" name="Text 42"/>
          <p:cNvSpPr txBox="1"/>
          <p:nvPr/>
        </p:nvSpPr>
        <p:spPr>
          <a:xfrm>
            <a:off x="5577840" y="4992624"/>
            <a:ext cx="2788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 Bands with honesty</a:t>
            </a:r>
            <a:endParaRPr lang="en-US" sz="1100" dirty="0"/>
          </a:p>
        </p:txBody>
      </p:sp>
      <p:sp>
        <p:nvSpPr>
          <p:cNvPr id="46" name="Shape 43"/>
          <p:cNvSpPr/>
          <p:nvPr/>
        </p:nvSpPr>
        <p:spPr>
          <a:xfrm>
            <a:off x="5504688" y="5266944"/>
            <a:ext cx="2935224" cy="804672"/>
          </a:xfrm>
          <a:prstGeom prst="rect">
            <a:avLst/>
          </a:prstGeom>
          <a:solidFill>
            <a:srgbClr val="E3EEFB"/>
          </a:solidFill>
          <a:ln/>
        </p:spPr>
      </p:sp>
      <p:sp>
        <p:nvSpPr>
          <p:cNvPr id="47" name="Text 44"/>
          <p:cNvSpPr txBox="1"/>
          <p:nvPr/>
        </p:nvSpPr>
        <p:spPr>
          <a:xfrm>
            <a:off x="5577840" y="5294376"/>
            <a:ext cx="27889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2633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band appears only when the standard error is small; otherwise: not enough data.</a:t>
            </a:r>
            <a:endParaRPr lang="en-US" sz="1050" dirty="0"/>
          </a:p>
        </p:txBody>
      </p:sp>
      <p:sp>
        <p:nvSpPr>
          <p:cNvPr id="48" name="Shape 45"/>
          <p:cNvSpPr/>
          <p:nvPr/>
        </p:nvSpPr>
        <p:spPr>
          <a:xfrm>
            <a:off x="8686800" y="1115568"/>
            <a:ext cx="3093415" cy="5212080"/>
          </a:xfrm>
          <a:prstGeom prst="roundRect">
            <a:avLst>
              <a:gd name="adj" fmla="val 5321"/>
            </a:avLst>
          </a:prstGeom>
          <a:solidFill>
            <a:srgbClr val="FFFFFF"/>
          </a:solidFill>
          <a:ln w="28575">
            <a:solidFill>
              <a:srgbClr val="2F80D1"/>
            </a:solidFill>
            <a:prstDash val="solid"/>
          </a:ln>
        </p:spPr>
      </p:sp>
      <p:sp>
        <p:nvSpPr>
          <p:cNvPr id="49" name="Shape 46"/>
          <p:cNvSpPr/>
          <p:nvPr/>
        </p:nvSpPr>
        <p:spPr>
          <a:xfrm>
            <a:off x="9092794" y="1106424"/>
            <a:ext cx="2281428" cy="274320"/>
          </a:xfrm>
          <a:prstGeom prst="roundRect">
            <a:avLst>
              <a:gd name="adj" fmla="val 50000"/>
            </a:avLst>
          </a:prstGeom>
          <a:solidFill>
            <a:srgbClr val="2F80D1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50" name="Text 47"/>
          <p:cNvSpPr txBox="1"/>
          <p:nvPr/>
        </p:nvSpPr>
        <p:spPr>
          <a:xfrm>
            <a:off x="9092794" y="1106424"/>
            <a:ext cx="22814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 ON REAL DATA</a:t>
            </a:r>
            <a:endParaRPr lang="en-US" sz="1150" dirty="0"/>
          </a:p>
        </p:txBody>
      </p:sp>
      <p:pic>
        <p:nvPicPr>
          <p:cNvPr id="51" name="Image 1" descr="Knowledge tracing AUC: ours vs publishe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8240" y="1481328"/>
            <a:ext cx="2910535" cy="1804532"/>
          </a:xfrm>
          <a:prstGeom prst="rect">
            <a:avLst/>
          </a:prstGeom>
        </p:spPr>
      </p:pic>
      <p:sp>
        <p:nvSpPr>
          <p:cNvPr id="52" name="Shape 48"/>
          <p:cNvSpPr/>
          <p:nvPr/>
        </p:nvSpPr>
        <p:spPr>
          <a:xfrm>
            <a:off x="8796528" y="3429000"/>
            <a:ext cx="992124" cy="21945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0E7C4F"/>
            </a:solidFill>
            <a:prstDash val="solid"/>
          </a:ln>
        </p:spPr>
      </p:sp>
      <p:sp>
        <p:nvSpPr>
          <p:cNvPr id="53" name="Text 49"/>
          <p:cNvSpPr txBox="1"/>
          <p:nvPr/>
        </p:nvSpPr>
        <p:spPr>
          <a:xfrm>
            <a:off x="8796528" y="3429000"/>
            <a:ext cx="9921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0E7C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 DATA</a:t>
            </a:r>
            <a:endParaRPr lang="en-US" sz="900" dirty="0"/>
          </a:p>
        </p:txBody>
      </p:sp>
      <p:sp>
        <p:nvSpPr>
          <p:cNvPr id="54" name="Text 50"/>
          <p:cNvSpPr txBox="1"/>
          <p:nvPr/>
        </p:nvSpPr>
        <p:spPr>
          <a:xfrm>
            <a:off x="8796528" y="3675888"/>
            <a:ext cx="287395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2633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770 held-out students, 55,755 predictions, 5-fold, pyKT split. Our 95% interval: 0.756 to 0.779. AKT is higher than ours.</a:t>
            </a:r>
            <a:endParaRPr lang="en-US" sz="1000" dirty="0"/>
          </a:p>
        </p:txBody>
      </p:sp>
      <p:sp>
        <p:nvSpPr>
          <p:cNvPr id="55" name="Shape 51"/>
          <p:cNvSpPr/>
          <p:nvPr/>
        </p:nvSpPr>
        <p:spPr>
          <a:xfrm>
            <a:off x="8796528" y="4315968"/>
            <a:ext cx="2873959" cy="256032"/>
          </a:xfrm>
          <a:prstGeom prst="rect">
            <a:avLst/>
          </a:prstGeom>
          <a:solidFill>
            <a:srgbClr val="5B675F"/>
          </a:solidFill>
          <a:ln/>
        </p:spPr>
      </p:sp>
      <p:sp>
        <p:nvSpPr>
          <p:cNvPr id="56" name="Text 52"/>
          <p:cNvSpPr txBox="1"/>
          <p:nvPr/>
        </p:nvSpPr>
        <p:spPr>
          <a:xfrm>
            <a:off x="8869680" y="4315968"/>
            <a:ext cx="272765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SYNTHETIC-DATA RESULTS</a:t>
            </a:r>
            <a:endParaRPr lang="en-US" sz="1050" dirty="0"/>
          </a:p>
        </p:txBody>
      </p:sp>
      <p:sp>
        <p:nvSpPr>
          <p:cNvPr id="57" name="Shape 53"/>
          <p:cNvSpPr/>
          <p:nvPr/>
        </p:nvSpPr>
        <p:spPr>
          <a:xfrm>
            <a:off x="8796528" y="4572000"/>
            <a:ext cx="2873959" cy="347472"/>
          </a:xfrm>
          <a:prstGeom prst="rect">
            <a:avLst/>
          </a:prstGeom>
          <a:solidFill>
            <a:srgbClr val="F6F8F5"/>
          </a:solidFill>
          <a:ln/>
        </p:spPr>
      </p:sp>
      <p:sp>
        <p:nvSpPr>
          <p:cNvPr id="58" name="Text 54"/>
          <p:cNvSpPr txBox="1"/>
          <p:nvPr/>
        </p:nvSpPr>
        <p:spPr>
          <a:xfrm>
            <a:off x="8869680" y="4572000"/>
            <a:ext cx="181325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2633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Difficulty recovery vs students</a:t>
            </a:r>
            <a:endParaRPr lang="en-US" sz="1050" dirty="0"/>
          </a:p>
        </p:txBody>
      </p:sp>
      <p:sp>
        <p:nvSpPr>
          <p:cNvPr id="59" name="Shape 55"/>
          <p:cNvSpPr/>
          <p:nvPr/>
        </p:nvSpPr>
        <p:spPr>
          <a:xfrm>
            <a:off x="10820095" y="4645152"/>
            <a:ext cx="664464" cy="201168"/>
          </a:xfrm>
          <a:prstGeom prst="roundRect">
            <a:avLst>
              <a:gd name="adj" fmla="val 50000"/>
            </a:avLst>
          </a:prstGeom>
          <a:solidFill>
            <a:srgbClr val="F7B500"/>
          </a:solidFill>
          <a:ln/>
        </p:spPr>
      </p:sp>
      <p:sp>
        <p:nvSpPr>
          <p:cNvPr id="60" name="Text 56"/>
          <p:cNvSpPr txBox="1"/>
          <p:nvPr/>
        </p:nvSpPr>
        <p:spPr>
          <a:xfrm>
            <a:off x="10820095" y="4645152"/>
            <a:ext cx="6644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1E2B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PENDING</a:t>
            </a:r>
            <a:endParaRPr lang="en-US" sz="800" dirty="0"/>
          </a:p>
        </p:txBody>
      </p:sp>
      <p:sp>
        <p:nvSpPr>
          <p:cNvPr id="61" name="Shape 57"/>
          <p:cNvSpPr/>
          <p:nvPr/>
        </p:nvSpPr>
        <p:spPr>
          <a:xfrm>
            <a:off x="8796528" y="4937760"/>
            <a:ext cx="2873959" cy="3474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2" name="Text 58"/>
          <p:cNvSpPr txBox="1"/>
          <p:nvPr/>
        </p:nvSpPr>
        <p:spPr>
          <a:xfrm>
            <a:off x="8869680" y="4937760"/>
            <a:ext cx="181325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2633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Wrong-key detection</a:t>
            </a:r>
            <a:endParaRPr lang="en-US" sz="1050" dirty="0"/>
          </a:p>
        </p:txBody>
      </p:sp>
      <p:sp>
        <p:nvSpPr>
          <p:cNvPr id="63" name="Shape 59"/>
          <p:cNvSpPr/>
          <p:nvPr/>
        </p:nvSpPr>
        <p:spPr>
          <a:xfrm>
            <a:off x="10820095" y="5010912"/>
            <a:ext cx="664464" cy="201168"/>
          </a:xfrm>
          <a:prstGeom prst="roundRect">
            <a:avLst>
              <a:gd name="adj" fmla="val 50000"/>
            </a:avLst>
          </a:prstGeom>
          <a:solidFill>
            <a:srgbClr val="F7B500"/>
          </a:solidFill>
          <a:ln/>
        </p:spPr>
      </p:sp>
      <p:sp>
        <p:nvSpPr>
          <p:cNvPr id="64" name="Text 60"/>
          <p:cNvSpPr txBox="1"/>
          <p:nvPr/>
        </p:nvSpPr>
        <p:spPr>
          <a:xfrm>
            <a:off x="10820095" y="5010912"/>
            <a:ext cx="6644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1E2B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PENDING</a:t>
            </a:r>
            <a:endParaRPr lang="en-US" sz="800" dirty="0"/>
          </a:p>
        </p:txBody>
      </p:sp>
      <p:sp>
        <p:nvSpPr>
          <p:cNvPr id="65" name="Shape 61"/>
          <p:cNvSpPr/>
          <p:nvPr/>
        </p:nvSpPr>
        <p:spPr>
          <a:xfrm>
            <a:off x="8796528" y="5303520"/>
            <a:ext cx="2873959" cy="347472"/>
          </a:xfrm>
          <a:prstGeom prst="rect">
            <a:avLst/>
          </a:prstGeom>
          <a:solidFill>
            <a:srgbClr val="F6F8F5"/>
          </a:solidFill>
          <a:ln/>
        </p:spPr>
      </p:sp>
      <p:sp>
        <p:nvSpPr>
          <p:cNvPr id="66" name="Text 62"/>
          <p:cNvSpPr txBox="1"/>
          <p:nvPr/>
        </p:nvSpPr>
        <p:spPr>
          <a:xfrm>
            <a:off x="8869680" y="5303520"/>
            <a:ext cx="181325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2633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Mastery vs raw % correct</a:t>
            </a:r>
            <a:endParaRPr lang="en-US" sz="1050" dirty="0"/>
          </a:p>
        </p:txBody>
      </p:sp>
      <p:sp>
        <p:nvSpPr>
          <p:cNvPr id="67" name="Shape 63"/>
          <p:cNvSpPr/>
          <p:nvPr/>
        </p:nvSpPr>
        <p:spPr>
          <a:xfrm>
            <a:off x="10820095" y="5376672"/>
            <a:ext cx="664464" cy="201168"/>
          </a:xfrm>
          <a:prstGeom prst="roundRect">
            <a:avLst>
              <a:gd name="adj" fmla="val 50000"/>
            </a:avLst>
          </a:prstGeom>
          <a:solidFill>
            <a:srgbClr val="F7B500"/>
          </a:solidFill>
          <a:ln/>
        </p:spPr>
      </p:sp>
      <p:sp>
        <p:nvSpPr>
          <p:cNvPr id="68" name="Text 64"/>
          <p:cNvSpPr txBox="1"/>
          <p:nvPr/>
        </p:nvSpPr>
        <p:spPr>
          <a:xfrm>
            <a:off x="10820095" y="5376672"/>
            <a:ext cx="6644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1E2B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PENDING</a:t>
            </a:r>
            <a:endParaRPr lang="en-US" sz="800" dirty="0"/>
          </a:p>
        </p:txBody>
      </p:sp>
      <p:sp>
        <p:nvSpPr>
          <p:cNvPr id="69" name="Text 65"/>
          <p:cNvSpPr txBox="1"/>
          <p:nvPr/>
        </p:nvSpPr>
        <p:spPr>
          <a:xfrm>
            <a:off x="8796528" y="5715000"/>
            <a:ext cx="287395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5B67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Moat curve: difficulty accuracy as more students answer.</a:t>
            </a:r>
            <a:endParaRPr lang="en-US" sz="1000" dirty="0"/>
          </a:p>
        </p:txBody>
      </p:sp>
      <p:sp>
        <p:nvSpPr>
          <p:cNvPr id="70" name="Text 66"/>
          <p:cNvSpPr txBox="1"/>
          <p:nvPr/>
        </p:nvSpPr>
        <p:spPr>
          <a:xfrm>
            <a:off x="411480" y="6464808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5B67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ml/public_validation (ASSISTments 2009, pyKT NeurIPS 2022 reference values); screens are illustrative. Difficulty and mastery results on synthetic data are pending.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92240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75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5"/>
          <p:cNvSpPr/>
          <p:nvPr>
            <p:ph idx="105" type="title" hasCustomPrompt="1"/>
          </p:nvPr>
        </p:nvSpPr>
        <p:spPr>
          <a:xfrm>
            <a:off x="411480" y="310896"/>
            <a:ext cx="113687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E2B2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short, supportive list each week: who to call, why, and what to offer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7589520" y="182880"/>
            <a:ext cx="41879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b="1" spc="150" kern="0" dirty="0">
                <a:solidFill>
                  <a:srgbClr val="5B67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 RIGOUR 25 % · EARLY WARNING</a:t>
            </a:r>
            <a:endParaRPr lang="en-US" sz="950" dirty="0"/>
          </a:p>
        </p:txBody>
      </p:sp>
      <p:sp>
        <p:nvSpPr>
          <p:cNvPr id="4" name="Shape 2"/>
          <p:cNvSpPr/>
          <p:nvPr/>
        </p:nvSpPr>
        <p:spPr>
          <a:xfrm>
            <a:off x="411480" y="1115568"/>
            <a:ext cx="4572000" cy="5212080"/>
          </a:xfrm>
          <a:prstGeom prst="rect">
            <a:avLst/>
          </a:prstGeom>
          <a:solidFill>
            <a:srgbClr val="FFFFFF"/>
          </a:solidFill>
          <a:ln w="15875">
            <a:solidFill>
              <a:srgbClr val="1FA97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11480" y="1115568"/>
            <a:ext cx="4572000" cy="301752"/>
          </a:xfrm>
          <a:prstGeom prst="rect">
            <a:avLst/>
          </a:prstGeom>
          <a:solidFill>
            <a:srgbClr val="1FA971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21208" y="1115568"/>
            <a:ext cx="4352544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MENTOR SEES</a:t>
            </a:r>
            <a:endParaRPr lang="en-US" sz="1150" dirty="0"/>
          </a:p>
        </p:txBody>
      </p:sp>
      <p:pic>
        <p:nvPicPr>
          <p:cNvPr id="7" name="Image 0" descr="Support list (illustrative)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463040"/>
            <a:ext cx="4389120" cy="246888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3794760" y="1965960"/>
            <a:ext cx="274320" cy="274320"/>
          </a:xfrm>
          <a:prstGeom prst="ellipse">
            <a:avLst/>
          </a:prstGeom>
          <a:solidFill>
            <a:srgbClr val="F28C28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3794760" y="19659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2423160" y="2148840"/>
            <a:ext cx="274320" cy="274320"/>
          </a:xfrm>
          <a:prstGeom prst="ellipse">
            <a:avLst/>
          </a:prstGeom>
          <a:solidFill>
            <a:srgbClr val="F28C28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2423160" y="21488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502920" y="3977640"/>
            <a:ext cx="4389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E2B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ROUTING BY AGE AND PURPOSE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502920" y="4224528"/>
            <a:ext cx="1188720" cy="256032"/>
          </a:xfrm>
          <a:prstGeom prst="rect">
            <a:avLst/>
          </a:prstGeom>
          <a:solidFill>
            <a:srgbClr val="1F63A8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548640" y="4224528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000" dirty="0"/>
          </a:p>
        </p:txBody>
      </p:sp>
      <p:sp>
        <p:nvSpPr>
          <p:cNvPr id="15" name="Shape 12"/>
          <p:cNvSpPr/>
          <p:nvPr/>
        </p:nvSpPr>
        <p:spPr>
          <a:xfrm>
            <a:off x="1691640" y="4224528"/>
            <a:ext cx="1097280" cy="256032"/>
          </a:xfrm>
          <a:prstGeom prst="rect">
            <a:avLst/>
          </a:prstGeom>
          <a:solidFill>
            <a:srgbClr val="1F63A8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1737360" y="4224528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Academic support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2788920" y="4224528"/>
            <a:ext cx="1051560" cy="256032"/>
          </a:xfrm>
          <a:prstGeom prst="rect">
            <a:avLst/>
          </a:prstGeom>
          <a:solidFill>
            <a:srgbClr val="1F63A8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2834640" y="4224528"/>
            <a:ext cx="960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Dropout</a:t>
            </a:r>
            <a:endParaRPr lang="en-US" sz="1000" dirty="0"/>
          </a:p>
        </p:txBody>
      </p:sp>
      <p:sp>
        <p:nvSpPr>
          <p:cNvPr id="19" name="Shape 16"/>
          <p:cNvSpPr/>
          <p:nvPr/>
        </p:nvSpPr>
        <p:spPr>
          <a:xfrm>
            <a:off x="3840480" y="4224528"/>
            <a:ext cx="1051560" cy="256032"/>
          </a:xfrm>
          <a:prstGeom prst="rect">
            <a:avLst/>
          </a:prstGeom>
          <a:solidFill>
            <a:srgbClr val="1F63A8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3886200" y="4224528"/>
            <a:ext cx="960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Fees</a:t>
            </a:r>
            <a:endParaRPr lang="en-US" sz="1000" dirty="0"/>
          </a:p>
        </p:txBody>
      </p:sp>
      <p:sp>
        <p:nvSpPr>
          <p:cNvPr id="21" name="Shape 18"/>
          <p:cNvSpPr/>
          <p:nvPr/>
        </p:nvSpPr>
        <p:spPr>
          <a:xfrm>
            <a:off x="502920" y="4480560"/>
            <a:ext cx="1188720" cy="310896"/>
          </a:xfrm>
          <a:prstGeom prst="rect">
            <a:avLst/>
          </a:prstGeom>
          <a:solidFill>
            <a:srgbClr val="F1F7F3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548640" y="4480560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633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 18</a:t>
            </a:r>
            <a:endParaRPr lang="en-US" sz="1000" dirty="0"/>
          </a:p>
        </p:txBody>
      </p:sp>
      <p:sp>
        <p:nvSpPr>
          <p:cNvPr id="23" name="Shape 20"/>
          <p:cNvSpPr/>
          <p:nvPr/>
        </p:nvSpPr>
        <p:spPr>
          <a:xfrm>
            <a:off x="1691640" y="4480560"/>
            <a:ext cx="1097280" cy="310896"/>
          </a:xfrm>
          <a:prstGeom prst="rect">
            <a:avLst/>
          </a:prstGeom>
          <a:solidFill>
            <a:srgbClr val="D3F0DF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1737360" y="4480560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633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</a:t>
            </a:r>
            <a:endParaRPr lang="en-US" sz="1000" dirty="0"/>
          </a:p>
        </p:txBody>
      </p:sp>
      <p:sp>
        <p:nvSpPr>
          <p:cNvPr id="25" name="Shape 22"/>
          <p:cNvSpPr/>
          <p:nvPr/>
        </p:nvSpPr>
        <p:spPr>
          <a:xfrm>
            <a:off x="2788920" y="4480560"/>
            <a:ext cx="1051560" cy="310896"/>
          </a:xfrm>
          <a:prstGeom prst="rect">
            <a:avLst/>
          </a:prstGeom>
          <a:solidFill>
            <a:srgbClr val="FFF0BF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2834640" y="4480560"/>
            <a:ext cx="960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633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Plain rules</a:t>
            </a:r>
            <a:endParaRPr lang="en-US" sz="1000" dirty="0"/>
          </a:p>
        </p:txBody>
      </p:sp>
      <p:sp>
        <p:nvSpPr>
          <p:cNvPr id="27" name="Shape 24"/>
          <p:cNvSpPr/>
          <p:nvPr/>
        </p:nvSpPr>
        <p:spPr>
          <a:xfrm>
            <a:off x="3840480" y="4480560"/>
            <a:ext cx="1051560" cy="310896"/>
          </a:xfrm>
          <a:prstGeom prst="rect">
            <a:avLst/>
          </a:prstGeom>
          <a:solidFill>
            <a:srgbClr val="FFF0BF"/>
          </a:solidFill>
          <a:ln/>
        </p:spPr>
      </p:sp>
      <p:sp>
        <p:nvSpPr>
          <p:cNvPr id="28" name="Text 25"/>
          <p:cNvSpPr txBox="1"/>
          <p:nvPr/>
        </p:nvSpPr>
        <p:spPr>
          <a:xfrm>
            <a:off x="3886200" y="4480560"/>
            <a:ext cx="960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633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Plain rules</a:t>
            </a:r>
            <a:endParaRPr lang="en-US" sz="1000" dirty="0"/>
          </a:p>
        </p:txBody>
      </p:sp>
      <p:sp>
        <p:nvSpPr>
          <p:cNvPr id="29" name="Shape 26"/>
          <p:cNvSpPr/>
          <p:nvPr/>
        </p:nvSpPr>
        <p:spPr>
          <a:xfrm>
            <a:off x="502920" y="4791456"/>
            <a:ext cx="4389120" cy="0"/>
          </a:xfrm>
          <a:prstGeom prst="line">
            <a:avLst/>
          </a:prstGeom>
          <a:noFill/>
          <a:ln w="6350">
            <a:solidFill>
              <a:srgbClr val="E3E8E4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502920" y="4791456"/>
            <a:ext cx="1188720" cy="31089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1" name="Text 28"/>
          <p:cNvSpPr txBox="1"/>
          <p:nvPr/>
        </p:nvSpPr>
        <p:spPr>
          <a:xfrm>
            <a:off x="548640" y="4791456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633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and over</a:t>
            </a:r>
            <a:endParaRPr lang="en-US" sz="1000" dirty="0"/>
          </a:p>
        </p:txBody>
      </p:sp>
      <p:sp>
        <p:nvSpPr>
          <p:cNvPr id="32" name="Shape 29"/>
          <p:cNvSpPr/>
          <p:nvPr/>
        </p:nvSpPr>
        <p:spPr>
          <a:xfrm>
            <a:off x="1691640" y="4791456"/>
            <a:ext cx="1097280" cy="310896"/>
          </a:xfrm>
          <a:prstGeom prst="rect">
            <a:avLst/>
          </a:prstGeom>
          <a:solidFill>
            <a:srgbClr val="D3F0DF"/>
          </a:solidFill>
          <a:ln/>
        </p:spPr>
      </p:sp>
      <p:sp>
        <p:nvSpPr>
          <p:cNvPr id="33" name="Text 30"/>
          <p:cNvSpPr txBox="1"/>
          <p:nvPr/>
        </p:nvSpPr>
        <p:spPr>
          <a:xfrm>
            <a:off x="1737360" y="4791456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633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</a:t>
            </a:r>
            <a:endParaRPr lang="en-US" sz="1000" dirty="0"/>
          </a:p>
        </p:txBody>
      </p:sp>
      <p:sp>
        <p:nvSpPr>
          <p:cNvPr id="34" name="Shape 31"/>
          <p:cNvSpPr/>
          <p:nvPr/>
        </p:nvSpPr>
        <p:spPr>
          <a:xfrm>
            <a:off x="2788920" y="4791456"/>
            <a:ext cx="1051560" cy="310896"/>
          </a:xfrm>
          <a:prstGeom prst="rect">
            <a:avLst/>
          </a:prstGeom>
          <a:solidFill>
            <a:srgbClr val="D3F0DF"/>
          </a:solidFill>
          <a:ln/>
        </p:spPr>
      </p:sp>
      <p:sp>
        <p:nvSpPr>
          <p:cNvPr id="35" name="Text 32"/>
          <p:cNvSpPr txBox="1"/>
          <p:nvPr/>
        </p:nvSpPr>
        <p:spPr>
          <a:xfrm>
            <a:off x="2834640" y="4791456"/>
            <a:ext cx="960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633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</a:t>
            </a:r>
            <a:endParaRPr lang="en-US" sz="1000" dirty="0"/>
          </a:p>
        </p:txBody>
      </p:sp>
      <p:sp>
        <p:nvSpPr>
          <p:cNvPr id="36" name="Shape 33"/>
          <p:cNvSpPr/>
          <p:nvPr/>
        </p:nvSpPr>
        <p:spPr>
          <a:xfrm>
            <a:off x="3840480" y="4791456"/>
            <a:ext cx="1051560" cy="310896"/>
          </a:xfrm>
          <a:prstGeom prst="rect">
            <a:avLst/>
          </a:prstGeom>
          <a:solidFill>
            <a:srgbClr val="D3F0DF"/>
          </a:solidFill>
          <a:ln/>
        </p:spPr>
      </p:sp>
      <p:sp>
        <p:nvSpPr>
          <p:cNvPr id="37" name="Text 34"/>
          <p:cNvSpPr txBox="1"/>
          <p:nvPr/>
        </p:nvSpPr>
        <p:spPr>
          <a:xfrm>
            <a:off x="3886200" y="4791456"/>
            <a:ext cx="960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633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</a:t>
            </a:r>
            <a:endParaRPr lang="en-US" sz="1000" dirty="0"/>
          </a:p>
        </p:txBody>
      </p:sp>
      <p:sp>
        <p:nvSpPr>
          <p:cNvPr id="38" name="Shape 35"/>
          <p:cNvSpPr/>
          <p:nvPr/>
        </p:nvSpPr>
        <p:spPr>
          <a:xfrm>
            <a:off x="502920" y="5102352"/>
            <a:ext cx="4389120" cy="0"/>
          </a:xfrm>
          <a:prstGeom prst="line">
            <a:avLst/>
          </a:prstGeom>
          <a:noFill/>
          <a:ln w="6350">
            <a:solidFill>
              <a:srgbClr val="E3E8E4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>
            <a:off x="502920" y="5102352"/>
            <a:ext cx="1188720" cy="310896"/>
          </a:xfrm>
          <a:prstGeom prst="rect">
            <a:avLst/>
          </a:prstGeom>
          <a:solidFill>
            <a:srgbClr val="F1F7F3"/>
          </a:solidFill>
          <a:ln/>
        </p:spPr>
      </p:sp>
      <p:sp>
        <p:nvSpPr>
          <p:cNvPr id="40" name="Text 37"/>
          <p:cNvSpPr txBox="1"/>
          <p:nvPr/>
        </p:nvSpPr>
        <p:spPr>
          <a:xfrm>
            <a:off x="548640" y="5102352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633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Minors, legal opinion</a:t>
            </a:r>
            <a:endParaRPr lang="en-US" sz="1000" dirty="0"/>
          </a:p>
        </p:txBody>
      </p:sp>
      <p:sp>
        <p:nvSpPr>
          <p:cNvPr id="41" name="Shape 38"/>
          <p:cNvSpPr/>
          <p:nvPr/>
        </p:nvSpPr>
        <p:spPr>
          <a:xfrm>
            <a:off x="1691640" y="5102352"/>
            <a:ext cx="1097280" cy="310896"/>
          </a:xfrm>
          <a:prstGeom prst="rect">
            <a:avLst/>
          </a:prstGeom>
          <a:solidFill>
            <a:srgbClr val="D3F0DF"/>
          </a:solidFill>
          <a:ln/>
        </p:spPr>
      </p:sp>
      <p:sp>
        <p:nvSpPr>
          <p:cNvPr id="42" name="Text 39"/>
          <p:cNvSpPr txBox="1"/>
          <p:nvPr/>
        </p:nvSpPr>
        <p:spPr>
          <a:xfrm>
            <a:off x="1737360" y="5102352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633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</a:t>
            </a:r>
            <a:endParaRPr lang="en-US" sz="1000" dirty="0"/>
          </a:p>
        </p:txBody>
      </p:sp>
      <p:sp>
        <p:nvSpPr>
          <p:cNvPr id="43" name="Shape 40"/>
          <p:cNvSpPr/>
          <p:nvPr/>
        </p:nvSpPr>
        <p:spPr>
          <a:xfrm>
            <a:off x="2788920" y="5102352"/>
            <a:ext cx="1051560" cy="310896"/>
          </a:xfrm>
          <a:prstGeom prst="rect">
            <a:avLst/>
          </a:prstGeom>
          <a:solidFill>
            <a:srgbClr val="D3F0DF"/>
          </a:solidFill>
          <a:ln/>
        </p:spPr>
      </p:sp>
      <p:sp>
        <p:nvSpPr>
          <p:cNvPr id="44" name="Text 41"/>
          <p:cNvSpPr txBox="1"/>
          <p:nvPr/>
        </p:nvSpPr>
        <p:spPr>
          <a:xfrm>
            <a:off x="2834640" y="5102352"/>
            <a:ext cx="960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633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</a:t>
            </a:r>
            <a:endParaRPr lang="en-US" sz="1000" dirty="0"/>
          </a:p>
        </p:txBody>
      </p:sp>
      <p:sp>
        <p:nvSpPr>
          <p:cNvPr id="45" name="Shape 42"/>
          <p:cNvSpPr/>
          <p:nvPr/>
        </p:nvSpPr>
        <p:spPr>
          <a:xfrm>
            <a:off x="3840480" y="5102352"/>
            <a:ext cx="1051560" cy="310896"/>
          </a:xfrm>
          <a:prstGeom prst="rect">
            <a:avLst/>
          </a:prstGeom>
          <a:solidFill>
            <a:srgbClr val="FFF0BF"/>
          </a:solidFill>
          <a:ln/>
        </p:spPr>
      </p:sp>
      <p:sp>
        <p:nvSpPr>
          <p:cNvPr id="46" name="Text 43"/>
          <p:cNvSpPr txBox="1"/>
          <p:nvPr/>
        </p:nvSpPr>
        <p:spPr>
          <a:xfrm>
            <a:off x="3886200" y="5102352"/>
            <a:ext cx="960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633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Plain rules</a:t>
            </a:r>
            <a:endParaRPr lang="en-US" sz="1000" dirty="0"/>
          </a:p>
        </p:txBody>
      </p:sp>
      <p:sp>
        <p:nvSpPr>
          <p:cNvPr id="47" name="Shape 44"/>
          <p:cNvSpPr/>
          <p:nvPr/>
        </p:nvSpPr>
        <p:spPr>
          <a:xfrm>
            <a:off x="502920" y="5413248"/>
            <a:ext cx="4389120" cy="0"/>
          </a:xfrm>
          <a:prstGeom prst="line">
            <a:avLst/>
          </a:prstGeom>
          <a:noFill/>
          <a:ln w="6350">
            <a:solidFill>
              <a:srgbClr val="E3E8E4"/>
            </a:solidFill>
            <a:prstDash val="solid"/>
          </a:ln>
        </p:spPr>
      </p:sp>
      <p:sp>
        <p:nvSpPr>
          <p:cNvPr id="48" name="Text 45"/>
          <p:cNvSpPr txBox="1"/>
          <p:nvPr/>
        </p:nvSpPr>
        <p:spPr>
          <a:xfrm>
            <a:off x="502920" y="5468112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5B67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Never used for minors: app activity tracking. Flags persist until resolved; list capped at mentor capacity.</a:t>
            </a:r>
            <a:endParaRPr lang="en-US" sz="950" dirty="0"/>
          </a:p>
        </p:txBody>
      </p:sp>
      <p:sp>
        <p:nvSpPr>
          <p:cNvPr id="49" name="Shape 46"/>
          <p:cNvSpPr/>
          <p:nvPr/>
        </p:nvSpPr>
        <p:spPr>
          <a:xfrm>
            <a:off x="502920" y="5852160"/>
            <a:ext cx="1609344" cy="21945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B675F"/>
            </a:solidFill>
            <a:prstDash val="solid"/>
          </a:ln>
        </p:spPr>
      </p:sp>
      <p:sp>
        <p:nvSpPr>
          <p:cNvPr id="50" name="Text 47"/>
          <p:cNvSpPr txBox="1"/>
          <p:nvPr/>
        </p:nvSpPr>
        <p:spPr>
          <a:xfrm>
            <a:off x="502920" y="5852160"/>
            <a:ext cx="160934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B67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ILLUSTRATIVE MOCK-UP</a:t>
            </a:r>
            <a:endParaRPr lang="en-US" sz="900" dirty="0"/>
          </a:p>
        </p:txBody>
      </p:sp>
      <p:sp>
        <p:nvSpPr>
          <p:cNvPr id="51" name="Shape 48"/>
          <p:cNvSpPr/>
          <p:nvPr/>
        </p:nvSpPr>
        <p:spPr>
          <a:xfrm>
            <a:off x="502920" y="6053328"/>
            <a:ext cx="4389120" cy="246888"/>
          </a:xfrm>
          <a:prstGeom prst="roundRect">
            <a:avLst>
              <a:gd name="adj" fmla="val 50000"/>
            </a:avLst>
          </a:prstGeom>
          <a:solidFill>
            <a:srgbClr val="D9701A"/>
          </a:solidFill>
          <a:ln/>
        </p:spPr>
      </p:sp>
      <p:sp>
        <p:nvSpPr>
          <p:cNvPr id="52" name="Text 49"/>
          <p:cNvSpPr txBox="1"/>
          <p:nvPr/>
        </p:nvSpPr>
        <p:spPr>
          <a:xfrm>
            <a:off x="640080" y="6053328"/>
            <a:ext cx="4114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Visible to mentor and owner only</a:t>
            </a:r>
            <a:endParaRPr lang="en-US" sz="1050" dirty="0"/>
          </a:p>
        </p:txBody>
      </p:sp>
      <p:sp>
        <p:nvSpPr>
          <p:cNvPr id="53" name="Shape 50"/>
          <p:cNvSpPr/>
          <p:nvPr/>
        </p:nvSpPr>
        <p:spPr>
          <a:xfrm>
            <a:off x="5120640" y="1115568"/>
            <a:ext cx="3657600" cy="5212080"/>
          </a:xfrm>
          <a:prstGeom prst="rect">
            <a:avLst/>
          </a:prstGeom>
          <a:solidFill>
            <a:srgbClr val="FFFFFF"/>
          </a:solidFill>
          <a:ln w="15875">
            <a:solidFill>
              <a:srgbClr val="F28C28"/>
            </a:solidFill>
            <a:prstDash val="solid"/>
          </a:ln>
        </p:spPr>
      </p:sp>
      <p:sp>
        <p:nvSpPr>
          <p:cNvPr id="54" name="Shape 51"/>
          <p:cNvSpPr/>
          <p:nvPr/>
        </p:nvSpPr>
        <p:spPr>
          <a:xfrm>
            <a:off x="5120640" y="1115568"/>
            <a:ext cx="3657600" cy="301752"/>
          </a:xfrm>
          <a:prstGeom prst="rect">
            <a:avLst/>
          </a:prstGeom>
          <a:solidFill>
            <a:srgbClr val="F28C28"/>
          </a:solidFill>
          <a:ln/>
        </p:spPr>
      </p:sp>
      <p:sp>
        <p:nvSpPr>
          <p:cNvPr id="55" name="Text 52"/>
          <p:cNvSpPr txBox="1"/>
          <p:nvPr/>
        </p:nvSpPr>
        <p:spPr>
          <a:xfrm>
            <a:off x="5230368" y="1115568"/>
            <a:ext cx="3438144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REAL-DATA CHECK ON OULAD (WITHDRAWAL)</a:t>
            </a:r>
            <a:endParaRPr lang="en-US" sz="1150" dirty="0"/>
          </a:p>
        </p:txBody>
      </p:sp>
      <p:pic>
        <p:nvPicPr>
          <p:cNvPr id="56" name="Image 1" descr="OULAD AUC by observation window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12080" y="1463040"/>
            <a:ext cx="3474720" cy="2414930"/>
          </a:xfrm>
          <a:prstGeom prst="rect">
            <a:avLst/>
          </a:prstGeom>
        </p:spPr>
      </p:pic>
      <p:sp>
        <p:nvSpPr>
          <p:cNvPr id="57" name="Shape 53"/>
          <p:cNvSpPr/>
          <p:nvPr/>
        </p:nvSpPr>
        <p:spPr>
          <a:xfrm>
            <a:off x="5230368" y="4041648"/>
            <a:ext cx="992124" cy="21945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0E7C4F"/>
            </a:solidFill>
            <a:prstDash val="solid"/>
          </a:ln>
        </p:spPr>
      </p:sp>
      <p:sp>
        <p:nvSpPr>
          <p:cNvPr id="58" name="Text 54"/>
          <p:cNvSpPr txBox="1"/>
          <p:nvPr/>
        </p:nvSpPr>
        <p:spPr>
          <a:xfrm>
            <a:off x="5230368" y="4041648"/>
            <a:ext cx="9921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0E7C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 DATA</a:t>
            </a:r>
            <a:endParaRPr lang="en-US" sz="900" dirty="0"/>
          </a:p>
        </p:txBody>
      </p:sp>
      <p:sp>
        <p:nvSpPr>
          <p:cNvPr id="59" name="Shape 55"/>
          <p:cNvSpPr/>
          <p:nvPr/>
        </p:nvSpPr>
        <p:spPr>
          <a:xfrm>
            <a:off x="5212080" y="4297680"/>
            <a:ext cx="1828800" cy="246888"/>
          </a:xfrm>
          <a:prstGeom prst="rect">
            <a:avLst/>
          </a:prstGeom>
          <a:solidFill>
            <a:srgbClr val="0E7C4F"/>
          </a:solidFill>
          <a:ln/>
        </p:spPr>
      </p:sp>
      <p:sp>
        <p:nvSpPr>
          <p:cNvPr id="60" name="Text 56"/>
          <p:cNvSpPr txBox="1"/>
          <p:nvPr/>
        </p:nvSpPr>
        <p:spPr>
          <a:xfrm>
            <a:off x="5257800" y="4297680"/>
            <a:ext cx="17373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28, 5-fold by student</a:t>
            </a:r>
            <a:endParaRPr lang="en-US" sz="950" dirty="0"/>
          </a:p>
        </p:txBody>
      </p:sp>
      <p:sp>
        <p:nvSpPr>
          <p:cNvPr id="61" name="Shape 57"/>
          <p:cNvSpPr/>
          <p:nvPr/>
        </p:nvSpPr>
        <p:spPr>
          <a:xfrm>
            <a:off x="7040880" y="4297680"/>
            <a:ext cx="822960" cy="246888"/>
          </a:xfrm>
          <a:prstGeom prst="rect">
            <a:avLst/>
          </a:prstGeom>
          <a:solidFill>
            <a:srgbClr val="0E7C4F"/>
          </a:solidFill>
          <a:ln/>
        </p:spPr>
      </p:sp>
      <p:sp>
        <p:nvSpPr>
          <p:cNvPr id="62" name="Text 58"/>
          <p:cNvSpPr txBox="1"/>
          <p:nvPr/>
        </p:nvSpPr>
        <p:spPr>
          <a:xfrm>
            <a:off x="7086600" y="4297680"/>
            <a:ext cx="7315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AUC</a:t>
            </a:r>
            <a:endParaRPr lang="en-US" sz="950" dirty="0"/>
          </a:p>
        </p:txBody>
      </p:sp>
      <p:sp>
        <p:nvSpPr>
          <p:cNvPr id="63" name="Shape 59"/>
          <p:cNvSpPr/>
          <p:nvPr/>
        </p:nvSpPr>
        <p:spPr>
          <a:xfrm>
            <a:off x="7863840" y="4297680"/>
            <a:ext cx="731520" cy="246888"/>
          </a:xfrm>
          <a:prstGeom prst="rect">
            <a:avLst/>
          </a:prstGeom>
          <a:solidFill>
            <a:srgbClr val="0E7C4F"/>
          </a:solidFill>
          <a:ln/>
        </p:spPr>
      </p:sp>
      <p:sp>
        <p:nvSpPr>
          <p:cNvPr id="64" name="Text 60"/>
          <p:cNvSpPr txBox="1"/>
          <p:nvPr/>
        </p:nvSpPr>
        <p:spPr>
          <a:xfrm>
            <a:off x="7909560" y="4297680"/>
            <a:ext cx="6400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P@10 %</a:t>
            </a:r>
            <a:endParaRPr lang="en-US" sz="950" dirty="0"/>
          </a:p>
        </p:txBody>
      </p:sp>
      <p:sp>
        <p:nvSpPr>
          <p:cNvPr id="65" name="Shape 61"/>
          <p:cNvSpPr/>
          <p:nvPr/>
        </p:nvSpPr>
        <p:spPr>
          <a:xfrm>
            <a:off x="5212080" y="4544568"/>
            <a:ext cx="1828800" cy="246888"/>
          </a:xfrm>
          <a:prstGeom prst="rect">
            <a:avLst/>
          </a:prstGeom>
          <a:solidFill>
            <a:srgbClr val="D3F0DF"/>
          </a:solidFill>
          <a:ln/>
        </p:spPr>
      </p:sp>
      <p:sp>
        <p:nvSpPr>
          <p:cNvPr id="66" name="Text 62"/>
          <p:cNvSpPr txBox="1"/>
          <p:nvPr/>
        </p:nvSpPr>
        <p:spPr>
          <a:xfrm>
            <a:off x="5257800" y="4544568"/>
            <a:ext cx="17373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2633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LightGBM, academic + clicks</a:t>
            </a:r>
            <a:endParaRPr lang="en-US" sz="950" dirty="0"/>
          </a:p>
        </p:txBody>
      </p:sp>
      <p:sp>
        <p:nvSpPr>
          <p:cNvPr id="67" name="Shape 63"/>
          <p:cNvSpPr/>
          <p:nvPr/>
        </p:nvSpPr>
        <p:spPr>
          <a:xfrm>
            <a:off x="7040880" y="4544568"/>
            <a:ext cx="822960" cy="246888"/>
          </a:xfrm>
          <a:prstGeom prst="rect">
            <a:avLst/>
          </a:prstGeom>
          <a:solidFill>
            <a:srgbClr val="D3F0DF"/>
          </a:solidFill>
          <a:ln/>
        </p:spPr>
      </p:sp>
      <p:sp>
        <p:nvSpPr>
          <p:cNvPr id="68" name="Text 64"/>
          <p:cNvSpPr txBox="1"/>
          <p:nvPr/>
        </p:nvSpPr>
        <p:spPr>
          <a:xfrm>
            <a:off x="7086600" y="4544568"/>
            <a:ext cx="7315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633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0.706</a:t>
            </a:r>
            <a:endParaRPr lang="en-US" sz="950" dirty="0"/>
          </a:p>
        </p:txBody>
      </p:sp>
      <p:sp>
        <p:nvSpPr>
          <p:cNvPr id="69" name="Shape 65"/>
          <p:cNvSpPr/>
          <p:nvPr/>
        </p:nvSpPr>
        <p:spPr>
          <a:xfrm>
            <a:off x="7863840" y="4544568"/>
            <a:ext cx="731520" cy="246888"/>
          </a:xfrm>
          <a:prstGeom prst="rect">
            <a:avLst/>
          </a:prstGeom>
          <a:solidFill>
            <a:srgbClr val="D3F0DF"/>
          </a:solidFill>
          <a:ln/>
        </p:spPr>
      </p:sp>
      <p:sp>
        <p:nvSpPr>
          <p:cNvPr id="70" name="Text 66"/>
          <p:cNvSpPr txBox="1"/>
          <p:nvPr/>
        </p:nvSpPr>
        <p:spPr>
          <a:xfrm>
            <a:off x="7909560" y="4544568"/>
            <a:ext cx="6400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633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0.46</a:t>
            </a:r>
            <a:endParaRPr lang="en-US" sz="950" dirty="0"/>
          </a:p>
        </p:txBody>
      </p:sp>
      <p:sp>
        <p:nvSpPr>
          <p:cNvPr id="71" name="Shape 67"/>
          <p:cNvSpPr/>
          <p:nvPr/>
        </p:nvSpPr>
        <p:spPr>
          <a:xfrm>
            <a:off x="5212080" y="4791456"/>
            <a:ext cx="3383280" cy="0"/>
          </a:xfrm>
          <a:prstGeom prst="line">
            <a:avLst/>
          </a:prstGeom>
          <a:noFill/>
          <a:ln w="6350">
            <a:solidFill>
              <a:srgbClr val="E3E8E4"/>
            </a:solidFill>
            <a:prstDash val="solid"/>
          </a:ln>
        </p:spPr>
      </p:sp>
      <p:sp>
        <p:nvSpPr>
          <p:cNvPr id="72" name="Shape 68"/>
          <p:cNvSpPr/>
          <p:nvPr/>
        </p:nvSpPr>
        <p:spPr>
          <a:xfrm>
            <a:off x="5212080" y="4791456"/>
            <a:ext cx="1828800" cy="246888"/>
          </a:xfrm>
          <a:prstGeom prst="rect">
            <a:avLst/>
          </a:prstGeom>
          <a:solidFill>
            <a:srgbClr val="F1F7F3"/>
          </a:solidFill>
          <a:ln/>
        </p:spPr>
      </p:sp>
      <p:sp>
        <p:nvSpPr>
          <p:cNvPr id="73" name="Text 69"/>
          <p:cNvSpPr txBox="1"/>
          <p:nvPr/>
        </p:nvSpPr>
        <p:spPr>
          <a:xfrm>
            <a:off x="5257800" y="4791456"/>
            <a:ext cx="17373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2633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LightGBM, academic only</a:t>
            </a:r>
            <a:endParaRPr lang="en-US" sz="950" dirty="0"/>
          </a:p>
        </p:txBody>
      </p:sp>
      <p:sp>
        <p:nvSpPr>
          <p:cNvPr id="74" name="Shape 70"/>
          <p:cNvSpPr/>
          <p:nvPr/>
        </p:nvSpPr>
        <p:spPr>
          <a:xfrm>
            <a:off x="7040880" y="4791456"/>
            <a:ext cx="822960" cy="246888"/>
          </a:xfrm>
          <a:prstGeom prst="rect">
            <a:avLst/>
          </a:prstGeom>
          <a:solidFill>
            <a:srgbClr val="F1F7F3"/>
          </a:solidFill>
          <a:ln/>
        </p:spPr>
      </p:sp>
      <p:sp>
        <p:nvSpPr>
          <p:cNvPr id="75" name="Text 71"/>
          <p:cNvSpPr txBox="1"/>
          <p:nvPr/>
        </p:nvSpPr>
        <p:spPr>
          <a:xfrm>
            <a:off x="7086600" y="4791456"/>
            <a:ext cx="7315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2633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0.698</a:t>
            </a:r>
            <a:endParaRPr lang="en-US" sz="950" dirty="0"/>
          </a:p>
        </p:txBody>
      </p:sp>
      <p:sp>
        <p:nvSpPr>
          <p:cNvPr id="76" name="Shape 72"/>
          <p:cNvSpPr/>
          <p:nvPr/>
        </p:nvSpPr>
        <p:spPr>
          <a:xfrm>
            <a:off x="7863840" y="4791456"/>
            <a:ext cx="731520" cy="246888"/>
          </a:xfrm>
          <a:prstGeom prst="rect">
            <a:avLst/>
          </a:prstGeom>
          <a:solidFill>
            <a:srgbClr val="F1F7F3"/>
          </a:solidFill>
          <a:ln/>
        </p:spPr>
      </p:sp>
      <p:sp>
        <p:nvSpPr>
          <p:cNvPr id="77" name="Text 73"/>
          <p:cNvSpPr txBox="1"/>
          <p:nvPr/>
        </p:nvSpPr>
        <p:spPr>
          <a:xfrm>
            <a:off x="7909560" y="4791456"/>
            <a:ext cx="6400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2633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0.46</a:t>
            </a:r>
            <a:endParaRPr lang="en-US" sz="950" dirty="0"/>
          </a:p>
        </p:txBody>
      </p:sp>
      <p:sp>
        <p:nvSpPr>
          <p:cNvPr id="78" name="Shape 74"/>
          <p:cNvSpPr/>
          <p:nvPr/>
        </p:nvSpPr>
        <p:spPr>
          <a:xfrm>
            <a:off x="5212080" y="5038344"/>
            <a:ext cx="3383280" cy="0"/>
          </a:xfrm>
          <a:prstGeom prst="line">
            <a:avLst/>
          </a:prstGeom>
          <a:noFill/>
          <a:ln w="6350">
            <a:solidFill>
              <a:srgbClr val="E3E8E4"/>
            </a:solidFill>
            <a:prstDash val="solid"/>
          </a:ln>
        </p:spPr>
      </p:sp>
      <p:sp>
        <p:nvSpPr>
          <p:cNvPr id="79" name="Shape 75"/>
          <p:cNvSpPr/>
          <p:nvPr/>
        </p:nvSpPr>
        <p:spPr>
          <a:xfrm>
            <a:off x="5212080" y="5038344"/>
            <a:ext cx="1828800" cy="24688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80" name="Text 76"/>
          <p:cNvSpPr txBox="1"/>
          <p:nvPr/>
        </p:nvSpPr>
        <p:spPr>
          <a:xfrm>
            <a:off x="5257800" y="5038344"/>
            <a:ext cx="17373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2633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Logistic, academic only</a:t>
            </a:r>
            <a:endParaRPr lang="en-US" sz="950" dirty="0"/>
          </a:p>
        </p:txBody>
      </p:sp>
      <p:sp>
        <p:nvSpPr>
          <p:cNvPr id="81" name="Shape 77"/>
          <p:cNvSpPr/>
          <p:nvPr/>
        </p:nvSpPr>
        <p:spPr>
          <a:xfrm>
            <a:off x="7040880" y="5038344"/>
            <a:ext cx="822960" cy="24688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82" name="Text 78"/>
          <p:cNvSpPr txBox="1"/>
          <p:nvPr/>
        </p:nvSpPr>
        <p:spPr>
          <a:xfrm>
            <a:off x="7086600" y="5038344"/>
            <a:ext cx="7315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2633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0.680</a:t>
            </a:r>
            <a:endParaRPr lang="en-US" sz="950" dirty="0"/>
          </a:p>
        </p:txBody>
      </p:sp>
      <p:sp>
        <p:nvSpPr>
          <p:cNvPr id="83" name="Shape 79"/>
          <p:cNvSpPr/>
          <p:nvPr/>
        </p:nvSpPr>
        <p:spPr>
          <a:xfrm>
            <a:off x="7863840" y="5038344"/>
            <a:ext cx="731520" cy="24688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84" name="Text 80"/>
          <p:cNvSpPr txBox="1"/>
          <p:nvPr/>
        </p:nvSpPr>
        <p:spPr>
          <a:xfrm>
            <a:off x="7909560" y="5038344"/>
            <a:ext cx="6400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2633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0.40</a:t>
            </a:r>
            <a:endParaRPr lang="en-US" sz="950" dirty="0"/>
          </a:p>
        </p:txBody>
      </p:sp>
      <p:sp>
        <p:nvSpPr>
          <p:cNvPr id="85" name="Shape 81"/>
          <p:cNvSpPr/>
          <p:nvPr/>
        </p:nvSpPr>
        <p:spPr>
          <a:xfrm>
            <a:off x="5212080" y="5285232"/>
            <a:ext cx="3383280" cy="0"/>
          </a:xfrm>
          <a:prstGeom prst="line">
            <a:avLst/>
          </a:prstGeom>
          <a:noFill/>
          <a:ln w="6350">
            <a:solidFill>
              <a:srgbClr val="E3E8E4"/>
            </a:solidFill>
            <a:prstDash val="solid"/>
          </a:ln>
        </p:spPr>
      </p:sp>
      <p:sp>
        <p:nvSpPr>
          <p:cNvPr id="86" name="Shape 82"/>
          <p:cNvSpPr/>
          <p:nvPr/>
        </p:nvSpPr>
        <p:spPr>
          <a:xfrm>
            <a:off x="5212080" y="5285232"/>
            <a:ext cx="1828800" cy="246888"/>
          </a:xfrm>
          <a:prstGeom prst="rect">
            <a:avLst/>
          </a:prstGeom>
          <a:solidFill>
            <a:srgbClr val="FFF0BF"/>
          </a:solidFill>
          <a:ln/>
        </p:spPr>
      </p:sp>
      <p:sp>
        <p:nvSpPr>
          <p:cNvPr id="87" name="Text 83"/>
          <p:cNvSpPr txBox="1"/>
          <p:nvPr/>
        </p:nvSpPr>
        <p:spPr>
          <a:xfrm>
            <a:off x="5257800" y="5285232"/>
            <a:ext cx="17373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2633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Rule: no assessment</a:t>
            </a:r>
            <a:endParaRPr lang="en-US" sz="950" dirty="0"/>
          </a:p>
        </p:txBody>
      </p:sp>
      <p:sp>
        <p:nvSpPr>
          <p:cNvPr id="88" name="Shape 84"/>
          <p:cNvSpPr/>
          <p:nvPr/>
        </p:nvSpPr>
        <p:spPr>
          <a:xfrm>
            <a:off x="7040880" y="5285232"/>
            <a:ext cx="822960" cy="246888"/>
          </a:xfrm>
          <a:prstGeom prst="rect">
            <a:avLst/>
          </a:prstGeom>
          <a:solidFill>
            <a:srgbClr val="FFF0BF"/>
          </a:solidFill>
          <a:ln/>
        </p:spPr>
      </p:sp>
      <p:sp>
        <p:nvSpPr>
          <p:cNvPr id="89" name="Text 85"/>
          <p:cNvSpPr txBox="1"/>
          <p:nvPr/>
        </p:nvSpPr>
        <p:spPr>
          <a:xfrm>
            <a:off x="7086600" y="5285232"/>
            <a:ext cx="7315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633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0.521</a:t>
            </a:r>
            <a:endParaRPr lang="en-US" sz="950" dirty="0"/>
          </a:p>
        </p:txBody>
      </p:sp>
      <p:sp>
        <p:nvSpPr>
          <p:cNvPr id="90" name="Shape 86"/>
          <p:cNvSpPr/>
          <p:nvPr/>
        </p:nvSpPr>
        <p:spPr>
          <a:xfrm>
            <a:off x="7863840" y="5285232"/>
            <a:ext cx="731520" cy="246888"/>
          </a:xfrm>
          <a:prstGeom prst="rect">
            <a:avLst/>
          </a:prstGeom>
          <a:solidFill>
            <a:srgbClr val="FFF0BF"/>
          </a:solidFill>
          <a:ln/>
        </p:spPr>
      </p:sp>
      <p:sp>
        <p:nvSpPr>
          <p:cNvPr id="91" name="Text 87"/>
          <p:cNvSpPr txBox="1"/>
          <p:nvPr/>
        </p:nvSpPr>
        <p:spPr>
          <a:xfrm>
            <a:off x="7909560" y="5285232"/>
            <a:ext cx="6400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633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0.31</a:t>
            </a:r>
            <a:endParaRPr lang="en-US" sz="950" dirty="0"/>
          </a:p>
        </p:txBody>
      </p:sp>
      <p:sp>
        <p:nvSpPr>
          <p:cNvPr id="92" name="Shape 88"/>
          <p:cNvSpPr/>
          <p:nvPr/>
        </p:nvSpPr>
        <p:spPr>
          <a:xfrm>
            <a:off x="5212080" y="5532120"/>
            <a:ext cx="3383280" cy="0"/>
          </a:xfrm>
          <a:prstGeom prst="line">
            <a:avLst/>
          </a:prstGeom>
          <a:noFill/>
          <a:ln w="6350">
            <a:solidFill>
              <a:srgbClr val="E3E8E4"/>
            </a:solidFill>
            <a:prstDash val="solid"/>
          </a:ln>
        </p:spPr>
      </p:sp>
      <p:sp>
        <p:nvSpPr>
          <p:cNvPr id="93" name="Shape 89"/>
          <p:cNvSpPr/>
          <p:nvPr/>
        </p:nvSpPr>
        <p:spPr>
          <a:xfrm>
            <a:off x="5212080" y="5532120"/>
            <a:ext cx="1828800" cy="246888"/>
          </a:xfrm>
          <a:prstGeom prst="rect">
            <a:avLst/>
          </a:prstGeom>
          <a:solidFill>
            <a:srgbClr val="FFF0BF"/>
          </a:solidFill>
          <a:ln/>
        </p:spPr>
      </p:sp>
      <p:sp>
        <p:nvSpPr>
          <p:cNvPr id="94" name="Text 90"/>
          <p:cNvSpPr txBox="1"/>
          <p:nvPr/>
        </p:nvSpPr>
        <p:spPr>
          <a:xfrm>
            <a:off x="5257800" y="5532120"/>
            <a:ext cx="17373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2633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Rule: zero clicks, 7 days</a:t>
            </a:r>
            <a:endParaRPr lang="en-US" sz="950" dirty="0"/>
          </a:p>
        </p:txBody>
      </p:sp>
      <p:sp>
        <p:nvSpPr>
          <p:cNvPr id="95" name="Shape 91"/>
          <p:cNvSpPr/>
          <p:nvPr/>
        </p:nvSpPr>
        <p:spPr>
          <a:xfrm>
            <a:off x="7040880" y="5532120"/>
            <a:ext cx="822960" cy="246888"/>
          </a:xfrm>
          <a:prstGeom prst="rect">
            <a:avLst/>
          </a:prstGeom>
          <a:solidFill>
            <a:srgbClr val="FFF0BF"/>
          </a:solidFill>
          <a:ln/>
        </p:spPr>
      </p:sp>
      <p:sp>
        <p:nvSpPr>
          <p:cNvPr id="96" name="Text 92"/>
          <p:cNvSpPr txBox="1"/>
          <p:nvPr/>
        </p:nvSpPr>
        <p:spPr>
          <a:xfrm>
            <a:off x="7086600" y="5532120"/>
            <a:ext cx="7315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633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0.532</a:t>
            </a:r>
            <a:endParaRPr lang="en-US" sz="950" dirty="0"/>
          </a:p>
        </p:txBody>
      </p:sp>
      <p:sp>
        <p:nvSpPr>
          <p:cNvPr id="97" name="Shape 93"/>
          <p:cNvSpPr/>
          <p:nvPr/>
        </p:nvSpPr>
        <p:spPr>
          <a:xfrm>
            <a:off x="7863840" y="5532120"/>
            <a:ext cx="731520" cy="246888"/>
          </a:xfrm>
          <a:prstGeom prst="rect">
            <a:avLst/>
          </a:prstGeom>
          <a:solidFill>
            <a:srgbClr val="FFF0BF"/>
          </a:solidFill>
          <a:ln/>
        </p:spPr>
      </p:sp>
      <p:sp>
        <p:nvSpPr>
          <p:cNvPr id="98" name="Text 94"/>
          <p:cNvSpPr txBox="1"/>
          <p:nvPr/>
        </p:nvSpPr>
        <p:spPr>
          <a:xfrm>
            <a:off x="7909560" y="5532120"/>
            <a:ext cx="6400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633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0.24</a:t>
            </a:r>
            <a:endParaRPr lang="en-US" sz="950" dirty="0"/>
          </a:p>
        </p:txBody>
      </p:sp>
      <p:sp>
        <p:nvSpPr>
          <p:cNvPr id="99" name="Shape 95"/>
          <p:cNvSpPr/>
          <p:nvPr/>
        </p:nvSpPr>
        <p:spPr>
          <a:xfrm>
            <a:off x="5212080" y="5779008"/>
            <a:ext cx="3383280" cy="0"/>
          </a:xfrm>
          <a:prstGeom prst="line">
            <a:avLst/>
          </a:prstGeom>
          <a:noFill/>
          <a:ln w="6350">
            <a:solidFill>
              <a:srgbClr val="E3E8E4"/>
            </a:solidFill>
            <a:prstDash val="solid"/>
          </a:ln>
        </p:spPr>
      </p:sp>
      <p:sp>
        <p:nvSpPr>
          <p:cNvPr id="100" name="Text 96"/>
          <p:cNvSpPr txBox="1"/>
          <p:nvPr/>
        </p:nvSpPr>
        <p:spPr>
          <a:xfrm>
            <a:off x="5212080" y="585216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E2B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Calibration error 0.009. Held-out course: 0.654.</a:t>
            </a:r>
            <a:endParaRPr lang="en-US" sz="1000" dirty="0"/>
          </a:p>
        </p:txBody>
      </p:sp>
      <p:sp>
        <p:nvSpPr>
          <p:cNvPr id="101" name="Shape 97"/>
          <p:cNvSpPr/>
          <p:nvPr/>
        </p:nvSpPr>
        <p:spPr>
          <a:xfrm>
            <a:off x="8915400" y="1115568"/>
            <a:ext cx="2864815" cy="5212080"/>
          </a:xfrm>
          <a:prstGeom prst="rect">
            <a:avLst/>
          </a:prstGeom>
          <a:solidFill>
            <a:srgbClr val="FFFFFF"/>
          </a:solidFill>
          <a:ln w="15875">
            <a:solidFill>
              <a:srgbClr val="2F80D1"/>
            </a:solidFill>
            <a:prstDash val="solid"/>
          </a:ln>
        </p:spPr>
      </p:sp>
      <p:sp>
        <p:nvSpPr>
          <p:cNvPr id="102" name="Shape 98"/>
          <p:cNvSpPr/>
          <p:nvPr/>
        </p:nvSpPr>
        <p:spPr>
          <a:xfrm>
            <a:off x="8915400" y="1115568"/>
            <a:ext cx="2864815" cy="301752"/>
          </a:xfrm>
          <a:prstGeom prst="rect">
            <a:avLst/>
          </a:prstGeom>
          <a:solidFill>
            <a:srgbClr val="2F80D1"/>
          </a:solidFill>
          <a:ln/>
        </p:spPr>
      </p:sp>
      <p:sp>
        <p:nvSpPr>
          <p:cNvPr id="103" name="Text 99"/>
          <p:cNvSpPr txBox="1"/>
          <p:nvPr/>
        </p:nvSpPr>
        <p:spPr>
          <a:xfrm>
            <a:off x="9025128" y="1115568"/>
            <a:ext cx="2645359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A FLAG IS MADE</a:t>
            </a:r>
            <a:endParaRPr lang="en-US" sz="1150" dirty="0"/>
          </a:p>
        </p:txBody>
      </p:sp>
      <p:sp>
        <p:nvSpPr>
          <p:cNvPr id="104" name="Shape 100"/>
          <p:cNvSpPr/>
          <p:nvPr/>
        </p:nvSpPr>
        <p:spPr>
          <a:xfrm>
            <a:off x="9025128" y="1481328"/>
            <a:ext cx="329184" cy="329184"/>
          </a:xfrm>
          <a:prstGeom prst="ellipse">
            <a:avLst/>
          </a:prstGeom>
          <a:solidFill>
            <a:srgbClr val="F7B500"/>
          </a:solidFill>
          <a:ln/>
        </p:spPr>
      </p:sp>
      <p:pic>
        <p:nvPicPr>
          <p:cNvPr id="105" name="Image 2" descr="FaClock ico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97548" y="1553748"/>
            <a:ext cx="184343" cy="184343"/>
          </a:xfrm>
          <a:prstGeom prst="rect">
            <a:avLst/>
          </a:prstGeom>
        </p:spPr>
      </p:pic>
      <p:sp>
        <p:nvSpPr>
          <p:cNvPr id="106" name="Text 101"/>
          <p:cNvSpPr txBox="1"/>
          <p:nvPr/>
        </p:nvSpPr>
        <p:spPr>
          <a:xfrm>
            <a:off x="9427464" y="1481328"/>
            <a:ext cx="224302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2633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Features as of the date, never the future</a:t>
            </a:r>
            <a:endParaRPr lang="en-US" sz="1050" dirty="0"/>
          </a:p>
        </p:txBody>
      </p:sp>
      <p:sp>
        <p:nvSpPr>
          <p:cNvPr id="107" name="Shape 102"/>
          <p:cNvSpPr/>
          <p:nvPr/>
        </p:nvSpPr>
        <p:spPr>
          <a:xfrm>
            <a:off x="9025128" y="1938528"/>
            <a:ext cx="329184" cy="329184"/>
          </a:xfrm>
          <a:prstGeom prst="ellipse">
            <a:avLst/>
          </a:prstGeom>
          <a:solidFill>
            <a:srgbClr val="1FA971"/>
          </a:solidFill>
          <a:ln/>
        </p:spPr>
      </p:sp>
      <p:pic>
        <p:nvPicPr>
          <p:cNvPr id="108" name="Image 3" descr="FaScaleBalanced ico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97548" y="2010948"/>
            <a:ext cx="184343" cy="184343"/>
          </a:xfrm>
          <a:prstGeom prst="rect">
            <a:avLst/>
          </a:prstGeom>
        </p:spPr>
      </p:pic>
      <p:sp>
        <p:nvSpPr>
          <p:cNvPr id="109" name="Text 103"/>
          <p:cNvSpPr txBox="1"/>
          <p:nvPr/>
        </p:nvSpPr>
        <p:spPr>
          <a:xfrm>
            <a:off x="9427464" y="1938528"/>
            <a:ext cx="224302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2633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 by age and purpose</a:t>
            </a:r>
            <a:endParaRPr lang="en-US" sz="1050" dirty="0"/>
          </a:p>
        </p:txBody>
      </p:sp>
      <p:sp>
        <p:nvSpPr>
          <p:cNvPr id="110" name="Shape 104"/>
          <p:cNvSpPr/>
          <p:nvPr/>
        </p:nvSpPr>
        <p:spPr>
          <a:xfrm>
            <a:off x="9025128" y="2395728"/>
            <a:ext cx="329184" cy="329184"/>
          </a:xfrm>
          <a:prstGeom prst="ellipse">
            <a:avLst/>
          </a:prstGeom>
          <a:solidFill>
            <a:srgbClr val="F28C28"/>
          </a:solidFill>
          <a:ln/>
        </p:spPr>
      </p:sp>
      <p:pic>
        <p:nvPicPr>
          <p:cNvPr id="111" name="Image 4" descr="FaChartLine icon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97548" y="2468148"/>
            <a:ext cx="184343" cy="184343"/>
          </a:xfrm>
          <a:prstGeom prst="rect">
            <a:avLst/>
          </a:prstGeom>
        </p:spPr>
      </p:pic>
      <p:sp>
        <p:nvSpPr>
          <p:cNvPr id="112" name="Text 105"/>
          <p:cNvSpPr txBox="1"/>
          <p:nvPr/>
        </p:nvSpPr>
        <p:spPr>
          <a:xfrm>
            <a:off x="9427464" y="2395728"/>
            <a:ext cx="224302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2633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 or apply a plain rule</a:t>
            </a:r>
            <a:endParaRPr lang="en-US" sz="1050" dirty="0"/>
          </a:p>
        </p:txBody>
      </p:sp>
      <p:sp>
        <p:nvSpPr>
          <p:cNvPr id="113" name="Shape 106"/>
          <p:cNvSpPr/>
          <p:nvPr/>
        </p:nvSpPr>
        <p:spPr>
          <a:xfrm>
            <a:off x="9025128" y="2852928"/>
            <a:ext cx="329184" cy="329184"/>
          </a:xfrm>
          <a:prstGeom prst="ellipse">
            <a:avLst/>
          </a:prstGeom>
          <a:solidFill>
            <a:srgbClr val="2F80D1"/>
          </a:solidFill>
          <a:ln/>
        </p:spPr>
      </p:sp>
      <p:pic>
        <p:nvPicPr>
          <p:cNvPr id="114" name="Image 5" descr="FaClipboardCheck icon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097548" y="2925348"/>
            <a:ext cx="184343" cy="184343"/>
          </a:xfrm>
          <a:prstGeom prst="rect">
            <a:avLst/>
          </a:prstGeom>
        </p:spPr>
      </p:pic>
      <p:sp>
        <p:nvSpPr>
          <p:cNvPr id="115" name="Text 107"/>
          <p:cNvSpPr txBox="1"/>
          <p:nvPr/>
        </p:nvSpPr>
        <p:spPr>
          <a:xfrm>
            <a:off x="9427464" y="2852928"/>
            <a:ext cx="224302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2633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Plain reasons and a supportive action</a:t>
            </a:r>
            <a:endParaRPr lang="en-US" sz="1050" dirty="0"/>
          </a:p>
        </p:txBody>
      </p:sp>
      <p:sp>
        <p:nvSpPr>
          <p:cNvPr id="116" name="Shape 108"/>
          <p:cNvSpPr/>
          <p:nvPr/>
        </p:nvSpPr>
        <p:spPr>
          <a:xfrm>
            <a:off x="9025128" y="3310128"/>
            <a:ext cx="329184" cy="329184"/>
          </a:xfrm>
          <a:prstGeom prst="ellipse">
            <a:avLst/>
          </a:prstGeom>
          <a:solidFill>
            <a:srgbClr val="F7B500"/>
          </a:solidFill>
          <a:ln/>
        </p:spPr>
      </p:sp>
      <p:pic>
        <p:nvPicPr>
          <p:cNvPr id="117" name="Image 6" descr="FaHandshake icon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097548" y="3382548"/>
            <a:ext cx="184343" cy="184343"/>
          </a:xfrm>
          <a:prstGeom prst="rect">
            <a:avLst/>
          </a:prstGeom>
        </p:spPr>
      </p:pic>
      <p:sp>
        <p:nvSpPr>
          <p:cNvPr id="118" name="Text 109"/>
          <p:cNvSpPr txBox="1"/>
          <p:nvPr/>
        </p:nvSpPr>
        <p:spPr>
          <a:xfrm>
            <a:off x="9427464" y="3310128"/>
            <a:ext cx="224302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2633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decides; outcome is logged</a:t>
            </a:r>
            <a:endParaRPr lang="en-US" sz="1050" dirty="0"/>
          </a:p>
        </p:txBody>
      </p:sp>
      <p:pic>
        <p:nvPicPr>
          <p:cNvPr id="119" name="Image 7" descr="Calibration curve, OULAD day 28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35440" y="3858768"/>
            <a:ext cx="2011680" cy="1892808"/>
          </a:xfrm>
          <a:prstGeom prst="rect">
            <a:avLst/>
          </a:prstGeom>
        </p:spPr>
      </p:pic>
      <p:sp>
        <p:nvSpPr>
          <p:cNvPr id="120" name="Text 110"/>
          <p:cNvSpPr txBox="1"/>
          <p:nvPr/>
        </p:nvSpPr>
        <p:spPr>
          <a:xfrm>
            <a:off x="9025128" y="5833872"/>
            <a:ext cx="167609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7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on synthetic institutes: pending.</a:t>
            </a:r>
            <a:endParaRPr lang="en-US" sz="900" dirty="0"/>
          </a:p>
        </p:txBody>
      </p:sp>
      <p:sp>
        <p:nvSpPr>
          <p:cNvPr id="121" name="Shape 111"/>
          <p:cNvSpPr/>
          <p:nvPr/>
        </p:nvSpPr>
        <p:spPr>
          <a:xfrm>
            <a:off x="10820095" y="5897880"/>
            <a:ext cx="664464" cy="201168"/>
          </a:xfrm>
          <a:prstGeom prst="roundRect">
            <a:avLst>
              <a:gd name="adj" fmla="val 50000"/>
            </a:avLst>
          </a:prstGeom>
          <a:solidFill>
            <a:srgbClr val="F7B500"/>
          </a:solidFill>
          <a:ln/>
        </p:spPr>
      </p:sp>
      <p:sp>
        <p:nvSpPr>
          <p:cNvPr id="122" name="Text 112"/>
          <p:cNvSpPr txBox="1"/>
          <p:nvPr/>
        </p:nvSpPr>
        <p:spPr>
          <a:xfrm>
            <a:off x="10820095" y="5897880"/>
            <a:ext cx="6644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1E2B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PENDING</a:t>
            </a:r>
            <a:endParaRPr lang="en-US" sz="800" dirty="0"/>
          </a:p>
        </p:txBody>
      </p:sp>
      <p:sp>
        <p:nvSpPr>
          <p:cNvPr id="123" name="Text 113"/>
          <p:cNvSpPr txBox="1"/>
          <p:nvPr/>
        </p:nvSpPr>
        <p:spPr>
          <a:xfrm>
            <a:off x="411480" y="6464808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5B67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ml/public_validation (OULAD, CC BY 4.0); routing policy: contracts/routing_policy.yaml. About a quarter of dropouts are sudden and cannot be predicted from academic data.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92240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75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5"/>
          <p:cNvSpPr/>
          <p:nvPr>
            <p:ph idx="105" type="title" hasCustomPrompt="1"/>
          </p:nvPr>
        </p:nvSpPr>
        <p:spPr>
          <a:xfrm>
            <a:off x="411480" y="310896"/>
            <a:ext cx="113687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E2B2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 honest percentile range, and a parent report where every number is checked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7589520" y="182880"/>
            <a:ext cx="41879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b="1" spc="150" kern="0" dirty="0">
                <a:solidFill>
                  <a:srgbClr val="5B67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 RIGOUR 25 % · GENAI WITH GUARDRAILS</a:t>
            </a:r>
            <a:endParaRPr lang="en-US" sz="950" dirty="0"/>
          </a:p>
        </p:txBody>
      </p:sp>
      <p:sp>
        <p:nvSpPr>
          <p:cNvPr id="4" name="Shape 2"/>
          <p:cNvSpPr/>
          <p:nvPr/>
        </p:nvSpPr>
        <p:spPr>
          <a:xfrm>
            <a:off x="411480" y="1115568"/>
            <a:ext cx="3840480" cy="5212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D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11480" y="1115568"/>
            <a:ext cx="91440" cy="5212080"/>
          </a:xfrm>
          <a:prstGeom prst="rect">
            <a:avLst/>
          </a:prstGeom>
          <a:solidFill>
            <a:srgbClr val="1FA971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40080" y="1161288"/>
            <a:ext cx="3520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E2B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PERCENTILE RANGE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21208" y="1481328"/>
            <a:ext cx="3621024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D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207008" y="3264408"/>
            <a:ext cx="2706624" cy="9144"/>
          </a:xfrm>
          <a:prstGeom prst="rect">
            <a:avLst/>
          </a:prstGeom>
          <a:solidFill>
            <a:srgbClr val="DDE3DF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04088" y="3154680"/>
            <a:ext cx="411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7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1207008" y="2837688"/>
            <a:ext cx="2706624" cy="9144"/>
          </a:xfrm>
          <a:prstGeom prst="rect">
            <a:avLst/>
          </a:prstGeom>
          <a:solidFill>
            <a:srgbClr val="DDE3DF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04088" y="2727960"/>
            <a:ext cx="411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7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207008" y="2410968"/>
            <a:ext cx="2706624" cy="9144"/>
          </a:xfrm>
          <a:prstGeom prst="rect">
            <a:avLst/>
          </a:prstGeom>
          <a:solidFill>
            <a:srgbClr val="DDE3DF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704088" y="2301240"/>
            <a:ext cx="411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7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1207008" y="1984248"/>
            <a:ext cx="2706624" cy="9144"/>
          </a:xfrm>
          <a:prstGeom prst="rect">
            <a:avLst/>
          </a:prstGeom>
          <a:solidFill>
            <a:srgbClr val="DDE3DF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704088" y="1874520"/>
            <a:ext cx="411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7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704088" y="1572768"/>
            <a:ext cx="32552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2B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Predicted percentile range, one student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1358579" y="2112264"/>
            <a:ext cx="238183" cy="896112"/>
          </a:xfrm>
          <a:prstGeom prst="roundRect">
            <a:avLst>
              <a:gd name="adj" fmla="val 19195"/>
            </a:avLst>
          </a:prstGeom>
          <a:solidFill>
            <a:srgbClr val="9FD3D4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1207008" y="3319272"/>
            <a:ext cx="54132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7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Aug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1899904" y="2176272"/>
            <a:ext cx="238183" cy="704088"/>
          </a:xfrm>
          <a:prstGeom prst="roundRect">
            <a:avLst>
              <a:gd name="adj" fmla="val 19195"/>
            </a:avLst>
          </a:prstGeom>
          <a:solidFill>
            <a:srgbClr val="9FD3D4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1748333" y="3319272"/>
            <a:ext cx="54132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7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Oct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2441229" y="2240280"/>
            <a:ext cx="238183" cy="533400"/>
          </a:xfrm>
          <a:prstGeom prst="roundRect">
            <a:avLst>
              <a:gd name="adj" fmla="val 19195"/>
            </a:avLst>
          </a:prstGeom>
          <a:solidFill>
            <a:srgbClr val="9FD3D4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2289658" y="3319272"/>
            <a:ext cx="54132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7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2982553" y="2304288"/>
            <a:ext cx="238183" cy="362712"/>
          </a:xfrm>
          <a:prstGeom prst="roundRect">
            <a:avLst>
              <a:gd name="adj" fmla="val 19195"/>
            </a:avLst>
          </a:prstGeom>
          <a:solidFill>
            <a:srgbClr val="9FD3D4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2830982" y="3319272"/>
            <a:ext cx="54132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7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Feb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3523878" y="2346960"/>
            <a:ext cx="238183" cy="234696"/>
          </a:xfrm>
          <a:prstGeom prst="roundRect">
            <a:avLst>
              <a:gd name="adj" fmla="val 19481"/>
            </a:avLst>
          </a:prstGeom>
          <a:solidFill>
            <a:srgbClr val="1FA971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3372307" y="3319272"/>
            <a:ext cx="54132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7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704088" y="3648456"/>
            <a:ext cx="32552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5B67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range narrows as more tests come in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521208" y="4069080"/>
            <a:ext cx="36210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2633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Quantile model plus conformal band, 80 % target (77 to 83 % accepted).</a:t>
            </a:r>
            <a:endParaRPr lang="en-US" sz="1050" dirty="0"/>
          </a:p>
        </p:txBody>
      </p:sp>
      <p:sp>
        <p:nvSpPr>
          <p:cNvPr id="29" name="Text 27"/>
          <p:cNvSpPr txBox="1"/>
          <p:nvPr/>
        </p:nvSpPr>
        <p:spPr>
          <a:xfrm>
            <a:off x="521208" y="4462272"/>
            <a:ext cx="362102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2633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Mapped to the NTA percentile through an editable table: 2026 average curve, with 2024 easy and tough shifts as the uncertainty envelope.</a:t>
            </a:r>
            <a:endParaRPr lang="en-US" sz="1050" dirty="0"/>
          </a:p>
        </p:txBody>
      </p:sp>
      <p:sp>
        <p:nvSpPr>
          <p:cNvPr id="30" name="Text 28"/>
          <p:cNvSpPr txBox="1"/>
          <p:nvPr/>
        </p:nvSpPr>
        <p:spPr>
          <a:xfrm>
            <a:off x="521208" y="5120640"/>
            <a:ext cx="36210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E2B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Shown as a range with a disclaimer, never a single number or a rank promise.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521208" y="5669280"/>
            <a:ext cx="1609344" cy="21945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B675F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521208" y="5669280"/>
            <a:ext cx="160934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B67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ILLUSTRATIVE MOCK-UP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2514600" y="5669280"/>
            <a:ext cx="717804" cy="219456"/>
          </a:xfrm>
          <a:prstGeom prst="roundRect">
            <a:avLst>
              <a:gd name="adj" fmla="val 50000"/>
            </a:avLst>
          </a:prstGeom>
          <a:solidFill>
            <a:srgbClr val="F7B500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2514600" y="5669280"/>
            <a:ext cx="7178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E2B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PENDING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521208" y="5943600"/>
            <a:ext cx="3621024" cy="256032"/>
          </a:xfrm>
          <a:prstGeom prst="roundRect">
            <a:avLst>
              <a:gd name="adj" fmla="val 50000"/>
            </a:avLst>
          </a:prstGeom>
          <a:solidFill>
            <a:srgbClr val="5B675F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658368" y="5943600"/>
            <a:ext cx="33467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Coverage results pending</a:t>
            </a:r>
            <a:endParaRPr lang="en-US" sz="1050" dirty="0"/>
          </a:p>
        </p:txBody>
      </p:sp>
      <p:sp>
        <p:nvSpPr>
          <p:cNvPr id="37" name="Shape 35"/>
          <p:cNvSpPr/>
          <p:nvPr/>
        </p:nvSpPr>
        <p:spPr>
          <a:xfrm>
            <a:off x="4389120" y="1115568"/>
            <a:ext cx="4572000" cy="5212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DF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4389120" y="1115568"/>
            <a:ext cx="91440" cy="5212080"/>
          </a:xfrm>
          <a:prstGeom prst="rect">
            <a:avLst/>
          </a:prstGeom>
          <a:solidFill>
            <a:srgbClr val="F28C28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4617720" y="1161288"/>
            <a:ext cx="4251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E2B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PARENT REPORT: HINDI AND ENGLISH</a:t>
            </a:r>
            <a:endParaRPr lang="en-US" sz="1250" dirty="0"/>
          </a:p>
        </p:txBody>
      </p:sp>
      <p:pic>
        <p:nvPicPr>
          <p:cNvPr id="40" name="Image 0" descr="Parent report in Hindi and English (illustrative)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480560" y="1463040"/>
            <a:ext cx="4389120" cy="2633472"/>
          </a:xfrm>
          <a:prstGeom prst="rect">
            <a:avLst/>
          </a:prstGeom>
        </p:spPr>
      </p:pic>
      <p:sp>
        <p:nvSpPr>
          <p:cNvPr id="41" name="Shape 38"/>
          <p:cNvSpPr/>
          <p:nvPr/>
        </p:nvSpPr>
        <p:spPr>
          <a:xfrm>
            <a:off x="7132320" y="1600200"/>
            <a:ext cx="274320" cy="274320"/>
          </a:xfrm>
          <a:prstGeom prst="ellipse">
            <a:avLst/>
          </a:prstGeom>
          <a:solidFill>
            <a:srgbClr val="F28C28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7132320" y="16002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43" name="Shape 40"/>
          <p:cNvSpPr/>
          <p:nvPr/>
        </p:nvSpPr>
        <p:spPr>
          <a:xfrm>
            <a:off x="4709160" y="3931920"/>
            <a:ext cx="274320" cy="274320"/>
          </a:xfrm>
          <a:prstGeom prst="ellipse">
            <a:avLst/>
          </a:prstGeom>
          <a:solidFill>
            <a:srgbClr val="F28C28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4709160" y="39319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45" name="Text 42"/>
          <p:cNvSpPr txBox="1"/>
          <p:nvPr/>
        </p:nvSpPr>
        <p:spPr>
          <a:xfrm>
            <a:off x="4526280" y="4343400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2633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 Every number and topic comes from the data, never from the AI.</a:t>
            </a:r>
            <a:endParaRPr lang="en-US" sz="1050" dirty="0"/>
          </a:p>
        </p:txBody>
      </p:sp>
      <p:sp>
        <p:nvSpPr>
          <p:cNvPr id="46" name="Text 43"/>
          <p:cNvSpPr txBox="1"/>
          <p:nvPr/>
        </p:nvSpPr>
        <p:spPr>
          <a:xfrm>
            <a:off x="4526280" y="4617720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2633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 Checked before sending: if any check fails, a template is sent instead.</a:t>
            </a:r>
            <a:endParaRPr lang="en-US" sz="1050" dirty="0"/>
          </a:p>
        </p:txBody>
      </p:sp>
      <p:sp>
        <p:nvSpPr>
          <p:cNvPr id="47" name="Shape 44"/>
          <p:cNvSpPr/>
          <p:nvPr/>
        </p:nvSpPr>
        <p:spPr>
          <a:xfrm>
            <a:off x="4526280" y="5029200"/>
            <a:ext cx="1075944" cy="256032"/>
          </a:xfrm>
          <a:prstGeom prst="roundRect">
            <a:avLst>
              <a:gd name="adj" fmla="val 50000"/>
            </a:avLst>
          </a:prstGeom>
          <a:solidFill>
            <a:srgbClr val="E4F5EC"/>
          </a:solidFill>
          <a:ln/>
        </p:spPr>
      </p:sp>
      <p:sp>
        <p:nvSpPr>
          <p:cNvPr id="48" name="Text 45"/>
          <p:cNvSpPr txBox="1"/>
          <p:nvPr/>
        </p:nvSpPr>
        <p:spPr>
          <a:xfrm>
            <a:off x="4526280" y="5029200"/>
            <a:ext cx="10759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E2B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AI needed</a:t>
            </a:r>
            <a:endParaRPr lang="en-US" sz="1000" dirty="0"/>
          </a:p>
        </p:txBody>
      </p:sp>
      <p:sp>
        <p:nvSpPr>
          <p:cNvPr id="49" name="Shape 46"/>
          <p:cNvSpPr/>
          <p:nvPr/>
        </p:nvSpPr>
        <p:spPr>
          <a:xfrm>
            <a:off x="5675376" y="5029200"/>
            <a:ext cx="1075944" cy="256032"/>
          </a:xfrm>
          <a:prstGeom prst="roundRect">
            <a:avLst>
              <a:gd name="adj" fmla="val 50000"/>
            </a:avLst>
          </a:prstGeom>
          <a:solidFill>
            <a:srgbClr val="E4F5EC"/>
          </a:solidFill>
          <a:ln/>
        </p:spPr>
      </p:sp>
      <p:sp>
        <p:nvSpPr>
          <p:cNvPr id="50" name="Text 47"/>
          <p:cNvSpPr txBox="1"/>
          <p:nvPr/>
        </p:nvSpPr>
        <p:spPr>
          <a:xfrm>
            <a:off x="5675376" y="5029200"/>
            <a:ext cx="10759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E2B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templates</a:t>
            </a:r>
            <a:endParaRPr lang="en-US" sz="1000" dirty="0"/>
          </a:p>
        </p:txBody>
      </p:sp>
      <p:sp>
        <p:nvSpPr>
          <p:cNvPr id="51" name="Shape 48"/>
          <p:cNvSpPr/>
          <p:nvPr/>
        </p:nvSpPr>
        <p:spPr>
          <a:xfrm>
            <a:off x="6824472" y="5029200"/>
            <a:ext cx="1355344" cy="256032"/>
          </a:xfrm>
          <a:prstGeom prst="roundRect">
            <a:avLst>
              <a:gd name="adj" fmla="val 50000"/>
            </a:avLst>
          </a:prstGeom>
          <a:solidFill>
            <a:srgbClr val="E4F5EC"/>
          </a:solidFill>
          <a:ln/>
        </p:spPr>
      </p:sp>
      <p:sp>
        <p:nvSpPr>
          <p:cNvPr id="52" name="Text 49"/>
          <p:cNvSpPr txBox="1"/>
          <p:nvPr/>
        </p:nvSpPr>
        <p:spPr>
          <a:xfrm>
            <a:off x="6824472" y="5029200"/>
            <a:ext cx="13553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E2B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Names added last</a:t>
            </a:r>
            <a:endParaRPr lang="en-US" sz="1000" dirty="0"/>
          </a:p>
        </p:txBody>
      </p:sp>
      <p:sp>
        <p:nvSpPr>
          <p:cNvPr id="53" name="Shape 50"/>
          <p:cNvSpPr/>
          <p:nvPr/>
        </p:nvSpPr>
        <p:spPr>
          <a:xfrm>
            <a:off x="4526280" y="5669280"/>
            <a:ext cx="1609344" cy="21945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B675F"/>
            </a:solidFill>
            <a:prstDash val="solid"/>
          </a:ln>
        </p:spPr>
      </p:sp>
      <p:sp>
        <p:nvSpPr>
          <p:cNvPr id="54" name="Text 51"/>
          <p:cNvSpPr txBox="1"/>
          <p:nvPr/>
        </p:nvSpPr>
        <p:spPr>
          <a:xfrm>
            <a:off x="4526280" y="5669280"/>
            <a:ext cx="160934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B67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ILLUSTRATIVE MOCK-UP</a:t>
            </a:r>
            <a:endParaRPr lang="en-US" sz="900" dirty="0"/>
          </a:p>
        </p:txBody>
      </p:sp>
      <p:sp>
        <p:nvSpPr>
          <p:cNvPr id="55" name="Text 52"/>
          <p:cNvSpPr txBox="1"/>
          <p:nvPr/>
        </p:nvSpPr>
        <p:spPr>
          <a:xfrm>
            <a:off x="6492240" y="5641848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5B67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 text produced by our report module (template path) for a synthetic student.</a:t>
            </a:r>
            <a:endParaRPr lang="en-US" sz="950" dirty="0"/>
          </a:p>
        </p:txBody>
      </p:sp>
      <p:sp>
        <p:nvSpPr>
          <p:cNvPr id="56" name="Shape 53"/>
          <p:cNvSpPr/>
          <p:nvPr/>
        </p:nvSpPr>
        <p:spPr>
          <a:xfrm>
            <a:off x="4480560" y="5989320"/>
            <a:ext cx="4389120" cy="246888"/>
          </a:xfrm>
          <a:prstGeom prst="roundRect">
            <a:avLst>
              <a:gd name="adj" fmla="val 50000"/>
            </a:avLst>
          </a:prstGeom>
          <a:solidFill>
            <a:srgbClr val="5B675F"/>
          </a:solidFill>
          <a:ln/>
        </p:spPr>
      </p:sp>
      <p:sp>
        <p:nvSpPr>
          <p:cNvPr id="57" name="Text 54"/>
          <p:cNvSpPr txBox="1"/>
          <p:nvPr/>
        </p:nvSpPr>
        <p:spPr>
          <a:xfrm>
            <a:off x="4617720" y="5989320"/>
            <a:ext cx="4114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Hindi still needs a native reviewer</a:t>
            </a:r>
            <a:endParaRPr lang="en-US" sz="1050" dirty="0"/>
          </a:p>
        </p:txBody>
      </p:sp>
      <p:sp>
        <p:nvSpPr>
          <p:cNvPr id="58" name="Shape 55"/>
          <p:cNvSpPr/>
          <p:nvPr/>
        </p:nvSpPr>
        <p:spPr>
          <a:xfrm>
            <a:off x="9098280" y="1115568"/>
            <a:ext cx="2681935" cy="5212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DF"/>
            </a:solidFill>
            <a:prstDash val="solid"/>
          </a:ln>
        </p:spPr>
      </p:sp>
      <p:sp>
        <p:nvSpPr>
          <p:cNvPr id="59" name="Shape 56"/>
          <p:cNvSpPr/>
          <p:nvPr/>
        </p:nvSpPr>
        <p:spPr>
          <a:xfrm>
            <a:off x="9098280" y="1115568"/>
            <a:ext cx="91440" cy="5212080"/>
          </a:xfrm>
          <a:prstGeom prst="rect">
            <a:avLst/>
          </a:prstGeom>
          <a:solidFill>
            <a:srgbClr val="2F80D1"/>
          </a:solidFill>
          <a:ln/>
        </p:spPr>
      </p:sp>
      <p:sp>
        <p:nvSpPr>
          <p:cNvPr id="60" name="Text 57"/>
          <p:cNvSpPr txBox="1"/>
          <p:nvPr/>
        </p:nvSpPr>
        <p:spPr>
          <a:xfrm>
            <a:off x="9326880" y="1161288"/>
            <a:ext cx="236189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E2B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CHECKING PIPELINE</a:t>
            </a:r>
            <a:endParaRPr lang="en-US" sz="1250" dirty="0"/>
          </a:p>
        </p:txBody>
      </p:sp>
      <p:sp>
        <p:nvSpPr>
          <p:cNvPr id="61" name="Shape 58"/>
          <p:cNvSpPr/>
          <p:nvPr/>
        </p:nvSpPr>
        <p:spPr>
          <a:xfrm>
            <a:off x="9208008" y="1481328"/>
            <a:ext cx="365760" cy="365760"/>
          </a:xfrm>
          <a:prstGeom prst="ellipse">
            <a:avLst/>
          </a:prstGeom>
          <a:solidFill>
            <a:srgbClr val="1FA971"/>
          </a:solidFill>
          <a:ln/>
        </p:spPr>
      </p:sp>
      <p:pic>
        <p:nvPicPr>
          <p:cNvPr id="62" name="Image 1" descr="FaDatabase ico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88475" y="1561795"/>
            <a:ext cx="204826" cy="204826"/>
          </a:xfrm>
          <a:prstGeom prst="rect">
            <a:avLst/>
          </a:prstGeom>
        </p:spPr>
      </p:pic>
      <p:sp>
        <p:nvSpPr>
          <p:cNvPr id="63" name="Text 59"/>
          <p:cNvSpPr txBox="1"/>
          <p:nvPr/>
        </p:nvSpPr>
        <p:spPr>
          <a:xfrm>
            <a:off x="9665208" y="1481328"/>
            <a:ext cx="200527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E2B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Facts from data</a:t>
            </a:r>
            <a:endParaRPr lang="en-US" sz="1150" dirty="0"/>
          </a:p>
        </p:txBody>
      </p:sp>
      <p:sp>
        <p:nvSpPr>
          <p:cNvPr id="64" name="Text 60"/>
          <p:cNvSpPr txBox="1"/>
          <p:nvPr/>
        </p:nvSpPr>
        <p:spPr>
          <a:xfrm>
            <a:off x="9665208" y="1847088"/>
            <a:ext cx="200527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2633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Attendance, tests, topics, trend, two tips.</a:t>
            </a:r>
            <a:endParaRPr lang="en-US" sz="1000" dirty="0"/>
          </a:p>
        </p:txBody>
      </p:sp>
      <p:sp>
        <p:nvSpPr>
          <p:cNvPr id="65" name="Shape 61"/>
          <p:cNvSpPr/>
          <p:nvPr/>
        </p:nvSpPr>
        <p:spPr>
          <a:xfrm>
            <a:off x="9208008" y="2505456"/>
            <a:ext cx="365760" cy="365760"/>
          </a:xfrm>
          <a:prstGeom prst="ellipse">
            <a:avLst/>
          </a:prstGeom>
          <a:solidFill>
            <a:srgbClr val="F28C28"/>
          </a:solidFill>
          <a:ln/>
        </p:spPr>
      </p:sp>
      <p:pic>
        <p:nvPicPr>
          <p:cNvPr id="66" name="Image 2" descr="FaRobot ico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88475" y="2585923"/>
            <a:ext cx="204826" cy="204826"/>
          </a:xfrm>
          <a:prstGeom prst="rect">
            <a:avLst/>
          </a:prstGeom>
        </p:spPr>
      </p:pic>
      <p:sp>
        <p:nvSpPr>
          <p:cNvPr id="67" name="Text 62"/>
          <p:cNvSpPr txBox="1"/>
          <p:nvPr/>
        </p:nvSpPr>
        <p:spPr>
          <a:xfrm>
            <a:off x="9665208" y="2505456"/>
            <a:ext cx="200527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E2B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Optional local AI</a:t>
            </a:r>
            <a:endParaRPr lang="en-US" sz="1150" dirty="0"/>
          </a:p>
        </p:txBody>
      </p:sp>
      <p:sp>
        <p:nvSpPr>
          <p:cNvPr id="68" name="Text 63"/>
          <p:cNvSpPr txBox="1"/>
          <p:nvPr/>
        </p:nvSpPr>
        <p:spPr>
          <a:xfrm>
            <a:off x="9665208" y="2871216"/>
            <a:ext cx="200527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2633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rewords; runs on the laptop.</a:t>
            </a:r>
            <a:endParaRPr lang="en-US" sz="1000" dirty="0"/>
          </a:p>
        </p:txBody>
      </p:sp>
      <p:sp>
        <p:nvSpPr>
          <p:cNvPr id="69" name="Shape 64"/>
          <p:cNvSpPr/>
          <p:nvPr/>
        </p:nvSpPr>
        <p:spPr>
          <a:xfrm>
            <a:off x="9208008" y="3529584"/>
            <a:ext cx="365760" cy="365760"/>
          </a:xfrm>
          <a:prstGeom prst="ellipse">
            <a:avLst/>
          </a:prstGeom>
          <a:solidFill>
            <a:srgbClr val="2F80D1"/>
          </a:solidFill>
          <a:ln/>
        </p:spPr>
      </p:sp>
      <p:pic>
        <p:nvPicPr>
          <p:cNvPr id="70" name="Image 3" descr="FaListCheck ico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88475" y="3610051"/>
            <a:ext cx="204826" cy="204826"/>
          </a:xfrm>
          <a:prstGeom prst="rect">
            <a:avLst/>
          </a:prstGeom>
        </p:spPr>
      </p:pic>
      <p:sp>
        <p:nvSpPr>
          <p:cNvPr id="71" name="Text 65"/>
          <p:cNvSpPr txBox="1"/>
          <p:nvPr/>
        </p:nvSpPr>
        <p:spPr>
          <a:xfrm>
            <a:off x="9665208" y="3529584"/>
            <a:ext cx="200527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E2B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Eight checks</a:t>
            </a:r>
            <a:endParaRPr lang="en-US" sz="1150" dirty="0"/>
          </a:p>
        </p:txBody>
      </p:sp>
      <p:sp>
        <p:nvSpPr>
          <p:cNvPr id="72" name="Text 66"/>
          <p:cNvSpPr txBox="1"/>
          <p:nvPr/>
        </p:nvSpPr>
        <p:spPr>
          <a:xfrm>
            <a:off x="9665208" y="3895344"/>
            <a:ext cx="200527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2633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Numbers, topics, names, banned words, length, trend, tips, schema.</a:t>
            </a:r>
            <a:endParaRPr lang="en-US" sz="1000" dirty="0"/>
          </a:p>
        </p:txBody>
      </p:sp>
      <p:sp>
        <p:nvSpPr>
          <p:cNvPr id="73" name="Shape 67"/>
          <p:cNvSpPr/>
          <p:nvPr/>
        </p:nvSpPr>
        <p:spPr>
          <a:xfrm>
            <a:off x="9208008" y="4553712"/>
            <a:ext cx="365760" cy="365760"/>
          </a:xfrm>
          <a:prstGeom prst="ellipse">
            <a:avLst/>
          </a:prstGeom>
          <a:solidFill>
            <a:srgbClr val="F7B500"/>
          </a:solidFill>
          <a:ln/>
        </p:spPr>
      </p:sp>
      <p:pic>
        <p:nvPicPr>
          <p:cNvPr id="74" name="Image 4" descr="FaFilePdf icon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88475" y="4634179"/>
            <a:ext cx="204826" cy="204826"/>
          </a:xfrm>
          <a:prstGeom prst="rect">
            <a:avLst/>
          </a:prstGeom>
        </p:spPr>
      </p:pic>
      <p:sp>
        <p:nvSpPr>
          <p:cNvPr id="75" name="Text 68"/>
          <p:cNvSpPr txBox="1"/>
          <p:nvPr/>
        </p:nvSpPr>
        <p:spPr>
          <a:xfrm>
            <a:off x="9665208" y="4553712"/>
            <a:ext cx="200527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E2B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Template fallback</a:t>
            </a:r>
            <a:endParaRPr lang="en-US" sz="1150" dirty="0"/>
          </a:p>
        </p:txBody>
      </p:sp>
      <p:sp>
        <p:nvSpPr>
          <p:cNvPr id="76" name="Text 69"/>
          <p:cNvSpPr txBox="1"/>
          <p:nvPr/>
        </p:nvSpPr>
        <p:spPr>
          <a:xfrm>
            <a:off x="9665208" y="4919472"/>
            <a:ext cx="200527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2633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 human-written text if anything fails.</a:t>
            </a:r>
            <a:endParaRPr lang="en-US" sz="1000" dirty="0"/>
          </a:p>
        </p:txBody>
      </p:sp>
      <p:sp>
        <p:nvSpPr>
          <p:cNvPr id="77" name="Shape 70"/>
          <p:cNvSpPr/>
          <p:nvPr/>
        </p:nvSpPr>
        <p:spPr>
          <a:xfrm>
            <a:off x="9208008" y="5623560"/>
            <a:ext cx="580644" cy="219456"/>
          </a:xfrm>
          <a:prstGeom prst="roundRect">
            <a:avLst>
              <a:gd name="adj" fmla="val 50000"/>
            </a:avLst>
          </a:prstGeom>
          <a:solidFill>
            <a:srgbClr val="0E7C4F"/>
          </a:solidFill>
          <a:ln/>
        </p:spPr>
      </p:sp>
      <p:sp>
        <p:nvSpPr>
          <p:cNvPr id="78" name="Text 71"/>
          <p:cNvSpPr txBox="1"/>
          <p:nvPr/>
        </p:nvSpPr>
        <p:spPr>
          <a:xfrm>
            <a:off x="9208008" y="5623560"/>
            <a:ext cx="58064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</a:t>
            </a:r>
            <a:endParaRPr lang="en-US" sz="900" dirty="0"/>
          </a:p>
        </p:txBody>
      </p:sp>
      <p:sp>
        <p:nvSpPr>
          <p:cNvPr id="79" name="Text 72"/>
          <p:cNvSpPr txBox="1"/>
          <p:nvPr/>
        </p:nvSpPr>
        <p:spPr>
          <a:xfrm>
            <a:off x="9875520" y="5596128"/>
            <a:ext cx="1767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B67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automated tests</a:t>
            </a:r>
            <a:endParaRPr lang="en-US" sz="1000" dirty="0"/>
          </a:p>
        </p:txBody>
      </p:sp>
      <p:sp>
        <p:nvSpPr>
          <p:cNvPr id="80" name="Text 73"/>
          <p:cNvSpPr txBox="1"/>
          <p:nvPr/>
        </p:nvSpPr>
        <p:spPr>
          <a:xfrm>
            <a:off x="411480" y="6464808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5B67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backend/app/genai (report module), contracts/report_numbers.schema.json. An independent attack on the checker found gaps; fixes are in progress, so no catch rate is claimed here.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92240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75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5"/>
          <p:cNvSpPr/>
          <p:nvPr>
            <p:ph idx="105" type="title" hasCustomPrompt="1"/>
          </p:nvPr>
        </p:nvSpPr>
        <p:spPr>
          <a:xfrm>
            <a:off x="411480" y="310896"/>
            <a:ext cx="113687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E2B2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Built for the law: consent first, supportive actions only, no rankings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7589520" y="182880"/>
            <a:ext cx="41879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b="1" spc="150" kern="0" dirty="0">
                <a:solidFill>
                  <a:srgbClr val="5B67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FEASIBILITY, PRIVACY AND SAFETY 20 %</a:t>
            </a:r>
            <a:endParaRPr lang="en-US" sz="950" dirty="0"/>
          </a:p>
        </p:txBody>
      </p:sp>
      <p:sp>
        <p:nvSpPr>
          <p:cNvPr id="4" name="Shape 2"/>
          <p:cNvSpPr/>
          <p:nvPr/>
        </p:nvSpPr>
        <p:spPr>
          <a:xfrm>
            <a:off x="411480" y="1115568"/>
            <a:ext cx="4160520" cy="4526280"/>
          </a:xfrm>
          <a:prstGeom prst="roundRect">
            <a:avLst>
              <a:gd name="adj" fmla="val 1319"/>
            </a:avLst>
          </a:prstGeom>
          <a:solidFill>
            <a:srgbClr val="FFFFFF"/>
          </a:solidFill>
          <a:ln w="15875">
            <a:solidFill>
              <a:srgbClr val="1FA971"/>
            </a:solidFill>
            <a:prstDash val="dash"/>
          </a:ln>
        </p:spPr>
      </p:sp>
      <p:sp>
        <p:nvSpPr>
          <p:cNvPr id="5" name="Text 3"/>
          <p:cNvSpPr txBox="1"/>
          <p:nvPr/>
        </p:nvSpPr>
        <p:spPr>
          <a:xfrm>
            <a:off x="502920" y="1161288"/>
            <a:ext cx="3977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0E7C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GETS WHAT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02920" y="1481328"/>
            <a:ext cx="960120" cy="457200"/>
          </a:xfrm>
          <a:prstGeom prst="rect">
            <a:avLst/>
          </a:prstGeom>
          <a:solidFill>
            <a:srgbClr val="0E7C4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48640" y="1481328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1463040" y="1481328"/>
            <a:ext cx="822960" cy="457200"/>
          </a:xfrm>
          <a:prstGeom prst="rect">
            <a:avLst/>
          </a:prstGeom>
          <a:solidFill>
            <a:srgbClr val="0E7C4F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1508760" y="1481328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Academic support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2286000" y="1481328"/>
            <a:ext cx="777240" cy="457200"/>
          </a:xfrm>
          <a:prstGeom prst="rect">
            <a:avLst/>
          </a:prstGeom>
          <a:solidFill>
            <a:srgbClr val="0E7C4F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2331720" y="1481328"/>
            <a:ext cx="685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Dropout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3063240" y="1481328"/>
            <a:ext cx="731520" cy="457200"/>
          </a:xfrm>
          <a:prstGeom prst="rect">
            <a:avLst/>
          </a:prstGeom>
          <a:solidFill>
            <a:srgbClr val="0E7C4F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3108960" y="1481328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3794760" y="1481328"/>
            <a:ext cx="685800" cy="457200"/>
          </a:xfrm>
          <a:prstGeom prst="rect">
            <a:avLst/>
          </a:prstGeom>
          <a:solidFill>
            <a:srgbClr val="0E7C4F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3840480" y="1481328"/>
            <a:ext cx="594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 activity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502920" y="1938528"/>
            <a:ext cx="960120" cy="457200"/>
          </a:xfrm>
          <a:prstGeom prst="rect">
            <a:avLst/>
          </a:prstGeom>
          <a:solidFill>
            <a:srgbClr val="F1F7F3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48640" y="1938528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633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 18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1463040" y="1938528"/>
            <a:ext cx="822960" cy="457200"/>
          </a:xfrm>
          <a:prstGeom prst="rect">
            <a:avLst/>
          </a:prstGeom>
          <a:solidFill>
            <a:srgbClr val="D3F0DF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1508760" y="1938528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633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2286000" y="1938528"/>
            <a:ext cx="777240" cy="457200"/>
          </a:xfrm>
          <a:prstGeom prst="rect">
            <a:avLst/>
          </a:prstGeom>
          <a:solidFill>
            <a:srgbClr val="FFF0BF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2331720" y="1938528"/>
            <a:ext cx="685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633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Plain rules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3063240" y="1938528"/>
            <a:ext cx="731520" cy="457200"/>
          </a:xfrm>
          <a:prstGeom prst="rect">
            <a:avLst/>
          </a:prstGeom>
          <a:solidFill>
            <a:srgbClr val="FFF0BF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3108960" y="1938528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633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Plain rules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3794760" y="1938528"/>
            <a:ext cx="685800" cy="457200"/>
          </a:xfrm>
          <a:prstGeom prst="rect">
            <a:avLst/>
          </a:prstGeom>
          <a:solidFill>
            <a:srgbClr val="F4CFCB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3840480" y="1938528"/>
            <a:ext cx="594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04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Never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502920" y="2395728"/>
            <a:ext cx="3977640" cy="0"/>
          </a:xfrm>
          <a:prstGeom prst="line">
            <a:avLst/>
          </a:prstGeom>
          <a:noFill/>
          <a:ln w="6350">
            <a:solidFill>
              <a:srgbClr val="E3E8E4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02920" y="2395728"/>
            <a:ext cx="960120" cy="457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548640" y="2395728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633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and over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1463040" y="2395728"/>
            <a:ext cx="822960" cy="457200"/>
          </a:xfrm>
          <a:prstGeom prst="rect">
            <a:avLst/>
          </a:prstGeom>
          <a:solidFill>
            <a:srgbClr val="D3F0DF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1508760" y="2395728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633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2286000" y="2395728"/>
            <a:ext cx="777240" cy="457200"/>
          </a:xfrm>
          <a:prstGeom prst="rect">
            <a:avLst/>
          </a:prstGeom>
          <a:solidFill>
            <a:srgbClr val="D3F0DF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2331720" y="2395728"/>
            <a:ext cx="685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633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3063240" y="2395728"/>
            <a:ext cx="731520" cy="457200"/>
          </a:xfrm>
          <a:prstGeom prst="rect">
            <a:avLst/>
          </a:prstGeom>
          <a:solidFill>
            <a:srgbClr val="D3F0DF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3108960" y="2395728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633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3794760" y="2395728"/>
            <a:ext cx="685800" cy="457200"/>
          </a:xfrm>
          <a:prstGeom prst="rect">
            <a:avLst/>
          </a:prstGeom>
          <a:solidFill>
            <a:srgbClr val="FFF0BF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3840480" y="2395728"/>
            <a:ext cx="594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633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Opt-in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502920" y="2852928"/>
            <a:ext cx="3977640" cy="0"/>
          </a:xfrm>
          <a:prstGeom prst="line">
            <a:avLst/>
          </a:prstGeom>
          <a:noFill/>
          <a:ln w="6350">
            <a:solidFill>
              <a:srgbClr val="E3E8E4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502920" y="2852928"/>
            <a:ext cx="960120" cy="457200"/>
          </a:xfrm>
          <a:prstGeom prst="rect">
            <a:avLst/>
          </a:prstGeom>
          <a:solidFill>
            <a:srgbClr val="F1F7F3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548640" y="2852928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633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 18, legal opinion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1463040" y="2852928"/>
            <a:ext cx="822960" cy="457200"/>
          </a:xfrm>
          <a:prstGeom prst="rect">
            <a:avLst/>
          </a:prstGeom>
          <a:solidFill>
            <a:srgbClr val="D3F0DF"/>
          </a:solidFill>
          <a:ln/>
        </p:spPr>
      </p:sp>
      <p:sp>
        <p:nvSpPr>
          <p:cNvPr id="41" name="Text 39"/>
          <p:cNvSpPr txBox="1"/>
          <p:nvPr/>
        </p:nvSpPr>
        <p:spPr>
          <a:xfrm>
            <a:off x="1508760" y="2852928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633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2286000" y="2852928"/>
            <a:ext cx="777240" cy="457200"/>
          </a:xfrm>
          <a:prstGeom prst="rect">
            <a:avLst/>
          </a:prstGeom>
          <a:solidFill>
            <a:srgbClr val="D3F0DF"/>
          </a:solidFill>
          <a:ln/>
        </p:spPr>
      </p:sp>
      <p:sp>
        <p:nvSpPr>
          <p:cNvPr id="43" name="Text 41"/>
          <p:cNvSpPr txBox="1"/>
          <p:nvPr/>
        </p:nvSpPr>
        <p:spPr>
          <a:xfrm>
            <a:off x="2331720" y="2852928"/>
            <a:ext cx="685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633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>
            <a:off x="3063240" y="2852928"/>
            <a:ext cx="731520" cy="457200"/>
          </a:xfrm>
          <a:prstGeom prst="rect">
            <a:avLst/>
          </a:prstGeom>
          <a:solidFill>
            <a:srgbClr val="FFF0BF"/>
          </a:solidFill>
          <a:ln/>
        </p:spPr>
      </p:sp>
      <p:sp>
        <p:nvSpPr>
          <p:cNvPr id="45" name="Text 43"/>
          <p:cNvSpPr txBox="1"/>
          <p:nvPr/>
        </p:nvSpPr>
        <p:spPr>
          <a:xfrm>
            <a:off x="3108960" y="2852928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633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Plain rules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3794760" y="2852928"/>
            <a:ext cx="685800" cy="457200"/>
          </a:xfrm>
          <a:prstGeom prst="rect">
            <a:avLst/>
          </a:prstGeom>
          <a:solidFill>
            <a:srgbClr val="F4CFCB"/>
          </a:solidFill>
          <a:ln/>
        </p:spPr>
      </p:sp>
      <p:sp>
        <p:nvSpPr>
          <p:cNvPr id="47" name="Text 45"/>
          <p:cNvSpPr txBox="1"/>
          <p:nvPr/>
        </p:nvSpPr>
        <p:spPr>
          <a:xfrm>
            <a:off x="3840480" y="2852928"/>
            <a:ext cx="594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04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Never</a:t>
            </a:r>
            <a:endParaRPr lang="en-US" sz="1000" dirty="0"/>
          </a:p>
        </p:txBody>
      </p:sp>
      <p:sp>
        <p:nvSpPr>
          <p:cNvPr id="48" name="Shape 46"/>
          <p:cNvSpPr/>
          <p:nvPr/>
        </p:nvSpPr>
        <p:spPr>
          <a:xfrm>
            <a:off x="502920" y="3310128"/>
            <a:ext cx="3977640" cy="0"/>
          </a:xfrm>
          <a:prstGeom prst="line">
            <a:avLst/>
          </a:prstGeom>
          <a:noFill/>
          <a:ln w="6350">
            <a:solidFill>
              <a:srgbClr val="E3E8E4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521208" y="347472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E2B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DPDP Act s.9(3): </a:t>
            </a:r>
            <a:pPr algn="l" indent="0" marL="0">
              <a:buNone/>
            </a:pPr>
            <a:r>
              <a:rPr lang="en-US" sz="1050" dirty="0">
                <a:solidFill>
                  <a:srgbClr val="2633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tracking or behavioural monitoring of children, even with consent</a:t>
            </a:r>
            <a:endParaRPr lang="en-US" sz="1050" dirty="0"/>
          </a:p>
        </p:txBody>
      </p:sp>
      <p:sp>
        <p:nvSpPr>
          <p:cNvPr id="50" name="Text 48"/>
          <p:cNvSpPr txBox="1"/>
          <p:nvPr/>
        </p:nvSpPr>
        <p:spPr>
          <a:xfrm>
            <a:off x="521208" y="4005072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E2B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Fourth Schedule: </a:t>
            </a:r>
            <a:pPr algn="l" indent="0" marL="0">
              <a:buNone/>
            </a:pPr>
            <a:r>
              <a:rPr lang="en-US" sz="1050" dirty="0">
                <a:solidFill>
                  <a:srgbClr val="2633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exemption is narrow and purpose-limited, so we do not rely on it for consent</a:t>
            </a:r>
            <a:endParaRPr lang="en-US" sz="1050" dirty="0"/>
          </a:p>
        </p:txBody>
      </p:sp>
      <p:sp>
        <p:nvSpPr>
          <p:cNvPr id="51" name="Text 49"/>
          <p:cNvSpPr txBox="1"/>
          <p:nvPr/>
        </p:nvSpPr>
        <p:spPr>
          <a:xfrm>
            <a:off x="521208" y="4535424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E2B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MoE guidelines cl. 10.2(xi): </a:t>
            </a:r>
            <a:pPr algn="l" indent="0" marL="0">
              <a:buNone/>
            </a:pPr>
            <a:r>
              <a:rPr lang="en-US" sz="1050" dirty="0">
                <a:solidFill>
                  <a:srgbClr val="2633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analyse results and counsel students whose performance is deteriorating</a:t>
            </a:r>
            <a:endParaRPr lang="en-US" sz="1050" dirty="0"/>
          </a:p>
        </p:txBody>
      </p:sp>
      <p:sp>
        <p:nvSpPr>
          <p:cNvPr id="52" name="Text 50"/>
          <p:cNvSpPr txBox="1"/>
          <p:nvPr/>
        </p:nvSpPr>
        <p:spPr>
          <a:xfrm>
            <a:off x="521208" y="5065776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E2B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act as the processor: </a:t>
            </a:r>
            <a:pPr algn="l" indent="0" marL="0">
              <a:buNone/>
            </a:pPr>
            <a:r>
              <a:rPr lang="en-US" sz="1050" dirty="0">
                <a:solidFill>
                  <a:srgbClr val="2633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institute stays the data fiduciary; no pooling of children's raw data</a:t>
            </a:r>
            <a:endParaRPr lang="en-US" sz="1050" dirty="0"/>
          </a:p>
        </p:txBody>
      </p:sp>
      <p:sp>
        <p:nvSpPr>
          <p:cNvPr id="53" name="Shape 51"/>
          <p:cNvSpPr/>
          <p:nvPr/>
        </p:nvSpPr>
        <p:spPr>
          <a:xfrm>
            <a:off x="521208" y="5486400"/>
            <a:ext cx="2089404" cy="21945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0E7C4F"/>
            </a:solidFill>
            <a:prstDash val="solid"/>
          </a:ln>
        </p:spPr>
      </p:sp>
      <p:sp>
        <p:nvSpPr>
          <p:cNvPr id="54" name="Text 52"/>
          <p:cNvSpPr txBox="1"/>
          <p:nvPr/>
        </p:nvSpPr>
        <p:spPr>
          <a:xfrm>
            <a:off x="521208" y="5486400"/>
            <a:ext cx="20894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0E7C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DESIGNED AND TESTED IN CODE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4709160" y="1115568"/>
            <a:ext cx="3246120" cy="4526280"/>
          </a:xfrm>
          <a:prstGeom prst="roundRect">
            <a:avLst>
              <a:gd name="adj" fmla="val 1690"/>
            </a:avLst>
          </a:prstGeom>
          <a:solidFill>
            <a:srgbClr val="FFFFFF"/>
          </a:solidFill>
          <a:ln w="15875">
            <a:solidFill>
              <a:srgbClr val="F28C28"/>
            </a:solidFill>
            <a:prstDash val="dash"/>
          </a:ln>
        </p:spPr>
      </p:sp>
      <p:sp>
        <p:nvSpPr>
          <p:cNvPr id="56" name="Text 54"/>
          <p:cNvSpPr txBox="1"/>
          <p:nvPr/>
        </p:nvSpPr>
        <p:spPr>
          <a:xfrm>
            <a:off x="4800600" y="1161288"/>
            <a:ext cx="3063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D970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VERIFIABLE PARENTAL CONSENT</a:t>
            </a:r>
            <a:endParaRPr lang="en-US" sz="1200" dirty="0"/>
          </a:p>
        </p:txBody>
      </p:sp>
      <p:pic>
        <p:nvPicPr>
          <p:cNvPr id="57" name="Image 0" descr="Consent notice with purpose switches (illustrative)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46320" y="1481328"/>
            <a:ext cx="2971800" cy="2971800"/>
          </a:xfrm>
          <a:prstGeom prst="rect">
            <a:avLst/>
          </a:prstGeom>
        </p:spPr>
      </p:pic>
      <p:sp>
        <p:nvSpPr>
          <p:cNvPr id="58" name="Shape 55"/>
          <p:cNvSpPr/>
          <p:nvPr/>
        </p:nvSpPr>
        <p:spPr>
          <a:xfrm>
            <a:off x="4800600" y="1828800"/>
            <a:ext cx="274320" cy="274320"/>
          </a:xfrm>
          <a:prstGeom prst="ellipse">
            <a:avLst/>
          </a:prstGeom>
          <a:solidFill>
            <a:srgbClr val="F28C28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9" name="Text 56"/>
          <p:cNvSpPr txBox="1"/>
          <p:nvPr/>
        </p:nvSpPr>
        <p:spPr>
          <a:xfrm>
            <a:off x="4800600" y="18288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60" name="Shape 57"/>
          <p:cNvSpPr/>
          <p:nvPr/>
        </p:nvSpPr>
        <p:spPr>
          <a:xfrm>
            <a:off x="4800600" y="2926080"/>
            <a:ext cx="274320" cy="274320"/>
          </a:xfrm>
          <a:prstGeom prst="ellipse">
            <a:avLst/>
          </a:prstGeom>
          <a:solidFill>
            <a:srgbClr val="F28C28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1" name="Text 58"/>
          <p:cNvSpPr txBox="1"/>
          <p:nvPr/>
        </p:nvSpPr>
        <p:spPr>
          <a:xfrm>
            <a:off x="4800600" y="29260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62" name="Shape 59"/>
          <p:cNvSpPr/>
          <p:nvPr/>
        </p:nvSpPr>
        <p:spPr>
          <a:xfrm>
            <a:off x="4800600" y="3840480"/>
            <a:ext cx="274320" cy="274320"/>
          </a:xfrm>
          <a:prstGeom prst="ellipse">
            <a:avLst/>
          </a:prstGeom>
          <a:solidFill>
            <a:srgbClr val="F28C28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3" name="Text 60"/>
          <p:cNvSpPr txBox="1"/>
          <p:nvPr/>
        </p:nvSpPr>
        <p:spPr>
          <a:xfrm>
            <a:off x="4800600" y="38404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64" name="Text 61"/>
          <p:cNvSpPr txBox="1"/>
          <p:nvPr/>
        </p:nvSpPr>
        <p:spPr>
          <a:xfrm>
            <a:off x="4846320" y="4498848"/>
            <a:ext cx="2971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2633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Itemised data  2 One switch per purpose  3 Withdraw in one tap</a:t>
            </a:r>
            <a:endParaRPr lang="en-US" sz="1000" dirty="0"/>
          </a:p>
        </p:txBody>
      </p:sp>
      <p:sp>
        <p:nvSpPr>
          <p:cNvPr id="65" name="Text 62"/>
          <p:cNvSpPr txBox="1"/>
          <p:nvPr/>
        </p:nvSpPr>
        <p:spPr>
          <a:xfrm>
            <a:off x="4846320" y="4919472"/>
            <a:ext cx="2971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5B67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 checked at the admission desk (Rule 10); consent recorded per purpose and notice version.</a:t>
            </a:r>
            <a:endParaRPr lang="en-US" sz="1000" dirty="0"/>
          </a:p>
        </p:txBody>
      </p:sp>
      <p:sp>
        <p:nvSpPr>
          <p:cNvPr id="66" name="Shape 63"/>
          <p:cNvSpPr/>
          <p:nvPr/>
        </p:nvSpPr>
        <p:spPr>
          <a:xfrm>
            <a:off x="4846320" y="5349240"/>
            <a:ext cx="1609344" cy="21945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B675F"/>
            </a:solidFill>
            <a:prstDash val="solid"/>
          </a:ln>
        </p:spPr>
      </p:sp>
      <p:sp>
        <p:nvSpPr>
          <p:cNvPr id="67" name="Text 64"/>
          <p:cNvSpPr txBox="1"/>
          <p:nvPr/>
        </p:nvSpPr>
        <p:spPr>
          <a:xfrm>
            <a:off x="4846320" y="5349240"/>
            <a:ext cx="160934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B67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ILLUSTRATIVE MOCK-UP</a:t>
            </a:r>
            <a:endParaRPr lang="en-US" sz="900" dirty="0"/>
          </a:p>
        </p:txBody>
      </p:sp>
      <p:sp>
        <p:nvSpPr>
          <p:cNvPr id="68" name="Shape 65"/>
          <p:cNvSpPr/>
          <p:nvPr/>
        </p:nvSpPr>
        <p:spPr>
          <a:xfrm>
            <a:off x="8092440" y="1115568"/>
            <a:ext cx="3687775" cy="4526280"/>
          </a:xfrm>
          <a:prstGeom prst="roundRect">
            <a:avLst>
              <a:gd name="adj" fmla="val 1488"/>
            </a:avLst>
          </a:prstGeom>
          <a:solidFill>
            <a:srgbClr val="FFFFFF"/>
          </a:solidFill>
          <a:ln w="15875">
            <a:solidFill>
              <a:srgbClr val="2F80D1"/>
            </a:solidFill>
            <a:prstDash val="dash"/>
          </a:ln>
        </p:spPr>
      </p:sp>
      <p:sp>
        <p:nvSpPr>
          <p:cNvPr id="69" name="Text 66"/>
          <p:cNvSpPr txBox="1"/>
          <p:nvPr/>
        </p:nvSpPr>
        <p:spPr>
          <a:xfrm>
            <a:off x="8183880" y="1161288"/>
            <a:ext cx="3504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1F6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COST OF PRIVACY, ON REAL DATA</a:t>
            </a:r>
            <a:endParaRPr lang="en-US" sz="1200" dirty="0"/>
          </a:p>
        </p:txBody>
      </p:sp>
      <p:pic>
        <p:nvPicPr>
          <p:cNvPr id="70" name="Image 1" descr="Academic-only vs academic plus click behaviour, OULA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02168" y="1463040"/>
            <a:ext cx="3468319" cy="2635923"/>
          </a:xfrm>
          <a:prstGeom prst="rect">
            <a:avLst/>
          </a:prstGeom>
        </p:spPr>
      </p:pic>
      <p:sp>
        <p:nvSpPr>
          <p:cNvPr id="71" name="Shape 67"/>
          <p:cNvSpPr/>
          <p:nvPr/>
        </p:nvSpPr>
        <p:spPr>
          <a:xfrm>
            <a:off x="8202168" y="4251960"/>
            <a:ext cx="992124" cy="21945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0E7C4F"/>
            </a:solidFill>
            <a:prstDash val="solid"/>
          </a:ln>
        </p:spPr>
      </p:sp>
      <p:sp>
        <p:nvSpPr>
          <p:cNvPr id="72" name="Text 68"/>
          <p:cNvSpPr txBox="1"/>
          <p:nvPr/>
        </p:nvSpPr>
        <p:spPr>
          <a:xfrm>
            <a:off x="8202168" y="4251960"/>
            <a:ext cx="9921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0E7C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 DATA</a:t>
            </a:r>
            <a:endParaRPr lang="en-US" sz="900" dirty="0"/>
          </a:p>
        </p:txBody>
      </p:sp>
      <p:pic>
        <p:nvPicPr>
          <p:cNvPr id="73" name="Image 2" descr="FaCircleCheck ico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38744" y="4572000"/>
            <a:ext cx="182880" cy="182880"/>
          </a:xfrm>
          <a:prstGeom prst="rect">
            <a:avLst/>
          </a:prstGeom>
        </p:spPr>
      </p:pic>
      <p:sp>
        <p:nvSpPr>
          <p:cNvPr id="74" name="Text 69"/>
          <p:cNvSpPr txBox="1"/>
          <p:nvPr/>
        </p:nvSpPr>
        <p:spPr>
          <a:xfrm>
            <a:off x="8503920" y="4526280"/>
            <a:ext cx="318485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2633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leaderboards, no public ranks</a:t>
            </a:r>
            <a:endParaRPr lang="en-US" sz="1000" dirty="0"/>
          </a:p>
        </p:txBody>
      </p:sp>
      <p:pic>
        <p:nvPicPr>
          <p:cNvPr id="75" name="Image 3" descr="FaCircleCheck ico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38744" y="4828032"/>
            <a:ext cx="182880" cy="182880"/>
          </a:xfrm>
          <a:prstGeom prst="rect">
            <a:avLst/>
          </a:prstGeom>
        </p:spPr>
      </p:pic>
      <p:sp>
        <p:nvSpPr>
          <p:cNvPr id="76" name="Text 70"/>
          <p:cNvSpPr txBox="1"/>
          <p:nvPr/>
        </p:nvSpPr>
        <p:spPr>
          <a:xfrm>
            <a:off x="8503920" y="4782312"/>
            <a:ext cx="318485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2633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batch moves based on performance</a:t>
            </a:r>
            <a:endParaRPr lang="en-US" sz="1000" dirty="0"/>
          </a:p>
        </p:txBody>
      </p:sp>
      <p:pic>
        <p:nvPicPr>
          <p:cNvPr id="77" name="Image 4" descr="FaCircleCheck icon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38744" y="5084064"/>
            <a:ext cx="182880" cy="182880"/>
          </a:xfrm>
          <a:prstGeom prst="rect">
            <a:avLst/>
          </a:prstGeom>
        </p:spPr>
      </p:pic>
      <p:sp>
        <p:nvSpPr>
          <p:cNvPr id="78" name="Text 71"/>
          <p:cNvSpPr txBox="1"/>
          <p:nvPr/>
        </p:nvSpPr>
        <p:spPr>
          <a:xfrm>
            <a:off x="8503920" y="5038344"/>
            <a:ext cx="318485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2633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Banned-words check on every message</a:t>
            </a:r>
            <a:endParaRPr lang="en-US" sz="1000" dirty="0"/>
          </a:p>
        </p:txBody>
      </p:sp>
      <p:pic>
        <p:nvPicPr>
          <p:cNvPr id="79" name="Image 5" descr="FaCircleCheck icon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38744" y="5340096"/>
            <a:ext cx="182880" cy="182880"/>
          </a:xfrm>
          <a:prstGeom prst="rect">
            <a:avLst/>
          </a:prstGeom>
        </p:spPr>
      </p:pic>
      <p:sp>
        <p:nvSpPr>
          <p:cNvPr id="80" name="Text 72"/>
          <p:cNvSpPr txBox="1"/>
          <p:nvPr/>
        </p:nvSpPr>
        <p:spPr>
          <a:xfrm>
            <a:off x="8503920" y="5294376"/>
            <a:ext cx="318485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2633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Counsellor contact for every institute</a:t>
            </a:r>
            <a:endParaRPr lang="en-US" sz="1000" dirty="0"/>
          </a:p>
        </p:txBody>
      </p:sp>
      <p:sp>
        <p:nvSpPr>
          <p:cNvPr id="81" name="Shape 73"/>
          <p:cNvSpPr/>
          <p:nvPr/>
        </p:nvSpPr>
        <p:spPr>
          <a:xfrm>
            <a:off x="411480" y="5760720"/>
            <a:ext cx="11368735" cy="548640"/>
          </a:xfrm>
          <a:prstGeom prst="rect">
            <a:avLst/>
          </a:prstGeom>
          <a:solidFill>
            <a:srgbClr val="E3EEFB"/>
          </a:solidFill>
          <a:ln/>
        </p:spPr>
      </p:sp>
      <p:sp>
        <p:nvSpPr>
          <p:cNvPr id="82" name="Text 74"/>
          <p:cNvSpPr txBox="1"/>
          <p:nvPr/>
        </p:nvSpPr>
        <p:spPr>
          <a:xfrm>
            <a:off x="594360" y="5760720"/>
            <a:ext cx="110029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E2B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MoE Coaching Centre Guidelines 2024, cl. 10.2(xi): </a:t>
            </a:r>
            <a:pPr algn="l" indent="0" marL="0">
              <a:buNone/>
            </a:pPr>
            <a:r>
              <a:rPr lang="en-US" sz="1150" i="1" dirty="0">
                <a:solidFill>
                  <a:srgbClr val="2633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should be used for regular analysis and counselling of students whose performance is deteriorating. </a:t>
            </a:r>
            <a:pPr algn="l" indent="0" marL="0">
              <a:buNone/>
            </a:pPr>
            <a:r>
              <a:rPr lang="en-US" sz="1150" b="1" dirty="0">
                <a:solidFill>
                  <a:srgbClr val="0E7C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whole flow is built on that sentence.</a:t>
            </a:r>
            <a:endParaRPr lang="en-US" sz="1150" dirty="0"/>
          </a:p>
        </p:txBody>
      </p:sp>
      <p:sp>
        <p:nvSpPr>
          <p:cNvPr id="83" name="Text 75"/>
          <p:cNvSpPr txBox="1"/>
          <p:nvPr/>
        </p:nvSpPr>
        <p:spPr>
          <a:xfrm>
            <a:off x="411480" y="6464808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5B67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DPDP Act 2023 s.9, DPDP Rules 2025, MoE Guidelines 2024; contracts/routing_policy.yaml; OULAD results in ml/public_validation. Not legal advice.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92240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75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What makes us different: eight differentiator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5"/>
          <p:cNvSpPr/>
          <p:nvPr>
            <p:ph idx="105" type="title" hasCustomPrompt="1"/>
          </p:nvPr>
        </p:nvSpPr>
        <p:spPr>
          <a:xfrm>
            <a:off x="411480" y="310896"/>
            <a:ext cx="113687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E2B2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It pays for itself if it saves three or four students a year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7589520" y="182880"/>
            <a:ext cx="41879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b="1" spc="150" kern="0" dirty="0">
                <a:solidFill>
                  <a:srgbClr val="5B67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MODEL AND UNIT ECONOMICS 20 %</a:t>
            </a:r>
            <a:endParaRPr lang="en-US" sz="950" dirty="0"/>
          </a:p>
        </p:txBody>
      </p:sp>
      <p:sp>
        <p:nvSpPr>
          <p:cNvPr id="4" name="Shape 2"/>
          <p:cNvSpPr/>
          <p:nvPr/>
        </p:nvSpPr>
        <p:spPr>
          <a:xfrm>
            <a:off x="411480" y="1115568"/>
            <a:ext cx="3611880" cy="5212080"/>
          </a:xfrm>
          <a:prstGeom prst="rect">
            <a:avLst/>
          </a:prstGeom>
          <a:solidFill>
            <a:srgbClr val="FFFFFF"/>
          </a:solidFill>
          <a:ln w="15875">
            <a:solidFill>
              <a:srgbClr val="1FA97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11480" y="1115568"/>
            <a:ext cx="3611880" cy="301752"/>
          </a:xfrm>
          <a:prstGeom prst="rect">
            <a:avLst/>
          </a:prstGeom>
          <a:solidFill>
            <a:srgbClr val="1FA971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21208" y="1115568"/>
            <a:ext cx="3392424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ASSUMPTIONS (MID, BASE)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484632" y="1463040"/>
            <a:ext cx="1371600" cy="274320"/>
          </a:xfrm>
          <a:prstGeom prst="rect">
            <a:avLst/>
          </a:prstGeom>
          <a:solidFill>
            <a:srgbClr val="0E7C4F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46304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Assumption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1856232" y="1463040"/>
            <a:ext cx="685800" cy="274320"/>
          </a:xfrm>
          <a:prstGeom prst="rect">
            <a:avLst/>
          </a:prstGeom>
          <a:solidFill>
            <a:srgbClr val="0E7C4F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1901952" y="1463040"/>
            <a:ext cx="59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2542032" y="1463040"/>
            <a:ext cx="914400" cy="274320"/>
          </a:xfrm>
          <a:prstGeom prst="rect">
            <a:avLst/>
          </a:prstGeom>
          <a:solidFill>
            <a:srgbClr val="0E7C4F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2587752" y="146304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Range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3456432" y="1463040"/>
            <a:ext cx="457200" cy="274320"/>
          </a:xfrm>
          <a:prstGeom prst="rect">
            <a:avLst/>
          </a:prstGeom>
          <a:solidFill>
            <a:srgbClr val="0E7C4F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3502152" y="146304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Conf.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484632" y="1737360"/>
            <a:ext cx="1371600" cy="301752"/>
          </a:xfrm>
          <a:prstGeom prst="rect">
            <a:avLst/>
          </a:prstGeom>
          <a:solidFill>
            <a:srgbClr val="F1F7F3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30352" y="1737360"/>
            <a:ext cx="12801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2633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Students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1856232" y="1737360"/>
            <a:ext cx="685800" cy="301752"/>
          </a:xfrm>
          <a:prstGeom prst="rect">
            <a:avLst/>
          </a:prstGeom>
          <a:solidFill>
            <a:srgbClr val="F1F7F3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1901952" y="1737360"/>
            <a:ext cx="5943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2633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400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2542032" y="1737360"/>
            <a:ext cx="914400" cy="301752"/>
          </a:xfrm>
          <a:prstGeom prst="rect">
            <a:avLst/>
          </a:prstGeom>
          <a:solidFill>
            <a:srgbClr val="F1F7F3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2587752" y="1737360"/>
            <a:ext cx="8229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2633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180 to 1,200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3456432" y="1737360"/>
            <a:ext cx="457200" cy="301752"/>
          </a:xfrm>
          <a:prstGeom prst="rect">
            <a:avLst/>
          </a:prstGeom>
          <a:solidFill>
            <a:srgbClr val="F1F7F3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3502152" y="1737360"/>
            <a:ext cx="3657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2633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484632" y="2039112"/>
            <a:ext cx="3429000" cy="0"/>
          </a:xfrm>
          <a:prstGeom prst="line">
            <a:avLst/>
          </a:prstGeom>
          <a:noFill/>
          <a:ln w="6350">
            <a:solidFill>
              <a:srgbClr val="E3E8E4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84632" y="2039112"/>
            <a:ext cx="1371600" cy="3017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530352" y="2039112"/>
            <a:ext cx="12801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2633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Annual fee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1856232" y="2039112"/>
            <a:ext cx="685800" cy="3017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1901952" y="2039112"/>
            <a:ext cx="5943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2633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₹95,000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2542032" y="2039112"/>
            <a:ext cx="914400" cy="3017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2587752" y="2039112"/>
            <a:ext cx="8229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2633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70k to 120k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3456432" y="2039112"/>
            <a:ext cx="457200" cy="3017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3502152" y="2039112"/>
            <a:ext cx="3657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2633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484632" y="2340864"/>
            <a:ext cx="3429000" cy="0"/>
          </a:xfrm>
          <a:prstGeom prst="line">
            <a:avLst/>
          </a:prstGeom>
          <a:noFill/>
          <a:ln w="6350">
            <a:solidFill>
              <a:srgbClr val="E3E8E4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84632" y="2340864"/>
            <a:ext cx="1371600" cy="301752"/>
          </a:xfrm>
          <a:prstGeom prst="rect">
            <a:avLst/>
          </a:prstGeom>
          <a:solidFill>
            <a:srgbClr val="F1F7F3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530352" y="2340864"/>
            <a:ext cx="12801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2633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Mid-session dropout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1856232" y="2340864"/>
            <a:ext cx="685800" cy="301752"/>
          </a:xfrm>
          <a:prstGeom prst="rect">
            <a:avLst/>
          </a:prstGeom>
          <a:solidFill>
            <a:srgbClr val="F1F7F3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1901952" y="2340864"/>
            <a:ext cx="5943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2633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10 %</a:t>
            </a:r>
            <a:endParaRPr lang="en-US" sz="950" dirty="0"/>
          </a:p>
        </p:txBody>
      </p:sp>
      <p:sp>
        <p:nvSpPr>
          <p:cNvPr id="37" name="Shape 35"/>
          <p:cNvSpPr/>
          <p:nvPr/>
        </p:nvSpPr>
        <p:spPr>
          <a:xfrm>
            <a:off x="2542032" y="2340864"/>
            <a:ext cx="914400" cy="301752"/>
          </a:xfrm>
          <a:prstGeom prst="rect">
            <a:avLst/>
          </a:prstGeom>
          <a:solidFill>
            <a:srgbClr val="F1F7F3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2587752" y="2340864"/>
            <a:ext cx="8229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2633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to 18 %</a:t>
            </a:r>
            <a:endParaRPr lang="en-US" sz="950" dirty="0"/>
          </a:p>
        </p:txBody>
      </p:sp>
      <p:sp>
        <p:nvSpPr>
          <p:cNvPr id="39" name="Shape 37"/>
          <p:cNvSpPr/>
          <p:nvPr/>
        </p:nvSpPr>
        <p:spPr>
          <a:xfrm>
            <a:off x="3456432" y="2340864"/>
            <a:ext cx="457200" cy="301752"/>
          </a:xfrm>
          <a:prstGeom prst="rect">
            <a:avLst/>
          </a:prstGeom>
          <a:solidFill>
            <a:srgbClr val="F1F7F3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3502152" y="2340864"/>
            <a:ext cx="3657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2633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484632" y="2642616"/>
            <a:ext cx="3429000" cy="0"/>
          </a:xfrm>
          <a:prstGeom prst="line">
            <a:avLst/>
          </a:prstGeom>
          <a:noFill/>
          <a:ln w="6350">
            <a:solidFill>
              <a:srgbClr val="E3E8E4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484632" y="2642616"/>
            <a:ext cx="1371600" cy="3017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3" name="Text 41"/>
          <p:cNvSpPr txBox="1"/>
          <p:nvPr/>
        </p:nvSpPr>
        <p:spPr>
          <a:xfrm>
            <a:off x="530352" y="2642616"/>
            <a:ext cx="12801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2633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Outreach effect</a:t>
            </a:r>
            <a:endParaRPr lang="en-US" sz="950" dirty="0"/>
          </a:p>
        </p:txBody>
      </p:sp>
      <p:sp>
        <p:nvSpPr>
          <p:cNvPr id="44" name="Shape 42"/>
          <p:cNvSpPr/>
          <p:nvPr/>
        </p:nvSpPr>
        <p:spPr>
          <a:xfrm>
            <a:off x="1856232" y="2642616"/>
            <a:ext cx="685800" cy="3017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5" name="Text 43"/>
          <p:cNvSpPr txBox="1"/>
          <p:nvPr/>
        </p:nvSpPr>
        <p:spPr>
          <a:xfrm>
            <a:off x="1901952" y="2642616"/>
            <a:ext cx="5943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2633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15 %</a:t>
            </a:r>
            <a:endParaRPr lang="en-US" sz="950" dirty="0"/>
          </a:p>
        </p:txBody>
      </p:sp>
      <p:sp>
        <p:nvSpPr>
          <p:cNvPr id="46" name="Shape 44"/>
          <p:cNvSpPr/>
          <p:nvPr/>
        </p:nvSpPr>
        <p:spPr>
          <a:xfrm>
            <a:off x="2542032" y="2642616"/>
            <a:ext cx="914400" cy="3017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7" name="Text 45"/>
          <p:cNvSpPr txBox="1"/>
          <p:nvPr/>
        </p:nvSpPr>
        <p:spPr>
          <a:xfrm>
            <a:off x="2587752" y="2642616"/>
            <a:ext cx="8229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2633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to 30 %</a:t>
            </a:r>
            <a:endParaRPr lang="en-US" sz="950" dirty="0"/>
          </a:p>
        </p:txBody>
      </p:sp>
      <p:sp>
        <p:nvSpPr>
          <p:cNvPr id="48" name="Shape 46"/>
          <p:cNvSpPr/>
          <p:nvPr/>
        </p:nvSpPr>
        <p:spPr>
          <a:xfrm>
            <a:off x="3456432" y="2642616"/>
            <a:ext cx="457200" cy="3017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3502152" y="2642616"/>
            <a:ext cx="3657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2633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</a:t>
            </a:r>
            <a:endParaRPr lang="en-US" sz="950" dirty="0"/>
          </a:p>
        </p:txBody>
      </p:sp>
      <p:sp>
        <p:nvSpPr>
          <p:cNvPr id="50" name="Shape 48"/>
          <p:cNvSpPr/>
          <p:nvPr/>
        </p:nvSpPr>
        <p:spPr>
          <a:xfrm>
            <a:off x="484632" y="2944368"/>
            <a:ext cx="3429000" cy="0"/>
          </a:xfrm>
          <a:prstGeom prst="line">
            <a:avLst/>
          </a:prstGeom>
          <a:noFill/>
          <a:ln w="6350">
            <a:solidFill>
              <a:srgbClr val="E3E8E4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484632" y="2944368"/>
            <a:ext cx="1371600" cy="301752"/>
          </a:xfrm>
          <a:prstGeom prst="rect">
            <a:avLst/>
          </a:prstGeom>
          <a:solidFill>
            <a:srgbClr val="F1F7F3"/>
          </a:solidFill>
          <a:ln/>
        </p:spPr>
      </p:sp>
      <p:sp>
        <p:nvSpPr>
          <p:cNvPr id="52" name="Text 50"/>
          <p:cNvSpPr txBox="1"/>
          <p:nvPr/>
        </p:nvSpPr>
        <p:spPr>
          <a:xfrm>
            <a:off x="530352" y="2944368"/>
            <a:ext cx="12801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2633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 preventable</a:t>
            </a:r>
            <a:endParaRPr lang="en-US" sz="950" dirty="0"/>
          </a:p>
        </p:txBody>
      </p:sp>
      <p:sp>
        <p:nvSpPr>
          <p:cNvPr id="53" name="Shape 51"/>
          <p:cNvSpPr/>
          <p:nvPr/>
        </p:nvSpPr>
        <p:spPr>
          <a:xfrm>
            <a:off x="1856232" y="2944368"/>
            <a:ext cx="685800" cy="301752"/>
          </a:xfrm>
          <a:prstGeom prst="rect">
            <a:avLst/>
          </a:prstGeom>
          <a:solidFill>
            <a:srgbClr val="F1F7F3"/>
          </a:solidFill>
          <a:ln/>
        </p:spPr>
      </p:sp>
      <p:sp>
        <p:nvSpPr>
          <p:cNvPr id="54" name="Text 52"/>
          <p:cNvSpPr txBox="1"/>
          <p:nvPr/>
        </p:nvSpPr>
        <p:spPr>
          <a:xfrm>
            <a:off x="1901952" y="2944368"/>
            <a:ext cx="5943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2633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45 %</a:t>
            </a:r>
            <a:endParaRPr lang="en-US" sz="950" dirty="0"/>
          </a:p>
        </p:txBody>
      </p:sp>
      <p:sp>
        <p:nvSpPr>
          <p:cNvPr id="55" name="Shape 53"/>
          <p:cNvSpPr/>
          <p:nvPr/>
        </p:nvSpPr>
        <p:spPr>
          <a:xfrm>
            <a:off x="2542032" y="2944368"/>
            <a:ext cx="914400" cy="301752"/>
          </a:xfrm>
          <a:prstGeom prst="rect">
            <a:avLst/>
          </a:prstGeom>
          <a:solidFill>
            <a:srgbClr val="F1F7F3"/>
          </a:solidFill>
          <a:ln/>
        </p:spPr>
      </p:sp>
      <p:sp>
        <p:nvSpPr>
          <p:cNvPr id="56" name="Text 54"/>
          <p:cNvSpPr txBox="1"/>
          <p:nvPr/>
        </p:nvSpPr>
        <p:spPr>
          <a:xfrm>
            <a:off x="2587752" y="2944368"/>
            <a:ext cx="8229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2633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 to 60 %</a:t>
            </a:r>
            <a:endParaRPr lang="en-US" sz="950" dirty="0"/>
          </a:p>
        </p:txBody>
      </p:sp>
      <p:sp>
        <p:nvSpPr>
          <p:cNvPr id="57" name="Shape 55"/>
          <p:cNvSpPr/>
          <p:nvPr/>
        </p:nvSpPr>
        <p:spPr>
          <a:xfrm>
            <a:off x="3456432" y="2944368"/>
            <a:ext cx="457200" cy="301752"/>
          </a:xfrm>
          <a:prstGeom prst="rect">
            <a:avLst/>
          </a:prstGeom>
          <a:solidFill>
            <a:srgbClr val="F1F7F3"/>
          </a:solidFill>
          <a:ln/>
        </p:spPr>
      </p:sp>
      <p:sp>
        <p:nvSpPr>
          <p:cNvPr id="58" name="Text 56"/>
          <p:cNvSpPr txBox="1"/>
          <p:nvPr/>
        </p:nvSpPr>
        <p:spPr>
          <a:xfrm>
            <a:off x="3502152" y="2944368"/>
            <a:ext cx="3657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2633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</a:t>
            </a:r>
            <a:endParaRPr lang="en-US" sz="950" dirty="0"/>
          </a:p>
        </p:txBody>
      </p:sp>
      <p:sp>
        <p:nvSpPr>
          <p:cNvPr id="59" name="Shape 57"/>
          <p:cNvSpPr/>
          <p:nvPr/>
        </p:nvSpPr>
        <p:spPr>
          <a:xfrm>
            <a:off x="484632" y="3246120"/>
            <a:ext cx="3429000" cy="0"/>
          </a:xfrm>
          <a:prstGeom prst="line">
            <a:avLst/>
          </a:prstGeom>
          <a:noFill/>
          <a:ln w="6350">
            <a:solidFill>
              <a:srgbClr val="E3E8E4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484632" y="3246120"/>
            <a:ext cx="1371600" cy="3017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1" name="Text 59"/>
          <p:cNvSpPr txBox="1"/>
          <p:nvPr/>
        </p:nvSpPr>
        <p:spPr>
          <a:xfrm>
            <a:off x="530352" y="3246120"/>
            <a:ext cx="12801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2633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Recall, under 18</a:t>
            </a:r>
            <a:endParaRPr lang="en-US" sz="950" dirty="0"/>
          </a:p>
        </p:txBody>
      </p:sp>
      <p:sp>
        <p:nvSpPr>
          <p:cNvPr id="62" name="Shape 60"/>
          <p:cNvSpPr/>
          <p:nvPr/>
        </p:nvSpPr>
        <p:spPr>
          <a:xfrm>
            <a:off x="1856232" y="3246120"/>
            <a:ext cx="685800" cy="3017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3" name="Text 61"/>
          <p:cNvSpPr txBox="1"/>
          <p:nvPr/>
        </p:nvSpPr>
        <p:spPr>
          <a:xfrm>
            <a:off x="1901952" y="3246120"/>
            <a:ext cx="5943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2633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55 %</a:t>
            </a:r>
            <a:endParaRPr lang="en-US" sz="950" dirty="0"/>
          </a:p>
        </p:txBody>
      </p:sp>
      <p:sp>
        <p:nvSpPr>
          <p:cNvPr id="64" name="Shape 62"/>
          <p:cNvSpPr/>
          <p:nvPr/>
        </p:nvSpPr>
        <p:spPr>
          <a:xfrm>
            <a:off x="2542032" y="3246120"/>
            <a:ext cx="914400" cy="3017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5" name="Text 63"/>
          <p:cNvSpPr txBox="1"/>
          <p:nvPr/>
        </p:nvSpPr>
        <p:spPr>
          <a:xfrm>
            <a:off x="2587752" y="3246120"/>
            <a:ext cx="8229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2633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 to 70 %</a:t>
            </a:r>
            <a:endParaRPr lang="en-US" sz="950" dirty="0"/>
          </a:p>
        </p:txBody>
      </p:sp>
      <p:sp>
        <p:nvSpPr>
          <p:cNvPr id="66" name="Shape 64"/>
          <p:cNvSpPr/>
          <p:nvPr/>
        </p:nvSpPr>
        <p:spPr>
          <a:xfrm>
            <a:off x="3456432" y="3246120"/>
            <a:ext cx="457200" cy="3017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7" name="Text 65"/>
          <p:cNvSpPr txBox="1"/>
          <p:nvPr/>
        </p:nvSpPr>
        <p:spPr>
          <a:xfrm>
            <a:off x="3502152" y="3246120"/>
            <a:ext cx="3657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2633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</a:t>
            </a:r>
            <a:endParaRPr lang="en-US" sz="950" dirty="0"/>
          </a:p>
        </p:txBody>
      </p:sp>
      <p:sp>
        <p:nvSpPr>
          <p:cNvPr id="68" name="Shape 66"/>
          <p:cNvSpPr/>
          <p:nvPr/>
        </p:nvSpPr>
        <p:spPr>
          <a:xfrm>
            <a:off x="484632" y="3547872"/>
            <a:ext cx="3429000" cy="0"/>
          </a:xfrm>
          <a:prstGeom prst="line">
            <a:avLst/>
          </a:prstGeom>
          <a:noFill/>
          <a:ln w="6350">
            <a:solidFill>
              <a:srgbClr val="E3E8E4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484632" y="3547872"/>
            <a:ext cx="1371600" cy="301752"/>
          </a:xfrm>
          <a:prstGeom prst="rect">
            <a:avLst/>
          </a:prstGeom>
          <a:solidFill>
            <a:srgbClr val="F1F7F3"/>
          </a:solidFill>
          <a:ln/>
        </p:spPr>
      </p:sp>
      <p:sp>
        <p:nvSpPr>
          <p:cNvPr id="70" name="Text 68"/>
          <p:cNvSpPr txBox="1"/>
          <p:nvPr/>
        </p:nvSpPr>
        <p:spPr>
          <a:xfrm>
            <a:off x="530352" y="3547872"/>
            <a:ext cx="12801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2633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Recall, 18+</a:t>
            </a:r>
            <a:endParaRPr lang="en-US" sz="950" dirty="0"/>
          </a:p>
        </p:txBody>
      </p:sp>
      <p:sp>
        <p:nvSpPr>
          <p:cNvPr id="71" name="Shape 69"/>
          <p:cNvSpPr/>
          <p:nvPr/>
        </p:nvSpPr>
        <p:spPr>
          <a:xfrm>
            <a:off x="1856232" y="3547872"/>
            <a:ext cx="685800" cy="301752"/>
          </a:xfrm>
          <a:prstGeom prst="rect">
            <a:avLst/>
          </a:prstGeom>
          <a:solidFill>
            <a:srgbClr val="F1F7F3"/>
          </a:solidFill>
          <a:ln/>
        </p:spPr>
      </p:sp>
      <p:sp>
        <p:nvSpPr>
          <p:cNvPr id="72" name="Text 70"/>
          <p:cNvSpPr txBox="1"/>
          <p:nvPr/>
        </p:nvSpPr>
        <p:spPr>
          <a:xfrm>
            <a:off x="1901952" y="3547872"/>
            <a:ext cx="5943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2633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65 %</a:t>
            </a:r>
            <a:endParaRPr lang="en-US" sz="950" dirty="0"/>
          </a:p>
        </p:txBody>
      </p:sp>
      <p:sp>
        <p:nvSpPr>
          <p:cNvPr id="73" name="Shape 71"/>
          <p:cNvSpPr/>
          <p:nvPr/>
        </p:nvSpPr>
        <p:spPr>
          <a:xfrm>
            <a:off x="2542032" y="3547872"/>
            <a:ext cx="914400" cy="301752"/>
          </a:xfrm>
          <a:prstGeom prst="rect">
            <a:avLst/>
          </a:prstGeom>
          <a:solidFill>
            <a:srgbClr val="F1F7F3"/>
          </a:solidFill>
          <a:ln/>
        </p:spPr>
      </p:sp>
      <p:sp>
        <p:nvSpPr>
          <p:cNvPr id="74" name="Text 72"/>
          <p:cNvSpPr txBox="1"/>
          <p:nvPr/>
        </p:nvSpPr>
        <p:spPr>
          <a:xfrm>
            <a:off x="2587752" y="3547872"/>
            <a:ext cx="8229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2633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 to 80 %</a:t>
            </a:r>
            <a:endParaRPr lang="en-US" sz="950" dirty="0"/>
          </a:p>
        </p:txBody>
      </p:sp>
      <p:sp>
        <p:nvSpPr>
          <p:cNvPr id="75" name="Shape 73"/>
          <p:cNvSpPr/>
          <p:nvPr/>
        </p:nvSpPr>
        <p:spPr>
          <a:xfrm>
            <a:off x="3456432" y="3547872"/>
            <a:ext cx="457200" cy="301752"/>
          </a:xfrm>
          <a:prstGeom prst="rect">
            <a:avLst/>
          </a:prstGeom>
          <a:solidFill>
            <a:srgbClr val="F1F7F3"/>
          </a:solidFill>
          <a:ln/>
        </p:spPr>
      </p:sp>
      <p:sp>
        <p:nvSpPr>
          <p:cNvPr id="76" name="Text 74"/>
          <p:cNvSpPr txBox="1"/>
          <p:nvPr/>
        </p:nvSpPr>
        <p:spPr>
          <a:xfrm>
            <a:off x="3502152" y="3547872"/>
            <a:ext cx="3657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2633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</a:t>
            </a:r>
            <a:endParaRPr lang="en-US" sz="950" dirty="0"/>
          </a:p>
        </p:txBody>
      </p:sp>
      <p:sp>
        <p:nvSpPr>
          <p:cNvPr id="77" name="Shape 75"/>
          <p:cNvSpPr/>
          <p:nvPr/>
        </p:nvSpPr>
        <p:spPr>
          <a:xfrm>
            <a:off x="484632" y="3849624"/>
            <a:ext cx="3429000" cy="0"/>
          </a:xfrm>
          <a:prstGeom prst="line">
            <a:avLst/>
          </a:prstGeom>
          <a:noFill/>
          <a:ln w="6350">
            <a:solidFill>
              <a:srgbClr val="E3E8E4"/>
            </a:solidFill>
            <a:prstDash val="solid"/>
          </a:ln>
        </p:spPr>
      </p:sp>
      <p:sp>
        <p:nvSpPr>
          <p:cNvPr id="78" name="Shape 76"/>
          <p:cNvSpPr/>
          <p:nvPr/>
        </p:nvSpPr>
        <p:spPr>
          <a:xfrm>
            <a:off x="484632" y="3849624"/>
            <a:ext cx="1371600" cy="3017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9" name="Text 77"/>
          <p:cNvSpPr txBox="1"/>
          <p:nvPr/>
        </p:nvSpPr>
        <p:spPr>
          <a:xfrm>
            <a:off x="530352" y="3849624"/>
            <a:ext cx="12801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2633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Flag precision</a:t>
            </a:r>
            <a:endParaRPr lang="en-US" sz="950" dirty="0"/>
          </a:p>
        </p:txBody>
      </p:sp>
      <p:sp>
        <p:nvSpPr>
          <p:cNvPr id="80" name="Shape 78"/>
          <p:cNvSpPr/>
          <p:nvPr/>
        </p:nvSpPr>
        <p:spPr>
          <a:xfrm>
            <a:off x="1856232" y="3849624"/>
            <a:ext cx="685800" cy="3017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81" name="Text 79"/>
          <p:cNvSpPr txBox="1"/>
          <p:nvPr/>
        </p:nvSpPr>
        <p:spPr>
          <a:xfrm>
            <a:off x="1901952" y="3849624"/>
            <a:ext cx="5943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2633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35 %</a:t>
            </a:r>
            <a:endParaRPr lang="en-US" sz="950" dirty="0"/>
          </a:p>
        </p:txBody>
      </p:sp>
      <p:sp>
        <p:nvSpPr>
          <p:cNvPr id="82" name="Shape 80"/>
          <p:cNvSpPr/>
          <p:nvPr/>
        </p:nvSpPr>
        <p:spPr>
          <a:xfrm>
            <a:off x="2542032" y="3849624"/>
            <a:ext cx="914400" cy="3017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83" name="Text 81"/>
          <p:cNvSpPr txBox="1"/>
          <p:nvPr/>
        </p:nvSpPr>
        <p:spPr>
          <a:xfrm>
            <a:off x="2587752" y="3849624"/>
            <a:ext cx="8229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2633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 to 50 %</a:t>
            </a:r>
            <a:endParaRPr lang="en-US" sz="950" dirty="0"/>
          </a:p>
        </p:txBody>
      </p:sp>
      <p:sp>
        <p:nvSpPr>
          <p:cNvPr id="84" name="Shape 82"/>
          <p:cNvSpPr/>
          <p:nvPr/>
        </p:nvSpPr>
        <p:spPr>
          <a:xfrm>
            <a:off x="3456432" y="3849624"/>
            <a:ext cx="457200" cy="3017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85" name="Text 83"/>
          <p:cNvSpPr txBox="1"/>
          <p:nvPr/>
        </p:nvSpPr>
        <p:spPr>
          <a:xfrm>
            <a:off x="3502152" y="3849624"/>
            <a:ext cx="3657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2633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</a:t>
            </a:r>
            <a:endParaRPr lang="en-US" sz="950" dirty="0"/>
          </a:p>
        </p:txBody>
      </p:sp>
      <p:sp>
        <p:nvSpPr>
          <p:cNvPr id="86" name="Shape 84"/>
          <p:cNvSpPr/>
          <p:nvPr/>
        </p:nvSpPr>
        <p:spPr>
          <a:xfrm>
            <a:off x="484632" y="4151376"/>
            <a:ext cx="3429000" cy="0"/>
          </a:xfrm>
          <a:prstGeom prst="line">
            <a:avLst/>
          </a:prstGeom>
          <a:noFill/>
          <a:ln w="6350">
            <a:solidFill>
              <a:srgbClr val="E3E8E4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484632" y="4151376"/>
            <a:ext cx="1371600" cy="301752"/>
          </a:xfrm>
          <a:prstGeom prst="rect">
            <a:avLst/>
          </a:prstGeom>
          <a:solidFill>
            <a:srgbClr val="F1F7F3"/>
          </a:solidFill>
          <a:ln/>
        </p:spPr>
      </p:sp>
      <p:sp>
        <p:nvSpPr>
          <p:cNvPr id="88" name="Text 86"/>
          <p:cNvSpPr txBox="1"/>
          <p:nvPr/>
        </p:nvSpPr>
        <p:spPr>
          <a:xfrm>
            <a:off x="530352" y="4151376"/>
            <a:ext cx="12801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2633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Flags acted on</a:t>
            </a:r>
            <a:endParaRPr lang="en-US" sz="950" dirty="0"/>
          </a:p>
        </p:txBody>
      </p:sp>
      <p:sp>
        <p:nvSpPr>
          <p:cNvPr id="89" name="Shape 87"/>
          <p:cNvSpPr/>
          <p:nvPr/>
        </p:nvSpPr>
        <p:spPr>
          <a:xfrm>
            <a:off x="1856232" y="4151376"/>
            <a:ext cx="685800" cy="301752"/>
          </a:xfrm>
          <a:prstGeom prst="rect">
            <a:avLst/>
          </a:prstGeom>
          <a:solidFill>
            <a:srgbClr val="F1F7F3"/>
          </a:solidFill>
          <a:ln/>
        </p:spPr>
      </p:sp>
      <p:sp>
        <p:nvSpPr>
          <p:cNvPr id="90" name="Text 88"/>
          <p:cNvSpPr txBox="1"/>
          <p:nvPr/>
        </p:nvSpPr>
        <p:spPr>
          <a:xfrm>
            <a:off x="1901952" y="4151376"/>
            <a:ext cx="5943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2633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90 %</a:t>
            </a:r>
            <a:endParaRPr lang="en-US" sz="950" dirty="0"/>
          </a:p>
        </p:txBody>
      </p:sp>
      <p:sp>
        <p:nvSpPr>
          <p:cNvPr id="91" name="Shape 89"/>
          <p:cNvSpPr/>
          <p:nvPr/>
        </p:nvSpPr>
        <p:spPr>
          <a:xfrm>
            <a:off x="2542032" y="4151376"/>
            <a:ext cx="914400" cy="301752"/>
          </a:xfrm>
          <a:prstGeom prst="rect">
            <a:avLst/>
          </a:prstGeom>
          <a:solidFill>
            <a:srgbClr val="F1F7F3"/>
          </a:solidFill>
          <a:ln/>
        </p:spPr>
      </p:sp>
      <p:sp>
        <p:nvSpPr>
          <p:cNvPr id="92" name="Text 90"/>
          <p:cNvSpPr txBox="1"/>
          <p:nvPr/>
        </p:nvSpPr>
        <p:spPr>
          <a:xfrm>
            <a:off x="2587752" y="4151376"/>
            <a:ext cx="8229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2633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 to 100 %</a:t>
            </a:r>
            <a:endParaRPr lang="en-US" sz="950" dirty="0"/>
          </a:p>
        </p:txBody>
      </p:sp>
      <p:sp>
        <p:nvSpPr>
          <p:cNvPr id="93" name="Shape 91"/>
          <p:cNvSpPr/>
          <p:nvPr/>
        </p:nvSpPr>
        <p:spPr>
          <a:xfrm>
            <a:off x="3456432" y="4151376"/>
            <a:ext cx="457200" cy="301752"/>
          </a:xfrm>
          <a:prstGeom prst="rect">
            <a:avLst/>
          </a:prstGeom>
          <a:solidFill>
            <a:srgbClr val="F1F7F3"/>
          </a:solidFill>
          <a:ln/>
        </p:spPr>
      </p:sp>
      <p:sp>
        <p:nvSpPr>
          <p:cNvPr id="94" name="Text 92"/>
          <p:cNvSpPr txBox="1"/>
          <p:nvPr/>
        </p:nvSpPr>
        <p:spPr>
          <a:xfrm>
            <a:off x="3502152" y="4151376"/>
            <a:ext cx="3657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2633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</a:t>
            </a:r>
            <a:endParaRPr lang="en-US" sz="950" dirty="0"/>
          </a:p>
        </p:txBody>
      </p:sp>
      <p:sp>
        <p:nvSpPr>
          <p:cNvPr id="95" name="Shape 93"/>
          <p:cNvSpPr/>
          <p:nvPr/>
        </p:nvSpPr>
        <p:spPr>
          <a:xfrm>
            <a:off x="484632" y="4453128"/>
            <a:ext cx="3429000" cy="0"/>
          </a:xfrm>
          <a:prstGeom prst="line">
            <a:avLst/>
          </a:prstGeom>
          <a:noFill/>
          <a:ln w="6350">
            <a:solidFill>
              <a:srgbClr val="E3E8E4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484632" y="4453128"/>
            <a:ext cx="1371600" cy="3017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97" name="Text 95"/>
          <p:cNvSpPr txBox="1"/>
          <p:nvPr/>
        </p:nvSpPr>
        <p:spPr>
          <a:xfrm>
            <a:off x="530352" y="4453128"/>
            <a:ext cx="12801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2633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Admissions uplift</a:t>
            </a:r>
            <a:endParaRPr lang="en-US" sz="950" dirty="0"/>
          </a:p>
        </p:txBody>
      </p:sp>
      <p:sp>
        <p:nvSpPr>
          <p:cNvPr id="98" name="Shape 96"/>
          <p:cNvSpPr/>
          <p:nvPr/>
        </p:nvSpPr>
        <p:spPr>
          <a:xfrm>
            <a:off x="1856232" y="4453128"/>
            <a:ext cx="685800" cy="3017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99" name="Text 97"/>
          <p:cNvSpPr txBox="1"/>
          <p:nvPr/>
        </p:nvSpPr>
        <p:spPr>
          <a:xfrm>
            <a:off x="1901952" y="4453128"/>
            <a:ext cx="5943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2633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1 %</a:t>
            </a:r>
            <a:endParaRPr lang="en-US" sz="950" dirty="0"/>
          </a:p>
        </p:txBody>
      </p:sp>
      <p:sp>
        <p:nvSpPr>
          <p:cNvPr id="100" name="Shape 98"/>
          <p:cNvSpPr/>
          <p:nvPr/>
        </p:nvSpPr>
        <p:spPr>
          <a:xfrm>
            <a:off x="2542032" y="4453128"/>
            <a:ext cx="914400" cy="3017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01" name="Text 99"/>
          <p:cNvSpPr txBox="1"/>
          <p:nvPr/>
        </p:nvSpPr>
        <p:spPr>
          <a:xfrm>
            <a:off x="2587752" y="4453128"/>
            <a:ext cx="8229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2633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to 3 %</a:t>
            </a:r>
            <a:endParaRPr lang="en-US" sz="950" dirty="0"/>
          </a:p>
        </p:txBody>
      </p:sp>
      <p:sp>
        <p:nvSpPr>
          <p:cNvPr id="102" name="Shape 100"/>
          <p:cNvSpPr/>
          <p:nvPr/>
        </p:nvSpPr>
        <p:spPr>
          <a:xfrm>
            <a:off x="3456432" y="4453128"/>
            <a:ext cx="457200" cy="3017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03" name="Text 101"/>
          <p:cNvSpPr txBox="1"/>
          <p:nvPr/>
        </p:nvSpPr>
        <p:spPr>
          <a:xfrm>
            <a:off x="3502152" y="4453128"/>
            <a:ext cx="3657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2633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</a:t>
            </a:r>
            <a:endParaRPr lang="en-US" sz="950" dirty="0"/>
          </a:p>
        </p:txBody>
      </p:sp>
      <p:sp>
        <p:nvSpPr>
          <p:cNvPr id="104" name="Shape 102"/>
          <p:cNvSpPr/>
          <p:nvPr/>
        </p:nvSpPr>
        <p:spPr>
          <a:xfrm>
            <a:off x="484632" y="4754880"/>
            <a:ext cx="3429000" cy="0"/>
          </a:xfrm>
          <a:prstGeom prst="line">
            <a:avLst/>
          </a:prstGeom>
          <a:noFill/>
          <a:ln w="6350">
            <a:solidFill>
              <a:srgbClr val="E3E8E4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484632" y="4754880"/>
            <a:ext cx="1371600" cy="301752"/>
          </a:xfrm>
          <a:prstGeom prst="rect">
            <a:avLst/>
          </a:prstGeom>
          <a:solidFill>
            <a:srgbClr val="F1F7F3"/>
          </a:solidFill>
          <a:ln/>
        </p:spPr>
      </p:sp>
      <p:sp>
        <p:nvSpPr>
          <p:cNvPr id="106" name="Text 104"/>
          <p:cNvSpPr txBox="1"/>
          <p:nvPr/>
        </p:nvSpPr>
        <p:spPr>
          <a:xfrm>
            <a:off x="530352" y="4754880"/>
            <a:ext cx="12801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2633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Staff hours saved</a:t>
            </a:r>
            <a:endParaRPr lang="en-US" sz="950" dirty="0"/>
          </a:p>
        </p:txBody>
      </p:sp>
      <p:sp>
        <p:nvSpPr>
          <p:cNvPr id="107" name="Shape 105"/>
          <p:cNvSpPr/>
          <p:nvPr/>
        </p:nvSpPr>
        <p:spPr>
          <a:xfrm>
            <a:off x="1856232" y="4754880"/>
            <a:ext cx="685800" cy="301752"/>
          </a:xfrm>
          <a:prstGeom prst="rect">
            <a:avLst/>
          </a:prstGeom>
          <a:solidFill>
            <a:srgbClr val="F1F7F3"/>
          </a:solidFill>
          <a:ln/>
        </p:spPr>
      </p:sp>
      <p:sp>
        <p:nvSpPr>
          <p:cNvPr id="108" name="Text 106"/>
          <p:cNvSpPr txBox="1"/>
          <p:nvPr/>
        </p:nvSpPr>
        <p:spPr>
          <a:xfrm>
            <a:off x="1901952" y="4754880"/>
            <a:ext cx="5943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2633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 a month</a:t>
            </a:r>
            <a:endParaRPr lang="en-US" sz="950" dirty="0"/>
          </a:p>
        </p:txBody>
      </p:sp>
      <p:sp>
        <p:nvSpPr>
          <p:cNvPr id="109" name="Shape 107"/>
          <p:cNvSpPr/>
          <p:nvPr/>
        </p:nvSpPr>
        <p:spPr>
          <a:xfrm>
            <a:off x="2542032" y="4754880"/>
            <a:ext cx="914400" cy="301752"/>
          </a:xfrm>
          <a:prstGeom prst="rect">
            <a:avLst/>
          </a:prstGeom>
          <a:solidFill>
            <a:srgbClr val="F1F7F3"/>
          </a:solidFill>
          <a:ln/>
        </p:spPr>
      </p:sp>
      <p:sp>
        <p:nvSpPr>
          <p:cNvPr id="110" name="Text 108"/>
          <p:cNvSpPr txBox="1"/>
          <p:nvPr/>
        </p:nvSpPr>
        <p:spPr>
          <a:xfrm>
            <a:off x="2587752" y="4754880"/>
            <a:ext cx="8229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2633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to 50</a:t>
            </a:r>
            <a:endParaRPr lang="en-US" sz="950" dirty="0"/>
          </a:p>
        </p:txBody>
      </p:sp>
      <p:sp>
        <p:nvSpPr>
          <p:cNvPr id="111" name="Shape 109"/>
          <p:cNvSpPr/>
          <p:nvPr/>
        </p:nvSpPr>
        <p:spPr>
          <a:xfrm>
            <a:off x="3456432" y="4754880"/>
            <a:ext cx="457200" cy="301752"/>
          </a:xfrm>
          <a:prstGeom prst="rect">
            <a:avLst/>
          </a:prstGeom>
          <a:solidFill>
            <a:srgbClr val="F1F7F3"/>
          </a:solidFill>
          <a:ln/>
        </p:spPr>
      </p:sp>
      <p:sp>
        <p:nvSpPr>
          <p:cNvPr id="112" name="Text 110"/>
          <p:cNvSpPr txBox="1"/>
          <p:nvPr/>
        </p:nvSpPr>
        <p:spPr>
          <a:xfrm>
            <a:off x="3502152" y="4754880"/>
            <a:ext cx="3657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2633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</a:t>
            </a:r>
            <a:endParaRPr lang="en-US" sz="950" dirty="0"/>
          </a:p>
        </p:txBody>
      </p:sp>
      <p:sp>
        <p:nvSpPr>
          <p:cNvPr id="113" name="Shape 111"/>
          <p:cNvSpPr/>
          <p:nvPr/>
        </p:nvSpPr>
        <p:spPr>
          <a:xfrm>
            <a:off x="484632" y="5056632"/>
            <a:ext cx="3429000" cy="0"/>
          </a:xfrm>
          <a:prstGeom prst="line">
            <a:avLst/>
          </a:prstGeom>
          <a:noFill/>
          <a:ln w="6350">
            <a:solidFill>
              <a:srgbClr val="E3E8E4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484632" y="5056632"/>
            <a:ext cx="1371600" cy="3017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15" name="Text 113"/>
          <p:cNvSpPr txBox="1"/>
          <p:nvPr/>
        </p:nvSpPr>
        <p:spPr>
          <a:xfrm>
            <a:off x="530352" y="5056632"/>
            <a:ext cx="12801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2633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 price</a:t>
            </a:r>
            <a:endParaRPr lang="en-US" sz="950" dirty="0"/>
          </a:p>
        </p:txBody>
      </p:sp>
      <p:sp>
        <p:nvSpPr>
          <p:cNvPr id="116" name="Shape 114"/>
          <p:cNvSpPr/>
          <p:nvPr/>
        </p:nvSpPr>
        <p:spPr>
          <a:xfrm>
            <a:off x="1856232" y="5056632"/>
            <a:ext cx="685800" cy="3017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17" name="Text 115"/>
          <p:cNvSpPr txBox="1"/>
          <p:nvPr/>
        </p:nvSpPr>
        <p:spPr>
          <a:xfrm>
            <a:off x="1901952" y="5056632"/>
            <a:ext cx="5943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2633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₹30</a:t>
            </a:r>
            <a:endParaRPr lang="en-US" sz="950" dirty="0"/>
          </a:p>
        </p:txBody>
      </p:sp>
      <p:sp>
        <p:nvSpPr>
          <p:cNvPr id="118" name="Shape 116"/>
          <p:cNvSpPr/>
          <p:nvPr/>
        </p:nvSpPr>
        <p:spPr>
          <a:xfrm>
            <a:off x="2542032" y="5056632"/>
            <a:ext cx="914400" cy="3017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19" name="Text 117"/>
          <p:cNvSpPr txBox="1"/>
          <p:nvPr/>
        </p:nvSpPr>
        <p:spPr>
          <a:xfrm>
            <a:off x="2587752" y="5056632"/>
            <a:ext cx="8229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2633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₹20 to 40</a:t>
            </a:r>
            <a:endParaRPr lang="en-US" sz="950" dirty="0"/>
          </a:p>
        </p:txBody>
      </p:sp>
      <p:sp>
        <p:nvSpPr>
          <p:cNvPr id="120" name="Shape 118"/>
          <p:cNvSpPr/>
          <p:nvPr/>
        </p:nvSpPr>
        <p:spPr>
          <a:xfrm>
            <a:off x="3456432" y="5056632"/>
            <a:ext cx="457200" cy="3017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21" name="Text 119"/>
          <p:cNvSpPr txBox="1"/>
          <p:nvPr/>
        </p:nvSpPr>
        <p:spPr>
          <a:xfrm>
            <a:off x="3502152" y="5056632"/>
            <a:ext cx="3657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2633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</a:t>
            </a:r>
            <a:endParaRPr lang="en-US" sz="950" dirty="0"/>
          </a:p>
        </p:txBody>
      </p:sp>
      <p:sp>
        <p:nvSpPr>
          <p:cNvPr id="122" name="Shape 120"/>
          <p:cNvSpPr/>
          <p:nvPr/>
        </p:nvSpPr>
        <p:spPr>
          <a:xfrm>
            <a:off x="484632" y="5358384"/>
            <a:ext cx="3429000" cy="0"/>
          </a:xfrm>
          <a:prstGeom prst="line">
            <a:avLst/>
          </a:prstGeom>
          <a:noFill/>
          <a:ln w="6350">
            <a:solidFill>
              <a:srgbClr val="E3E8E4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484632" y="5358384"/>
            <a:ext cx="1371600" cy="301752"/>
          </a:xfrm>
          <a:prstGeom prst="rect">
            <a:avLst/>
          </a:prstGeom>
          <a:solidFill>
            <a:srgbClr val="F1F7F3"/>
          </a:solidFill>
          <a:ln/>
        </p:spPr>
      </p:sp>
      <p:sp>
        <p:nvSpPr>
          <p:cNvPr id="124" name="Text 122"/>
          <p:cNvSpPr txBox="1"/>
          <p:nvPr/>
        </p:nvSpPr>
        <p:spPr>
          <a:xfrm>
            <a:off x="530352" y="5358384"/>
            <a:ext cx="12801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2633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GST reclaimed</a:t>
            </a:r>
            <a:endParaRPr lang="en-US" sz="950" dirty="0"/>
          </a:p>
        </p:txBody>
      </p:sp>
      <p:sp>
        <p:nvSpPr>
          <p:cNvPr id="125" name="Shape 123"/>
          <p:cNvSpPr/>
          <p:nvPr/>
        </p:nvSpPr>
        <p:spPr>
          <a:xfrm>
            <a:off x="1856232" y="5358384"/>
            <a:ext cx="685800" cy="301752"/>
          </a:xfrm>
          <a:prstGeom prst="rect">
            <a:avLst/>
          </a:prstGeom>
          <a:solidFill>
            <a:srgbClr val="F1F7F3"/>
          </a:solidFill>
          <a:ln/>
        </p:spPr>
      </p:sp>
      <p:sp>
        <p:nvSpPr>
          <p:cNvPr id="126" name="Text 124"/>
          <p:cNvSpPr txBox="1"/>
          <p:nvPr/>
        </p:nvSpPr>
        <p:spPr>
          <a:xfrm>
            <a:off x="1901952" y="5358384"/>
            <a:ext cx="5943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2633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60 %</a:t>
            </a:r>
            <a:endParaRPr lang="en-US" sz="950" dirty="0"/>
          </a:p>
        </p:txBody>
      </p:sp>
      <p:sp>
        <p:nvSpPr>
          <p:cNvPr id="127" name="Shape 125"/>
          <p:cNvSpPr/>
          <p:nvPr/>
        </p:nvSpPr>
        <p:spPr>
          <a:xfrm>
            <a:off x="2542032" y="5358384"/>
            <a:ext cx="914400" cy="301752"/>
          </a:xfrm>
          <a:prstGeom prst="rect">
            <a:avLst/>
          </a:prstGeom>
          <a:solidFill>
            <a:srgbClr val="F1F7F3"/>
          </a:solidFill>
          <a:ln/>
        </p:spPr>
      </p:sp>
      <p:sp>
        <p:nvSpPr>
          <p:cNvPr id="128" name="Text 126"/>
          <p:cNvSpPr txBox="1"/>
          <p:nvPr/>
        </p:nvSpPr>
        <p:spPr>
          <a:xfrm>
            <a:off x="2587752" y="5358384"/>
            <a:ext cx="8229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2633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 to 90 %</a:t>
            </a:r>
            <a:endParaRPr lang="en-US" sz="950" dirty="0"/>
          </a:p>
        </p:txBody>
      </p:sp>
      <p:sp>
        <p:nvSpPr>
          <p:cNvPr id="129" name="Shape 127"/>
          <p:cNvSpPr/>
          <p:nvPr/>
        </p:nvSpPr>
        <p:spPr>
          <a:xfrm>
            <a:off x="3456432" y="5358384"/>
            <a:ext cx="457200" cy="301752"/>
          </a:xfrm>
          <a:prstGeom prst="rect">
            <a:avLst/>
          </a:prstGeom>
          <a:solidFill>
            <a:srgbClr val="F1F7F3"/>
          </a:solidFill>
          <a:ln/>
        </p:spPr>
      </p:sp>
      <p:sp>
        <p:nvSpPr>
          <p:cNvPr id="130" name="Text 128"/>
          <p:cNvSpPr txBox="1"/>
          <p:nvPr/>
        </p:nvSpPr>
        <p:spPr>
          <a:xfrm>
            <a:off x="3502152" y="5358384"/>
            <a:ext cx="3657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2633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</a:t>
            </a:r>
            <a:endParaRPr lang="en-US" sz="950" dirty="0"/>
          </a:p>
        </p:txBody>
      </p:sp>
      <p:sp>
        <p:nvSpPr>
          <p:cNvPr id="131" name="Shape 129"/>
          <p:cNvSpPr/>
          <p:nvPr/>
        </p:nvSpPr>
        <p:spPr>
          <a:xfrm>
            <a:off x="484632" y="5660136"/>
            <a:ext cx="3429000" cy="0"/>
          </a:xfrm>
          <a:prstGeom prst="line">
            <a:avLst/>
          </a:prstGeom>
          <a:noFill/>
          <a:ln w="6350">
            <a:solidFill>
              <a:srgbClr val="E3E8E4"/>
            </a:solidFill>
            <a:prstDash val="solid"/>
          </a:ln>
        </p:spPr>
      </p:sp>
      <p:sp>
        <p:nvSpPr>
          <p:cNvPr id="132" name="Text 130"/>
          <p:cNvSpPr txBox="1"/>
          <p:nvPr/>
        </p:nvSpPr>
        <p:spPr>
          <a:xfrm>
            <a:off x="502920" y="5742432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5B67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Conf.: H high, M medium, L low. Low means an assumption to test in owner interviews.</a:t>
            </a:r>
            <a:endParaRPr lang="en-US" sz="950" dirty="0"/>
          </a:p>
        </p:txBody>
      </p:sp>
      <p:sp>
        <p:nvSpPr>
          <p:cNvPr id="133" name="Shape 131"/>
          <p:cNvSpPr/>
          <p:nvPr/>
        </p:nvSpPr>
        <p:spPr>
          <a:xfrm>
            <a:off x="4160520" y="1115568"/>
            <a:ext cx="4434840" cy="5212080"/>
          </a:xfrm>
          <a:prstGeom prst="rect">
            <a:avLst/>
          </a:prstGeom>
          <a:solidFill>
            <a:srgbClr val="FFFFFF"/>
          </a:solidFill>
          <a:ln w="15875">
            <a:solidFill>
              <a:srgbClr val="F28C28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4160520" y="1115568"/>
            <a:ext cx="4434840" cy="301752"/>
          </a:xfrm>
          <a:prstGeom prst="rect">
            <a:avLst/>
          </a:prstGeom>
          <a:solidFill>
            <a:srgbClr val="F28C28"/>
          </a:solidFill>
          <a:ln/>
        </p:spPr>
      </p:sp>
      <p:sp>
        <p:nvSpPr>
          <p:cNvPr id="135" name="Text 133"/>
          <p:cNvSpPr txBox="1"/>
          <p:nvPr/>
        </p:nvSpPr>
        <p:spPr>
          <a:xfrm>
            <a:off x="4270248" y="1115568"/>
            <a:ext cx="4215384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INSTITUTE ECONOMICS: GUIDE VS PRAGATI</a:t>
            </a:r>
            <a:endParaRPr lang="en-US" sz="1150" dirty="0"/>
          </a:p>
        </p:txBody>
      </p:sp>
      <p:sp>
        <p:nvSpPr>
          <p:cNvPr id="136" name="Shape 134"/>
          <p:cNvSpPr/>
          <p:nvPr/>
        </p:nvSpPr>
        <p:spPr>
          <a:xfrm>
            <a:off x="4233672" y="1463040"/>
            <a:ext cx="1600200" cy="310896"/>
          </a:xfrm>
          <a:prstGeom prst="rect">
            <a:avLst/>
          </a:prstGeom>
          <a:solidFill>
            <a:srgbClr val="1F63A8"/>
          </a:solidFill>
          <a:ln/>
        </p:spPr>
      </p:sp>
      <p:sp>
        <p:nvSpPr>
          <p:cNvPr id="137" name="Text 135"/>
          <p:cNvSpPr txBox="1"/>
          <p:nvPr/>
        </p:nvSpPr>
        <p:spPr>
          <a:xfrm>
            <a:off x="4279392" y="1463040"/>
            <a:ext cx="1508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year, 400 students</a:t>
            </a:r>
            <a:endParaRPr lang="en-US" sz="950" dirty="0"/>
          </a:p>
        </p:txBody>
      </p:sp>
      <p:sp>
        <p:nvSpPr>
          <p:cNvPr id="138" name="Shape 136"/>
          <p:cNvSpPr/>
          <p:nvPr/>
        </p:nvSpPr>
        <p:spPr>
          <a:xfrm>
            <a:off x="5833872" y="1463040"/>
            <a:ext cx="640080" cy="310896"/>
          </a:xfrm>
          <a:prstGeom prst="rect">
            <a:avLst/>
          </a:prstGeom>
          <a:solidFill>
            <a:srgbClr val="5B675F"/>
          </a:solidFill>
          <a:ln/>
        </p:spPr>
      </p:sp>
      <p:sp>
        <p:nvSpPr>
          <p:cNvPr id="139" name="Text 137"/>
          <p:cNvSpPr txBox="1"/>
          <p:nvPr/>
        </p:nvSpPr>
        <p:spPr>
          <a:xfrm>
            <a:off x="5879592" y="1463040"/>
            <a:ext cx="548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Guide</a:t>
            </a:r>
            <a:endParaRPr lang="en-US" sz="950" dirty="0"/>
          </a:p>
        </p:txBody>
      </p:sp>
      <p:sp>
        <p:nvSpPr>
          <p:cNvPr id="140" name="Shape 138"/>
          <p:cNvSpPr/>
          <p:nvPr/>
        </p:nvSpPr>
        <p:spPr>
          <a:xfrm>
            <a:off x="6473952" y="1463040"/>
            <a:ext cx="685800" cy="310896"/>
          </a:xfrm>
          <a:prstGeom prst="rect">
            <a:avLst/>
          </a:prstGeom>
          <a:solidFill>
            <a:srgbClr val="5B675F"/>
          </a:solidFill>
          <a:ln/>
        </p:spPr>
      </p:sp>
      <p:sp>
        <p:nvSpPr>
          <p:cNvPr id="141" name="Text 139"/>
          <p:cNvSpPr txBox="1"/>
          <p:nvPr/>
        </p:nvSpPr>
        <p:spPr>
          <a:xfrm>
            <a:off x="6519672" y="1463040"/>
            <a:ext cx="594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Bear</a:t>
            </a:r>
            <a:endParaRPr lang="en-US" sz="950" dirty="0"/>
          </a:p>
        </p:txBody>
      </p:sp>
      <p:sp>
        <p:nvSpPr>
          <p:cNvPr id="142" name="Shape 140"/>
          <p:cNvSpPr/>
          <p:nvPr/>
        </p:nvSpPr>
        <p:spPr>
          <a:xfrm>
            <a:off x="7159752" y="1463040"/>
            <a:ext cx="731520" cy="310896"/>
          </a:xfrm>
          <a:prstGeom prst="rect">
            <a:avLst/>
          </a:prstGeom>
          <a:solidFill>
            <a:srgbClr val="0E7C4F"/>
          </a:solidFill>
          <a:ln/>
        </p:spPr>
      </p:sp>
      <p:sp>
        <p:nvSpPr>
          <p:cNvPr id="143" name="Text 141"/>
          <p:cNvSpPr txBox="1"/>
          <p:nvPr/>
        </p:nvSpPr>
        <p:spPr>
          <a:xfrm>
            <a:off x="7205472" y="1463040"/>
            <a:ext cx="640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</a:t>
            </a:r>
            <a:endParaRPr lang="en-US" sz="950" dirty="0"/>
          </a:p>
        </p:txBody>
      </p:sp>
      <p:sp>
        <p:nvSpPr>
          <p:cNvPr id="144" name="Shape 142"/>
          <p:cNvSpPr/>
          <p:nvPr/>
        </p:nvSpPr>
        <p:spPr>
          <a:xfrm>
            <a:off x="7891272" y="1463040"/>
            <a:ext cx="640080" cy="310896"/>
          </a:xfrm>
          <a:prstGeom prst="rect">
            <a:avLst/>
          </a:prstGeom>
          <a:solidFill>
            <a:srgbClr val="5B675F"/>
          </a:solidFill>
          <a:ln/>
        </p:spPr>
      </p:sp>
      <p:sp>
        <p:nvSpPr>
          <p:cNvPr id="145" name="Text 143"/>
          <p:cNvSpPr txBox="1"/>
          <p:nvPr/>
        </p:nvSpPr>
        <p:spPr>
          <a:xfrm>
            <a:off x="7936992" y="1463040"/>
            <a:ext cx="548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Bull</a:t>
            </a:r>
            <a:endParaRPr lang="en-US" sz="950" dirty="0"/>
          </a:p>
        </p:txBody>
      </p:sp>
      <p:sp>
        <p:nvSpPr>
          <p:cNvPr id="146" name="Shape 144"/>
          <p:cNvSpPr/>
          <p:nvPr/>
        </p:nvSpPr>
        <p:spPr>
          <a:xfrm>
            <a:off x="4233672" y="1773936"/>
            <a:ext cx="1600200" cy="393192"/>
          </a:xfrm>
          <a:prstGeom prst="rect">
            <a:avLst/>
          </a:prstGeom>
          <a:solidFill>
            <a:srgbClr val="F1F7F3"/>
          </a:solidFill>
          <a:ln/>
        </p:spPr>
      </p:sp>
      <p:sp>
        <p:nvSpPr>
          <p:cNvPr id="147" name="Text 145"/>
          <p:cNvSpPr txBox="1"/>
          <p:nvPr/>
        </p:nvSpPr>
        <p:spPr>
          <a:xfrm>
            <a:off x="4279392" y="1773936"/>
            <a:ext cx="150876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2633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Effective dropout reduction</a:t>
            </a:r>
            <a:endParaRPr lang="en-US" sz="950" dirty="0"/>
          </a:p>
        </p:txBody>
      </p:sp>
      <p:sp>
        <p:nvSpPr>
          <p:cNvPr id="148" name="Shape 146"/>
          <p:cNvSpPr/>
          <p:nvPr/>
        </p:nvSpPr>
        <p:spPr>
          <a:xfrm>
            <a:off x="5833872" y="1773936"/>
            <a:ext cx="640080" cy="393192"/>
          </a:xfrm>
          <a:prstGeom prst="rect">
            <a:avLst/>
          </a:prstGeom>
          <a:solidFill>
            <a:srgbClr val="F1F7F3"/>
          </a:solidFill>
          <a:ln/>
        </p:spPr>
      </p:sp>
      <p:sp>
        <p:nvSpPr>
          <p:cNvPr id="149" name="Text 147"/>
          <p:cNvSpPr txBox="1"/>
          <p:nvPr/>
        </p:nvSpPr>
        <p:spPr>
          <a:xfrm>
            <a:off x="5879592" y="1773936"/>
            <a:ext cx="54864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2633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25 %</a:t>
            </a:r>
            <a:endParaRPr lang="en-US" sz="950" dirty="0"/>
          </a:p>
        </p:txBody>
      </p:sp>
      <p:sp>
        <p:nvSpPr>
          <p:cNvPr id="150" name="Shape 148"/>
          <p:cNvSpPr/>
          <p:nvPr/>
        </p:nvSpPr>
        <p:spPr>
          <a:xfrm>
            <a:off x="6473952" y="1773936"/>
            <a:ext cx="685800" cy="393192"/>
          </a:xfrm>
          <a:prstGeom prst="rect">
            <a:avLst/>
          </a:prstGeom>
          <a:solidFill>
            <a:srgbClr val="F1F7F3"/>
          </a:solidFill>
          <a:ln/>
        </p:spPr>
      </p:sp>
      <p:sp>
        <p:nvSpPr>
          <p:cNvPr id="151" name="Text 149"/>
          <p:cNvSpPr txBox="1"/>
          <p:nvPr/>
        </p:nvSpPr>
        <p:spPr>
          <a:xfrm>
            <a:off x="6519672" y="1773936"/>
            <a:ext cx="59436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2633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1.0 %</a:t>
            </a:r>
            <a:endParaRPr lang="en-US" sz="950" dirty="0"/>
          </a:p>
        </p:txBody>
      </p:sp>
      <p:sp>
        <p:nvSpPr>
          <p:cNvPr id="152" name="Shape 150"/>
          <p:cNvSpPr/>
          <p:nvPr/>
        </p:nvSpPr>
        <p:spPr>
          <a:xfrm>
            <a:off x="7159752" y="1773936"/>
            <a:ext cx="731520" cy="393192"/>
          </a:xfrm>
          <a:prstGeom prst="rect">
            <a:avLst/>
          </a:prstGeom>
          <a:solidFill>
            <a:srgbClr val="F1F7F3"/>
          </a:solidFill>
          <a:ln/>
        </p:spPr>
      </p:sp>
      <p:sp>
        <p:nvSpPr>
          <p:cNvPr id="153" name="Text 151"/>
          <p:cNvSpPr txBox="1"/>
          <p:nvPr/>
        </p:nvSpPr>
        <p:spPr>
          <a:xfrm>
            <a:off x="7205472" y="1773936"/>
            <a:ext cx="6400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2633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6.6 %</a:t>
            </a:r>
            <a:endParaRPr lang="en-US" sz="950" dirty="0"/>
          </a:p>
        </p:txBody>
      </p:sp>
      <p:sp>
        <p:nvSpPr>
          <p:cNvPr id="154" name="Shape 152"/>
          <p:cNvSpPr/>
          <p:nvPr/>
        </p:nvSpPr>
        <p:spPr>
          <a:xfrm>
            <a:off x="7891272" y="1773936"/>
            <a:ext cx="640080" cy="393192"/>
          </a:xfrm>
          <a:prstGeom prst="rect">
            <a:avLst/>
          </a:prstGeom>
          <a:solidFill>
            <a:srgbClr val="F1F7F3"/>
          </a:solidFill>
          <a:ln/>
        </p:spPr>
      </p:sp>
      <p:sp>
        <p:nvSpPr>
          <p:cNvPr id="155" name="Text 153"/>
          <p:cNvSpPr txBox="1"/>
          <p:nvPr/>
        </p:nvSpPr>
        <p:spPr>
          <a:xfrm>
            <a:off x="7936992" y="1773936"/>
            <a:ext cx="54864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2633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22 %</a:t>
            </a:r>
            <a:endParaRPr lang="en-US" sz="950" dirty="0"/>
          </a:p>
        </p:txBody>
      </p:sp>
      <p:sp>
        <p:nvSpPr>
          <p:cNvPr id="156" name="Shape 154"/>
          <p:cNvSpPr/>
          <p:nvPr/>
        </p:nvSpPr>
        <p:spPr>
          <a:xfrm>
            <a:off x="4233672" y="2167128"/>
            <a:ext cx="4297680" cy="0"/>
          </a:xfrm>
          <a:prstGeom prst="line">
            <a:avLst/>
          </a:prstGeom>
          <a:noFill/>
          <a:ln w="6350">
            <a:solidFill>
              <a:srgbClr val="E3E8E4"/>
            </a:solidFill>
            <a:prstDash val="solid"/>
          </a:ln>
        </p:spPr>
      </p:sp>
      <p:sp>
        <p:nvSpPr>
          <p:cNvPr id="157" name="Shape 155"/>
          <p:cNvSpPr/>
          <p:nvPr/>
        </p:nvSpPr>
        <p:spPr>
          <a:xfrm>
            <a:off x="4233672" y="2167128"/>
            <a:ext cx="1600200" cy="39319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58" name="Text 156"/>
          <p:cNvSpPr txBox="1"/>
          <p:nvPr/>
        </p:nvSpPr>
        <p:spPr>
          <a:xfrm>
            <a:off x="4279392" y="2167128"/>
            <a:ext cx="150876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2633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Dropouts prevented</a:t>
            </a:r>
            <a:endParaRPr lang="en-US" sz="950" dirty="0"/>
          </a:p>
        </p:txBody>
      </p:sp>
      <p:sp>
        <p:nvSpPr>
          <p:cNvPr id="159" name="Shape 157"/>
          <p:cNvSpPr/>
          <p:nvPr/>
        </p:nvSpPr>
        <p:spPr>
          <a:xfrm>
            <a:off x="5833872" y="2167128"/>
            <a:ext cx="640080" cy="39319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60" name="Text 158"/>
          <p:cNvSpPr txBox="1"/>
          <p:nvPr/>
        </p:nvSpPr>
        <p:spPr>
          <a:xfrm>
            <a:off x="5879592" y="2167128"/>
            <a:ext cx="54864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2633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50" dirty="0"/>
          </a:p>
        </p:txBody>
      </p:sp>
      <p:sp>
        <p:nvSpPr>
          <p:cNvPr id="161" name="Shape 159"/>
          <p:cNvSpPr/>
          <p:nvPr/>
        </p:nvSpPr>
        <p:spPr>
          <a:xfrm>
            <a:off x="6473952" y="2167128"/>
            <a:ext cx="685800" cy="39319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62" name="Text 160"/>
          <p:cNvSpPr txBox="1"/>
          <p:nvPr/>
        </p:nvSpPr>
        <p:spPr>
          <a:xfrm>
            <a:off x="6519672" y="2167128"/>
            <a:ext cx="59436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2633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0.2</a:t>
            </a:r>
            <a:endParaRPr lang="en-US" sz="950" dirty="0"/>
          </a:p>
        </p:txBody>
      </p:sp>
      <p:sp>
        <p:nvSpPr>
          <p:cNvPr id="163" name="Shape 161"/>
          <p:cNvSpPr/>
          <p:nvPr/>
        </p:nvSpPr>
        <p:spPr>
          <a:xfrm>
            <a:off x="7159752" y="2167128"/>
            <a:ext cx="731520" cy="39319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64" name="Text 162"/>
          <p:cNvSpPr txBox="1"/>
          <p:nvPr/>
        </p:nvSpPr>
        <p:spPr>
          <a:xfrm>
            <a:off x="7205472" y="2167128"/>
            <a:ext cx="6400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2633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2.6</a:t>
            </a:r>
            <a:endParaRPr lang="en-US" sz="950" dirty="0"/>
          </a:p>
        </p:txBody>
      </p:sp>
      <p:sp>
        <p:nvSpPr>
          <p:cNvPr id="165" name="Shape 163"/>
          <p:cNvSpPr/>
          <p:nvPr/>
        </p:nvSpPr>
        <p:spPr>
          <a:xfrm>
            <a:off x="7891272" y="2167128"/>
            <a:ext cx="640080" cy="39319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66" name="Text 164"/>
          <p:cNvSpPr txBox="1"/>
          <p:nvPr/>
        </p:nvSpPr>
        <p:spPr>
          <a:xfrm>
            <a:off x="7936992" y="2167128"/>
            <a:ext cx="54864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2633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50" dirty="0"/>
          </a:p>
        </p:txBody>
      </p:sp>
      <p:sp>
        <p:nvSpPr>
          <p:cNvPr id="167" name="Shape 165"/>
          <p:cNvSpPr/>
          <p:nvPr/>
        </p:nvSpPr>
        <p:spPr>
          <a:xfrm>
            <a:off x="4233672" y="2560320"/>
            <a:ext cx="4297680" cy="0"/>
          </a:xfrm>
          <a:prstGeom prst="line">
            <a:avLst/>
          </a:prstGeom>
          <a:noFill/>
          <a:ln w="6350">
            <a:solidFill>
              <a:srgbClr val="E3E8E4"/>
            </a:solidFill>
            <a:prstDash val="solid"/>
          </a:ln>
        </p:spPr>
      </p:sp>
      <p:sp>
        <p:nvSpPr>
          <p:cNvPr id="168" name="Shape 166"/>
          <p:cNvSpPr/>
          <p:nvPr/>
        </p:nvSpPr>
        <p:spPr>
          <a:xfrm>
            <a:off x="4233672" y="2560320"/>
            <a:ext cx="1600200" cy="393192"/>
          </a:xfrm>
          <a:prstGeom prst="rect">
            <a:avLst/>
          </a:prstGeom>
          <a:solidFill>
            <a:srgbClr val="F1F7F3"/>
          </a:solidFill>
          <a:ln/>
        </p:spPr>
      </p:sp>
      <p:sp>
        <p:nvSpPr>
          <p:cNvPr id="169" name="Text 167"/>
          <p:cNvSpPr txBox="1"/>
          <p:nvPr/>
        </p:nvSpPr>
        <p:spPr>
          <a:xfrm>
            <a:off x="4279392" y="2560320"/>
            <a:ext cx="150876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2633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 lost per dropout</a:t>
            </a:r>
            <a:endParaRPr lang="en-US" sz="950" dirty="0"/>
          </a:p>
        </p:txBody>
      </p:sp>
      <p:sp>
        <p:nvSpPr>
          <p:cNvPr id="170" name="Shape 168"/>
          <p:cNvSpPr/>
          <p:nvPr/>
        </p:nvSpPr>
        <p:spPr>
          <a:xfrm>
            <a:off x="5833872" y="2560320"/>
            <a:ext cx="640080" cy="393192"/>
          </a:xfrm>
          <a:prstGeom prst="rect">
            <a:avLst/>
          </a:prstGeom>
          <a:solidFill>
            <a:srgbClr val="F1F7F3"/>
          </a:solidFill>
          <a:ln/>
        </p:spPr>
      </p:sp>
      <p:sp>
        <p:nvSpPr>
          <p:cNvPr id="171" name="Text 169"/>
          <p:cNvSpPr txBox="1"/>
          <p:nvPr/>
        </p:nvSpPr>
        <p:spPr>
          <a:xfrm>
            <a:off x="5879592" y="2560320"/>
            <a:ext cx="54864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2633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₹36,000</a:t>
            </a:r>
            <a:endParaRPr lang="en-US" sz="950" dirty="0"/>
          </a:p>
        </p:txBody>
      </p:sp>
      <p:sp>
        <p:nvSpPr>
          <p:cNvPr id="172" name="Shape 170"/>
          <p:cNvSpPr/>
          <p:nvPr/>
        </p:nvSpPr>
        <p:spPr>
          <a:xfrm>
            <a:off x="6473952" y="2560320"/>
            <a:ext cx="685800" cy="393192"/>
          </a:xfrm>
          <a:prstGeom prst="rect">
            <a:avLst/>
          </a:prstGeom>
          <a:solidFill>
            <a:srgbClr val="F1F7F3"/>
          </a:solidFill>
          <a:ln/>
        </p:spPr>
      </p:sp>
      <p:sp>
        <p:nvSpPr>
          <p:cNvPr id="173" name="Text 171"/>
          <p:cNvSpPr txBox="1"/>
          <p:nvPr/>
        </p:nvSpPr>
        <p:spPr>
          <a:xfrm>
            <a:off x="6519672" y="2560320"/>
            <a:ext cx="59436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2633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₹15,414</a:t>
            </a:r>
            <a:endParaRPr lang="en-US" sz="950" dirty="0"/>
          </a:p>
        </p:txBody>
      </p:sp>
      <p:sp>
        <p:nvSpPr>
          <p:cNvPr id="174" name="Shape 172"/>
          <p:cNvSpPr/>
          <p:nvPr/>
        </p:nvSpPr>
        <p:spPr>
          <a:xfrm>
            <a:off x="7159752" y="2560320"/>
            <a:ext cx="731520" cy="393192"/>
          </a:xfrm>
          <a:prstGeom prst="rect">
            <a:avLst/>
          </a:prstGeom>
          <a:solidFill>
            <a:srgbClr val="F1F7F3"/>
          </a:solidFill>
          <a:ln/>
        </p:spPr>
      </p:sp>
      <p:sp>
        <p:nvSpPr>
          <p:cNvPr id="175" name="Text 173"/>
          <p:cNvSpPr txBox="1"/>
          <p:nvPr/>
        </p:nvSpPr>
        <p:spPr>
          <a:xfrm>
            <a:off x="7205472" y="2560320"/>
            <a:ext cx="6400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2633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₹36,967</a:t>
            </a:r>
            <a:endParaRPr lang="en-US" sz="950" dirty="0"/>
          </a:p>
        </p:txBody>
      </p:sp>
      <p:sp>
        <p:nvSpPr>
          <p:cNvPr id="176" name="Shape 174"/>
          <p:cNvSpPr/>
          <p:nvPr/>
        </p:nvSpPr>
        <p:spPr>
          <a:xfrm>
            <a:off x="7891272" y="2560320"/>
            <a:ext cx="640080" cy="393192"/>
          </a:xfrm>
          <a:prstGeom prst="rect">
            <a:avLst/>
          </a:prstGeom>
          <a:solidFill>
            <a:srgbClr val="F1F7F3"/>
          </a:solidFill>
          <a:ln/>
        </p:spPr>
      </p:sp>
      <p:sp>
        <p:nvSpPr>
          <p:cNvPr id="177" name="Text 175"/>
          <p:cNvSpPr txBox="1"/>
          <p:nvPr/>
        </p:nvSpPr>
        <p:spPr>
          <a:xfrm>
            <a:off x="7936992" y="2560320"/>
            <a:ext cx="54864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2633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₹56,994</a:t>
            </a:r>
            <a:endParaRPr lang="en-US" sz="950" dirty="0"/>
          </a:p>
        </p:txBody>
      </p:sp>
      <p:sp>
        <p:nvSpPr>
          <p:cNvPr id="178" name="Shape 176"/>
          <p:cNvSpPr/>
          <p:nvPr/>
        </p:nvSpPr>
        <p:spPr>
          <a:xfrm>
            <a:off x="4233672" y="2953512"/>
            <a:ext cx="4297680" cy="0"/>
          </a:xfrm>
          <a:prstGeom prst="line">
            <a:avLst/>
          </a:prstGeom>
          <a:noFill/>
          <a:ln w="6350">
            <a:solidFill>
              <a:srgbClr val="E3E8E4"/>
            </a:solidFill>
            <a:prstDash val="solid"/>
          </a:ln>
        </p:spPr>
      </p:sp>
      <p:sp>
        <p:nvSpPr>
          <p:cNvPr id="179" name="Shape 177"/>
          <p:cNvSpPr/>
          <p:nvPr/>
        </p:nvSpPr>
        <p:spPr>
          <a:xfrm>
            <a:off x="4233672" y="2953512"/>
            <a:ext cx="1600200" cy="393192"/>
          </a:xfrm>
          <a:prstGeom prst="rect">
            <a:avLst/>
          </a:prstGeom>
          <a:solidFill>
            <a:srgbClr val="FFF0BF"/>
          </a:solidFill>
          <a:ln/>
        </p:spPr>
      </p:sp>
      <p:sp>
        <p:nvSpPr>
          <p:cNvPr id="180" name="Text 178"/>
          <p:cNvSpPr txBox="1"/>
          <p:nvPr/>
        </p:nvSpPr>
        <p:spPr>
          <a:xfrm>
            <a:off x="4279392" y="2953512"/>
            <a:ext cx="150876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2633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Fees retained</a:t>
            </a:r>
            <a:endParaRPr lang="en-US" sz="950" dirty="0"/>
          </a:p>
        </p:txBody>
      </p:sp>
      <p:sp>
        <p:nvSpPr>
          <p:cNvPr id="181" name="Shape 179"/>
          <p:cNvSpPr/>
          <p:nvPr/>
        </p:nvSpPr>
        <p:spPr>
          <a:xfrm>
            <a:off x="5833872" y="2953512"/>
            <a:ext cx="640080" cy="393192"/>
          </a:xfrm>
          <a:prstGeom prst="rect">
            <a:avLst/>
          </a:prstGeom>
          <a:solidFill>
            <a:srgbClr val="FFF0BF"/>
          </a:solidFill>
          <a:ln/>
        </p:spPr>
      </p:sp>
      <p:sp>
        <p:nvSpPr>
          <p:cNvPr id="182" name="Text 180"/>
          <p:cNvSpPr txBox="1"/>
          <p:nvPr/>
        </p:nvSpPr>
        <p:spPr>
          <a:xfrm>
            <a:off x="5879592" y="2953512"/>
            <a:ext cx="54864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633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₹4.32 L</a:t>
            </a:r>
            <a:endParaRPr lang="en-US" sz="950" dirty="0"/>
          </a:p>
        </p:txBody>
      </p:sp>
      <p:sp>
        <p:nvSpPr>
          <p:cNvPr id="183" name="Shape 181"/>
          <p:cNvSpPr/>
          <p:nvPr/>
        </p:nvSpPr>
        <p:spPr>
          <a:xfrm>
            <a:off x="6473952" y="2953512"/>
            <a:ext cx="685800" cy="393192"/>
          </a:xfrm>
          <a:prstGeom prst="rect">
            <a:avLst/>
          </a:prstGeom>
          <a:solidFill>
            <a:srgbClr val="FFF0BF"/>
          </a:solidFill>
          <a:ln/>
        </p:spPr>
      </p:sp>
      <p:sp>
        <p:nvSpPr>
          <p:cNvPr id="184" name="Text 182"/>
          <p:cNvSpPr txBox="1"/>
          <p:nvPr/>
        </p:nvSpPr>
        <p:spPr>
          <a:xfrm>
            <a:off x="6519672" y="2953512"/>
            <a:ext cx="59436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633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₹2,928</a:t>
            </a:r>
            <a:endParaRPr lang="en-US" sz="950" dirty="0"/>
          </a:p>
        </p:txBody>
      </p:sp>
      <p:sp>
        <p:nvSpPr>
          <p:cNvPr id="185" name="Shape 183"/>
          <p:cNvSpPr/>
          <p:nvPr/>
        </p:nvSpPr>
        <p:spPr>
          <a:xfrm>
            <a:off x="7159752" y="2953512"/>
            <a:ext cx="731520" cy="393192"/>
          </a:xfrm>
          <a:prstGeom prst="rect">
            <a:avLst/>
          </a:prstGeom>
          <a:solidFill>
            <a:srgbClr val="FFF0BF"/>
          </a:solidFill>
          <a:ln/>
        </p:spPr>
      </p:sp>
      <p:sp>
        <p:nvSpPr>
          <p:cNvPr id="186" name="Text 184"/>
          <p:cNvSpPr txBox="1"/>
          <p:nvPr/>
        </p:nvSpPr>
        <p:spPr>
          <a:xfrm>
            <a:off x="7205472" y="2953512"/>
            <a:ext cx="6400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633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₹89,672</a:t>
            </a:r>
            <a:endParaRPr lang="en-US" sz="950" dirty="0"/>
          </a:p>
        </p:txBody>
      </p:sp>
      <p:sp>
        <p:nvSpPr>
          <p:cNvPr id="187" name="Shape 185"/>
          <p:cNvSpPr/>
          <p:nvPr/>
        </p:nvSpPr>
        <p:spPr>
          <a:xfrm>
            <a:off x="7891272" y="2953512"/>
            <a:ext cx="640080" cy="393192"/>
          </a:xfrm>
          <a:prstGeom prst="rect">
            <a:avLst/>
          </a:prstGeom>
          <a:solidFill>
            <a:srgbClr val="FFF0BF"/>
          </a:solidFill>
          <a:ln/>
        </p:spPr>
      </p:sp>
      <p:sp>
        <p:nvSpPr>
          <p:cNvPr id="188" name="Text 186"/>
          <p:cNvSpPr txBox="1"/>
          <p:nvPr/>
        </p:nvSpPr>
        <p:spPr>
          <a:xfrm>
            <a:off x="7936992" y="2953512"/>
            <a:ext cx="54864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633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₹9.11 L</a:t>
            </a:r>
            <a:endParaRPr lang="en-US" sz="950" dirty="0"/>
          </a:p>
        </p:txBody>
      </p:sp>
      <p:sp>
        <p:nvSpPr>
          <p:cNvPr id="189" name="Shape 187"/>
          <p:cNvSpPr/>
          <p:nvPr/>
        </p:nvSpPr>
        <p:spPr>
          <a:xfrm>
            <a:off x="4233672" y="3346704"/>
            <a:ext cx="4297680" cy="0"/>
          </a:xfrm>
          <a:prstGeom prst="line">
            <a:avLst/>
          </a:prstGeom>
          <a:noFill/>
          <a:ln w="6350">
            <a:solidFill>
              <a:srgbClr val="E3E8E4"/>
            </a:solidFill>
            <a:prstDash val="solid"/>
          </a:ln>
        </p:spPr>
      </p:sp>
      <p:sp>
        <p:nvSpPr>
          <p:cNvPr id="190" name="Shape 188"/>
          <p:cNvSpPr/>
          <p:nvPr/>
        </p:nvSpPr>
        <p:spPr>
          <a:xfrm>
            <a:off x="4233672" y="3346704"/>
            <a:ext cx="1600200" cy="393192"/>
          </a:xfrm>
          <a:prstGeom prst="rect">
            <a:avLst/>
          </a:prstGeom>
          <a:solidFill>
            <a:srgbClr val="F1F7F3"/>
          </a:solidFill>
          <a:ln/>
        </p:spPr>
      </p:sp>
      <p:sp>
        <p:nvSpPr>
          <p:cNvPr id="191" name="Text 189"/>
          <p:cNvSpPr txBox="1"/>
          <p:nvPr/>
        </p:nvSpPr>
        <p:spPr>
          <a:xfrm>
            <a:off x="4279392" y="3346704"/>
            <a:ext cx="150876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2633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value</a:t>
            </a:r>
            <a:endParaRPr lang="en-US" sz="950" dirty="0"/>
          </a:p>
        </p:txBody>
      </p:sp>
      <p:sp>
        <p:nvSpPr>
          <p:cNvPr id="192" name="Shape 190"/>
          <p:cNvSpPr/>
          <p:nvPr/>
        </p:nvSpPr>
        <p:spPr>
          <a:xfrm>
            <a:off x="5833872" y="3346704"/>
            <a:ext cx="640080" cy="393192"/>
          </a:xfrm>
          <a:prstGeom prst="rect">
            <a:avLst/>
          </a:prstGeom>
          <a:solidFill>
            <a:srgbClr val="F1F7F3"/>
          </a:solidFill>
          <a:ln/>
        </p:spPr>
      </p:sp>
      <p:sp>
        <p:nvSpPr>
          <p:cNvPr id="193" name="Text 191"/>
          <p:cNvSpPr txBox="1"/>
          <p:nvPr/>
        </p:nvSpPr>
        <p:spPr>
          <a:xfrm>
            <a:off x="5879592" y="3346704"/>
            <a:ext cx="54864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2633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₹4.32 L</a:t>
            </a:r>
            <a:endParaRPr lang="en-US" sz="950" dirty="0"/>
          </a:p>
        </p:txBody>
      </p:sp>
      <p:sp>
        <p:nvSpPr>
          <p:cNvPr id="194" name="Shape 192"/>
          <p:cNvSpPr/>
          <p:nvPr/>
        </p:nvSpPr>
        <p:spPr>
          <a:xfrm>
            <a:off x="6473952" y="3346704"/>
            <a:ext cx="685800" cy="393192"/>
          </a:xfrm>
          <a:prstGeom prst="rect">
            <a:avLst/>
          </a:prstGeom>
          <a:solidFill>
            <a:srgbClr val="F1F7F3"/>
          </a:solidFill>
          <a:ln/>
        </p:spPr>
      </p:sp>
      <p:sp>
        <p:nvSpPr>
          <p:cNvPr id="195" name="Text 193"/>
          <p:cNvSpPr txBox="1"/>
          <p:nvPr/>
        </p:nvSpPr>
        <p:spPr>
          <a:xfrm>
            <a:off x="6519672" y="3346704"/>
            <a:ext cx="59436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2633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₹11,928</a:t>
            </a:r>
            <a:endParaRPr lang="en-US" sz="950" dirty="0"/>
          </a:p>
        </p:txBody>
      </p:sp>
      <p:sp>
        <p:nvSpPr>
          <p:cNvPr id="196" name="Shape 194"/>
          <p:cNvSpPr/>
          <p:nvPr/>
        </p:nvSpPr>
        <p:spPr>
          <a:xfrm>
            <a:off x="7159752" y="3346704"/>
            <a:ext cx="731520" cy="393192"/>
          </a:xfrm>
          <a:prstGeom prst="rect">
            <a:avLst/>
          </a:prstGeom>
          <a:solidFill>
            <a:srgbClr val="F1F7F3"/>
          </a:solidFill>
          <a:ln/>
        </p:spPr>
      </p:sp>
      <p:sp>
        <p:nvSpPr>
          <p:cNvPr id="197" name="Text 195"/>
          <p:cNvSpPr txBox="1"/>
          <p:nvPr/>
        </p:nvSpPr>
        <p:spPr>
          <a:xfrm>
            <a:off x="7205472" y="3346704"/>
            <a:ext cx="6400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2633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₹3.48 L</a:t>
            </a:r>
            <a:endParaRPr lang="en-US" sz="950" dirty="0"/>
          </a:p>
        </p:txBody>
      </p:sp>
      <p:sp>
        <p:nvSpPr>
          <p:cNvPr id="198" name="Shape 196"/>
          <p:cNvSpPr/>
          <p:nvPr/>
        </p:nvSpPr>
        <p:spPr>
          <a:xfrm>
            <a:off x="7891272" y="3346704"/>
            <a:ext cx="640080" cy="393192"/>
          </a:xfrm>
          <a:prstGeom prst="rect">
            <a:avLst/>
          </a:prstGeom>
          <a:solidFill>
            <a:srgbClr val="F1F7F3"/>
          </a:solidFill>
          <a:ln/>
        </p:spPr>
      </p:sp>
      <p:sp>
        <p:nvSpPr>
          <p:cNvPr id="199" name="Text 197"/>
          <p:cNvSpPr txBox="1"/>
          <p:nvPr/>
        </p:nvSpPr>
        <p:spPr>
          <a:xfrm>
            <a:off x="7936992" y="3346704"/>
            <a:ext cx="54864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2633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₹21.5 L</a:t>
            </a:r>
            <a:endParaRPr lang="en-US" sz="950" dirty="0"/>
          </a:p>
        </p:txBody>
      </p:sp>
      <p:sp>
        <p:nvSpPr>
          <p:cNvPr id="200" name="Shape 198"/>
          <p:cNvSpPr/>
          <p:nvPr/>
        </p:nvSpPr>
        <p:spPr>
          <a:xfrm>
            <a:off x="4233672" y="3739896"/>
            <a:ext cx="4297680" cy="0"/>
          </a:xfrm>
          <a:prstGeom prst="line">
            <a:avLst/>
          </a:prstGeom>
          <a:noFill/>
          <a:ln w="6350">
            <a:solidFill>
              <a:srgbClr val="E3E8E4"/>
            </a:solidFill>
            <a:prstDash val="solid"/>
          </a:ln>
        </p:spPr>
      </p:sp>
      <p:sp>
        <p:nvSpPr>
          <p:cNvPr id="201" name="Shape 199"/>
          <p:cNvSpPr/>
          <p:nvPr/>
        </p:nvSpPr>
        <p:spPr>
          <a:xfrm>
            <a:off x="4233672" y="3739896"/>
            <a:ext cx="1600200" cy="39319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02" name="Text 200"/>
          <p:cNvSpPr txBox="1"/>
          <p:nvPr/>
        </p:nvSpPr>
        <p:spPr>
          <a:xfrm>
            <a:off x="4279392" y="3739896"/>
            <a:ext cx="150876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2633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cost to institute</a:t>
            </a:r>
            <a:endParaRPr lang="en-US" sz="950" dirty="0"/>
          </a:p>
        </p:txBody>
      </p:sp>
      <p:sp>
        <p:nvSpPr>
          <p:cNvPr id="203" name="Shape 201"/>
          <p:cNvSpPr/>
          <p:nvPr/>
        </p:nvSpPr>
        <p:spPr>
          <a:xfrm>
            <a:off x="5833872" y="3739896"/>
            <a:ext cx="640080" cy="39319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04" name="Text 202"/>
          <p:cNvSpPr txBox="1"/>
          <p:nvPr/>
        </p:nvSpPr>
        <p:spPr>
          <a:xfrm>
            <a:off x="5879592" y="3739896"/>
            <a:ext cx="54864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2633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₹1.92 L</a:t>
            </a:r>
            <a:endParaRPr lang="en-US" sz="950" dirty="0"/>
          </a:p>
        </p:txBody>
      </p:sp>
      <p:sp>
        <p:nvSpPr>
          <p:cNvPr id="205" name="Shape 203"/>
          <p:cNvSpPr/>
          <p:nvPr/>
        </p:nvSpPr>
        <p:spPr>
          <a:xfrm>
            <a:off x="6473952" y="3739896"/>
            <a:ext cx="685800" cy="39319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06" name="Text 204"/>
          <p:cNvSpPr txBox="1"/>
          <p:nvPr/>
        </p:nvSpPr>
        <p:spPr>
          <a:xfrm>
            <a:off x="6519672" y="3739896"/>
            <a:ext cx="59436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2633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₹78,544</a:t>
            </a:r>
            <a:endParaRPr lang="en-US" sz="950" dirty="0"/>
          </a:p>
        </p:txBody>
      </p:sp>
      <p:sp>
        <p:nvSpPr>
          <p:cNvPr id="207" name="Shape 205"/>
          <p:cNvSpPr/>
          <p:nvPr/>
        </p:nvSpPr>
        <p:spPr>
          <a:xfrm>
            <a:off x="7159752" y="3739896"/>
            <a:ext cx="731520" cy="39319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08" name="Text 206"/>
          <p:cNvSpPr txBox="1"/>
          <p:nvPr/>
        </p:nvSpPr>
        <p:spPr>
          <a:xfrm>
            <a:off x="7205472" y="3739896"/>
            <a:ext cx="6400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2633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₹1.20 L</a:t>
            </a:r>
            <a:endParaRPr lang="en-US" sz="950" dirty="0"/>
          </a:p>
        </p:txBody>
      </p:sp>
      <p:sp>
        <p:nvSpPr>
          <p:cNvPr id="209" name="Shape 207"/>
          <p:cNvSpPr/>
          <p:nvPr/>
        </p:nvSpPr>
        <p:spPr>
          <a:xfrm>
            <a:off x="7891272" y="3739896"/>
            <a:ext cx="640080" cy="39319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10" name="Text 208"/>
          <p:cNvSpPr txBox="1"/>
          <p:nvPr/>
        </p:nvSpPr>
        <p:spPr>
          <a:xfrm>
            <a:off x="7936992" y="3739896"/>
            <a:ext cx="54864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2633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₹1.53 L</a:t>
            </a:r>
            <a:endParaRPr lang="en-US" sz="950" dirty="0"/>
          </a:p>
        </p:txBody>
      </p:sp>
      <p:sp>
        <p:nvSpPr>
          <p:cNvPr id="211" name="Shape 209"/>
          <p:cNvSpPr/>
          <p:nvPr/>
        </p:nvSpPr>
        <p:spPr>
          <a:xfrm>
            <a:off x="4233672" y="4133088"/>
            <a:ext cx="4297680" cy="0"/>
          </a:xfrm>
          <a:prstGeom prst="line">
            <a:avLst/>
          </a:prstGeom>
          <a:noFill/>
          <a:ln w="6350">
            <a:solidFill>
              <a:srgbClr val="E3E8E4"/>
            </a:solidFill>
            <a:prstDash val="solid"/>
          </a:ln>
        </p:spPr>
      </p:sp>
      <p:sp>
        <p:nvSpPr>
          <p:cNvPr id="212" name="Shape 210"/>
          <p:cNvSpPr/>
          <p:nvPr/>
        </p:nvSpPr>
        <p:spPr>
          <a:xfrm>
            <a:off x="4233672" y="4133088"/>
            <a:ext cx="1600200" cy="393192"/>
          </a:xfrm>
          <a:prstGeom prst="rect">
            <a:avLst/>
          </a:prstGeom>
          <a:solidFill>
            <a:srgbClr val="D3F0DF"/>
          </a:solidFill>
          <a:ln/>
        </p:spPr>
      </p:sp>
      <p:sp>
        <p:nvSpPr>
          <p:cNvPr id="213" name="Text 211"/>
          <p:cNvSpPr txBox="1"/>
          <p:nvPr/>
        </p:nvSpPr>
        <p:spPr>
          <a:xfrm>
            <a:off x="4279392" y="4133088"/>
            <a:ext cx="150876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2633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Return, all benefits</a:t>
            </a:r>
            <a:endParaRPr lang="en-US" sz="950" dirty="0"/>
          </a:p>
        </p:txBody>
      </p:sp>
      <p:sp>
        <p:nvSpPr>
          <p:cNvPr id="214" name="Shape 212"/>
          <p:cNvSpPr/>
          <p:nvPr/>
        </p:nvSpPr>
        <p:spPr>
          <a:xfrm>
            <a:off x="5833872" y="4133088"/>
            <a:ext cx="640080" cy="393192"/>
          </a:xfrm>
          <a:prstGeom prst="rect">
            <a:avLst/>
          </a:prstGeom>
          <a:solidFill>
            <a:srgbClr val="D3F0DF"/>
          </a:solidFill>
          <a:ln/>
        </p:spPr>
      </p:sp>
      <p:sp>
        <p:nvSpPr>
          <p:cNvPr id="215" name="Text 213"/>
          <p:cNvSpPr txBox="1"/>
          <p:nvPr/>
        </p:nvSpPr>
        <p:spPr>
          <a:xfrm>
            <a:off x="5879592" y="4133088"/>
            <a:ext cx="54864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633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2.25x</a:t>
            </a:r>
            <a:endParaRPr lang="en-US" sz="950" dirty="0"/>
          </a:p>
        </p:txBody>
      </p:sp>
      <p:sp>
        <p:nvSpPr>
          <p:cNvPr id="216" name="Shape 214"/>
          <p:cNvSpPr/>
          <p:nvPr/>
        </p:nvSpPr>
        <p:spPr>
          <a:xfrm>
            <a:off x="6473952" y="4133088"/>
            <a:ext cx="685800" cy="393192"/>
          </a:xfrm>
          <a:prstGeom prst="rect">
            <a:avLst/>
          </a:prstGeom>
          <a:solidFill>
            <a:srgbClr val="D3F0DF"/>
          </a:solidFill>
          <a:ln/>
        </p:spPr>
      </p:sp>
      <p:sp>
        <p:nvSpPr>
          <p:cNvPr id="217" name="Text 215"/>
          <p:cNvSpPr txBox="1"/>
          <p:nvPr/>
        </p:nvSpPr>
        <p:spPr>
          <a:xfrm>
            <a:off x="6519672" y="4133088"/>
            <a:ext cx="59436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633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0.15x</a:t>
            </a:r>
            <a:endParaRPr lang="en-US" sz="950" dirty="0"/>
          </a:p>
        </p:txBody>
      </p:sp>
      <p:sp>
        <p:nvSpPr>
          <p:cNvPr id="218" name="Shape 216"/>
          <p:cNvSpPr/>
          <p:nvPr/>
        </p:nvSpPr>
        <p:spPr>
          <a:xfrm>
            <a:off x="7159752" y="4133088"/>
            <a:ext cx="731520" cy="393192"/>
          </a:xfrm>
          <a:prstGeom prst="rect">
            <a:avLst/>
          </a:prstGeom>
          <a:solidFill>
            <a:srgbClr val="D3F0DF"/>
          </a:solidFill>
          <a:ln/>
        </p:spPr>
      </p:sp>
      <p:sp>
        <p:nvSpPr>
          <p:cNvPr id="219" name="Text 217"/>
          <p:cNvSpPr txBox="1"/>
          <p:nvPr/>
        </p:nvSpPr>
        <p:spPr>
          <a:xfrm>
            <a:off x="7205472" y="4133088"/>
            <a:ext cx="6400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633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2.9x</a:t>
            </a:r>
            <a:endParaRPr lang="en-US" sz="950" dirty="0"/>
          </a:p>
        </p:txBody>
      </p:sp>
      <p:sp>
        <p:nvSpPr>
          <p:cNvPr id="220" name="Shape 218"/>
          <p:cNvSpPr/>
          <p:nvPr/>
        </p:nvSpPr>
        <p:spPr>
          <a:xfrm>
            <a:off x="7891272" y="4133088"/>
            <a:ext cx="640080" cy="393192"/>
          </a:xfrm>
          <a:prstGeom prst="rect">
            <a:avLst/>
          </a:prstGeom>
          <a:solidFill>
            <a:srgbClr val="D3F0DF"/>
          </a:solidFill>
          <a:ln/>
        </p:spPr>
      </p:sp>
      <p:sp>
        <p:nvSpPr>
          <p:cNvPr id="221" name="Text 219"/>
          <p:cNvSpPr txBox="1"/>
          <p:nvPr/>
        </p:nvSpPr>
        <p:spPr>
          <a:xfrm>
            <a:off x="7936992" y="4133088"/>
            <a:ext cx="54864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633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14x</a:t>
            </a:r>
            <a:endParaRPr lang="en-US" sz="950" dirty="0"/>
          </a:p>
        </p:txBody>
      </p:sp>
      <p:sp>
        <p:nvSpPr>
          <p:cNvPr id="222" name="Shape 220"/>
          <p:cNvSpPr/>
          <p:nvPr/>
        </p:nvSpPr>
        <p:spPr>
          <a:xfrm>
            <a:off x="4233672" y="4526280"/>
            <a:ext cx="4297680" cy="0"/>
          </a:xfrm>
          <a:prstGeom prst="line">
            <a:avLst/>
          </a:prstGeom>
          <a:noFill/>
          <a:ln w="6350">
            <a:solidFill>
              <a:srgbClr val="E3E8E4"/>
            </a:solidFill>
            <a:prstDash val="solid"/>
          </a:ln>
        </p:spPr>
      </p:sp>
      <p:sp>
        <p:nvSpPr>
          <p:cNvPr id="223" name="Shape 221"/>
          <p:cNvSpPr/>
          <p:nvPr/>
        </p:nvSpPr>
        <p:spPr>
          <a:xfrm>
            <a:off x="4233672" y="4526280"/>
            <a:ext cx="1600200" cy="393192"/>
          </a:xfrm>
          <a:prstGeom prst="rect">
            <a:avLst/>
          </a:prstGeom>
          <a:solidFill>
            <a:srgbClr val="D3F0DF"/>
          </a:solidFill>
          <a:ln/>
        </p:spPr>
      </p:sp>
      <p:sp>
        <p:nvSpPr>
          <p:cNvPr id="224" name="Text 222"/>
          <p:cNvSpPr txBox="1"/>
          <p:nvPr/>
        </p:nvSpPr>
        <p:spPr>
          <a:xfrm>
            <a:off x="4279392" y="4526280"/>
            <a:ext cx="150876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2633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Return, fees only</a:t>
            </a:r>
            <a:endParaRPr lang="en-US" sz="950" dirty="0"/>
          </a:p>
        </p:txBody>
      </p:sp>
      <p:sp>
        <p:nvSpPr>
          <p:cNvPr id="225" name="Shape 223"/>
          <p:cNvSpPr/>
          <p:nvPr/>
        </p:nvSpPr>
        <p:spPr>
          <a:xfrm>
            <a:off x="5833872" y="4526280"/>
            <a:ext cx="640080" cy="393192"/>
          </a:xfrm>
          <a:prstGeom prst="rect">
            <a:avLst/>
          </a:prstGeom>
          <a:solidFill>
            <a:srgbClr val="D3F0DF"/>
          </a:solidFill>
          <a:ln/>
        </p:spPr>
      </p:sp>
      <p:sp>
        <p:nvSpPr>
          <p:cNvPr id="226" name="Text 224"/>
          <p:cNvSpPr txBox="1"/>
          <p:nvPr/>
        </p:nvSpPr>
        <p:spPr>
          <a:xfrm>
            <a:off x="5879592" y="4526280"/>
            <a:ext cx="54864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633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2.25x</a:t>
            </a:r>
            <a:endParaRPr lang="en-US" sz="950" dirty="0"/>
          </a:p>
        </p:txBody>
      </p:sp>
      <p:sp>
        <p:nvSpPr>
          <p:cNvPr id="227" name="Shape 225"/>
          <p:cNvSpPr/>
          <p:nvPr/>
        </p:nvSpPr>
        <p:spPr>
          <a:xfrm>
            <a:off x="6473952" y="4526280"/>
            <a:ext cx="685800" cy="393192"/>
          </a:xfrm>
          <a:prstGeom prst="rect">
            <a:avLst/>
          </a:prstGeom>
          <a:solidFill>
            <a:srgbClr val="D3F0DF"/>
          </a:solidFill>
          <a:ln/>
        </p:spPr>
      </p:sp>
      <p:sp>
        <p:nvSpPr>
          <p:cNvPr id="228" name="Text 226"/>
          <p:cNvSpPr txBox="1"/>
          <p:nvPr/>
        </p:nvSpPr>
        <p:spPr>
          <a:xfrm>
            <a:off x="6519672" y="4526280"/>
            <a:ext cx="59436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633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0.04x</a:t>
            </a:r>
            <a:endParaRPr lang="en-US" sz="950" dirty="0"/>
          </a:p>
        </p:txBody>
      </p:sp>
      <p:sp>
        <p:nvSpPr>
          <p:cNvPr id="229" name="Shape 227"/>
          <p:cNvSpPr/>
          <p:nvPr/>
        </p:nvSpPr>
        <p:spPr>
          <a:xfrm>
            <a:off x="7159752" y="4526280"/>
            <a:ext cx="731520" cy="393192"/>
          </a:xfrm>
          <a:prstGeom prst="rect">
            <a:avLst/>
          </a:prstGeom>
          <a:solidFill>
            <a:srgbClr val="D3F0DF"/>
          </a:solidFill>
          <a:ln/>
        </p:spPr>
      </p:sp>
      <p:sp>
        <p:nvSpPr>
          <p:cNvPr id="230" name="Text 228"/>
          <p:cNvSpPr txBox="1"/>
          <p:nvPr/>
        </p:nvSpPr>
        <p:spPr>
          <a:xfrm>
            <a:off x="7205472" y="4526280"/>
            <a:ext cx="6400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633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0.75x</a:t>
            </a:r>
            <a:endParaRPr lang="en-US" sz="950" dirty="0"/>
          </a:p>
        </p:txBody>
      </p:sp>
      <p:sp>
        <p:nvSpPr>
          <p:cNvPr id="231" name="Shape 229"/>
          <p:cNvSpPr/>
          <p:nvPr/>
        </p:nvSpPr>
        <p:spPr>
          <a:xfrm>
            <a:off x="7891272" y="4526280"/>
            <a:ext cx="640080" cy="393192"/>
          </a:xfrm>
          <a:prstGeom prst="rect">
            <a:avLst/>
          </a:prstGeom>
          <a:solidFill>
            <a:srgbClr val="D3F0DF"/>
          </a:solidFill>
          <a:ln/>
        </p:spPr>
      </p:sp>
      <p:sp>
        <p:nvSpPr>
          <p:cNvPr id="232" name="Text 230"/>
          <p:cNvSpPr txBox="1"/>
          <p:nvPr/>
        </p:nvSpPr>
        <p:spPr>
          <a:xfrm>
            <a:off x="7936992" y="4526280"/>
            <a:ext cx="54864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633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5.9x</a:t>
            </a:r>
            <a:endParaRPr lang="en-US" sz="950" dirty="0"/>
          </a:p>
        </p:txBody>
      </p:sp>
      <p:sp>
        <p:nvSpPr>
          <p:cNvPr id="233" name="Shape 231"/>
          <p:cNvSpPr/>
          <p:nvPr/>
        </p:nvSpPr>
        <p:spPr>
          <a:xfrm>
            <a:off x="4233672" y="4919472"/>
            <a:ext cx="4297680" cy="0"/>
          </a:xfrm>
          <a:prstGeom prst="line">
            <a:avLst/>
          </a:prstGeom>
          <a:noFill/>
          <a:ln w="6350">
            <a:solidFill>
              <a:srgbClr val="E3E8E4"/>
            </a:solidFill>
            <a:prstDash val="solid"/>
          </a:ln>
        </p:spPr>
      </p:sp>
      <p:sp>
        <p:nvSpPr>
          <p:cNvPr id="234" name="Shape 232"/>
          <p:cNvSpPr/>
          <p:nvPr/>
        </p:nvSpPr>
        <p:spPr>
          <a:xfrm>
            <a:off x="4233672" y="4919472"/>
            <a:ext cx="1600200" cy="393192"/>
          </a:xfrm>
          <a:prstGeom prst="rect">
            <a:avLst/>
          </a:prstGeom>
          <a:solidFill>
            <a:srgbClr val="FFF0BF"/>
          </a:solidFill>
          <a:ln/>
        </p:spPr>
      </p:sp>
      <p:sp>
        <p:nvSpPr>
          <p:cNvPr id="235" name="Text 233"/>
          <p:cNvSpPr txBox="1"/>
          <p:nvPr/>
        </p:nvSpPr>
        <p:spPr>
          <a:xfrm>
            <a:off x="4279392" y="4919472"/>
            <a:ext cx="150876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2633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Students to save to break even</a:t>
            </a:r>
            <a:endParaRPr lang="en-US" sz="950" dirty="0"/>
          </a:p>
        </p:txBody>
      </p:sp>
      <p:sp>
        <p:nvSpPr>
          <p:cNvPr id="236" name="Shape 234"/>
          <p:cNvSpPr/>
          <p:nvPr/>
        </p:nvSpPr>
        <p:spPr>
          <a:xfrm>
            <a:off x="5833872" y="4919472"/>
            <a:ext cx="640080" cy="393192"/>
          </a:xfrm>
          <a:prstGeom prst="rect">
            <a:avLst/>
          </a:prstGeom>
          <a:solidFill>
            <a:srgbClr val="FFF0BF"/>
          </a:solidFill>
          <a:ln/>
        </p:spPr>
      </p:sp>
      <p:sp>
        <p:nvSpPr>
          <p:cNvPr id="237" name="Text 235"/>
          <p:cNvSpPr txBox="1"/>
          <p:nvPr/>
        </p:nvSpPr>
        <p:spPr>
          <a:xfrm>
            <a:off x="5879592" y="4919472"/>
            <a:ext cx="54864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633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5.3</a:t>
            </a:r>
            <a:endParaRPr lang="en-US" sz="950" dirty="0"/>
          </a:p>
        </p:txBody>
      </p:sp>
      <p:sp>
        <p:nvSpPr>
          <p:cNvPr id="238" name="Shape 236"/>
          <p:cNvSpPr/>
          <p:nvPr/>
        </p:nvSpPr>
        <p:spPr>
          <a:xfrm>
            <a:off x="6473952" y="4919472"/>
            <a:ext cx="685800" cy="393192"/>
          </a:xfrm>
          <a:prstGeom prst="rect">
            <a:avLst/>
          </a:prstGeom>
          <a:solidFill>
            <a:srgbClr val="FFF0BF"/>
          </a:solidFill>
          <a:ln/>
        </p:spPr>
      </p:sp>
      <p:sp>
        <p:nvSpPr>
          <p:cNvPr id="239" name="Text 237"/>
          <p:cNvSpPr txBox="1"/>
          <p:nvPr/>
        </p:nvSpPr>
        <p:spPr>
          <a:xfrm>
            <a:off x="6519672" y="4919472"/>
            <a:ext cx="59436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633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6.5</a:t>
            </a:r>
            <a:endParaRPr lang="en-US" sz="950" dirty="0"/>
          </a:p>
        </p:txBody>
      </p:sp>
      <p:sp>
        <p:nvSpPr>
          <p:cNvPr id="240" name="Shape 238"/>
          <p:cNvSpPr/>
          <p:nvPr/>
        </p:nvSpPr>
        <p:spPr>
          <a:xfrm>
            <a:off x="7159752" y="4919472"/>
            <a:ext cx="731520" cy="393192"/>
          </a:xfrm>
          <a:prstGeom prst="rect">
            <a:avLst/>
          </a:prstGeom>
          <a:solidFill>
            <a:srgbClr val="FFF0BF"/>
          </a:solidFill>
          <a:ln/>
        </p:spPr>
      </p:sp>
      <p:sp>
        <p:nvSpPr>
          <p:cNvPr id="241" name="Text 239"/>
          <p:cNvSpPr txBox="1"/>
          <p:nvPr/>
        </p:nvSpPr>
        <p:spPr>
          <a:xfrm>
            <a:off x="7205472" y="4919472"/>
            <a:ext cx="6400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633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3.5</a:t>
            </a:r>
            <a:endParaRPr lang="en-US" sz="950" dirty="0"/>
          </a:p>
        </p:txBody>
      </p:sp>
      <p:sp>
        <p:nvSpPr>
          <p:cNvPr id="242" name="Shape 240"/>
          <p:cNvSpPr/>
          <p:nvPr/>
        </p:nvSpPr>
        <p:spPr>
          <a:xfrm>
            <a:off x="7891272" y="4919472"/>
            <a:ext cx="640080" cy="393192"/>
          </a:xfrm>
          <a:prstGeom prst="rect">
            <a:avLst/>
          </a:prstGeom>
          <a:solidFill>
            <a:srgbClr val="FFF0BF"/>
          </a:solidFill>
          <a:ln/>
        </p:spPr>
      </p:sp>
      <p:sp>
        <p:nvSpPr>
          <p:cNvPr id="243" name="Text 241"/>
          <p:cNvSpPr txBox="1"/>
          <p:nvPr/>
        </p:nvSpPr>
        <p:spPr>
          <a:xfrm>
            <a:off x="7936992" y="4919472"/>
            <a:ext cx="54864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633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2.7</a:t>
            </a:r>
            <a:endParaRPr lang="en-US" sz="950" dirty="0"/>
          </a:p>
        </p:txBody>
      </p:sp>
      <p:sp>
        <p:nvSpPr>
          <p:cNvPr id="244" name="Shape 242"/>
          <p:cNvSpPr/>
          <p:nvPr/>
        </p:nvSpPr>
        <p:spPr>
          <a:xfrm>
            <a:off x="4233672" y="5312664"/>
            <a:ext cx="4297680" cy="0"/>
          </a:xfrm>
          <a:prstGeom prst="line">
            <a:avLst/>
          </a:prstGeom>
          <a:noFill/>
          <a:ln w="6350">
            <a:solidFill>
              <a:srgbClr val="E3E8E4"/>
            </a:solidFill>
            <a:prstDash val="solid"/>
          </a:ln>
        </p:spPr>
      </p:sp>
      <p:sp>
        <p:nvSpPr>
          <p:cNvPr id="245" name="Shape 243"/>
          <p:cNvSpPr/>
          <p:nvPr/>
        </p:nvSpPr>
        <p:spPr>
          <a:xfrm>
            <a:off x="4251960" y="5468112"/>
            <a:ext cx="1060704" cy="21945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9701A"/>
            </a:solidFill>
            <a:prstDash val="solid"/>
          </a:ln>
        </p:spPr>
      </p:sp>
      <p:sp>
        <p:nvSpPr>
          <p:cNvPr id="246" name="Text 244"/>
          <p:cNvSpPr txBox="1"/>
          <p:nvPr/>
        </p:nvSpPr>
        <p:spPr>
          <a:xfrm>
            <a:off x="4251960" y="5468112"/>
            <a:ext cx="10607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D970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OUTPUT</a:t>
            </a:r>
            <a:endParaRPr lang="en-US" sz="900" dirty="0"/>
          </a:p>
        </p:txBody>
      </p:sp>
      <p:sp>
        <p:nvSpPr>
          <p:cNvPr id="247" name="Text 245"/>
          <p:cNvSpPr txBox="1"/>
          <p:nvPr/>
        </p:nvSpPr>
        <p:spPr>
          <a:xfrm>
            <a:off x="4251960" y="5742432"/>
            <a:ext cx="4251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5B67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cost includes the fee, GST net of what institutes reclaim, and mentor time.</a:t>
            </a:r>
            <a:endParaRPr lang="en-US" sz="950" dirty="0"/>
          </a:p>
        </p:txBody>
      </p:sp>
      <p:sp>
        <p:nvSpPr>
          <p:cNvPr id="248" name="Shape 246"/>
          <p:cNvSpPr/>
          <p:nvPr/>
        </p:nvSpPr>
        <p:spPr>
          <a:xfrm>
            <a:off x="8732520" y="1115568"/>
            <a:ext cx="3047695" cy="5212080"/>
          </a:xfrm>
          <a:prstGeom prst="rect">
            <a:avLst/>
          </a:prstGeom>
          <a:solidFill>
            <a:srgbClr val="FFFFFF"/>
          </a:solidFill>
          <a:ln w="15875">
            <a:solidFill>
              <a:srgbClr val="2F80D1"/>
            </a:solidFill>
            <a:prstDash val="solid"/>
          </a:ln>
        </p:spPr>
      </p:sp>
      <p:sp>
        <p:nvSpPr>
          <p:cNvPr id="249" name="Shape 247"/>
          <p:cNvSpPr/>
          <p:nvPr/>
        </p:nvSpPr>
        <p:spPr>
          <a:xfrm>
            <a:off x="8732520" y="1115568"/>
            <a:ext cx="3047695" cy="301752"/>
          </a:xfrm>
          <a:prstGeom prst="rect">
            <a:avLst/>
          </a:prstGeom>
          <a:solidFill>
            <a:srgbClr val="2F80D1"/>
          </a:solidFill>
          <a:ln/>
        </p:spPr>
      </p:sp>
      <p:sp>
        <p:nvSpPr>
          <p:cNvPr id="250" name="Text 248"/>
          <p:cNvSpPr txBox="1"/>
          <p:nvPr/>
        </p:nvSpPr>
        <p:spPr>
          <a:xfrm>
            <a:off x="8842248" y="1115568"/>
            <a:ext cx="2828239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VALUE VS COST AND WHAT IT MEANS</a:t>
            </a:r>
            <a:endParaRPr lang="en-US" sz="1150" dirty="0"/>
          </a:p>
        </p:txBody>
      </p:sp>
      <p:pic>
        <p:nvPicPr>
          <p:cNvPr id="251" name="Image 0" descr="Value vs cost by scenari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23960" y="1463040"/>
            <a:ext cx="2864815" cy="2177260"/>
          </a:xfrm>
          <a:prstGeom prst="rect">
            <a:avLst/>
          </a:prstGeom>
        </p:spPr>
      </p:pic>
      <p:sp>
        <p:nvSpPr>
          <p:cNvPr id="252" name="Shape 249"/>
          <p:cNvSpPr/>
          <p:nvPr/>
        </p:nvSpPr>
        <p:spPr>
          <a:xfrm>
            <a:off x="8823960" y="3840480"/>
            <a:ext cx="2864815" cy="274320"/>
          </a:xfrm>
          <a:prstGeom prst="rect">
            <a:avLst/>
          </a:prstGeom>
          <a:solidFill>
            <a:srgbClr val="0E7C4F"/>
          </a:solidFill>
          <a:ln/>
        </p:spPr>
      </p:sp>
      <p:sp>
        <p:nvSpPr>
          <p:cNvPr id="253" name="Text 250"/>
          <p:cNvSpPr txBox="1"/>
          <p:nvPr/>
        </p:nvSpPr>
        <p:spPr>
          <a:xfrm>
            <a:off x="8897112" y="3840480"/>
            <a:ext cx="271851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INSIGHTS</a:t>
            </a:r>
            <a:endParaRPr lang="en-US" sz="1100" dirty="0"/>
          </a:p>
        </p:txBody>
      </p:sp>
      <p:sp>
        <p:nvSpPr>
          <p:cNvPr id="254" name="Shape 251"/>
          <p:cNvSpPr/>
          <p:nvPr/>
        </p:nvSpPr>
        <p:spPr>
          <a:xfrm>
            <a:off x="8823960" y="4114800"/>
            <a:ext cx="2864815" cy="2103120"/>
          </a:xfrm>
          <a:prstGeom prst="rect">
            <a:avLst/>
          </a:prstGeom>
          <a:solidFill>
            <a:srgbClr val="FFF0BF"/>
          </a:solidFill>
          <a:ln/>
        </p:spPr>
      </p:sp>
      <p:sp>
        <p:nvSpPr>
          <p:cNvPr id="255" name="Text 252"/>
          <p:cNvSpPr txBox="1"/>
          <p:nvPr/>
        </p:nvSpPr>
        <p:spPr>
          <a:xfrm>
            <a:off x="8897112" y="4160520"/>
            <a:ext cx="2718511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633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Fees alone return 0.75x: they do not cover the cost on their own.</a:t>
            </a:r>
            <a:endParaRPr lang="en-US" sz="1050" dirty="0"/>
          </a:p>
          <a:p>
            <a:pPr algn="l" marL="152400" indent="-1524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633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Fees plus staff time reach about break-even; every 1 % admissions uplift adds about ₹2.3 lakh.</a:t>
            </a:r>
            <a:endParaRPr lang="en-US" sz="1050" dirty="0"/>
          </a:p>
          <a:p>
            <a:pPr algn="l" marL="152400" indent="-1524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633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Save 3 to 4 students a year and it pays for itself.</a:t>
            </a:r>
            <a:endParaRPr lang="en-US" sz="1050" dirty="0"/>
          </a:p>
          <a:p>
            <a:pPr algn="l" marL="152400" indent="-1524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633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Platform cost is 0.3 % of a student's fee.</a:t>
            </a:r>
            <a:endParaRPr lang="en-US" sz="1050" dirty="0"/>
          </a:p>
        </p:txBody>
      </p:sp>
      <p:sp>
        <p:nvSpPr>
          <p:cNvPr id="256" name="Text 253"/>
          <p:cNvSpPr txBox="1"/>
          <p:nvPr/>
        </p:nvSpPr>
        <p:spPr>
          <a:xfrm>
            <a:off x="411480" y="6464808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5B67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financial workbook (Assumptions, Scenarios). Model output, not measured; dropout effect borrowed from 8 trials in comparable settings (mean 15.8 %).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92240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75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5"/>
          <p:cNvSpPr/>
          <p:nvPr>
            <p:ph idx="105" type="title" hasCustomPrompt="1"/>
          </p:nvPr>
        </p:nvSpPr>
        <p:spPr>
          <a:xfrm>
            <a:off x="411480" y="310896"/>
            <a:ext cx="113687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E2B2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economics are real, but thinner than the guide's 10x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7589520" y="182880"/>
            <a:ext cx="41879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b="1" spc="150" kern="0" dirty="0">
                <a:solidFill>
                  <a:srgbClr val="5B67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MODEL AND UNIT ECONOMICS 20 %</a:t>
            </a:r>
            <a:endParaRPr lang="en-US" sz="950" dirty="0"/>
          </a:p>
        </p:txBody>
      </p:sp>
      <p:sp>
        <p:nvSpPr>
          <p:cNvPr id="4" name="Shape 2"/>
          <p:cNvSpPr/>
          <p:nvPr/>
        </p:nvSpPr>
        <p:spPr>
          <a:xfrm>
            <a:off x="411480" y="1115568"/>
            <a:ext cx="3977640" cy="5212080"/>
          </a:xfrm>
          <a:prstGeom prst="roundRect">
            <a:avLst>
              <a:gd name="adj" fmla="val 3218"/>
            </a:avLst>
          </a:prstGeom>
          <a:solidFill>
            <a:srgbClr val="E4F5EC"/>
          </a:solidFill>
          <a:ln/>
        </p:spPr>
      </p:sp>
      <p:sp>
        <p:nvSpPr>
          <p:cNvPr id="5" name="Shape 3"/>
          <p:cNvSpPr/>
          <p:nvPr/>
        </p:nvSpPr>
        <p:spPr>
          <a:xfrm>
            <a:off x="557784" y="1220724"/>
            <a:ext cx="128016" cy="128016"/>
          </a:xfrm>
          <a:prstGeom prst="ellipse">
            <a:avLst/>
          </a:prstGeom>
          <a:solidFill>
            <a:srgbClr val="1FA971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58952" y="1161288"/>
            <a:ext cx="3520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50" kern="0" dirty="0">
                <a:solidFill>
                  <a:srgbClr val="0E7C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ECONOMICS (MID, BASE)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84632" y="1463040"/>
            <a:ext cx="1737360" cy="292608"/>
          </a:xfrm>
          <a:prstGeom prst="rect">
            <a:avLst/>
          </a:prstGeom>
          <a:solidFill>
            <a:srgbClr val="1F63A8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463040"/>
            <a:ext cx="1645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institute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2221992" y="1463040"/>
            <a:ext cx="868680" cy="292608"/>
          </a:xfrm>
          <a:prstGeom prst="rect">
            <a:avLst/>
          </a:prstGeom>
          <a:solidFill>
            <a:srgbClr val="5B675F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2267712" y="1463040"/>
            <a:ext cx="777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Guide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090672" y="1463040"/>
            <a:ext cx="1188720" cy="292608"/>
          </a:xfrm>
          <a:prstGeom prst="rect">
            <a:avLst/>
          </a:prstGeom>
          <a:solidFill>
            <a:srgbClr val="0E7C4F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3136392" y="1463040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Pragati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84632" y="1755648"/>
            <a:ext cx="1737360" cy="384048"/>
          </a:xfrm>
          <a:prstGeom prst="rect">
            <a:avLst/>
          </a:prstGeom>
          <a:solidFill>
            <a:srgbClr val="FFF0BF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30352" y="1755648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633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LTV ÷ acquisition cost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2221992" y="1755648"/>
            <a:ext cx="868680" cy="384048"/>
          </a:xfrm>
          <a:prstGeom prst="rect">
            <a:avLst/>
          </a:prstGeom>
          <a:solidFill>
            <a:srgbClr val="FFF0BF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2267712" y="1755648"/>
            <a:ext cx="777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633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10.7x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090672" y="1755648"/>
            <a:ext cx="1188720" cy="384048"/>
          </a:xfrm>
          <a:prstGeom prst="rect">
            <a:avLst/>
          </a:prstGeom>
          <a:solidFill>
            <a:srgbClr val="FFF0BF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3136392" y="1755648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633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3.7x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84632" y="2139696"/>
            <a:ext cx="3794760" cy="0"/>
          </a:xfrm>
          <a:prstGeom prst="line">
            <a:avLst/>
          </a:prstGeom>
          <a:noFill/>
          <a:ln w="6350">
            <a:solidFill>
              <a:srgbClr val="E3E8E4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84632" y="2139696"/>
            <a:ext cx="1737360" cy="384048"/>
          </a:xfrm>
          <a:prstGeom prst="rect">
            <a:avLst/>
          </a:prstGeom>
          <a:solidFill>
            <a:srgbClr val="F1F7F3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530352" y="2139696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633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Payback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2221992" y="2139696"/>
            <a:ext cx="868680" cy="384048"/>
          </a:xfrm>
          <a:prstGeom prst="rect">
            <a:avLst/>
          </a:prstGeom>
          <a:solidFill>
            <a:srgbClr val="F1F7F3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2267712" y="2139696"/>
            <a:ext cx="777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633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3.1 months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3090672" y="2139696"/>
            <a:ext cx="1188720" cy="384048"/>
          </a:xfrm>
          <a:prstGeom prst="rect">
            <a:avLst/>
          </a:prstGeom>
          <a:solidFill>
            <a:srgbClr val="F1F7F3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3136392" y="2139696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633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months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84632" y="2523744"/>
            <a:ext cx="3794760" cy="0"/>
          </a:xfrm>
          <a:prstGeom prst="line">
            <a:avLst/>
          </a:prstGeom>
          <a:noFill/>
          <a:ln w="6350">
            <a:solidFill>
              <a:srgbClr val="E3E8E4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84632" y="2523744"/>
            <a:ext cx="1737360" cy="38404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530352" y="2523744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633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Contribution margin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2221992" y="2523744"/>
            <a:ext cx="868680" cy="38404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2267712" y="2523744"/>
            <a:ext cx="777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633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66 %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3090672" y="2523744"/>
            <a:ext cx="1188720" cy="38404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3136392" y="2523744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633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78 %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484632" y="2907792"/>
            <a:ext cx="3794760" cy="0"/>
          </a:xfrm>
          <a:prstGeom prst="line">
            <a:avLst/>
          </a:prstGeom>
          <a:noFill/>
          <a:ln w="6350">
            <a:solidFill>
              <a:srgbClr val="E3E8E4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84632" y="2907792"/>
            <a:ext cx="1737360" cy="384048"/>
          </a:xfrm>
          <a:prstGeom prst="rect">
            <a:avLst/>
          </a:prstGeom>
          <a:solidFill>
            <a:srgbClr val="F1F7F3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530352" y="2907792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633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Lifetime value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2221992" y="2907792"/>
            <a:ext cx="868680" cy="384048"/>
          </a:xfrm>
          <a:prstGeom prst="rect">
            <a:avLst/>
          </a:prstGeom>
          <a:solidFill>
            <a:srgbClr val="F1F7F3"/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2267712" y="2907792"/>
            <a:ext cx="777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633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₹3.53 lakh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3090672" y="2907792"/>
            <a:ext cx="1188720" cy="384048"/>
          </a:xfrm>
          <a:prstGeom prst="rect">
            <a:avLst/>
          </a:prstGeom>
          <a:solidFill>
            <a:srgbClr val="F1F7F3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3136392" y="2907792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633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₹1.30 lakh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484632" y="3291840"/>
            <a:ext cx="3794760" cy="0"/>
          </a:xfrm>
          <a:prstGeom prst="line">
            <a:avLst/>
          </a:prstGeom>
          <a:noFill/>
          <a:ln w="6350">
            <a:solidFill>
              <a:srgbClr val="E3E8E4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484632" y="3291840"/>
            <a:ext cx="1737360" cy="38404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530352" y="3291840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633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Acquisition cost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2221992" y="3291840"/>
            <a:ext cx="868680" cy="38404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2267712" y="3291840"/>
            <a:ext cx="777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633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₹33,000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3090672" y="3291840"/>
            <a:ext cx="1188720" cy="38404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3136392" y="3291840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633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₹35,492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484632" y="3675888"/>
            <a:ext cx="3794760" cy="0"/>
          </a:xfrm>
          <a:prstGeom prst="line">
            <a:avLst/>
          </a:prstGeom>
          <a:noFill/>
          <a:ln w="6350">
            <a:solidFill>
              <a:srgbClr val="E3E8E4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484632" y="3675888"/>
            <a:ext cx="1737360" cy="384048"/>
          </a:xfrm>
          <a:prstGeom prst="rect">
            <a:avLst/>
          </a:prstGeom>
          <a:solidFill>
            <a:srgbClr val="F1F7F3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530352" y="3675888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633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Revenue, monthly</a:t>
            </a:r>
            <a:endParaRPr lang="en-US" sz="1000" dirty="0"/>
          </a:p>
        </p:txBody>
      </p:sp>
      <p:sp>
        <p:nvSpPr>
          <p:cNvPr id="50" name="Shape 48"/>
          <p:cNvSpPr/>
          <p:nvPr/>
        </p:nvSpPr>
        <p:spPr>
          <a:xfrm>
            <a:off x="2221992" y="3675888"/>
            <a:ext cx="868680" cy="384048"/>
          </a:xfrm>
          <a:prstGeom prst="rect">
            <a:avLst/>
          </a:prstGeom>
          <a:solidFill>
            <a:srgbClr val="F1F7F3"/>
          </a:solidFill>
          <a:ln/>
        </p:spPr>
      </p:sp>
      <p:sp>
        <p:nvSpPr>
          <p:cNvPr id="51" name="Text 49"/>
          <p:cNvSpPr txBox="1"/>
          <p:nvPr/>
        </p:nvSpPr>
        <p:spPr>
          <a:xfrm>
            <a:off x="2267712" y="3675888"/>
            <a:ext cx="777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633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₹16,000</a:t>
            </a:r>
            <a:endParaRPr lang="en-US" sz="1000" dirty="0"/>
          </a:p>
        </p:txBody>
      </p:sp>
      <p:sp>
        <p:nvSpPr>
          <p:cNvPr id="52" name="Shape 50"/>
          <p:cNvSpPr/>
          <p:nvPr/>
        </p:nvSpPr>
        <p:spPr>
          <a:xfrm>
            <a:off x="3090672" y="3675888"/>
            <a:ext cx="1188720" cy="384048"/>
          </a:xfrm>
          <a:prstGeom prst="rect">
            <a:avLst/>
          </a:prstGeom>
          <a:solidFill>
            <a:srgbClr val="F1F7F3"/>
          </a:solidFill>
          <a:ln/>
        </p:spPr>
      </p:sp>
      <p:sp>
        <p:nvSpPr>
          <p:cNvPr id="53" name="Text 51"/>
          <p:cNvSpPr txBox="1"/>
          <p:nvPr/>
        </p:nvSpPr>
        <p:spPr>
          <a:xfrm>
            <a:off x="3136392" y="3675888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633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₹8,612</a:t>
            </a:r>
            <a:endParaRPr lang="en-US" sz="1000" dirty="0"/>
          </a:p>
        </p:txBody>
      </p:sp>
      <p:sp>
        <p:nvSpPr>
          <p:cNvPr id="54" name="Shape 52"/>
          <p:cNvSpPr/>
          <p:nvPr/>
        </p:nvSpPr>
        <p:spPr>
          <a:xfrm>
            <a:off x="484632" y="4059936"/>
            <a:ext cx="3794760" cy="0"/>
          </a:xfrm>
          <a:prstGeom prst="line">
            <a:avLst/>
          </a:prstGeom>
          <a:noFill/>
          <a:ln w="6350">
            <a:solidFill>
              <a:srgbClr val="E3E8E4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484632" y="4059936"/>
            <a:ext cx="1737360" cy="38404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6" name="Text 54"/>
          <p:cNvSpPr txBox="1"/>
          <p:nvPr/>
        </p:nvSpPr>
        <p:spPr>
          <a:xfrm>
            <a:off x="530352" y="4059936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633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Contribution, monthly</a:t>
            </a:r>
            <a:endParaRPr lang="en-US" sz="1000" dirty="0"/>
          </a:p>
        </p:txBody>
      </p:sp>
      <p:sp>
        <p:nvSpPr>
          <p:cNvPr id="57" name="Shape 55"/>
          <p:cNvSpPr/>
          <p:nvPr/>
        </p:nvSpPr>
        <p:spPr>
          <a:xfrm>
            <a:off x="2221992" y="4059936"/>
            <a:ext cx="868680" cy="38404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8" name="Text 56"/>
          <p:cNvSpPr txBox="1"/>
          <p:nvPr/>
        </p:nvSpPr>
        <p:spPr>
          <a:xfrm>
            <a:off x="2267712" y="4059936"/>
            <a:ext cx="777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633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₹10,600</a:t>
            </a:r>
            <a:endParaRPr lang="en-US" sz="1000" dirty="0"/>
          </a:p>
        </p:txBody>
      </p:sp>
      <p:sp>
        <p:nvSpPr>
          <p:cNvPr id="59" name="Shape 57"/>
          <p:cNvSpPr/>
          <p:nvPr/>
        </p:nvSpPr>
        <p:spPr>
          <a:xfrm>
            <a:off x="3090672" y="4059936"/>
            <a:ext cx="1188720" cy="38404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0" name="Text 58"/>
          <p:cNvSpPr txBox="1"/>
          <p:nvPr/>
        </p:nvSpPr>
        <p:spPr>
          <a:xfrm>
            <a:off x="3136392" y="4059936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633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₹6,740</a:t>
            </a:r>
            <a:endParaRPr lang="en-US" sz="1000" dirty="0"/>
          </a:p>
        </p:txBody>
      </p:sp>
      <p:sp>
        <p:nvSpPr>
          <p:cNvPr id="61" name="Shape 59"/>
          <p:cNvSpPr/>
          <p:nvPr/>
        </p:nvSpPr>
        <p:spPr>
          <a:xfrm>
            <a:off x="484632" y="4443984"/>
            <a:ext cx="3794760" cy="0"/>
          </a:xfrm>
          <a:prstGeom prst="line">
            <a:avLst/>
          </a:prstGeom>
          <a:noFill/>
          <a:ln w="6350">
            <a:solidFill>
              <a:srgbClr val="E3E8E4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484632" y="4443984"/>
            <a:ext cx="1737360" cy="384048"/>
          </a:xfrm>
          <a:prstGeom prst="rect">
            <a:avLst/>
          </a:prstGeom>
          <a:solidFill>
            <a:srgbClr val="F1F7F3"/>
          </a:solidFill>
          <a:ln/>
        </p:spPr>
      </p:sp>
      <p:sp>
        <p:nvSpPr>
          <p:cNvPr id="63" name="Text 61"/>
          <p:cNvSpPr txBox="1"/>
          <p:nvPr/>
        </p:nvSpPr>
        <p:spPr>
          <a:xfrm>
            <a:off x="530352" y="4443984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633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Annual logo retention</a:t>
            </a:r>
            <a:endParaRPr lang="en-US" sz="1000" dirty="0"/>
          </a:p>
        </p:txBody>
      </p:sp>
      <p:sp>
        <p:nvSpPr>
          <p:cNvPr id="64" name="Shape 62"/>
          <p:cNvSpPr/>
          <p:nvPr/>
        </p:nvSpPr>
        <p:spPr>
          <a:xfrm>
            <a:off x="2221992" y="4443984"/>
            <a:ext cx="868680" cy="384048"/>
          </a:xfrm>
          <a:prstGeom prst="rect">
            <a:avLst/>
          </a:prstGeom>
          <a:solidFill>
            <a:srgbClr val="F1F7F3"/>
          </a:solidFill>
          <a:ln/>
        </p:spPr>
      </p:sp>
      <p:sp>
        <p:nvSpPr>
          <p:cNvPr id="65" name="Text 63"/>
          <p:cNvSpPr txBox="1"/>
          <p:nvPr/>
        </p:nvSpPr>
        <p:spPr>
          <a:xfrm>
            <a:off x="2267712" y="4443984"/>
            <a:ext cx="777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633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69 %</a:t>
            </a:r>
            <a:endParaRPr lang="en-US" sz="1000" dirty="0"/>
          </a:p>
        </p:txBody>
      </p:sp>
      <p:sp>
        <p:nvSpPr>
          <p:cNvPr id="66" name="Shape 64"/>
          <p:cNvSpPr/>
          <p:nvPr/>
        </p:nvSpPr>
        <p:spPr>
          <a:xfrm>
            <a:off x="3090672" y="4443984"/>
            <a:ext cx="1188720" cy="384048"/>
          </a:xfrm>
          <a:prstGeom prst="rect">
            <a:avLst/>
          </a:prstGeom>
          <a:solidFill>
            <a:srgbClr val="F1F7F3"/>
          </a:solidFill>
          <a:ln/>
        </p:spPr>
      </p:sp>
      <p:sp>
        <p:nvSpPr>
          <p:cNvPr id="67" name="Text 65"/>
          <p:cNvSpPr txBox="1"/>
          <p:nvPr/>
        </p:nvSpPr>
        <p:spPr>
          <a:xfrm>
            <a:off x="3136392" y="4443984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633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64 %</a:t>
            </a:r>
            <a:endParaRPr lang="en-US" sz="1000" dirty="0"/>
          </a:p>
        </p:txBody>
      </p:sp>
      <p:sp>
        <p:nvSpPr>
          <p:cNvPr id="68" name="Shape 66"/>
          <p:cNvSpPr/>
          <p:nvPr/>
        </p:nvSpPr>
        <p:spPr>
          <a:xfrm>
            <a:off x="484632" y="4828032"/>
            <a:ext cx="3794760" cy="0"/>
          </a:xfrm>
          <a:prstGeom prst="line">
            <a:avLst/>
          </a:prstGeom>
          <a:noFill/>
          <a:ln w="6350">
            <a:solidFill>
              <a:srgbClr val="E3E8E4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484632" y="4828032"/>
            <a:ext cx="1737360" cy="384048"/>
          </a:xfrm>
          <a:prstGeom prst="rect">
            <a:avLst/>
          </a:prstGeom>
          <a:solidFill>
            <a:srgbClr val="D3F0DF"/>
          </a:solidFill>
          <a:ln/>
        </p:spPr>
      </p:sp>
      <p:sp>
        <p:nvSpPr>
          <p:cNvPr id="70" name="Text 68"/>
          <p:cNvSpPr txBox="1"/>
          <p:nvPr/>
        </p:nvSpPr>
        <p:spPr>
          <a:xfrm>
            <a:off x="530352" y="4828032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633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Institutes to cover fixed team cost</a:t>
            </a:r>
            <a:endParaRPr lang="en-US" sz="1000" dirty="0"/>
          </a:p>
        </p:txBody>
      </p:sp>
      <p:sp>
        <p:nvSpPr>
          <p:cNvPr id="71" name="Shape 69"/>
          <p:cNvSpPr/>
          <p:nvPr/>
        </p:nvSpPr>
        <p:spPr>
          <a:xfrm>
            <a:off x="2221992" y="4828032"/>
            <a:ext cx="868680" cy="384048"/>
          </a:xfrm>
          <a:prstGeom prst="rect">
            <a:avLst/>
          </a:prstGeom>
          <a:solidFill>
            <a:srgbClr val="D3F0DF"/>
          </a:solidFill>
          <a:ln/>
        </p:spPr>
      </p:sp>
      <p:sp>
        <p:nvSpPr>
          <p:cNvPr id="72" name="Text 70"/>
          <p:cNvSpPr txBox="1"/>
          <p:nvPr/>
        </p:nvSpPr>
        <p:spPr>
          <a:xfrm>
            <a:off x="2267712" y="4828032"/>
            <a:ext cx="777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633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n/a</a:t>
            </a:r>
            <a:endParaRPr lang="en-US" sz="1000" dirty="0"/>
          </a:p>
        </p:txBody>
      </p:sp>
      <p:sp>
        <p:nvSpPr>
          <p:cNvPr id="73" name="Shape 71"/>
          <p:cNvSpPr/>
          <p:nvPr/>
        </p:nvSpPr>
        <p:spPr>
          <a:xfrm>
            <a:off x="3090672" y="4828032"/>
            <a:ext cx="1188720" cy="384048"/>
          </a:xfrm>
          <a:prstGeom prst="rect">
            <a:avLst/>
          </a:prstGeom>
          <a:solidFill>
            <a:srgbClr val="D3F0DF"/>
          </a:solidFill>
          <a:ln/>
        </p:spPr>
      </p:sp>
      <p:sp>
        <p:nvSpPr>
          <p:cNvPr id="74" name="Text 72"/>
          <p:cNvSpPr txBox="1"/>
          <p:nvPr/>
        </p:nvSpPr>
        <p:spPr>
          <a:xfrm>
            <a:off x="3136392" y="4828032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633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1000" dirty="0"/>
          </a:p>
        </p:txBody>
      </p:sp>
      <p:sp>
        <p:nvSpPr>
          <p:cNvPr id="75" name="Shape 73"/>
          <p:cNvSpPr/>
          <p:nvPr/>
        </p:nvSpPr>
        <p:spPr>
          <a:xfrm>
            <a:off x="484632" y="5212080"/>
            <a:ext cx="3794760" cy="0"/>
          </a:xfrm>
          <a:prstGeom prst="line">
            <a:avLst/>
          </a:prstGeom>
          <a:noFill/>
          <a:ln w="6350">
            <a:solidFill>
              <a:srgbClr val="E3E8E4"/>
            </a:solidFill>
            <a:prstDash val="solid"/>
          </a:ln>
        </p:spPr>
      </p:sp>
      <p:sp>
        <p:nvSpPr>
          <p:cNvPr id="76" name="Shape 74"/>
          <p:cNvSpPr/>
          <p:nvPr/>
        </p:nvSpPr>
        <p:spPr>
          <a:xfrm>
            <a:off x="502920" y="5285232"/>
            <a:ext cx="1060704" cy="21945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9701A"/>
            </a:solidFill>
            <a:prstDash val="solid"/>
          </a:ln>
        </p:spPr>
      </p:sp>
      <p:sp>
        <p:nvSpPr>
          <p:cNvPr id="77" name="Text 75"/>
          <p:cNvSpPr txBox="1"/>
          <p:nvPr/>
        </p:nvSpPr>
        <p:spPr>
          <a:xfrm>
            <a:off x="502920" y="5285232"/>
            <a:ext cx="10607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D970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OUTPUT</a:t>
            </a:r>
            <a:endParaRPr lang="en-US" sz="900" dirty="0"/>
          </a:p>
        </p:txBody>
      </p:sp>
      <p:sp>
        <p:nvSpPr>
          <p:cNvPr id="78" name="Text 76"/>
          <p:cNvSpPr txBox="1"/>
          <p:nvPr/>
        </p:nvSpPr>
        <p:spPr>
          <a:xfrm>
            <a:off x="502920" y="5559552"/>
            <a:ext cx="3794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2633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thinner: seasonal billing, 20 % non-renewal after the session, pilots that do not convert, and a price near the top of what ERPs charge.</a:t>
            </a:r>
            <a:endParaRPr lang="en-US" sz="1000" dirty="0"/>
          </a:p>
        </p:txBody>
      </p:sp>
      <p:sp>
        <p:nvSpPr>
          <p:cNvPr id="79" name="Shape 77"/>
          <p:cNvSpPr/>
          <p:nvPr/>
        </p:nvSpPr>
        <p:spPr>
          <a:xfrm>
            <a:off x="4526280" y="1115568"/>
            <a:ext cx="3749040" cy="5212080"/>
          </a:xfrm>
          <a:prstGeom prst="roundRect">
            <a:avLst>
              <a:gd name="adj" fmla="val 3415"/>
            </a:avLst>
          </a:prstGeom>
          <a:solidFill>
            <a:srgbClr val="FFEBD6"/>
          </a:solidFill>
          <a:ln/>
        </p:spPr>
      </p:sp>
      <p:sp>
        <p:nvSpPr>
          <p:cNvPr id="80" name="Shape 78"/>
          <p:cNvSpPr/>
          <p:nvPr/>
        </p:nvSpPr>
        <p:spPr>
          <a:xfrm>
            <a:off x="4672584" y="1220724"/>
            <a:ext cx="128016" cy="128016"/>
          </a:xfrm>
          <a:prstGeom prst="ellipse">
            <a:avLst/>
          </a:prstGeom>
          <a:solidFill>
            <a:srgbClr val="F28C28"/>
          </a:solidFill>
          <a:ln/>
        </p:spPr>
      </p:sp>
      <p:sp>
        <p:nvSpPr>
          <p:cNvPr id="81" name="Text 79"/>
          <p:cNvSpPr txBox="1"/>
          <p:nvPr/>
        </p:nvSpPr>
        <p:spPr>
          <a:xfrm>
            <a:off x="4873752" y="1161288"/>
            <a:ext cx="3291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50" kern="0" dirty="0">
                <a:solidFill>
                  <a:srgbClr val="D970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SENSITIVITY: WHAT MOVES THE ANSWER</a:t>
            </a:r>
            <a:endParaRPr lang="en-US" sz="1200" dirty="0"/>
          </a:p>
        </p:txBody>
      </p:sp>
      <p:sp>
        <p:nvSpPr>
          <p:cNvPr id="82" name="Text 80"/>
          <p:cNvSpPr txBox="1"/>
          <p:nvPr/>
        </p:nvSpPr>
        <p:spPr>
          <a:xfrm>
            <a:off x="4617720" y="1463040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E2B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Institute return (x), by effective reduction and list price</a:t>
            </a:r>
            <a:endParaRPr lang="en-US" sz="1000" dirty="0"/>
          </a:p>
        </p:txBody>
      </p:sp>
      <p:sp>
        <p:nvSpPr>
          <p:cNvPr id="83" name="Text 81"/>
          <p:cNvSpPr txBox="1"/>
          <p:nvPr/>
        </p:nvSpPr>
        <p:spPr>
          <a:xfrm>
            <a:off x="5074920" y="1700784"/>
            <a:ext cx="5120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5B67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₹20</a:t>
            </a:r>
            <a:endParaRPr lang="en-US" sz="950" dirty="0"/>
          </a:p>
        </p:txBody>
      </p:sp>
      <p:sp>
        <p:nvSpPr>
          <p:cNvPr id="84" name="Text 82"/>
          <p:cNvSpPr txBox="1"/>
          <p:nvPr/>
        </p:nvSpPr>
        <p:spPr>
          <a:xfrm>
            <a:off x="5586984" y="1700784"/>
            <a:ext cx="5120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5B67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₹30</a:t>
            </a:r>
            <a:endParaRPr lang="en-US" sz="950" dirty="0"/>
          </a:p>
        </p:txBody>
      </p:sp>
      <p:sp>
        <p:nvSpPr>
          <p:cNvPr id="85" name="Text 83"/>
          <p:cNvSpPr txBox="1"/>
          <p:nvPr/>
        </p:nvSpPr>
        <p:spPr>
          <a:xfrm>
            <a:off x="6099048" y="1700784"/>
            <a:ext cx="5120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5B67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₹40</a:t>
            </a:r>
            <a:endParaRPr lang="en-US" sz="950" dirty="0"/>
          </a:p>
        </p:txBody>
      </p:sp>
      <p:sp>
        <p:nvSpPr>
          <p:cNvPr id="86" name="Text 84"/>
          <p:cNvSpPr txBox="1"/>
          <p:nvPr/>
        </p:nvSpPr>
        <p:spPr>
          <a:xfrm>
            <a:off x="6611112" y="1700784"/>
            <a:ext cx="5120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5B67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₹50</a:t>
            </a:r>
            <a:endParaRPr lang="en-US" sz="950" dirty="0"/>
          </a:p>
        </p:txBody>
      </p:sp>
      <p:sp>
        <p:nvSpPr>
          <p:cNvPr id="87" name="Text 85"/>
          <p:cNvSpPr txBox="1"/>
          <p:nvPr/>
        </p:nvSpPr>
        <p:spPr>
          <a:xfrm>
            <a:off x="7123176" y="1700784"/>
            <a:ext cx="5120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5B67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₹60</a:t>
            </a:r>
            <a:endParaRPr lang="en-US" sz="950" dirty="0"/>
          </a:p>
        </p:txBody>
      </p:sp>
      <p:sp>
        <p:nvSpPr>
          <p:cNvPr id="88" name="Text 86"/>
          <p:cNvSpPr txBox="1"/>
          <p:nvPr/>
        </p:nvSpPr>
        <p:spPr>
          <a:xfrm>
            <a:off x="7635240" y="1700784"/>
            <a:ext cx="5120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5B67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₹80</a:t>
            </a:r>
            <a:endParaRPr lang="en-US" sz="950" dirty="0"/>
          </a:p>
        </p:txBody>
      </p:sp>
      <p:sp>
        <p:nvSpPr>
          <p:cNvPr id="89" name="Text 87"/>
          <p:cNvSpPr txBox="1"/>
          <p:nvPr/>
        </p:nvSpPr>
        <p:spPr>
          <a:xfrm>
            <a:off x="4617720" y="194767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5B67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5 %</a:t>
            </a:r>
            <a:endParaRPr lang="en-US" sz="950" dirty="0"/>
          </a:p>
        </p:txBody>
      </p:sp>
      <p:sp>
        <p:nvSpPr>
          <p:cNvPr id="90" name="Shape 88"/>
          <p:cNvSpPr/>
          <p:nvPr/>
        </p:nvSpPr>
        <p:spPr>
          <a:xfrm>
            <a:off x="5088636" y="1961388"/>
            <a:ext cx="484632" cy="246888"/>
          </a:xfrm>
          <a:prstGeom prst="rect">
            <a:avLst/>
          </a:prstGeom>
          <a:solidFill>
            <a:srgbClr val="3EB584"/>
          </a:solidFill>
          <a:ln/>
        </p:spPr>
      </p:sp>
      <p:sp>
        <p:nvSpPr>
          <p:cNvPr id="91" name="Text 89"/>
          <p:cNvSpPr txBox="1"/>
          <p:nvPr/>
        </p:nvSpPr>
        <p:spPr>
          <a:xfrm>
            <a:off x="5074920" y="1947672"/>
            <a:ext cx="5120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4.0x</a:t>
            </a:r>
            <a:endParaRPr lang="en-US" sz="950" dirty="0"/>
          </a:p>
        </p:txBody>
      </p:sp>
      <p:sp>
        <p:nvSpPr>
          <p:cNvPr id="92" name="Shape 90"/>
          <p:cNvSpPr/>
          <p:nvPr/>
        </p:nvSpPr>
        <p:spPr>
          <a:xfrm>
            <a:off x="5600700" y="1961388"/>
            <a:ext cx="484632" cy="246888"/>
          </a:xfrm>
          <a:prstGeom prst="rect">
            <a:avLst/>
          </a:prstGeom>
          <a:solidFill>
            <a:srgbClr val="8BD2B4"/>
          </a:solidFill>
          <a:ln/>
        </p:spPr>
      </p:sp>
      <p:sp>
        <p:nvSpPr>
          <p:cNvPr id="93" name="Text 91"/>
          <p:cNvSpPr txBox="1"/>
          <p:nvPr/>
        </p:nvSpPr>
        <p:spPr>
          <a:xfrm>
            <a:off x="5586984" y="1947672"/>
            <a:ext cx="5120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E2B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2.7x</a:t>
            </a:r>
            <a:endParaRPr lang="en-US" sz="950" dirty="0"/>
          </a:p>
        </p:txBody>
      </p:sp>
      <p:sp>
        <p:nvSpPr>
          <p:cNvPr id="94" name="Shape 92"/>
          <p:cNvSpPr/>
          <p:nvPr/>
        </p:nvSpPr>
        <p:spPr>
          <a:xfrm>
            <a:off x="6112764" y="1961388"/>
            <a:ext cx="484632" cy="246888"/>
          </a:xfrm>
          <a:prstGeom prst="rect">
            <a:avLst/>
          </a:prstGeom>
          <a:solidFill>
            <a:srgbClr val="B2E1CC"/>
          </a:solidFill>
          <a:ln/>
        </p:spPr>
      </p:sp>
      <p:sp>
        <p:nvSpPr>
          <p:cNvPr id="95" name="Text 93"/>
          <p:cNvSpPr txBox="1"/>
          <p:nvPr/>
        </p:nvSpPr>
        <p:spPr>
          <a:xfrm>
            <a:off x="6099048" y="1947672"/>
            <a:ext cx="5120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E2B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2.1x</a:t>
            </a:r>
            <a:endParaRPr lang="en-US" sz="950" dirty="0"/>
          </a:p>
        </p:txBody>
      </p:sp>
      <p:sp>
        <p:nvSpPr>
          <p:cNvPr id="96" name="Shape 94"/>
          <p:cNvSpPr/>
          <p:nvPr/>
        </p:nvSpPr>
        <p:spPr>
          <a:xfrm>
            <a:off x="6624828" y="1961388"/>
            <a:ext cx="484632" cy="246888"/>
          </a:xfrm>
          <a:prstGeom prst="rect">
            <a:avLst/>
          </a:prstGeom>
          <a:solidFill>
            <a:srgbClr val="CBEADB"/>
          </a:solidFill>
          <a:ln/>
        </p:spPr>
      </p:sp>
      <p:sp>
        <p:nvSpPr>
          <p:cNvPr id="97" name="Text 95"/>
          <p:cNvSpPr txBox="1"/>
          <p:nvPr/>
        </p:nvSpPr>
        <p:spPr>
          <a:xfrm>
            <a:off x="6611112" y="1947672"/>
            <a:ext cx="5120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E2B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1.7x</a:t>
            </a:r>
            <a:endParaRPr lang="en-US" sz="950" dirty="0"/>
          </a:p>
        </p:txBody>
      </p:sp>
      <p:sp>
        <p:nvSpPr>
          <p:cNvPr id="98" name="Shape 96"/>
          <p:cNvSpPr/>
          <p:nvPr/>
        </p:nvSpPr>
        <p:spPr>
          <a:xfrm>
            <a:off x="7136892" y="1961388"/>
            <a:ext cx="484632" cy="246888"/>
          </a:xfrm>
          <a:prstGeom prst="rect">
            <a:avLst/>
          </a:prstGeom>
          <a:solidFill>
            <a:srgbClr val="DBF0E5"/>
          </a:solidFill>
          <a:ln/>
        </p:spPr>
      </p:sp>
      <p:sp>
        <p:nvSpPr>
          <p:cNvPr id="99" name="Text 97"/>
          <p:cNvSpPr txBox="1"/>
          <p:nvPr/>
        </p:nvSpPr>
        <p:spPr>
          <a:xfrm>
            <a:off x="7123176" y="1947672"/>
            <a:ext cx="5120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E2B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1.4x</a:t>
            </a:r>
            <a:endParaRPr lang="en-US" sz="950" dirty="0"/>
          </a:p>
        </p:txBody>
      </p:sp>
      <p:sp>
        <p:nvSpPr>
          <p:cNvPr id="100" name="Shape 98"/>
          <p:cNvSpPr/>
          <p:nvPr/>
        </p:nvSpPr>
        <p:spPr>
          <a:xfrm>
            <a:off x="7648956" y="1961388"/>
            <a:ext cx="484632" cy="246888"/>
          </a:xfrm>
          <a:prstGeom prst="rect">
            <a:avLst/>
          </a:prstGeom>
          <a:solidFill>
            <a:srgbClr val="F0F8F2"/>
          </a:solidFill>
          <a:ln/>
        </p:spPr>
      </p:sp>
      <p:sp>
        <p:nvSpPr>
          <p:cNvPr id="101" name="Text 99"/>
          <p:cNvSpPr txBox="1"/>
          <p:nvPr/>
        </p:nvSpPr>
        <p:spPr>
          <a:xfrm>
            <a:off x="7635240" y="1947672"/>
            <a:ext cx="5120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E2B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1.1x</a:t>
            </a:r>
            <a:endParaRPr lang="en-US" sz="950" dirty="0"/>
          </a:p>
        </p:txBody>
      </p:sp>
      <p:sp>
        <p:nvSpPr>
          <p:cNvPr id="102" name="Text 100"/>
          <p:cNvSpPr txBox="1"/>
          <p:nvPr/>
        </p:nvSpPr>
        <p:spPr>
          <a:xfrm>
            <a:off x="4617720" y="222199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5B67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8 %</a:t>
            </a:r>
            <a:endParaRPr lang="en-US" sz="950" dirty="0"/>
          </a:p>
        </p:txBody>
      </p:sp>
      <p:sp>
        <p:nvSpPr>
          <p:cNvPr id="103" name="Shape 101"/>
          <p:cNvSpPr/>
          <p:nvPr/>
        </p:nvSpPr>
        <p:spPr>
          <a:xfrm>
            <a:off x="5088636" y="2235708"/>
            <a:ext cx="484632" cy="246888"/>
          </a:xfrm>
          <a:prstGeom prst="rect">
            <a:avLst/>
          </a:prstGeom>
          <a:solidFill>
            <a:srgbClr val="20A971"/>
          </a:solidFill>
          <a:ln/>
        </p:spPr>
      </p:sp>
      <p:sp>
        <p:nvSpPr>
          <p:cNvPr id="104" name="Text 102"/>
          <p:cNvSpPr txBox="1"/>
          <p:nvPr/>
        </p:nvSpPr>
        <p:spPr>
          <a:xfrm>
            <a:off x="5074920" y="2221992"/>
            <a:ext cx="5120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4.5x</a:t>
            </a:r>
            <a:endParaRPr lang="en-US" sz="950" dirty="0"/>
          </a:p>
        </p:txBody>
      </p:sp>
      <p:sp>
        <p:nvSpPr>
          <p:cNvPr id="105" name="Shape 103"/>
          <p:cNvSpPr/>
          <p:nvPr/>
        </p:nvSpPr>
        <p:spPr>
          <a:xfrm>
            <a:off x="5600700" y="2235708"/>
            <a:ext cx="484632" cy="246888"/>
          </a:xfrm>
          <a:prstGeom prst="rect">
            <a:avLst/>
          </a:prstGeom>
          <a:solidFill>
            <a:srgbClr val="76CAA7"/>
          </a:solidFill>
          <a:ln/>
        </p:spPr>
      </p:sp>
      <p:sp>
        <p:nvSpPr>
          <p:cNvPr id="106" name="Text 104"/>
          <p:cNvSpPr txBox="1"/>
          <p:nvPr/>
        </p:nvSpPr>
        <p:spPr>
          <a:xfrm>
            <a:off x="5586984" y="2221992"/>
            <a:ext cx="5120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E2B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3.0x</a:t>
            </a:r>
            <a:endParaRPr lang="en-US" sz="950" dirty="0"/>
          </a:p>
        </p:txBody>
      </p:sp>
      <p:sp>
        <p:nvSpPr>
          <p:cNvPr id="107" name="Shape 105"/>
          <p:cNvSpPr/>
          <p:nvPr/>
        </p:nvSpPr>
        <p:spPr>
          <a:xfrm>
            <a:off x="6112764" y="2235708"/>
            <a:ext cx="484632" cy="246888"/>
          </a:xfrm>
          <a:prstGeom prst="rect">
            <a:avLst/>
          </a:prstGeom>
          <a:solidFill>
            <a:srgbClr val="A3DBC2"/>
          </a:solidFill>
          <a:ln/>
        </p:spPr>
      </p:sp>
      <p:sp>
        <p:nvSpPr>
          <p:cNvPr id="108" name="Text 106"/>
          <p:cNvSpPr txBox="1"/>
          <p:nvPr/>
        </p:nvSpPr>
        <p:spPr>
          <a:xfrm>
            <a:off x="6099048" y="2221992"/>
            <a:ext cx="5120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E2B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2.3x</a:t>
            </a:r>
            <a:endParaRPr lang="en-US" sz="950" dirty="0"/>
          </a:p>
        </p:txBody>
      </p:sp>
      <p:sp>
        <p:nvSpPr>
          <p:cNvPr id="109" name="Shape 107"/>
          <p:cNvSpPr/>
          <p:nvPr/>
        </p:nvSpPr>
        <p:spPr>
          <a:xfrm>
            <a:off x="6624828" y="2235708"/>
            <a:ext cx="484632" cy="246888"/>
          </a:xfrm>
          <a:prstGeom prst="rect">
            <a:avLst/>
          </a:prstGeom>
          <a:solidFill>
            <a:srgbClr val="BEE5D3"/>
          </a:solidFill>
          <a:ln/>
        </p:spPr>
      </p:sp>
      <p:sp>
        <p:nvSpPr>
          <p:cNvPr id="110" name="Text 108"/>
          <p:cNvSpPr txBox="1"/>
          <p:nvPr/>
        </p:nvSpPr>
        <p:spPr>
          <a:xfrm>
            <a:off x="6611112" y="2221992"/>
            <a:ext cx="5120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E2B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1.9x</a:t>
            </a:r>
            <a:endParaRPr lang="en-US" sz="950" dirty="0"/>
          </a:p>
        </p:txBody>
      </p:sp>
      <p:sp>
        <p:nvSpPr>
          <p:cNvPr id="111" name="Shape 109"/>
          <p:cNvSpPr/>
          <p:nvPr/>
        </p:nvSpPr>
        <p:spPr>
          <a:xfrm>
            <a:off x="7136892" y="2235708"/>
            <a:ext cx="484632" cy="246888"/>
          </a:xfrm>
          <a:prstGeom prst="rect">
            <a:avLst/>
          </a:prstGeom>
          <a:solidFill>
            <a:srgbClr val="D0ECDE"/>
          </a:solidFill>
          <a:ln/>
        </p:spPr>
      </p:sp>
      <p:sp>
        <p:nvSpPr>
          <p:cNvPr id="112" name="Text 110"/>
          <p:cNvSpPr txBox="1"/>
          <p:nvPr/>
        </p:nvSpPr>
        <p:spPr>
          <a:xfrm>
            <a:off x="7123176" y="2221992"/>
            <a:ext cx="5120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E2B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1.6x</a:t>
            </a:r>
            <a:endParaRPr lang="en-US" sz="950" dirty="0"/>
          </a:p>
        </p:txBody>
      </p:sp>
      <p:sp>
        <p:nvSpPr>
          <p:cNvPr id="113" name="Shape 111"/>
          <p:cNvSpPr/>
          <p:nvPr/>
        </p:nvSpPr>
        <p:spPr>
          <a:xfrm>
            <a:off x="7648956" y="2235708"/>
            <a:ext cx="484632" cy="246888"/>
          </a:xfrm>
          <a:prstGeom prst="rect">
            <a:avLst/>
          </a:prstGeom>
          <a:solidFill>
            <a:srgbClr val="E8F5ED"/>
          </a:solidFill>
          <a:ln/>
        </p:spPr>
      </p:sp>
      <p:sp>
        <p:nvSpPr>
          <p:cNvPr id="114" name="Text 112"/>
          <p:cNvSpPr txBox="1"/>
          <p:nvPr/>
        </p:nvSpPr>
        <p:spPr>
          <a:xfrm>
            <a:off x="7635240" y="2221992"/>
            <a:ext cx="5120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E2B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1.2x</a:t>
            </a:r>
            <a:endParaRPr lang="en-US" sz="950" dirty="0"/>
          </a:p>
        </p:txBody>
      </p:sp>
      <p:sp>
        <p:nvSpPr>
          <p:cNvPr id="115" name="Text 113"/>
          <p:cNvSpPr txBox="1"/>
          <p:nvPr/>
        </p:nvSpPr>
        <p:spPr>
          <a:xfrm>
            <a:off x="4617720" y="249631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5B67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11 %</a:t>
            </a:r>
            <a:endParaRPr lang="en-US" sz="950" dirty="0"/>
          </a:p>
        </p:txBody>
      </p:sp>
      <p:sp>
        <p:nvSpPr>
          <p:cNvPr id="116" name="Shape 114"/>
          <p:cNvSpPr/>
          <p:nvPr/>
        </p:nvSpPr>
        <p:spPr>
          <a:xfrm>
            <a:off x="5088636" y="2510028"/>
            <a:ext cx="484632" cy="246888"/>
          </a:xfrm>
          <a:prstGeom prst="rect">
            <a:avLst/>
          </a:prstGeom>
          <a:solidFill>
            <a:srgbClr val="1B9B67"/>
          </a:solidFill>
          <a:ln/>
        </p:spPr>
      </p:sp>
      <p:sp>
        <p:nvSpPr>
          <p:cNvPr id="117" name="Text 115"/>
          <p:cNvSpPr txBox="1"/>
          <p:nvPr/>
        </p:nvSpPr>
        <p:spPr>
          <a:xfrm>
            <a:off x="5074920" y="2496312"/>
            <a:ext cx="5120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5.0x</a:t>
            </a:r>
            <a:endParaRPr lang="en-US" sz="950" dirty="0"/>
          </a:p>
        </p:txBody>
      </p:sp>
      <p:sp>
        <p:nvSpPr>
          <p:cNvPr id="118" name="Shape 116"/>
          <p:cNvSpPr/>
          <p:nvPr/>
        </p:nvSpPr>
        <p:spPr>
          <a:xfrm>
            <a:off x="5600700" y="2510028"/>
            <a:ext cx="484632" cy="246888"/>
          </a:xfrm>
          <a:prstGeom prst="rect">
            <a:avLst/>
          </a:prstGeom>
          <a:solidFill>
            <a:srgbClr val="62C29A"/>
          </a:solidFill>
          <a:ln/>
        </p:spPr>
      </p:sp>
      <p:sp>
        <p:nvSpPr>
          <p:cNvPr id="119" name="Text 117"/>
          <p:cNvSpPr txBox="1"/>
          <p:nvPr/>
        </p:nvSpPr>
        <p:spPr>
          <a:xfrm>
            <a:off x="5586984" y="2496312"/>
            <a:ext cx="5120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E2B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3.4x</a:t>
            </a:r>
            <a:endParaRPr lang="en-US" sz="950" dirty="0"/>
          </a:p>
        </p:txBody>
      </p:sp>
      <p:sp>
        <p:nvSpPr>
          <p:cNvPr id="120" name="Shape 118"/>
          <p:cNvSpPr/>
          <p:nvPr/>
        </p:nvSpPr>
        <p:spPr>
          <a:xfrm>
            <a:off x="6112764" y="2510028"/>
            <a:ext cx="484632" cy="246888"/>
          </a:xfrm>
          <a:prstGeom prst="rect">
            <a:avLst/>
          </a:prstGeom>
          <a:solidFill>
            <a:srgbClr val="93D5B8"/>
          </a:solidFill>
          <a:ln/>
        </p:spPr>
      </p:sp>
      <p:sp>
        <p:nvSpPr>
          <p:cNvPr id="121" name="Text 119"/>
          <p:cNvSpPr txBox="1"/>
          <p:nvPr/>
        </p:nvSpPr>
        <p:spPr>
          <a:xfrm>
            <a:off x="6099048" y="2496312"/>
            <a:ext cx="5120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E2B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2.6x</a:t>
            </a:r>
            <a:endParaRPr lang="en-US" sz="950" dirty="0"/>
          </a:p>
        </p:txBody>
      </p:sp>
      <p:sp>
        <p:nvSpPr>
          <p:cNvPr id="122" name="Shape 120"/>
          <p:cNvSpPr/>
          <p:nvPr/>
        </p:nvSpPr>
        <p:spPr>
          <a:xfrm>
            <a:off x="6624828" y="2510028"/>
            <a:ext cx="484632" cy="246888"/>
          </a:xfrm>
          <a:prstGeom prst="rect">
            <a:avLst/>
          </a:prstGeom>
          <a:solidFill>
            <a:srgbClr val="B1E0CB"/>
          </a:solidFill>
          <a:ln/>
        </p:spPr>
      </p:sp>
      <p:sp>
        <p:nvSpPr>
          <p:cNvPr id="123" name="Text 121"/>
          <p:cNvSpPr txBox="1"/>
          <p:nvPr/>
        </p:nvSpPr>
        <p:spPr>
          <a:xfrm>
            <a:off x="6611112" y="2496312"/>
            <a:ext cx="5120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E2B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2.1x</a:t>
            </a:r>
            <a:endParaRPr lang="en-US" sz="950" dirty="0"/>
          </a:p>
        </p:txBody>
      </p:sp>
      <p:sp>
        <p:nvSpPr>
          <p:cNvPr id="124" name="Shape 122"/>
          <p:cNvSpPr/>
          <p:nvPr/>
        </p:nvSpPr>
        <p:spPr>
          <a:xfrm>
            <a:off x="7136892" y="2510028"/>
            <a:ext cx="484632" cy="246888"/>
          </a:xfrm>
          <a:prstGeom prst="rect">
            <a:avLst/>
          </a:prstGeom>
          <a:solidFill>
            <a:srgbClr val="C6E8D8"/>
          </a:solidFill>
          <a:ln/>
        </p:spPr>
      </p:sp>
      <p:sp>
        <p:nvSpPr>
          <p:cNvPr id="125" name="Text 123"/>
          <p:cNvSpPr txBox="1"/>
          <p:nvPr/>
        </p:nvSpPr>
        <p:spPr>
          <a:xfrm>
            <a:off x="7123176" y="2496312"/>
            <a:ext cx="5120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E2B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1.7x</a:t>
            </a:r>
            <a:endParaRPr lang="en-US" sz="950" dirty="0"/>
          </a:p>
        </p:txBody>
      </p:sp>
      <p:sp>
        <p:nvSpPr>
          <p:cNvPr id="126" name="Shape 124"/>
          <p:cNvSpPr/>
          <p:nvPr/>
        </p:nvSpPr>
        <p:spPr>
          <a:xfrm>
            <a:off x="7648956" y="2510028"/>
            <a:ext cx="484632" cy="246888"/>
          </a:xfrm>
          <a:prstGeom prst="rect">
            <a:avLst/>
          </a:prstGeom>
          <a:solidFill>
            <a:srgbClr val="E0F2E8"/>
          </a:solidFill>
          <a:ln/>
        </p:spPr>
      </p:sp>
      <p:sp>
        <p:nvSpPr>
          <p:cNvPr id="127" name="Text 125"/>
          <p:cNvSpPr txBox="1"/>
          <p:nvPr/>
        </p:nvSpPr>
        <p:spPr>
          <a:xfrm>
            <a:off x="7635240" y="2496312"/>
            <a:ext cx="5120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E2B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1.3x</a:t>
            </a:r>
            <a:endParaRPr lang="en-US" sz="950" dirty="0"/>
          </a:p>
        </p:txBody>
      </p:sp>
      <p:sp>
        <p:nvSpPr>
          <p:cNvPr id="128" name="Text 126"/>
          <p:cNvSpPr txBox="1"/>
          <p:nvPr/>
        </p:nvSpPr>
        <p:spPr>
          <a:xfrm>
            <a:off x="4617720" y="277063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5B67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15 %</a:t>
            </a:r>
            <a:endParaRPr lang="en-US" sz="950" dirty="0"/>
          </a:p>
        </p:txBody>
      </p:sp>
      <p:sp>
        <p:nvSpPr>
          <p:cNvPr id="129" name="Shape 127"/>
          <p:cNvSpPr/>
          <p:nvPr/>
        </p:nvSpPr>
        <p:spPr>
          <a:xfrm>
            <a:off x="5088636" y="2784348"/>
            <a:ext cx="484632" cy="246888"/>
          </a:xfrm>
          <a:prstGeom prst="rect">
            <a:avLst/>
          </a:prstGeom>
          <a:solidFill>
            <a:srgbClr val="16895A"/>
          </a:solidFill>
          <a:ln/>
        </p:spPr>
      </p:sp>
      <p:sp>
        <p:nvSpPr>
          <p:cNvPr id="130" name="Text 128"/>
          <p:cNvSpPr txBox="1"/>
          <p:nvPr/>
        </p:nvSpPr>
        <p:spPr>
          <a:xfrm>
            <a:off x="5074920" y="2770632"/>
            <a:ext cx="5120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5.6x</a:t>
            </a:r>
            <a:endParaRPr lang="en-US" sz="950" dirty="0"/>
          </a:p>
        </p:txBody>
      </p:sp>
      <p:sp>
        <p:nvSpPr>
          <p:cNvPr id="131" name="Shape 129"/>
          <p:cNvSpPr/>
          <p:nvPr/>
        </p:nvSpPr>
        <p:spPr>
          <a:xfrm>
            <a:off x="5600700" y="2784348"/>
            <a:ext cx="484632" cy="246888"/>
          </a:xfrm>
          <a:prstGeom prst="rect">
            <a:avLst/>
          </a:prstGeom>
          <a:solidFill>
            <a:srgbClr val="45B889"/>
          </a:solidFill>
          <a:ln/>
        </p:spPr>
      </p:sp>
      <p:sp>
        <p:nvSpPr>
          <p:cNvPr id="132" name="Text 130"/>
          <p:cNvSpPr txBox="1"/>
          <p:nvPr/>
        </p:nvSpPr>
        <p:spPr>
          <a:xfrm>
            <a:off x="5586984" y="2770632"/>
            <a:ext cx="5120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E2B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3.9x</a:t>
            </a:r>
            <a:endParaRPr lang="en-US" sz="950" dirty="0"/>
          </a:p>
        </p:txBody>
      </p:sp>
      <p:sp>
        <p:nvSpPr>
          <p:cNvPr id="133" name="Shape 131"/>
          <p:cNvSpPr/>
          <p:nvPr/>
        </p:nvSpPr>
        <p:spPr>
          <a:xfrm>
            <a:off x="6112764" y="2784348"/>
            <a:ext cx="484632" cy="246888"/>
          </a:xfrm>
          <a:prstGeom prst="rect">
            <a:avLst/>
          </a:prstGeom>
          <a:solidFill>
            <a:srgbClr val="7ECDAC"/>
          </a:solidFill>
          <a:ln/>
        </p:spPr>
      </p:sp>
      <p:sp>
        <p:nvSpPr>
          <p:cNvPr id="134" name="Text 132"/>
          <p:cNvSpPr txBox="1"/>
          <p:nvPr/>
        </p:nvSpPr>
        <p:spPr>
          <a:xfrm>
            <a:off x="6099048" y="2770632"/>
            <a:ext cx="5120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E2B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2.9x</a:t>
            </a:r>
            <a:endParaRPr lang="en-US" sz="950" dirty="0"/>
          </a:p>
        </p:txBody>
      </p:sp>
      <p:sp>
        <p:nvSpPr>
          <p:cNvPr id="135" name="Shape 133"/>
          <p:cNvSpPr/>
          <p:nvPr/>
        </p:nvSpPr>
        <p:spPr>
          <a:xfrm>
            <a:off x="6624828" y="2784348"/>
            <a:ext cx="484632" cy="246888"/>
          </a:xfrm>
          <a:prstGeom prst="rect">
            <a:avLst/>
          </a:prstGeom>
          <a:solidFill>
            <a:srgbClr val="A1DAC1"/>
          </a:solidFill>
          <a:ln/>
        </p:spPr>
      </p:sp>
      <p:sp>
        <p:nvSpPr>
          <p:cNvPr id="136" name="Text 134"/>
          <p:cNvSpPr txBox="1"/>
          <p:nvPr/>
        </p:nvSpPr>
        <p:spPr>
          <a:xfrm>
            <a:off x="6611112" y="2770632"/>
            <a:ext cx="5120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E2B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2.4x</a:t>
            </a:r>
            <a:endParaRPr lang="en-US" sz="950" dirty="0"/>
          </a:p>
        </p:txBody>
      </p:sp>
      <p:sp>
        <p:nvSpPr>
          <p:cNvPr id="137" name="Shape 135"/>
          <p:cNvSpPr/>
          <p:nvPr/>
        </p:nvSpPr>
        <p:spPr>
          <a:xfrm>
            <a:off x="7136892" y="2784348"/>
            <a:ext cx="484632" cy="246888"/>
          </a:xfrm>
          <a:prstGeom prst="rect">
            <a:avLst/>
          </a:prstGeom>
          <a:solidFill>
            <a:srgbClr val="B8E3CF"/>
          </a:solidFill>
          <a:ln/>
        </p:spPr>
      </p:sp>
      <p:sp>
        <p:nvSpPr>
          <p:cNvPr id="138" name="Text 136"/>
          <p:cNvSpPr txBox="1"/>
          <p:nvPr/>
        </p:nvSpPr>
        <p:spPr>
          <a:xfrm>
            <a:off x="7123176" y="2770632"/>
            <a:ext cx="5120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E2B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2.0x</a:t>
            </a:r>
            <a:endParaRPr lang="en-US" sz="950" dirty="0"/>
          </a:p>
        </p:txBody>
      </p:sp>
      <p:sp>
        <p:nvSpPr>
          <p:cNvPr id="139" name="Shape 137"/>
          <p:cNvSpPr/>
          <p:nvPr/>
        </p:nvSpPr>
        <p:spPr>
          <a:xfrm>
            <a:off x="7648956" y="2784348"/>
            <a:ext cx="484632" cy="246888"/>
          </a:xfrm>
          <a:prstGeom prst="rect">
            <a:avLst/>
          </a:prstGeom>
          <a:solidFill>
            <a:srgbClr val="D5EEE1"/>
          </a:solidFill>
          <a:ln/>
        </p:spPr>
      </p:sp>
      <p:sp>
        <p:nvSpPr>
          <p:cNvPr id="140" name="Text 138"/>
          <p:cNvSpPr txBox="1"/>
          <p:nvPr/>
        </p:nvSpPr>
        <p:spPr>
          <a:xfrm>
            <a:off x="7635240" y="2770632"/>
            <a:ext cx="5120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E2B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1.5x</a:t>
            </a:r>
            <a:endParaRPr lang="en-US" sz="950" dirty="0"/>
          </a:p>
        </p:txBody>
      </p:sp>
      <p:sp>
        <p:nvSpPr>
          <p:cNvPr id="141" name="Text 139"/>
          <p:cNvSpPr txBox="1"/>
          <p:nvPr/>
        </p:nvSpPr>
        <p:spPr>
          <a:xfrm>
            <a:off x="4617720" y="3044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5B67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20 %</a:t>
            </a:r>
            <a:endParaRPr lang="en-US" sz="950" dirty="0"/>
          </a:p>
        </p:txBody>
      </p:sp>
      <p:sp>
        <p:nvSpPr>
          <p:cNvPr id="142" name="Shape 140"/>
          <p:cNvSpPr/>
          <p:nvPr/>
        </p:nvSpPr>
        <p:spPr>
          <a:xfrm>
            <a:off x="5088636" y="3058668"/>
            <a:ext cx="484632" cy="246888"/>
          </a:xfrm>
          <a:prstGeom prst="rect">
            <a:avLst/>
          </a:prstGeom>
          <a:solidFill>
            <a:srgbClr val="107149"/>
          </a:solidFill>
          <a:ln/>
        </p:spPr>
      </p:sp>
      <p:sp>
        <p:nvSpPr>
          <p:cNvPr id="143" name="Text 141"/>
          <p:cNvSpPr txBox="1"/>
          <p:nvPr/>
        </p:nvSpPr>
        <p:spPr>
          <a:xfrm>
            <a:off x="5074920" y="3044952"/>
            <a:ext cx="5120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6.5x</a:t>
            </a:r>
            <a:endParaRPr lang="en-US" sz="950" dirty="0"/>
          </a:p>
        </p:txBody>
      </p:sp>
      <p:sp>
        <p:nvSpPr>
          <p:cNvPr id="144" name="Shape 142"/>
          <p:cNvSpPr/>
          <p:nvPr/>
        </p:nvSpPr>
        <p:spPr>
          <a:xfrm>
            <a:off x="5600700" y="3058668"/>
            <a:ext cx="484632" cy="246888"/>
          </a:xfrm>
          <a:prstGeom prst="rect">
            <a:avLst/>
          </a:prstGeom>
          <a:solidFill>
            <a:srgbClr val="23AB74"/>
          </a:solidFill>
          <a:ln/>
        </p:spPr>
      </p:sp>
      <p:sp>
        <p:nvSpPr>
          <p:cNvPr id="145" name="Text 143"/>
          <p:cNvSpPr txBox="1"/>
          <p:nvPr/>
        </p:nvSpPr>
        <p:spPr>
          <a:xfrm>
            <a:off x="5586984" y="3044952"/>
            <a:ext cx="5120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4.4x</a:t>
            </a:r>
            <a:endParaRPr lang="en-US" sz="950" dirty="0"/>
          </a:p>
        </p:txBody>
      </p:sp>
      <p:sp>
        <p:nvSpPr>
          <p:cNvPr id="146" name="Shape 144"/>
          <p:cNvSpPr/>
          <p:nvPr/>
        </p:nvSpPr>
        <p:spPr>
          <a:xfrm>
            <a:off x="6112764" y="3058668"/>
            <a:ext cx="484632" cy="246888"/>
          </a:xfrm>
          <a:prstGeom prst="rect">
            <a:avLst/>
          </a:prstGeom>
          <a:solidFill>
            <a:srgbClr val="64C39C"/>
          </a:solidFill>
          <a:ln/>
        </p:spPr>
      </p:sp>
      <p:sp>
        <p:nvSpPr>
          <p:cNvPr id="147" name="Text 145"/>
          <p:cNvSpPr txBox="1"/>
          <p:nvPr/>
        </p:nvSpPr>
        <p:spPr>
          <a:xfrm>
            <a:off x="6099048" y="3044952"/>
            <a:ext cx="5120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E2B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3.4x</a:t>
            </a:r>
            <a:endParaRPr lang="en-US" sz="950" dirty="0"/>
          </a:p>
        </p:txBody>
      </p:sp>
      <p:sp>
        <p:nvSpPr>
          <p:cNvPr id="148" name="Shape 146"/>
          <p:cNvSpPr/>
          <p:nvPr/>
        </p:nvSpPr>
        <p:spPr>
          <a:xfrm>
            <a:off x="6624828" y="3058668"/>
            <a:ext cx="484632" cy="246888"/>
          </a:xfrm>
          <a:prstGeom prst="rect">
            <a:avLst/>
          </a:prstGeom>
          <a:solidFill>
            <a:srgbClr val="8CD2B4"/>
          </a:solidFill>
          <a:ln/>
        </p:spPr>
      </p:sp>
      <p:sp>
        <p:nvSpPr>
          <p:cNvPr id="149" name="Text 147"/>
          <p:cNvSpPr txBox="1"/>
          <p:nvPr/>
        </p:nvSpPr>
        <p:spPr>
          <a:xfrm>
            <a:off x="6611112" y="3044952"/>
            <a:ext cx="5120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E2B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2.7x</a:t>
            </a:r>
            <a:endParaRPr lang="en-US" sz="950" dirty="0"/>
          </a:p>
        </p:txBody>
      </p:sp>
      <p:sp>
        <p:nvSpPr>
          <p:cNvPr id="150" name="Shape 148"/>
          <p:cNvSpPr/>
          <p:nvPr/>
        </p:nvSpPr>
        <p:spPr>
          <a:xfrm>
            <a:off x="7136892" y="3058668"/>
            <a:ext cx="484632" cy="246888"/>
          </a:xfrm>
          <a:prstGeom prst="rect">
            <a:avLst/>
          </a:prstGeom>
          <a:solidFill>
            <a:srgbClr val="A6DCC5"/>
          </a:solidFill>
          <a:ln/>
        </p:spPr>
      </p:sp>
      <p:sp>
        <p:nvSpPr>
          <p:cNvPr id="151" name="Text 149"/>
          <p:cNvSpPr txBox="1"/>
          <p:nvPr/>
        </p:nvSpPr>
        <p:spPr>
          <a:xfrm>
            <a:off x="7123176" y="3044952"/>
            <a:ext cx="5120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E2B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2.3x</a:t>
            </a:r>
            <a:endParaRPr lang="en-US" sz="950" dirty="0"/>
          </a:p>
        </p:txBody>
      </p:sp>
      <p:sp>
        <p:nvSpPr>
          <p:cNvPr id="152" name="Shape 150"/>
          <p:cNvSpPr/>
          <p:nvPr/>
        </p:nvSpPr>
        <p:spPr>
          <a:xfrm>
            <a:off x="7648956" y="3058668"/>
            <a:ext cx="484632" cy="246888"/>
          </a:xfrm>
          <a:prstGeom prst="rect">
            <a:avLst/>
          </a:prstGeom>
          <a:solidFill>
            <a:srgbClr val="C8E9D9"/>
          </a:solidFill>
          <a:ln/>
        </p:spPr>
      </p:sp>
      <p:sp>
        <p:nvSpPr>
          <p:cNvPr id="153" name="Text 151"/>
          <p:cNvSpPr txBox="1"/>
          <p:nvPr/>
        </p:nvSpPr>
        <p:spPr>
          <a:xfrm>
            <a:off x="7635240" y="3044952"/>
            <a:ext cx="5120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E2B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1.7x</a:t>
            </a:r>
            <a:endParaRPr lang="en-US" sz="950" dirty="0"/>
          </a:p>
        </p:txBody>
      </p:sp>
      <p:sp>
        <p:nvSpPr>
          <p:cNvPr id="154" name="Text 152"/>
          <p:cNvSpPr txBox="1"/>
          <p:nvPr/>
        </p:nvSpPr>
        <p:spPr>
          <a:xfrm>
            <a:off x="4617720" y="331927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5B67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25 %</a:t>
            </a:r>
            <a:endParaRPr lang="en-US" sz="950" dirty="0"/>
          </a:p>
        </p:txBody>
      </p:sp>
      <p:sp>
        <p:nvSpPr>
          <p:cNvPr id="155" name="Shape 153"/>
          <p:cNvSpPr/>
          <p:nvPr/>
        </p:nvSpPr>
        <p:spPr>
          <a:xfrm>
            <a:off x="5088636" y="3332988"/>
            <a:ext cx="484632" cy="246888"/>
          </a:xfrm>
          <a:prstGeom prst="rect">
            <a:avLst/>
          </a:prstGeom>
          <a:solidFill>
            <a:srgbClr val="0A5A38"/>
          </a:solidFill>
          <a:ln/>
        </p:spPr>
      </p:sp>
      <p:sp>
        <p:nvSpPr>
          <p:cNvPr id="156" name="Text 154"/>
          <p:cNvSpPr txBox="1"/>
          <p:nvPr/>
        </p:nvSpPr>
        <p:spPr>
          <a:xfrm>
            <a:off x="5074920" y="3319272"/>
            <a:ext cx="5120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7.3x</a:t>
            </a:r>
            <a:endParaRPr lang="en-US" sz="950" dirty="0"/>
          </a:p>
        </p:txBody>
      </p:sp>
      <p:sp>
        <p:nvSpPr>
          <p:cNvPr id="157" name="Shape 155"/>
          <p:cNvSpPr/>
          <p:nvPr/>
        </p:nvSpPr>
        <p:spPr>
          <a:xfrm>
            <a:off x="5600700" y="3332988"/>
            <a:ext cx="484632" cy="246888"/>
          </a:xfrm>
          <a:prstGeom prst="rect">
            <a:avLst/>
          </a:prstGeom>
          <a:solidFill>
            <a:srgbClr val="1B9B67"/>
          </a:solidFill>
          <a:ln/>
        </p:spPr>
      </p:sp>
      <p:sp>
        <p:nvSpPr>
          <p:cNvPr id="158" name="Text 156"/>
          <p:cNvSpPr txBox="1"/>
          <p:nvPr/>
        </p:nvSpPr>
        <p:spPr>
          <a:xfrm>
            <a:off x="5586984" y="3319272"/>
            <a:ext cx="5120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5.0x</a:t>
            </a:r>
            <a:endParaRPr lang="en-US" sz="950" dirty="0"/>
          </a:p>
        </p:txBody>
      </p:sp>
      <p:sp>
        <p:nvSpPr>
          <p:cNvPr id="159" name="Shape 157"/>
          <p:cNvSpPr/>
          <p:nvPr/>
        </p:nvSpPr>
        <p:spPr>
          <a:xfrm>
            <a:off x="6112764" y="3332988"/>
            <a:ext cx="484632" cy="246888"/>
          </a:xfrm>
          <a:prstGeom prst="rect">
            <a:avLst/>
          </a:prstGeom>
          <a:solidFill>
            <a:srgbClr val="4AB98B"/>
          </a:solidFill>
          <a:ln/>
        </p:spPr>
      </p:sp>
      <p:sp>
        <p:nvSpPr>
          <p:cNvPr id="160" name="Text 158"/>
          <p:cNvSpPr txBox="1"/>
          <p:nvPr/>
        </p:nvSpPr>
        <p:spPr>
          <a:xfrm>
            <a:off x="6099048" y="3319272"/>
            <a:ext cx="5120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E2B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3.8x</a:t>
            </a:r>
            <a:endParaRPr lang="en-US" sz="950" dirty="0"/>
          </a:p>
        </p:txBody>
      </p:sp>
      <p:sp>
        <p:nvSpPr>
          <p:cNvPr id="161" name="Shape 159"/>
          <p:cNvSpPr/>
          <p:nvPr/>
        </p:nvSpPr>
        <p:spPr>
          <a:xfrm>
            <a:off x="6624828" y="3332988"/>
            <a:ext cx="484632" cy="246888"/>
          </a:xfrm>
          <a:prstGeom prst="rect">
            <a:avLst/>
          </a:prstGeom>
          <a:solidFill>
            <a:srgbClr val="76CAA7"/>
          </a:solidFill>
          <a:ln/>
        </p:spPr>
      </p:sp>
      <p:sp>
        <p:nvSpPr>
          <p:cNvPr id="162" name="Text 160"/>
          <p:cNvSpPr txBox="1"/>
          <p:nvPr/>
        </p:nvSpPr>
        <p:spPr>
          <a:xfrm>
            <a:off x="6611112" y="3319272"/>
            <a:ext cx="5120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E2B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3.0x</a:t>
            </a:r>
            <a:endParaRPr lang="en-US" sz="950" dirty="0"/>
          </a:p>
        </p:txBody>
      </p:sp>
      <p:sp>
        <p:nvSpPr>
          <p:cNvPr id="163" name="Shape 161"/>
          <p:cNvSpPr/>
          <p:nvPr/>
        </p:nvSpPr>
        <p:spPr>
          <a:xfrm>
            <a:off x="7136892" y="3332988"/>
            <a:ext cx="484632" cy="246888"/>
          </a:xfrm>
          <a:prstGeom prst="rect">
            <a:avLst/>
          </a:prstGeom>
          <a:solidFill>
            <a:srgbClr val="95D5BA"/>
          </a:solidFill>
          <a:ln/>
        </p:spPr>
      </p:sp>
      <p:sp>
        <p:nvSpPr>
          <p:cNvPr id="164" name="Text 162"/>
          <p:cNvSpPr txBox="1"/>
          <p:nvPr/>
        </p:nvSpPr>
        <p:spPr>
          <a:xfrm>
            <a:off x="7123176" y="3319272"/>
            <a:ext cx="5120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E2B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2.5x</a:t>
            </a:r>
            <a:endParaRPr lang="en-US" sz="950" dirty="0"/>
          </a:p>
        </p:txBody>
      </p:sp>
      <p:sp>
        <p:nvSpPr>
          <p:cNvPr id="165" name="Shape 163"/>
          <p:cNvSpPr/>
          <p:nvPr/>
        </p:nvSpPr>
        <p:spPr>
          <a:xfrm>
            <a:off x="7648956" y="3332988"/>
            <a:ext cx="484632" cy="246888"/>
          </a:xfrm>
          <a:prstGeom prst="rect">
            <a:avLst/>
          </a:prstGeom>
          <a:solidFill>
            <a:srgbClr val="BAE4D1"/>
          </a:solidFill>
          <a:ln/>
        </p:spPr>
      </p:sp>
      <p:sp>
        <p:nvSpPr>
          <p:cNvPr id="166" name="Text 164"/>
          <p:cNvSpPr txBox="1"/>
          <p:nvPr/>
        </p:nvSpPr>
        <p:spPr>
          <a:xfrm>
            <a:off x="7635240" y="3319272"/>
            <a:ext cx="5120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E2B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1.9x</a:t>
            </a:r>
            <a:endParaRPr lang="en-US" sz="950" dirty="0"/>
          </a:p>
        </p:txBody>
      </p:sp>
      <p:sp>
        <p:nvSpPr>
          <p:cNvPr id="167" name="Text 165"/>
          <p:cNvSpPr txBox="1"/>
          <p:nvPr/>
        </p:nvSpPr>
        <p:spPr>
          <a:xfrm>
            <a:off x="4617720" y="3657600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E2B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LTV ÷ acquisition cost, by acquisition cost and monthly churn</a:t>
            </a:r>
            <a:endParaRPr lang="en-US" sz="1000" dirty="0"/>
          </a:p>
        </p:txBody>
      </p:sp>
      <p:sp>
        <p:nvSpPr>
          <p:cNvPr id="168" name="Text 166"/>
          <p:cNvSpPr txBox="1"/>
          <p:nvPr/>
        </p:nvSpPr>
        <p:spPr>
          <a:xfrm>
            <a:off x="5074920" y="3895344"/>
            <a:ext cx="640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5B67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1 %</a:t>
            </a:r>
            <a:endParaRPr lang="en-US" sz="950" dirty="0"/>
          </a:p>
        </p:txBody>
      </p:sp>
      <p:sp>
        <p:nvSpPr>
          <p:cNvPr id="169" name="Text 167"/>
          <p:cNvSpPr txBox="1"/>
          <p:nvPr/>
        </p:nvSpPr>
        <p:spPr>
          <a:xfrm>
            <a:off x="5715000" y="3895344"/>
            <a:ext cx="640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5B67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2 %</a:t>
            </a:r>
            <a:endParaRPr lang="en-US" sz="950" dirty="0"/>
          </a:p>
        </p:txBody>
      </p:sp>
      <p:sp>
        <p:nvSpPr>
          <p:cNvPr id="170" name="Text 168"/>
          <p:cNvSpPr txBox="1"/>
          <p:nvPr/>
        </p:nvSpPr>
        <p:spPr>
          <a:xfrm>
            <a:off x="6355080" y="3895344"/>
            <a:ext cx="640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5B67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3 %</a:t>
            </a:r>
            <a:endParaRPr lang="en-US" sz="950" dirty="0"/>
          </a:p>
        </p:txBody>
      </p:sp>
      <p:sp>
        <p:nvSpPr>
          <p:cNvPr id="171" name="Text 169"/>
          <p:cNvSpPr txBox="1"/>
          <p:nvPr/>
        </p:nvSpPr>
        <p:spPr>
          <a:xfrm>
            <a:off x="6995160" y="3895344"/>
            <a:ext cx="640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5B67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4 %</a:t>
            </a:r>
            <a:endParaRPr lang="en-US" sz="950" dirty="0"/>
          </a:p>
        </p:txBody>
      </p:sp>
      <p:sp>
        <p:nvSpPr>
          <p:cNvPr id="172" name="Text 170"/>
          <p:cNvSpPr txBox="1"/>
          <p:nvPr/>
        </p:nvSpPr>
        <p:spPr>
          <a:xfrm>
            <a:off x="7635240" y="3895344"/>
            <a:ext cx="640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5B67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5 %</a:t>
            </a:r>
            <a:endParaRPr lang="en-US" sz="950" dirty="0"/>
          </a:p>
        </p:txBody>
      </p:sp>
      <p:sp>
        <p:nvSpPr>
          <p:cNvPr id="173" name="Text 171"/>
          <p:cNvSpPr txBox="1"/>
          <p:nvPr/>
        </p:nvSpPr>
        <p:spPr>
          <a:xfrm>
            <a:off x="4617720" y="414223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5B67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₹15k</a:t>
            </a:r>
            <a:endParaRPr lang="en-US" sz="950" dirty="0"/>
          </a:p>
        </p:txBody>
      </p:sp>
      <p:sp>
        <p:nvSpPr>
          <p:cNvPr id="174" name="Shape 172"/>
          <p:cNvSpPr/>
          <p:nvPr/>
        </p:nvSpPr>
        <p:spPr>
          <a:xfrm>
            <a:off x="5088636" y="4155948"/>
            <a:ext cx="612648" cy="246888"/>
          </a:xfrm>
          <a:prstGeom prst="rect">
            <a:avLst/>
          </a:prstGeom>
          <a:solidFill>
            <a:srgbClr val="0A5A38"/>
          </a:solidFill>
          <a:ln/>
        </p:spPr>
      </p:sp>
      <p:sp>
        <p:nvSpPr>
          <p:cNvPr id="175" name="Text 173"/>
          <p:cNvSpPr txBox="1"/>
          <p:nvPr/>
        </p:nvSpPr>
        <p:spPr>
          <a:xfrm>
            <a:off x="5074920" y="4142232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11.0x</a:t>
            </a:r>
            <a:endParaRPr lang="en-US" sz="950" dirty="0"/>
          </a:p>
        </p:txBody>
      </p:sp>
      <p:sp>
        <p:nvSpPr>
          <p:cNvPr id="176" name="Shape 174"/>
          <p:cNvSpPr/>
          <p:nvPr/>
        </p:nvSpPr>
        <p:spPr>
          <a:xfrm>
            <a:off x="5728716" y="4155948"/>
            <a:ext cx="612648" cy="246888"/>
          </a:xfrm>
          <a:prstGeom prst="rect">
            <a:avLst/>
          </a:prstGeom>
          <a:solidFill>
            <a:srgbClr val="11744B"/>
          </a:solidFill>
          <a:ln/>
        </p:spPr>
      </p:sp>
      <p:sp>
        <p:nvSpPr>
          <p:cNvPr id="177" name="Text 175"/>
          <p:cNvSpPr txBox="1"/>
          <p:nvPr/>
        </p:nvSpPr>
        <p:spPr>
          <a:xfrm>
            <a:off x="5715000" y="4142232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9.6x</a:t>
            </a:r>
            <a:endParaRPr lang="en-US" sz="950" dirty="0"/>
          </a:p>
        </p:txBody>
      </p:sp>
      <p:sp>
        <p:nvSpPr>
          <p:cNvPr id="178" name="Shape 176"/>
          <p:cNvSpPr/>
          <p:nvPr/>
        </p:nvSpPr>
        <p:spPr>
          <a:xfrm>
            <a:off x="6368796" y="4155948"/>
            <a:ext cx="612648" cy="246888"/>
          </a:xfrm>
          <a:prstGeom prst="rect">
            <a:avLst/>
          </a:prstGeom>
          <a:solidFill>
            <a:srgbClr val="158557"/>
          </a:solidFill>
          <a:ln/>
        </p:spPr>
      </p:sp>
      <p:sp>
        <p:nvSpPr>
          <p:cNvPr id="179" name="Text 177"/>
          <p:cNvSpPr txBox="1"/>
          <p:nvPr/>
        </p:nvSpPr>
        <p:spPr>
          <a:xfrm>
            <a:off x="6355080" y="4142232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8.7x</a:t>
            </a:r>
            <a:endParaRPr lang="en-US" sz="950" dirty="0"/>
          </a:p>
        </p:txBody>
      </p:sp>
      <p:sp>
        <p:nvSpPr>
          <p:cNvPr id="180" name="Shape 178"/>
          <p:cNvSpPr/>
          <p:nvPr/>
        </p:nvSpPr>
        <p:spPr>
          <a:xfrm>
            <a:off x="7008876" y="4155948"/>
            <a:ext cx="612648" cy="246888"/>
          </a:xfrm>
          <a:prstGeom prst="rect">
            <a:avLst/>
          </a:prstGeom>
          <a:solidFill>
            <a:srgbClr val="199361"/>
          </a:solidFill>
          <a:ln/>
        </p:spPr>
      </p:sp>
      <p:sp>
        <p:nvSpPr>
          <p:cNvPr id="181" name="Text 179"/>
          <p:cNvSpPr txBox="1"/>
          <p:nvPr/>
        </p:nvSpPr>
        <p:spPr>
          <a:xfrm>
            <a:off x="6995160" y="4142232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7.9x</a:t>
            </a:r>
            <a:endParaRPr lang="en-US" sz="950" dirty="0"/>
          </a:p>
        </p:txBody>
      </p:sp>
      <p:sp>
        <p:nvSpPr>
          <p:cNvPr id="182" name="Shape 180"/>
          <p:cNvSpPr/>
          <p:nvPr/>
        </p:nvSpPr>
        <p:spPr>
          <a:xfrm>
            <a:off x="7648956" y="4155948"/>
            <a:ext cx="612648" cy="246888"/>
          </a:xfrm>
          <a:prstGeom prst="rect">
            <a:avLst/>
          </a:prstGeom>
          <a:solidFill>
            <a:srgbClr val="1C9E69"/>
          </a:solidFill>
          <a:ln/>
        </p:spPr>
      </p:sp>
      <p:sp>
        <p:nvSpPr>
          <p:cNvPr id="183" name="Text 181"/>
          <p:cNvSpPr txBox="1"/>
          <p:nvPr/>
        </p:nvSpPr>
        <p:spPr>
          <a:xfrm>
            <a:off x="7635240" y="4142232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7.3x</a:t>
            </a:r>
            <a:endParaRPr lang="en-US" sz="950" dirty="0"/>
          </a:p>
        </p:txBody>
      </p:sp>
      <p:sp>
        <p:nvSpPr>
          <p:cNvPr id="184" name="Text 182"/>
          <p:cNvSpPr txBox="1"/>
          <p:nvPr/>
        </p:nvSpPr>
        <p:spPr>
          <a:xfrm>
            <a:off x="4617720" y="44165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5B67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₹25k</a:t>
            </a:r>
            <a:endParaRPr lang="en-US" sz="950" dirty="0"/>
          </a:p>
        </p:txBody>
      </p:sp>
      <p:sp>
        <p:nvSpPr>
          <p:cNvPr id="185" name="Shape 183"/>
          <p:cNvSpPr/>
          <p:nvPr/>
        </p:nvSpPr>
        <p:spPr>
          <a:xfrm>
            <a:off x="5088636" y="4430268"/>
            <a:ext cx="612648" cy="246888"/>
          </a:xfrm>
          <a:prstGeom prst="rect">
            <a:avLst/>
          </a:prstGeom>
          <a:solidFill>
            <a:srgbClr val="2CAE79"/>
          </a:solidFill>
          <a:ln/>
        </p:spPr>
      </p:sp>
      <p:sp>
        <p:nvSpPr>
          <p:cNvPr id="186" name="Text 184"/>
          <p:cNvSpPr txBox="1"/>
          <p:nvPr/>
        </p:nvSpPr>
        <p:spPr>
          <a:xfrm>
            <a:off x="5074920" y="4416552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6.4x</a:t>
            </a:r>
            <a:endParaRPr lang="en-US" sz="950" dirty="0"/>
          </a:p>
        </p:txBody>
      </p:sp>
      <p:sp>
        <p:nvSpPr>
          <p:cNvPr id="187" name="Shape 185"/>
          <p:cNvSpPr/>
          <p:nvPr/>
        </p:nvSpPr>
        <p:spPr>
          <a:xfrm>
            <a:off x="5728716" y="4430268"/>
            <a:ext cx="612648" cy="246888"/>
          </a:xfrm>
          <a:prstGeom prst="rect">
            <a:avLst/>
          </a:prstGeom>
          <a:solidFill>
            <a:srgbClr val="44B788"/>
          </a:solidFill>
          <a:ln/>
        </p:spPr>
      </p:sp>
      <p:sp>
        <p:nvSpPr>
          <p:cNvPr id="188" name="Text 186"/>
          <p:cNvSpPr txBox="1"/>
          <p:nvPr/>
        </p:nvSpPr>
        <p:spPr>
          <a:xfrm>
            <a:off x="5715000" y="4416552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5.8x</a:t>
            </a:r>
            <a:endParaRPr lang="en-US" sz="950" dirty="0"/>
          </a:p>
        </p:txBody>
      </p:sp>
      <p:sp>
        <p:nvSpPr>
          <p:cNvPr id="189" name="Shape 187"/>
          <p:cNvSpPr/>
          <p:nvPr/>
        </p:nvSpPr>
        <p:spPr>
          <a:xfrm>
            <a:off x="6368796" y="4430268"/>
            <a:ext cx="612648" cy="246888"/>
          </a:xfrm>
          <a:prstGeom prst="rect">
            <a:avLst/>
          </a:prstGeom>
          <a:solidFill>
            <a:srgbClr val="5CC097"/>
          </a:solidFill>
          <a:ln/>
        </p:spPr>
      </p:sp>
      <p:sp>
        <p:nvSpPr>
          <p:cNvPr id="190" name="Text 188"/>
          <p:cNvSpPr txBox="1"/>
          <p:nvPr/>
        </p:nvSpPr>
        <p:spPr>
          <a:xfrm>
            <a:off x="6355080" y="4416552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E2B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5.2x</a:t>
            </a:r>
            <a:endParaRPr lang="en-US" sz="950" dirty="0"/>
          </a:p>
        </p:txBody>
      </p:sp>
      <p:sp>
        <p:nvSpPr>
          <p:cNvPr id="191" name="Shape 189"/>
          <p:cNvSpPr/>
          <p:nvPr/>
        </p:nvSpPr>
        <p:spPr>
          <a:xfrm>
            <a:off x="7008876" y="4430268"/>
            <a:ext cx="612648" cy="246888"/>
          </a:xfrm>
          <a:prstGeom prst="rect">
            <a:avLst/>
          </a:prstGeom>
          <a:solidFill>
            <a:srgbClr val="6CC6A1"/>
          </a:solidFill>
          <a:ln/>
        </p:spPr>
      </p:sp>
      <p:sp>
        <p:nvSpPr>
          <p:cNvPr id="192" name="Text 190"/>
          <p:cNvSpPr txBox="1"/>
          <p:nvPr/>
        </p:nvSpPr>
        <p:spPr>
          <a:xfrm>
            <a:off x="6995160" y="4416552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E2B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4.8x</a:t>
            </a:r>
            <a:endParaRPr lang="en-US" sz="950" dirty="0"/>
          </a:p>
        </p:txBody>
      </p:sp>
      <p:sp>
        <p:nvSpPr>
          <p:cNvPr id="193" name="Shape 191"/>
          <p:cNvSpPr/>
          <p:nvPr/>
        </p:nvSpPr>
        <p:spPr>
          <a:xfrm>
            <a:off x="7648956" y="4430268"/>
            <a:ext cx="612648" cy="246888"/>
          </a:xfrm>
          <a:prstGeom prst="rect">
            <a:avLst/>
          </a:prstGeom>
          <a:solidFill>
            <a:srgbClr val="7CCCAA"/>
          </a:solidFill>
          <a:ln/>
        </p:spPr>
      </p:sp>
      <p:sp>
        <p:nvSpPr>
          <p:cNvPr id="194" name="Text 192"/>
          <p:cNvSpPr txBox="1"/>
          <p:nvPr/>
        </p:nvSpPr>
        <p:spPr>
          <a:xfrm>
            <a:off x="7635240" y="4416552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E2B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4.4x</a:t>
            </a:r>
            <a:endParaRPr lang="en-US" sz="950" dirty="0"/>
          </a:p>
        </p:txBody>
      </p:sp>
      <p:sp>
        <p:nvSpPr>
          <p:cNvPr id="195" name="Text 193"/>
          <p:cNvSpPr txBox="1"/>
          <p:nvPr/>
        </p:nvSpPr>
        <p:spPr>
          <a:xfrm>
            <a:off x="4617720" y="469087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5B67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₹35k</a:t>
            </a:r>
            <a:endParaRPr lang="en-US" sz="950" dirty="0"/>
          </a:p>
        </p:txBody>
      </p:sp>
      <p:sp>
        <p:nvSpPr>
          <p:cNvPr id="196" name="Shape 194"/>
          <p:cNvSpPr/>
          <p:nvPr/>
        </p:nvSpPr>
        <p:spPr>
          <a:xfrm>
            <a:off x="5088636" y="4704588"/>
            <a:ext cx="612648" cy="246888"/>
          </a:xfrm>
          <a:prstGeom prst="rect">
            <a:avLst/>
          </a:prstGeom>
          <a:solidFill>
            <a:srgbClr val="74C9A5"/>
          </a:solidFill>
          <a:ln/>
        </p:spPr>
      </p:sp>
      <p:sp>
        <p:nvSpPr>
          <p:cNvPr id="197" name="Text 195"/>
          <p:cNvSpPr txBox="1"/>
          <p:nvPr/>
        </p:nvSpPr>
        <p:spPr>
          <a:xfrm>
            <a:off x="5074920" y="4690872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E2B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4.6x</a:t>
            </a:r>
            <a:endParaRPr lang="en-US" sz="950" dirty="0"/>
          </a:p>
        </p:txBody>
      </p:sp>
      <p:sp>
        <p:nvSpPr>
          <p:cNvPr id="198" name="Shape 196"/>
          <p:cNvSpPr/>
          <p:nvPr/>
        </p:nvSpPr>
        <p:spPr>
          <a:xfrm>
            <a:off x="5728716" y="4704588"/>
            <a:ext cx="612648" cy="246888"/>
          </a:xfrm>
          <a:prstGeom prst="rect">
            <a:avLst/>
          </a:prstGeom>
          <a:solidFill>
            <a:srgbClr val="88D1B2"/>
          </a:solidFill>
          <a:ln/>
        </p:spPr>
      </p:sp>
      <p:sp>
        <p:nvSpPr>
          <p:cNvPr id="199" name="Text 197"/>
          <p:cNvSpPr txBox="1"/>
          <p:nvPr/>
        </p:nvSpPr>
        <p:spPr>
          <a:xfrm>
            <a:off x="5715000" y="4690872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E2B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4.1x</a:t>
            </a:r>
            <a:endParaRPr lang="en-US" sz="950" dirty="0"/>
          </a:p>
        </p:txBody>
      </p:sp>
      <p:sp>
        <p:nvSpPr>
          <p:cNvPr id="200" name="Shape 198"/>
          <p:cNvSpPr/>
          <p:nvPr/>
        </p:nvSpPr>
        <p:spPr>
          <a:xfrm>
            <a:off x="6368796" y="4704588"/>
            <a:ext cx="612648" cy="246888"/>
          </a:xfrm>
          <a:prstGeom prst="rect">
            <a:avLst/>
          </a:prstGeom>
          <a:solidFill>
            <a:srgbClr val="98D7BC"/>
          </a:solidFill>
          <a:ln/>
        </p:spPr>
      </p:sp>
      <p:sp>
        <p:nvSpPr>
          <p:cNvPr id="201" name="Text 199"/>
          <p:cNvSpPr txBox="1"/>
          <p:nvPr/>
        </p:nvSpPr>
        <p:spPr>
          <a:xfrm>
            <a:off x="6355080" y="4690872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E2B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3.7x</a:t>
            </a:r>
            <a:endParaRPr lang="en-US" sz="950" dirty="0"/>
          </a:p>
        </p:txBody>
      </p:sp>
      <p:sp>
        <p:nvSpPr>
          <p:cNvPr id="202" name="Shape 200"/>
          <p:cNvSpPr/>
          <p:nvPr/>
        </p:nvSpPr>
        <p:spPr>
          <a:xfrm>
            <a:off x="7008876" y="4704588"/>
            <a:ext cx="612648" cy="246888"/>
          </a:xfrm>
          <a:prstGeom prst="rect">
            <a:avLst/>
          </a:prstGeom>
          <a:solidFill>
            <a:srgbClr val="A4DBC3"/>
          </a:solidFill>
          <a:ln/>
        </p:spPr>
      </p:sp>
      <p:sp>
        <p:nvSpPr>
          <p:cNvPr id="203" name="Text 201"/>
          <p:cNvSpPr txBox="1"/>
          <p:nvPr/>
        </p:nvSpPr>
        <p:spPr>
          <a:xfrm>
            <a:off x="6995160" y="4690872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E2B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3.4x</a:t>
            </a:r>
            <a:endParaRPr lang="en-US" sz="950" dirty="0"/>
          </a:p>
        </p:txBody>
      </p:sp>
      <p:sp>
        <p:nvSpPr>
          <p:cNvPr id="204" name="Shape 202"/>
          <p:cNvSpPr/>
          <p:nvPr/>
        </p:nvSpPr>
        <p:spPr>
          <a:xfrm>
            <a:off x="7648956" y="4704588"/>
            <a:ext cx="612648" cy="246888"/>
          </a:xfrm>
          <a:prstGeom prst="rect">
            <a:avLst/>
          </a:prstGeom>
          <a:solidFill>
            <a:srgbClr val="B0E0CA"/>
          </a:solidFill>
          <a:ln/>
        </p:spPr>
      </p:sp>
      <p:sp>
        <p:nvSpPr>
          <p:cNvPr id="205" name="Text 203"/>
          <p:cNvSpPr txBox="1"/>
          <p:nvPr/>
        </p:nvSpPr>
        <p:spPr>
          <a:xfrm>
            <a:off x="7635240" y="4690872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E2B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3.1x</a:t>
            </a:r>
            <a:endParaRPr lang="en-US" sz="950" dirty="0"/>
          </a:p>
        </p:txBody>
      </p:sp>
      <p:sp>
        <p:nvSpPr>
          <p:cNvPr id="206" name="Text 204"/>
          <p:cNvSpPr txBox="1"/>
          <p:nvPr/>
        </p:nvSpPr>
        <p:spPr>
          <a:xfrm>
            <a:off x="4617720" y="496519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5B67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₹50k</a:t>
            </a:r>
            <a:endParaRPr lang="en-US" sz="950" dirty="0"/>
          </a:p>
        </p:txBody>
      </p:sp>
      <p:sp>
        <p:nvSpPr>
          <p:cNvPr id="207" name="Shape 205"/>
          <p:cNvSpPr/>
          <p:nvPr/>
        </p:nvSpPr>
        <p:spPr>
          <a:xfrm>
            <a:off x="5088636" y="4978908"/>
            <a:ext cx="612648" cy="246888"/>
          </a:xfrm>
          <a:prstGeom prst="rect">
            <a:avLst/>
          </a:prstGeom>
          <a:solidFill>
            <a:srgbClr val="ACDEC8"/>
          </a:solidFill>
          <a:ln/>
        </p:spPr>
      </p:sp>
      <p:sp>
        <p:nvSpPr>
          <p:cNvPr id="208" name="Text 206"/>
          <p:cNvSpPr txBox="1"/>
          <p:nvPr/>
        </p:nvSpPr>
        <p:spPr>
          <a:xfrm>
            <a:off x="5074920" y="4965192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E2B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3.2x</a:t>
            </a:r>
            <a:endParaRPr lang="en-US" sz="950" dirty="0"/>
          </a:p>
        </p:txBody>
      </p:sp>
      <p:sp>
        <p:nvSpPr>
          <p:cNvPr id="209" name="Shape 207"/>
          <p:cNvSpPr/>
          <p:nvPr/>
        </p:nvSpPr>
        <p:spPr>
          <a:xfrm>
            <a:off x="5728716" y="4978908"/>
            <a:ext cx="612648" cy="246888"/>
          </a:xfrm>
          <a:prstGeom prst="rect">
            <a:avLst/>
          </a:prstGeom>
          <a:solidFill>
            <a:srgbClr val="B8E3CF"/>
          </a:solidFill>
          <a:ln/>
        </p:spPr>
      </p:sp>
      <p:sp>
        <p:nvSpPr>
          <p:cNvPr id="210" name="Text 208"/>
          <p:cNvSpPr txBox="1"/>
          <p:nvPr/>
        </p:nvSpPr>
        <p:spPr>
          <a:xfrm>
            <a:off x="5715000" y="4965192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E2B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2.9x</a:t>
            </a:r>
            <a:endParaRPr lang="en-US" sz="950" dirty="0"/>
          </a:p>
        </p:txBody>
      </p:sp>
      <p:sp>
        <p:nvSpPr>
          <p:cNvPr id="211" name="Shape 209"/>
          <p:cNvSpPr/>
          <p:nvPr/>
        </p:nvSpPr>
        <p:spPr>
          <a:xfrm>
            <a:off x="6368796" y="4978908"/>
            <a:ext cx="612648" cy="246888"/>
          </a:xfrm>
          <a:prstGeom prst="rect">
            <a:avLst/>
          </a:prstGeom>
          <a:solidFill>
            <a:srgbClr val="C4E7D7"/>
          </a:solidFill>
          <a:ln/>
        </p:spPr>
      </p:sp>
      <p:sp>
        <p:nvSpPr>
          <p:cNvPr id="212" name="Text 210"/>
          <p:cNvSpPr txBox="1"/>
          <p:nvPr/>
        </p:nvSpPr>
        <p:spPr>
          <a:xfrm>
            <a:off x="6355080" y="4965192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E2B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2.6x</a:t>
            </a:r>
            <a:endParaRPr lang="en-US" sz="950" dirty="0"/>
          </a:p>
        </p:txBody>
      </p:sp>
      <p:sp>
        <p:nvSpPr>
          <p:cNvPr id="213" name="Shape 211"/>
          <p:cNvSpPr/>
          <p:nvPr/>
        </p:nvSpPr>
        <p:spPr>
          <a:xfrm>
            <a:off x="7008876" y="4978908"/>
            <a:ext cx="612648" cy="246888"/>
          </a:xfrm>
          <a:prstGeom prst="rect">
            <a:avLst/>
          </a:prstGeom>
          <a:solidFill>
            <a:srgbClr val="CCEADC"/>
          </a:solidFill>
          <a:ln/>
        </p:spPr>
      </p:sp>
      <p:sp>
        <p:nvSpPr>
          <p:cNvPr id="214" name="Text 212"/>
          <p:cNvSpPr txBox="1"/>
          <p:nvPr/>
        </p:nvSpPr>
        <p:spPr>
          <a:xfrm>
            <a:off x="6995160" y="4965192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E2B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2.4x</a:t>
            </a:r>
            <a:endParaRPr lang="en-US" sz="950" dirty="0"/>
          </a:p>
        </p:txBody>
      </p:sp>
      <p:sp>
        <p:nvSpPr>
          <p:cNvPr id="215" name="Shape 213"/>
          <p:cNvSpPr/>
          <p:nvPr/>
        </p:nvSpPr>
        <p:spPr>
          <a:xfrm>
            <a:off x="7648956" y="4978908"/>
            <a:ext cx="612648" cy="246888"/>
          </a:xfrm>
          <a:prstGeom prst="rect">
            <a:avLst/>
          </a:prstGeom>
          <a:solidFill>
            <a:srgbClr val="D4EDE1"/>
          </a:solidFill>
          <a:ln/>
        </p:spPr>
      </p:sp>
      <p:sp>
        <p:nvSpPr>
          <p:cNvPr id="216" name="Text 214"/>
          <p:cNvSpPr txBox="1"/>
          <p:nvPr/>
        </p:nvSpPr>
        <p:spPr>
          <a:xfrm>
            <a:off x="7635240" y="4965192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E2B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2.2x</a:t>
            </a:r>
            <a:endParaRPr lang="en-US" sz="950" dirty="0"/>
          </a:p>
        </p:txBody>
      </p:sp>
      <p:sp>
        <p:nvSpPr>
          <p:cNvPr id="217" name="Text 215"/>
          <p:cNvSpPr txBox="1"/>
          <p:nvPr/>
        </p:nvSpPr>
        <p:spPr>
          <a:xfrm>
            <a:off x="4617720" y="523951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5B67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₹75k</a:t>
            </a:r>
            <a:endParaRPr lang="en-US" sz="950" dirty="0"/>
          </a:p>
        </p:txBody>
      </p:sp>
      <p:sp>
        <p:nvSpPr>
          <p:cNvPr id="218" name="Shape 216"/>
          <p:cNvSpPr/>
          <p:nvPr/>
        </p:nvSpPr>
        <p:spPr>
          <a:xfrm>
            <a:off x="5088636" y="5253228"/>
            <a:ext cx="612648" cy="246888"/>
          </a:xfrm>
          <a:prstGeom prst="rect">
            <a:avLst/>
          </a:prstGeom>
          <a:solidFill>
            <a:srgbClr val="D8EFE3"/>
          </a:solidFill>
          <a:ln/>
        </p:spPr>
      </p:sp>
      <p:sp>
        <p:nvSpPr>
          <p:cNvPr id="219" name="Text 217"/>
          <p:cNvSpPr txBox="1"/>
          <p:nvPr/>
        </p:nvSpPr>
        <p:spPr>
          <a:xfrm>
            <a:off x="5074920" y="5239512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E2B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2.1x</a:t>
            </a:r>
            <a:endParaRPr lang="en-US" sz="950" dirty="0"/>
          </a:p>
        </p:txBody>
      </p:sp>
      <p:sp>
        <p:nvSpPr>
          <p:cNvPr id="220" name="Shape 218"/>
          <p:cNvSpPr/>
          <p:nvPr/>
        </p:nvSpPr>
        <p:spPr>
          <a:xfrm>
            <a:off x="5728716" y="5253228"/>
            <a:ext cx="612648" cy="246888"/>
          </a:xfrm>
          <a:prstGeom prst="rect">
            <a:avLst/>
          </a:prstGeom>
          <a:solidFill>
            <a:srgbClr val="E0F2E8"/>
          </a:solidFill>
          <a:ln/>
        </p:spPr>
      </p:sp>
      <p:sp>
        <p:nvSpPr>
          <p:cNvPr id="221" name="Text 219"/>
          <p:cNvSpPr txBox="1"/>
          <p:nvPr/>
        </p:nvSpPr>
        <p:spPr>
          <a:xfrm>
            <a:off x="5715000" y="5239512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E2B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1.9x</a:t>
            </a:r>
            <a:endParaRPr lang="en-US" sz="950" dirty="0"/>
          </a:p>
        </p:txBody>
      </p:sp>
      <p:sp>
        <p:nvSpPr>
          <p:cNvPr id="222" name="Shape 220"/>
          <p:cNvSpPr/>
          <p:nvPr/>
        </p:nvSpPr>
        <p:spPr>
          <a:xfrm>
            <a:off x="6368796" y="5253228"/>
            <a:ext cx="612648" cy="246888"/>
          </a:xfrm>
          <a:prstGeom prst="rect">
            <a:avLst/>
          </a:prstGeom>
          <a:solidFill>
            <a:srgbClr val="E8F5ED"/>
          </a:solidFill>
          <a:ln/>
        </p:spPr>
      </p:sp>
      <p:sp>
        <p:nvSpPr>
          <p:cNvPr id="223" name="Text 221"/>
          <p:cNvSpPr txBox="1"/>
          <p:nvPr/>
        </p:nvSpPr>
        <p:spPr>
          <a:xfrm>
            <a:off x="6355080" y="5239512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E2B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1.7x</a:t>
            </a:r>
            <a:endParaRPr lang="en-US" sz="950" dirty="0"/>
          </a:p>
        </p:txBody>
      </p:sp>
      <p:sp>
        <p:nvSpPr>
          <p:cNvPr id="224" name="Shape 222"/>
          <p:cNvSpPr/>
          <p:nvPr/>
        </p:nvSpPr>
        <p:spPr>
          <a:xfrm>
            <a:off x="7008876" y="5253228"/>
            <a:ext cx="612648" cy="246888"/>
          </a:xfrm>
          <a:prstGeom prst="rect">
            <a:avLst/>
          </a:prstGeom>
          <a:solidFill>
            <a:srgbClr val="ECF6F0"/>
          </a:solidFill>
          <a:ln/>
        </p:spPr>
      </p:sp>
      <p:sp>
        <p:nvSpPr>
          <p:cNvPr id="225" name="Text 223"/>
          <p:cNvSpPr txBox="1"/>
          <p:nvPr/>
        </p:nvSpPr>
        <p:spPr>
          <a:xfrm>
            <a:off x="6995160" y="5239512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E2B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1.6x</a:t>
            </a:r>
            <a:endParaRPr lang="en-US" sz="950" dirty="0"/>
          </a:p>
        </p:txBody>
      </p:sp>
      <p:sp>
        <p:nvSpPr>
          <p:cNvPr id="226" name="Shape 224"/>
          <p:cNvSpPr/>
          <p:nvPr/>
        </p:nvSpPr>
        <p:spPr>
          <a:xfrm>
            <a:off x="7648956" y="5253228"/>
            <a:ext cx="612648" cy="246888"/>
          </a:xfrm>
          <a:prstGeom prst="rect">
            <a:avLst/>
          </a:prstGeom>
          <a:solidFill>
            <a:srgbClr val="F0F8F2"/>
          </a:solidFill>
          <a:ln/>
        </p:spPr>
      </p:sp>
      <p:sp>
        <p:nvSpPr>
          <p:cNvPr id="227" name="Text 225"/>
          <p:cNvSpPr txBox="1"/>
          <p:nvPr/>
        </p:nvSpPr>
        <p:spPr>
          <a:xfrm>
            <a:off x="7635240" y="5239512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E2B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1.5x</a:t>
            </a:r>
            <a:endParaRPr lang="en-US" sz="950" dirty="0"/>
          </a:p>
        </p:txBody>
      </p:sp>
      <p:sp>
        <p:nvSpPr>
          <p:cNvPr id="228" name="Shape 226"/>
          <p:cNvSpPr/>
          <p:nvPr/>
        </p:nvSpPr>
        <p:spPr>
          <a:xfrm>
            <a:off x="4617720" y="5870448"/>
            <a:ext cx="1060704" cy="21945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9701A"/>
            </a:solidFill>
            <a:prstDash val="solid"/>
          </a:ln>
        </p:spPr>
      </p:sp>
      <p:sp>
        <p:nvSpPr>
          <p:cNvPr id="229" name="Text 227"/>
          <p:cNvSpPr txBox="1"/>
          <p:nvPr/>
        </p:nvSpPr>
        <p:spPr>
          <a:xfrm>
            <a:off x="4617720" y="5870448"/>
            <a:ext cx="10607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D970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OUTPUT</a:t>
            </a:r>
            <a:endParaRPr lang="en-US" sz="900" dirty="0"/>
          </a:p>
        </p:txBody>
      </p:sp>
      <p:sp>
        <p:nvSpPr>
          <p:cNvPr id="230" name="Text 228"/>
          <p:cNvSpPr txBox="1"/>
          <p:nvPr/>
        </p:nvSpPr>
        <p:spPr>
          <a:xfrm>
            <a:off x="6263640" y="5833872"/>
            <a:ext cx="1920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7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cells: ₹30 with 6.6 % reduction; ₹35k with 3 %.</a:t>
            </a:r>
            <a:endParaRPr lang="en-US" sz="900" dirty="0"/>
          </a:p>
        </p:txBody>
      </p:sp>
      <p:sp>
        <p:nvSpPr>
          <p:cNvPr id="231" name="Shape 229"/>
          <p:cNvSpPr/>
          <p:nvPr/>
        </p:nvSpPr>
        <p:spPr>
          <a:xfrm>
            <a:off x="8412480" y="1115568"/>
            <a:ext cx="3367735" cy="5212080"/>
          </a:xfrm>
          <a:prstGeom prst="roundRect">
            <a:avLst>
              <a:gd name="adj" fmla="val 3801"/>
            </a:avLst>
          </a:prstGeom>
          <a:solidFill>
            <a:srgbClr val="E3EEFB"/>
          </a:solidFill>
          <a:ln/>
        </p:spPr>
      </p:sp>
      <p:sp>
        <p:nvSpPr>
          <p:cNvPr id="232" name="Shape 230"/>
          <p:cNvSpPr/>
          <p:nvPr/>
        </p:nvSpPr>
        <p:spPr>
          <a:xfrm>
            <a:off x="8558784" y="1220724"/>
            <a:ext cx="128016" cy="128016"/>
          </a:xfrm>
          <a:prstGeom prst="ellipse">
            <a:avLst/>
          </a:prstGeom>
          <a:solidFill>
            <a:srgbClr val="2F80D1"/>
          </a:solidFill>
          <a:ln/>
        </p:spPr>
      </p:sp>
      <p:sp>
        <p:nvSpPr>
          <p:cNvPr id="233" name="Text 231"/>
          <p:cNvSpPr txBox="1"/>
          <p:nvPr/>
        </p:nvSpPr>
        <p:spPr>
          <a:xfrm>
            <a:off x="8759952" y="1161288"/>
            <a:ext cx="2910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50" kern="0" dirty="0">
                <a:solidFill>
                  <a:srgbClr val="1F6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TORNADO AND SEGMENTS</a:t>
            </a:r>
            <a:endParaRPr lang="en-US" sz="1200" dirty="0"/>
          </a:p>
        </p:txBody>
      </p:sp>
      <p:sp>
        <p:nvSpPr>
          <p:cNvPr id="234" name="Text 232"/>
          <p:cNvSpPr txBox="1"/>
          <p:nvPr/>
        </p:nvSpPr>
        <p:spPr>
          <a:xfrm>
            <a:off x="8503920" y="1463040"/>
            <a:ext cx="318485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E2B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LTV ÷ acquisition cost, one input at a time</a:t>
            </a:r>
            <a:endParaRPr lang="en-US" sz="1000" dirty="0"/>
          </a:p>
        </p:txBody>
      </p:sp>
      <p:sp>
        <p:nvSpPr>
          <p:cNvPr id="235" name="Text 233"/>
          <p:cNvSpPr txBox="1"/>
          <p:nvPr/>
        </p:nvSpPr>
        <p:spPr>
          <a:xfrm>
            <a:off x="8503920" y="1783080"/>
            <a:ext cx="1325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2633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Price ₹20 to ₹40</a:t>
            </a:r>
            <a:endParaRPr lang="en-US" sz="900" dirty="0"/>
          </a:p>
        </p:txBody>
      </p:sp>
      <p:sp>
        <p:nvSpPr>
          <p:cNvPr id="236" name="Shape 234"/>
          <p:cNvSpPr/>
          <p:nvPr/>
        </p:nvSpPr>
        <p:spPr>
          <a:xfrm>
            <a:off x="10079383" y="1856232"/>
            <a:ext cx="610092" cy="237744"/>
          </a:xfrm>
          <a:prstGeom prst="rect">
            <a:avLst/>
          </a:prstGeom>
          <a:solidFill>
            <a:srgbClr val="F6B26B"/>
          </a:solidFill>
          <a:ln/>
        </p:spPr>
      </p:sp>
      <p:sp>
        <p:nvSpPr>
          <p:cNvPr id="237" name="Shape 235"/>
          <p:cNvSpPr/>
          <p:nvPr/>
        </p:nvSpPr>
        <p:spPr>
          <a:xfrm>
            <a:off x="10689475" y="1856232"/>
            <a:ext cx="610092" cy="237744"/>
          </a:xfrm>
          <a:prstGeom prst="rect">
            <a:avLst/>
          </a:prstGeom>
          <a:solidFill>
            <a:srgbClr val="1FA971"/>
          </a:solidFill>
          <a:ln/>
        </p:spPr>
      </p:sp>
      <p:sp>
        <p:nvSpPr>
          <p:cNvPr id="238" name="Text 236"/>
          <p:cNvSpPr txBox="1"/>
          <p:nvPr/>
        </p:nvSpPr>
        <p:spPr>
          <a:xfrm>
            <a:off x="9731911" y="1783080"/>
            <a:ext cx="3291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7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2.1</a:t>
            </a:r>
            <a:endParaRPr lang="en-US" sz="900" dirty="0"/>
          </a:p>
        </p:txBody>
      </p:sp>
      <p:sp>
        <p:nvSpPr>
          <p:cNvPr id="239" name="Text 237"/>
          <p:cNvSpPr txBox="1"/>
          <p:nvPr/>
        </p:nvSpPr>
        <p:spPr>
          <a:xfrm>
            <a:off x="11327000" y="1783080"/>
            <a:ext cx="365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7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5.2</a:t>
            </a:r>
            <a:endParaRPr lang="en-US" sz="900" dirty="0"/>
          </a:p>
        </p:txBody>
      </p:sp>
      <p:sp>
        <p:nvSpPr>
          <p:cNvPr id="240" name="Text 238"/>
          <p:cNvSpPr txBox="1"/>
          <p:nvPr/>
        </p:nvSpPr>
        <p:spPr>
          <a:xfrm>
            <a:off x="8503920" y="2240280"/>
            <a:ext cx="1325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2633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Pilot conversion 15 to 50 %</a:t>
            </a:r>
            <a:endParaRPr lang="en-US" sz="900" dirty="0"/>
          </a:p>
        </p:txBody>
      </p:sp>
      <p:sp>
        <p:nvSpPr>
          <p:cNvPr id="241" name="Shape 239"/>
          <p:cNvSpPr/>
          <p:nvPr/>
        </p:nvSpPr>
        <p:spPr>
          <a:xfrm>
            <a:off x="10095230" y="2313432"/>
            <a:ext cx="594246" cy="237744"/>
          </a:xfrm>
          <a:prstGeom prst="rect">
            <a:avLst/>
          </a:prstGeom>
          <a:solidFill>
            <a:srgbClr val="F6B26B"/>
          </a:solidFill>
          <a:ln/>
        </p:spPr>
      </p:sp>
      <p:sp>
        <p:nvSpPr>
          <p:cNvPr id="242" name="Shape 240"/>
          <p:cNvSpPr/>
          <p:nvPr/>
        </p:nvSpPr>
        <p:spPr>
          <a:xfrm>
            <a:off x="10689475" y="2313432"/>
            <a:ext cx="554629" cy="237744"/>
          </a:xfrm>
          <a:prstGeom prst="rect">
            <a:avLst/>
          </a:prstGeom>
          <a:solidFill>
            <a:srgbClr val="1FA971"/>
          </a:solidFill>
          <a:ln/>
        </p:spPr>
      </p:sp>
      <p:sp>
        <p:nvSpPr>
          <p:cNvPr id="243" name="Text 241"/>
          <p:cNvSpPr txBox="1"/>
          <p:nvPr/>
        </p:nvSpPr>
        <p:spPr>
          <a:xfrm>
            <a:off x="9747758" y="2240280"/>
            <a:ext cx="3291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7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2.2</a:t>
            </a:r>
            <a:endParaRPr lang="en-US" sz="900" dirty="0"/>
          </a:p>
        </p:txBody>
      </p:sp>
      <p:sp>
        <p:nvSpPr>
          <p:cNvPr id="244" name="Text 242"/>
          <p:cNvSpPr txBox="1"/>
          <p:nvPr/>
        </p:nvSpPr>
        <p:spPr>
          <a:xfrm>
            <a:off x="11271537" y="2240280"/>
            <a:ext cx="365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7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5.1</a:t>
            </a:r>
            <a:endParaRPr lang="en-US" sz="900" dirty="0"/>
          </a:p>
        </p:txBody>
      </p:sp>
      <p:sp>
        <p:nvSpPr>
          <p:cNvPr id="245" name="Text 243"/>
          <p:cNvSpPr txBox="1"/>
          <p:nvPr/>
        </p:nvSpPr>
        <p:spPr>
          <a:xfrm>
            <a:off x="8503920" y="2697480"/>
            <a:ext cx="1325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2633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Non-renewal 30 to 10 %</a:t>
            </a:r>
            <a:endParaRPr lang="en-US" sz="900" dirty="0"/>
          </a:p>
        </p:txBody>
      </p:sp>
      <p:sp>
        <p:nvSpPr>
          <p:cNvPr id="246" name="Shape 244"/>
          <p:cNvSpPr/>
          <p:nvPr/>
        </p:nvSpPr>
        <p:spPr>
          <a:xfrm>
            <a:off x="10483470" y="2770632"/>
            <a:ext cx="206005" cy="237744"/>
          </a:xfrm>
          <a:prstGeom prst="rect">
            <a:avLst/>
          </a:prstGeom>
          <a:solidFill>
            <a:srgbClr val="F6B26B"/>
          </a:solidFill>
          <a:ln/>
        </p:spPr>
      </p:sp>
      <p:sp>
        <p:nvSpPr>
          <p:cNvPr id="247" name="Shape 245"/>
          <p:cNvSpPr/>
          <p:nvPr/>
        </p:nvSpPr>
        <p:spPr>
          <a:xfrm>
            <a:off x="10689475" y="2770632"/>
            <a:ext cx="245622" cy="237744"/>
          </a:xfrm>
          <a:prstGeom prst="rect">
            <a:avLst/>
          </a:prstGeom>
          <a:solidFill>
            <a:srgbClr val="1FA971"/>
          </a:solidFill>
          <a:ln/>
        </p:spPr>
      </p:sp>
      <p:sp>
        <p:nvSpPr>
          <p:cNvPr id="248" name="Text 246"/>
          <p:cNvSpPr txBox="1"/>
          <p:nvPr/>
        </p:nvSpPr>
        <p:spPr>
          <a:xfrm>
            <a:off x="10135998" y="2697480"/>
            <a:ext cx="3291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7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3.1</a:t>
            </a:r>
            <a:endParaRPr lang="en-US" sz="900" dirty="0"/>
          </a:p>
        </p:txBody>
      </p:sp>
      <p:sp>
        <p:nvSpPr>
          <p:cNvPr id="249" name="Text 247"/>
          <p:cNvSpPr txBox="1"/>
          <p:nvPr/>
        </p:nvSpPr>
        <p:spPr>
          <a:xfrm>
            <a:off x="10962529" y="2697480"/>
            <a:ext cx="365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7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4.3</a:t>
            </a:r>
            <a:endParaRPr lang="en-US" sz="900" dirty="0"/>
          </a:p>
        </p:txBody>
      </p:sp>
      <p:sp>
        <p:nvSpPr>
          <p:cNvPr id="250" name="Text 248"/>
          <p:cNvSpPr txBox="1"/>
          <p:nvPr/>
        </p:nvSpPr>
        <p:spPr>
          <a:xfrm>
            <a:off x="8503920" y="3154680"/>
            <a:ext cx="1325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2633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churn 5 to 1.5 %</a:t>
            </a:r>
            <a:endParaRPr lang="en-US" sz="900" dirty="0"/>
          </a:p>
        </p:txBody>
      </p:sp>
      <p:sp>
        <p:nvSpPr>
          <p:cNvPr id="251" name="Shape 249"/>
          <p:cNvSpPr/>
          <p:nvPr/>
        </p:nvSpPr>
        <p:spPr>
          <a:xfrm>
            <a:off x="10451777" y="3227832"/>
            <a:ext cx="237698" cy="237744"/>
          </a:xfrm>
          <a:prstGeom prst="rect">
            <a:avLst/>
          </a:prstGeom>
          <a:solidFill>
            <a:srgbClr val="F6B26B"/>
          </a:solidFill>
          <a:ln/>
        </p:spPr>
      </p:sp>
      <p:sp>
        <p:nvSpPr>
          <p:cNvPr id="252" name="Shape 250"/>
          <p:cNvSpPr/>
          <p:nvPr/>
        </p:nvSpPr>
        <p:spPr>
          <a:xfrm>
            <a:off x="10689475" y="3227832"/>
            <a:ext cx="237698" cy="237744"/>
          </a:xfrm>
          <a:prstGeom prst="rect">
            <a:avLst/>
          </a:prstGeom>
          <a:solidFill>
            <a:srgbClr val="1FA971"/>
          </a:solidFill>
          <a:ln/>
        </p:spPr>
      </p:sp>
      <p:sp>
        <p:nvSpPr>
          <p:cNvPr id="253" name="Text 251"/>
          <p:cNvSpPr txBox="1"/>
          <p:nvPr/>
        </p:nvSpPr>
        <p:spPr>
          <a:xfrm>
            <a:off x="10104305" y="3154680"/>
            <a:ext cx="3291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7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3.1</a:t>
            </a:r>
            <a:endParaRPr lang="en-US" sz="900" dirty="0"/>
          </a:p>
        </p:txBody>
      </p:sp>
      <p:sp>
        <p:nvSpPr>
          <p:cNvPr id="254" name="Text 252"/>
          <p:cNvSpPr txBox="1"/>
          <p:nvPr/>
        </p:nvSpPr>
        <p:spPr>
          <a:xfrm>
            <a:off x="10954606" y="3154680"/>
            <a:ext cx="365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7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4.3</a:t>
            </a:r>
            <a:endParaRPr lang="en-US" sz="900" dirty="0"/>
          </a:p>
        </p:txBody>
      </p:sp>
      <p:sp>
        <p:nvSpPr>
          <p:cNvPr id="255" name="Text 253"/>
          <p:cNvSpPr txBox="1"/>
          <p:nvPr/>
        </p:nvSpPr>
        <p:spPr>
          <a:xfrm>
            <a:off x="8503920" y="3611880"/>
            <a:ext cx="1325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2633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Pilots per rep 6 to 14</a:t>
            </a:r>
            <a:endParaRPr lang="en-US" sz="900" dirty="0"/>
          </a:p>
        </p:txBody>
      </p:sp>
      <p:sp>
        <p:nvSpPr>
          <p:cNvPr id="256" name="Shape 254"/>
          <p:cNvSpPr/>
          <p:nvPr/>
        </p:nvSpPr>
        <p:spPr>
          <a:xfrm>
            <a:off x="10467624" y="3685032"/>
            <a:ext cx="221852" cy="237744"/>
          </a:xfrm>
          <a:prstGeom prst="rect">
            <a:avLst/>
          </a:prstGeom>
          <a:solidFill>
            <a:srgbClr val="F6B26B"/>
          </a:solidFill>
          <a:ln/>
        </p:spPr>
      </p:sp>
      <p:sp>
        <p:nvSpPr>
          <p:cNvPr id="257" name="Shape 255"/>
          <p:cNvSpPr/>
          <p:nvPr/>
        </p:nvSpPr>
        <p:spPr>
          <a:xfrm>
            <a:off x="10689475" y="3685032"/>
            <a:ext cx="122811" cy="237744"/>
          </a:xfrm>
          <a:prstGeom prst="rect">
            <a:avLst/>
          </a:prstGeom>
          <a:solidFill>
            <a:srgbClr val="1FA971"/>
          </a:solidFill>
          <a:ln/>
        </p:spPr>
      </p:sp>
      <p:sp>
        <p:nvSpPr>
          <p:cNvPr id="258" name="Text 256"/>
          <p:cNvSpPr txBox="1"/>
          <p:nvPr/>
        </p:nvSpPr>
        <p:spPr>
          <a:xfrm>
            <a:off x="10120152" y="3611880"/>
            <a:ext cx="3291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7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3.1</a:t>
            </a:r>
            <a:endParaRPr lang="en-US" sz="900" dirty="0"/>
          </a:p>
        </p:txBody>
      </p:sp>
      <p:sp>
        <p:nvSpPr>
          <p:cNvPr id="259" name="Text 257"/>
          <p:cNvSpPr txBox="1"/>
          <p:nvPr/>
        </p:nvSpPr>
        <p:spPr>
          <a:xfrm>
            <a:off x="10839718" y="3611880"/>
            <a:ext cx="365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7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4.0</a:t>
            </a:r>
            <a:endParaRPr lang="en-US" sz="900" dirty="0"/>
          </a:p>
        </p:txBody>
      </p:sp>
      <p:sp>
        <p:nvSpPr>
          <p:cNvPr id="260" name="Shape 258"/>
          <p:cNvSpPr/>
          <p:nvPr/>
        </p:nvSpPr>
        <p:spPr>
          <a:xfrm>
            <a:off x="10680331" y="1737360"/>
            <a:ext cx="18288" cy="2377440"/>
          </a:xfrm>
          <a:prstGeom prst="rect">
            <a:avLst/>
          </a:prstGeom>
          <a:solidFill>
            <a:srgbClr val="1E2B25"/>
          </a:solidFill>
          <a:ln/>
        </p:spPr>
      </p:sp>
      <p:sp>
        <p:nvSpPr>
          <p:cNvPr id="261" name="Text 259"/>
          <p:cNvSpPr txBox="1"/>
          <p:nvPr/>
        </p:nvSpPr>
        <p:spPr>
          <a:xfrm>
            <a:off x="10232275" y="4114800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2B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3.7x</a:t>
            </a:r>
            <a:endParaRPr lang="en-US" sz="900" dirty="0"/>
          </a:p>
        </p:txBody>
      </p:sp>
      <p:pic>
        <p:nvPicPr>
          <p:cNvPr id="262" name="Image 0" descr="LTV over acquisition cost by segmen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32520" y="4389120"/>
            <a:ext cx="2103120" cy="1572768"/>
          </a:xfrm>
          <a:prstGeom prst="rect">
            <a:avLst/>
          </a:prstGeom>
        </p:spPr>
      </p:pic>
      <p:sp>
        <p:nvSpPr>
          <p:cNvPr id="263" name="Text 260"/>
          <p:cNvSpPr txBox="1"/>
          <p:nvPr/>
        </p:nvSpPr>
        <p:spPr>
          <a:xfrm>
            <a:off x="411480" y="6464808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5B67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financial workbook (Scenarios, Sensitivity). List price ₹30; ERP and LMS prices found: ₹4 to ₹21. Willingness to pay is untested.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92240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75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5"/>
          <p:cNvSpPr/>
          <p:nvPr>
            <p:ph idx="105" type="title" hasCustomPrompt="1"/>
          </p:nvPr>
        </p:nvSpPr>
        <p:spPr>
          <a:xfrm>
            <a:off x="411480" y="310896"/>
            <a:ext cx="113687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E2B2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Start with mid-size institutes in Patna and Lucknow, keep small ones self-serve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7589520" y="182880"/>
            <a:ext cx="41879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b="1" spc="150" kern="0" dirty="0">
                <a:solidFill>
                  <a:srgbClr val="5B67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 AND GO-TO-MARKET 10 %</a:t>
            </a:r>
            <a:endParaRPr lang="en-US" sz="950" dirty="0"/>
          </a:p>
        </p:txBody>
      </p:sp>
      <p:sp>
        <p:nvSpPr>
          <p:cNvPr id="4" name="Shape 2"/>
          <p:cNvSpPr/>
          <p:nvPr/>
        </p:nvSpPr>
        <p:spPr>
          <a:xfrm>
            <a:off x="411480" y="1115568"/>
            <a:ext cx="4480560" cy="301752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28575">
            <a:solidFill>
              <a:srgbClr val="1FA97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337310" y="1106424"/>
            <a:ext cx="2628900" cy="274320"/>
          </a:xfrm>
          <a:prstGeom prst="roundRect">
            <a:avLst>
              <a:gd name="adj" fmla="val 50000"/>
            </a:avLst>
          </a:prstGeom>
          <a:solidFill>
            <a:srgbClr val="1FA971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337310" y="1106424"/>
            <a:ext cx="26289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INSTITUTES PAY TODAY</a:t>
            </a:r>
            <a:endParaRPr lang="en-US" sz="1150" dirty="0"/>
          </a:p>
        </p:txBody>
      </p:sp>
      <p:pic>
        <p:nvPicPr>
          <p:cNvPr id="7" name="Image 0" descr="Listed prices of generic institute app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463040"/>
            <a:ext cx="4297680" cy="23774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21208" y="3858768"/>
            <a:ext cx="3224784" cy="1828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9701A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521208" y="3858768"/>
            <a:ext cx="32247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D970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OUTPUT INPUTS: LISTED PRICES, LOW TO MEDIUM</a:t>
            </a:r>
            <a:endParaRPr lang="en-US" sz="800" dirty="0"/>
          </a:p>
        </p:txBody>
      </p:sp>
      <p:sp>
        <p:nvSpPr>
          <p:cNvPr id="10" name="Shape 7"/>
          <p:cNvSpPr/>
          <p:nvPr/>
        </p:nvSpPr>
        <p:spPr>
          <a:xfrm>
            <a:off x="5029200" y="1115568"/>
            <a:ext cx="3611880" cy="301752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28575">
            <a:solidFill>
              <a:srgbClr val="F28C28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6172200" y="1106424"/>
            <a:ext cx="1325880" cy="274320"/>
          </a:xfrm>
          <a:prstGeom prst="roundRect">
            <a:avLst>
              <a:gd name="adj" fmla="val 50000"/>
            </a:avLst>
          </a:prstGeom>
          <a:solidFill>
            <a:srgbClr val="F28C28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172200" y="1106424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FUNNEL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 flipV="1">
            <a:off x="5138928" y="1481328"/>
            <a:ext cx="3392424" cy="786384"/>
          </a:xfrm>
          <a:prstGeom prst="trapezoid">
            <a:avLst/>
          </a:prstGeom>
          <a:solidFill>
            <a:srgbClr val="F28C28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5381244" y="1508760"/>
            <a:ext cx="29077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Retro-pilot</a:t>
            </a:r>
            <a:endParaRPr lang="en-US" sz="140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Last year's Excel: who left, would we have caught them?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 flipV="1">
            <a:off x="5335524" y="2304288"/>
            <a:ext cx="2999232" cy="786384"/>
          </a:xfrm>
          <a:prstGeom prst="trapezoid">
            <a:avLst/>
          </a:prstGeom>
          <a:solidFill>
            <a:srgbClr val="2F80D1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5577840" y="2331720"/>
            <a:ext cx="2514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Paid pilot</a:t>
            </a:r>
            <a:endParaRPr lang="en-US" sz="140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month, agreed measures; about 30 % convert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 flipV="1">
            <a:off x="5532120" y="3127248"/>
            <a:ext cx="2606040" cy="786384"/>
          </a:xfrm>
          <a:prstGeom prst="trapezoid">
            <a:avLst/>
          </a:prstGeom>
          <a:solidFill>
            <a:srgbClr val="F7B5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5774436" y="3154680"/>
            <a:ext cx="212140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E2B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Onboarded</a:t>
            </a:r>
            <a:endParaRPr lang="en-US" sz="140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1E2B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₹8,000 each, after conversion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8778240" y="1115568"/>
            <a:ext cx="3001975" cy="3017520"/>
          </a:xfrm>
          <a:prstGeom prst="roundRect">
            <a:avLst>
              <a:gd name="adj" fmla="val 5483"/>
            </a:avLst>
          </a:prstGeom>
          <a:solidFill>
            <a:srgbClr val="FFFFFF"/>
          </a:solidFill>
          <a:ln w="28575">
            <a:solidFill>
              <a:srgbClr val="2F80D1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9399118" y="1106424"/>
            <a:ext cx="1760220" cy="274320"/>
          </a:xfrm>
          <a:prstGeom prst="roundRect">
            <a:avLst>
              <a:gd name="adj" fmla="val 50000"/>
            </a:avLst>
          </a:prstGeom>
          <a:solidFill>
            <a:srgbClr val="2F80D1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9399118" y="1106424"/>
            <a:ext cx="17602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SEGMENTS (BASE)</a:t>
            </a:r>
            <a:endParaRPr lang="en-US" sz="1150" dirty="0"/>
          </a:p>
        </p:txBody>
      </p:sp>
      <p:sp>
        <p:nvSpPr>
          <p:cNvPr id="22" name="Shape 19"/>
          <p:cNvSpPr/>
          <p:nvPr/>
        </p:nvSpPr>
        <p:spPr>
          <a:xfrm>
            <a:off x="8851392" y="1463040"/>
            <a:ext cx="777240" cy="274320"/>
          </a:xfrm>
          <a:prstGeom prst="rect">
            <a:avLst/>
          </a:prstGeom>
          <a:solidFill>
            <a:srgbClr val="1F63A8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8897112" y="1463040"/>
            <a:ext cx="685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950" dirty="0"/>
          </a:p>
        </p:txBody>
      </p:sp>
      <p:sp>
        <p:nvSpPr>
          <p:cNvPr id="24" name="Shape 21"/>
          <p:cNvSpPr/>
          <p:nvPr/>
        </p:nvSpPr>
        <p:spPr>
          <a:xfrm>
            <a:off x="9628632" y="1463040"/>
            <a:ext cx="640080" cy="274320"/>
          </a:xfrm>
          <a:prstGeom prst="rect">
            <a:avLst/>
          </a:prstGeom>
          <a:solidFill>
            <a:srgbClr val="5B675F"/>
          </a:solidFill>
          <a:ln/>
        </p:spPr>
      </p:sp>
      <p:sp>
        <p:nvSpPr>
          <p:cNvPr id="25" name="Text 22"/>
          <p:cNvSpPr txBox="1"/>
          <p:nvPr/>
        </p:nvSpPr>
        <p:spPr>
          <a:xfrm>
            <a:off x="9674352" y="14630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</a:t>
            </a:r>
            <a:endParaRPr lang="en-US" sz="950" dirty="0"/>
          </a:p>
        </p:txBody>
      </p:sp>
      <p:sp>
        <p:nvSpPr>
          <p:cNvPr id="26" name="Shape 23"/>
          <p:cNvSpPr/>
          <p:nvPr/>
        </p:nvSpPr>
        <p:spPr>
          <a:xfrm>
            <a:off x="10268712" y="1463040"/>
            <a:ext cx="640080" cy="274320"/>
          </a:xfrm>
          <a:prstGeom prst="rect">
            <a:avLst/>
          </a:prstGeom>
          <a:solidFill>
            <a:srgbClr val="0E7C4F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10314432" y="14630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</a:t>
            </a:r>
            <a:endParaRPr lang="en-US" sz="950" dirty="0"/>
          </a:p>
        </p:txBody>
      </p:sp>
      <p:sp>
        <p:nvSpPr>
          <p:cNvPr id="28" name="Shape 25"/>
          <p:cNvSpPr/>
          <p:nvPr/>
        </p:nvSpPr>
        <p:spPr>
          <a:xfrm>
            <a:off x="10908792" y="1463040"/>
            <a:ext cx="731520" cy="274320"/>
          </a:xfrm>
          <a:prstGeom prst="rect">
            <a:avLst/>
          </a:prstGeom>
          <a:solidFill>
            <a:srgbClr val="5B675F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10954512" y="146304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</a:t>
            </a:r>
            <a:endParaRPr lang="en-US" sz="950" dirty="0"/>
          </a:p>
        </p:txBody>
      </p:sp>
      <p:sp>
        <p:nvSpPr>
          <p:cNvPr id="30" name="Shape 27"/>
          <p:cNvSpPr/>
          <p:nvPr/>
        </p:nvSpPr>
        <p:spPr>
          <a:xfrm>
            <a:off x="8851392" y="1737360"/>
            <a:ext cx="777240" cy="329184"/>
          </a:xfrm>
          <a:prstGeom prst="rect">
            <a:avLst/>
          </a:prstGeom>
          <a:solidFill>
            <a:srgbClr val="F1F7F3"/>
          </a:solidFill>
          <a:ln/>
        </p:spPr>
      </p:sp>
      <p:sp>
        <p:nvSpPr>
          <p:cNvPr id="31" name="Text 28"/>
          <p:cNvSpPr txBox="1"/>
          <p:nvPr/>
        </p:nvSpPr>
        <p:spPr>
          <a:xfrm>
            <a:off x="8897112" y="1737360"/>
            <a:ext cx="685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2633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Students</a:t>
            </a:r>
            <a:endParaRPr lang="en-US" sz="950" dirty="0"/>
          </a:p>
        </p:txBody>
      </p:sp>
      <p:sp>
        <p:nvSpPr>
          <p:cNvPr id="32" name="Shape 29"/>
          <p:cNvSpPr/>
          <p:nvPr/>
        </p:nvSpPr>
        <p:spPr>
          <a:xfrm>
            <a:off x="9628632" y="1737360"/>
            <a:ext cx="640080" cy="329184"/>
          </a:xfrm>
          <a:prstGeom prst="rect">
            <a:avLst/>
          </a:prstGeom>
          <a:solidFill>
            <a:srgbClr val="F1F7F3"/>
          </a:solidFill>
          <a:ln/>
        </p:spPr>
      </p:sp>
      <p:sp>
        <p:nvSpPr>
          <p:cNvPr id="33" name="Text 30"/>
          <p:cNvSpPr txBox="1"/>
          <p:nvPr/>
        </p:nvSpPr>
        <p:spPr>
          <a:xfrm>
            <a:off x="9674352" y="1737360"/>
            <a:ext cx="548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2633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180</a:t>
            </a:r>
            <a:endParaRPr lang="en-US" sz="950" dirty="0"/>
          </a:p>
        </p:txBody>
      </p:sp>
      <p:sp>
        <p:nvSpPr>
          <p:cNvPr id="34" name="Shape 31"/>
          <p:cNvSpPr/>
          <p:nvPr/>
        </p:nvSpPr>
        <p:spPr>
          <a:xfrm>
            <a:off x="10268712" y="1737360"/>
            <a:ext cx="640080" cy="329184"/>
          </a:xfrm>
          <a:prstGeom prst="rect">
            <a:avLst/>
          </a:prstGeom>
          <a:solidFill>
            <a:srgbClr val="F1F7F3"/>
          </a:solidFill>
          <a:ln/>
        </p:spPr>
      </p:sp>
      <p:sp>
        <p:nvSpPr>
          <p:cNvPr id="35" name="Text 32"/>
          <p:cNvSpPr txBox="1"/>
          <p:nvPr/>
        </p:nvSpPr>
        <p:spPr>
          <a:xfrm>
            <a:off x="10314432" y="1737360"/>
            <a:ext cx="548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2633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400</a:t>
            </a:r>
            <a:endParaRPr lang="en-US" sz="950" dirty="0"/>
          </a:p>
        </p:txBody>
      </p:sp>
      <p:sp>
        <p:nvSpPr>
          <p:cNvPr id="36" name="Shape 33"/>
          <p:cNvSpPr/>
          <p:nvPr/>
        </p:nvSpPr>
        <p:spPr>
          <a:xfrm>
            <a:off x="10908792" y="1737360"/>
            <a:ext cx="731520" cy="329184"/>
          </a:xfrm>
          <a:prstGeom prst="rect">
            <a:avLst/>
          </a:prstGeom>
          <a:solidFill>
            <a:srgbClr val="F1F7F3"/>
          </a:solidFill>
          <a:ln/>
        </p:spPr>
      </p:sp>
      <p:sp>
        <p:nvSpPr>
          <p:cNvPr id="37" name="Text 34"/>
          <p:cNvSpPr txBox="1"/>
          <p:nvPr/>
        </p:nvSpPr>
        <p:spPr>
          <a:xfrm>
            <a:off x="10954512" y="1737360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2633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1,200</a:t>
            </a:r>
            <a:endParaRPr lang="en-US" sz="950" dirty="0"/>
          </a:p>
        </p:txBody>
      </p:sp>
      <p:sp>
        <p:nvSpPr>
          <p:cNvPr id="38" name="Shape 35"/>
          <p:cNvSpPr/>
          <p:nvPr/>
        </p:nvSpPr>
        <p:spPr>
          <a:xfrm>
            <a:off x="8851392" y="2066544"/>
            <a:ext cx="2788920" cy="0"/>
          </a:xfrm>
          <a:prstGeom prst="line">
            <a:avLst/>
          </a:prstGeom>
          <a:noFill/>
          <a:ln w="6350">
            <a:solidFill>
              <a:srgbClr val="E3E8E4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>
            <a:off x="8851392" y="2066544"/>
            <a:ext cx="777240" cy="32918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0" name="Text 37"/>
          <p:cNvSpPr txBox="1"/>
          <p:nvPr/>
        </p:nvSpPr>
        <p:spPr>
          <a:xfrm>
            <a:off x="8897112" y="2066544"/>
            <a:ext cx="685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2633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Annual fee</a:t>
            </a:r>
            <a:endParaRPr lang="en-US" sz="950" dirty="0"/>
          </a:p>
        </p:txBody>
      </p:sp>
      <p:sp>
        <p:nvSpPr>
          <p:cNvPr id="41" name="Shape 38"/>
          <p:cNvSpPr/>
          <p:nvPr/>
        </p:nvSpPr>
        <p:spPr>
          <a:xfrm>
            <a:off x="9628632" y="2066544"/>
            <a:ext cx="640080" cy="32918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2" name="Text 39"/>
          <p:cNvSpPr txBox="1"/>
          <p:nvPr/>
        </p:nvSpPr>
        <p:spPr>
          <a:xfrm>
            <a:off x="9674352" y="2066544"/>
            <a:ext cx="548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2633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₹65k</a:t>
            </a:r>
            <a:endParaRPr lang="en-US" sz="950" dirty="0"/>
          </a:p>
        </p:txBody>
      </p:sp>
      <p:sp>
        <p:nvSpPr>
          <p:cNvPr id="43" name="Shape 40"/>
          <p:cNvSpPr/>
          <p:nvPr/>
        </p:nvSpPr>
        <p:spPr>
          <a:xfrm>
            <a:off x="10268712" y="2066544"/>
            <a:ext cx="640080" cy="32918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4" name="Text 41"/>
          <p:cNvSpPr txBox="1"/>
          <p:nvPr/>
        </p:nvSpPr>
        <p:spPr>
          <a:xfrm>
            <a:off x="10314432" y="2066544"/>
            <a:ext cx="548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2633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₹95k</a:t>
            </a:r>
            <a:endParaRPr lang="en-US" sz="950" dirty="0"/>
          </a:p>
        </p:txBody>
      </p:sp>
      <p:sp>
        <p:nvSpPr>
          <p:cNvPr id="45" name="Shape 42"/>
          <p:cNvSpPr/>
          <p:nvPr/>
        </p:nvSpPr>
        <p:spPr>
          <a:xfrm>
            <a:off x="10908792" y="2066544"/>
            <a:ext cx="731520" cy="32918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6" name="Text 43"/>
          <p:cNvSpPr txBox="1"/>
          <p:nvPr/>
        </p:nvSpPr>
        <p:spPr>
          <a:xfrm>
            <a:off x="10954512" y="2066544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2633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₹1.25L</a:t>
            </a:r>
            <a:endParaRPr lang="en-US" sz="950" dirty="0"/>
          </a:p>
        </p:txBody>
      </p:sp>
      <p:sp>
        <p:nvSpPr>
          <p:cNvPr id="47" name="Shape 44"/>
          <p:cNvSpPr/>
          <p:nvPr/>
        </p:nvSpPr>
        <p:spPr>
          <a:xfrm>
            <a:off x="8851392" y="2395728"/>
            <a:ext cx="2788920" cy="0"/>
          </a:xfrm>
          <a:prstGeom prst="line">
            <a:avLst/>
          </a:prstGeom>
          <a:noFill/>
          <a:ln w="6350">
            <a:solidFill>
              <a:srgbClr val="E3E8E4"/>
            </a:solidFill>
            <a:prstDash val="solid"/>
          </a:ln>
        </p:spPr>
      </p:sp>
      <p:sp>
        <p:nvSpPr>
          <p:cNvPr id="48" name="Shape 45"/>
          <p:cNvSpPr/>
          <p:nvPr/>
        </p:nvSpPr>
        <p:spPr>
          <a:xfrm>
            <a:off x="8851392" y="2395728"/>
            <a:ext cx="777240" cy="329184"/>
          </a:xfrm>
          <a:prstGeom prst="rect">
            <a:avLst/>
          </a:prstGeom>
          <a:solidFill>
            <a:srgbClr val="F1F7F3"/>
          </a:solidFill>
          <a:ln/>
        </p:spPr>
      </p:sp>
      <p:sp>
        <p:nvSpPr>
          <p:cNvPr id="49" name="Text 46"/>
          <p:cNvSpPr txBox="1"/>
          <p:nvPr/>
        </p:nvSpPr>
        <p:spPr>
          <a:xfrm>
            <a:off x="8897112" y="2395728"/>
            <a:ext cx="685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2633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LTV÷CAC</a:t>
            </a:r>
            <a:endParaRPr lang="en-US" sz="950" dirty="0"/>
          </a:p>
        </p:txBody>
      </p:sp>
      <p:sp>
        <p:nvSpPr>
          <p:cNvPr id="50" name="Shape 47"/>
          <p:cNvSpPr/>
          <p:nvPr/>
        </p:nvSpPr>
        <p:spPr>
          <a:xfrm>
            <a:off x="9628632" y="2395728"/>
            <a:ext cx="640080" cy="329184"/>
          </a:xfrm>
          <a:prstGeom prst="rect">
            <a:avLst/>
          </a:prstGeom>
          <a:solidFill>
            <a:srgbClr val="F1F7F3"/>
          </a:solidFill>
          <a:ln/>
        </p:spPr>
      </p:sp>
      <p:sp>
        <p:nvSpPr>
          <p:cNvPr id="51" name="Text 48"/>
          <p:cNvSpPr txBox="1"/>
          <p:nvPr/>
        </p:nvSpPr>
        <p:spPr>
          <a:xfrm>
            <a:off x="9674352" y="2395728"/>
            <a:ext cx="548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2633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1.5x</a:t>
            </a:r>
            <a:endParaRPr lang="en-US" sz="950" dirty="0"/>
          </a:p>
        </p:txBody>
      </p:sp>
      <p:sp>
        <p:nvSpPr>
          <p:cNvPr id="52" name="Shape 49"/>
          <p:cNvSpPr/>
          <p:nvPr/>
        </p:nvSpPr>
        <p:spPr>
          <a:xfrm>
            <a:off x="10268712" y="2395728"/>
            <a:ext cx="640080" cy="329184"/>
          </a:xfrm>
          <a:prstGeom prst="rect">
            <a:avLst/>
          </a:prstGeom>
          <a:solidFill>
            <a:srgbClr val="F1F7F3"/>
          </a:solidFill>
          <a:ln/>
        </p:spPr>
      </p:sp>
      <p:sp>
        <p:nvSpPr>
          <p:cNvPr id="53" name="Text 50"/>
          <p:cNvSpPr txBox="1"/>
          <p:nvPr/>
        </p:nvSpPr>
        <p:spPr>
          <a:xfrm>
            <a:off x="10314432" y="2395728"/>
            <a:ext cx="548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633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3.7x</a:t>
            </a:r>
            <a:endParaRPr lang="en-US" sz="950" dirty="0"/>
          </a:p>
        </p:txBody>
      </p:sp>
      <p:sp>
        <p:nvSpPr>
          <p:cNvPr id="54" name="Shape 51"/>
          <p:cNvSpPr/>
          <p:nvPr/>
        </p:nvSpPr>
        <p:spPr>
          <a:xfrm>
            <a:off x="10908792" y="2395728"/>
            <a:ext cx="731520" cy="329184"/>
          </a:xfrm>
          <a:prstGeom prst="rect">
            <a:avLst/>
          </a:prstGeom>
          <a:solidFill>
            <a:srgbClr val="F1F7F3"/>
          </a:solidFill>
          <a:ln/>
        </p:spPr>
      </p:sp>
      <p:sp>
        <p:nvSpPr>
          <p:cNvPr id="55" name="Text 52"/>
          <p:cNvSpPr txBox="1"/>
          <p:nvPr/>
        </p:nvSpPr>
        <p:spPr>
          <a:xfrm>
            <a:off x="10954512" y="2395728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2633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9.1x</a:t>
            </a:r>
            <a:endParaRPr lang="en-US" sz="950" dirty="0"/>
          </a:p>
        </p:txBody>
      </p:sp>
      <p:sp>
        <p:nvSpPr>
          <p:cNvPr id="56" name="Shape 53"/>
          <p:cNvSpPr/>
          <p:nvPr/>
        </p:nvSpPr>
        <p:spPr>
          <a:xfrm>
            <a:off x="8851392" y="2724912"/>
            <a:ext cx="2788920" cy="0"/>
          </a:xfrm>
          <a:prstGeom prst="line">
            <a:avLst/>
          </a:prstGeom>
          <a:noFill/>
          <a:ln w="6350">
            <a:solidFill>
              <a:srgbClr val="E3E8E4"/>
            </a:solidFill>
            <a:prstDash val="solid"/>
          </a:ln>
        </p:spPr>
      </p:sp>
      <p:sp>
        <p:nvSpPr>
          <p:cNvPr id="57" name="Shape 54"/>
          <p:cNvSpPr/>
          <p:nvPr/>
        </p:nvSpPr>
        <p:spPr>
          <a:xfrm>
            <a:off x="8851392" y="2724912"/>
            <a:ext cx="777240" cy="32918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8" name="Text 55"/>
          <p:cNvSpPr txBox="1"/>
          <p:nvPr/>
        </p:nvSpPr>
        <p:spPr>
          <a:xfrm>
            <a:off x="8897112" y="2724912"/>
            <a:ext cx="685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2633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Payback</a:t>
            </a:r>
            <a:endParaRPr lang="en-US" sz="950" dirty="0"/>
          </a:p>
        </p:txBody>
      </p:sp>
      <p:sp>
        <p:nvSpPr>
          <p:cNvPr id="59" name="Shape 56"/>
          <p:cNvSpPr/>
          <p:nvPr/>
        </p:nvSpPr>
        <p:spPr>
          <a:xfrm>
            <a:off x="9628632" y="2724912"/>
            <a:ext cx="640080" cy="32918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0" name="Text 57"/>
          <p:cNvSpPr txBox="1"/>
          <p:nvPr/>
        </p:nvSpPr>
        <p:spPr>
          <a:xfrm>
            <a:off x="9674352" y="2724912"/>
            <a:ext cx="548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2633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mo</a:t>
            </a:r>
            <a:endParaRPr lang="en-US" sz="950" dirty="0"/>
          </a:p>
        </p:txBody>
      </p:sp>
      <p:sp>
        <p:nvSpPr>
          <p:cNvPr id="61" name="Shape 58"/>
          <p:cNvSpPr/>
          <p:nvPr/>
        </p:nvSpPr>
        <p:spPr>
          <a:xfrm>
            <a:off x="10268712" y="2724912"/>
            <a:ext cx="640080" cy="32918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2" name="Text 59"/>
          <p:cNvSpPr txBox="1"/>
          <p:nvPr/>
        </p:nvSpPr>
        <p:spPr>
          <a:xfrm>
            <a:off x="10314432" y="2724912"/>
            <a:ext cx="548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633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mo</a:t>
            </a:r>
            <a:endParaRPr lang="en-US" sz="950" dirty="0"/>
          </a:p>
        </p:txBody>
      </p:sp>
      <p:sp>
        <p:nvSpPr>
          <p:cNvPr id="63" name="Shape 60"/>
          <p:cNvSpPr/>
          <p:nvPr/>
        </p:nvSpPr>
        <p:spPr>
          <a:xfrm>
            <a:off x="10908792" y="2724912"/>
            <a:ext cx="731520" cy="32918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4" name="Text 61"/>
          <p:cNvSpPr txBox="1"/>
          <p:nvPr/>
        </p:nvSpPr>
        <p:spPr>
          <a:xfrm>
            <a:off x="10954512" y="272491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2633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mo</a:t>
            </a:r>
            <a:endParaRPr lang="en-US" sz="950" dirty="0"/>
          </a:p>
        </p:txBody>
      </p:sp>
      <p:sp>
        <p:nvSpPr>
          <p:cNvPr id="65" name="Shape 62"/>
          <p:cNvSpPr/>
          <p:nvPr/>
        </p:nvSpPr>
        <p:spPr>
          <a:xfrm>
            <a:off x="8851392" y="3054096"/>
            <a:ext cx="2788920" cy="0"/>
          </a:xfrm>
          <a:prstGeom prst="line">
            <a:avLst/>
          </a:prstGeom>
          <a:noFill/>
          <a:ln w="6350">
            <a:solidFill>
              <a:srgbClr val="E3E8E4"/>
            </a:solidFill>
            <a:prstDash val="solid"/>
          </a:ln>
        </p:spPr>
      </p:sp>
      <p:sp>
        <p:nvSpPr>
          <p:cNvPr id="66" name="Shape 63"/>
          <p:cNvSpPr/>
          <p:nvPr/>
        </p:nvSpPr>
        <p:spPr>
          <a:xfrm>
            <a:off x="8851392" y="3054096"/>
            <a:ext cx="777240" cy="329184"/>
          </a:xfrm>
          <a:prstGeom prst="rect">
            <a:avLst/>
          </a:prstGeom>
          <a:solidFill>
            <a:srgbClr val="F1F7F3"/>
          </a:solidFill>
          <a:ln/>
        </p:spPr>
      </p:sp>
      <p:sp>
        <p:nvSpPr>
          <p:cNvPr id="67" name="Text 64"/>
          <p:cNvSpPr txBox="1"/>
          <p:nvPr/>
        </p:nvSpPr>
        <p:spPr>
          <a:xfrm>
            <a:off x="8897112" y="3054096"/>
            <a:ext cx="685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2633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Motion</a:t>
            </a:r>
            <a:endParaRPr lang="en-US" sz="950" dirty="0"/>
          </a:p>
        </p:txBody>
      </p:sp>
      <p:sp>
        <p:nvSpPr>
          <p:cNvPr id="68" name="Shape 65"/>
          <p:cNvSpPr/>
          <p:nvPr/>
        </p:nvSpPr>
        <p:spPr>
          <a:xfrm>
            <a:off x="9628632" y="3054096"/>
            <a:ext cx="640080" cy="329184"/>
          </a:xfrm>
          <a:prstGeom prst="rect">
            <a:avLst/>
          </a:prstGeom>
          <a:solidFill>
            <a:srgbClr val="F1F7F3"/>
          </a:solidFill>
          <a:ln/>
        </p:spPr>
      </p:sp>
      <p:sp>
        <p:nvSpPr>
          <p:cNvPr id="69" name="Text 66"/>
          <p:cNvSpPr txBox="1"/>
          <p:nvPr/>
        </p:nvSpPr>
        <p:spPr>
          <a:xfrm>
            <a:off x="9674352" y="3054096"/>
            <a:ext cx="548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2633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Self-serve</a:t>
            </a:r>
            <a:endParaRPr lang="en-US" sz="950" dirty="0"/>
          </a:p>
        </p:txBody>
      </p:sp>
      <p:sp>
        <p:nvSpPr>
          <p:cNvPr id="70" name="Shape 67"/>
          <p:cNvSpPr/>
          <p:nvPr/>
        </p:nvSpPr>
        <p:spPr>
          <a:xfrm>
            <a:off x="10268712" y="3054096"/>
            <a:ext cx="640080" cy="329184"/>
          </a:xfrm>
          <a:prstGeom prst="rect">
            <a:avLst/>
          </a:prstGeom>
          <a:solidFill>
            <a:srgbClr val="F1F7F3"/>
          </a:solidFill>
          <a:ln/>
        </p:spPr>
      </p:sp>
      <p:sp>
        <p:nvSpPr>
          <p:cNvPr id="71" name="Text 68"/>
          <p:cNvSpPr txBox="1"/>
          <p:nvPr/>
        </p:nvSpPr>
        <p:spPr>
          <a:xfrm>
            <a:off x="10314432" y="3054096"/>
            <a:ext cx="548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633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Field</a:t>
            </a:r>
            <a:endParaRPr lang="en-US" sz="950" dirty="0"/>
          </a:p>
        </p:txBody>
      </p:sp>
      <p:sp>
        <p:nvSpPr>
          <p:cNvPr id="72" name="Shape 69"/>
          <p:cNvSpPr/>
          <p:nvPr/>
        </p:nvSpPr>
        <p:spPr>
          <a:xfrm>
            <a:off x="10908792" y="3054096"/>
            <a:ext cx="731520" cy="329184"/>
          </a:xfrm>
          <a:prstGeom prst="rect">
            <a:avLst/>
          </a:prstGeom>
          <a:solidFill>
            <a:srgbClr val="F1F7F3"/>
          </a:solidFill>
          <a:ln/>
        </p:spPr>
      </p:sp>
      <p:sp>
        <p:nvSpPr>
          <p:cNvPr id="73" name="Text 70"/>
          <p:cNvSpPr txBox="1"/>
          <p:nvPr/>
        </p:nvSpPr>
        <p:spPr>
          <a:xfrm>
            <a:off x="10954512" y="3054096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2633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Field</a:t>
            </a:r>
            <a:endParaRPr lang="en-US" sz="950" dirty="0"/>
          </a:p>
        </p:txBody>
      </p:sp>
      <p:sp>
        <p:nvSpPr>
          <p:cNvPr id="74" name="Shape 71"/>
          <p:cNvSpPr/>
          <p:nvPr/>
        </p:nvSpPr>
        <p:spPr>
          <a:xfrm>
            <a:off x="8851392" y="3383280"/>
            <a:ext cx="2788920" cy="0"/>
          </a:xfrm>
          <a:prstGeom prst="line">
            <a:avLst/>
          </a:prstGeom>
          <a:noFill/>
          <a:ln w="6350">
            <a:solidFill>
              <a:srgbClr val="E3E8E4"/>
            </a:solidFill>
            <a:prstDash val="solid"/>
          </a:ln>
        </p:spPr>
      </p:sp>
      <p:sp>
        <p:nvSpPr>
          <p:cNvPr id="75" name="Text 72"/>
          <p:cNvSpPr txBox="1"/>
          <p:nvPr/>
        </p:nvSpPr>
        <p:spPr>
          <a:xfrm>
            <a:off x="8869680" y="3474720"/>
            <a:ext cx="28190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E2B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Selling window: March to June, before the new session.</a:t>
            </a:r>
            <a:endParaRPr lang="en-US" sz="1000" dirty="0"/>
          </a:p>
        </p:txBody>
      </p:sp>
      <p:sp>
        <p:nvSpPr>
          <p:cNvPr id="76" name="Shape 73"/>
          <p:cNvSpPr/>
          <p:nvPr/>
        </p:nvSpPr>
        <p:spPr>
          <a:xfrm>
            <a:off x="8869680" y="3931920"/>
            <a:ext cx="216637" cy="164592"/>
          </a:xfrm>
          <a:prstGeom prst="rect">
            <a:avLst/>
          </a:prstGeom>
          <a:solidFill>
            <a:srgbClr val="F28C28"/>
          </a:solidFill>
          <a:ln/>
        </p:spPr>
      </p:sp>
      <p:sp>
        <p:nvSpPr>
          <p:cNvPr id="77" name="Shape 74"/>
          <p:cNvSpPr/>
          <p:nvPr/>
        </p:nvSpPr>
        <p:spPr>
          <a:xfrm>
            <a:off x="9104605" y="3931920"/>
            <a:ext cx="216637" cy="164592"/>
          </a:xfrm>
          <a:prstGeom prst="rect">
            <a:avLst/>
          </a:prstGeom>
          <a:solidFill>
            <a:srgbClr val="F28C28"/>
          </a:solidFill>
          <a:ln/>
        </p:spPr>
      </p:sp>
      <p:sp>
        <p:nvSpPr>
          <p:cNvPr id="78" name="Shape 75"/>
          <p:cNvSpPr/>
          <p:nvPr/>
        </p:nvSpPr>
        <p:spPr>
          <a:xfrm>
            <a:off x="9339529" y="3931920"/>
            <a:ext cx="216637" cy="164592"/>
          </a:xfrm>
          <a:prstGeom prst="rect">
            <a:avLst/>
          </a:prstGeom>
          <a:solidFill>
            <a:srgbClr val="F28C28"/>
          </a:solidFill>
          <a:ln/>
        </p:spPr>
      </p:sp>
      <p:sp>
        <p:nvSpPr>
          <p:cNvPr id="79" name="Shape 76"/>
          <p:cNvSpPr/>
          <p:nvPr/>
        </p:nvSpPr>
        <p:spPr>
          <a:xfrm>
            <a:off x="9574454" y="3931920"/>
            <a:ext cx="216637" cy="164592"/>
          </a:xfrm>
          <a:prstGeom prst="rect">
            <a:avLst/>
          </a:prstGeom>
          <a:solidFill>
            <a:srgbClr val="FFE3C7"/>
          </a:solidFill>
          <a:ln/>
        </p:spPr>
      </p:sp>
      <p:sp>
        <p:nvSpPr>
          <p:cNvPr id="80" name="Shape 77"/>
          <p:cNvSpPr/>
          <p:nvPr/>
        </p:nvSpPr>
        <p:spPr>
          <a:xfrm>
            <a:off x="9809378" y="3931920"/>
            <a:ext cx="216637" cy="164592"/>
          </a:xfrm>
          <a:prstGeom prst="rect">
            <a:avLst/>
          </a:prstGeom>
          <a:solidFill>
            <a:srgbClr val="FFE3C7"/>
          </a:solidFill>
          <a:ln/>
        </p:spPr>
      </p:sp>
      <p:sp>
        <p:nvSpPr>
          <p:cNvPr id="81" name="Shape 78"/>
          <p:cNvSpPr/>
          <p:nvPr/>
        </p:nvSpPr>
        <p:spPr>
          <a:xfrm>
            <a:off x="10044303" y="3931920"/>
            <a:ext cx="216637" cy="164592"/>
          </a:xfrm>
          <a:prstGeom prst="rect">
            <a:avLst/>
          </a:prstGeom>
          <a:solidFill>
            <a:srgbClr val="FFE3C7"/>
          </a:solidFill>
          <a:ln/>
        </p:spPr>
      </p:sp>
      <p:sp>
        <p:nvSpPr>
          <p:cNvPr id="82" name="Shape 79"/>
          <p:cNvSpPr/>
          <p:nvPr/>
        </p:nvSpPr>
        <p:spPr>
          <a:xfrm>
            <a:off x="10279228" y="3931920"/>
            <a:ext cx="216637" cy="164592"/>
          </a:xfrm>
          <a:prstGeom prst="rect">
            <a:avLst/>
          </a:prstGeom>
          <a:solidFill>
            <a:srgbClr val="FFE3C7"/>
          </a:solidFill>
          <a:ln/>
        </p:spPr>
      </p:sp>
      <p:sp>
        <p:nvSpPr>
          <p:cNvPr id="83" name="Shape 80"/>
          <p:cNvSpPr/>
          <p:nvPr/>
        </p:nvSpPr>
        <p:spPr>
          <a:xfrm>
            <a:off x="10514152" y="3931920"/>
            <a:ext cx="216637" cy="164592"/>
          </a:xfrm>
          <a:prstGeom prst="rect">
            <a:avLst/>
          </a:prstGeom>
          <a:solidFill>
            <a:srgbClr val="FFE3C7"/>
          </a:solidFill>
          <a:ln/>
        </p:spPr>
      </p:sp>
      <p:sp>
        <p:nvSpPr>
          <p:cNvPr id="84" name="Shape 81"/>
          <p:cNvSpPr/>
          <p:nvPr/>
        </p:nvSpPr>
        <p:spPr>
          <a:xfrm>
            <a:off x="10749077" y="3931920"/>
            <a:ext cx="216637" cy="164592"/>
          </a:xfrm>
          <a:prstGeom prst="rect">
            <a:avLst/>
          </a:prstGeom>
          <a:solidFill>
            <a:srgbClr val="FFE3C7"/>
          </a:solidFill>
          <a:ln/>
        </p:spPr>
      </p:sp>
      <p:sp>
        <p:nvSpPr>
          <p:cNvPr id="85" name="Shape 82"/>
          <p:cNvSpPr/>
          <p:nvPr/>
        </p:nvSpPr>
        <p:spPr>
          <a:xfrm>
            <a:off x="10984001" y="3931920"/>
            <a:ext cx="216637" cy="164592"/>
          </a:xfrm>
          <a:prstGeom prst="rect">
            <a:avLst/>
          </a:prstGeom>
          <a:solidFill>
            <a:srgbClr val="FFE3C7"/>
          </a:solidFill>
          <a:ln/>
        </p:spPr>
      </p:sp>
      <p:sp>
        <p:nvSpPr>
          <p:cNvPr id="86" name="Shape 83"/>
          <p:cNvSpPr/>
          <p:nvPr/>
        </p:nvSpPr>
        <p:spPr>
          <a:xfrm>
            <a:off x="11218926" y="3931920"/>
            <a:ext cx="216637" cy="164592"/>
          </a:xfrm>
          <a:prstGeom prst="rect">
            <a:avLst/>
          </a:prstGeom>
          <a:solidFill>
            <a:srgbClr val="FFE3C7"/>
          </a:solidFill>
          <a:ln/>
        </p:spPr>
      </p:sp>
      <p:sp>
        <p:nvSpPr>
          <p:cNvPr id="87" name="Shape 84"/>
          <p:cNvSpPr/>
          <p:nvPr/>
        </p:nvSpPr>
        <p:spPr>
          <a:xfrm>
            <a:off x="11453851" y="3931920"/>
            <a:ext cx="216637" cy="164592"/>
          </a:xfrm>
          <a:prstGeom prst="rect">
            <a:avLst/>
          </a:prstGeom>
          <a:solidFill>
            <a:srgbClr val="F28C28"/>
          </a:solidFill>
          <a:ln/>
        </p:spPr>
      </p:sp>
      <p:sp>
        <p:nvSpPr>
          <p:cNvPr id="88" name="Shape 85"/>
          <p:cNvSpPr/>
          <p:nvPr/>
        </p:nvSpPr>
        <p:spPr>
          <a:xfrm>
            <a:off x="411480" y="4251960"/>
            <a:ext cx="7498080" cy="2103120"/>
          </a:xfrm>
          <a:prstGeom prst="roundRect">
            <a:avLst>
              <a:gd name="adj" fmla="val 7826"/>
            </a:avLst>
          </a:prstGeom>
          <a:solidFill>
            <a:srgbClr val="FFFFFF"/>
          </a:solidFill>
          <a:ln w="28575">
            <a:solidFill>
              <a:srgbClr val="F7B500"/>
            </a:solidFill>
            <a:prstDash val="solid"/>
          </a:ln>
        </p:spPr>
      </p:sp>
      <p:sp>
        <p:nvSpPr>
          <p:cNvPr id="89" name="Shape 86"/>
          <p:cNvSpPr/>
          <p:nvPr/>
        </p:nvSpPr>
        <p:spPr>
          <a:xfrm>
            <a:off x="1760220" y="4242816"/>
            <a:ext cx="4800600" cy="274320"/>
          </a:xfrm>
          <a:prstGeom prst="roundRect">
            <a:avLst>
              <a:gd name="adj" fmla="val 50000"/>
            </a:avLst>
          </a:prstGeom>
          <a:solidFill>
            <a:srgbClr val="F7B500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90" name="Text 87"/>
          <p:cNvSpPr txBox="1"/>
          <p:nvPr/>
        </p:nvSpPr>
        <p:spPr>
          <a:xfrm>
            <a:off x="1760220" y="4242816"/>
            <a:ext cx="4800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spc="50" kern="0" dirty="0">
                <a:solidFill>
                  <a:srgbClr val="1E2B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GENERIC APPS SHOW (VENDOR LISTINGS, OCT 2026)</a:t>
            </a:r>
            <a:endParaRPr lang="en-US" sz="1150" dirty="0"/>
          </a:p>
        </p:txBody>
      </p:sp>
      <p:sp>
        <p:nvSpPr>
          <p:cNvPr id="91" name="Shape 88"/>
          <p:cNvSpPr/>
          <p:nvPr/>
        </p:nvSpPr>
        <p:spPr>
          <a:xfrm>
            <a:off x="502920" y="4590288"/>
            <a:ext cx="2011680" cy="256032"/>
          </a:xfrm>
          <a:prstGeom prst="rect">
            <a:avLst/>
          </a:prstGeom>
          <a:solidFill>
            <a:srgbClr val="0E7C4F"/>
          </a:solidFill>
          <a:ln/>
        </p:spPr>
      </p:sp>
      <p:sp>
        <p:nvSpPr>
          <p:cNvPr id="92" name="Text 89"/>
          <p:cNvSpPr txBox="1"/>
          <p:nvPr/>
        </p:nvSpPr>
        <p:spPr>
          <a:xfrm>
            <a:off x="548640" y="459028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950" dirty="0"/>
          </a:p>
        </p:txBody>
      </p:sp>
      <p:sp>
        <p:nvSpPr>
          <p:cNvPr id="93" name="Shape 90"/>
          <p:cNvSpPr/>
          <p:nvPr/>
        </p:nvSpPr>
        <p:spPr>
          <a:xfrm>
            <a:off x="2514600" y="4590288"/>
            <a:ext cx="914400" cy="256032"/>
          </a:xfrm>
          <a:prstGeom prst="rect">
            <a:avLst/>
          </a:prstGeom>
          <a:solidFill>
            <a:srgbClr val="0E7C4F"/>
          </a:solidFill>
          <a:ln/>
        </p:spPr>
      </p:sp>
      <p:sp>
        <p:nvSpPr>
          <p:cNvPr id="94" name="Text 91"/>
          <p:cNvSpPr txBox="1"/>
          <p:nvPr/>
        </p:nvSpPr>
        <p:spPr>
          <a:xfrm>
            <a:off x="2560320" y="4590288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OMR</a:t>
            </a:r>
            <a:endParaRPr lang="en-US" sz="950" dirty="0"/>
          </a:p>
        </p:txBody>
      </p:sp>
      <p:sp>
        <p:nvSpPr>
          <p:cNvPr id="95" name="Shape 92"/>
          <p:cNvSpPr/>
          <p:nvPr/>
        </p:nvSpPr>
        <p:spPr>
          <a:xfrm>
            <a:off x="3429000" y="4590288"/>
            <a:ext cx="1005840" cy="256032"/>
          </a:xfrm>
          <a:prstGeom prst="rect">
            <a:avLst/>
          </a:prstGeom>
          <a:solidFill>
            <a:srgbClr val="0E7C4F"/>
          </a:solidFill>
          <a:ln/>
        </p:spPr>
      </p:sp>
      <p:sp>
        <p:nvSpPr>
          <p:cNvPr id="96" name="Text 93"/>
          <p:cNvSpPr txBox="1"/>
          <p:nvPr/>
        </p:nvSpPr>
        <p:spPr>
          <a:xfrm>
            <a:off x="3474720" y="4590288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Topic analytics</a:t>
            </a:r>
            <a:endParaRPr lang="en-US" sz="950" dirty="0"/>
          </a:p>
        </p:txBody>
      </p:sp>
      <p:sp>
        <p:nvSpPr>
          <p:cNvPr id="97" name="Shape 94"/>
          <p:cNvSpPr/>
          <p:nvPr/>
        </p:nvSpPr>
        <p:spPr>
          <a:xfrm>
            <a:off x="4434840" y="4590288"/>
            <a:ext cx="1005840" cy="256032"/>
          </a:xfrm>
          <a:prstGeom prst="rect">
            <a:avLst/>
          </a:prstGeom>
          <a:solidFill>
            <a:srgbClr val="0E7C4F"/>
          </a:solidFill>
          <a:ln/>
        </p:spPr>
      </p:sp>
      <p:sp>
        <p:nvSpPr>
          <p:cNvPr id="98" name="Text 95"/>
          <p:cNvSpPr txBox="1"/>
          <p:nvPr/>
        </p:nvSpPr>
        <p:spPr>
          <a:xfrm>
            <a:off x="4480560" y="4590288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Parent reports</a:t>
            </a:r>
            <a:endParaRPr lang="en-US" sz="950" dirty="0"/>
          </a:p>
        </p:txBody>
      </p:sp>
      <p:sp>
        <p:nvSpPr>
          <p:cNvPr id="99" name="Shape 96"/>
          <p:cNvSpPr/>
          <p:nvPr/>
        </p:nvSpPr>
        <p:spPr>
          <a:xfrm>
            <a:off x="5440680" y="4590288"/>
            <a:ext cx="822960" cy="256032"/>
          </a:xfrm>
          <a:prstGeom prst="rect">
            <a:avLst/>
          </a:prstGeom>
          <a:solidFill>
            <a:srgbClr val="0E7C4F"/>
          </a:solidFill>
          <a:ln/>
        </p:spPr>
      </p:sp>
      <p:sp>
        <p:nvSpPr>
          <p:cNvPr id="100" name="Text 97"/>
          <p:cNvSpPr txBox="1"/>
          <p:nvPr/>
        </p:nvSpPr>
        <p:spPr>
          <a:xfrm>
            <a:off x="5486400" y="459028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Hindi</a:t>
            </a:r>
            <a:endParaRPr lang="en-US" sz="950" dirty="0"/>
          </a:p>
        </p:txBody>
      </p:sp>
      <p:sp>
        <p:nvSpPr>
          <p:cNvPr id="101" name="Shape 98"/>
          <p:cNvSpPr/>
          <p:nvPr/>
        </p:nvSpPr>
        <p:spPr>
          <a:xfrm>
            <a:off x="6263640" y="4590288"/>
            <a:ext cx="914400" cy="256032"/>
          </a:xfrm>
          <a:prstGeom prst="rect">
            <a:avLst/>
          </a:prstGeom>
          <a:solidFill>
            <a:srgbClr val="0E7C4F"/>
          </a:solidFill>
          <a:ln/>
        </p:spPr>
      </p:sp>
      <p:sp>
        <p:nvSpPr>
          <p:cNvPr id="102" name="Text 99"/>
          <p:cNvSpPr txBox="1"/>
          <p:nvPr/>
        </p:nvSpPr>
        <p:spPr>
          <a:xfrm>
            <a:off x="6309360" y="4590288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Consent ledger</a:t>
            </a:r>
            <a:endParaRPr lang="en-US" sz="950" dirty="0"/>
          </a:p>
        </p:txBody>
      </p:sp>
      <p:sp>
        <p:nvSpPr>
          <p:cNvPr id="103" name="Shape 100"/>
          <p:cNvSpPr/>
          <p:nvPr/>
        </p:nvSpPr>
        <p:spPr>
          <a:xfrm>
            <a:off x="7178040" y="4590288"/>
            <a:ext cx="731520" cy="256032"/>
          </a:xfrm>
          <a:prstGeom prst="rect">
            <a:avLst/>
          </a:prstGeom>
          <a:solidFill>
            <a:srgbClr val="0E7C4F"/>
          </a:solidFill>
          <a:ln/>
        </p:spPr>
      </p:sp>
      <p:sp>
        <p:nvSpPr>
          <p:cNvPr id="104" name="Text 101"/>
          <p:cNvSpPr txBox="1"/>
          <p:nvPr/>
        </p:nvSpPr>
        <p:spPr>
          <a:xfrm>
            <a:off x="7223760" y="4590288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WhatsApp</a:t>
            </a:r>
            <a:endParaRPr lang="en-US" sz="950" dirty="0"/>
          </a:p>
        </p:txBody>
      </p:sp>
      <p:sp>
        <p:nvSpPr>
          <p:cNvPr id="105" name="Shape 102"/>
          <p:cNvSpPr/>
          <p:nvPr/>
        </p:nvSpPr>
        <p:spPr>
          <a:xfrm>
            <a:off x="502920" y="4846320"/>
            <a:ext cx="2011680" cy="24688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06" name="Text 103"/>
          <p:cNvSpPr txBox="1"/>
          <p:nvPr/>
        </p:nvSpPr>
        <p:spPr>
          <a:xfrm>
            <a:off x="548640" y="4846320"/>
            <a:ext cx="19202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2633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Classplus</a:t>
            </a:r>
            <a:endParaRPr lang="en-US" sz="950" dirty="0"/>
          </a:p>
        </p:txBody>
      </p:sp>
      <p:sp>
        <p:nvSpPr>
          <p:cNvPr id="107" name="Shape 104"/>
          <p:cNvSpPr/>
          <p:nvPr/>
        </p:nvSpPr>
        <p:spPr>
          <a:xfrm>
            <a:off x="2514600" y="4846320"/>
            <a:ext cx="914400" cy="246888"/>
          </a:xfrm>
          <a:prstGeom prst="rect">
            <a:avLst/>
          </a:prstGeom>
          <a:solidFill>
            <a:srgbClr val="FFF0BF"/>
          </a:solidFill>
          <a:ln/>
        </p:spPr>
      </p:sp>
      <p:sp>
        <p:nvSpPr>
          <p:cNvPr id="108" name="Text 105"/>
          <p:cNvSpPr txBox="1"/>
          <p:nvPr/>
        </p:nvSpPr>
        <p:spPr>
          <a:xfrm>
            <a:off x="2560320" y="4846320"/>
            <a:ext cx="8229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5B67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?</a:t>
            </a:r>
            <a:endParaRPr lang="en-US" sz="950" dirty="0"/>
          </a:p>
        </p:txBody>
      </p:sp>
      <p:sp>
        <p:nvSpPr>
          <p:cNvPr id="109" name="Shape 106"/>
          <p:cNvSpPr/>
          <p:nvPr/>
        </p:nvSpPr>
        <p:spPr>
          <a:xfrm>
            <a:off x="3429000" y="4846320"/>
            <a:ext cx="1005840" cy="246888"/>
          </a:xfrm>
          <a:prstGeom prst="rect">
            <a:avLst/>
          </a:prstGeom>
          <a:solidFill>
            <a:srgbClr val="FFF0BF"/>
          </a:solidFill>
          <a:ln/>
        </p:spPr>
      </p:sp>
      <p:sp>
        <p:nvSpPr>
          <p:cNvPr id="110" name="Text 107"/>
          <p:cNvSpPr txBox="1"/>
          <p:nvPr/>
        </p:nvSpPr>
        <p:spPr>
          <a:xfrm>
            <a:off x="3474720" y="4846320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5B67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?</a:t>
            </a:r>
            <a:endParaRPr lang="en-US" sz="950" dirty="0"/>
          </a:p>
        </p:txBody>
      </p:sp>
      <p:sp>
        <p:nvSpPr>
          <p:cNvPr id="111" name="Shape 108"/>
          <p:cNvSpPr/>
          <p:nvPr/>
        </p:nvSpPr>
        <p:spPr>
          <a:xfrm>
            <a:off x="4434840" y="4846320"/>
            <a:ext cx="1005840" cy="246888"/>
          </a:xfrm>
          <a:prstGeom prst="rect">
            <a:avLst/>
          </a:prstGeom>
          <a:solidFill>
            <a:srgbClr val="FFF0BF"/>
          </a:solidFill>
          <a:ln/>
        </p:spPr>
      </p:sp>
      <p:sp>
        <p:nvSpPr>
          <p:cNvPr id="112" name="Text 109"/>
          <p:cNvSpPr txBox="1"/>
          <p:nvPr/>
        </p:nvSpPr>
        <p:spPr>
          <a:xfrm>
            <a:off x="4480560" y="4846320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5B67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?</a:t>
            </a:r>
            <a:endParaRPr lang="en-US" sz="950" dirty="0"/>
          </a:p>
        </p:txBody>
      </p:sp>
      <p:sp>
        <p:nvSpPr>
          <p:cNvPr id="113" name="Shape 110"/>
          <p:cNvSpPr/>
          <p:nvPr/>
        </p:nvSpPr>
        <p:spPr>
          <a:xfrm>
            <a:off x="5440680" y="4846320"/>
            <a:ext cx="822960" cy="246888"/>
          </a:xfrm>
          <a:prstGeom prst="rect">
            <a:avLst/>
          </a:prstGeom>
          <a:solidFill>
            <a:srgbClr val="FFF0BF"/>
          </a:solidFill>
          <a:ln/>
        </p:spPr>
      </p:sp>
      <p:sp>
        <p:nvSpPr>
          <p:cNvPr id="114" name="Text 111"/>
          <p:cNvSpPr txBox="1"/>
          <p:nvPr/>
        </p:nvSpPr>
        <p:spPr>
          <a:xfrm>
            <a:off x="5486400" y="4846320"/>
            <a:ext cx="7315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5B67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?</a:t>
            </a:r>
            <a:endParaRPr lang="en-US" sz="950" dirty="0"/>
          </a:p>
        </p:txBody>
      </p:sp>
      <p:sp>
        <p:nvSpPr>
          <p:cNvPr id="115" name="Shape 112"/>
          <p:cNvSpPr/>
          <p:nvPr/>
        </p:nvSpPr>
        <p:spPr>
          <a:xfrm>
            <a:off x="6263640" y="4846320"/>
            <a:ext cx="914400" cy="246888"/>
          </a:xfrm>
          <a:prstGeom prst="rect">
            <a:avLst/>
          </a:prstGeom>
          <a:solidFill>
            <a:srgbClr val="FFF0BF"/>
          </a:solidFill>
          <a:ln/>
        </p:spPr>
      </p:sp>
      <p:sp>
        <p:nvSpPr>
          <p:cNvPr id="116" name="Text 113"/>
          <p:cNvSpPr txBox="1"/>
          <p:nvPr/>
        </p:nvSpPr>
        <p:spPr>
          <a:xfrm>
            <a:off x="6309360" y="4846320"/>
            <a:ext cx="8229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5B67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?</a:t>
            </a:r>
            <a:endParaRPr lang="en-US" sz="950" dirty="0"/>
          </a:p>
        </p:txBody>
      </p:sp>
      <p:sp>
        <p:nvSpPr>
          <p:cNvPr id="117" name="Shape 114"/>
          <p:cNvSpPr/>
          <p:nvPr/>
        </p:nvSpPr>
        <p:spPr>
          <a:xfrm>
            <a:off x="7178040" y="4846320"/>
            <a:ext cx="731520" cy="246888"/>
          </a:xfrm>
          <a:prstGeom prst="rect">
            <a:avLst/>
          </a:prstGeom>
          <a:solidFill>
            <a:srgbClr val="FFF0BF"/>
          </a:solidFill>
          <a:ln/>
        </p:spPr>
      </p:sp>
      <p:sp>
        <p:nvSpPr>
          <p:cNvPr id="118" name="Text 115"/>
          <p:cNvSpPr txBox="1"/>
          <p:nvPr/>
        </p:nvSpPr>
        <p:spPr>
          <a:xfrm>
            <a:off x="7223760" y="4846320"/>
            <a:ext cx="6400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5B67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?</a:t>
            </a:r>
            <a:endParaRPr lang="en-US" sz="950" dirty="0"/>
          </a:p>
        </p:txBody>
      </p:sp>
      <p:sp>
        <p:nvSpPr>
          <p:cNvPr id="119" name="Shape 116"/>
          <p:cNvSpPr/>
          <p:nvPr/>
        </p:nvSpPr>
        <p:spPr>
          <a:xfrm>
            <a:off x="502920" y="5093208"/>
            <a:ext cx="7406640" cy="0"/>
          </a:xfrm>
          <a:prstGeom prst="line">
            <a:avLst/>
          </a:prstGeom>
          <a:noFill/>
          <a:ln w="6350">
            <a:solidFill>
              <a:srgbClr val="E3E8E4"/>
            </a:solidFill>
            <a:prstDash val="solid"/>
          </a:ln>
        </p:spPr>
      </p:sp>
      <p:sp>
        <p:nvSpPr>
          <p:cNvPr id="120" name="Shape 117"/>
          <p:cNvSpPr/>
          <p:nvPr/>
        </p:nvSpPr>
        <p:spPr>
          <a:xfrm>
            <a:off x="502920" y="5093208"/>
            <a:ext cx="2011680" cy="24688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21" name="Text 118"/>
          <p:cNvSpPr txBox="1"/>
          <p:nvPr/>
        </p:nvSpPr>
        <p:spPr>
          <a:xfrm>
            <a:off x="548640" y="5093208"/>
            <a:ext cx="19202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2633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Fedena</a:t>
            </a:r>
            <a:endParaRPr lang="en-US" sz="950" dirty="0"/>
          </a:p>
        </p:txBody>
      </p:sp>
      <p:sp>
        <p:nvSpPr>
          <p:cNvPr id="122" name="Shape 119"/>
          <p:cNvSpPr/>
          <p:nvPr/>
        </p:nvSpPr>
        <p:spPr>
          <a:xfrm>
            <a:off x="2514600" y="5093208"/>
            <a:ext cx="914400" cy="246888"/>
          </a:xfrm>
          <a:prstGeom prst="rect">
            <a:avLst/>
          </a:prstGeom>
          <a:solidFill>
            <a:srgbClr val="F4F7FB"/>
          </a:solidFill>
          <a:ln/>
        </p:spPr>
      </p:sp>
      <p:sp>
        <p:nvSpPr>
          <p:cNvPr id="123" name="Text 120"/>
          <p:cNvSpPr txBox="1"/>
          <p:nvPr/>
        </p:nvSpPr>
        <p:spPr>
          <a:xfrm>
            <a:off x="2560320" y="5093208"/>
            <a:ext cx="8229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5B67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</a:t>
            </a:r>
            <a:endParaRPr lang="en-US" sz="950" dirty="0"/>
          </a:p>
        </p:txBody>
      </p:sp>
      <p:sp>
        <p:nvSpPr>
          <p:cNvPr id="124" name="Shape 121"/>
          <p:cNvSpPr/>
          <p:nvPr/>
        </p:nvSpPr>
        <p:spPr>
          <a:xfrm>
            <a:off x="3429000" y="5093208"/>
            <a:ext cx="1005840" cy="246888"/>
          </a:xfrm>
          <a:prstGeom prst="rect">
            <a:avLst/>
          </a:prstGeom>
          <a:solidFill>
            <a:srgbClr val="FFF0BF"/>
          </a:solidFill>
          <a:ln/>
        </p:spPr>
      </p:sp>
      <p:sp>
        <p:nvSpPr>
          <p:cNvPr id="125" name="Text 122"/>
          <p:cNvSpPr txBox="1"/>
          <p:nvPr/>
        </p:nvSpPr>
        <p:spPr>
          <a:xfrm>
            <a:off x="3474720" y="5093208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5B67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?</a:t>
            </a:r>
            <a:endParaRPr lang="en-US" sz="950" dirty="0"/>
          </a:p>
        </p:txBody>
      </p:sp>
      <p:sp>
        <p:nvSpPr>
          <p:cNvPr id="126" name="Shape 123"/>
          <p:cNvSpPr/>
          <p:nvPr/>
        </p:nvSpPr>
        <p:spPr>
          <a:xfrm>
            <a:off x="4434840" y="5093208"/>
            <a:ext cx="1005840" cy="246888"/>
          </a:xfrm>
          <a:prstGeom prst="rect">
            <a:avLst/>
          </a:prstGeom>
          <a:solidFill>
            <a:srgbClr val="D3F0DF"/>
          </a:solidFill>
          <a:ln/>
        </p:spPr>
      </p:sp>
      <p:sp>
        <p:nvSpPr>
          <p:cNvPr id="127" name="Text 124"/>
          <p:cNvSpPr txBox="1"/>
          <p:nvPr/>
        </p:nvSpPr>
        <p:spPr>
          <a:xfrm>
            <a:off x="4480560" y="5093208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B8F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yes</a:t>
            </a:r>
            <a:endParaRPr lang="en-US" sz="950" dirty="0"/>
          </a:p>
        </p:txBody>
      </p:sp>
      <p:sp>
        <p:nvSpPr>
          <p:cNvPr id="128" name="Shape 125"/>
          <p:cNvSpPr/>
          <p:nvPr/>
        </p:nvSpPr>
        <p:spPr>
          <a:xfrm>
            <a:off x="5440680" y="5093208"/>
            <a:ext cx="822960" cy="246888"/>
          </a:xfrm>
          <a:prstGeom prst="rect">
            <a:avLst/>
          </a:prstGeom>
          <a:solidFill>
            <a:srgbClr val="FFF0BF"/>
          </a:solidFill>
          <a:ln/>
        </p:spPr>
      </p:sp>
      <p:sp>
        <p:nvSpPr>
          <p:cNvPr id="129" name="Text 126"/>
          <p:cNvSpPr txBox="1"/>
          <p:nvPr/>
        </p:nvSpPr>
        <p:spPr>
          <a:xfrm>
            <a:off x="5486400" y="5093208"/>
            <a:ext cx="7315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5B67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?</a:t>
            </a:r>
            <a:endParaRPr lang="en-US" sz="950" dirty="0"/>
          </a:p>
        </p:txBody>
      </p:sp>
      <p:sp>
        <p:nvSpPr>
          <p:cNvPr id="130" name="Shape 127"/>
          <p:cNvSpPr/>
          <p:nvPr/>
        </p:nvSpPr>
        <p:spPr>
          <a:xfrm>
            <a:off x="6263640" y="5093208"/>
            <a:ext cx="914400" cy="246888"/>
          </a:xfrm>
          <a:prstGeom prst="rect">
            <a:avLst/>
          </a:prstGeom>
          <a:solidFill>
            <a:srgbClr val="F4F7FB"/>
          </a:solidFill>
          <a:ln/>
        </p:spPr>
      </p:sp>
      <p:sp>
        <p:nvSpPr>
          <p:cNvPr id="131" name="Text 128"/>
          <p:cNvSpPr txBox="1"/>
          <p:nvPr/>
        </p:nvSpPr>
        <p:spPr>
          <a:xfrm>
            <a:off x="6309360" y="5093208"/>
            <a:ext cx="8229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5B67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</a:t>
            </a:r>
            <a:endParaRPr lang="en-US" sz="950" dirty="0"/>
          </a:p>
        </p:txBody>
      </p:sp>
      <p:sp>
        <p:nvSpPr>
          <p:cNvPr id="132" name="Shape 129"/>
          <p:cNvSpPr/>
          <p:nvPr/>
        </p:nvSpPr>
        <p:spPr>
          <a:xfrm>
            <a:off x="7178040" y="5093208"/>
            <a:ext cx="731520" cy="246888"/>
          </a:xfrm>
          <a:prstGeom prst="rect">
            <a:avLst/>
          </a:prstGeom>
          <a:solidFill>
            <a:srgbClr val="F4F7FB"/>
          </a:solidFill>
          <a:ln/>
        </p:spPr>
      </p:sp>
      <p:sp>
        <p:nvSpPr>
          <p:cNvPr id="133" name="Text 130"/>
          <p:cNvSpPr txBox="1"/>
          <p:nvPr/>
        </p:nvSpPr>
        <p:spPr>
          <a:xfrm>
            <a:off x="7223760" y="5093208"/>
            <a:ext cx="6400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5B67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</a:t>
            </a:r>
            <a:endParaRPr lang="en-US" sz="950" dirty="0"/>
          </a:p>
        </p:txBody>
      </p:sp>
      <p:sp>
        <p:nvSpPr>
          <p:cNvPr id="134" name="Shape 131"/>
          <p:cNvSpPr/>
          <p:nvPr/>
        </p:nvSpPr>
        <p:spPr>
          <a:xfrm>
            <a:off x="502920" y="5340096"/>
            <a:ext cx="7406640" cy="0"/>
          </a:xfrm>
          <a:prstGeom prst="line">
            <a:avLst/>
          </a:prstGeom>
          <a:noFill/>
          <a:ln w="6350">
            <a:solidFill>
              <a:srgbClr val="E3E8E4"/>
            </a:solidFill>
            <a:prstDash val="solid"/>
          </a:ln>
        </p:spPr>
      </p:sp>
      <p:sp>
        <p:nvSpPr>
          <p:cNvPr id="135" name="Shape 132"/>
          <p:cNvSpPr/>
          <p:nvPr/>
        </p:nvSpPr>
        <p:spPr>
          <a:xfrm>
            <a:off x="502920" y="5340096"/>
            <a:ext cx="2011680" cy="24688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36" name="Text 133"/>
          <p:cNvSpPr txBox="1"/>
          <p:nvPr/>
        </p:nvSpPr>
        <p:spPr>
          <a:xfrm>
            <a:off x="548640" y="5340096"/>
            <a:ext cx="19202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2633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Edmingle</a:t>
            </a:r>
            <a:endParaRPr lang="en-US" sz="950" dirty="0"/>
          </a:p>
        </p:txBody>
      </p:sp>
      <p:sp>
        <p:nvSpPr>
          <p:cNvPr id="137" name="Shape 134"/>
          <p:cNvSpPr/>
          <p:nvPr/>
        </p:nvSpPr>
        <p:spPr>
          <a:xfrm>
            <a:off x="2514600" y="5340096"/>
            <a:ext cx="914400" cy="246888"/>
          </a:xfrm>
          <a:prstGeom prst="rect">
            <a:avLst/>
          </a:prstGeom>
          <a:solidFill>
            <a:srgbClr val="F4F7FB"/>
          </a:solidFill>
          <a:ln/>
        </p:spPr>
      </p:sp>
      <p:sp>
        <p:nvSpPr>
          <p:cNvPr id="138" name="Text 135"/>
          <p:cNvSpPr txBox="1"/>
          <p:nvPr/>
        </p:nvSpPr>
        <p:spPr>
          <a:xfrm>
            <a:off x="2560320" y="5340096"/>
            <a:ext cx="8229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5B67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</a:t>
            </a:r>
            <a:endParaRPr lang="en-US" sz="950" dirty="0"/>
          </a:p>
        </p:txBody>
      </p:sp>
      <p:sp>
        <p:nvSpPr>
          <p:cNvPr id="139" name="Shape 136"/>
          <p:cNvSpPr/>
          <p:nvPr/>
        </p:nvSpPr>
        <p:spPr>
          <a:xfrm>
            <a:off x="3429000" y="5340096"/>
            <a:ext cx="1005840" cy="246888"/>
          </a:xfrm>
          <a:prstGeom prst="rect">
            <a:avLst/>
          </a:prstGeom>
          <a:solidFill>
            <a:srgbClr val="FFF0BF"/>
          </a:solidFill>
          <a:ln/>
        </p:spPr>
      </p:sp>
      <p:sp>
        <p:nvSpPr>
          <p:cNvPr id="140" name="Text 137"/>
          <p:cNvSpPr txBox="1"/>
          <p:nvPr/>
        </p:nvSpPr>
        <p:spPr>
          <a:xfrm>
            <a:off x="3474720" y="5340096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5B67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?</a:t>
            </a:r>
            <a:endParaRPr lang="en-US" sz="950" dirty="0"/>
          </a:p>
        </p:txBody>
      </p:sp>
      <p:sp>
        <p:nvSpPr>
          <p:cNvPr id="141" name="Shape 138"/>
          <p:cNvSpPr/>
          <p:nvPr/>
        </p:nvSpPr>
        <p:spPr>
          <a:xfrm>
            <a:off x="4434840" y="5340096"/>
            <a:ext cx="1005840" cy="246888"/>
          </a:xfrm>
          <a:prstGeom prst="rect">
            <a:avLst/>
          </a:prstGeom>
          <a:solidFill>
            <a:srgbClr val="FFF0BF"/>
          </a:solidFill>
          <a:ln/>
        </p:spPr>
      </p:sp>
      <p:sp>
        <p:nvSpPr>
          <p:cNvPr id="142" name="Text 139"/>
          <p:cNvSpPr txBox="1"/>
          <p:nvPr/>
        </p:nvSpPr>
        <p:spPr>
          <a:xfrm>
            <a:off x="4480560" y="5340096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5B67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?</a:t>
            </a:r>
            <a:endParaRPr lang="en-US" sz="950" dirty="0"/>
          </a:p>
        </p:txBody>
      </p:sp>
      <p:sp>
        <p:nvSpPr>
          <p:cNvPr id="143" name="Shape 140"/>
          <p:cNvSpPr/>
          <p:nvPr/>
        </p:nvSpPr>
        <p:spPr>
          <a:xfrm>
            <a:off x="5440680" y="5340096"/>
            <a:ext cx="822960" cy="246888"/>
          </a:xfrm>
          <a:prstGeom prst="rect">
            <a:avLst/>
          </a:prstGeom>
          <a:solidFill>
            <a:srgbClr val="FFF0BF"/>
          </a:solidFill>
          <a:ln/>
        </p:spPr>
      </p:sp>
      <p:sp>
        <p:nvSpPr>
          <p:cNvPr id="144" name="Text 141"/>
          <p:cNvSpPr txBox="1"/>
          <p:nvPr/>
        </p:nvSpPr>
        <p:spPr>
          <a:xfrm>
            <a:off x="5486400" y="5340096"/>
            <a:ext cx="7315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5B67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?</a:t>
            </a:r>
            <a:endParaRPr lang="en-US" sz="950" dirty="0"/>
          </a:p>
        </p:txBody>
      </p:sp>
      <p:sp>
        <p:nvSpPr>
          <p:cNvPr id="145" name="Shape 142"/>
          <p:cNvSpPr/>
          <p:nvPr/>
        </p:nvSpPr>
        <p:spPr>
          <a:xfrm>
            <a:off x="6263640" y="5340096"/>
            <a:ext cx="914400" cy="246888"/>
          </a:xfrm>
          <a:prstGeom prst="rect">
            <a:avLst/>
          </a:prstGeom>
          <a:solidFill>
            <a:srgbClr val="F4F7FB"/>
          </a:solidFill>
          <a:ln/>
        </p:spPr>
      </p:sp>
      <p:sp>
        <p:nvSpPr>
          <p:cNvPr id="146" name="Text 143"/>
          <p:cNvSpPr txBox="1"/>
          <p:nvPr/>
        </p:nvSpPr>
        <p:spPr>
          <a:xfrm>
            <a:off x="6309360" y="5340096"/>
            <a:ext cx="8229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5B67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</a:t>
            </a:r>
            <a:endParaRPr lang="en-US" sz="950" dirty="0"/>
          </a:p>
        </p:txBody>
      </p:sp>
      <p:sp>
        <p:nvSpPr>
          <p:cNvPr id="147" name="Shape 144"/>
          <p:cNvSpPr/>
          <p:nvPr/>
        </p:nvSpPr>
        <p:spPr>
          <a:xfrm>
            <a:off x="7178040" y="5340096"/>
            <a:ext cx="731520" cy="246888"/>
          </a:xfrm>
          <a:prstGeom prst="rect">
            <a:avLst/>
          </a:prstGeom>
          <a:solidFill>
            <a:srgbClr val="D3F0DF"/>
          </a:solidFill>
          <a:ln/>
        </p:spPr>
      </p:sp>
      <p:sp>
        <p:nvSpPr>
          <p:cNvPr id="148" name="Text 145"/>
          <p:cNvSpPr txBox="1"/>
          <p:nvPr/>
        </p:nvSpPr>
        <p:spPr>
          <a:xfrm>
            <a:off x="7223760" y="5340096"/>
            <a:ext cx="6400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B8F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yes</a:t>
            </a:r>
            <a:endParaRPr lang="en-US" sz="950" dirty="0"/>
          </a:p>
        </p:txBody>
      </p:sp>
      <p:sp>
        <p:nvSpPr>
          <p:cNvPr id="149" name="Shape 146"/>
          <p:cNvSpPr/>
          <p:nvPr/>
        </p:nvSpPr>
        <p:spPr>
          <a:xfrm>
            <a:off x="502920" y="5586984"/>
            <a:ext cx="7406640" cy="0"/>
          </a:xfrm>
          <a:prstGeom prst="line">
            <a:avLst/>
          </a:prstGeom>
          <a:noFill/>
          <a:ln w="6350">
            <a:solidFill>
              <a:srgbClr val="E3E8E4"/>
            </a:solidFill>
            <a:prstDash val="solid"/>
          </a:ln>
        </p:spPr>
      </p:sp>
      <p:sp>
        <p:nvSpPr>
          <p:cNvPr id="150" name="Shape 147"/>
          <p:cNvSpPr/>
          <p:nvPr/>
        </p:nvSpPr>
        <p:spPr>
          <a:xfrm>
            <a:off x="502920" y="5586984"/>
            <a:ext cx="2011680" cy="24688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51" name="Text 148"/>
          <p:cNvSpPr txBox="1"/>
          <p:nvPr/>
        </p:nvSpPr>
        <p:spPr>
          <a:xfrm>
            <a:off x="548640" y="5586984"/>
            <a:ext cx="19202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2633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Teachmint</a:t>
            </a:r>
            <a:endParaRPr lang="en-US" sz="950" dirty="0"/>
          </a:p>
        </p:txBody>
      </p:sp>
      <p:sp>
        <p:nvSpPr>
          <p:cNvPr id="152" name="Shape 149"/>
          <p:cNvSpPr/>
          <p:nvPr/>
        </p:nvSpPr>
        <p:spPr>
          <a:xfrm>
            <a:off x="2514600" y="5586984"/>
            <a:ext cx="914400" cy="246888"/>
          </a:xfrm>
          <a:prstGeom prst="rect">
            <a:avLst/>
          </a:prstGeom>
          <a:solidFill>
            <a:srgbClr val="FFF0BF"/>
          </a:solidFill>
          <a:ln/>
        </p:spPr>
      </p:sp>
      <p:sp>
        <p:nvSpPr>
          <p:cNvPr id="153" name="Text 150"/>
          <p:cNvSpPr txBox="1"/>
          <p:nvPr/>
        </p:nvSpPr>
        <p:spPr>
          <a:xfrm>
            <a:off x="2560320" y="5586984"/>
            <a:ext cx="8229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5B67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?</a:t>
            </a:r>
            <a:endParaRPr lang="en-US" sz="950" dirty="0"/>
          </a:p>
        </p:txBody>
      </p:sp>
      <p:sp>
        <p:nvSpPr>
          <p:cNvPr id="154" name="Shape 151"/>
          <p:cNvSpPr/>
          <p:nvPr/>
        </p:nvSpPr>
        <p:spPr>
          <a:xfrm>
            <a:off x="3429000" y="5586984"/>
            <a:ext cx="1005840" cy="246888"/>
          </a:xfrm>
          <a:prstGeom prst="rect">
            <a:avLst/>
          </a:prstGeom>
          <a:solidFill>
            <a:srgbClr val="FFF0BF"/>
          </a:solidFill>
          <a:ln/>
        </p:spPr>
      </p:sp>
      <p:sp>
        <p:nvSpPr>
          <p:cNvPr id="155" name="Text 152"/>
          <p:cNvSpPr txBox="1"/>
          <p:nvPr/>
        </p:nvSpPr>
        <p:spPr>
          <a:xfrm>
            <a:off x="3474720" y="5586984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5B67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?</a:t>
            </a:r>
            <a:endParaRPr lang="en-US" sz="950" dirty="0"/>
          </a:p>
        </p:txBody>
      </p:sp>
      <p:sp>
        <p:nvSpPr>
          <p:cNvPr id="156" name="Shape 153"/>
          <p:cNvSpPr/>
          <p:nvPr/>
        </p:nvSpPr>
        <p:spPr>
          <a:xfrm>
            <a:off x="4434840" y="5586984"/>
            <a:ext cx="1005840" cy="246888"/>
          </a:xfrm>
          <a:prstGeom prst="rect">
            <a:avLst/>
          </a:prstGeom>
          <a:solidFill>
            <a:srgbClr val="D3F0DF"/>
          </a:solidFill>
          <a:ln/>
        </p:spPr>
      </p:sp>
      <p:sp>
        <p:nvSpPr>
          <p:cNvPr id="157" name="Text 154"/>
          <p:cNvSpPr txBox="1"/>
          <p:nvPr/>
        </p:nvSpPr>
        <p:spPr>
          <a:xfrm>
            <a:off x="4480560" y="5586984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B8F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yes</a:t>
            </a:r>
            <a:endParaRPr lang="en-US" sz="950" dirty="0"/>
          </a:p>
        </p:txBody>
      </p:sp>
      <p:sp>
        <p:nvSpPr>
          <p:cNvPr id="158" name="Shape 155"/>
          <p:cNvSpPr/>
          <p:nvPr/>
        </p:nvSpPr>
        <p:spPr>
          <a:xfrm>
            <a:off x="5440680" y="5586984"/>
            <a:ext cx="822960" cy="246888"/>
          </a:xfrm>
          <a:prstGeom prst="rect">
            <a:avLst/>
          </a:prstGeom>
          <a:solidFill>
            <a:srgbClr val="D3F0DF"/>
          </a:solidFill>
          <a:ln/>
        </p:spPr>
      </p:sp>
      <p:sp>
        <p:nvSpPr>
          <p:cNvPr id="159" name="Text 156"/>
          <p:cNvSpPr txBox="1"/>
          <p:nvPr/>
        </p:nvSpPr>
        <p:spPr>
          <a:xfrm>
            <a:off x="5486400" y="5586984"/>
            <a:ext cx="7315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B8F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yes</a:t>
            </a:r>
            <a:endParaRPr lang="en-US" sz="950" dirty="0"/>
          </a:p>
        </p:txBody>
      </p:sp>
      <p:sp>
        <p:nvSpPr>
          <p:cNvPr id="160" name="Shape 157"/>
          <p:cNvSpPr/>
          <p:nvPr/>
        </p:nvSpPr>
        <p:spPr>
          <a:xfrm>
            <a:off x="6263640" y="5586984"/>
            <a:ext cx="914400" cy="246888"/>
          </a:xfrm>
          <a:prstGeom prst="rect">
            <a:avLst/>
          </a:prstGeom>
          <a:solidFill>
            <a:srgbClr val="FFF0BF"/>
          </a:solidFill>
          <a:ln/>
        </p:spPr>
      </p:sp>
      <p:sp>
        <p:nvSpPr>
          <p:cNvPr id="161" name="Text 158"/>
          <p:cNvSpPr txBox="1"/>
          <p:nvPr/>
        </p:nvSpPr>
        <p:spPr>
          <a:xfrm>
            <a:off x="6309360" y="5586984"/>
            <a:ext cx="8229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5B67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?</a:t>
            </a:r>
            <a:endParaRPr lang="en-US" sz="950" dirty="0"/>
          </a:p>
        </p:txBody>
      </p:sp>
      <p:sp>
        <p:nvSpPr>
          <p:cNvPr id="162" name="Shape 159"/>
          <p:cNvSpPr/>
          <p:nvPr/>
        </p:nvSpPr>
        <p:spPr>
          <a:xfrm>
            <a:off x="7178040" y="5586984"/>
            <a:ext cx="731520" cy="246888"/>
          </a:xfrm>
          <a:prstGeom prst="rect">
            <a:avLst/>
          </a:prstGeom>
          <a:solidFill>
            <a:srgbClr val="FFF0BF"/>
          </a:solidFill>
          <a:ln/>
        </p:spPr>
      </p:sp>
      <p:sp>
        <p:nvSpPr>
          <p:cNvPr id="163" name="Text 160"/>
          <p:cNvSpPr txBox="1"/>
          <p:nvPr/>
        </p:nvSpPr>
        <p:spPr>
          <a:xfrm>
            <a:off x="7223760" y="5586984"/>
            <a:ext cx="6400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5B67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?</a:t>
            </a:r>
            <a:endParaRPr lang="en-US" sz="950" dirty="0"/>
          </a:p>
        </p:txBody>
      </p:sp>
      <p:sp>
        <p:nvSpPr>
          <p:cNvPr id="164" name="Shape 161"/>
          <p:cNvSpPr/>
          <p:nvPr/>
        </p:nvSpPr>
        <p:spPr>
          <a:xfrm>
            <a:off x="502920" y="5833872"/>
            <a:ext cx="7406640" cy="0"/>
          </a:xfrm>
          <a:prstGeom prst="line">
            <a:avLst/>
          </a:prstGeom>
          <a:noFill/>
          <a:ln w="6350">
            <a:solidFill>
              <a:srgbClr val="E3E8E4"/>
            </a:solidFill>
            <a:prstDash val="solid"/>
          </a:ln>
        </p:spPr>
      </p:sp>
      <p:sp>
        <p:nvSpPr>
          <p:cNvPr id="165" name="Shape 162"/>
          <p:cNvSpPr/>
          <p:nvPr/>
        </p:nvSpPr>
        <p:spPr>
          <a:xfrm>
            <a:off x="502920" y="5833872"/>
            <a:ext cx="2011680" cy="24688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66" name="Text 163"/>
          <p:cNvSpPr txBox="1"/>
          <p:nvPr/>
        </p:nvSpPr>
        <p:spPr>
          <a:xfrm>
            <a:off x="548640" y="5833872"/>
            <a:ext cx="19202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E7C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Pragati</a:t>
            </a:r>
            <a:endParaRPr lang="en-US" sz="950" dirty="0"/>
          </a:p>
        </p:txBody>
      </p:sp>
      <p:sp>
        <p:nvSpPr>
          <p:cNvPr id="167" name="Shape 164"/>
          <p:cNvSpPr/>
          <p:nvPr/>
        </p:nvSpPr>
        <p:spPr>
          <a:xfrm>
            <a:off x="2514600" y="5833872"/>
            <a:ext cx="914400" cy="246888"/>
          </a:xfrm>
          <a:prstGeom prst="rect">
            <a:avLst/>
          </a:prstGeom>
          <a:solidFill>
            <a:srgbClr val="FFF0BF"/>
          </a:solidFill>
          <a:ln/>
        </p:spPr>
      </p:sp>
      <p:sp>
        <p:nvSpPr>
          <p:cNvPr id="168" name="Text 165"/>
          <p:cNvSpPr txBox="1"/>
          <p:nvPr/>
        </p:nvSpPr>
        <p:spPr>
          <a:xfrm>
            <a:off x="2560320" y="5833872"/>
            <a:ext cx="8229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633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designed</a:t>
            </a:r>
            <a:endParaRPr lang="en-US" sz="950" dirty="0"/>
          </a:p>
        </p:txBody>
      </p:sp>
      <p:sp>
        <p:nvSpPr>
          <p:cNvPr id="169" name="Shape 166"/>
          <p:cNvSpPr/>
          <p:nvPr/>
        </p:nvSpPr>
        <p:spPr>
          <a:xfrm>
            <a:off x="3429000" y="5833872"/>
            <a:ext cx="1005840" cy="246888"/>
          </a:xfrm>
          <a:prstGeom prst="rect">
            <a:avLst/>
          </a:prstGeom>
          <a:solidFill>
            <a:srgbClr val="D3F0DF"/>
          </a:solidFill>
          <a:ln/>
        </p:spPr>
      </p:sp>
      <p:sp>
        <p:nvSpPr>
          <p:cNvPr id="170" name="Text 167"/>
          <p:cNvSpPr txBox="1"/>
          <p:nvPr/>
        </p:nvSpPr>
        <p:spPr>
          <a:xfrm>
            <a:off x="3474720" y="5833872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B8F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yes</a:t>
            </a:r>
            <a:endParaRPr lang="en-US" sz="950" dirty="0"/>
          </a:p>
        </p:txBody>
      </p:sp>
      <p:sp>
        <p:nvSpPr>
          <p:cNvPr id="171" name="Shape 168"/>
          <p:cNvSpPr/>
          <p:nvPr/>
        </p:nvSpPr>
        <p:spPr>
          <a:xfrm>
            <a:off x="4434840" y="5833872"/>
            <a:ext cx="1005840" cy="246888"/>
          </a:xfrm>
          <a:prstGeom prst="rect">
            <a:avLst/>
          </a:prstGeom>
          <a:solidFill>
            <a:srgbClr val="D3F0DF"/>
          </a:solidFill>
          <a:ln/>
        </p:spPr>
      </p:sp>
      <p:sp>
        <p:nvSpPr>
          <p:cNvPr id="172" name="Text 169"/>
          <p:cNvSpPr txBox="1"/>
          <p:nvPr/>
        </p:nvSpPr>
        <p:spPr>
          <a:xfrm>
            <a:off x="4480560" y="5833872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B8F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yes</a:t>
            </a:r>
            <a:endParaRPr lang="en-US" sz="950" dirty="0"/>
          </a:p>
        </p:txBody>
      </p:sp>
      <p:sp>
        <p:nvSpPr>
          <p:cNvPr id="173" name="Shape 170"/>
          <p:cNvSpPr/>
          <p:nvPr/>
        </p:nvSpPr>
        <p:spPr>
          <a:xfrm>
            <a:off x="5440680" y="5833872"/>
            <a:ext cx="822960" cy="246888"/>
          </a:xfrm>
          <a:prstGeom prst="rect">
            <a:avLst/>
          </a:prstGeom>
          <a:solidFill>
            <a:srgbClr val="D3F0DF"/>
          </a:solidFill>
          <a:ln/>
        </p:spPr>
      </p:sp>
      <p:sp>
        <p:nvSpPr>
          <p:cNvPr id="174" name="Text 171"/>
          <p:cNvSpPr txBox="1"/>
          <p:nvPr/>
        </p:nvSpPr>
        <p:spPr>
          <a:xfrm>
            <a:off x="5486400" y="5833872"/>
            <a:ext cx="7315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B8F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yes</a:t>
            </a:r>
            <a:endParaRPr lang="en-US" sz="950" dirty="0"/>
          </a:p>
        </p:txBody>
      </p:sp>
      <p:sp>
        <p:nvSpPr>
          <p:cNvPr id="175" name="Shape 172"/>
          <p:cNvSpPr/>
          <p:nvPr/>
        </p:nvSpPr>
        <p:spPr>
          <a:xfrm>
            <a:off x="6263640" y="5833872"/>
            <a:ext cx="914400" cy="246888"/>
          </a:xfrm>
          <a:prstGeom prst="rect">
            <a:avLst/>
          </a:prstGeom>
          <a:solidFill>
            <a:srgbClr val="D3F0DF"/>
          </a:solidFill>
          <a:ln/>
        </p:spPr>
      </p:sp>
      <p:sp>
        <p:nvSpPr>
          <p:cNvPr id="176" name="Text 173"/>
          <p:cNvSpPr txBox="1"/>
          <p:nvPr/>
        </p:nvSpPr>
        <p:spPr>
          <a:xfrm>
            <a:off x="6309360" y="5833872"/>
            <a:ext cx="8229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B8F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yes</a:t>
            </a:r>
            <a:endParaRPr lang="en-US" sz="950" dirty="0"/>
          </a:p>
        </p:txBody>
      </p:sp>
      <p:sp>
        <p:nvSpPr>
          <p:cNvPr id="177" name="Shape 174"/>
          <p:cNvSpPr/>
          <p:nvPr/>
        </p:nvSpPr>
        <p:spPr>
          <a:xfrm>
            <a:off x="7178040" y="5833872"/>
            <a:ext cx="731520" cy="246888"/>
          </a:xfrm>
          <a:prstGeom prst="rect">
            <a:avLst/>
          </a:prstGeom>
          <a:solidFill>
            <a:srgbClr val="FFF0BF"/>
          </a:solidFill>
          <a:ln/>
        </p:spPr>
      </p:sp>
      <p:sp>
        <p:nvSpPr>
          <p:cNvPr id="178" name="Text 175"/>
          <p:cNvSpPr txBox="1"/>
          <p:nvPr/>
        </p:nvSpPr>
        <p:spPr>
          <a:xfrm>
            <a:off x="7223760" y="5833872"/>
            <a:ext cx="6400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633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preview</a:t>
            </a:r>
            <a:endParaRPr lang="en-US" sz="950" dirty="0"/>
          </a:p>
        </p:txBody>
      </p:sp>
      <p:sp>
        <p:nvSpPr>
          <p:cNvPr id="179" name="Shape 176"/>
          <p:cNvSpPr/>
          <p:nvPr/>
        </p:nvSpPr>
        <p:spPr>
          <a:xfrm>
            <a:off x="502920" y="6080760"/>
            <a:ext cx="7406640" cy="0"/>
          </a:xfrm>
          <a:prstGeom prst="line">
            <a:avLst/>
          </a:prstGeom>
          <a:noFill/>
          <a:ln w="6350">
            <a:solidFill>
              <a:srgbClr val="E3E8E4"/>
            </a:solidFill>
            <a:prstDash val="solid"/>
          </a:ln>
        </p:spPr>
      </p:sp>
      <p:sp>
        <p:nvSpPr>
          <p:cNvPr id="180" name="Text 177"/>
          <p:cNvSpPr txBox="1"/>
          <p:nvPr/>
        </p:nvSpPr>
        <p:spPr>
          <a:xfrm>
            <a:off x="502920" y="610819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5B67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yes: shown in the listing   no: not shown   ?: not verified from the listing</a:t>
            </a:r>
            <a:endParaRPr lang="en-US" sz="850" dirty="0"/>
          </a:p>
        </p:txBody>
      </p:sp>
      <p:sp>
        <p:nvSpPr>
          <p:cNvPr id="181" name="Shape 178"/>
          <p:cNvSpPr/>
          <p:nvPr/>
        </p:nvSpPr>
        <p:spPr>
          <a:xfrm>
            <a:off x="8046720" y="4251960"/>
            <a:ext cx="3733495" cy="2103120"/>
          </a:xfrm>
          <a:prstGeom prst="roundRect">
            <a:avLst>
              <a:gd name="adj" fmla="val 7826"/>
            </a:avLst>
          </a:prstGeom>
          <a:solidFill>
            <a:srgbClr val="FFFFFF"/>
          </a:solidFill>
          <a:ln w="28575">
            <a:solidFill>
              <a:srgbClr val="1FA971"/>
            </a:solidFill>
            <a:prstDash val="solid"/>
          </a:ln>
        </p:spPr>
      </p:sp>
      <p:sp>
        <p:nvSpPr>
          <p:cNvPr id="182" name="Shape 179"/>
          <p:cNvSpPr/>
          <p:nvPr/>
        </p:nvSpPr>
        <p:spPr>
          <a:xfrm>
            <a:off x="8685886" y="4242816"/>
            <a:ext cx="2455164" cy="274320"/>
          </a:xfrm>
          <a:prstGeom prst="roundRect">
            <a:avLst>
              <a:gd name="adj" fmla="val 50000"/>
            </a:avLst>
          </a:prstGeom>
          <a:solidFill>
            <a:srgbClr val="1FA971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83" name="Text 180"/>
          <p:cNvSpPr txBox="1"/>
          <p:nvPr/>
        </p:nvSpPr>
        <p:spPr>
          <a:xfrm>
            <a:off x="8685886" y="4242816"/>
            <a:ext cx="24551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COMPLIANCE AS A FEATURE</a:t>
            </a:r>
            <a:endParaRPr lang="en-US" sz="1150" dirty="0"/>
          </a:p>
        </p:txBody>
      </p:sp>
      <p:sp>
        <p:nvSpPr>
          <p:cNvPr id="184" name="Shape 181"/>
          <p:cNvSpPr/>
          <p:nvPr/>
        </p:nvSpPr>
        <p:spPr>
          <a:xfrm>
            <a:off x="8156448" y="4617720"/>
            <a:ext cx="310896" cy="310896"/>
          </a:xfrm>
          <a:prstGeom prst="ellipse">
            <a:avLst/>
          </a:prstGeom>
          <a:solidFill>
            <a:srgbClr val="1FA971"/>
          </a:solidFill>
          <a:ln/>
        </p:spPr>
      </p:sp>
      <p:pic>
        <p:nvPicPr>
          <p:cNvPr id="185" name="Image 1" descr="FaCalendarDays ico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4845" y="4686117"/>
            <a:ext cx="174102" cy="174102"/>
          </a:xfrm>
          <a:prstGeom prst="rect">
            <a:avLst/>
          </a:prstGeom>
        </p:spPr>
      </p:pic>
      <p:sp>
        <p:nvSpPr>
          <p:cNvPr id="186" name="Text 182"/>
          <p:cNvSpPr txBox="1"/>
          <p:nvPr/>
        </p:nvSpPr>
        <p:spPr>
          <a:xfrm>
            <a:off x="8549640" y="4617720"/>
            <a:ext cx="313913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2633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test the day after the weekly off</a:t>
            </a:r>
            <a:endParaRPr lang="en-US" sz="1000" dirty="0"/>
          </a:p>
        </p:txBody>
      </p:sp>
      <p:sp>
        <p:nvSpPr>
          <p:cNvPr id="187" name="Shape 183"/>
          <p:cNvSpPr/>
          <p:nvPr/>
        </p:nvSpPr>
        <p:spPr>
          <a:xfrm>
            <a:off x="8156448" y="5038344"/>
            <a:ext cx="310896" cy="310896"/>
          </a:xfrm>
          <a:prstGeom prst="ellipse">
            <a:avLst/>
          </a:prstGeom>
          <a:solidFill>
            <a:srgbClr val="F28C28"/>
          </a:solidFill>
          <a:ln/>
        </p:spPr>
      </p:sp>
      <p:pic>
        <p:nvPicPr>
          <p:cNvPr id="188" name="Image 2" descr="FaMoneyBillWave ico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4845" y="5106741"/>
            <a:ext cx="174102" cy="174102"/>
          </a:xfrm>
          <a:prstGeom prst="rect">
            <a:avLst/>
          </a:prstGeom>
        </p:spPr>
      </p:pic>
      <p:sp>
        <p:nvSpPr>
          <p:cNvPr id="189" name="Text 184"/>
          <p:cNvSpPr txBox="1"/>
          <p:nvPr/>
        </p:nvSpPr>
        <p:spPr>
          <a:xfrm>
            <a:off x="8549640" y="5038344"/>
            <a:ext cx="313913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2633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Pro-rata refund calculator, 10-day rule</a:t>
            </a:r>
            <a:endParaRPr lang="en-US" sz="1000" dirty="0"/>
          </a:p>
        </p:txBody>
      </p:sp>
      <p:sp>
        <p:nvSpPr>
          <p:cNvPr id="190" name="Shape 185"/>
          <p:cNvSpPr/>
          <p:nvPr/>
        </p:nvSpPr>
        <p:spPr>
          <a:xfrm>
            <a:off x="8156448" y="5458968"/>
            <a:ext cx="310896" cy="310896"/>
          </a:xfrm>
          <a:prstGeom prst="ellipse">
            <a:avLst/>
          </a:prstGeom>
          <a:solidFill>
            <a:srgbClr val="2F80D1"/>
          </a:solidFill>
          <a:ln/>
        </p:spPr>
      </p:sp>
      <p:pic>
        <p:nvPicPr>
          <p:cNvPr id="191" name="Image 3" descr="FaUserShield ico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4845" y="5527365"/>
            <a:ext cx="174102" cy="174102"/>
          </a:xfrm>
          <a:prstGeom prst="rect">
            <a:avLst/>
          </a:prstGeom>
        </p:spPr>
      </p:pic>
      <p:sp>
        <p:nvSpPr>
          <p:cNvPr id="192" name="Text 186"/>
          <p:cNvSpPr txBox="1"/>
          <p:nvPr/>
        </p:nvSpPr>
        <p:spPr>
          <a:xfrm>
            <a:off x="8549640" y="5458968"/>
            <a:ext cx="313913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2633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 check at enrolment, consent ledger</a:t>
            </a:r>
            <a:endParaRPr lang="en-US" sz="1000" dirty="0"/>
          </a:p>
        </p:txBody>
      </p:sp>
      <p:sp>
        <p:nvSpPr>
          <p:cNvPr id="193" name="Shape 187"/>
          <p:cNvSpPr/>
          <p:nvPr/>
        </p:nvSpPr>
        <p:spPr>
          <a:xfrm>
            <a:off x="8156448" y="5879592"/>
            <a:ext cx="310896" cy="310896"/>
          </a:xfrm>
          <a:prstGeom prst="ellipse">
            <a:avLst/>
          </a:prstGeom>
          <a:solidFill>
            <a:srgbClr val="F7B500"/>
          </a:solidFill>
          <a:ln/>
        </p:spPr>
      </p:sp>
      <p:pic>
        <p:nvPicPr>
          <p:cNvPr id="194" name="Image 4" descr="FaFileLines icon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24845" y="5947989"/>
            <a:ext cx="174102" cy="174102"/>
          </a:xfrm>
          <a:prstGeom prst="rect">
            <a:avLst/>
          </a:prstGeom>
        </p:spPr>
      </p:pic>
      <p:sp>
        <p:nvSpPr>
          <p:cNvPr id="195" name="Text 188"/>
          <p:cNvSpPr txBox="1"/>
          <p:nvPr/>
        </p:nvSpPr>
        <p:spPr>
          <a:xfrm>
            <a:off x="8549640" y="5879592"/>
            <a:ext cx="313913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2633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Attendance and fee registers, exportable</a:t>
            </a:r>
            <a:endParaRPr lang="en-US" sz="1000" dirty="0"/>
          </a:p>
        </p:txBody>
      </p:sp>
      <p:sp>
        <p:nvSpPr>
          <p:cNvPr id="196" name="Text 189"/>
          <p:cNvSpPr txBox="1"/>
          <p:nvPr/>
        </p:nvSpPr>
        <p:spPr>
          <a:xfrm>
            <a:off x="411480" y="6464808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5B67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financial workbook (segments, pilot assumptions), financial/research (vendor listings; many features could not be verified), MoE Guidelines 2024, Rajasthan Act 2025.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92240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75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5"/>
          <p:cNvSpPr/>
          <p:nvPr>
            <p:ph idx="105" type="title" hasCustomPrompt="1"/>
          </p:nvPr>
        </p:nvSpPr>
        <p:spPr>
          <a:xfrm>
            <a:off x="411480" y="310896"/>
            <a:ext cx="113687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E2B2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we proved, what we did not, and how a pilot would settle it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7589520" y="182880"/>
            <a:ext cx="41879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b="1" spc="150" kern="0" dirty="0">
                <a:solidFill>
                  <a:srgbClr val="5B67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FEASIBILITY, PRIVACY AND SAFETY 20 % · HONEST LIMITS</a:t>
            </a:r>
            <a:endParaRPr lang="en-US" sz="950" dirty="0"/>
          </a:p>
        </p:txBody>
      </p:sp>
      <p:sp>
        <p:nvSpPr>
          <p:cNvPr id="4" name="Shape 2"/>
          <p:cNvSpPr/>
          <p:nvPr/>
        </p:nvSpPr>
        <p:spPr>
          <a:xfrm>
            <a:off x="411480" y="1115568"/>
            <a:ext cx="3703320" cy="2834640"/>
          </a:xfrm>
          <a:prstGeom prst="roundRect">
            <a:avLst>
              <a:gd name="adj" fmla="val 4516"/>
            </a:avLst>
          </a:prstGeom>
          <a:solidFill>
            <a:srgbClr val="E4F5EC"/>
          </a:solidFill>
          <a:ln/>
        </p:spPr>
      </p:sp>
      <p:sp>
        <p:nvSpPr>
          <p:cNvPr id="5" name="Shape 3"/>
          <p:cNvSpPr/>
          <p:nvPr/>
        </p:nvSpPr>
        <p:spPr>
          <a:xfrm>
            <a:off x="521208" y="1207008"/>
            <a:ext cx="3483864" cy="256032"/>
          </a:xfrm>
          <a:prstGeom prst="roundRect">
            <a:avLst>
              <a:gd name="adj" fmla="val 50000"/>
            </a:avLst>
          </a:prstGeom>
          <a:solidFill>
            <a:srgbClr val="1B8F55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21208" y="1207008"/>
            <a:ext cx="34838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PROVED ON PUBLIC DATA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21208" y="1572768"/>
            <a:ext cx="3483864" cy="420624"/>
          </a:xfrm>
          <a:prstGeom prst="rect">
            <a:avLst/>
          </a:prstGeom>
          <a:solidFill>
            <a:srgbClr val="F1F7F3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94360" y="1572768"/>
            <a:ext cx="1600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E2B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Next-answer AUC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2194560" y="1572768"/>
            <a:ext cx="1783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2633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0.763 (DKT 0.754)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521208" y="2029968"/>
            <a:ext cx="3483864" cy="42062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94360" y="2029968"/>
            <a:ext cx="1600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E2B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Withdrawal AUC day 28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2194560" y="2029968"/>
            <a:ext cx="1783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2633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0.706 (published 0.794, lower)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21208" y="2487168"/>
            <a:ext cx="3483864" cy="420624"/>
          </a:xfrm>
          <a:prstGeom prst="rect">
            <a:avLst/>
          </a:prstGeom>
          <a:solidFill>
            <a:srgbClr val="F1F7F3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94360" y="2487168"/>
            <a:ext cx="1600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E2B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Calibration error</a:t>
            </a:r>
            <a:endParaRPr lang="en-US" sz="1050" dirty="0"/>
          </a:p>
        </p:txBody>
      </p:sp>
      <p:sp>
        <p:nvSpPr>
          <p:cNvPr id="15" name="Text 13"/>
          <p:cNvSpPr txBox="1"/>
          <p:nvPr/>
        </p:nvSpPr>
        <p:spPr>
          <a:xfrm>
            <a:off x="2194560" y="2487168"/>
            <a:ext cx="1783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2633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0.009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521208" y="2944368"/>
            <a:ext cx="3483864" cy="42062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94360" y="2944368"/>
            <a:ext cx="1600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E2B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Academic-only cost</a:t>
            </a:r>
            <a:endParaRPr lang="en-US" sz="1050" dirty="0"/>
          </a:p>
        </p:txBody>
      </p:sp>
      <p:sp>
        <p:nvSpPr>
          <p:cNvPr id="18" name="Text 16"/>
          <p:cNvSpPr txBox="1"/>
          <p:nvPr/>
        </p:nvSpPr>
        <p:spPr>
          <a:xfrm>
            <a:off x="2194560" y="2944368"/>
            <a:ext cx="1783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2633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0.008 AUC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21208" y="3401568"/>
            <a:ext cx="3483864" cy="420624"/>
          </a:xfrm>
          <a:prstGeom prst="rect">
            <a:avLst/>
          </a:prstGeom>
          <a:solidFill>
            <a:srgbClr val="F1F7F3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594360" y="3401568"/>
            <a:ext cx="1600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E2B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Precision at top 10 %</a:t>
            </a:r>
            <a:endParaRPr lang="en-US" sz="1050" dirty="0"/>
          </a:p>
        </p:txBody>
      </p:sp>
      <p:sp>
        <p:nvSpPr>
          <p:cNvPr id="21" name="Text 19"/>
          <p:cNvSpPr txBox="1"/>
          <p:nvPr/>
        </p:nvSpPr>
        <p:spPr>
          <a:xfrm>
            <a:off x="2194560" y="3401568"/>
            <a:ext cx="1783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2633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0.46 vs 0.24 to 0.31 for rules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242816" y="1115568"/>
            <a:ext cx="3703320" cy="2834640"/>
          </a:xfrm>
          <a:prstGeom prst="roundRect">
            <a:avLst>
              <a:gd name="adj" fmla="val 4516"/>
            </a:avLst>
          </a:prstGeom>
          <a:solidFill>
            <a:srgbClr val="FFEBD6"/>
          </a:solidFill>
          <a:ln/>
        </p:spPr>
      </p:sp>
      <p:sp>
        <p:nvSpPr>
          <p:cNvPr id="23" name="Shape 21"/>
          <p:cNvSpPr/>
          <p:nvPr/>
        </p:nvSpPr>
        <p:spPr>
          <a:xfrm>
            <a:off x="4352544" y="1207008"/>
            <a:ext cx="3483864" cy="256032"/>
          </a:xfrm>
          <a:prstGeom prst="roundRect">
            <a:avLst>
              <a:gd name="adj" fmla="val 50000"/>
            </a:avLst>
          </a:prstGeom>
          <a:solidFill>
            <a:srgbClr val="F7B500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4352544" y="1207008"/>
            <a:ext cx="34838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E2B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SHOWN ON SYNTHETIC DATA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4352544" y="1572768"/>
            <a:ext cx="3483864" cy="420624"/>
          </a:xfrm>
          <a:prstGeom prst="rect">
            <a:avLst/>
          </a:prstGeom>
          <a:solidFill>
            <a:srgbClr val="F1F7F3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4425696" y="1572768"/>
            <a:ext cx="1600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E2B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end to end</a:t>
            </a:r>
            <a:endParaRPr lang="en-US" sz="1050" dirty="0"/>
          </a:p>
        </p:txBody>
      </p:sp>
      <p:sp>
        <p:nvSpPr>
          <p:cNvPr id="27" name="Text 25"/>
          <p:cNvSpPr txBox="1"/>
          <p:nvPr/>
        </p:nvSpPr>
        <p:spPr>
          <a:xfrm>
            <a:off x="6025896" y="1572768"/>
            <a:ext cx="1783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2633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 100 tests pass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352544" y="2029968"/>
            <a:ext cx="3483864" cy="42062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4425696" y="2029968"/>
            <a:ext cx="1600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E2B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Tenant isolation</a:t>
            </a:r>
            <a:endParaRPr lang="en-US" sz="1050" dirty="0"/>
          </a:p>
        </p:txBody>
      </p:sp>
      <p:sp>
        <p:nvSpPr>
          <p:cNvPr id="30" name="Text 28"/>
          <p:cNvSpPr txBox="1"/>
          <p:nvPr/>
        </p:nvSpPr>
        <p:spPr>
          <a:xfrm>
            <a:off x="6025896" y="2029968"/>
            <a:ext cx="1783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2633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rows seen across institutes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4352544" y="2487168"/>
            <a:ext cx="3483864" cy="420624"/>
          </a:xfrm>
          <a:prstGeom prst="rect">
            <a:avLst/>
          </a:prstGeom>
          <a:solidFill>
            <a:srgbClr val="F1F7F3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4425696" y="2487168"/>
            <a:ext cx="1600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E2B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 checker</a:t>
            </a:r>
            <a:endParaRPr lang="en-US" sz="1050" dirty="0"/>
          </a:p>
        </p:txBody>
      </p:sp>
      <p:sp>
        <p:nvSpPr>
          <p:cNvPr id="33" name="Text 31"/>
          <p:cNvSpPr txBox="1"/>
          <p:nvPr/>
        </p:nvSpPr>
        <p:spPr>
          <a:xfrm>
            <a:off x="6025896" y="2487168"/>
            <a:ext cx="1783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2633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checks, template fallback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4352544" y="2944368"/>
            <a:ext cx="3483864" cy="42062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4425696" y="2944368"/>
            <a:ext cx="1600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E2B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Difficulty recovery</a:t>
            </a:r>
            <a:endParaRPr lang="en-US" sz="1050" dirty="0"/>
          </a:p>
        </p:txBody>
      </p:sp>
      <p:sp>
        <p:nvSpPr>
          <p:cNvPr id="36" name="Text 34"/>
          <p:cNvSpPr txBox="1"/>
          <p:nvPr/>
        </p:nvSpPr>
        <p:spPr>
          <a:xfrm>
            <a:off x="6025896" y="2944368"/>
            <a:ext cx="1783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2633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pending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4352544" y="3401568"/>
            <a:ext cx="3483864" cy="420624"/>
          </a:xfrm>
          <a:prstGeom prst="rect">
            <a:avLst/>
          </a:prstGeom>
          <a:solidFill>
            <a:srgbClr val="F1F7F3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4425696" y="3401568"/>
            <a:ext cx="1600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E2B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Early-warning lift, range coverage</a:t>
            </a:r>
            <a:endParaRPr lang="en-US" sz="1050" dirty="0"/>
          </a:p>
        </p:txBody>
      </p:sp>
      <p:sp>
        <p:nvSpPr>
          <p:cNvPr id="39" name="Text 37"/>
          <p:cNvSpPr txBox="1"/>
          <p:nvPr/>
        </p:nvSpPr>
        <p:spPr>
          <a:xfrm>
            <a:off x="6025896" y="3401568"/>
            <a:ext cx="1783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2633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pending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8074152" y="1115568"/>
            <a:ext cx="3703320" cy="2834640"/>
          </a:xfrm>
          <a:prstGeom prst="roundRect">
            <a:avLst>
              <a:gd name="adj" fmla="val 4516"/>
            </a:avLst>
          </a:prstGeom>
          <a:solidFill>
            <a:srgbClr val="E3EEFB"/>
          </a:solidFill>
          <a:ln/>
        </p:spPr>
      </p:sp>
      <p:sp>
        <p:nvSpPr>
          <p:cNvPr id="41" name="Shape 39"/>
          <p:cNvSpPr/>
          <p:nvPr/>
        </p:nvSpPr>
        <p:spPr>
          <a:xfrm>
            <a:off x="8183880" y="1207008"/>
            <a:ext cx="3483864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04A3A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8183880" y="1207008"/>
            <a:ext cx="34838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E04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PROVEN YET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8183880" y="1572768"/>
            <a:ext cx="3483864" cy="420624"/>
          </a:xfrm>
          <a:prstGeom prst="rect">
            <a:avLst/>
          </a:prstGeom>
          <a:solidFill>
            <a:srgbClr val="F1F7F3"/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8257032" y="1572768"/>
            <a:ext cx="1600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E2B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Accuracy on real institutes</a:t>
            </a:r>
            <a:endParaRPr lang="en-US" sz="1050" dirty="0"/>
          </a:p>
        </p:txBody>
      </p:sp>
      <p:sp>
        <p:nvSpPr>
          <p:cNvPr id="45" name="Text 43"/>
          <p:cNvSpPr txBox="1"/>
          <p:nvPr/>
        </p:nvSpPr>
        <p:spPr>
          <a:xfrm>
            <a:off x="9857232" y="1572768"/>
            <a:ext cx="1783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2633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 a pilot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8183880" y="2029968"/>
            <a:ext cx="3483864" cy="42062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7" name="Text 45"/>
          <p:cNvSpPr txBox="1"/>
          <p:nvPr/>
        </p:nvSpPr>
        <p:spPr>
          <a:xfrm>
            <a:off x="8257032" y="2029968"/>
            <a:ext cx="1600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E2B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Willingness to pay</a:t>
            </a:r>
            <a:endParaRPr lang="en-US" sz="1050" dirty="0"/>
          </a:p>
        </p:txBody>
      </p:sp>
      <p:sp>
        <p:nvSpPr>
          <p:cNvPr id="48" name="Text 46"/>
          <p:cNvSpPr txBox="1"/>
          <p:nvPr/>
        </p:nvSpPr>
        <p:spPr>
          <a:xfrm>
            <a:off x="9857232" y="2029968"/>
            <a:ext cx="1783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2633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 interviews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8183880" y="2487168"/>
            <a:ext cx="3483864" cy="420624"/>
          </a:xfrm>
          <a:prstGeom prst="rect">
            <a:avLst/>
          </a:prstGeom>
          <a:solidFill>
            <a:srgbClr val="F1F7F3"/>
          </a:solidFill>
          <a:ln/>
        </p:spPr>
      </p:sp>
      <p:sp>
        <p:nvSpPr>
          <p:cNvPr id="50" name="Text 48"/>
          <p:cNvSpPr txBox="1"/>
          <p:nvPr/>
        </p:nvSpPr>
        <p:spPr>
          <a:xfrm>
            <a:off x="8257032" y="2487168"/>
            <a:ext cx="1600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E2B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dropout reduction</a:t>
            </a:r>
            <a:endParaRPr lang="en-US" sz="1050" dirty="0"/>
          </a:p>
        </p:txBody>
      </p:sp>
      <p:sp>
        <p:nvSpPr>
          <p:cNvPr id="51" name="Text 49"/>
          <p:cNvSpPr txBox="1"/>
          <p:nvPr/>
        </p:nvSpPr>
        <p:spPr>
          <a:xfrm>
            <a:off x="9857232" y="2487168"/>
            <a:ext cx="1783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2633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borrowed from trials</a:t>
            </a:r>
            <a:endParaRPr lang="en-US" sz="1000" dirty="0"/>
          </a:p>
        </p:txBody>
      </p:sp>
      <p:sp>
        <p:nvSpPr>
          <p:cNvPr id="52" name="Shape 50"/>
          <p:cNvSpPr/>
          <p:nvPr/>
        </p:nvSpPr>
        <p:spPr>
          <a:xfrm>
            <a:off x="8183880" y="2944368"/>
            <a:ext cx="3483864" cy="42062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3" name="Text 51"/>
          <p:cNvSpPr txBox="1"/>
          <p:nvPr/>
        </p:nvSpPr>
        <p:spPr>
          <a:xfrm>
            <a:off x="8257032" y="2944368"/>
            <a:ext cx="1600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E2B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Hindi quality at scale</a:t>
            </a:r>
            <a:endParaRPr lang="en-US" sz="1050" dirty="0"/>
          </a:p>
        </p:txBody>
      </p:sp>
      <p:sp>
        <p:nvSpPr>
          <p:cNvPr id="54" name="Text 52"/>
          <p:cNvSpPr txBox="1"/>
          <p:nvPr/>
        </p:nvSpPr>
        <p:spPr>
          <a:xfrm>
            <a:off x="9857232" y="2944368"/>
            <a:ext cx="1783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2633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native review</a:t>
            </a:r>
            <a:endParaRPr lang="en-US" sz="1000" dirty="0"/>
          </a:p>
        </p:txBody>
      </p:sp>
      <p:sp>
        <p:nvSpPr>
          <p:cNvPr id="55" name="Shape 53"/>
          <p:cNvSpPr/>
          <p:nvPr/>
        </p:nvSpPr>
        <p:spPr>
          <a:xfrm>
            <a:off x="8183880" y="3401568"/>
            <a:ext cx="3483864" cy="420624"/>
          </a:xfrm>
          <a:prstGeom prst="rect">
            <a:avLst/>
          </a:prstGeom>
          <a:solidFill>
            <a:srgbClr val="F1F7F3"/>
          </a:solidFill>
          <a:ln/>
        </p:spPr>
      </p:sp>
      <p:sp>
        <p:nvSpPr>
          <p:cNvPr id="56" name="Text 54"/>
          <p:cNvSpPr txBox="1"/>
          <p:nvPr/>
        </p:nvSpPr>
        <p:spPr>
          <a:xfrm>
            <a:off x="8257032" y="3401568"/>
            <a:ext cx="1600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E2B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OMR on other sheet layouts</a:t>
            </a:r>
            <a:endParaRPr lang="en-US" sz="1050" dirty="0"/>
          </a:p>
        </p:txBody>
      </p:sp>
      <p:sp>
        <p:nvSpPr>
          <p:cNvPr id="57" name="Text 55"/>
          <p:cNvSpPr txBox="1"/>
          <p:nvPr/>
        </p:nvSpPr>
        <p:spPr>
          <a:xfrm>
            <a:off x="9857232" y="3401568"/>
            <a:ext cx="1783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2633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one-time onboarding</a:t>
            </a:r>
            <a:endParaRPr lang="en-US" sz="1000" dirty="0"/>
          </a:p>
        </p:txBody>
      </p:sp>
      <p:sp>
        <p:nvSpPr>
          <p:cNvPr id="58" name="Shape 56"/>
          <p:cNvSpPr/>
          <p:nvPr/>
        </p:nvSpPr>
        <p:spPr>
          <a:xfrm>
            <a:off x="411480" y="4069080"/>
            <a:ext cx="11368735" cy="2286000"/>
          </a:xfrm>
          <a:prstGeom prst="roundRect">
            <a:avLst>
              <a:gd name="adj" fmla="val 5600"/>
            </a:avLst>
          </a:prstGeom>
          <a:solidFill>
            <a:srgbClr val="FFF3CC"/>
          </a:solidFill>
          <a:ln/>
        </p:spPr>
      </p:sp>
      <p:sp>
        <p:nvSpPr>
          <p:cNvPr id="59" name="Shape 57"/>
          <p:cNvSpPr/>
          <p:nvPr/>
        </p:nvSpPr>
        <p:spPr>
          <a:xfrm>
            <a:off x="557784" y="4174236"/>
            <a:ext cx="128016" cy="128016"/>
          </a:xfrm>
          <a:prstGeom prst="ellipse">
            <a:avLst/>
          </a:prstGeom>
          <a:solidFill>
            <a:srgbClr val="F7B500"/>
          </a:solidFill>
          <a:ln/>
        </p:spPr>
      </p:sp>
      <p:sp>
        <p:nvSpPr>
          <p:cNvPr id="60" name="Text 58"/>
          <p:cNvSpPr txBox="1"/>
          <p:nvPr/>
        </p:nvSpPr>
        <p:spPr>
          <a:xfrm>
            <a:off x="758952" y="4114800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50" kern="0" dirty="0">
                <a:solidFill>
                  <a:srgbClr val="C997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PILOT PLAN: HOW WE SETTLE THE OPEN QUESTIONS</a:t>
            </a:r>
            <a:endParaRPr lang="en-US" sz="1200" dirty="0"/>
          </a:p>
        </p:txBody>
      </p:sp>
      <p:sp>
        <p:nvSpPr>
          <p:cNvPr id="61" name="Shape 59"/>
          <p:cNvSpPr/>
          <p:nvPr/>
        </p:nvSpPr>
        <p:spPr>
          <a:xfrm>
            <a:off x="594360" y="4434840"/>
            <a:ext cx="3772132" cy="502920"/>
          </a:xfrm>
          <a:prstGeom prst="homePlate">
            <a:avLst/>
          </a:prstGeom>
          <a:solidFill>
            <a:srgbClr val="1FA971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62" name="Text 60"/>
          <p:cNvSpPr txBox="1"/>
          <p:nvPr/>
        </p:nvSpPr>
        <p:spPr>
          <a:xfrm>
            <a:off x="722376" y="4434840"/>
            <a:ext cx="343471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  ·  WEEKS 0 TO 4</a:t>
            </a:r>
            <a:endParaRPr lang="en-US" sz="1100" dirty="0"/>
          </a:p>
        </p:txBody>
      </p:sp>
      <p:sp>
        <p:nvSpPr>
          <p:cNvPr id="63" name="Shape 61"/>
          <p:cNvSpPr/>
          <p:nvPr/>
        </p:nvSpPr>
        <p:spPr>
          <a:xfrm>
            <a:off x="4209782" y="4434840"/>
            <a:ext cx="3772132" cy="502920"/>
          </a:xfrm>
          <a:prstGeom prst="chevron">
            <a:avLst/>
          </a:prstGeom>
          <a:solidFill>
            <a:srgbClr val="F28C28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64" name="Text 62"/>
          <p:cNvSpPr txBox="1"/>
          <p:nvPr/>
        </p:nvSpPr>
        <p:spPr>
          <a:xfrm>
            <a:off x="4437467" y="4434840"/>
            <a:ext cx="33350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  ·  ONE TERM</a:t>
            </a:r>
            <a:endParaRPr lang="en-US" sz="1100" dirty="0"/>
          </a:p>
        </p:txBody>
      </p:sp>
      <p:sp>
        <p:nvSpPr>
          <p:cNvPr id="65" name="Shape 63"/>
          <p:cNvSpPr/>
          <p:nvPr/>
        </p:nvSpPr>
        <p:spPr>
          <a:xfrm>
            <a:off x="7825204" y="4434840"/>
            <a:ext cx="3772132" cy="502920"/>
          </a:xfrm>
          <a:prstGeom prst="chevron">
            <a:avLst/>
          </a:prstGeom>
          <a:solidFill>
            <a:srgbClr val="2F80D1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66" name="Text 64"/>
          <p:cNvSpPr txBox="1"/>
          <p:nvPr/>
        </p:nvSpPr>
        <p:spPr>
          <a:xfrm>
            <a:off x="8052889" y="4434840"/>
            <a:ext cx="33350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3  ·  AFTER THE TERM</a:t>
            </a:r>
            <a:endParaRPr lang="en-US" sz="1100" dirty="0"/>
          </a:p>
        </p:txBody>
      </p:sp>
      <p:sp>
        <p:nvSpPr>
          <p:cNvPr id="67" name="Text 65"/>
          <p:cNvSpPr txBox="1"/>
          <p:nvPr/>
        </p:nvSpPr>
        <p:spPr>
          <a:xfrm>
            <a:off x="685800" y="5029200"/>
            <a:ext cx="3520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E2B2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Retro-pilot at 2 institutes</a:t>
            </a:r>
            <a:endParaRPr lang="en-US" sz="1250" dirty="0"/>
          </a:p>
        </p:txBody>
      </p:sp>
      <p:sp>
        <p:nvSpPr>
          <p:cNvPr id="68" name="Text 66"/>
          <p:cNvSpPr txBox="1"/>
          <p:nvPr/>
        </p:nvSpPr>
        <p:spPr>
          <a:xfrm>
            <a:off x="685800" y="5321808"/>
            <a:ext cx="35204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2633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 last year's Excel; show who left and what we would have flagged. Measure recall and precision on their data.</a:t>
            </a:r>
            <a:endParaRPr lang="en-US" sz="1050" dirty="0"/>
          </a:p>
        </p:txBody>
      </p:sp>
      <p:sp>
        <p:nvSpPr>
          <p:cNvPr id="69" name="Text 67"/>
          <p:cNvSpPr txBox="1"/>
          <p:nvPr/>
        </p:nvSpPr>
        <p:spPr>
          <a:xfrm>
            <a:off x="4434840" y="5029200"/>
            <a:ext cx="3520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E2B2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Staggered paid pilot</a:t>
            </a:r>
            <a:endParaRPr lang="en-US" sz="1250" dirty="0"/>
          </a:p>
        </p:txBody>
      </p:sp>
      <p:sp>
        <p:nvSpPr>
          <p:cNvPr id="70" name="Text 68"/>
          <p:cNvSpPr txBox="1"/>
          <p:nvPr/>
        </p:nvSpPr>
        <p:spPr>
          <a:xfrm>
            <a:off x="4434840" y="5321808"/>
            <a:ext cx="35204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2633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Half the batches start first; the rest are the comparison. Success measures are written down before we start.</a:t>
            </a:r>
            <a:endParaRPr lang="en-US" sz="1050" dirty="0"/>
          </a:p>
        </p:txBody>
      </p:sp>
      <p:sp>
        <p:nvSpPr>
          <p:cNvPr id="71" name="Text 69"/>
          <p:cNvSpPr txBox="1"/>
          <p:nvPr/>
        </p:nvSpPr>
        <p:spPr>
          <a:xfrm>
            <a:off x="8183880" y="5029200"/>
            <a:ext cx="3520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E2B2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Decide and scale</a:t>
            </a:r>
            <a:endParaRPr lang="en-US" sz="1250" dirty="0"/>
          </a:p>
        </p:txBody>
      </p:sp>
      <p:sp>
        <p:nvSpPr>
          <p:cNvPr id="72" name="Text 70"/>
          <p:cNvSpPr txBox="1"/>
          <p:nvPr/>
        </p:nvSpPr>
        <p:spPr>
          <a:xfrm>
            <a:off x="8183880" y="5321808"/>
            <a:ext cx="35204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2633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the percentile mapping with real exam outcomes; publish what worked and what did not.</a:t>
            </a:r>
            <a:endParaRPr lang="en-US" sz="1050" dirty="0"/>
          </a:p>
        </p:txBody>
      </p:sp>
      <p:sp>
        <p:nvSpPr>
          <p:cNvPr id="73" name="Shape 71"/>
          <p:cNvSpPr/>
          <p:nvPr/>
        </p:nvSpPr>
        <p:spPr>
          <a:xfrm>
            <a:off x="521208" y="6053328"/>
            <a:ext cx="11149279" cy="256032"/>
          </a:xfrm>
          <a:prstGeom prst="roundRect">
            <a:avLst>
              <a:gd name="adj" fmla="val 50000"/>
            </a:avLst>
          </a:prstGeom>
          <a:solidFill>
            <a:srgbClr val="0E7C4F"/>
          </a:solidFill>
          <a:ln/>
        </p:spPr>
      </p:sp>
      <p:sp>
        <p:nvSpPr>
          <p:cNvPr id="74" name="Text 72"/>
          <p:cNvSpPr txBox="1"/>
          <p:nvPr/>
        </p:nvSpPr>
        <p:spPr>
          <a:xfrm>
            <a:off x="658368" y="6053328"/>
            <a:ext cx="1087495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Changed from the guide: dropout reduction 25 % to 6.6 %,  LTV ÷ CAC 10.7x to 3.7x.  About a quarter of dropouts are sudden and cannot be predicted from academic data.</a:t>
            </a:r>
            <a:endParaRPr lang="en-US" sz="1050" dirty="0"/>
          </a:p>
        </p:txBody>
      </p:sp>
      <p:sp>
        <p:nvSpPr>
          <p:cNvPr id="75" name="Text 73"/>
          <p:cNvSpPr txBox="1"/>
          <p:nvPr/>
        </p:nvSpPr>
        <p:spPr>
          <a:xfrm>
            <a:off x="411480" y="6464808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5B67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ml/public_validation, financial workbook, technical/docs/FEASIBILITY_CHECK.md. Pending items are replaced with measured values before submission.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92240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75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5"/>
          <p:cNvSpPr/>
          <p:nvPr>
            <p:ph idx="105" type="title" hasCustomPrompt="1"/>
          </p:nvPr>
        </p:nvSpPr>
        <p:spPr>
          <a:xfrm>
            <a:off x="411480" y="310896"/>
            <a:ext cx="113687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E2B2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Appendix 1: 31 tables in five groups, all isolated per institute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7589520" y="182880"/>
            <a:ext cx="41879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b="1" spc="150" kern="0" dirty="0">
                <a:solidFill>
                  <a:srgbClr val="5B67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MODEL</a:t>
            </a:r>
            <a:endParaRPr lang="en-US" sz="950" dirty="0"/>
          </a:p>
        </p:txBody>
      </p:sp>
      <p:sp>
        <p:nvSpPr>
          <p:cNvPr id="4" name="Shape 2"/>
          <p:cNvSpPr/>
          <p:nvPr/>
        </p:nvSpPr>
        <p:spPr>
          <a:xfrm>
            <a:off x="411480" y="1188720"/>
            <a:ext cx="3703320" cy="2148840"/>
          </a:xfrm>
          <a:prstGeom prst="roundRect">
            <a:avLst>
              <a:gd name="adj" fmla="val 2553"/>
            </a:avLst>
          </a:prstGeom>
          <a:solidFill>
            <a:srgbClr val="FFFFFF"/>
          </a:solidFill>
          <a:ln w="15875">
            <a:solidFill>
              <a:srgbClr val="1FA971"/>
            </a:solidFill>
            <a:prstDash val="dash"/>
          </a:ln>
        </p:spPr>
      </p:sp>
      <p:sp>
        <p:nvSpPr>
          <p:cNvPr id="5" name="Text 3"/>
          <p:cNvSpPr txBox="1"/>
          <p:nvPr/>
        </p:nvSpPr>
        <p:spPr>
          <a:xfrm>
            <a:off x="502920" y="1234440"/>
            <a:ext cx="3520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0E7C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PEOPLE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45920"/>
            <a:ext cx="34290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2633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institutes, users, students, guardians, batches, batch_changes, consents, legal_settings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233672" y="1188720"/>
            <a:ext cx="3703320" cy="2148840"/>
          </a:xfrm>
          <a:prstGeom prst="roundRect">
            <a:avLst>
              <a:gd name="adj" fmla="val 2553"/>
            </a:avLst>
          </a:prstGeom>
          <a:solidFill>
            <a:srgbClr val="FFFFFF"/>
          </a:solidFill>
          <a:ln w="15875">
            <a:solidFill>
              <a:srgbClr val="F28C28"/>
            </a:solidFill>
            <a:prstDash val="dash"/>
          </a:ln>
        </p:spPr>
      </p:sp>
      <p:sp>
        <p:nvSpPr>
          <p:cNvPr id="8" name="Text 6"/>
          <p:cNvSpPr txBox="1"/>
          <p:nvPr/>
        </p:nvSpPr>
        <p:spPr>
          <a:xfrm>
            <a:off x="4325112" y="1234440"/>
            <a:ext cx="3520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D970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LEARNING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4370832" y="1645920"/>
            <a:ext cx="34290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2633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topics, topic_prereqs, questions, question_topics, item_params, tests, test_questions, answer_keys, marking_schemes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8055864" y="1188720"/>
            <a:ext cx="3703320" cy="2148840"/>
          </a:xfrm>
          <a:prstGeom prst="roundRect">
            <a:avLst>
              <a:gd name="adj" fmla="val 2553"/>
            </a:avLst>
          </a:prstGeom>
          <a:solidFill>
            <a:srgbClr val="FFFFFF"/>
          </a:solidFill>
          <a:ln w="15875">
            <a:solidFill>
              <a:srgbClr val="2F80D1"/>
            </a:solidFill>
            <a:prstDash val="dash"/>
          </a:ln>
        </p:spPr>
      </p:sp>
      <p:sp>
        <p:nvSpPr>
          <p:cNvPr id="11" name="Text 9"/>
          <p:cNvSpPr txBox="1"/>
          <p:nvPr/>
        </p:nvSpPr>
        <p:spPr>
          <a:xfrm>
            <a:off x="8147304" y="1234440"/>
            <a:ext cx="3520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1F6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8193024" y="1645920"/>
            <a:ext cx="34290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2633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responses, test_totals, attendance, fees, engagement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11480" y="3474720"/>
            <a:ext cx="3703320" cy="2148840"/>
          </a:xfrm>
          <a:prstGeom prst="roundRect">
            <a:avLst>
              <a:gd name="adj" fmla="val 2553"/>
            </a:avLst>
          </a:prstGeom>
          <a:solidFill>
            <a:srgbClr val="FFFFFF"/>
          </a:solidFill>
          <a:ln w="15875">
            <a:solidFill>
              <a:srgbClr val="F7B500"/>
            </a:solidFill>
            <a:prstDash val="dash"/>
          </a:ln>
        </p:spPr>
      </p:sp>
      <p:sp>
        <p:nvSpPr>
          <p:cNvPr id="14" name="Text 12"/>
          <p:cNvSpPr txBox="1"/>
          <p:nvPr/>
        </p:nvSpPr>
        <p:spPr>
          <a:xfrm>
            <a:off x="502920" y="3520440"/>
            <a:ext cx="3520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C997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INTELLIGENCE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3931920"/>
            <a:ext cx="34290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2633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mastery_snapshots, risk_scores, predictions, interventions, reports, model_registry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233672" y="3474720"/>
            <a:ext cx="3703320" cy="2148840"/>
          </a:xfrm>
          <a:prstGeom prst="roundRect">
            <a:avLst>
              <a:gd name="adj" fmla="val 2553"/>
            </a:avLst>
          </a:prstGeom>
          <a:solidFill>
            <a:srgbClr val="FFFFFF"/>
          </a:solidFill>
          <a:ln w="15875">
            <a:solidFill>
              <a:srgbClr val="1FA971"/>
            </a:solidFill>
            <a:prstDash val="dash"/>
          </a:ln>
        </p:spPr>
      </p:sp>
      <p:sp>
        <p:nvSpPr>
          <p:cNvPr id="17" name="Text 15"/>
          <p:cNvSpPr txBox="1"/>
          <p:nvPr/>
        </p:nvSpPr>
        <p:spPr>
          <a:xfrm>
            <a:off x="4325112" y="3520440"/>
            <a:ext cx="3520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0E7C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OPERATIONS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4370832" y="3931920"/>
            <a:ext cx="34290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2633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ingest_jobs, omr_templates, audit_log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8055864" y="3474720"/>
            <a:ext cx="3703320" cy="2148840"/>
          </a:xfrm>
          <a:prstGeom prst="roundRect">
            <a:avLst>
              <a:gd name="adj" fmla="val 2553"/>
            </a:avLst>
          </a:prstGeom>
          <a:solidFill>
            <a:srgbClr val="FFFFFF"/>
          </a:solidFill>
          <a:ln w="15875">
            <a:solidFill>
              <a:srgbClr val="F28C28"/>
            </a:solidFill>
            <a:prstDash val="dash"/>
          </a:ln>
        </p:spPr>
      </p:sp>
      <p:sp>
        <p:nvSpPr>
          <p:cNvPr id="20" name="Text 18"/>
          <p:cNvSpPr txBox="1"/>
          <p:nvPr/>
        </p:nvSpPr>
        <p:spPr>
          <a:xfrm>
            <a:off x="8147304" y="3520440"/>
            <a:ext cx="3520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D970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DELIBERATELY NOT STORED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8238744" y="3931920"/>
            <a:ext cx="33832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633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Counselling notes or mental-health information</a:t>
            </a:r>
            <a:endParaRPr lang="en-US" sz="1200" dirty="0"/>
          </a:p>
          <a:p>
            <a:pPr algn="l" marL="152400" indent="-1524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633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 document images</a:t>
            </a:r>
            <a:endParaRPr lang="en-US" sz="1200" dirty="0"/>
          </a:p>
          <a:p>
            <a:pPr algn="l" marL="152400" indent="-1524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633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 photographs</a:t>
            </a:r>
            <a:endParaRPr lang="en-US" sz="1200" dirty="0"/>
          </a:p>
          <a:p>
            <a:pPr algn="l" marL="152400" indent="-1524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633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public rank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411480" y="5852160"/>
            <a:ext cx="11368735" cy="310896"/>
          </a:xfrm>
          <a:prstGeom prst="roundRect">
            <a:avLst>
              <a:gd name="adj" fmla="val 50000"/>
            </a:avLst>
          </a:prstGeom>
          <a:solidFill>
            <a:srgbClr val="0E7C4F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548640" y="5852160"/>
            <a:ext cx="110944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Row-level security on every tenant table; another institute sees 0 rows (tested on PostgreSQL 16)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411480" y="6464808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5B67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technical/contracts/schema.sql. Synthetic data: 4 institutes, 3 academic years, known ground truth.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92240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75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5"/>
          <p:cNvSpPr/>
          <p:nvPr>
            <p:ph idx="105" type="title" hasCustomPrompt="1"/>
          </p:nvPr>
        </p:nvSpPr>
        <p:spPr>
          <a:xfrm>
            <a:off x="411480" y="310896"/>
            <a:ext cx="113687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E2B2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Appendix 2: about ₹3.6 per student per month, ₹0 extra run locally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7589520" y="182880"/>
            <a:ext cx="41879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b="1" spc="150" kern="0" dirty="0">
                <a:solidFill>
                  <a:srgbClr val="5B67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PER STUDENT</a:t>
            </a:r>
            <a:endParaRPr lang="en-US" sz="950" dirty="0"/>
          </a:p>
        </p:txBody>
      </p:sp>
      <p:sp>
        <p:nvSpPr>
          <p:cNvPr id="4" name="Shape 2"/>
          <p:cNvSpPr/>
          <p:nvPr/>
        </p:nvSpPr>
        <p:spPr>
          <a:xfrm>
            <a:off x="411480" y="1115568"/>
            <a:ext cx="4754880" cy="5212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D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11480" y="1115568"/>
            <a:ext cx="91440" cy="5212080"/>
          </a:xfrm>
          <a:prstGeom prst="rect">
            <a:avLst/>
          </a:prstGeom>
          <a:solidFill>
            <a:srgbClr val="1FA971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40080" y="1161288"/>
            <a:ext cx="4434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E2B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INPUTS (BEAR / BASE / BULL)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484632" y="1481328"/>
            <a:ext cx="2194560" cy="292608"/>
          </a:xfrm>
          <a:prstGeom prst="rect">
            <a:avLst/>
          </a:prstGeom>
          <a:solidFill>
            <a:srgbClr val="0E7C4F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481328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2679192" y="1481328"/>
            <a:ext cx="822960" cy="292608"/>
          </a:xfrm>
          <a:prstGeom prst="rect">
            <a:avLst/>
          </a:prstGeom>
          <a:solidFill>
            <a:srgbClr val="0E7C4F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2724912" y="1481328"/>
            <a:ext cx="731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Bear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502152" y="1481328"/>
            <a:ext cx="822960" cy="292608"/>
          </a:xfrm>
          <a:prstGeom prst="rect">
            <a:avLst/>
          </a:prstGeom>
          <a:solidFill>
            <a:srgbClr val="0E7C4F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3547872" y="1481328"/>
            <a:ext cx="731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325112" y="1481328"/>
            <a:ext cx="731520" cy="292608"/>
          </a:xfrm>
          <a:prstGeom prst="rect">
            <a:avLst/>
          </a:prstGeom>
          <a:solidFill>
            <a:srgbClr val="0E7C4F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370832" y="1481328"/>
            <a:ext cx="640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Bull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84632" y="1773936"/>
            <a:ext cx="2194560" cy="411480"/>
          </a:xfrm>
          <a:prstGeom prst="rect">
            <a:avLst/>
          </a:prstGeom>
          <a:solidFill>
            <a:srgbClr val="F1F7F3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30352" y="1773936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633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Hosted model, ₹ per 1M input tokens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679192" y="1773936"/>
            <a:ext cx="822960" cy="411480"/>
          </a:xfrm>
          <a:prstGeom prst="rect">
            <a:avLst/>
          </a:prstGeom>
          <a:solidFill>
            <a:srgbClr val="F1F7F3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2724912" y="1773936"/>
            <a:ext cx="731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633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142.58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3502152" y="1773936"/>
            <a:ext cx="822960" cy="411480"/>
          </a:xfrm>
          <a:prstGeom prst="rect">
            <a:avLst/>
          </a:prstGeom>
          <a:solidFill>
            <a:srgbClr val="F1F7F3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3547872" y="1773936"/>
            <a:ext cx="731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633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23.76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325112" y="1773936"/>
            <a:ext cx="731520" cy="411480"/>
          </a:xfrm>
          <a:prstGeom prst="rect">
            <a:avLst/>
          </a:prstGeom>
          <a:solidFill>
            <a:srgbClr val="F1F7F3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4370832" y="1773936"/>
            <a:ext cx="64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633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9.51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484632" y="2185416"/>
            <a:ext cx="4572000" cy="0"/>
          </a:xfrm>
          <a:prstGeom prst="line">
            <a:avLst/>
          </a:prstGeom>
          <a:noFill/>
          <a:ln w="6350">
            <a:solidFill>
              <a:srgbClr val="E3E8E4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84632" y="2185416"/>
            <a:ext cx="2194560" cy="41148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530352" y="2185416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633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Hosted model, ₹ per 1M output tokens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2679192" y="2185416"/>
            <a:ext cx="822960" cy="41148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2724912" y="2185416"/>
            <a:ext cx="731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633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712.88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3502152" y="2185416"/>
            <a:ext cx="822960" cy="41148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3547872" y="2185416"/>
            <a:ext cx="731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633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142.58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325112" y="2185416"/>
            <a:ext cx="731520" cy="41148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4370832" y="2185416"/>
            <a:ext cx="64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633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47.53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484632" y="2596896"/>
            <a:ext cx="4572000" cy="0"/>
          </a:xfrm>
          <a:prstGeom prst="line">
            <a:avLst/>
          </a:prstGeom>
          <a:noFill/>
          <a:ln w="6350">
            <a:solidFill>
              <a:srgbClr val="E3E8E4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84632" y="2596896"/>
            <a:ext cx="2194560" cy="411480"/>
          </a:xfrm>
          <a:prstGeom prst="rect">
            <a:avLst/>
          </a:prstGeom>
          <a:solidFill>
            <a:srgbClr val="F1F7F3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530352" y="2596896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633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WhatsApp utility message, ₹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2679192" y="2596896"/>
            <a:ext cx="822960" cy="411480"/>
          </a:xfrm>
          <a:prstGeom prst="rect">
            <a:avLst/>
          </a:prstGeom>
          <a:solidFill>
            <a:srgbClr val="F1F7F3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2724912" y="2596896"/>
            <a:ext cx="731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633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0.145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3502152" y="2596896"/>
            <a:ext cx="822960" cy="411480"/>
          </a:xfrm>
          <a:prstGeom prst="rect">
            <a:avLst/>
          </a:prstGeom>
          <a:solidFill>
            <a:srgbClr val="F1F7F3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3547872" y="2596896"/>
            <a:ext cx="731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633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0.132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4325112" y="2596896"/>
            <a:ext cx="731520" cy="411480"/>
          </a:xfrm>
          <a:prstGeom prst="rect">
            <a:avLst/>
          </a:prstGeom>
          <a:solidFill>
            <a:srgbClr val="F1F7F3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4370832" y="2596896"/>
            <a:ext cx="64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633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0.115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484632" y="3008376"/>
            <a:ext cx="4572000" cy="0"/>
          </a:xfrm>
          <a:prstGeom prst="line">
            <a:avLst/>
          </a:prstGeom>
          <a:noFill/>
          <a:ln w="6350">
            <a:solidFill>
              <a:srgbClr val="E3E8E4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484632" y="3008376"/>
            <a:ext cx="2194560" cy="41148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3" name="Text 41"/>
          <p:cNvSpPr txBox="1"/>
          <p:nvPr/>
        </p:nvSpPr>
        <p:spPr>
          <a:xfrm>
            <a:off x="530352" y="3008376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633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reports per student per month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>
            <a:off x="2679192" y="3008376"/>
            <a:ext cx="822960" cy="41148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5" name="Text 43"/>
          <p:cNvSpPr txBox="1"/>
          <p:nvPr/>
        </p:nvSpPr>
        <p:spPr>
          <a:xfrm>
            <a:off x="2724912" y="3008376"/>
            <a:ext cx="731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633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3502152" y="3008376"/>
            <a:ext cx="822960" cy="41148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7" name="Text 45"/>
          <p:cNvSpPr txBox="1"/>
          <p:nvPr/>
        </p:nvSpPr>
        <p:spPr>
          <a:xfrm>
            <a:off x="3547872" y="3008376"/>
            <a:ext cx="731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633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48" name="Shape 46"/>
          <p:cNvSpPr/>
          <p:nvPr/>
        </p:nvSpPr>
        <p:spPr>
          <a:xfrm>
            <a:off x="4325112" y="3008376"/>
            <a:ext cx="731520" cy="41148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4370832" y="3008376"/>
            <a:ext cx="64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633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50" name="Shape 48"/>
          <p:cNvSpPr/>
          <p:nvPr/>
        </p:nvSpPr>
        <p:spPr>
          <a:xfrm>
            <a:off x="484632" y="3419856"/>
            <a:ext cx="4572000" cy="0"/>
          </a:xfrm>
          <a:prstGeom prst="line">
            <a:avLst/>
          </a:prstGeom>
          <a:noFill/>
          <a:ln w="6350">
            <a:solidFill>
              <a:srgbClr val="E3E8E4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484632" y="3419856"/>
            <a:ext cx="2194560" cy="411480"/>
          </a:xfrm>
          <a:prstGeom prst="rect">
            <a:avLst/>
          </a:prstGeom>
          <a:solidFill>
            <a:srgbClr val="F1F7F3"/>
          </a:solidFill>
          <a:ln/>
        </p:spPr>
      </p:sp>
      <p:sp>
        <p:nvSpPr>
          <p:cNvPr id="52" name="Text 50"/>
          <p:cNvSpPr txBox="1"/>
          <p:nvPr/>
        </p:nvSpPr>
        <p:spPr>
          <a:xfrm>
            <a:off x="530352" y="3419856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633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WhatsApp messages per student per month</a:t>
            </a:r>
            <a:endParaRPr lang="en-US" sz="1000" dirty="0"/>
          </a:p>
        </p:txBody>
      </p:sp>
      <p:sp>
        <p:nvSpPr>
          <p:cNvPr id="53" name="Shape 51"/>
          <p:cNvSpPr/>
          <p:nvPr/>
        </p:nvSpPr>
        <p:spPr>
          <a:xfrm>
            <a:off x="2679192" y="3419856"/>
            <a:ext cx="822960" cy="411480"/>
          </a:xfrm>
          <a:prstGeom prst="rect">
            <a:avLst/>
          </a:prstGeom>
          <a:solidFill>
            <a:srgbClr val="F1F7F3"/>
          </a:solidFill>
          <a:ln/>
        </p:spPr>
      </p:sp>
      <p:sp>
        <p:nvSpPr>
          <p:cNvPr id="54" name="Text 52"/>
          <p:cNvSpPr txBox="1"/>
          <p:nvPr/>
        </p:nvSpPr>
        <p:spPr>
          <a:xfrm>
            <a:off x="2724912" y="3419856"/>
            <a:ext cx="731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633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  <p:sp>
        <p:nvSpPr>
          <p:cNvPr id="55" name="Shape 53"/>
          <p:cNvSpPr/>
          <p:nvPr/>
        </p:nvSpPr>
        <p:spPr>
          <a:xfrm>
            <a:off x="3502152" y="3419856"/>
            <a:ext cx="822960" cy="411480"/>
          </a:xfrm>
          <a:prstGeom prst="rect">
            <a:avLst/>
          </a:prstGeom>
          <a:solidFill>
            <a:srgbClr val="F1F7F3"/>
          </a:solidFill>
          <a:ln/>
        </p:spPr>
      </p:sp>
      <p:sp>
        <p:nvSpPr>
          <p:cNvPr id="56" name="Text 54"/>
          <p:cNvSpPr txBox="1"/>
          <p:nvPr/>
        </p:nvSpPr>
        <p:spPr>
          <a:xfrm>
            <a:off x="3547872" y="3419856"/>
            <a:ext cx="731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633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  <p:sp>
        <p:nvSpPr>
          <p:cNvPr id="57" name="Shape 55"/>
          <p:cNvSpPr/>
          <p:nvPr/>
        </p:nvSpPr>
        <p:spPr>
          <a:xfrm>
            <a:off x="4325112" y="3419856"/>
            <a:ext cx="731520" cy="411480"/>
          </a:xfrm>
          <a:prstGeom prst="rect">
            <a:avLst/>
          </a:prstGeom>
          <a:solidFill>
            <a:srgbClr val="F1F7F3"/>
          </a:solidFill>
          <a:ln/>
        </p:spPr>
      </p:sp>
      <p:sp>
        <p:nvSpPr>
          <p:cNvPr id="58" name="Text 56"/>
          <p:cNvSpPr txBox="1"/>
          <p:nvPr/>
        </p:nvSpPr>
        <p:spPr>
          <a:xfrm>
            <a:off x="4370832" y="3419856"/>
            <a:ext cx="64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633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59" name="Shape 57"/>
          <p:cNvSpPr/>
          <p:nvPr/>
        </p:nvSpPr>
        <p:spPr>
          <a:xfrm>
            <a:off x="484632" y="3831336"/>
            <a:ext cx="4572000" cy="0"/>
          </a:xfrm>
          <a:prstGeom prst="line">
            <a:avLst/>
          </a:prstGeom>
          <a:noFill/>
          <a:ln w="6350">
            <a:solidFill>
              <a:srgbClr val="E3E8E4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484632" y="3831336"/>
            <a:ext cx="2194560" cy="41148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1" name="Text 59"/>
          <p:cNvSpPr txBox="1"/>
          <p:nvPr/>
        </p:nvSpPr>
        <p:spPr>
          <a:xfrm>
            <a:off x="530352" y="3831336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633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 and storage, ₹ per student per month</a:t>
            </a:r>
            <a:endParaRPr lang="en-US" sz="1000" dirty="0"/>
          </a:p>
        </p:txBody>
      </p:sp>
      <p:sp>
        <p:nvSpPr>
          <p:cNvPr id="62" name="Shape 60"/>
          <p:cNvSpPr/>
          <p:nvPr/>
        </p:nvSpPr>
        <p:spPr>
          <a:xfrm>
            <a:off x="2679192" y="3831336"/>
            <a:ext cx="822960" cy="41148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3" name="Text 61"/>
          <p:cNvSpPr txBox="1"/>
          <p:nvPr/>
        </p:nvSpPr>
        <p:spPr>
          <a:xfrm>
            <a:off x="2724912" y="3831336"/>
            <a:ext cx="731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633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1.5</a:t>
            </a:r>
            <a:endParaRPr lang="en-US" sz="1000" dirty="0"/>
          </a:p>
        </p:txBody>
      </p:sp>
      <p:sp>
        <p:nvSpPr>
          <p:cNvPr id="64" name="Shape 62"/>
          <p:cNvSpPr/>
          <p:nvPr/>
        </p:nvSpPr>
        <p:spPr>
          <a:xfrm>
            <a:off x="3502152" y="3831336"/>
            <a:ext cx="822960" cy="41148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5" name="Text 63"/>
          <p:cNvSpPr txBox="1"/>
          <p:nvPr/>
        </p:nvSpPr>
        <p:spPr>
          <a:xfrm>
            <a:off x="3547872" y="3831336"/>
            <a:ext cx="731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633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0.8</a:t>
            </a:r>
            <a:endParaRPr lang="en-US" sz="1000" dirty="0"/>
          </a:p>
        </p:txBody>
      </p:sp>
      <p:sp>
        <p:nvSpPr>
          <p:cNvPr id="66" name="Shape 64"/>
          <p:cNvSpPr/>
          <p:nvPr/>
        </p:nvSpPr>
        <p:spPr>
          <a:xfrm>
            <a:off x="4325112" y="3831336"/>
            <a:ext cx="731520" cy="41148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7" name="Text 65"/>
          <p:cNvSpPr txBox="1"/>
          <p:nvPr/>
        </p:nvSpPr>
        <p:spPr>
          <a:xfrm>
            <a:off x="4370832" y="3831336"/>
            <a:ext cx="64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633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0.4</a:t>
            </a:r>
            <a:endParaRPr lang="en-US" sz="1000" dirty="0"/>
          </a:p>
        </p:txBody>
      </p:sp>
      <p:sp>
        <p:nvSpPr>
          <p:cNvPr id="68" name="Shape 66"/>
          <p:cNvSpPr/>
          <p:nvPr/>
        </p:nvSpPr>
        <p:spPr>
          <a:xfrm>
            <a:off x="484632" y="4242816"/>
            <a:ext cx="4572000" cy="0"/>
          </a:xfrm>
          <a:prstGeom prst="line">
            <a:avLst/>
          </a:prstGeom>
          <a:noFill/>
          <a:ln w="6350">
            <a:solidFill>
              <a:srgbClr val="E3E8E4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484632" y="4242816"/>
            <a:ext cx="2194560" cy="411480"/>
          </a:xfrm>
          <a:prstGeom prst="rect">
            <a:avLst/>
          </a:prstGeom>
          <a:solidFill>
            <a:srgbClr val="F1F7F3"/>
          </a:solidFill>
          <a:ln/>
        </p:spPr>
      </p:sp>
      <p:sp>
        <p:nvSpPr>
          <p:cNvPr id="70" name="Text 68"/>
          <p:cNvSpPr txBox="1"/>
          <p:nvPr/>
        </p:nvSpPr>
        <p:spPr>
          <a:xfrm>
            <a:off x="530352" y="4242816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633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Consent verification, ₹ per student per year</a:t>
            </a:r>
            <a:endParaRPr lang="en-US" sz="1000" dirty="0"/>
          </a:p>
        </p:txBody>
      </p:sp>
      <p:sp>
        <p:nvSpPr>
          <p:cNvPr id="71" name="Shape 69"/>
          <p:cNvSpPr/>
          <p:nvPr/>
        </p:nvSpPr>
        <p:spPr>
          <a:xfrm>
            <a:off x="2679192" y="4242816"/>
            <a:ext cx="822960" cy="411480"/>
          </a:xfrm>
          <a:prstGeom prst="rect">
            <a:avLst/>
          </a:prstGeom>
          <a:solidFill>
            <a:srgbClr val="F1F7F3"/>
          </a:solidFill>
          <a:ln/>
        </p:spPr>
      </p:sp>
      <p:sp>
        <p:nvSpPr>
          <p:cNvPr id="72" name="Text 70"/>
          <p:cNvSpPr txBox="1"/>
          <p:nvPr/>
        </p:nvSpPr>
        <p:spPr>
          <a:xfrm>
            <a:off x="2724912" y="4242816"/>
            <a:ext cx="731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633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3.0</a:t>
            </a:r>
            <a:endParaRPr lang="en-US" sz="1000" dirty="0"/>
          </a:p>
        </p:txBody>
      </p:sp>
      <p:sp>
        <p:nvSpPr>
          <p:cNvPr id="73" name="Shape 71"/>
          <p:cNvSpPr/>
          <p:nvPr/>
        </p:nvSpPr>
        <p:spPr>
          <a:xfrm>
            <a:off x="3502152" y="4242816"/>
            <a:ext cx="822960" cy="411480"/>
          </a:xfrm>
          <a:prstGeom prst="rect">
            <a:avLst/>
          </a:prstGeom>
          <a:solidFill>
            <a:srgbClr val="F1F7F3"/>
          </a:solidFill>
          <a:ln/>
        </p:spPr>
      </p:sp>
      <p:sp>
        <p:nvSpPr>
          <p:cNvPr id="74" name="Text 72"/>
          <p:cNvSpPr txBox="1"/>
          <p:nvPr/>
        </p:nvSpPr>
        <p:spPr>
          <a:xfrm>
            <a:off x="3547872" y="4242816"/>
            <a:ext cx="731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633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1.5</a:t>
            </a:r>
            <a:endParaRPr lang="en-US" sz="1000" dirty="0"/>
          </a:p>
        </p:txBody>
      </p:sp>
      <p:sp>
        <p:nvSpPr>
          <p:cNvPr id="75" name="Shape 73"/>
          <p:cNvSpPr/>
          <p:nvPr/>
        </p:nvSpPr>
        <p:spPr>
          <a:xfrm>
            <a:off x="4325112" y="4242816"/>
            <a:ext cx="731520" cy="411480"/>
          </a:xfrm>
          <a:prstGeom prst="rect">
            <a:avLst/>
          </a:prstGeom>
          <a:solidFill>
            <a:srgbClr val="F1F7F3"/>
          </a:solidFill>
          <a:ln/>
        </p:spPr>
      </p:sp>
      <p:sp>
        <p:nvSpPr>
          <p:cNvPr id="76" name="Text 74"/>
          <p:cNvSpPr txBox="1"/>
          <p:nvPr/>
        </p:nvSpPr>
        <p:spPr>
          <a:xfrm>
            <a:off x="4370832" y="4242816"/>
            <a:ext cx="64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633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0.5</a:t>
            </a:r>
            <a:endParaRPr lang="en-US" sz="1000" dirty="0"/>
          </a:p>
        </p:txBody>
      </p:sp>
      <p:sp>
        <p:nvSpPr>
          <p:cNvPr id="77" name="Shape 75"/>
          <p:cNvSpPr/>
          <p:nvPr/>
        </p:nvSpPr>
        <p:spPr>
          <a:xfrm>
            <a:off x="484632" y="4654296"/>
            <a:ext cx="4572000" cy="0"/>
          </a:xfrm>
          <a:prstGeom prst="line">
            <a:avLst/>
          </a:prstGeom>
          <a:noFill/>
          <a:ln w="6350">
            <a:solidFill>
              <a:srgbClr val="E3E8E4"/>
            </a:solidFill>
            <a:prstDash val="solid"/>
          </a:ln>
        </p:spPr>
      </p:sp>
      <p:sp>
        <p:nvSpPr>
          <p:cNvPr id="78" name="Shape 76"/>
          <p:cNvSpPr/>
          <p:nvPr/>
        </p:nvSpPr>
        <p:spPr>
          <a:xfrm>
            <a:off x="484632" y="4654296"/>
            <a:ext cx="2194560" cy="41148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9" name="Text 77"/>
          <p:cNvSpPr txBox="1"/>
          <p:nvPr/>
        </p:nvSpPr>
        <p:spPr>
          <a:xfrm>
            <a:off x="530352" y="4654296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633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 server + database, ₹ per month per stack</a:t>
            </a:r>
            <a:endParaRPr lang="en-US" sz="1000" dirty="0"/>
          </a:p>
        </p:txBody>
      </p:sp>
      <p:sp>
        <p:nvSpPr>
          <p:cNvPr id="80" name="Shape 78"/>
          <p:cNvSpPr/>
          <p:nvPr/>
        </p:nvSpPr>
        <p:spPr>
          <a:xfrm>
            <a:off x="2679192" y="4654296"/>
            <a:ext cx="822960" cy="41148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81" name="Text 79"/>
          <p:cNvSpPr txBox="1"/>
          <p:nvPr/>
        </p:nvSpPr>
        <p:spPr>
          <a:xfrm>
            <a:off x="2724912" y="4654296"/>
            <a:ext cx="731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633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9,000</a:t>
            </a:r>
            <a:endParaRPr lang="en-US" sz="1000" dirty="0"/>
          </a:p>
        </p:txBody>
      </p:sp>
      <p:sp>
        <p:nvSpPr>
          <p:cNvPr id="82" name="Shape 80"/>
          <p:cNvSpPr/>
          <p:nvPr/>
        </p:nvSpPr>
        <p:spPr>
          <a:xfrm>
            <a:off x="3502152" y="4654296"/>
            <a:ext cx="822960" cy="41148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83" name="Text 81"/>
          <p:cNvSpPr txBox="1"/>
          <p:nvPr/>
        </p:nvSpPr>
        <p:spPr>
          <a:xfrm>
            <a:off x="3547872" y="4654296"/>
            <a:ext cx="731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633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4,000</a:t>
            </a:r>
            <a:endParaRPr lang="en-US" sz="1000" dirty="0"/>
          </a:p>
        </p:txBody>
      </p:sp>
      <p:sp>
        <p:nvSpPr>
          <p:cNvPr id="84" name="Shape 82"/>
          <p:cNvSpPr/>
          <p:nvPr/>
        </p:nvSpPr>
        <p:spPr>
          <a:xfrm>
            <a:off x="4325112" y="4654296"/>
            <a:ext cx="731520" cy="41148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85" name="Text 83"/>
          <p:cNvSpPr txBox="1"/>
          <p:nvPr/>
        </p:nvSpPr>
        <p:spPr>
          <a:xfrm>
            <a:off x="4370832" y="4654296"/>
            <a:ext cx="64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633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3,000</a:t>
            </a:r>
            <a:endParaRPr lang="en-US" sz="1000" dirty="0"/>
          </a:p>
        </p:txBody>
      </p:sp>
      <p:sp>
        <p:nvSpPr>
          <p:cNvPr id="86" name="Shape 84"/>
          <p:cNvSpPr/>
          <p:nvPr/>
        </p:nvSpPr>
        <p:spPr>
          <a:xfrm>
            <a:off x="484632" y="5065776"/>
            <a:ext cx="4572000" cy="0"/>
          </a:xfrm>
          <a:prstGeom prst="line">
            <a:avLst/>
          </a:prstGeom>
          <a:noFill/>
          <a:ln w="6350">
            <a:solidFill>
              <a:srgbClr val="E3E8E4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484632" y="5065776"/>
            <a:ext cx="2194560" cy="411480"/>
          </a:xfrm>
          <a:prstGeom prst="rect">
            <a:avLst/>
          </a:prstGeom>
          <a:solidFill>
            <a:srgbClr val="F1F7F3"/>
          </a:solidFill>
          <a:ln/>
        </p:spPr>
      </p:sp>
      <p:sp>
        <p:nvSpPr>
          <p:cNvPr id="88" name="Text 86"/>
          <p:cNvSpPr txBox="1"/>
          <p:nvPr/>
        </p:nvSpPr>
        <p:spPr>
          <a:xfrm>
            <a:off x="530352" y="5065776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633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Institutes sharing one stack</a:t>
            </a:r>
            <a:endParaRPr lang="en-US" sz="1000" dirty="0"/>
          </a:p>
        </p:txBody>
      </p:sp>
      <p:sp>
        <p:nvSpPr>
          <p:cNvPr id="89" name="Shape 87"/>
          <p:cNvSpPr/>
          <p:nvPr/>
        </p:nvSpPr>
        <p:spPr>
          <a:xfrm>
            <a:off x="2679192" y="5065776"/>
            <a:ext cx="822960" cy="411480"/>
          </a:xfrm>
          <a:prstGeom prst="rect">
            <a:avLst/>
          </a:prstGeom>
          <a:solidFill>
            <a:srgbClr val="F1F7F3"/>
          </a:solidFill>
          <a:ln/>
        </p:spPr>
      </p:sp>
      <p:sp>
        <p:nvSpPr>
          <p:cNvPr id="90" name="Text 88"/>
          <p:cNvSpPr txBox="1"/>
          <p:nvPr/>
        </p:nvSpPr>
        <p:spPr>
          <a:xfrm>
            <a:off x="2724912" y="5065776"/>
            <a:ext cx="731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633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  <p:sp>
        <p:nvSpPr>
          <p:cNvPr id="91" name="Shape 89"/>
          <p:cNvSpPr/>
          <p:nvPr/>
        </p:nvSpPr>
        <p:spPr>
          <a:xfrm>
            <a:off x="3502152" y="5065776"/>
            <a:ext cx="822960" cy="411480"/>
          </a:xfrm>
          <a:prstGeom prst="rect">
            <a:avLst/>
          </a:prstGeom>
          <a:solidFill>
            <a:srgbClr val="F1F7F3"/>
          </a:solidFill>
          <a:ln/>
        </p:spPr>
      </p:sp>
      <p:sp>
        <p:nvSpPr>
          <p:cNvPr id="92" name="Text 90"/>
          <p:cNvSpPr txBox="1"/>
          <p:nvPr/>
        </p:nvSpPr>
        <p:spPr>
          <a:xfrm>
            <a:off x="3547872" y="5065776"/>
            <a:ext cx="731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633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1000" dirty="0"/>
          </a:p>
        </p:txBody>
      </p:sp>
      <p:sp>
        <p:nvSpPr>
          <p:cNvPr id="93" name="Shape 91"/>
          <p:cNvSpPr/>
          <p:nvPr/>
        </p:nvSpPr>
        <p:spPr>
          <a:xfrm>
            <a:off x="4325112" y="5065776"/>
            <a:ext cx="731520" cy="411480"/>
          </a:xfrm>
          <a:prstGeom prst="rect">
            <a:avLst/>
          </a:prstGeom>
          <a:solidFill>
            <a:srgbClr val="F1F7F3"/>
          </a:solidFill>
          <a:ln/>
        </p:spPr>
      </p:sp>
      <p:sp>
        <p:nvSpPr>
          <p:cNvPr id="94" name="Text 92"/>
          <p:cNvSpPr txBox="1"/>
          <p:nvPr/>
        </p:nvSpPr>
        <p:spPr>
          <a:xfrm>
            <a:off x="4370832" y="5065776"/>
            <a:ext cx="64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633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</a:t>
            </a:r>
            <a:endParaRPr lang="en-US" sz="1000" dirty="0"/>
          </a:p>
        </p:txBody>
      </p:sp>
      <p:sp>
        <p:nvSpPr>
          <p:cNvPr id="95" name="Shape 93"/>
          <p:cNvSpPr/>
          <p:nvPr/>
        </p:nvSpPr>
        <p:spPr>
          <a:xfrm>
            <a:off x="484632" y="5477256"/>
            <a:ext cx="4572000" cy="0"/>
          </a:xfrm>
          <a:prstGeom prst="line">
            <a:avLst/>
          </a:prstGeom>
          <a:noFill/>
          <a:ln w="6350">
            <a:solidFill>
              <a:srgbClr val="E3E8E4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502920" y="5669280"/>
            <a:ext cx="1060704" cy="21945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9701A"/>
            </a:solidFill>
            <a:prstDash val="solid"/>
          </a:ln>
        </p:spPr>
      </p:sp>
      <p:sp>
        <p:nvSpPr>
          <p:cNvPr id="97" name="Text 95"/>
          <p:cNvSpPr txBox="1"/>
          <p:nvPr/>
        </p:nvSpPr>
        <p:spPr>
          <a:xfrm>
            <a:off x="502920" y="5669280"/>
            <a:ext cx="10607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D970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OUTPUT</a:t>
            </a:r>
            <a:endParaRPr lang="en-US" sz="900" dirty="0"/>
          </a:p>
        </p:txBody>
      </p:sp>
      <p:sp>
        <p:nvSpPr>
          <p:cNvPr id="98" name="Text 96"/>
          <p:cNvSpPr txBox="1"/>
          <p:nvPr/>
        </p:nvSpPr>
        <p:spPr>
          <a:xfrm>
            <a:off x="502920" y="594360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5B67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Prices researched 20 Oct 2026 from vendor pages; exchange rate ₹95.05 per US dollar.</a:t>
            </a:r>
            <a:endParaRPr lang="en-US" sz="950" dirty="0"/>
          </a:p>
        </p:txBody>
      </p:sp>
      <p:sp>
        <p:nvSpPr>
          <p:cNvPr id="99" name="Shape 97"/>
          <p:cNvSpPr/>
          <p:nvPr/>
        </p:nvSpPr>
        <p:spPr>
          <a:xfrm>
            <a:off x="5303520" y="1115568"/>
            <a:ext cx="3108960" cy="24688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DF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5303520" y="1115568"/>
            <a:ext cx="91440" cy="2468880"/>
          </a:xfrm>
          <a:prstGeom prst="rect">
            <a:avLst/>
          </a:prstGeom>
          <a:solidFill>
            <a:srgbClr val="F28C28"/>
          </a:solidFill>
          <a:ln/>
        </p:spPr>
      </p:sp>
      <p:sp>
        <p:nvSpPr>
          <p:cNvPr id="101" name="Text 99"/>
          <p:cNvSpPr txBox="1"/>
          <p:nvPr/>
        </p:nvSpPr>
        <p:spPr>
          <a:xfrm>
            <a:off x="5532120" y="1161288"/>
            <a:ext cx="2788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E2B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ALL-IN COST</a:t>
            </a:r>
            <a:endParaRPr lang="en-US" sz="1250" dirty="0"/>
          </a:p>
        </p:txBody>
      </p:sp>
      <p:sp>
        <p:nvSpPr>
          <p:cNvPr id="102" name="Text 100"/>
          <p:cNvSpPr txBox="1"/>
          <p:nvPr/>
        </p:nvSpPr>
        <p:spPr>
          <a:xfrm>
            <a:off x="5486400" y="155448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b="1" dirty="0">
                <a:solidFill>
                  <a:srgbClr val="1E2B2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₹3.6</a:t>
            </a:r>
            <a:endParaRPr lang="en-US" sz="4800" dirty="0"/>
          </a:p>
        </p:txBody>
      </p:sp>
      <p:sp>
        <p:nvSpPr>
          <p:cNvPr id="103" name="Text 101"/>
          <p:cNvSpPr txBox="1"/>
          <p:nvPr/>
        </p:nvSpPr>
        <p:spPr>
          <a:xfrm>
            <a:off x="5486400" y="242316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2633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student per month, inside the planned ₹3 to ₹10 band (financial model check).</a:t>
            </a:r>
            <a:endParaRPr lang="en-US" sz="1150" dirty="0"/>
          </a:p>
        </p:txBody>
      </p:sp>
      <p:sp>
        <p:nvSpPr>
          <p:cNvPr id="104" name="Shape 102"/>
          <p:cNvSpPr/>
          <p:nvPr/>
        </p:nvSpPr>
        <p:spPr>
          <a:xfrm>
            <a:off x="5303520" y="3703320"/>
            <a:ext cx="3108960" cy="2624328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DF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5303520" y="3703320"/>
            <a:ext cx="91440" cy="2624328"/>
          </a:xfrm>
          <a:prstGeom prst="rect">
            <a:avLst/>
          </a:prstGeom>
          <a:solidFill>
            <a:srgbClr val="2F80D1"/>
          </a:solidFill>
          <a:ln/>
        </p:spPr>
      </p:sp>
      <p:sp>
        <p:nvSpPr>
          <p:cNvPr id="106" name="Text 104"/>
          <p:cNvSpPr txBox="1"/>
          <p:nvPr/>
        </p:nvSpPr>
        <p:spPr>
          <a:xfrm>
            <a:off x="5532120" y="3749040"/>
            <a:ext cx="2788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E2B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RUN</a:t>
            </a:r>
            <a:endParaRPr lang="en-US" sz="1250" dirty="0"/>
          </a:p>
        </p:txBody>
      </p:sp>
      <p:sp>
        <p:nvSpPr>
          <p:cNvPr id="107" name="Text 105"/>
          <p:cNvSpPr txBox="1"/>
          <p:nvPr/>
        </p:nvSpPr>
        <p:spPr>
          <a:xfrm>
            <a:off x="5486400" y="411480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b="1" dirty="0">
                <a:solidFill>
                  <a:srgbClr val="0E7C4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₹0</a:t>
            </a:r>
            <a:endParaRPr lang="en-US" sz="4800" dirty="0"/>
          </a:p>
        </p:txBody>
      </p:sp>
      <p:sp>
        <p:nvSpPr>
          <p:cNvPr id="108" name="Text 106"/>
          <p:cNvSpPr txBox="1"/>
          <p:nvPr/>
        </p:nvSpPr>
        <p:spPr>
          <a:xfrm>
            <a:off x="5486400" y="498348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2633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marginal cost: laptop, local model, local database, no paid services.</a:t>
            </a:r>
            <a:endParaRPr lang="en-US" sz="1150" dirty="0"/>
          </a:p>
        </p:txBody>
      </p:sp>
      <p:sp>
        <p:nvSpPr>
          <p:cNvPr id="109" name="Shape 107"/>
          <p:cNvSpPr/>
          <p:nvPr/>
        </p:nvSpPr>
        <p:spPr>
          <a:xfrm>
            <a:off x="8549640" y="1115568"/>
            <a:ext cx="3230575" cy="5212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DF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8549640" y="1115568"/>
            <a:ext cx="91440" cy="5212080"/>
          </a:xfrm>
          <a:prstGeom prst="rect">
            <a:avLst/>
          </a:prstGeom>
          <a:solidFill>
            <a:srgbClr val="F7B500"/>
          </a:solidFill>
          <a:ln/>
        </p:spPr>
      </p:sp>
      <p:sp>
        <p:nvSpPr>
          <p:cNvPr id="111" name="Text 109"/>
          <p:cNvSpPr txBox="1"/>
          <p:nvPr/>
        </p:nvSpPr>
        <p:spPr>
          <a:xfrm>
            <a:off x="8778240" y="1161288"/>
            <a:ext cx="2910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E2B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WE KEEP IT LOW</a:t>
            </a:r>
            <a:endParaRPr lang="en-US" sz="1250" dirty="0"/>
          </a:p>
        </p:txBody>
      </p:sp>
      <p:pic>
        <p:nvPicPr>
          <p:cNvPr id="112" name="Image 0" descr="FaCircleCheck ic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86800" y="1572768"/>
            <a:ext cx="219456" cy="219456"/>
          </a:xfrm>
          <a:prstGeom prst="rect">
            <a:avLst/>
          </a:prstGeom>
        </p:spPr>
      </p:pic>
      <p:sp>
        <p:nvSpPr>
          <p:cNvPr id="113" name="Text 110"/>
          <p:cNvSpPr txBox="1"/>
          <p:nvPr/>
        </p:nvSpPr>
        <p:spPr>
          <a:xfrm>
            <a:off x="9006840" y="1481328"/>
            <a:ext cx="26362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2633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 local models on a laptop</a:t>
            </a:r>
            <a:endParaRPr lang="en-US" sz="1150" dirty="0"/>
          </a:p>
        </p:txBody>
      </p:sp>
      <p:pic>
        <p:nvPicPr>
          <p:cNvPr id="114" name="Image 1" descr="FaCircleCheck ico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0" y="2350008"/>
            <a:ext cx="219456" cy="219456"/>
          </a:xfrm>
          <a:prstGeom prst="rect">
            <a:avLst/>
          </a:prstGeom>
        </p:spPr>
      </p:pic>
      <p:sp>
        <p:nvSpPr>
          <p:cNvPr id="115" name="Text 111"/>
          <p:cNvSpPr txBox="1"/>
          <p:nvPr/>
        </p:nvSpPr>
        <p:spPr>
          <a:xfrm>
            <a:off x="9006840" y="2258568"/>
            <a:ext cx="26362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2633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Template fallback: no model required</a:t>
            </a:r>
            <a:endParaRPr lang="en-US" sz="1150" dirty="0"/>
          </a:p>
        </p:txBody>
      </p:sp>
      <p:pic>
        <p:nvPicPr>
          <p:cNvPr id="116" name="Image 2" descr="FaCircleCheck ico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0" y="3127248"/>
            <a:ext cx="219456" cy="219456"/>
          </a:xfrm>
          <a:prstGeom prst="rect">
            <a:avLst/>
          </a:prstGeom>
        </p:spPr>
      </p:pic>
      <p:sp>
        <p:nvSpPr>
          <p:cNvPr id="117" name="Text 112"/>
          <p:cNvSpPr txBox="1"/>
          <p:nvPr/>
        </p:nvSpPr>
        <p:spPr>
          <a:xfrm>
            <a:off x="9006840" y="3035808"/>
            <a:ext cx="26362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2633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paid APIs or hosting</a:t>
            </a:r>
            <a:endParaRPr lang="en-US" sz="1150" dirty="0"/>
          </a:p>
        </p:txBody>
      </p:sp>
      <p:pic>
        <p:nvPicPr>
          <p:cNvPr id="118" name="Image 3" descr="FaCircleCheck ico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0" y="3904488"/>
            <a:ext cx="219456" cy="219456"/>
          </a:xfrm>
          <a:prstGeom prst="rect">
            <a:avLst/>
          </a:prstGeom>
        </p:spPr>
      </p:pic>
      <p:sp>
        <p:nvSpPr>
          <p:cNvPr id="119" name="Text 113"/>
          <p:cNvSpPr txBox="1"/>
          <p:nvPr/>
        </p:nvSpPr>
        <p:spPr>
          <a:xfrm>
            <a:off x="9006840" y="3813048"/>
            <a:ext cx="26362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2633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database per deployment, isolated per institute</a:t>
            </a:r>
            <a:endParaRPr lang="en-US" sz="1150" dirty="0"/>
          </a:p>
        </p:txBody>
      </p:sp>
      <p:pic>
        <p:nvPicPr>
          <p:cNvPr id="120" name="Image 4" descr="FaCircleCheck icon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86800" y="4681728"/>
            <a:ext cx="219456" cy="219456"/>
          </a:xfrm>
          <a:prstGeom prst="rect">
            <a:avLst/>
          </a:prstGeom>
        </p:spPr>
      </p:pic>
      <p:sp>
        <p:nvSpPr>
          <p:cNvPr id="121" name="Text 114"/>
          <p:cNvSpPr txBox="1"/>
          <p:nvPr/>
        </p:nvSpPr>
        <p:spPr>
          <a:xfrm>
            <a:off x="9006840" y="4590288"/>
            <a:ext cx="26362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2633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WhatsApp only for utility messages, in-window replies free</a:t>
            </a:r>
            <a:endParaRPr lang="en-US" sz="1150" dirty="0"/>
          </a:p>
        </p:txBody>
      </p:sp>
      <p:sp>
        <p:nvSpPr>
          <p:cNvPr id="122" name="Text 115"/>
          <p:cNvSpPr txBox="1"/>
          <p:nvPr/>
        </p:nvSpPr>
        <p:spPr>
          <a:xfrm>
            <a:off x="411480" y="6464808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5B67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financial/assumptions.csv (COGS rows), financial/research. Production costs are assumptions with confidence flags.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92240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75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5"/>
          <p:cNvSpPr/>
          <p:nvPr>
            <p:ph idx="105" type="title" hasCustomPrompt="1"/>
          </p:nvPr>
        </p:nvSpPr>
        <p:spPr>
          <a:xfrm>
            <a:off x="411480" y="310896"/>
            <a:ext cx="113687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E2B2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Appendix 3: the rules we design against, and what we do about each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7589520" y="182880"/>
            <a:ext cx="41879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b="1" spc="150" kern="0" dirty="0">
                <a:solidFill>
                  <a:srgbClr val="5B67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LEGAL BASIS</a:t>
            </a:r>
            <a:endParaRPr lang="en-US" sz="950" dirty="0"/>
          </a:p>
        </p:txBody>
      </p:sp>
      <p:sp>
        <p:nvSpPr>
          <p:cNvPr id="4" name="Shape 2"/>
          <p:cNvSpPr/>
          <p:nvPr/>
        </p:nvSpPr>
        <p:spPr>
          <a:xfrm>
            <a:off x="411480" y="1115568"/>
            <a:ext cx="11368735" cy="5212080"/>
          </a:xfrm>
          <a:prstGeom prst="rect">
            <a:avLst/>
          </a:prstGeom>
          <a:solidFill>
            <a:srgbClr val="FFFFFF"/>
          </a:solidFill>
          <a:ln w="15875">
            <a:solidFill>
              <a:srgbClr val="1FA97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2920" y="1234440"/>
            <a:ext cx="3017520" cy="310896"/>
          </a:xfrm>
          <a:prstGeom prst="rect">
            <a:avLst/>
          </a:prstGeom>
          <a:solidFill>
            <a:srgbClr val="0E7C4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48640" y="1234440"/>
            <a:ext cx="2926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3520440" y="1234440"/>
            <a:ext cx="8138160" cy="310896"/>
          </a:xfrm>
          <a:prstGeom prst="rect">
            <a:avLst/>
          </a:prstGeom>
          <a:solidFill>
            <a:srgbClr val="0E7C4F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3566160" y="1234440"/>
            <a:ext cx="8046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response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02920" y="1545336"/>
            <a:ext cx="3017520" cy="566928"/>
          </a:xfrm>
          <a:prstGeom prst="rect">
            <a:avLst/>
          </a:prstGeom>
          <a:solidFill>
            <a:srgbClr val="F1F7F3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48640" y="1545336"/>
            <a:ext cx="2926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633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DPDP Act s.9(1), Rule 10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520440" y="1545336"/>
            <a:ext cx="8138160" cy="566928"/>
          </a:xfrm>
          <a:prstGeom prst="rect">
            <a:avLst/>
          </a:prstGeom>
          <a:solidFill>
            <a:srgbClr val="F1F7F3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3566160" y="1545336"/>
            <a:ext cx="8046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2633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Verifiable parental consent before processing a minor's data: ID checked at the admission desk, consent recorded per purpose.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02920" y="2112264"/>
            <a:ext cx="11155680" cy="0"/>
          </a:xfrm>
          <a:prstGeom prst="line">
            <a:avLst/>
          </a:prstGeom>
          <a:noFill/>
          <a:ln w="6350">
            <a:solidFill>
              <a:srgbClr val="E3E8E4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02920" y="2112264"/>
            <a:ext cx="3017520" cy="56692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548640" y="2112264"/>
            <a:ext cx="2926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633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DPDP Act s.9(3)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3520440" y="2112264"/>
            <a:ext cx="8138160" cy="56692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3566160" y="2112264"/>
            <a:ext cx="8046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2633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tracking or behavioural monitoring of children: under 18, academic support uses a model; dropout and fee signals use plain rules.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502920" y="2679192"/>
            <a:ext cx="11155680" cy="0"/>
          </a:xfrm>
          <a:prstGeom prst="line">
            <a:avLst/>
          </a:prstGeom>
          <a:noFill/>
          <a:ln w="6350">
            <a:solidFill>
              <a:srgbClr val="E3E8E4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02920" y="2679192"/>
            <a:ext cx="3017520" cy="566928"/>
          </a:xfrm>
          <a:prstGeom prst="rect">
            <a:avLst/>
          </a:prstGeom>
          <a:solidFill>
            <a:srgbClr val="F1F7F3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548640" y="2679192"/>
            <a:ext cx="2926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633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Fourth Schedule, educational institutions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3520440" y="2679192"/>
            <a:ext cx="8138160" cy="566928"/>
          </a:xfrm>
          <a:prstGeom prst="rect">
            <a:avLst/>
          </a:prstGeom>
          <a:solidFill>
            <a:srgbClr val="F1F7F3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3566160" y="2679192"/>
            <a:ext cx="8046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2633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Narrow and purpose-limited, so we do not rely on it for consent.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502920" y="3246120"/>
            <a:ext cx="11155680" cy="0"/>
          </a:xfrm>
          <a:prstGeom prst="line">
            <a:avLst/>
          </a:prstGeom>
          <a:noFill/>
          <a:ln w="6350">
            <a:solidFill>
              <a:srgbClr val="E3E8E4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02920" y="3246120"/>
            <a:ext cx="3017520" cy="56692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548640" y="3246120"/>
            <a:ext cx="2926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633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DPDP Rules, Rules 6 and 7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520440" y="3246120"/>
            <a:ext cx="8138160" cy="56692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3566160" y="3246120"/>
            <a:ext cx="8046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2633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Encryption, access control, logs kept one year, breach notice to the institute within hours.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502920" y="3813048"/>
            <a:ext cx="11155680" cy="0"/>
          </a:xfrm>
          <a:prstGeom prst="line">
            <a:avLst/>
          </a:prstGeom>
          <a:noFill/>
          <a:ln w="6350">
            <a:solidFill>
              <a:srgbClr val="E3E8E4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02920" y="3813048"/>
            <a:ext cx="3017520" cy="566928"/>
          </a:xfrm>
          <a:prstGeom prst="rect">
            <a:avLst/>
          </a:prstGeom>
          <a:solidFill>
            <a:srgbClr val="F1F7F3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548640" y="3813048"/>
            <a:ext cx="2926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633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MoE Guidelines 2024, cl. 10.2(xi)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3520440" y="3813048"/>
            <a:ext cx="8138160" cy="566928"/>
          </a:xfrm>
          <a:prstGeom prst="rect">
            <a:avLst/>
          </a:prstGeom>
          <a:solidFill>
            <a:srgbClr val="F1F7F3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3566160" y="3813048"/>
            <a:ext cx="8046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2633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stay private; early warning leads to counselling, never public ranks.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502920" y="4379976"/>
            <a:ext cx="11155680" cy="0"/>
          </a:xfrm>
          <a:prstGeom prst="line">
            <a:avLst/>
          </a:prstGeom>
          <a:noFill/>
          <a:ln w="6350">
            <a:solidFill>
              <a:srgbClr val="E3E8E4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02920" y="4379976"/>
            <a:ext cx="3017520" cy="56692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548640" y="4379976"/>
            <a:ext cx="2926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633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MoE Guidelines 2024, cl. 12(vii)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3520440" y="4379976"/>
            <a:ext cx="8138160" cy="56692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3566160" y="4379976"/>
            <a:ext cx="8046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2633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batch moves based on performance; remedial help is an extra session.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502920" y="4946904"/>
            <a:ext cx="11155680" cy="0"/>
          </a:xfrm>
          <a:prstGeom prst="line">
            <a:avLst/>
          </a:prstGeom>
          <a:noFill/>
          <a:ln w="6350">
            <a:solidFill>
              <a:srgbClr val="E3E8E4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02920" y="4946904"/>
            <a:ext cx="3017520" cy="566928"/>
          </a:xfrm>
          <a:prstGeom prst="rect">
            <a:avLst/>
          </a:prstGeom>
          <a:solidFill>
            <a:srgbClr val="F1F7F3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548640" y="4946904"/>
            <a:ext cx="2926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633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MoE Guidelines 2024, cl. 8(iv), 10.1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3520440" y="4946904"/>
            <a:ext cx="8138160" cy="566928"/>
          </a:xfrm>
          <a:prstGeom prst="rect">
            <a:avLst/>
          </a:prstGeom>
          <a:solidFill>
            <a:srgbClr val="F1F7F3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3566160" y="4946904"/>
            <a:ext cx="8046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2633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Pro-rata refund within 10 days; no test the day after the weekly off.</a:t>
            </a:r>
            <a:endParaRPr lang="en-US" sz="1100" dirty="0"/>
          </a:p>
        </p:txBody>
      </p:sp>
      <p:sp>
        <p:nvSpPr>
          <p:cNvPr id="43" name="Shape 41"/>
          <p:cNvSpPr/>
          <p:nvPr/>
        </p:nvSpPr>
        <p:spPr>
          <a:xfrm>
            <a:off x="502920" y="5513832"/>
            <a:ext cx="11155680" cy="0"/>
          </a:xfrm>
          <a:prstGeom prst="line">
            <a:avLst/>
          </a:prstGeom>
          <a:noFill/>
          <a:ln w="6350">
            <a:solidFill>
              <a:srgbClr val="E3E8E4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502920" y="5513832"/>
            <a:ext cx="3017520" cy="56692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5" name="Text 43"/>
          <p:cNvSpPr txBox="1"/>
          <p:nvPr/>
        </p:nvSpPr>
        <p:spPr>
          <a:xfrm>
            <a:off x="548640" y="5513832"/>
            <a:ext cx="2926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633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Rajasthan Act 2025, s.6(2)(d)</a:t>
            </a:r>
            <a:endParaRPr lang="en-US" sz="1100" dirty="0"/>
          </a:p>
        </p:txBody>
      </p:sp>
      <p:sp>
        <p:nvSpPr>
          <p:cNvPr id="46" name="Shape 44"/>
          <p:cNvSpPr/>
          <p:nvPr/>
        </p:nvSpPr>
        <p:spPr>
          <a:xfrm>
            <a:off x="3520440" y="5513832"/>
            <a:ext cx="8138160" cy="56692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7" name="Text 45"/>
          <p:cNvSpPr txBox="1"/>
          <p:nvPr/>
        </p:nvSpPr>
        <p:spPr>
          <a:xfrm>
            <a:off x="3566160" y="5513832"/>
            <a:ext cx="8046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2633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 plans support four or more equal instalments.</a:t>
            </a:r>
            <a:endParaRPr lang="en-US" sz="1100" dirty="0"/>
          </a:p>
        </p:txBody>
      </p:sp>
      <p:sp>
        <p:nvSpPr>
          <p:cNvPr id="48" name="Shape 46"/>
          <p:cNvSpPr/>
          <p:nvPr/>
        </p:nvSpPr>
        <p:spPr>
          <a:xfrm>
            <a:off x="502920" y="6080760"/>
            <a:ext cx="11155680" cy="0"/>
          </a:xfrm>
          <a:prstGeom prst="line">
            <a:avLst/>
          </a:prstGeom>
          <a:noFill/>
          <a:ln w="6350">
            <a:solidFill>
              <a:srgbClr val="E3E8E4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411480" y="6464808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5B67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DPDP Act 2023, DPDP Rules 2025, MoE Guidelines 2024, Rajasthan Coaching Centres Act 2025 (technical/docs/TECH_PLAN.md, section 24). Not legal advice.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92240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75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5"/>
          <p:cNvSpPr/>
          <p:nvPr>
            <p:ph idx="105" type="title" hasCustomPrompt="1"/>
          </p:nvPr>
        </p:nvSpPr>
        <p:spPr>
          <a:xfrm>
            <a:off x="411480" y="310896"/>
            <a:ext cx="113687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E2B2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Appendix 4: every result follows the same protocol, and misses are reported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7589520" y="182880"/>
            <a:ext cx="41879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b="1" spc="150" kern="0" dirty="0">
                <a:solidFill>
                  <a:srgbClr val="5B67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WE TEST</a:t>
            </a:r>
            <a:endParaRPr lang="en-US" sz="950" dirty="0"/>
          </a:p>
        </p:txBody>
      </p:sp>
      <p:sp>
        <p:nvSpPr>
          <p:cNvPr id="4" name="Shape 2"/>
          <p:cNvSpPr/>
          <p:nvPr/>
        </p:nvSpPr>
        <p:spPr>
          <a:xfrm>
            <a:off x="411480" y="1188720"/>
            <a:ext cx="3703320" cy="24688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D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371600"/>
            <a:ext cx="502920" cy="502920"/>
          </a:xfrm>
          <a:prstGeom prst="ellipse">
            <a:avLst/>
          </a:prstGeom>
          <a:solidFill>
            <a:srgbClr val="1FA971"/>
          </a:solidFill>
          <a:ln/>
        </p:spPr>
      </p:sp>
      <p:pic>
        <p:nvPicPr>
          <p:cNvPr id="6" name="Image 0" descr="FaShieldHalved ic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5002" y="1482242"/>
            <a:ext cx="281635" cy="281635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280160" y="1371600"/>
            <a:ext cx="2697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2B2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 leakage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594360" y="2103120"/>
            <a:ext cx="33375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2633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Features use only data before the as-of date. Splits are by student and by year, never by row.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4233672" y="1188720"/>
            <a:ext cx="3703320" cy="24688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DF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416552" y="1371600"/>
            <a:ext cx="502920" cy="502920"/>
          </a:xfrm>
          <a:prstGeom prst="ellipse">
            <a:avLst/>
          </a:prstGeom>
          <a:solidFill>
            <a:srgbClr val="F28C28"/>
          </a:solidFill>
          <a:ln/>
        </p:spPr>
      </p:sp>
      <p:pic>
        <p:nvPicPr>
          <p:cNvPr id="11" name="Image 1" descr="FaScaleBalanced ico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27194" y="1482242"/>
            <a:ext cx="281635" cy="281635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102352" y="1371600"/>
            <a:ext cx="2697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2B2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Baselines at equal workload</a:t>
            </a:r>
            <a:endParaRPr lang="en-US" sz="1400" dirty="0"/>
          </a:p>
        </p:txBody>
      </p:sp>
      <p:sp>
        <p:nvSpPr>
          <p:cNvPr id="13" name="Text 9"/>
          <p:cNvSpPr txBox="1"/>
          <p:nvPr/>
        </p:nvSpPr>
        <p:spPr>
          <a:xfrm>
            <a:off x="4416552" y="2103120"/>
            <a:ext cx="33375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2633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model sits beside a simple rule at the same weekly top-k.</a:t>
            </a:r>
            <a:endParaRPr lang="en-US" sz="1200" dirty="0"/>
          </a:p>
        </p:txBody>
      </p:sp>
      <p:sp>
        <p:nvSpPr>
          <p:cNvPr id="14" name="Shape 10"/>
          <p:cNvSpPr/>
          <p:nvPr/>
        </p:nvSpPr>
        <p:spPr>
          <a:xfrm>
            <a:off x="8055864" y="1188720"/>
            <a:ext cx="3703320" cy="24688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DF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8238744" y="1371600"/>
            <a:ext cx="502920" cy="502920"/>
          </a:xfrm>
          <a:prstGeom prst="ellipse">
            <a:avLst/>
          </a:prstGeom>
          <a:solidFill>
            <a:srgbClr val="2F80D1"/>
          </a:solidFill>
          <a:ln/>
        </p:spPr>
      </p:sp>
      <p:pic>
        <p:nvPicPr>
          <p:cNvPr id="16" name="Image 2" descr="FaChartColumn ico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49386" y="1482242"/>
            <a:ext cx="281635" cy="281635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8924544" y="1371600"/>
            <a:ext cx="2697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2B2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Uncertainty</a:t>
            </a:r>
            <a:endParaRPr lang="en-US" sz="1400" dirty="0"/>
          </a:p>
        </p:txBody>
      </p:sp>
      <p:sp>
        <p:nvSpPr>
          <p:cNvPr id="18" name="Text 13"/>
          <p:cNvSpPr txBox="1"/>
          <p:nvPr/>
        </p:nvSpPr>
        <p:spPr>
          <a:xfrm>
            <a:off x="8238744" y="2103120"/>
            <a:ext cx="33375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2633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Bootstrap intervals over students, three generator seeds, event counts shown.</a:t>
            </a:r>
            <a:endParaRPr lang="en-US" sz="1200" dirty="0"/>
          </a:p>
        </p:txBody>
      </p:sp>
      <p:sp>
        <p:nvSpPr>
          <p:cNvPr id="19" name="Shape 14"/>
          <p:cNvSpPr/>
          <p:nvPr/>
        </p:nvSpPr>
        <p:spPr>
          <a:xfrm>
            <a:off x="411480" y="3794760"/>
            <a:ext cx="3703320" cy="24688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DF"/>
            </a:solidFill>
            <a:prstDash val="solid"/>
          </a:ln>
        </p:spPr>
      </p:sp>
      <p:sp>
        <p:nvSpPr>
          <p:cNvPr id="20" name="Shape 15"/>
          <p:cNvSpPr/>
          <p:nvPr/>
        </p:nvSpPr>
        <p:spPr>
          <a:xfrm>
            <a:off x="594360" y="3977640"/>
            <a:ext cx="502920" cy="502920"/>
          </a:xfrm>
          <a:prstGeom prst="ellipse">
            <a:avLst/>
          </a:prstGeom>
          <a:solidFill>
            <a:srgbClr val="F7B500"/>
          </a:solidFill>
          <a:ln/>
        </p:spPr>
      </p:sp>
      <p:pic>
        <p:nvPicPr>
          <p:cNvPr id="21" name="Image 3" descr="FaTriangleExclamation ico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5002" y="4088282"/>
            <a:ext cx="281635" cy="281635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1280160" y="3977640"/>
            <a:ext cx="2697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2B2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Stress tests</a:t>
            </a:r>
            <a:endParaRPr lang="en-US" sz="1400" dirty="0"/>
          </a:p>
        </p:txBody>
      </p:sp>
      <p:sp>
        <p:nvSpPr>
          <p:cNvPr id="23" name="Text 17"/>
          <p:cNvSpPr txBox="1"/>
          <p:nvPr/>
        </p:nvSpPr>
        <p:spPr>
          <a:xfrm>
            <a:off x="594360" y="4709160"/>
            <a:ext cx="33375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2633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Misspecified generators, a held-out institute, an independent attack on the report checker.</a:t>
            </a:r>
            <a:endParaRPr lang="en-US" sz="1200" dirty="0"/>
          </a:p>
        </p:txBody>
      </p:sp>
      <p:sp>
        <p:nvSpPr>
          <p:cNvPr id="24" name="Shape 18"/>
          <p:cNvSpPr/>
          <p:nvPr/>
        </p:nvSpPr>
        <p:spPr>
          <a:xfrm>
            <a:off x="4233672" y="3794760"/>
            <a:ext cx="3703320" cy="24688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DF"/>
            </a:solidFill>
            <a:prstDash val="solid"/>
          </a:ln>
        </p:spPr>
      </p:sp>
      <p:sp>
        <p:nvSpPr>
          <p:cNvPr id="25" name="Shape 19"/>
          <p:cNvSpPr/>
          <p:nvPr/>
        </p:nvSpPr>
        <p:spPr>
          <a:xfrm>
            <a:off x="4416552" y="3977640"/>
            <a:ext cx="502920" cy="502920"/>
          </a:xfrm>
          <a:prstGeom prst="ellipse">
            <a:avLst/>
          </a:prstGeom>
          <a:solidFill>
            <a:srgbClr val="1FA971"/>
          </a:solidFill>
          <a:ln/>
        </p:spPr>
      </p:sp>
      <p:pic>
        <p:nvPicPr>
          <p:cNvPr id="26" name="Image 4" descr="FaFlag icon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27194" y="4088282"/>
            <a:ext cx="281635" cy="281635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5102352" y="3977640"/>
            <a:ext cx="2697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2B2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Honest misses</a:t>
            </a:r>
            <a:endParaRPr lang="en-US" sz="1400" dirty="0"/>
          </a:p>
        </p:txBody>
      </p:sp>
      <p:sp>
        <p:nvSpPr>
          <p:cNvPr id="28" name="Text 21"/>
          <p:cNvSpPr txBox="1"/>
          <p:nvPr/>
        </p:nvSpPr>
        <p:spPr>
          <a:xfrm>
            <a:off x="4416552" y="4709160"/>
            <a:ext cx="33375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2633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missed bar is reported with its cause. Bars are never moved to pass.</a:t>
            </a:r>
            <a:endParaRPr lang="en-US" sz="1200" dirty="0"/>
          </a:p>
        </p:txBody>
      </p:sp>
      <p:sp>
        <p:nvSpPr>
          <p:cNvPr id="29" name="Shape 22"/>
          <p:cNvSpPr/>
          <p:nvPr/>
        </p:nvSpPr>
        <p:spPr>
          <a:xfrm>
            <a:off x="8055864" y="3794760"/>
            <a:ext cx="3703320" cy="24688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DF"/>
            </a:solidFill>
            <a:prstDash val="solid"/>
          </a:ln>
        </p:spPr>
      </p:sp>
      <p:sp>
        <p:nvSpPr>
          <p:cNvPr id="30" name="Shape 23"/>
          <p:cNvSpPr/>
          <p:nvPr/>
        </p:nvSpPr>
        <p:spPr>
          <a:xfrm>
            <a:off x="8238744" y="3977640"/>
            <a:ext cx="502920" cy="502920"/>
          </a:xfrm>
          <a:prstGeom prst="ellipse">
            <a:avLst/>
          </a:prstGeom>
          <a:solidFill>
            <a:srgbClr val="F28C28"/>
          </a:solidFill>
          <a:ln/>
        </p:spPr>
      </p:sp>
      <p:pic>
        <p:nvPicPr>
          <p:cNvPr id="31" name="Image 5" descr="FaCircleCheck icon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49386" y="4088282"/>
            <a:ext cx="281635" cy="281635"/>
          </a:xfrm>
          <a:prstGeom prst="rect">
            <a:avLst/>
          </a:prstGeom>
        </p:spPr>
      </p:pic>
      <p:sp>
        <p:nvSpPr>
          <p:cNvPr id="32" name="Text 24"/>
          <p:cNvSpPr txBox="1"/>
          <p:nvPr/>
        </p:nvSpPr>
        <p:spPr>
          <a:xfrm>
            <a:off x="8924544" y="3977640"/>
            <a:ext cx="2697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2B2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Public data</a:t>
            </a:r>
            <a:endParaRPr lang="en-US" sz="1400" dirty="0"/>
          </a:p>
        </p:txBody>
      </p:sp>
      <p:sp>
        <p:nvSpPr>
          <p:cNvPr id="33" name="Text 25"/>
          <p:cNvSpPr txBox="1"/>
          <p:nvPr/>
        </p:nvSpPr>
        <p:spPr>
          <a:xfrm>
            <a:off x="8238744" y="4709160"/>
            <a:ext cx="33375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2633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OULAD and ASSISTments under published protocols, with deviations listed.</a:t>
            </a:r>
            <a:endParaRPr lang="en-US" sz="1200" dirty="0"/>
          </a:p>
        </p:txBody>
      </p:sp>
      <p:sp>
        <p:nvSpPr>
          <p:cNvPr id="34" name="Text 26"/>
          <p:cNvSpPr txBox="1"/>
          <p:nvPr/>
        </p:nvSpPr>
        <p:spPr>
          <a:xfrm>
            <a:off x="411480" y="6464808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5B67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technical/docs/agent_prompts/R1_00_COMMON.md and technical/docs/FEASIBILITY_CHECK.md.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92240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75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5"/>
          <p:cNvSpPr/>
          <p:nvPr>
            <p:ph idx="105" type="title" hasCustomPrompt="1"/>
          </p:nvPr>
        </p:nvSpPr>
        <p:spPr>
          <a:xfrm>
            <a:off x="411480" y="310896"/>
            <a:ext cx="113687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E2B2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Appendix 5: Bear, Base and Bull for a mid-size institute, plus segments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7589520" y="182880"/>
            <a:ext cx="41879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b="1" spc="150" kern="0" dirty="0">
                <a:solidFill>
                  <a:srgbClr val="5B67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SCENARIOS</a:t>
            </a:r>
            <a:endParaRPr lang="en-US" sz="950" dirty="0"/>
          </a:p>
        </p:txBody>
      </p:sp>
      <p:sp>
        <p:nvSpPr>
          <p:cNvPr id="4" name="Shape 2"/>
          <p:cNvSpPr/>
          <p:nvPr/>
        </p:nvSpPr>
        <p:spPr>
          <a:xfrm>
            <a:off x="411480" y="1115568"/>
            <a:ext cx="7406640" cy="5212080"/>
          </a:xfrm>
          <a:prstGeom prst="roundRect">
            <a:avLst>
              <a:gd name="adj" fmla="val 2456"/>
            </a:avLst>
          </a:prstGeom>
          <a:solidFill>
            <a:srgbClr val="E4F5EC"/>
          </a:solidFill>
          <a:ln/>
        </p:spPr>
      </p:sp>
      <p:sp>
        <p:nvSpPr>
          <p:cNvPr id="5" name="Shape 3"/>
          <p:cNvSpPr/>
          <p:nvPr/>
        </p:nvSpPr>
        <p:spPr>
          <a:xfrm>
            <a:off x="557784" y="1220724"/>
            <a:ext cx="128016" cy="128016"/>
          </a:xfrm>
          <a:prstGeom prst="ellipse">
            <a:avLst/>
          </a:prstGeom>
          <a:solidFill>
            <a:srgbClr val="1FA971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58952" y="1161288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50" kern="0" dirty="0">
                <a:solidFill>
                  <a:srgbClr val="0E7C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 INSTITUTE (400 STUDENTS)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02920" y="1481328"/>
            <a:ext cx="3017520" cy="310896"/>
          </a:xfrm>
          <a:prstGeom prst="rect">
            <a:avLst/>
          </a:prstGeom>
          <a:solidFill>
            <a:srgbClr val="1F63A8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48640" y="1481328"/>
            <a:ext cx="2926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year unless stated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520440" y="1481328"/>
            <a:ext cx="1371600" cy="310896"/>
          </a:xfrm>
          <a:prstGeom prst="rect">
            <a:avLst/>
          </a:prstGeom>
          <a:solidFill>
            <a:srgbClr val="5B675F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3566160" y="1481328"/>
            <a:ext cx="1280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Bear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892040" y="1481328"/>
            <a:ext cx="1371600" cy="310896"/>
          </a:xfrm>
          <a:prstGeom prst="rect">
            <a:avLst/>
          </a:prstGeom>
          <a:solidFill>
            <a:srgbClr val="0E7C4F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4937760" y="1481328"/>
            <a:ext cx="1280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263640" y="1481328"/>
            <a:ext cx="1371600" cy="310896"/>
          </a:xfrm>
          <a:prstGeom prst="rect">
            <a:avLst/>
          </a:prstGeom>
          <a:solidFill>
            <a:srgbClr val="5B675F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309360" y="1481328"/>
            <a:ext cx="1280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Bull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02920" y="1792224"/>
            <a:ext cx="3017520" cy="411480"/>
          </a:xfrm>
          <a:prstGeom prst="rect">
            <a:avLst/>
          </a:prstGeom>
          <a:solidFill>
            <a:srgbClr val="F1F7F3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48640" y="1792224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633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Effective dropout reduction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3520440" y="1792224"/>
            <a:ext cx="1371600" cy="411480"/>
          </a:xfrm>
          <a:prstGeom prst="rect">
            <a:avLst/>
          </a:prstGeom>
          <a:solidFill>
            <a:srgbClr val="F1F7F3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3566160" y="1792224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633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1.0 %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892040" y="1792224"/>
            <a:ext cx="1371600" cy="411480"/>
          </a:xfrm>
          <a:prstGeom prst="rect">
            <a:avLst/>
          </a:prstGeom>
          <a:solidFill>
            <a:srgbClr val="F1F7F3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4937760" y="1792224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633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6.6 %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6263640" y="1792224"/>
            <a:ext cx="1371600" cy="411480"/>
          </a:xfrm>
          <a:prstGeom prst="rect">
            <a:avLst/>
          </a:prstGeom>
          <a:solidFill>
            <a:srgbClr val="F1F7F3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309360" y="1792224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633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22.2 %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502920" y="2203704"/>
            <a:ext cx="7132320" cy="0"/>
          </a:xfrm>
          <a:prstGeom prst="line">
            <a:avLst/>
          </a:prstGeom>
          <a:noFill/>
          <a:ln w="6350">
            <a:solidFill>
              <a:srgbClr val="E3E8E4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02920" y="2203704"/>
            <a:ext cx="3017520" cy="41148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548640" y="2203704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633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Dropouts prevented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520440" y="2203704"/>
            <a:ext cx="1371600" cy="41148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3566160" y="2203704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633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0.2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4892040" y="2203704"/>
            <a:ext cx="1371600" cy="41148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4937760" y="2203704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633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2.6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6263640" y="2203704"/>
            <a:ext cx="1371600" cy="41148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6309360" y="2203704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633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502920" y="2615184"/>
            <a:ext cx="7132320" cy="0"/>
          </a:xfrm>
          <a:prstGeom prst="line">
            <a:avLst/>
          </a:prstGeom>
          <a:noFill/>
          <a:ln w="6350">
            <a:solidFill>
              <a:srgbClr val="E3E8E4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502920" y="2615184"/>
            <a:ext cx="3017520" cy="411480"/>
          </a:xfrm>
          <a:prstGeom prst="rect">
            <a:avLst/>
          </a:prstGeom>
          <a:solidFill>
            <a:srgbClr val="D3F0DF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548640" y="2615184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633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Institute return, all benefits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3520440" y="2615184"/>
            <a:ext cx="1371600" cy="411480"/>
          </a:xfrm>
          <a:prstGeom prst="rect">
            <a:avLst/>
          </a:prstGeom>
          <a:solidFill>
            <a:srgbClr val="D3F0DF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3566160" y="2615184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633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0.15x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4892040" y="2615184"/>
            <a:ext cx="1371600" cy="411480"/>
          </a:xfrm>
          <a:prstGeom prst="rect">
            <a:avLst/>
          </a:prstGeom>
          <a:solidFill>
            <a:srgbClr val="D3F0DF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4937760" y="2615184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633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2.9x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6263640" y="2615184"/>
            <a:ext cx="1371600" cy="411480"/>
          </a:xfrm>
          <a:prstGeom prst="rect">
            <a:avLst/>
          </a:prstGeom>
          <a:solidFill>
            <a:srgbClr val="D3F0DF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6309360" y="2615184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633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14x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502920" y="3026664"/>
            <a:ext cx="7132320" cy="0"/>
          </a:xfrm>
          <a:prstGeom prst="line">
            <a:avLst/>
          </a:prstGeom>
          <a:noFill/>
          <a:ln w="6350">
            <a:solidFill>
              <a:srgbClr val="E3E8E4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502920" y="3026664"/>
            <a:ext cx="3017520" cy="411480"/>
          </a:xfrm>
          <a:prstGeom prst="rect">
            <a:avLst/>
          </a:prstGeom>
          <a:solidFill>
            <a:srgbClr val="D3F0DF"/>
          </a:solidFill>
          <a:ln/>
        </p:spPr>
      </p:sp>
      <p:sp>
        <p:nvSpPr>
          <p:cNvPr id="43" name="Text 41"/>
          <p:cNvSpPr txBox="1"/>
          <p:nvPr/>
        </p:nvSpPr>
        <p:spPr>
          <a:xfrm>
            <a:off x="548640" y="3026664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633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Institute return, fees only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3520440" y="3026664"/>
            <a:ext cx="1371600" cy="411480"/>
          </a:xfrm>
          <a:prstGeom prst="rect">
            <a:avLst/>
          </a:prstGeom>
          <a:solidFill>
            <a:srgbClr val="D3F0DF"/>
          </a:solidFill>
          <a:ln/>
        </p:spPr>
      </p:sp>
      <p:sp>
        <p:nvSpPr>
          <p:cNvPr id="45" name="Text 43"/>
          <p:cNvSpPr txBox="1"/>
          <p:nvPr/>
        </p:nvSpPr>
        <p:spPr>
          <a:xfrm>
            <a:off x="3566160" y="3026664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633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0.04x</a:t>
            </a:r>
            <a:endParaRPr lang="en-US" sz="1100" dirty="0"/>
          </a:p>
        </p:txBody>
      </p:sp>
      <p:sp>
        <p:nvSpPr>
          <p:cNvPr id="46" name="Shape 44"/>
          <p:cNvSpPr/>
          <p:nvPr/>
        </p:nvSpPr>
        <p:spPr>
          <a:xfrm>
            <a:off x="4892040" y="3026664"/>
            <a:ext cx="1371600" cy="411480"/>
          </a:xfrm>
          <a:prstGeom prst="rect">
            <a:avLst/>
          </a:prstGeom>
          <a:solidFill>
            <a:srgbClr val="D3F0DF"/>
          </a:solidFill>
          <a:ln/>
        </p:spPr>
      </p:sp>
      <p:sp>
        <p:nvSpPr>
          <p:cNvPr id="47" name="Text 45"/>
          <p:cNvSpPr txBox="1"/>
          <p:nvPr/>
        </p:nvSpPr>
        <p:spPr>
          <a:xfrm>
            <a:off x="4937760" y="3026664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633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0.75x</a:t>
            </a:r>
            <a:endParaRPr lang="en-US" sz="1100" dirty="0"/>
          </a:p>
        </p:txBody>
      </p:sp>
      <p:sp>
        <p:nvSpPr>
          <p:cNvPr id="48" name="Shape 46"/>
          <p:cNvSpPr/>
          <p:nvPr/>
        </p:nvSpPr>
        <p:spPr>
          <a:xfrm>
            <a:off x="6263640" y="3026664"/>
            <a:ext cx="1371600" cy="411480"/>
          </a:xfrm>
          <a:prstGeom prst="rect">
            <a:avLst/>
          </a:prstGeom>
          <a:solidFill>
            <a:srgbClr val="D3F0DF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6309360" y="3026664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633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5.9x</a:t>
            </a:r>
            <a:endParaRPr lang="en-US" sz="1100" dirty="0"/>
          </a:p>
        </p:txBody>
      </p:sp>
      <p:sp>
        <p:nvSpPr>
          <p:cNvPr id="50" name="Shape 48"/>
          <p:cNvSpPr/>
          <p:nvPr/>
        </p:nvSpPr>
        <p:spPr>
          <a:xfrm>
            <a:off x="502920" y="3438144"/>
            <a:ext cx="7132320" cy="0"/>
          </a:xfrm>
          <a:prstGeom prst="line">
            <a:avLst/>
          </a:prstGeom>
          <a:noFill/>
          <a:ln w="6350">
            <a:solidFill>
              <a:srgbClr val="E3E8E4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502920" y="3438144"/>
            <a:ext cx="3017520" cy="411480"/>
          </a:xfrm>
          <a:prstGeom prst="rect">
            <a:avLst/>
          </a:prstGeom>
          <a:solidFill>
            <a:srgbClr val="FFF0BF"/>
          </a:solidFill>
          <a:ln/>
        </p:spPr>
      </p:sp>
      <p:sp>
        <p:nvSpPr>
          <p:cNvPr id="52" name="Text 50"/>
          <p:cNvSpPr txBox="1"/>
          <p:nvPr/>
        </p:nvSpPr>
        <p:spPr>
          <a:xfrm>
            <a:off x="548640" y="3438144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633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Students to save to break even</a:t>
            </a:r>
            <a:endParaRPr lang="en-US" sz="1100" dirty="0"/>
          </a:p>
        </p:txBody>
      </p:sp>
      <p:sp>
        <p:nvSpPr>
          <p:cNvPr id="53" name="Shape 51"/>
          <p:cNvSpPr/>
          <p:nvPr/>
        </p:nvSpPr>
        <p:spPr>
          <a:xfrm>
            <a:off x="3520440" y="3438144"/>
            <a:ext cx="1371600" cy="411480"/>
          </a:xfrm>
          <a:prstGeom prst="rect">
            <a:avLst/>
          </a:prstGeom>
          <a:solidFill>
            <a:srgbClr val="FFF0BF"/>
          </a:solidFill>
          <a:ln/>
        </p:spPr>
      </p:sp>
      <p:sp>
        <p:nvSpPr>
          <p:cNvPr id="54" name="Text 52"/>
          <p:cNvSpPr txBox="1"/>
          <p:nvPr/>
        </p:nvSpPr>
        <p:spPr>
          <a:xfrm>
            <a:off x="3566160" y="3438144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633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6.5</a:t>
            </a:r>
            <a:endParaRPr lang="en-US" sz="1100" dirty="0"/>
          </a:p>
        </p:txBody>
      </p:sp>
      <p:sp>
        <p:nvSpPr>
          <p:cNvPr id="55" name="Shape 53"/>
          <p:cNvSpPr/>
          <p:nvPr/>
        </p:nvSpPr>
        <p:spPr>
          <a:xfrm>
            <a:off x="4892040" y="3438144"/>
            <a:ext cx="1371600" cy="411480"/>
          </a:xfrm>
          <a:prstGeom prst="rect">
            <a:avLst/>
          </a:prstGeom>
          <a:solidFill>
            <a:srgbClr val="FFF0BF"/>
          </a:solidFill>
          <a:ln/>
        </p:spPr>
      </p:sp>
      <p:sp>
        <p:nvSpPr>
          <p:cNvPr id="56" name="Text 54"/>
          <p:cNvSpPr txBox="1"/>
          <p:nvPr/>
        </p:nvSpPr>
        <p:spPr>
          <a:xfrm>
            <a:off x="4937760" y="3438144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633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3.5</a:t>
            </a:r>
            <a:endParaRPr lang="en-US" sz="1100" dirty="0"/>
          </a:p>
        </p:txBody>
      </p:sp>
      <p:sp>
        <p:nvSpPr>
          <p:cNvPr id="57" name="Shape 55"/>
          <p:cNvSpPr/>
          <p:nvPr/>
        </p:nvSpPr>
        <p:spPr>
          <a:xfrm>
            <a:off x="6263640" y="3438144"/>
            <a:ext cx="1371600" cy="411480"/>
          </a:xfrm>
          <a:prstGeom prst="rect">
            <a:avLst/>
          </a:prstGeom>
          <a:solidFill>
            <a:srgbClr val="FFF0BF"/>
          </a:solidFill>
          <a:ln/>
        </p:spPr>
      </p:sp>
      <p:sp>
        <p:nvSpPr>
          <p:cNvPr id="58" name="Text 56"/>
          <p:cNvSpPr txBox="1"/>
          <p:nvPr/>
        </p:nvSpPr>
        <p:spPr>
          <a:xfrm>
            <a:off x="6309360" y="3438144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633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2.7</a:t>
            </a:r>
            <a:endParaRPr lang="en-US" sz="1100" dirty="0"/>
          </a:p>
        </p:txBody>
      </p:sp>
      <p:sp>
        <p:nvSpPr>
          <p:cNvPr id="59" name="Shape 57"/>
          <p:cNvSpPr/>
          <p:nvPr/>
        </p:nvSpPr>
        <p:spPr>
          <a:xfrm>
            <a:off x="502920" y="3849624"/>
            <a:ext cx="7132320" cy="0"/>
          </a:xfrm>
          <a:prstGeom prst="line">
            <a:avLst/>
          </a:prstGeom>
          <a:noFill/>
          <a:ln w="6350">
            <a:solidFill>
              <a:srgbClr val="E3E8E4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502920" y="3849624"/>
            <a:ext cx="3017520" cy="411480"/>
          </a:xfrm>
          <a:prstGeom prst="rect">
            <a:avLst/>
          </a:prstGeom>
          <a:solidFill>
            <a:srgbClr val="F1F7F3"/>
          </a:solidFill>
          <a:ln/>
        </p:spPr>
      </p:sp>
      <p:sp>
        <p:nvSpPr>
          <p:cNvPr id="61" name="Text 59"/>
          <p:cNvSpPr txBox="1"/>
          <p:nvPr/>
        </p:nvSpPr>
        <p:spPr>
          <a:xfrm>
            <a:off x="548640" y="3849624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633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per institute, monthly</a:t>
            </a:r>
            <a:endParaRPr lang="en-US" sz="1100" dirty="0"/>
          </a:p>
        </p:txBody>
      </p:sp>
      <p:sp>
        <p:nvSpPr>
          <p:cNvPr id="62" name="Shape 60"/>
          <p:cNvSpPr/>
          <p:nvPr/>
        </p:nvSpPr>
        <p:spPr>
          <a:xfrm>
            <a:off x="3520440" y="3849624"/>
            <a:ext cx="1371600" cy="411480"/>
          </a:xfrm>
          <a:prstGeom prst="rect">
            <a:avLst/>
          </a:prstGeom>
          <a:solidFill>
            <a:srgbClr val="F1F7F3"/>
          </a:solidFill>
          <a:ln/>
        </p:spPr>
      </p:sp>
      <p:sp>
        <p:nvSpPr>
          <p:cNvPr id="63" name="Text 61"/>
          <p:cNvSpPr txBox="1"/>
          <p:nvPr/>
        </p:nvSpPr>
        <p:spPr>
          <a:xfrm>
            <a:off x="3566160" y="3849624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633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₹4,992</a:t>
            </a:r>
            <a:endParaRPr lang="en-US" sz="1100" dirty="0"/>
          </a:p>
        </p:txBody>
      </p:sp>
      <p:sp>
        <p:nvSpPr>
          <p:cNvPr id="64" name="Shape 62"/>
          <p:cNvSpPr/>
          <p:nvPr/>
        </p:nvSpPr>
        <p:spPr>
          <a:xfrm>
            <a:off x="4892040" y="3849624"/>
            <a:ext cx="1371600" cy="411480"/>
          </a:xfrm>
          <a:prstGeom prst="rect">
            <a:avLst/>
          </a:prstGeom>
          <a:solidFill>
            <a:srgbClr val="F1F7F3"/>
          </a:solidFill>
          <a:ln/>
        </p:spPr>
      </p:sp>
      <p:sp>
        <p:nvSpPr>
          <p:cNvPr id="65" name="Text 63"/>
          <p:cNvSpPr txBox="1"/>
          <p:nvPr/>
        </p:nvSpPr>
        <p:spPr>
          <a:xfrm>
            <a:off x="4937760" y="3849624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633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₹8,612</a:t>
            </a:r>
            <a:endParaRPr lang="en-US" sz="1100" dirty="0"/>
          </a:p>
        </p:txBody>
      </p:sp>
      <p:sp>
        <p:nvSpPr>
          <p:cNvPr id="66" name="Shape 64"/>
          <p:cNvSpPr/>
          <p:nvPr/>
        </p:nvSpPr>
        <p:spPr>
          <a:xfrm>
            <a:off x="6263640" y="3849624"/>
            <a:ext cx="1371600" cy="411480"/>
          </a:xfrm>
          <a:prstGeom prst="rect">
            <a:avLst/>
          </a:prstGeom>
          <a:solidFill>
            <a:srgbClr val="F1F7F3"/>
          </a:solidFill>
          <a:ln/>
        </p:spPr>
      </p:sp>
      <p:sp>
        <p:nvSpPr>
          <p:cNvPr id="67" name="Text 65"/>
          <p:cNvSpPr txBox="1"/>
          <p:nvPr/>
        </p:nvSpPr>
        <p:spPr>
          <a:xfrm>
            <a:off x="6309360" y="3849624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633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₹11,999</a:t>
            </a:r>
            <a:endParaRPr lang="en-US" sz="1100" dirty="0"/>
          </a:p>
        </p:txBody>
      </p:sp>
      <p:sp>
        <p:nvSpPr>
          <p:cNvPr id="68" name="Shape 66"/>
          <p:cNvSpPr/>
          <p:nvPr/>
        </p:nvSpPr>
        <p:spPr>
          <a:xfrm>
            <a:off x="502920" y="4261104"/>
            <a:ext cx="7132320" cy="0"/>
          </a:xfrm>
          <a:prstGeom prst="line">
            <a:avLst/>
          </a:prstGeom>
          <a:noFill/>
          <a:ln w="6350">
            <a:solidFill>
              <a:srgbClr val="E3E8E4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502920" y="4261104"/>
            <a:ext cx="3017520" cy="41148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0" name="Text 68"/>
          <p:cNvSpPr txBox="1"/>
          <p:nvPr/>
        </p:nvSpPr>
        <p:spPr>
          <a:xfrm>
            <a:off x="548640" y="4261104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633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Fully loaded acquisition cost</a:t>
            </a:r>
            <a:endParaRPr lang="en-US" sz="1100" dirty="0"/>
          </a:p>
        </p:txBody>
      </p:sp>
      <p:sp>
        <p:nvSpPr>
          <p:cNvPr id="71" name="Shape 69"/>
          <p:cNvSpPr/>
          <p:nvPr/>
        </p:nvSpPr>
        <p:spPr>
          <a:xfrm>
            <a:off x="3520440" y="4261104"/>
            <a:ext cx="1371600" cy="41148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2" name="Text 70"/>
          <p:cNvSpPr txBox="1"/>
          <p:nvPr/>
        </p:nvSpPr>
        <p:spPr>
          <a:xfrm>
            <a:off x="3566160" y="4261104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633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₹1.74 L</a:t>
            </a:r>
            <a:endParaRPr lang="en-US" sz="1100" dirty="0"/>
          </a:p>
        </p:txBody>
      </p:sp>
      <p:sp>
        <p:nvSpPr>
          <p:cNvPr id="73" name="Shape 71"/>
          <p:cNvSpPr/>
          <p:nvPr/>
        </p:nvSpPr>
        <p:spPr>
          <a:xfrm>
            <a:off x="4892040" y="4261104"/>
            <a:ext cx="1371600" cy="41148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4" name="Text 72"/>
          <p:cNvSpPr txBox="1"/>
          <p:nvPr/>
        </p:nvSpPr>
        <p:spPr>
          <a:xfrm>
            <a:off x="4937760" y="4261104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633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₹35,492</a:t>
            </a:r>
            <a:endParaRPr lang="en-US" sz="1100" dirty="0"/>
          </a:p>
        </p:txBody>
      </p:sp>
      <p:sp>
        <p:nvSpPr>
          <p:cNvPr id="75" name="Shape 73"/>
          <p:cNvSpPr/>
          <p:nvPr/>
        </p:nvSpPr>
        <p:spPr>
          <a:xfrm>
            <a:off x="6263640" y="4261104"/>
            <a:ext cx="1371600" cy="41148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6" name="Text 74"/>
          <p:cNvSpPr txBox="1"/>
          <p:nvPr/>
        </p:nvSpPr>
        <p:spPr>
          <a:xfrm>
            <a:off x="6309360" y="4261104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633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₹13,336</a:t>
            </a:r>
            <a:endParaRPr lang="en-US" sz="1100" dirty="0"/>
          </a:p>
        </p:txBody>
      </p:sp>
      <p:sp>
        <p:nvSpPr>
          <p:cNvPr id="77" name="Shape 75"/>
          <p:cNvSpPr/>
          <p:nvPr/>
        </p:nvSpPr>
        <p:spPr>
          <a:xfrm>
            <a:off x="502920" y="4672584"/>
            <a:ext cx="7132320" cy="0"/>
          </a:xfrm>
          <a:prstGeom prst="line">
            <a:avLst/>
          </a:prstGeom>
          <a:noFill/>
          <a:ln w="6350">
            <a:solidFill>
              <a:srgbClr val="E3E8E4"/>
            </a:solidFill>
            <a:prstDash val="solid"/>
          </a:ln>
        </p:spPr>
      </p:sp>
      <p:sp>
        <p:nvSpPr>
          <p:cNvPr id="78" name="Shape 76"/>
          <p:cNvSpPr/>
          <p:nvPr/>
        </p:nvSpPr>
        <p:spPr>
          <a:xfrm>
            <a:off x="502920" y="4672584"/>
            <a:ext cx="3017520" cy="411480"/>
          </a:xfrm>
          <a:prstGeom prst="rect">
            <a:avLst/>
          </a:prstGeom>
          <a:solidFill>
            <a:srgbClr val="FFF0BF"/>
          </a:solidFill>
          <a:ln/>
        </p:spPr>
      </p:sp>
      <p:sp>
        <p:nvSpPr>
          <p:cNvPr id="79" name="Text 77"/>
          <p:cNvSpPr txBox="1"/>
          <p:nvPr/>
        </p:nvSpPr>
        <p:spPr>
          <a:xfrm>
            <a:off x="548640" y="4672584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633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LTV ÷ acquisition cost</a:t>
            </a:r>
            <a:endParaRPr lang="en-US" sz="1100" dirty="0"/>
          </a:p>
        </p:txBody>
      </p:sp>
      <p:sp>
        <p:nvSpPr>
          <p:cNvPr id="80" name="Shape 78"/>
          <p:cNvSpPr/>
          <p:nvPr/>
        </p:nvSpPr>
        <p:spPr>
          <a:xfrm>
            <a:off x="3520440" y="4672584"/>
            <a:ext cx="1371600" cy="411480"/>
          </a:xfrm>
          <a:prstGeom prst="rect">
            <a:avLst/>
          </a:prstGeom>
          <a:solidFill>
            <a:srgbClr val="FFF0BF"/>
          </a:solidFill>
          <a:ln/>
        </p:spPr>
      </p:sp>
      <p:sp>
        <p:nvSpPr>
          <p:cNvPr id="81" name="Text 79"/>
          <p:cNvSpPr txBox="1"/>
          <p:nvPr/>
        </p:nvSpPr>
        <p:spPr>
          <a:xfrm>
            <a:off x="3566160" y="4672584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633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-0.1x</a:t>
            </a:r>
            <a:endParaRPr lang="en-US" sz="1100" dirty="0"/>
          </a:p>
        </p:txBody>
      </p:sp>
      <p:sp>
        <p:nvSpPr>
          <p:cNvPr id="82" name="Shape 80"/>
          <p:cNvSpPr/>
          <p:nvPr/>
        </p:nvSpPr>
        <p:spPr>
          <a:xfrm>
            <a:off x="4892040" y="4672584"/>
            <a:ext cx="1371600" cy="411480"/>
          </a:xfrm>
          <a:prstGeom prst="rect">
            <a:avLst/>
          </a:prstGeom>
          <a:solidFill>
            <a:srgbClr val="FFF0BF"/>
          </a:solidFill>
          <a:ln/>
        </p:spPr>
      </p:sp>
      <p:sp>
        <p:nvSpPr>
          <p:cNvPr id="83" name="Text 81"/>
          <p:cNvSpPr txBox="1"/>
          <p:nvPr/>
        </p:nvSpPr>
        <p:spPr>
          <a:xfrm>
            <a:off x="4937760" y="4672584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633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3.7x</a:t>
            </a:r>
            <a:endParaRPr lang="en-US" sz="1100" dirty="0"/>
          </a:p>
        </p:txBody>
      </p:sp>
      <p:sp>
        <p:nvSpPr>
          <p:cNvPr id="84" name="Shape 82"/>
          <p:cNvSpPr/>
          <p:nvPr/>
        </p:nvSpPr>
        <p:spPr>
          <a:xfrm>
            <a:off x="6263640" y="4672584"/>
            <a:ext cx="1371600" cy="411480"/>
          </a:xfrm>
          <a:prstGeom prst="rect">
            <a:avLst/>
          </a:prstGeom>
          <a:solidFill>
            <a:srgbClr val="FFF0BF"/>
          </a:solidFill>
          <a:ln/>
        </p:spPr>
      </p:sp>
      <p:sp>
        <p:nvSpPr>
          <p:cNvPr id="85" name="Text 83"/>
          <p:cNvSpPr txBox="1"/>
          <p:nvPr/>
        </p:nvSpPr>
        <p:spPr>
          <a:xfrm>
            <a:off x="6309360" y="4672584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633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24x</a:t>
            </a:r>
            <a:endParaRPr lang="en-US" sz="1100" dirty="0"/>
          </a:p>
        </p:txBody>
      </p:sp>
      <p:sp>
        <p:nvSpPr>
          <p:cNvPr id="86" name="Shape 84"/>
          <p:cNvSpPr/>
          <p:nvPr/>
        </p:nvSpPr>
        <p:spPr>
          <a:xfrm>
            <a:off x="502920" y="5084064"/>
            <a:ext cx="7132320" cy="0"/>
          </a:xfrm>
          <a:prstGeom prst="line">
            <a:avLst/>
          </a:prstGeom>
          <a:noFill/>
          <a:ln w="6350">
            <a:solidFill>
              <a:srgbClr val="E3E8E4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502920" y="5084064"/>
            <a:ext cx="3017520" cy="411480"/>
          </a:xfrm>
          <a:prstGeom prst="rect">
            <a:avLst/>
          </a:prstGeom>
          <a:solidFill>
            <a:srgbClr val="F1F7F3"/>
          </a:solidFill>
          <a:ln/>
        </p:spPr>
      </p:sp>
      <p:sp>
        <p:nvSpPr>
          <p:cNvPr id="88" name="Text 86"/>
          <p:cNvSpPr txBox="1"/>
          <p:nvPr/>
        </p:nvSpPr>
        <p:spPr>
          <a:xfrm>
            <a:off x="548640" y="5084064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633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Payback</a:t>
            </a:r>
            <a:endParaRPr lang="en-US" sz="1100" dirty="0"/>
          </a:p>
        </p:txBody>
      </p:sp>
      <p:sp>
        <p:nvSpPr>
          <p:cNvPr id="89" name="Shape 87"/>
          <p:cNvSpPr/>
          <p:nvPr/>
        </p:nvSpPr>
        <p:spPr>
          <a:xfrm>
            <a:off x="3520440" y="5084064"/>
            <a:ext cx="1371600" cy="411480"/>
          </a:xfrm>
          <a:prstGeom prst="rect">
            <a:avLst/>
          </a:prstGeom>
          <a:solidFill>
            <a:srgbClr val="F1F7F3"/>
          </a:solidFill>
          <a:ln/>
        </p:spPr>
      </p:sp>
      <p:sp>
        <p:nvSpPr>
          <p:cNvPr id="90" name="Text 88"/>
          <p:cNvSpPr txBox="1"/>
          <p:nvPr/>
        </p:nvSpPr>
        <p:spPr>
          <a:xfrm>
            <a:off x="3566160" y="5084064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633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61 months</a:t>
            </a:r>
            <a:endParaRPr lang="en-US" sz="1100" dirty="0"/>
          </a:p>
        </p:txBody>
      </p:sp>
      <p:sp>
        <p:nvSpPr>
          <p:cNvPr id="91" name="Shape 89"/>
          <p:cNvSpPr/>
          <p:nvPr/>
        </p:nvSpPr>
        <p:spPr>
          <a:xfrm>
            <a:off x="4892040" y="5084064"/>
            <a:ext cx="1371600" cy="411480"/>
          </a:xfrm>
          <a:prstGeom prst="rect">
            <a:avLst/>
          </a:prstGeom>
          <a:solidFill>
            <a:srgbClr val="F1F7F3"/>
          </a:solidFill>
          <a:ln/>
        </p:spPr>
      </p:sp>
      <p:sp>
        <p:nvSpPr>
          <p:cNvPr id="92" name="Text 90"/>
          <p:cNvSpPr txBox="1"/>
          <p:nvPr/>
        </p:nvSpPr>
        <p:spPr>
          <a:xfrm>
            <a:off x="4937760" y="5084064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633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months</a:t>
            </a:r>
            <a:endParaRPr lang="en-US" sz="1100" dirty="0"/>
          </a:p>
        </p:txBody>
      </p:sp>
      <p:sp>
        <p:nvSpPr>
          <p:cNvPr id="93" name="Shape 91"/>
          <p:cNvSpPr/>
          <p:nvPr/>
        </p:nvSpPr>
        <p:spPr>
          <a:xfrm>
            <a:off x="6263640" y="5084064"/>
            <a:ext cx="1371600" cy="411480"/>
          </a:xfrm>
          <a:prstGeom prst="rect">
            <a:avLst/>
          </a:prstGeom>
          <a:solidFill>
            <a:srgbClr val="F1F7F3"/>
          </a:solidFill>
          <a:ln/>
        </p:spPr>
      </p:sp>
      <p:sp>
        <p:nvSpPr>
          <p:cNvPr id="94" name="Text 92"/>
          <p:cNvSpPr txBox="1"/>
          <p:nvPr/>
        </p:nvSpPr>
        <p:spPr>
          <a:xfrm>
            <a:off x="6309360" y="5084064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633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months</a:t>
            </a:r>
            <a:endParaRPr lang="en-US" sz="1100" dirty="0"/>
          </a:p>
        </p:txBody>
      </p:sp>
      <p:sp>
        <p:nvSpPr>
          <p:cNvPr id="95" name="Shape 93"/>
          <p:cNvSpPr/>
          <p:nvPr/>
        </p:nvSpPr>
        <p:spPr>
          <a:xfrm>
            <a:off x="502920" y="5495544"/>
            <a:ext cx="7132320" cy="0"/>
          </a:xfrm>
          <a:prstGeom prst="line">
            <a:avLst/>
          </a:prstGeom>
          <a:noFill/>
          <a:ln w="6350">
            <a:solidFill>
              <a:srgbClr val="E3E8E4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521208" y="5760720"/>
            <a:ext cx="1060704" cy="21945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9701A"/>
            </a:solidFill>
            <a:prstDash val="solid"/>
          </a:ln>
        </p:spPr>
      </p:sp>
      <p:sp>
        <p:nvSpPr>
          <p:cNvPr id="97" name="Text 95"/>
          <p:cNvSpPr txBox="1"/>
          <p:nvPr/>
        </p:nvSpPr>
        <p:spPr>
          <a:xfrm>
            <a:off x="521208" y="5760720"/>
            <a:ext cx="10607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D970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OUTPUT</a:t>
            </a:r>
            <a:endParaRPr lang="en-US" sz="900" dirty="0"/>
          </a:p>
        </p:txBody>
      </p:sp>
      <p:sp>
        <p:nvSpPr>
          <p:cNvPr id="98" name="Shape 96"/>
          <p:cNvSpPr/>
          <p:nvPr/>
        </p:nvSpPr>
        <p:spPr>
          <a:xfrm>
            <a:off x="7955280" y="1115568"/>
            <a:ext cx="3824935" cy="5212080"/>
          </a:xfrm>
          <a:prstGeom prst="roundRect">
            <a:avLst>
              <a:gd name="adj" fmla="val 3347"/>
            </a:avLst>
          </a:prstGeom>
          <a:solidFill>
            <a:srgbClr val="FFEBD6"/>
          </a:solidFill>
          <a:ln/>
        </p:spPr>
      </p:sp>
      <p:sp>
        <p:nvSpPr>
          <p:cNvPr id="99" name="Shape 97"/>
          <p:cNvSpPr/>
          <p:nvPr/>
        </p:nvSpPr>
        <p:spPr>
          <a:xfrm>
            <a:off x="8101584" y="1220724"/>
            <a:ext cx="128016" cy="128016"/>
          </a:xfrm>
          <a:prstGeom prst="ellipse">
            <a:avLst/>
          </a:prstGeom>
          <a:solidFill>
            <a:srgbClr val="F28C28"/>
          </a:solidFill>
          <a:ln/>
        </p:spPr>
      </p:sp>
      <p:sp>
        <p:nvSpPr>
          <p:cNvPr id="100" name="Text 98"/>
          <p:cNvSpPr txBox="1"/>
          <p:nvPr/>
        </p:nvSpPr>
        <p:spPr>
          <a:xfrm>
            <a:off x="8302752" y="1161288"/>
            <a:ext cx="33677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50" kern="0" dirty="0">
                <a:solidFill>
                  <a:srgbClr val="D970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SEGMENT (BASE)</a:t>
            </a:r>
            <a:endParaRPr lang="en-US" sz="1200" dirty="0"/>
          </a:p>
        </p:txBody>
      </p:sp>
      <p:sp>
        <p:nvSpPr>
          <p:cNvPr id="101" name="Shape 99"/>
          <p:cNvSpPr/>
          <p:nvPr/>
        </p:nvSpPr>
        <p:spPr>
          <a:xfrm>
            <a:off x="8046720" y="1481328"/>
            <a:ext cx="1371600" cy="292608"/>
          </a:xfrm>
          <a:prstGeom prst="rect">
            <a:avLst/>
          </a:prstGeom>
          <a:solidFill>
            <a:srgbClr val="1F63A8"/>
          </a:solidFill>
          <a:ln/>
        </p:spPr>
      </p:sp>
      <p:sp>
        <p:nvSpPr>
          <p:cNvPr id="102" name="Text 100"/>
          <p:cNvSpPr txBox="1"/>
          <p:nvPr/>
        </p:nvSpPr>
        <p:spPr>
          <a:xfrm>
            <a:off x="8092440" y="148132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103" name="Shape 101"/>
          <p:cNvSpPr/>
          <p:nvPr/>
        </p:nvSpPr>
        <p:spPr>
          <a:xfrm>
            <a:off x="9418320" y="1481328"/>
            <a:ext cx="731520" cy="292608"/>
          </a:xfrm>
          <a:prstGeom prst="rect">
            <a:avLst/>
          </a:prstGeom>
          <a:solidFill>
            <a:srgbClr val="5B675F"/>
          </a:solidFill>
          <a:ln/>
        </p:spPr>
      </p:sp>
      <p:sp>
        <p:nvSpPr>
          <p:cNvPr id="104" name="Text 102"/>
          <p:cNvSpPr txBox="1"/>
          <p:nvPr/>
        </p:nvSpPr>
        <p:spPr>
          <a:xfrm>
            <a:off x="9464040" y="1481328"/>
            <a:ext cx="640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</a:t>
            </a:r>
            <a:endParaRPr lang="en-US" sz="1100" dirty="0"/>
          </a:p>
        </p:txBody>
      </p:sp>
      <p:sp>
        <p:nvSpPr>
          <p:cNvPr id="105" name="Shape 103"/>
          <p:cNvSpPr/>
          <p:nvPr/>
        </p:nvSpPr>
        <p:spPr>
          <a:xfrm>
            <a:off x="10149840" y="1481328"/>
            <a:ext cx="731520" cy="292608"/>
          </a:xfrm>
          <a:prstGeom prst="rect">
            <a:avLst/>
          </a:prstGeom>
          <a:solidFill>
            <a:srgbClr val="0E7C4F"/>
          </a:solidFill>
          <a:ln/>
        </p:spPr>
      </p:sp>
      <p:sp>
        <p:nvSpPr>
          <p:cNvPr id="106" name="Text 104"/>
          <p:cNvSpPr txBox="1"/>
          <p:nvPr/>
        </p:nvSpPr>
        <p:spPr>
          <a:xfrm>
            <a:off x="10195560" y="1481328"/>
            <a:ext cx="640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</a:t>
            </a:r>
            <a:endParaRPr lang="en-US" sz="1100" dirty="0"/>
          </a:p>
        </p:txBody>
      </p:sp>
      <p:sp>
        <p:nvSpPr>
          <p:cNvPr id="107" name="Shape 105"/>
          <p:cNvSpPr/>
          <p:nvPr/>
        </p:nvSpPr>
        <p:spPr>
          <a:xfrm>
            <a:off x="10881360" y="1481328"/>
            <a:ext cx="731520" cy="292608"/>
          </a:xfrm>
          <a:prstGeom prst="rect">
            <a:avLst/>
          </a:prstGeom>
          <a:solidFill>
            <a:srgbClr val="5B675F"/>
          </a:solidFill>
          <a:ln/>
        </p:spPr>
      </p:sp>
      <p:sp>
        <p:nvSpPr>
          <p:cNvPr id="108" name="Text 106"/>
          <p:cNvSpPr txBox="1"/>
          <p:nvPr/>
        </p:nvSpPr>
        <p:spPr>
          <a:xfrm>
            <a:off x="10927080" y="1481328"/>
            <a:ext cx="640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</a:t>
            </a:r>
            <a:endParaRPr lang="en-US" sz="1100" dirty="0"/>
          </a:p>
        </p:txBody>
      </p:sp>
      <p:sp>
        <p:nvSpPr>
          <p:cNvPr id="109" name="Shape 107"/>
          <p:cNvSpPr/>
          <p:nvPr/>
        </p:nvSpPr>
        <p:spPr>
          <a:xfrm>
            <a:off x="8046720" y="1773936"/>
            <a:ext cx="1371600" cy="457200"/>
          </a:xfrm>
          <a:prstGeom prst="rect">
            <a:avLst/>
          </a:prstGeom>
          <a:solidFill>
            <a:srgbClr val="F1F7F3"/>
          </a:solidFill>
          <a:ln/>
        </p:spPr>
      </p:sp>
      <p:sp>
        <p:nvSpPr>
          <p:cNvPr id="110" name="Text 108"/>
          <p:cNvSpPr txBox="1"/>
          <p:nvPr/>
        </p:nvSpPr>
        <p:spPr>
          <a:xfrm>
            <a:off x="8092440" y="1773936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633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</a:t>
            </a:r>
            <a:endParaRPr lang="en-US" sz="1100" dirty="0"/>
          </a:p>
        </p:txBody>
      </p:sp>
      <p:sp>
        <p:nvSpPr>
          <p:cNvPr id="111" name="Shape 109"/>
          <p:cNvSpPr/>
          <p:nvPr/>
        </p:nvSpPr>
        <p:spPr>
          <a:xfrm>
            <a:off x="9418320" y="1773936"/>
            <a:ext cx="731520" cy="457200"/>
          </a:xfrm>
          <a:prstGeom prst="rect">
            <a:avLst/>
          </a:prstGeom>
          <a:solidFill>
            <a:srgbClr val="F1F7F3"/>
          </a:solidFill>
          <a:ln/>
        </p:spPr>
      </p:sp>
      <p:sp>
        <p:nvSpPr>
          <p:cNvPr id="112" name="Text 110"/>
          <p:cNvSpPr txBox="1"/>
          <p:nvPr/>
        </p:nvSpPr>
        <p:spPr>
          <a:xfrm>
            <a:off x="9464040" y="1773936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633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2.3x</a:t>
            </a:r>
            <a:endParaRPr lang="en-US" sz="1100" dirty="0"/>
          </a:p>
        </p:txBody>
      </p:sp>
      <p:sp>
        <p:nvSpPr>
          <p:cNvPr id="113" name="Shape 111"/>
          <p:cNvSpPr/>
          <p:nvPr/>
        </p:nvSpPr>
        <p:spPr>
          <a:xfrm>
            <a:off x="10149840" y="1773936"/>
            <a:ext cx="731520" cy="457200"/>
          </a:xfrm>
          <a:prstGeom prst="rect">
            <a:avLst/>
          </a:prstGeom>
          <a:solidFill>
            <a:srgbClr val="F1F7F3"/>
          </a:solidFill>
          <a:ln/>
        </p:spPr>
      </p:sp>
      <p:sp>
        <p:nvSpPr>
          <p:cNvPr id="114" name="Text 112"/>
          <p:cNvSpPr txBox="1"/>
          <p:nvPr/>
        </p:nvSpPr>
        <p:spPr>
          <a:xfrm>
            <a:off x="10195560" y="1773936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633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2.9x</a:t>
            </a:r>
            <a:endParaRPr lang="en-US" sz="1100" dirty="0"/>
          </a:p>
        </p:txBody>
      </p:sp>
      <p:sp>
        <p:nvSpPr>
          <p:cNvPr id="115" name="Shape 113"/>
          <p:cNvSpPr/>
          <p:nvPr/>
        </p:nvSpPr>
        <p:spPr>
          <a:xfrm>
            <a:off x="10881360" y="1773936"/>
            <a:ext cx="731520" cy="457200"/>
          </a:xfrm>
          <a:prstGeom prst="rect">
            <a:avLst/>
          </a:prstGeom>
          <a:solidFill>
            <a:srgbClr val="F1F7F3"/>
          </a:solidFill>
          <a:ln/>
        </p:spPr>
      </p:sp>
      <p:sp>
        <p:nvSpPr>
          <p:cNvPr id="116" name="Text 114"/>
          <p:cNvSpPr txBox="1"/>
          <p:nvPr/>
        </p:nvSpPr>
        <p:spPr>
          <a:xfrm>
            <a:off x="10927080" y="1773936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633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3.6x</a:t>
            </a:r>
            <a:endParaRPr lang="en-US" sz="1100" dirty="0"/>
          </a:p>
        </p:txBody>
      </p:sp>
      <p:sp>
        <p:nvSpPr>
          <p:cNvPr id="117" name="Shape 115"/>
          <p:cNvSpPr/>
          <p:nvPr/>
        </p:nvSpPr>
        <p:spPr>
          <a:xfrm>
            <a:off x="8046720" y="2231136"/>
            <a:ext cx="3566160" cy="0"/>
          </a:xfrm>
          <a:prstGeom prst="line">
            <a:avLst/>
          </a:prstGeom>
          <a:noFill/>
          <a:ln w="6350">
            <a:solidFill>
              <a:srgbClr val="E3E8E4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8046720" y="2231136"/>
            <a:ext cx="1371600" cy="457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19" name="Text 117"/>
          <p:cNvSpPr txBox="1"/>
          <p:nvPr/>
        </p:nvSpPr>
        <p:spPr>
          <a:xfrm>
            <a:off x="8092440" y="2231136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633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LTV÷CAC</a:t>
            </a:r>
            <a:endParaRPr lang="en-US" sz="1100" dirty="0"/>
          </a:p>
        </p:txBody>
      </p:sp>
      <p:sp>
        <p:nvSpPr>
          <p:cNvPr id="120" name="Shape 118"/>
          <p:cNvSpPr/>
          <p:nvPr/>
        </p:nvSpPr>
        <p:spPr>
          <a:xfrm>
            <a:off x="9418320" y="2231136"/>
            <a:ext cx="731520" cy="457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21" name="Text 119"/>
          <p:cNvSpPr txBox="1"/>
          <p:nvPr/>
        </p:nvSpPr>
        <p:spPr>
          <a:xfrm>
            <a:off x="9464040" y="2231136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633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1.5x</a:t>
            </a:r>
            <a:endParaRPr lang="en-US" sz="1100" dirty="0"/>
          </a:p>
        </p:txBody>
      </p:sp>
      <p:sp>
        <p:nvSpPr>
          <p:cNvPr id="122" name="Shape 120"/>
          <p:cNvSpPr/>
          <p:nvPr/>
        </p:nvSpPr>
        <p:spPr>
          <a:xfrm>
            <a:off x="10149840" y="2231136"/>
            <a:ext cx="731520" cy="457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23" name="Text 121"/>
          <p:cNvSpPr txBox="1"/>
          <p:nvPr/>
        </p:nvSpPr>
        <p:spPr>
          <a:xfrm>
            <a:off x="10195560" y="2231136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633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3.7x</a:t>
            </a:r>
            <a:endParaRPr lang="en-US" sz="1100" dirty="0"/>
          </a:p>
        </p:txBody>
      </p:sp>
      <p:sp>
        <p:nvSpPr>
          <p:cNvPr id="124" name="Shape 122"/>
          <p:cNvSpPr/>
          <p:nvPr/>
        </p:nvSpPr>
        <p:spPr>
          <a:xfrm>
            <a:off x="10881360" y="2231136"/>
            <a:ext cx="731520" cy="457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25" name="Text 123"/>
          <p:cNvSpPr txBox="1"/>
          <p:nvPr/>
        </p:nvSpPr>
        <p:spPr>
          <a:xfrm>
            <a:off x="10927080" y="2231136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633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9.1x</a:t>
            </a:r>
            <a:endParaRPr lang="en-US" sz="1100" dirty="0"/>
          </a:p>
        </p:txBody>
      </p:sp>
      <p:sp>
        <p:nvSpPr>
          <p:cNvPr id="126" name="Shape 124"/>
          <p:cNvSpPr/>
          <p:nvPr/>
        </p:nvSpPr>
        <p:spPr>
          <a:xfrm>
            <a:off x="8046720" y="2688336"/>
            <a:ext cx="3566160" cy="0"/>
          </a:xfrm>
          <a:prstGeom prst="line">
            <a:avLst/>
          </a:prstGeom>
          <a:noFill/>
          <a:ln w="6350">
            <a:solidFill>
              <a:srgbClr val="E3E8E4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8046720" y="2688336"/>
            <a:ext cx="1371600" cy="457200"/>
          </a:xfrm>
          <a:prstGeom prst="rect">
            <a:avLst/>
          </a:prstGeom>
          <a:solidFill>
            <a:srgbClr val="F1F7F3"/>
          </a:solidFill>
          <a:ln/>
        </p:spPr>
      </p:sp>
      <p:sp>
        <p:nvSpPr>
          <p:cNvPr id="128" name="Text 126"/>
          <p:cNvSpPr txBox="1"/>
          <p:nvPr/>
        </p:nvSpPr>
        <p:spPr>
          <a:xfrm>
            <a:off x="8092440" y="2688336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633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Payback</a:t>
            </a:r>
            <a:endParaRPr lang="en-US" sz="1100" dirty="0"/>
          </a:p>
        </p:txBody>
      </p:sp>
      <p:sp>
        <p:nvSpPr>
          <p:cNvPr id="129" name="Shape 127"/>
          <p:cNvSpPr/>
          <p:nvPr/>
        </p:nvSpPr>
        <p:spPr>
          <a:xfrm>
            <a:off x="9418320" y="2688336"/>
            <a:ext cx="731520" cy="457200"/>
          </a:xfrm>
          <a:prstGeom prst="rect">
            <a:avLst/>
          </a:prstGeom>
          <a:solidFill>
            <a:srgbClr val="F1F7F3"/>
          </a:solidFill>
          <a:ln/>
        </p:spPr>
      </p:sp>
      <p:sp>
        <p:nvSpPr>
          <p:cNvPr id="130" name="Text 128"/>
          <p:cNvSpPr txBox="1"/>
          <p:nvPr/>
        </p:nvSpPr>
        <p:spPr>
          <a:xfrm>
            <a:off x="9464040" y="2688336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633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mo</a:t>
            </a:r>
            <a:endParaRPr lang="en-US" sz="1100" dirty="0"/>
          </a:p>
        </p:txBody>
      </p:sp>
      <p:sp>
        <p:nvSpPr>
          <p:cNvPr id="131" name="Shape 129"/>
          <p:cNvSpPr/>
          <p:nvPr/>
        </p:nvSpPr>
        <p:spPr>
          <a:xfrm>
            <a:off x="10149840" y="2688336"/>
            <a:ext cx="731520" cy="457200"/>
          </a:xfrm>
          <a:prstGeom prst="rect">
            <a:avLst/>
          </a:prstGeom>
          <a:solidFill>
            <a:srgbClr val="F1F7F3"/>
          </a:solidFill>
          <a:ln/>
        </p:spPr>
      </p:sp>
      <p:sp>
        <p:nvSpPr>
          <p:cNvPr id="132" name="Text 130"/>
          <p:cNvSpPr txBox="1"/>
          <p:nvPr/>
        </p:nvSpPr>
        <p:spPr>
          <a:xfrm>
            <a:off x="10195560" y="2688336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633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mo</a:t>
            </a:r>
            <a:endParaRPr lang="en-US" sz="1100" dirty="0"/>
          </a:p>
        </p:txBody>
      </p:sp>
      <p:sp>
        <p:nvSpPr>
          <p:cNvPr id="133" name="Shape 131"/>
          <p:cNvSpPr/>
          <p:nvPr/>
        </p:nvSpPr>
        <p:spPr>
          <a:xfrm>
            <a:off x="10881360" y="2688336"/>
            <a:ext cx="731520" cy="457200"/>
          </a:xfrm>
          <a:prstGeom prst="rect">
            <a:avLst/>
          </a:prstGeom>
          <a:solidFill>
            <a:srgbClr val="F1F7F3"/>
          </a:solidFill>
          <a:ln/>
        </p:spPr>
      </p:sp>
      <p:sp>
        <p:nvSpPr>
          <p:cNvPr id="134" name="Text 132"/>
          <p:cNvSpPr txBox="1"/>
          <p:nvPr/>
        </p:nvSpPr>
        <p:spPr>
          <a:xfrm>
            <a:off x="10927080" y="2688336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633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mo</a:t>
            </a:r>
            <a:endParaRPr lang="en-US" sz="1100" dirty="0"/>
          </a:p>
        </p:txBody>
      </p:sp>
      <p:sp>
        <p:nvSpPr>
          <p:cNvPr id="135" name="Shape 133"/>
          <p:cNvSpPr/>
          <p:nvPr/>
        </p:nvSpPr>
        <p:spPr>
          <a:xfrm>
            <a:off x="8046720" y="3145536"/>
            <a:ext cx="3566160" cy="0"/>
          </a:xfrm>
          <a:prstGeom prst="line">
            <a:avLst/>
          </a:prstGeom>
          <a:noFill/>
          <a:ln w="6350">
            <a:solidFill>
              <a:srgbClr val="E3E8E4"/>
            </a:solidFill>
            <a:prstDash val="solid"/>
          </a:ln>
        </p:spPr>
      </p:sp>
      <p:sp>
        <p:nvSpPr>
          <p:cNvPr id="136" name="Text 134"/>
          <p:cNvSpPr txBox="1"/>
          <p:nvPr/>
        </p:nvSpPr>
        <p:spPr>
          <a:xfrm>
            <a:off x="8092440" y="3383280"/>
            <a:ext cx="35506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5B67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Bear changes every input to its worst value at once. It is a stress test, not a forecast.</a:t>
            </a:r>
            <a:endParaRPr lang="en-US" sz="1150" dirty="0"/>
          </a:p>
        </p:txBody>
      </p:sp>
      <p:sp>
        <p:nvSpPr>
          <p:cNvPr id="137" name="Text 135"/>
          <p:cNvSpPr txBox="1"/>
          <p:nvPr/>
        </p:nvSpPr>
        <p:spPr>
          <a:xfrm>
            <a:off x="411480" y="6464808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5B67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financial workbook (Scenarios sheet). Model output from sourced and assumed inputs, not measured.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92240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75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11480" y="457200"/>
            <a:ext cx="113687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E2B2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How we used AI, and what we cited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11480" y="1554480"/>
            <a:ext cx="5547208" cy="4206240"/>
          </a:xfrm>
          <a:prstGeom prst="roundRect">
            <a:avLst>
              <a:gd name="adj" fmla="val 3043"/>
            </a:avLst>
          </a:prstGeom>
          <a:solidFill>
            <a:srgbClr val="E4F5EC"/>
          </a:solidFill>
          <a:ln w="25400">
            <a:solidFill>
              <a:srgbClr val="1FA971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85800" y="1737360"/>
            <a:ext cx="2560320" cy="411480"/>
          </a:xfrm>
          <a:prstGeom prst="roundRect">
            <a:avLst>
              <a:gd name="adj" fmla="val 48889"/>
            </a:avLst>
          </a:prstGeom>
          <a:solidFill>
            <a:srgbClr val="1FA971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85800" y="1737360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AI tools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2377440"/>
            <a:ext cx="4998568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2633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Claude: planning, code review, documentation.</a:t>
            </a:r>
            <a:endParaRPr lang="en-US" sz="1700" dirty="0"/>
          </a:p>
          <a:p>
            <a:pPr algn="l" marL="177800" indent="-1778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2633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Antigravity agents: code generation.</a:t>
            </a:r>
            <a:endParaRPr lang="en-US" sz="1700" dirty="0"/>
          </a:p>
          <a:p>
            <a:pPr algn="l" marL="177800" indent="-1778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2633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Perplexity and Gemini Deep Research: literature and regulation research.</a:t>
            </a:r>
            <a:endParaRPr lang="en-US" sz="1700" dirty="0"/>
          </a:p>
          <a:p>
            <a:pPr algn="l" marL="177800" indent="-1778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2633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was reviewed and tested by the team; research claims were checked against primary sources where possible.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6233008" y="1554480"/>
            <a:ext cx="5547208" cy="4206240"/>
          </a:xfrm>
          <a:prstGeom prst="roundRect">
            <a:avLst>
              <a:gd name="adj" fmla="val 3043"/>
            </a:avLst>
          </a:prstGeom>
          <a:solidFill>
            <a:srgbClr val="E3EEFB"/>
          </a:solidFill>
          <a:ln w="25400">
            <a:solidFill>
              <a:srgbClr val="2F80D1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507328" y="1737360"/>
            <a:ext cx="2560320" cy="411480"/>
          </a:xfrm>
          <a:prstGeom prst="roundRect">
            <a:avLst>
              <a:gd name="adj" fmla="val 48889"/>
            </a:avLst>
          </a:prstGeom>
          <a:solidFill>
            <a:srgbClr val="2F80D1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507328" y="1737360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Public data and libraries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6507328" y="2377440"/>
            <a:ext cx="4998568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2633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OULAD (CC BY 4.0), ASSISTments 2009, the pyKT benchmark, JEEBench.</a:t>
            </a:r>
            <a:endParaRPr lang="en-US" sz="1700" dirty="0"/>
          </a:p>
          <a:p>
            <a:pPr algn="l" marL="177800" indent="-1778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2633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Noto Sans Devanagari (SIL OFL), LightGBM, Ollama, FastAPI, PostgreSQL.</a:t>
            </a:r>
            <a:endParaRPr lang="en-US" sz="1700" dirty="0"/>
          </a:p>
          <a:p>
            <a:pPr algn="l" marL="177800" indent="-1778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2633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list with licences: technical/docs/CITATIONS.md in the repository.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4572000" y="6126480"/>
            <a:ext cx="72054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B67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github.com/AdityaKuranjekar/institute-intelligence-platform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Segoe U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AlphaQ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AlphaQ: Case B, The Data Moat (Round 1)</dc:title>
  <dc:subject>PptxGenJS Presentation</dc:subject>
  <dc:creator>AlphaQ</dc:creator>
  <cp:lastModifiedBy>AlphaQ</cp:lastModifiedBy>
  <cp:revision>1</cp:revision>
  <dcterms:created xsi:type="dcterms:W3CDTF">2026-10-21T22:45:11Z</dcterms:created>
  <dcterms:modified xsi:type="dcterms:W3CDTF">2026-10-21T22:45:11Z</dcterms:modified>
</cp:coreProperties>
</file>