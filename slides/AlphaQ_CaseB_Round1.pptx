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1af2c7d-5aa7-3661-32f6-bac02e4da483}">
          <p14:sldIdLst>
            <p14:sldId id="256"/>
          </p14:sldIdLst>
        </p14:section>
        <p14:section name="Problem and product" id="{0e0b2975-d8cc-08e2-72ad-b76b0d8e6c69}">
          <p14:sldIdLst>
            <p14:sldId id="257"/>
            <p14:sldId id="258"/>
            <p14:sldId id="259"/>
          </p14:sldIdLst>
        </p14:section>
        <p14:section name="Technology" id="{58ea6f7a-b01e-0550-248f-41a8996a2f32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usiness" id="{ebb97fad-68d0-74bf-3231-04a5b0b6b95b}">
          <p14:sldIdLst>
            <p14:sldId id="266"/>
            <p14:sldId id="267"/>
            <p14:sldId id="268"/>
          </p14:sldIdLst>
        </p14:section>
        <p14:section name="Validation" id="{6ae9efad-ecaf-881a-4849-f2707b64db59}">
          <p14:sldIdLst>
            <p14:sldId id="269"/>
          </p14:sldIdLst>
        </p14:section>
        <p14:section name="Appendix" id="{44ba1f29-9519-768d-a4fb-e61a91e22e43}">
          <p14:sldIdLst>
            <p14:sldId id="270"/>
            <p14:sldId id="271"/>
            <p14:sldId id="272"/>
            <p14:sldId id="273"/>
            <p14:sldId id="274"/>
          </p14:sldIdLst>
        </p14:section>
        <p14:section name="Closing" id="{a4f68143-2fa5-ab8b-983b-e3167853297f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Right-hand screens are illustrative mock-ups rendered from HTML with synthetic values: the web console and three phone screens. The two AUC figures are results on public datasets (ASSISTments 2009 under the pyKT protocol, OULAD day 28); the 3.6 rupee figure is the model's all-in cost per student per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Dense problem slide. The 8-15 percent and 36,000 rupee figures and the 17.3 lakh total are the guide's illustrative baselines (400 x 12% x 36,000). The roster index is an assumption in the financial model; competitor price range comes from the finance research (listed prices, low-medium confidence).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tour: upload, topic map, support list, profile, owner dashboard, parent report. All images are illustrative mock-ups (HTML rendered by headless Edge) using synthetic data and real report text from the report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slide. Web console (owner, teacher, compliance) and phone screens (scan, mentor list, parent view in Hindi or English). All are illustrative HTML mock-ups with synthetic data. Delivery plan: Next.js PWA installed from the browser, so no app-store account is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Status tags: BUILT means working code with tests; IN BUILD means in progress; DESIGNED means specified but not coded. Evidence boxes are real: 12 messy export files and 210 synthetic OMR images exist; 31 tables and tenant isolation tested on a live PostgreSQL 16; OULAD 0.706 and ASSISTments 0.763 on public data; 20 templates and 8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the bar chart uses the real result file (online IRT 0.763, 1-parameter 0.759, logistic baseline 0.741, BKT 0.714) next to the published pyKT values (DKT 0.754, SAKT 0.725, AKT 0.785). IRT recovery, wrong-key detection and mastery-vs-baseline come from Agent B and must replace the amber placeholders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OULAD table is real: LightGBM with isotonic calibration, student-grouped 5-fold; rules are the two deterministic baselines. Published anchors for context: 0.727, 0.794 and 0.804 at days 14, 28 and 42 (PLOS ONE 2026); ours is lower, so do not claim parity. Precision at top 10 percent is shown as P@10. Early warning on synthetic institutes and the comparison against the institute rule come from Agent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range is schematic until Agent C delivers coverage numbers. The report images use real template output. Do not state a verifier catch rate until the independent adversarial test passes after the E2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Routing table mirrors contracts/routing_policy.yaml. The OULAD bars show that academic-only features lose only about 0.007 to 0.025 AUC against academic plus click behaviour: privacy is cheap here. A lawyer's check on the in-person ID flow is still recommended.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Differentiators. Item 05 (small-batch strength) is marked result pending until the difficulty-recovery curve exists. Item 08 refers to public-data results and the independent attack on the report checker, with misses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workbook scenarios table, mid institute. The guide's 25 percent prevention and 2.25x return are shown as the baseline we replaced. Safe wording: randomised trials in comparable settings show 5 to 30 percent among students who get outreach; we model 15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tables are the two grids of the Sensitivity sheet. Bear, Base and Bull LTV/CAC for the mid institute are -0.1x, 3.7x and 24x. The segment bars show small 1.5x, mid 3.7x, large 9.1x with paybacks of 18, 6 and 3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 matrix shows only what vendor listings showed; a question mark means it could not be verified from the listing, not that the feature is absent. Do not state that competitors lack the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amber pending items with measured values from deck_numbers.py. Limitations to state first: synthetic data proves the pipeline only; the percentile mapping is an assumption table; difficulty scales are comparable across institutes only through anchors.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disclosure (Problem Statement, rule 2). Keep this as the last slide of the submitted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6528816"/>
            <a:ext cx="530352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274320"/>
            <a:ext cx="8412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1371600"/>
            <a:ext cx="5212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411480"/>
            <a:ext cx="5989320" cy="5897880"/>
          </a:xfrm>
          <a:prstGeom prst="rect">
            <a:avLst/>
          </a:prstGeom>
          <a:solidFill>
            <a:srgbClr val="EAF1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685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 ·  THE DATA MOAT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5212080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411480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for the coaching institutes that run on Excel, OMR sheets and WhatsApp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33832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turns one upload into a topic map, a weekly support list and a verified Hindi and English parent report, on the web and on the phone. Offline, private, free to run.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11480" y="4754880"/>
            <a:ext cx="16459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148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5029200"/>
            <a:ext cx="16459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" y="5074920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ASSISTments (public data)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94560" y="4754880"/>
            <a:ext cx="16459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9456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94560" y="5029200"/>
            <a:ext cx="16459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67712" y="5074920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OULAD, day 28 (public data)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4754880"/>
            <a:ext cx="16459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7764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77640" y="5029200"/>
            <a:ext cx="16459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50792" y="5074920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month, all-in (model)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6126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AlphaQ  ·  Round 1  ·  Nextute x Finance Club, IIT Patna</a:t>
            </a:r>
            <a:endParaRPr lang="en-US" sz="1150" dirty="0"/>
          </a:p>
        </p:txBody>
      </p:sp>
      <p:pic>
        <p:nvPicPr>
          <p:cNvPr id="20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640080"/>
            <a:ext cx="5623560" cy="3163824"/>
          </a:xfrm>
          <a:prstGeom prst="rect">
            <a:avLst/>
          </a:prstGeom>
        </p:spPr>
      </p:pic>
      <p:pic>
        <p:nvPicPr>
          <p:cNvPr id="21" name="Image 1" descr="Pragati scan screen on a phone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08960"/>
            <a:ext cx="1554480" cy="3108960"/>
          </a:xfrm>
          <a:prstGeom prst="rect">
            <a:avLst/>
          </a:prstGeom>
        </p:spPr>
      </p:pic>
      <p:pic>
        <p:nvPicPr>
          <p:cNvPr id="22" name="Image 2" descr="Pragati mentor app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880360"/>
            <a:ext cx="1554480" cy="3108960"/>
          </a:xfrm>
          <a:prstGeom prst="rect">
            <a:avLst/>
          </a:prstGeom>
        </p:spPr>
      </p:pic>
      <p:pic>
        <p:nvPicPr>
          <p:cNvPr id="23" name="Image 3" descr="Pragati parent app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3108960"/>
            <a:ext cx="1554480" cy="31089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26880" y="63550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mock-ups, synthetic data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hold the data, but notice a struggling student only after they leave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 · PARTICIPANT GUIDE §2, §7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34340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434340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41239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LOSES TODAY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9" name="Image 0" descr="FaChalkboardUs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177" y="1573865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97280" y="14813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011680" y="14813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which topics are weak only after the exam.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029968"/>
            <a:ext cx="420624" cy="42062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23" name="Image 1" descr="FaBuild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77" y="2122505"/>
            <a:ext cx="235549" cy="23554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0" y="202996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2011680" y="202996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compare batches or teaching methods.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48640" y="2578608"/>
            <a:ext cx="420624" cy="42062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27" name="Image 2" descr="FaUs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2671145"/>
            <a:ext cx="235549" cy="23554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97280" y="257860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2011680" y="257860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marks list and little else, so trust suffers.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548640" y="3127248"/>
            <a:ext cx="420624" cy="42062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31" name="Image 3" descr="FaChildReachin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3219785"/>
            <a:ext cx="235549" cy="235549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097280" y="31272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2011680" y="312724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Noticed only after they stop paying or coming.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846320" y="1115568"/>
            <a:ext cx="397764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4846320" y="1115568"/>
            <a:ext cx="397764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4956048" y="1115568"/>
            <a:ext cx="3758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4983480" y="1481328"/>
            <a:ext cx="3703320" cy="530352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8" name="Shape 32"/>
          <p:cNvSpPr/>
          <p:nvPr/>
        </p:nvSpPr>
        <p:spPr>
          <a:xfrm>
            <a:off x="5047488" y="1545336"/>
            <a:ext cx="402336" cy="40233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9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002" y="1633850"/>
            <a:ext cx="225308" cy="2253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5559552" y="14813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OMR sheets</a:t>
            </a:r>
            <a:endParaRPr lang="en-US" sz="1150" dirty="0"/>
          </a:p>
        </p:txBody>
      </p:sp>
      <p:sp>
        <p:nvSpPr>
          <p:cNvPr id="41" name="Text 34"/>
          <p:cNvSpPr txBox="1"/>
          <p:nvPr/>
        </p:nvSpPr>
        <p:spPr>
          <a:xfrm>
            <a:off x="6995160" y="14813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kept; per-question answers rarely are.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4983480" y="2084832"/>
            <a:ext cx="3703320" cy="530352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3" name="Shape 36"/>
          <p:cNvSpPr/>
          <p:nvPr/>
        </p:nvSpPr>
        <p:spPr>
          <a:xfrm>
            <a:off x="5047488" y="2148840"/>
            <a:ext cx="402336" cy="40233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44" name="Image 5" descr="FaFileExce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002" y="2237354"/>
            <a:ext cx="225308" cy="22530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559552" y="20848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registers</a:t>
            </a:r>
            <a:endParaRPr lang="en-US" sz="1150" dirty="0"/>
          </a:p>
        </p:txBody>
      </p:sp>
      <p:sp>
        <p:nvSpPr>
          <p:cNvPr id="46" name="Text 38"/>
          <p:cNvSpPr txBox="1"/>
          <p:nvPr/>
        </p:nvSpPr>
        <p:spPr>
          <a:xfrm>
            <a:off x="6995160" y="208483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names and dates differ file to file.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4983480" y="2688336"/>
            <a:ext cx="3703320" cy="530352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8" name="Shape 40"/>
          <p:cNvSpPr/>
          <p:nvPr/>
        </p:nvSpPr>
        <p:spPr>
          <a:xfrm>
            <a:off x="5047488" y="2752344"/>
            <a:ext cx="402336" cy="40233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49" name="Image 6" descr="FaWhatsap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6002" y="2840858"/>
            <a:ext cx="225308" cy="225308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5559552" y="268833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groups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995160" y="268833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and chats, with no structure to analyse.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983480" y="3364992"/>
            <a:ext cx="3703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5120640" y="33649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topic view, no early warning</a:t>
            </a:r>
            <a:endParaRPr lang="en-US" sz="1150" dirty="0"/>
          </a:p>
        </p:txBody>
      </p:sp>
      <p:sp>
        <p:nvSpPr>
          <p:cNvPr id="54" name="Shape 45"/>
          <p:cNvSpPr/>
          <p:nvPr/>
        </p:nvSpPr>
        <p:spPr>
          <a:xfrm>
            <a:off x="8915400" y="1115568"/>
            <a:ext cx="2864815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8915400" y="1115568"/>
            <a:ext cx="286481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9025128" y="1115568"/>
            <a:ext cx="26453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200" dirty="0"/>
          </a:p>
        </p:txBody>
      </p:sp>
      <p:sp>
        <p:nvSpPr>
          <p:cNvPr id="57" name="Shape 48"/>
          <p:cNvSpPr/>
          <p:nvPr/>
        </p:nvSpPr>
        <p:spPr>
          <a:xfrm>
            <a:off x="9025128" y="1463040"/>
            <a:ext cx="2645359" cy="585216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098280" y="146304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8-15 %</a:t>
            </a:r>
            <a:endParaRPr lang="en-US" sz="1800" dirty="0"/>
          </a:p>
        </p:txBody>
      </p:sp>
      <p:sp>
        <p:nvSpPr>
          <p:cNvPr id="59" name="Text 50"/>
          <p:cNvSpPr txBox="1"/>
          <p:nvPr/>
        </p:nvSpPr>
        <p:spPr>
          <a:xfrm>
            <a:off x="10396728" y="146304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drop out or default mid-session</a:t>
            </a:r>
            <a:endParaRPr lang="en-US" sz="1000" dirty="0"/>
          </a:p>
        </p:txBody>
      </p:sp>
      <p:sp>
        <p:nvSpPr>
          <p:cNvPr id="60" name="Shape 51"/>
          <p:cNvSpPr/>
          <p:nvPr/>
        </p:nvSpPr>
        <p:spPr>
          <a:xfrm>
            <a:off x="9025128" y="2103120"/>
            <a:ext cx="2645359" cy="585216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9098280" y="210312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1800" dirty="0"/>
          </a:p>
        </p:txBody>
      </p:sp>
      <p:sp>
        <p:nvSpPr>
          <p:cNvPr id="62" name="Text 53"/>
          <p:cNvSpPr txBox="1"/>
          <p:nvPr/>
        </p:nvSpPr>
        <p:spPr>
          <a:xfrm>
            <a:off x="10396728" y="210312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lost per dropout at month 4</a:t>
            </a:r>
            <a:endParaRPr lang="en-US" sz="1000" dirty="0"/>
          </a:p>
        </p:txBody>
      </p:sp>
      <p:sp>
        <p:nvSpPr>
          <p:cNvPr id="63" name="Shape 54"/>
          <p:cNvSpPr/>
          <p:nvPr/>
        </p:nvSpPr>
        <p:spPr>
          <a:xfrm>
            <a:off x="9025128" y="2743200"/>
            <a:ext cx="2645359" cy="585216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098280" y="274320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₹17.3 lakh</a:t>
            </a:r>
            <a:endParaRPr lang="en-US" sz="1800" dirty="0"/>
          </a:p>
        </p:txBody>
      </p:sp>
      <p:sp>
        <p:nvSpPr>
          <p:cNvPr id="65" name="Text 56"/>
          <p:cNvSpPr txBox="1"/>
          <p:nvPr/>
        </p:nvSpPr>
        <p:spPr>
          <a:xfrm>
            <a:off x="10396728" y="274320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at risk a year (400 students, 12 %)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9025128" y="3438144"/>
            <a:ext cx="10911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9025128" y="3438144"/>
            <a:ext cx="1091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800" dirty="0"/>
          </a:p>
        </p:txBody>
      </p:sp>
      <p:sp>
        <p:nvSpPr>
          <p:cNvPr id="68" name="Shape 59"/>
          <p:cNvSpPr/>
          <p:nvPr/>
        </p:nvSpPr>
        <p:spPr>
          <a:xfrm>
            <a:off x="411480" y="3886200"/>
            <a:ext cx="434340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411480" y="3886200"/>
            <a:ext cx="4343400" cy="30175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70" name="Text 61"/>
          <p:cNvSpPr txBox="1"/>
          <p:nvPr/>
        </p:nvSpPr>
        <p:spPr>
          <a:xfrm>
            <a:off x="521208" y="3886200"/>
            <a:ext cx="41239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STUDENTS LEAVE AND RETURN</a:t>
            </a:r>
            <a:endParaRPr lang="en-US" sz="1200" dirty="0"/>
          </a:p>
        </p:txBody>
      </p:sp>
      <p:pic>
        <p:nvPicPr>
          <p:cNvPr id="71" name="Image 7" descr="Active roster index through the sessi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251960"/>
            <a:ext cx="4069080" cy="1828800"/>
          </a:xfrm>
          <a:prstGeom prst="rect">
            <a:avLst/>
          </a:prstGeom>
        </p:spPr>
      </p:pic>
      <p:sp>
        <p:nvSpPr>
          <p:cNvPr id="72" name="Shape 62"/>
          <p:cNvSpPr/>
          <p:nvPr/>
        </p:nvSpPr>
        <p:spPr>
          <a:xfrm>
            <a:off x="548640" y="6108192"/>
            <a:ext cx="182270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548640" y="6108192"/>
            <a:ext cx="1822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ASSUMPTION, LOW CONFIDENCE</a:t>
            </a:r>
            <a:endParaRPr lang="en-US" sz="800" dirty="0"/>
          </a:p>
        </p:txBody>
      </p:sp>
      <p:sp>
        <p:nvSpPr>
          <p:cNvPr id="74" name="Shape 64"/>
          <p:cNvSpPr/>
          <p:nvPr/>
        </p:nvSpPr>
        <p:spPr>
          <a:xfrm>
            <a:off x="4846320" y="3886200"/>
            <a:ext cx="397764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4846320" y="3886200"/>
            <a:ext cx="397764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6" name="Text 66"/>
          <p:cNvSpPr txBox="1"/>
          <p:nvPr/>
        </p:nvSpPr>
        <p:spPr>
          <a:xfrm>
            <a:off x="4956048" y="3886200"/>
            <a:ext cx="3758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BUYER'S CONSTRAINTS</a:t>
            </a:r>
            <a:endParaRPr lang="en-US" sz="1200" dirty="0"/>
          </a:p>
        </p:txBody>
      </p:sp>
      <p:sp>
        <p:nvSpPr>
          <p:cNvPr id="77" name="Shape 67"/>
          <p:cNvSpPr/>
          <p:nvPr/>
        </p:nvSpPr>
        <p:spPr>
          <a:xfrm>
            <a:off x="4956048" y="4251960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78" name="Shape 68"/>
          <p:cNvSpPr/>
          <p:nvPr/>
        </p:nvSpPr>
        <p:spPr>
          <a:xfrm>
            <a:off x="5029200" y="4325112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79" name="Image 8" descr="FaIndianRupeeSig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1620" y="4397532"/>
            <a:ext cx="184343" cy="184343"/>
          </a:xfrm>
          <a:prstGeom prst="rect">
            <a:avLst/>
          </a:prstGeom>
        </p:spPr>
      </p:pic>
      <p:sp>
        <p:nvSpPr>
          <p:cNvPr id="80" name="Text 69"/>
          <p:cNvSpPr txBox="1"/>
          <p:nvPr/>
        </p:nvSpPr>
        <p:spPr>
          <a:xfrm>
            <a:off x="541324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Price-sensitive</a:t>
            </a:r>
            <a:endParaRPr lang="en-US" sz="1100" dirty="0"/>
          </a:p>
        </p:txBody>
      </p:sp>
      <p:sp>
        <p:nvSpPr>
          <p:cNvPr id="81" name="Text 70"/>
          <p:cNvSpPr txBox="1"/>
          <p:nvPr/>
        </p:nvSpPr>
        <p:spPr>
          <a:xfrm>
            <a:off x="502920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apps cost ₹4 to ₹21 per student per month today.</a:t>
            </a:r>
            <a:endParaRPr lang="en-US" sz="950" dirty="0"/>
          </a:p>
        </p:txBody>
      </p:sp>
      <p:sp>
        <p:nvSpPr>
          <p:cNvPr id="82" name="Shape 71"/>
          <p:cNvSpPr/>
          <p:nvPr/>
        </p:nvSpPr>
        <p:spPr>
          <a:xfrm>
            <a:off x="6876288" y="4251960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83" name="Shape 72"/>
          <p:cNvSpPr/>
          <p:nvPr/>
        </p:nvSpPr>
        <p:spPr>
          <a:xfrm>
            <a:off x="6949440" y="4325112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84" name="Image 9" descr="FaTabl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1860" y="4397532"/>
            <a:ext cx="184343" cy="184343"/>
          </a:xfrm>
          <a:prstGeom prst="rect">
            <a:avLst/>
          </a:prstGeom>
        </p:spPr>
      </p:pic>
      <p:sp>
        <p:nvSpPr>
          <p:cNvPr id="85" name="Text 73"/>
          <p:cNvSpPr txBox="1"/>
          <p:nvPr/>
        </p:nvSpPr>
        <p:spPr>
          <a:xfrm>
            <a:off x="733348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Low-tech staff</a:t>
            </a:r>
            <a:endParaRPr lang="en-US" sz="1100" dirty="0"/>
          </a:p>
        </p:txBody>
      </p:sp>
      <p:sp>
        <p:nvSpPr>
          <p:cNvPr id="86" name="Text 74"/>
          <p:cNvSpPr txBox="1"/>
          <p:nvPr/>
        </p:nvSpPr>
        <p:spPr>
          <a:xfrm>
            <a:off x="694944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registers and the phone camera.</a:t>
            </a:r>
            <a:endParaRPr lang="en-US" sz="950" dirty="0"/>
          </a:p>
        </p:txBody>
      </p:sp>
      <p:sp>
        <p:nvSpPr>
          <p:cNvPr id="87" name="Shape 75"/>
          <p:cNvSpPr/>
          <p:nvPr/>
        </p:nvSpPr>
        <p:spPr>
          <a:xfrm>
            <a:off x="4956048" y="5276088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88" name="Shape 76"/>
          <p:cNvSpPr/>
          <p:nvPr/>
        </p:nvSpPr>
        <p:spPr>
          <a:xfrm>
            <a:off x="5029200" y="5349240"/>
            <a:ext cx="329184" cy="32918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89" name="Image 10" descr="FaWifi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1620" y="5421660"/>
            <a:ext cx="184343" cy="184343"/>
          </a:xfrm>
          <a:prstGeom prst="rect">
            <a:avLst/>
          </a:prstGeom>
        </p:spPr>
      </p:pic>
      <p:sp>
        <p:nvSpPr>
          <p:cNvPr id="90" name="Text 77"/>
          <p:cNvSpPr txBox="1"/>
          <p:nvPr/>
        </p:nvSpPr>
        <p:spPr>
          <a:xfrm>
            <a:off x="541324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</a:t>
            </a:r>
            <a:endParaRPr lang="en-US" sz="1100" dirty="0"/>
          </a:p>
        </p:txBody>
      </p:sp>
      <p:sp>
        <p:nvSpPr>
          <p:cNvPr id="91" name="Text 78"/>
          <p:cNvSpPr txBox="1"/>
          <p:nvPr/>
        </p:nvSpPr>
        <p:spPr>
          <a:xfrm>
            <a:off x="502920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must work offline, on one laptop.</a:t>
            </a:r>
            <a:endParaRPr lang="en-US" sz="950" dirty="0"/>
          </a:p>
        </p:txBody>
      </p:sp>
      <p:sp>
        <p:nvSpPr>
          <p:cNvPr id="92" name="Shape 79"/>
          <p:cNvSpPr/>
          <p:nvPr/>
        </p:nvSpPr>
        <p:spPr>
          <a:xfrm>
            <a:off x="6876288" y="5276088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93" name="Shape 80"/>
          <p:cNvSpPr/>
          <p:nvPr/>
        </p:nvSpPr>
        <p:spPr>
          <a:xfrm>
            <a:off x="6949440" y="5349240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94" name="Image 11" descr="FaUserShield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21860" y="5421660"/>
            <a:ext cx="184343" cy="184343"/>
          </a:xfrm>
          <a:prstGeom prst="rect">
            <a:avLst/>
          </a:prstGeom>
        </p:spPr>
      </p:pic>
      <p:sp>
        <p:nvSpPr>
          <p:cNvPr id="95" name="Text 81"/>
          <p:cNvSpPr txBox="1"/>
          <p:nvPr/>
        </p:nvSpPr>
        <p:spPr>
          <a:xfrm>
            <a:off x="733348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Minors' data</a:t>
            </a:r>
            <a:endParaRPr lang="en-US" sz="1100" dirty="0"/>
          </a:p>
        </p:txBody>
      </p:sp>
      <p:sp>
        <p:nvSpPr>
          <p:cNvPr id="96" name="Text 82"/>
          <p:cNvSpPr txBox="1"/>
          <p:nvPr/>
        </p:nvSpPr>
        <p:spPr>
          <a:xfrm>
            <a:off x="694944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and MoE coaching rules apply.</a:t>
            </a:r>
            <a:endParaRPr lang="en-US" sz="950" dirty="0"/>
          </a:p>
        </p:txBody>
      </p:sp>
      <p:sp>
        <p:nvSpPr>
          <p:cNvPr id="97" name="Shape 83"/>
          <p:cNvSpPr/>
          <p:nvPr/>
        </p:nvSpPr>
        <p:spPr>
          <a:xfrm>
            <a:off x="8915400" y="3886200"/>
            <a:ext cx="2864815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98" name="Shape 84"/>
          <p:cNvSpPr/>
          <p:nvPr/>
        </p:nvSpPr>
        <p:spPr>
          <a:xfrm>
            <a:off x="8915400" y="3886200"/>
            <a:ext cx="2864815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99" name="Text 85"/>
          <p:cNvSpPr txBox="1"/>
          <p:nvPr/>
        </p:nvSpPr>
        <p:spPr>
          <a:xfrm>
            <a:off x="9025128" y="3886200"/>
            <a:ext cx="26453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PRAGATI DOES</a:t>
            </a:r>
            <a:endParaRPr lang="en-US" sz="1200" dirty="0"/>
          </a:p>
        </p:txBody>
      </p:sp>
      <p:pic>
        <p:nvPicPr>
          <p:cNvPr id="100" name="Image 12" descr="FaCircleChe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61704" y="4315968"/>
            <a:ext cx="201168" cy="201168"/>
          </a:xfrm>
          <a:prstGeom prst="rect">
            <a:avLst/>
          </a:prstGeom>
        </p:spPr>
      </p:pic>
      <p:sp>
        <p:nvSpPr>
          <p:cNvPr id="101" name="Text 86"/>
          <p:cNvSpPr txBox="1"/>
          <p:nvPr/>
        </p:nvSpPr>
        <p:spPr>
          <a:xfrm>
            <a:off x="9354312" y="4261104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view of every student</a:t>
            </a:r>
            <a:endParaRPr lang="en-US" sz="1050" dirty="0"/>
          </a:p>
        </p:txBody>
      </p:sp>
      <p:pic>
        <p:nvPicPr>
          <p:cNvPr id="102" name="Image 13" descr="FaCircleChe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1704" y="4654296"/>
            <a:ext cx="201168" cy="201168"/>
          </a:xfrm>
          <a:prstGeom prst="rect">
            <a:avLst/>
          </a:prstGeom>
        </p:spPr>
      </p:pic>
      <p:sp>
        <p:nvSpPr>
          <p:cNvPr id="103" name="Text 87"/>
          <p:cNvSpPr txBox="1"/>
          <p:nvPr/>
        </p:nvSpPr>
        <p:spPr>
          <a:xfrm>
            <a:off x="9354312" y="459943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</a:t>
            </a:r>
            <a:endParaRPr lang="en-US" sz="1050" dirty="0"/>
          </a:p>
        </p:txBody>
      </p:sp>
      <p:pic>
        <p:nvPicPr>
          <p:cNvPr id="104" name="Image 14" descr="FaCircleCheck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61704" y="4992624"/>
            <a:ext cx="201168" cy="201168"/>
          </a:xfrm>
          <a:prstGeom prst="rect">
            <a:avLst/>
          </a:prstGeom>
        </p:spPr>
      </p:pic>
      <p:sp>
        <p:nvSpPr>
          <p:cNvPr id="105" name="Text 88"/>
          <p:cNvSpPr txBox="1"/>
          <p:nvPr/>
        </p:nvSpPr>
        <p:spPr>
          <a:xfrm>
            <a:off x="9354312" y="493776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</a:t>
            </a:r>
            <a:endParaRPr lang="en-US" sz="1050" dirty="0"/>
          </a:p>
        </p:txBody>
      </p:sp>
      <p:pic>
        <p:nvPicPr>
          <p:cNvPr id="106" name="Image 15" descr="FaCircleCheck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61704" y="5330952"/>
            <a:ext cx="201168" cy="201168"/>
          </a:xfrm>
          <a:prstGeom prst="rect">
            <a:avLst/>
          </a:prstGeom>
        </p:spPr>
      </p:pic>
      <p:sp>
        <p:nvSpPr>
          <p:cNvPr id="107" name="Text 89"/>
          <p:cNvSpPr txBox="1"/>
          <p:nvPr/>
        </p:nvSpPr>
        <p:spPr>
          <a:xfrm>
            <a:off x="9354312" y="527608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Hindi and English reports</a:t>
            </a:r>
            <a:endParaRPr lang="en-US" sz="1050" dirty="0"/>
          </a:p>
        </p:txBody>
      </p:sp>
      <p:pic>
        <p:nvPicPr>
          <p:cNvPr id="108" name="Image 16" descr="FaCircleCheck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61704" y="5669280"/>
            <a:ext cx="201168" cy="201168"/>
          </a:xfrm>
          <a:prstGeom prst="rect">
            <a:avLst/>
          </a:prstGeom>
        </p:spPr>
      </p:pic>
      <p:sp>
        <p:nvSpPr>
          <p:cNvPr id="109" name="Text 90"/>
          <p:cNvSpPr txBox="1"/>
          <p:nvPr/>
        </p:nvSpPr>
        <p:spPr>
          <a:xfrm>
            <a:off x="9354312" y="5614416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free to run</a:t>
            </a:r>
            <a:endParaRPr lang="en-US" sz="1050" dirty="0"/>
          </a:p>
        </p:txBody>
      </p:sp>
      <p:sp>
        <p:nvSpPr>
          <p:cNvPr id="110" name="Shape 91"/>
          <p:cNvSpPr/>
          <p:nvPr/>
        </p:nvSpPr>
        <p:spPr>
          <a:xfrm>
            <a:off x="9025128" y="6016752"/>
            <a:ext cx="2645359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1" name="Text 92"/>
          <p:cNvSpPr txBox="1"/>
          <p:nvPr/>
        </p:nvSpPr>
        <p:spPr>
          <a:xfrm>
            <a:off x="9162288" y="6016752"/>
            <a:ext cx="237103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it works</a:t>
            </a:r>
            <a:endParaRPr lang="en-US" sz="1050" dirty="0"/>
          </a:p>
        </p:txBody>
      </p:sp>
      <p:sp>
        <p:nvSpPr>
          <p:cNvPr id="112" name="Text 93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Participant Guide sections 2, 6 and 7 (illustrative baselines); roster index and competitor prices from financial/ (assumptions and research, confidence low to medium).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screens of the same flow: upload, topic map, support list, student profile, owner view, parent report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16" name="Image 0" descr="Upload and map: the system fixes the m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15568"/>
            <a:ext cx="3703320" cy="2057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1148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map: the system fixes the mess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06240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21" name="Image 1" descr="Topic map: strengths, gaps, untaught top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115568"/>
            <a:ext cx="3703320" cy="20574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4242816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42816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4608576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map: strengths, gaps, untaught topics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8037576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26" name="Image 2" descr="Weekly support list: reasons and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115568"/>
            <a:ext cx="3703320" cy="20574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8074152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74152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439912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support list: reasons and actions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374904" y="368503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31" name="Image 3" descr="Student profile: mastery with doubt, honest ran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1608"/>
            <a:ext cx="3703320" cy="205740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411480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411480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777240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profile: mastery with doubt, honest range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4206240" y="368503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36" name="Image 4" descr="Owner dashboard: retention, coverage, complia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6" y="3721608"/>
            <a:ext cx="3703320" cy="205740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242816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4242816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4608576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dashboard: retention, coverage, compliance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8174736" y="3685032"/>
            <a:ext cx="350215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41" name="Image 5" descr="Parent report in Hindi and Engli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3721608"/>
            <a:ext cx="3429000" cy="205740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074152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8074152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8439912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 in Hindi and English</a:t>
            </a:r>
            <a:endParaRPr lang="en-US" sz="1150" dirty="0"/>
          </a:p>
        </p:txBody>
      </p:sp>
      <p:sp>
        <p:nvSpPr>
          <p:cNvPr id="45" name="Text 37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 rendered from HTML with synthetic values; they become real screenshots once the web app is wired to the models.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AND PHONE APP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product, two surfaces: a web console for the desk and a phone app for the floor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SURFACES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115568"/>
            <a:ext cx="5486400" cy="3611880"/>
          </a:xfrm>
          <a:prstGeom prst="rect">
            <a:avLst/>
          </a:prstGeom>
          <a:solidFill>
            <a:srgbClr val="EAF1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11480" y="1115568"/>
            <a:ext cx="576072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17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133856"/>
            <a:ext cx="5705856" cy="3209544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11480" y="4434840"/>
            <a:ext cx="57607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84632" y="4434840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CONSOLE: owner, teacher and compliance views</a:t>
            </a:r>
            <a:endParaRPr lang="en-US" sz="1100" dirty="0"/>
          </a:p>
        </p:txBody>
      </p:sp>
      <p:pic>
        <p:nvPicPr>
          <p:cNvPr id="20" name="Image 1" descr="Scan an OMR sheet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88720"/>
            <a:ext cx="1600200" cy="3200400"/>
          </a:xfrm>
          <a:prstGeom prst="rect">
            <a:avLst/>
          </a:prstGeom>
        </p:spPr>
      </p:pic>
      <p:pic>
        <p:nvPicPr>
          <p:cNvPr id="21" name="Image 2" descr="Mentor: this week's list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188720"/>
            <a:ext cx="1600200" cy="3200400"/>
          </a:xfrm>
          <a:prstGeom prst="rect">
            <a:avLst/>
          </a:prstGeom>
        </p:spPr>
      </p:pic>
      <p:pic>
        <p:nvPicPr>
          <p:cNvPr id="22" name="Image 3" descr="Parent: Hindi or English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1188720"/>
            <a:ext cx="1600200" cy="32004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434840"/>
            <a:ext cx="54864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82512" y="4434840"/>
            <a:ext cx="5340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APP: scan, mentor list, parent view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11480" y="4846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LOOP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5097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27" name="Shape 21"/>
          <p:cNvSpPr/>
          <p:nvPr/>
        </p:nvSpPr>
        <p:spPr>
          <a:xfrm>
            <a:off x="1005840" y="544068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28" name="Image 4" descr="FaCamera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5566410"/>
            <a:ext cx="251460" cy="25146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2001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upload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1600200" y="5692140"/>
            <a:ext cx="1680210" cy="0"/>
          </a:xfrm>
          <a:prstGeom prst="line">
            <a:avLst/>
          </a:prstGeom>
          <a:noFill/>
          <a:ln w="3175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331698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32" name="Shape 25"/>
          <p:cNvSpPr/>
          <p:nvPr/>
        </p:nvSpPr>
        <p:spPr>
          <a:xfrm>
            <a:off x="3371850" y="5440680"/>
            <a:ext cx="502920" cy="50292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33" name="Image 5" descr="FaChartSimp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7580" y="5566410"/>
            <a:ext cx="251460" cy="25146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48602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966210" y="5692140"/>
            <a:ext cx="1680210" cy="0"/>
          </a:xfrm>
          <a:prstGeom prst="line">
            <a:avLst/>
          </a:prstGeom>
          <a:noFill/>
          <a:ln w="31750">
            <a:solidFill>
              <a:srgbClr val="2E6DB4"/>
            </a:solidFill>
            <a:prstDash val="solid"/>
            <a:tailEnd type="triangle"/>
          </a:ln>
        </p:spPr>
      </p:sp>
      <p:sp>
        <p:nvSpPr>
          <p:cNvPr id="36" name="Shape 28"/>
          <p:cNvSpPr/>
          <p:nvPr/>
        </p:nvSpPr>
        <p:spPr>
          <a:xfrm>
            <a:off x="568299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37" name="Shape 29"/>
          <p:cNvSpPr/>
          <p:nvPr/>
        </p:nvSpPr>
        <p:spPr>
          <a:xfrm>
            <a:off x="5737860" y="544068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8" name="Image 6" descr="FaListCheck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3590" y="5566410"/>
            <a:ext cx="251460" cy="2514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485203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list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332220" y="5692140"/>
            <a:ext cx="1680210" cy="0"/>
          </a:xfrm>
          <a:prstGeom prst="line">
            <a:avLst/>
          </a:prstGeom>
          <a:noFill/>
          <a:ln w="3175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41" name="Shape 32"/>
          <p:cNvSpPr/>
          <p:nvPr/>
        </p:nvSpPr>
        <p:spPr>
          <a:xfrm>
            <a:off x="804900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42" name="Shape 33"/>
          <p:cNvSpPr/>
          <p:nvPr/>
        </p:nvSpPr>
        <p:spPr>
          <a:xfrm>
            <a:off x="8103870" y="5440680"/>
            <a:ext cx="502920" cy="502920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43" name="Image 7" descr="FaPhon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5566410"/>
            <a:ext cx="251460" cy="25146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21804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or session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8698230" y="5692140"/>
            <a:ext cx="1680210" cy="0"/>
          </a:xfrm>
          <a:prstGeom prst="line">
            <a:avLst/>
          </a:prstGeom>
          <a:noFill/>
          <a:ln w="31750">
            <a:solidFill>
              <a:srgbClr val="5B8DC9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1041501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47" name="Shape 37"/>
          <p:cNvSpPr/>
          <p:nvPr/>
        </p:nvSpPr>
        <p:spPr>
          <a:xfrm>
            <a:off x="10469880" y="544068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48" name="Image 8" descr="FaCircle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95610" y="5566410"/>
            <a:ext cx="251460" cy="25146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58405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logged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 flipV="1">
            <a:off x="1257300" y="5166360"/>
            <a:ext cx="0" cy="201168"/>
          </a:xfrm>
          <a:prstGeom prst="line">
            <a:avLst/>
          </a:prstGeom>
          <a:noFill/>
          <a:ln w="19050">
            <a:solidFill>
              <a:srgbClr val="9AA6B5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1257300" y="5166360"/>
            <a:ext cx="9464040" cy="0"/>
          </a:xfrm>
          <a:prstGeom prst="line">
            <a:avLst/>
          </a:prstGeom>
          <a:noFill/>
          <a:ln w="19050">
            <a:solidFill>
              <a:srgbClr val="9AA6B5"/>
            </a:solidFill>
            <a:prstDash val="dash"/>
          </a:ln>
        </p:spPr>
      </p:sp>
      <p:sp>
        <p:nvSpPr>
          <p:cNvPr id="52" name="Shape 41"/>
          <p:cNvSpPr/>
          <p:nvPr/>
        </p:nvSpPr>
        <p:spPr>
          <a:xfrm>
            <a:off x="10721340" y="5166360"/>
            <a:ext cx="0" cy="182880"/>
          </a:xfrm>
          <a:prstGeom prst="line">
            <a:avLst/>
          </a:prstGeom>
          <a:noFill/>
          <a:ln w="19050">
            <a:solidFill>
              <a:srgbClr val="9AA6B5"/>
            </a:solidFill>
            <a:prstDash val="solid"/>
            <a:tailEnd type="triangle"/>
          </a:ln>
        </p:spPr>
      </p:sp>
      <p:sp>
        <p:nvSpPr>
          <p:cNvPr id="53" name="Text 42"/>
          <p:cNvSpPr txBox="1"/>
          <p:nvPr/>
        </p:nvSpPr>
        <p:spPr>
          <a:xfrm>
            <a:off x="1508760" y="4910328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the next week's list</a:t>
            </a:r>
            <a:endParaRPr lang="en-US" sz="1050" dirty="0"/>
          </a:p>
        </p:txBody>
      </p:sp>
      <p:sp>
        <p:nvSpPr>
          <p:cNvPr id="54" name="Text 43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surfaces use the same API. Illustrative mock-ups with synthetic students; the app is a Next.js progressive web app (installed from the browser, no app-store fee).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stem architecture: capture, structure, intelligence, deliver, with a trust layer underne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ANALYTICS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estimate what each student knows, topic by topic, and say how sure we are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LEARNING ANALYTICS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8920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489204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4672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TEACHER SEES</a:t>
            </a:r>
            <a:endParaRPr lang="en-US" sz="1200" dirty="0"/>
          </a:p>
        </p:txBody>
      </p:sp>
      <p:pic>
        <p:nvPicPr>
          <p:cNvPr id="18" name="Image 0" descr="Topic mastery heatmap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4572000" cy="2569464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1097280" y="3822192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97280" y="3822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947672" y="1664208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47672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160520" y="283464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605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6928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41605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not scores: building, steady, strong, or not enough data.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" y="466344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6928" y="4663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14400" y="46177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low for the whole batch means probably not taught yet, not weak students.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66928" y="512064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" y="5120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" y="5074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the best students miss is flagged as a likely wrong answer key.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62356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562356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514600" y="5623560"/>
            <a:ext cx="11978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514600" y="5623560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21208" y="5943600"/>
            <a:ext cx="467258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" y="5943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view: topic-level, per student, per batch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394960" y="1115568"/>
            <a:ext cx="31546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394960" y="1115568"/>
            <a:ext cx="315468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504688" y="1115568"/>
            <a:ext cx="29352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04688" y="1481328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577840" y="14813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Answers and versioned keys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504688" y="1755648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577840" y="178308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counts as wrong. Dropped and multi-correct items follow NTA rules; fixing a key re-scores everything.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5504688" y="2651760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26517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Question difficulty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504688" y="2926080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2953512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IRT with a guessing prior; Rasch for small samples. Negative discrimination flags a bad key.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5504688" y="3822192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38221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Mastery per topic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5504688" y="4096512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412394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Shrunk toward the student's overall level and the batch; recent tests count more.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5504688" y="4992624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499262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Bands with honesty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504688" y="5266944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5294376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appears only when the standard error is small; otherwise: not enough data.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8686800" y="1115568"/>
            <a:ext cx="309341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686800" y="1115568"/>
            <a:ext cx="309341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796528" y="1115568"/>
            <a:ext cx="28739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REAL DATA</a:t>
            </a:r>
            <a:endParaRPr lang="en-US" sz="1200" dirty="0"/>
          </a:p>
        </p:txBody>
      </p:sp>
      <p:pic>
        <p:nvPicPr>
          <p:cNvPr id="62" name="Image 1" descr="Knowledge tracing AUC: ours vs publish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481328"/>
            <a:ext cx="2910535" cy="1804532"/>
          </a:xfrm>
          <a:prstGeom prst="rect">
            <a:avLst/>
          </a:prstGeom>
        </p:spPr>
      </p:pic>
      <p:sp>
        <p:nvSpPr>
          <p:cNvPr id="63" name="Shape 59"/>
          <p:cNvSpPr/>
          <p:nvPr/>
        </p:nvSpPr>
        <p:spPr>
          <a:xfrm>
            <a:off x="8796528" y="342900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8796528" y="342900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65" name="Text 61"/>
          <p:cNvSpPr txBox="1"/>
          <p:nvPr/>
        </p:nvSpPr>
        <p:spPr>
          <a:xfrm>
            <a:off x="8796528" y="3675888"/>
            <a:ext cx="2873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held-out students, 55,755 predictions, 5-fold, pyKT split. Our 95% interval: 0.756 to 0.779. AKT is higher than ours.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8796528" y="4315968"/>
            <a:ext cx="2873959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8869680" y="43159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 RESULTS</a:t>
            </a:r>
            <a:endParaRPr lang="en-US" sz="1050" dirty="0"/>
          </a:p>
        </p:txBody>
      </p:sp>
      <p:sp>
        <p:nvSpPr>
          <p:cNvPr id="68" name="Shape 64"/>
          <p:cNvSpPr/>
          <p:nvPr/>
        </p:nvSpPr>
        <p:spPr>
          <a:xfrm>
            <a:off x="8796528" y="4572000"/>
            <a:ext cx="2873959" cy="34747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8869680" y="457200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 vs students</a:t>
            </a:r>
            <a:endParaRPr lang="en-US" sz="1050" dirty="0"/>
          </a:p>
        </p:txBody>
      </p:sp>
      <p:sp>
        <p:nvSpPr>
          <p:cNvPr id="70" name="Shape 66"/>
          <p:cNvSpPr/>
          <p:nvPr/>
        </p:nvSpPr>
        <p:spPr>
          <a:xfrm>
            <a:off x="10820095" y="464515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10820095" y="464515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72" name="Shape 68"/>
          <p:cNvSpPr/>
          <p:nvPr/>
        </p:nvSpPr>
        <p:spPr>
          <a:xfrm>
            <a:off x="8796528" y="4937760"/>
            <a:ext cx="2873959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8869680" y="493776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Wrong-key detection</a:t>
            </a:r>
            <a:endParaRPr lang="en-US" sz="1050" dirty="0"/>
          </a:p>
        </p:txBody>
      </p:sp>
      <p:sp>
        <p:nvSpPr>
          <p:cNvPr id="74" name="Shape 70"/>
          <p:cNvSpPr/>
          <p:nvPr/>
        </p:nvSpPr>
        <p:spPr>
          <a:xfrm>
            <a:off x="10820095" y="501091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10820095" y="501091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76" name="Shape 72"/>
          <p:cNvSpPr/>
          <p:nvPr/>
        </p:nvSpPr>
        <p:spPr>
          <a:xfrm>
            <a:off x="8796528" y="5303520"/>
            <a:ext cx="2873959" cy="34747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8869680" y="530352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vs raw % correct</a:t>
            </a:r>
            <a:endParaRPr lang="en-US" sz="1050" dirty="0"/>
          </a:p>
        </p:txBody>
      </p:sp>
      <p:sp>
        <p:nvSpPr>
          <p:cNvPr id="78" name="Shape 74"/>
          <p:cNvSpPr/>
          <p:nvPr/>
        </p:nvSpPr>
        <p:spPr>
          <a:xfrm>
            <a:off x="10820095" y="537667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10820095" y="537667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80" name="Text 76"/>
          <p:cNvSpPr txBox="1"/>
          <p:nvPr/>
        </p:nvSpPr>
        <p:spPr>
          <a:xfrm>
            <a:off x="8796528" y="5715000"/>
            <a:ext cx="2873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curve: difficulty accuracy as more students answer.</a:t>
            </a:r>
            <a:endParaRPr lang="en-US" sz="1000" dirty="0"/>
          </a:p>
        </p:txBody>
      </p:sp>
      <p:sp>
        <p:nvSpPr>
          <p:cNvPr id="81" name="Text 77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(ASSISTments 2009, pyKT NeurIPS 2022 reference values); screens are illustrative. Difficulty and mastery results on synthetic data are pending.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week: who to call, why, and what to offer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EARLY WARNING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572000" cy="521208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MENTOR SEES</a:t>
            </a:r>
            <a:endParaRPr lang="en-US" sz="1200" dirty="0"/>
          </a:p>
        </p:txBody>
      </p:sp>
      <p:pic>
        <p:nvPicPr>
          <p:cNvPr id="17" name="Image 0" descr="Support list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389120" cy="2468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3794760" y="196596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423160" y="214884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231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39776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BY AGE AND PURPOSE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4224528"/>
            <a:ext cx="118872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691640" y="4224528"/>
            <a:ext cx="109728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37360" y="4224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788920" y="4224528"/>
            <a:ext cx="105156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83464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840480" y="4224528"/>
            <a:ext cx="105156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88620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02920" y="4480560"/>
            <a:ext cx="1188720" cy="31089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4480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1691640" y="4480560"/>
            <a:ext cx="109728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737360" y="44805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88920" y="4480560"/>
            <a:ext cx="1051560" cy="310896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83464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840480" y="4480560"/>
            <a:ext cx="1051560" cy="310896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88620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4791456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2920" y="4791456"/>
            <a:ext cx="118872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48640" y="47914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1691640" y="4791456"/>
            <a:ext cx="109728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737360" y="4791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2788920" y="4791456"/>
            <a:ext cx="105156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83464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840480" y="4791456"/>
            <a:ext cx="105156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388620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502920" y="5102352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02920" y="5102352"/>
            <a:ext cx="1188720" cy="31089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48640" y="51023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Minors, legal opinion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691640" y="5102352"/>
            <a:ext cx="109728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737360" y="51023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2788920" y="5102352"/>
            <a:ext cx="105156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83464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840480" y="5102352"/>
            <a:ext cx="1051560" cy="310896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388620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502920" y="5413248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02920" y="5468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for minors: app activity tracking. Flags persist until resolved; list capped at mentor capacity.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502920" y="585216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02920" y="585216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6053328"/>
            <a:ext cx="438912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40080" y="6053328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mentor and owner only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20640" y="1115568"/>
            <a:ext cx="3657600" cy="52120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64" name="Text 61"/>
          <p:cNvSpPr txBox="1"/>
          <p:nvPr/>
        </p:nvSpPr>
        <p:spPr>
          <a:xfrm>
            <a:off x="5212080" y="1161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CHECK ON OULAD (WITHDRAWAL)</a:t>
            </a:r>
            <a:endParaRPr lang="en-US" sz="1200" dirty="0"/>
          </a:p>
        </p:txBody>
      </p:sp>
      <p:pic>
        <p:nvPicPr>
          <p:cNvPr id="65" name="Image 1" descr="OULAD AUC by observation 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3040"/>
            <a:ext cx="3474720" cy="2414930"/>
          </a:xfrm>
          <a:prstGeom prst="rect">
            <a:avLst/>
          </a:prstGeom>
        </p:spPr>
      </p:pic>
      <p:sp>
        <p:nvSpPr>
          <p:cNvPr id="66" name="Shape 62"/>
          <p:cNvSpPr/>
          <p:nvPr/>
        </p:nvSpPr>
        <p:spPr>
          <a:xfrm>
            <a:off x="5230368" y="4041648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5230368" y="4041648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68" name="Shape 64"/>
          <p:cNvSpPr/>
          <p:nvPr/>
        </p:nvSpPr>
        <p:spPr>
          <a:xfrm>
            <a:off x="5212080" y="4297680"/>
            <a:ext cx="182880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257800" y="429768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28, 5-fold by student</a:t>
            </a:r>
            <a:endParaRPr lang="en-US" sz="950" dirty="0"/>
          </a:p>
        </p:txBody>
      </p:sp>
      <p:sp>
        <p:nvSpPr>
          <p:cNvPr id="70" name="Shape 66"/>
          <p:cNvSpPr/>
          <p:nvPr/>
        </p:nvSpPr>
        <p:spPr>
          <a:xfrm>
            <a:off x="7040880" y="4297680"/>
            <a:ext cx="82296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7086600" y="429768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950" dirty="0"/>
          </a:p>
        </p:txBody>
      </p:sp>
      <p:sp>
        <p:nvSpPr>
          <p:cNvPr id="72" name="Shape 68"/>
          <p:cNvSpPr/>
          <p:nvPr/>
        </p:nvSpPr>
        <p:spPr>
          <a:xfrm>
            <a:off x="7863840" y="4297680"/>
            <a:ext cx="73152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909560" y="429768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P@10 %</a:t>
            </a:r>
            <a:endParaRPr lang="en-US" sz="950" dirty="0"/>
          </a:p>
        </p:txBody>
      </p:sp>
      <p:sp>
        <p:nvSpPr>
          <p:cNvPr id="74" name="Shape 70"/>
          <p:cNvSpPr/>
          <p:nvPr/>
        </p:nvSpPr>
        <p:spPr>
          <a:xfrm>
            <a:off x="5212080" y="4544568"/>
            <a:ext cx="182880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5257800" y="454456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+ clicks</a:t>
            </a:r>
            <a:endParaRPr lang="en-US" sz="950" dirty="0"/>
          </a:p>
        </p:txBody>
      </p:sp>
      <p:sp>
        <p:nvSpPr>
          <p:cNvPr id="76" name="Shape 72"/>
          <p:cNvSpPr/>
          <p:nvPr/>
        </p:nvSpPr>
        <p:spPr>
          <a:xfrm>
            <a:off x="7040880" y="4544568"/>
            <a:ext cx="82296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086600" y="45445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950" dirty="0"/>
          </a:p>
        </p:txBody>
      </p:sp>
      <p:sp>
        <p:nvSpPr>
          <p:cNvPr id="78" name="Shape 74"/>
          <p:cNvSpPr/>
          <p:nvPr/>
        </p:nvSpPr>
        <p:spPr>
          <a:xfrm>
            <a:off x="7863840" y="4544568"/>
            <a:ext cx="73152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7909560" y="454456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80" name="Shape 76"/>
          <p:cNvSpPr/>
          <p:nvPr/>
        </p:nvSpPr>
        <p:spPr>
          <a:xfrm>
            <a:off x="5212080" y="4791456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212080" y="4791456"/>
            <a:ext cx="182880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2" name="Text 78"/>
          <p:cNvSpPr txBox="1"/>
          <p:nvPr/>
        </p:nvSpPr>
        <p:spPr>
          <a:xfrm>
            <a:off x="5257800" y="479145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only</a:t>
            </a:r>
            <a:endParaRPr lang="en-US" sz="950" dirty="0"/>
          </a:p>
        </p:txBody>
      </p:sp>
      <p:sp>
        <p:nvSpPr>
          <p:cNvPr id="83" name="Shape 79"/>
          <p:cNvSpPr/>
          <p:nvPr/>
        </p:nvSpPr>
        <p:spPr>
          <a:xfrm>
            <a:off x="7040880" y="4791456"/>
            <a:ext cx="82296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7086600" y="479145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</a:t>
            </a:r>
            <a:endParaRPr lang="en-US" sz="950" dirty="0"/>
          </a:p>
        </p:txBody>
      </p:sp>
      <p:sp>
        <p:nvSpPr>
          <p:cNvPr id="85" name="Shape 81"/>
          <p:cNvSpPr/>
          <p:nvPr/>
        </p:nvSpPr>
        <p:spPr>
          <a:xfrm>
            <a:off x="7863840" y="4791456"/>
            <a:ext cx="73152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7909560" y="479145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87" name="Shape 83"/>
          <p:cNvSpPr/>
          <p:nvPr/>
        </p:nvSpPr>
        <p:spPr>
          <a:xfrm>
            <a:off x="5212080" y="5038344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212080" y="5038344"/>
            <a:ext cx="182880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5257800" y="50383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Logistic, academic only</a:t>
            </a:r>
            <a:endParaRPr lang="en-US" sz="950" dirty="0"/>
          </a:p>
        </p:txBody>
      </p:sp>
      <p:sp>
        <p:nvSpPr>
          <p:cNvPr id="90" name="Shape 86"/>
          <p:cNvSpPr/>
          <p:nvPr/>
        </p:nvSpPr>
        <p:spPr>
          <a:xfrm>
            <a:off x="7040880" y="5038344"/>
            <a:ext cx="82296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7"/>
          <p:cNvSpPr txBox="1"/>
          <p:nvPr/>
        </p:nvSpPr>
        <p:spPr>
          <a:xfrm>
            <a:off x="7086600" y="503834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0.680</a:t>
            </a:r>
            <a:endParaRPr lang="en-US" sz="950" dirty="0"/>
          </a:p>
        </p:txBody>
      </p:sp>
      <p:sp>
        <p:nvSpPr>
          <p:cNvPr id="92" name="Shape 88"/>
          <p:cNvSpPr/>
          <p:nvPr/>
        </p:nvSpPr>
        <p:spPr>
          <a:xfrm>
            <a:off x="7863840" y="5038344"/>
            <a:ext cx="73152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7909560" y="503834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50" dirty="0"/>
          </a:p>
        </p:txBody>
      </p:sp>
      <p:sp>
        <p:nvSpPr>
          <p:cNvPr id="94" name="Shape 90"/>
          <p:cNvSpPr/>
          <p:nvPr/>
        </p:nvSpPr>
        <p:spPr>
          <a:xfrm>
            <a:off x="5212080" y="5285232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5212080" y="5285232"/>
            <a:ext cx="18288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96" name="Text 92"/>
          <p:cNvSpPr txBox="1"/>
          <p:nvPr/>
        </p:nvSpPr>
        <p:spPr>
          <a:xfrm>
            <a:off x="5257800" y="52852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no assessment</a:t>
            </a:r>
            <a:endParaRPr lang="en-US" sz="950" dirty="0"/>
          </a:p>
        </p:txBody>
      </p:sp>
      <p:sp>
        <p:nvSpPr>
          <p:cNvPr id="97" name="Shape 93"/>
          <p:cNvSpPr/>
          <p:nvPr/>
        </p:nvSpPr>
        <p:spPr>
          <a:xfrm>
            <a:off x="7040880" y="5285232"/>
            <a:ext cx="82296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98" name="Text 94"/>
          <p:cNvSpPr txBox="1"/>
          <p:nvPr/>
        </p:nvSpPr>
        <p:spPr>
          <a:xfrm>
            <a:off x="7086600" y="528523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0.521</a:t>
            </a:r>
            <a:endParaRPr lang="en-US" sz="950" dirty="0"/>
          </a:p>
        </p:txBody>
      </p:sp>
      <p:sp>
        <p:nvSpPr>
          <p:cNvPr id="99" name="Shape 95"/>
          <p:cNvSpPr/>
          <p:nvPr/>
        </p:nvSpPr>
        <p:spPr>
          <a:xfrm>
            <a:off x="7863840" y="5285232"/>
            <a:ext cx="73152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7909560" y="528523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950" dirty="0"/>
          </a:p>
        </p:txBody>
      </p:sp>
      <p:sp>
        <p:nvSpPr>
          <p:cNvPr id="101" name="Shape 97"/>
          <p:cNvSpPr/>
          <p:nvPr/>
        </p:nvSpPr>
        <p:spPr>
          <a:xfrm>
            <a:off x="5212080" y="5532120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5212080" y="5532120"/>
            <a:ext cx="18288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5257800" y="553212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zero clicks, 7 days</a:t>
            </a:r>
            <a:endParaRPr lang="en-US" sz="950" dirty="0"/>
          </a:p>
        </p:txBody>
      </p:sp>
      <p:sp>
        <p:nvSpPr>
          <p:cNvPr id="104" name="Shape 100"/>
          <p:cNvSpPr/>
          <p:nvPr/>
        </p:nvSpPr>
        <p:spPr>
          <a:xfrm>
            <a:off x="7040880" y="5532120"/>
            <a:ext cx="82296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05" name="Text 101"/>
          <p:cNvSpPr txBox="1"/>
          <p:nvPr/>
        </p:nvSpPr>
        <p:spPr>
          <a:xfrm>
            <a:off x="7086600" y="55321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</a:t>
            </a:r>
            <a:endParaRPr lang="en-US" sz="950" dirty="0"/>
          </a:p>
        </p:txBody>
      </p:sp>
      <p:sp>
        <p:nvSpPr>
          <p:cNvPr id="106" name="Shape 102"/>
          <p:cNvSpPr/>
          <p:nvPr/>
        </p:nvSpPr>
        <p:spPr>
          <a:xfrm>
            <a:off x="7863840" y="5532120"/>
            <a:ext cx="73152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07" name="Text 103"/>
          <p:cNvSpPr txBox="1"/>
          <p:nvPr/>
        </p:nvSpPr>
        <p:spPr>
          <a:xfrm>
            <a:off x="7909560" y="55321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950" dirty="0"/>
          </a:p>
        </p:txBody>
      </p:sp>
      <p:sp>
        <p:nvSpPr>
          <p:cNvPr id="108" name="Shape 104"/>
          <p:cNvSpPr/>
          <p:nvPr/>
        </p:nvSpPr>
        <p:spPr>
          <a:xfrm>
            <a:off x="5212080" y="5779008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9" name="Text 105"/>
          <p:cNvSpPr txBox="1"/>
          <p:nvPr/>
        </p:nvSpPr>
        <p:spPr>
          <a:xfrm>
            <a:off x="5212080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0.009. Held-out course: 0.654.</a:t>
            </a:r>
            <a:endParaRPr lang="en-US" sz="1000" dirty="0"/>
          </a:p>
        </p:txBody>
      </p:sp>
      <p:sp>
        <p:nvSpPr>
          <p:cNvPr id="110" name="Shape 106"/>
          <p:cNvSpPr/>
          <p:nvPr/>
        </p:nvSpPr>
        <p:spPr>
          <a:xfrm>
            <a:off x="8915400" y="1115568"/>
            <a:ext cx="2864815" cy="52120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11" name="Text 107"/>
          <p:cNvSpPr txBox="1"/>
          <p:nvPr/>
        </p:nvSpPr>
        <p:spPr>
          <a:xfrm>
            <a:off x="9006840" y="1161288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FLAG IS MADE</a:t>
            </a:r>
            <a:endParaRPr lang="en-US" sz="1200" dirty="0"/>
          </a:p>
        </p:txBody>
      </p:sp>
      <p:sp>
        <p:nvSpPr>
          <p:cNvPr id="112" name="Shape 108"/>
          <p:cNvSpPr/>
          <p:nvPr/>
        </p:nvSpPr>
        <p:spPr>
          <a:xfrm>
            <a:off x="9025128" y="1481328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113" name="Image 2" descr="FaClo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548" y="1553748"/>
            <a:ext cx="184343" cy="184343"/>
          </a:xfrm>
          <a:prstGeom prst="rect">
            <a:avLst/>
          </a:prstGeom>
        </p:spPr>
      </p:pic>
      <p:sp>
        <p:nvSpPr>
          <p:cNvPr id="114" name="Text 109"/>
          <p:cNvSpPr txBox="1"/>
          <p:nvPr/>
        </p:nvSpPr>
        <p:spPr>
          <a:xfrm>
            <a:off x="9427464" y="14813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as of the date, never the future</a:t>
            </a:r>
            <a:endParaRPr lang="en-US" sz="1050" dirty="0"/>
          </a:p>
        </p:txBody>
      </p:sp>
      <p:sp>
        <p:nvSpPr>
          <p:cNvPr id="115" name="Shape 110"/>
          <p:cNvSpPr/>
          <p:nvPr/>
        </p:nvSpPr>
        <p:spPr>
          <a:xfrm>
            <a:off x="9025128" y="1938528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16" name="Image 3" descr="FaScaleBalance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7548" y="2010948"/>
            <a:ext cx="184343" cy="184343"/>
          </a:xfrm>
          <a:prstGeom prst="rect">
            <a:avLst/>
          </a:prstGeom>
        </p:spPr>
      </p:pic>
      <p:sp>
        <p:nvSpPr>
          <p:cNvPr id="117" name="Text 111"/>
          <p:cNvSpPr txBox="1"/>
          <p:nvPr/>
        </p:nvSpPr>
        <p:spPr>
          <a:xfrm>
            <a:off x="9427464" y="19385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age and purpose</a:t>
            </a:r>
            <a:endParaRPr lang="en-US" sz="1050" dirty="0"/>
          </a:p>
        </p:txBody>
      </p:sp>
      <p:sp>
        <p:nvSpPr>
          <p:cNvPr id="118" name="Shape 112"/>
          <p:cNvSpPr/>
          <p:nvPr/>
        </p:nvSpPr>
        <p:spPr>
          <a:xfrm>
            <a:off x="9025128" y="2395728"/>
            <a:ext cx="329184" cy="32918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119" name="Image 4" descr="FaChartLi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7548" y="2468148"/>
            <a:ext cx="184343" cy="184343"/>
          </a:xfrm>
          <a:prstGeom prst="rect">
            <a:avLst/>
          </a:prstGeom>
        </p:spPr>
      </p:pic>
      <p:sp>
        <p:nvSpPr>
          <p:cNvPr id="120" name="Text 113"/>
          <p:cNvSpPr txBox="1"/>
          <p:nvPr/>
        </p:nvSpPr>
        <p:spPr>
          <a:xfrm>
            <a:off x="9427464" y="23957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or apply a plain rule</a:t>
            </a:r>
            <a:endParaRPr lang="en-US" sz="1050" dirty="0"/>
          </a:p>
        </p:txBody>
      </p:sp>
      <p:sp>
        <p:nvSpPr>
          <p:cNvPr id="121" name="Shape 114"/>
          <p:cNvSpPr/>
          <p:nvPr/>
        </p:nvSpPr>
        <p:spPr>
          <a:xfrm>
            <a:off x="9025128" y="2852928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22" name="Image 5" descr="FaClipboard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548" y="2925348"/>
            <a:ext cx="184343" cy="184343"/>
          </a:xfrm>
          <a:prstGeom prst="rect">
            <a:avLst/>
          </a:prstGeom>
        </p:spPr>
      </p:pic>
      <p:sp>
        <p:nvSpPr>
          <p:cNvPr id="123" name="Text 115"/>
          <p:cNvSpPr txBox="1"/>
          <p:nvPr/>
        </p:nvSpPr>
        <p:spPr>
          <a:xfrm>
            <a:off x="9427464" y="28529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reasons and a supportive action</a:t>
            </a:r>
            <a:endParaRPr lang="en-US" sz="1050" dirty="0"/>
          </a:p>
        </p:txBody>
      </p:sp>
      <p:sp>
        <p:nvSpPr>
          <p:cNvPr id="124" name="Shape 116"/>
          <p:cNvSpPr/>
          <p:nvPr/>
        </p:nvSpPr>
        <p:spPr>
          <a:xfrm>
            <a:off x="9025128" y="3310128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125" name="Image 6" descr="FaHandshak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7548" y="3382548"/>
            <a:ext cx="184343" cy="184343"/>
          </a:xfrm>
          <a:prstGeom prst="rect">
            <a:avLst/>
          </a:prstGeom>
        </p:spPr>
      </p:pic>
      <p:sp>
        <p:nvSpPr>
          <p:cNvPr id="126" name="Text 117"/>
          <p:cNvSpPr txBox="1"/>
          <p:nvPr/>
        </p:nvSpPr>
        <p:spPr>
          <a:xfrm>
            <a:off x="9427464" y="33101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decides; outcome is logged</a:t>
            </a:r>
            <a:endParaRPr lang="en-US" sz="1050" dirty="0"/>
          </a:p>
        </p:txBody>
      </p:sp>
      <p:pic>
        <p:nvPicPr>
          <p:cNvPr id="127" name="Image 7" descr="Calibration curve, OULAD day 2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0" y="3858768"/>
            <a:ext cx="2011680" cy="1892808"/>
          </a:xfrm>
          <a:prstGeom prst="rect">
            <a:avLst/>
          </a:prstGeom>
        </p:spPr>
      </p:pic>
      <p:sp>
        <p:nvSpPr>
          <p:cNvPr id="128" name="Text 118"/>
          <p:cNvSpPr txBox="1"/>
          <p:nvPr/>
        </p:nvSpPr>
        <p:spPr>
          <a:xfrm>
            <a:off x="9025128" y="5833872"/>
            <a:ext cx="1676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on synthetic institutes: pending.</a:t>
            </a:r>
            <a:endParaRPr lang="en-US" sz="900" dirty="0"/>
          </a:p>
        </p:txBody>
      </p:sp>
      <p:sp>
        <p:nvSpPr>
          <p:cNvPr id="129" name="Shape 119"/>
          <p:cNvSpPr/>
          <p:nvPr/>
        </p:nvSpPr>
        <p:spPr>
          <a:xfrm>
            <a:off x="10820095" y="5897880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130" name="Text 120"/>
          <p:cNvSpPr txBox="1"/>
          <p:nvPr/>
        </p:nvSpPr>
        <p:spPr>
          <a:xfrm>
            <a:off x="10820095" y="5897880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131" name="Text 121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(OULAD, CC BY 4.0); routing policy: contracts/routing_policy.yaml. About a quarter of dropouts are sudden and cannot be predicted from academic data.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 AND PARENT REPORTS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range, and a parent report where every number is checked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GENAI WITH GUARDRAILS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8404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384048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3621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" y="1481328"/>
            <a:ext cx="362102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7008" y="326440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4088" y="31546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207008" y="283768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04088" y="272796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207008" y="241096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230124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207008" y="198424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4088" y="187452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" y="157276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percentile range, one student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58579" y="2112264"/>
            <a:ext cx="238183" cy="8961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20700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99904" y="2176272"/>
            <a:ext cx="238183" cy="704088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748333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41229" y="2240280"/>
            <a:ext cx="238183" cy="533400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28965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982553" y="2304288"/>
            <a:ext cx="238183" cy="3627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830982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523878" y="2346960"/>
            <a:ext cx="238183" cy="234696"/>
          </a:xfrm>
          <a:prstGeom prst="roundRect">
            <a:avLst>
              <a:gd name="adj" fmla="val 19481"/>
            </a:avLst>
          </a:prstGeom>
          <a:solidFill>
            <a:srgbClr val="2E6DB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372307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4088" y="364845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narrows as more tests come in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21208" y="4069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model plus conformal band, 80 % target (77 to 83 % accepted).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21208" y="446227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NTA percentile through an editable table: 2026 average curve, with 2024 easy and tough shifts as the uncertainty envelope.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21208" y="512064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a range with a disclaimer, never a single number or a rank promise.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21208" y="56692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1208" y="56692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14600" y="5669280"/>
            <a:ext cx="717804" cy="21945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514600" y="5669280"/>
            <a:ext cx="717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208" y="5943600"/>
            <a:ext cx="3621024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5943600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results pending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389120" y="1115568"/>
            <a:ext cx="457200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89120" y="1115568"/>
            <a:ext cx="457200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498848" y="1115568"/>
            <a:ext cx="43525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REPORT: HINDI AND ENGLISH</a:t>
            </a:r>
            <a:endParaRPr lang="en-US" sz="1200" dirty="0"/>
          </a:p>
        </p:txBody>
      </p:sp>
      <p:pic>
        <p:nvPicPr>
          <p:cNvPr id="51" name="Image 0" descr="Parent report in Hindi and English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63040"/>
            <a:ext cx="4389120" cy="2633472"/>
          </a:xfrm>
          <a:prstGeom prst="rect">
            <a:avLst/>
          </a:prstGeom>
        </p:spPr>
      </p:pic>
      <p:sp>
        <p:nvSpPr>
          <p:cNvPr id="52" name="Shape 49"/>
          <p:cNvSpPr/>
          <p:nvPr/>
        </p:nvSpPr>
        <p:spPr>
          <a:xfrm>
            <a:off x="7132320" y="160020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1323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709160" y="393192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091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452628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Every number and topic comes from the data, never from the AI.</a:t>
            </a:r>
            <a:endParaRPr lang="en-US" sz="1050" dirty="0"/>
          </a:p>
        </p:txBody>
      </p:sp>
      <p:sp>
        <p:nvSpPr>
          <p:cNvPr id="57" name="Text 54"/>
          <p:cNvSpPr txBox="1"/>
          <p:nvPr/>
        </p:nvSpPr>
        <p:spPr>
          <a:xfrm>
            <a:off x="4526280" y="4617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Checked before sending: if any check fails, a template is sent instead.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4526280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4526280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needed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5675376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675376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templates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6824472" y="5029200"/>
            <a:ext cx="1355344" cy="256032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6824472" y="5029200"/>
            <a:ext cx="135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added last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4526280" y="56692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526280" y="56692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6492240" y="56418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produced by our report module (template path) for a synthetic student.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4480560" y="5989320"/>
            <a:ext cx="4389120" cy="24688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4617720" y="598932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still needs a native reviewer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9098280" y="1115568"/>
            <a:ext cx="268193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098280" y="1115568"/>
            <a:ext cx="268193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9208008" y="1115568"/>
            <a:ext cx="246247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CHECKING PIPELINE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9208008" y="1481328"/>
            <a:ext cx="365760" cy="36576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73" name="Image 1" descr="FaDatabas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8475" y="1561795"/>
            <a:ext cx="204826" cy="204826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9665208" y="1481328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from data</a:t>
            </a:r>
            <a:endParaRPr lang="en-US" sz="1150" dirty="0"/>
          </a:p>
        </p:txBody>
      </p:sp>
      <p:sp>
        <p:nvSpPr>
          <p:cNvPr id="75" name="Text 71"/>
          <p:cNvSpPr txBox="1"/>
          <p:nvPr/>
        </p:nvSpPr>
        <p:spPr>
          <a:xfrm>
            <a:off x="9665208" y="1847088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tests, topics, trend, two tips.</a:t>
            </a:r>
            <a:endParaRPr lang="en-US" sz="1000" dirty="0"/>
          </a:p>
        </p:txBody>
      </p:sp>
      <p:sp>
        <p:nvSpPr>
          <p:cNvPr id="76" name="Shape 72"/>
          <p:cNvSpPr/>
          <p:nvPr/>
        </p:nvSpPr>
        <p:spPr>
          <a:xfrm>
            <a:off x="9208008" y="2505456"/>
            <a:ext cx="365760" cy="36576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77" name="Image 2" descr="FaRo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8475" y="2585923"/>
            <a:ext cx="204826" cy="204826"/>
          </a:xfrm>
          <a:prstGeom prst="rect">
            <a:avLst/>
          </a:prstGeom>
        </p:spPr>
      </p:pic>
      <p:sp>
        <p:nvSpPr>
          <p:cNvPr id="78" name="Text 73"/>
          <p:cNvSpPr txBox="1"/>
          <p:nvPr/>
        </p:nvSpPr>
        <p:spPr>
          <a:xfrm>
            <a:off x="9665208" y="2505456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local AI</a:t>
            </a:r>
            <a:endParaRPr lang="en-US" sz="1150" dirty="0"/>
          </a:p>
        </p:txBody>
      </p:sp>
      <p:sp>
        <p:nvSpPr>
          <p:cNvPr id="79" name="Text 74"/>
          <p:cNvSpPr txBox="1"/>
          <p:nvPr/>
        </p:nvSpPr>
        <p:spPr>
          <a:xfrm>
            <a:off x="9665208" y="2871216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rewords; runs on the laptop.</a:t>
            </a:r>
            <a:endParaRPr lang="en-US" sz="1000" dirty="0"/>
          </a:p>
        </p:txBody>
      </p:sp>
      <p:sp>
        <p:nvSpPr>
          <p:cNvPr id="80" name="Shape 75"/>
          <p:cNvSpPr/>
          <p:nvPr/>
        </p:nvSpPr>
        <p:spPr>
          <a:xfrm>
            <a:off x="9208008" y="3529584"/>
            <a:ext cx="365760" cy="36576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81" name="Image 3" descr="FaList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8475" y="3610051"/>
            <a:ext cx="204826" cy="204826"/>
          </a:xfrm>
          <a:prstGeom prst="rect">
            <a:avLst/>
          </a:prstGeom>
        </p:spPr>
      </p:pic>
      <p:sp>
        <p:nvSpPr>
          <p:cNvPr id="82" name="Text 76"/>
          <p:cNvSpPr txBox="1"/>
          <p:nvPr/>
        </p:nvSpPr>
        <p:spPr>
          <a:xfrm>
            <a:off x="9665208" y="3529584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checks</a:t>
            </a:r>
            <a:endParaRPr lang="en-US" sz="1150" dirty="0"/>
          </a:p>
        </p:txBody>
      </p:sp>
      <p:sp>
        <p:nvSpPr>
          <p:cNvPr id="83" name="Text 77"/>
          <p:cNvSpPr txBox="1"/>
          <p:nvPr/>
        </p:nvSpPr>
        <p:spPr>
          <a:xfrm>
            <a:off x="9665208" y="3895344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topics, names, banned words, length, trend, tips, schema.</a:t>
            </a:r>
            <a:endParaRPr lang="en-US" sz="1000" dirty="0"/>
          </a:p>
        </p:txBody>
      </p:sp>
      <p:sp>
        <p:nvSpPr>
          <p:cNvPr id="84" name="Shape 78"/>
          <p:cNvSpPr/>
          <p:nvPr/>
        </p:nvSpPr>
        <p:spPr>
          <a:xfrm>
            <a:off x="9208008" y="4553712"/>
            <a:ext cx="365760" cy="365760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85" name="Image 4" descr="FaFilePdf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8475" y="4634179"/>
            <a:ext cx="204826" cy="204826"/>
          </a:xfrm>
          <a:prstGeom prst="rect">
            <a:avLst/>
          </a:prstGeom>
        </p:spPr>
      </p:pic>
      <p:sp>
        <p:nvSpPr>
          <p:cNvPr id="86" name="Text 79"/>
          <p:cNvSpPr txBox="1"/>
          <p:nvPr/>
        </p:nvSpPr>
        <p:spPr>
          <a:xfrm>
            <a:off x="9665208" y="4553712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</a:t>
            </a:r>
            <a:endParaRPr lang="en-US" sz="1150" dirty="0"/>
          </a:p>
        </p:txBody>
      </p:sp>
      <p:sp>
        <p:nvSpPr>
          <p:cNvPr id="87" name="Text 80"/>
          <p:cNvSpPr txBox="1"/>
          <p:nvPr/>
        </p:nvSpPr>
        <p:spPr>
          <a:xfrm>
            <a:off x="9665208" y="4919472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human-written text if anything fails.</a:t>
            </a:r>
            <a:endParaRPr lang="en-US" sz="1000" dirty="0"/>
          </a:p>
        </p:txBody>
      </p:sp>
      <p:sp>
        <p:nvSpPr>
          <p:cNvPr id="88" name="Shape 81"/>
          <p:cNvSpPr/>
          <p:nvPr/>
        </p:nvSpPr>
        <p:spPr>
          <a:xfrm>
            <a:off x="9208008" y="5623560"/>
            <a:ext cx="580644" cy="219456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89" name="Text 82"/>
          <p:cNvSpPr txBox="1"/>
          <p:nvPr/>
        </p:nvSpPr>
        <p:spPr>
          <a:xfrm>
            <a:off x="9208008" y="5623560"/>
            <a:ext cx="5806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90" name="Text 83"/>
          <p:cNvSpPr txBox="1"/>
          <p:nvPr/>
        </p:nvSpPr>
        <p:spPr>
          <a:xfrm>
            <a:off x="9875520" y="5596128"/>
            <a:ext cx="1767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automated tests</a:t>
            </a:r>
            <a:endParaRPr lang="en-US" sz="1000" dirty="0"/>
          </a:p>
        </p:txBody>
      </p:sp>
      <p:sp>
        <p:nvSpPr>
          <p:cNvPr id="91" name="Text 84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backend/app/genai (report module), contracts/report_numbers.schema.json. An independent attack on the checker found gaps; fixes are in progress, so no catch rate is claimed here.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COMPLIANCE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law: consent first, supportive actions only, no rankings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160520" cy="452628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481328"/>
            <a:ext cx="96012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14813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63040" y="1481328"/>
            <a:ext cx="82296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508760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0" y="1481328"/>
            <a:ext cx="77724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31720" y="14813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63240" y="1481328"/>
            <a:ext cx="73152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108960" y="14813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94760" y="1481328"/>
            <a:ext cx="68580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840480" y="14813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activity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1938528"/>
            <a:ext cx="9601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19385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3040" y="1938528"/>
            <a:ext cx="82296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508760" y="19385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1938528"/>
            <a:ext cx="777240" cy="45720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31720" y="19385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063240" y="1938528"/>
            <a:ext cx="731520" cy="45720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08960" y="19385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794760" y="19385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23957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2395728"/>
            <a:ext cx="9601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2395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63040" y="2395728"/>
            <a:ext cx="82296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508760" y="2395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86000" y="2395728"/>
            <a:ext cx="77724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33172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063240" y="2395728"/>
            <a:ext cx="73152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794760" y="2395728"/>
            <a:ext cx="685800" cy="45720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840480" y="23957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02920" y="28529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2852928"/>
            <a:ext cx="9601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8529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18, legal opinion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463040" y="2852928"/>
            <a:ext cx="82296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508760" y="2852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86000" y="2852928"/>
            <a:ext cx="77724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31720" y="28529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63240" y="2852928"/>
            <a:ext cx="731520" cy="45720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08960" y="2852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794760" y="28529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840480" y="28529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02920" y="33101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1208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children, even with consent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521208" y="40050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exemption is narrow and purpose-limited, so we do not rely on it for consent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521208" y="453542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cl. 10.2(xi):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results and counsel students whose performance is deteriorating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521208" y="50657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as the processor: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institute stays the data fiduciary; no pooling of children's raw data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21208" y="5486400"/>
            <a:ext cx="20894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21208" y="5486400"/>
            <a:ext cx="20894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IN CODE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09160" y="1115568"/>
            <a:ext cx="3246120" cy="4526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4800600" y="11612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</a:t>
            </a:r>
            <a:endParaRPr lang="en-US" sz="1200" dirty="0"/>
          </a:p>
        </p:txBody>
      </p:sp>
      <p:pic>
        <p:nvPicPr>
          <p:cNvPr id="68" name="Image 0" descr="Consent notice with purpose switches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81328"/>
            <a:ext cx="2971800" cy="2971800"/>
          </a:xfrm>
          <a:prstGeom prst="rect">
            <a:avLst/>
          </a:prstGeom>
        </p:spPr>
      </p:pic>
      <p:sp>
        <p:nvSpPr>
          <p:cNvPr id="69" name="Shape 66"/>
          <p:cNvSpPr/>
          <p:nvPr/>
        </p:nvSpPr>
        <p:spPr>
          <a:xfrm>
            <a:off x="4800600" y="182880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8006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4800600" y="292608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480060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4800600" y="384048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8006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846320" y="44988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Itemised data  2 One switch per purpose  3 Withdraw in one tap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4846320" y="4919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checked at the admission desk (Rule 10); consent recorded per purpose and notice version.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4846320" y="534924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4846320" y="5349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92440" y="1115568"/>
            <a:ext cx="3687775" cy="4526280"/>
          </a:xfrm>
          <a:prstGeom prst="roundRect">
            <a:avLst>
              <a:gd name="adj" fmla="val 1488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80" name="Text 77"/>
          <p:cNvSpPr txBox="1"/>
          <p:nvPr/>
        </p:nvSpPr>
        <p:spPr>
          <a:xfrm>
            <a:off x="8183880" y="1161288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PRIVACY, ON REAL DATA</a:t>
            </a:r>
            <a:endParaRPr lang="en-US" sz="1200" dirty="0"/>
          </a:p>
        </p:txBody>
      </p:sp>
      <p:pic>
        <p:nvPicPr>
          <p:cNvPr id="81" name="Image 1" descr="Academic-only vs academic plus click behaviour, OUL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1463040"/>
            <a:ext cx="3468319" cy="2635923"/>
          </a:xfrm>
          <a:prstGeom prst="rect">
            <a:avLst/>
          </a:prstGeom>
        </p:spPr>
      </p:pic>
      <p:sp>
        <p:nvSpPr>
          <p:cNvPr id="82" name="Shape 78"/>
          <p:cNvSpPr/>
          <p:nvPr/>
        </p:nvSpPr>
        <p:spPr>
          <a:xfrm>
            <a:off x="8202168" y="425196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8202168" y="425196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pic>
        <p:nvPicPr>
          <p:cNvPr id="84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4572000"/>
            <a:ext cx="182880" cy="182880"/>
          </a:xfrm>
          <a:prstGeom prst="rect">
            <a:avLst/>
          </a:prstGeom>
        </p:spPr>
      </p:pic>
      <p:sp>
        <p:nvSpPr>
          <p:cNvPr id="85" name="Text 80"/>
          <p:cNvSpPr txBox="1"/>
          <p:nvPr/>
        </p:nvSpPr>
        <p:spPr>
          <a:xfrm>
            <a:off x="8503920" y="4526280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leaderboards, no public ranks</a:t>
            </a:r>
            <a:endParaRPr lang="en-US" sz="1000" dirty="0"/>
          </a:p>
        </p:txBody>
      </p:sp>
      <p:pic>
        <p:nvPicPr>
          <p:cNvPr id="86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4828032"/>
            <a:ext cx="182880" cy="182880"/>
          </a:xfrm>
          <a:prstGeom prst="rect">
            <a:avLst/>
          </a:prstGeom>
        </p:spPr>
      </p:pic>
      <p:sp>
        <p:nvSpPr>
          <p:cNvPr id="87" name="Text 81"/>
          <p:cNvSpPr txBox="1"/>
          <p:nvPr/>
        </p:nvSpPr>
        <p:spPr>
          <a:xfrm>
            <a:off x="8503920" y="4782312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</a:t>
            </a:r>
            <a:endParaRPr lang="en-US" sz="1000" dirty="0"/>
          </a:p>
        </p:txBody>
      </p:sp>
      <p:pic>
        <p:nvPicPr>
          <p:cNvPr id="88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5084064"/>
            <a:ext cx="182880" cy="182880"/>
          </a:xfrm>
          <a:prstGeom prst="rect">
            <a:avLst/>
          </a:prstGeom>
        </p:spPr>
      </p:pic>
      <p:sp>
        <p:nvSpPr>
          <p:cNvPr id="89" name="Text 82"/>
          <p:cNvSpPr txBox="1"/>
          <p:nvPr/>
        </p:nvSpPr>
        <p:spPr>
          <a:xfrm>
            <a:off x="8503920" y="503834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Banned-words check on every message</a:t>
            </a:r>
            <a:endParaRPr lang="en-US" sz="1000" dirty="0"/>
          </a:p>
        </p:txBody>
      </p:sp>
      <p:pic>
        <p:nvPicPr>
          <p:cNvPr id="90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5340096"/>
            <a:ext cx="182880" cy="182880"/>
          </a:xfrm>
          <a:prstGeom prst="rect">
            <a:avLst/>
          </a:prstGeom>
        </p:spPr>
      </p:pic>
      <p:sp>
        <p:nvSpPr>
          <p:cNvPr id="91" name="Text 83"/>
          <p:cNvSpPr txBox="1"/>
          <p:nvPr/>
        </p:nvSpPr>
        <p:spPr>
          <a:xfrm>
            <a:off x="8503920" y="5294376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contact for every institute</a:t>
            </a:r>
            <a:endParaRPr lang="en-US" sz="1000" dirty="0"/>
          </a:p>
        </p:txBody>
      </p:sp>
      <p:sp>
        <p:nvSpPr>
          <p:cNvPr id="92" name="Shape 84"/>
          <p:cNvSpPr/>
          <p:nvPr/>
        </p:nvSpPr>
        <p:spPr>
          <a:xfrm>
            <a:off x="411480" y="5760720"/>
            <a:ext cx="11368735" cy="54864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93" name="Text 85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Coaching Centre Guidelines 2024, cl. 10.2(xi): </a:t>
            </a:r>
            <a:pPr algn="l" indent="0" marL="0">
              <a:buNone/>
            </a:pPr>
            <a:r>
              <a:rPr lang="en-US" sz="115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should be used for regular analysis and counselling of students whose performance is deteriorating. </a:t>
            </a:r>
            <a:pPr algn="l" indent="0" marL="0">
              <a:buNone/>
            </a:pPr>
            <a:r>
              <a:rPr lang="en-US" sz="11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whole flow is built on that sentence.</a:t>
            </a:r>
            <a:endParaRPr lang="en-US" sz="1150" dirty="0"/>
          </a:p>
        </p:txBody>
      </p:sp>
      <p:sp>
        <p:nvSpPr>
          <p:cNvPr id="94" name="Text 86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 s.9, DPDP Rules 2025, MoE Guidelines 2024; contracts/routing_policy.yaml; OULAD results in ml/public_validation. Not legal advice.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makes us different: eight differentia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THE INSTITUTE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pays for itself if it saves three or four students a year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6118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361188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 (MID, BASE)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" y="1463040"/>
            <a:ext cx="13716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856232" y="1463040"/>
            <a:ext cx="6858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901952" y="14630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542032" y="1463040"/>
            <a:ext cx="9144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87752" y="1463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56432" y="1463040"/>
            <a:ext cx="4572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02152" y="14630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4632" y="1737360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30352" y="173736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56232" y="1737360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01952" y="173736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42032" y="1737360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87752" y="17373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to 1,200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56432" y="1737360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173736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" y="203911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" y="203911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0352" y="203911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56232" y="203911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901952" y="203911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42032" y="203911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752" y="203911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70k to 120k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456432" y="203911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02152" y="203911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4632" y="234086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4632" y="2340864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234086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Mid-session dropout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856232" y="2340864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01952" y="234086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542032" y="2340864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587752" y="234086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 18 %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456432" y="2340864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234086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84632" y="264261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4632" y="2642616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0352" y="264261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effect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1856232" y="2642616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901952" y="264261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542032" y="2642616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587752" y="264261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30 %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56432" y="2642616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502152" y="264261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84632" y="2944368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4632" y="2944368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30352" y="294436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preventable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856232" y="2944368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901952" y="294436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2542032" y="2944368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87752" y="294436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60 %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3456432" y="2944368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294436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84632" y="3246120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84632" y="3246120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30352" y="324612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under 18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1856232" y="3246120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901952" y="324612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2542032" y="3246120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2587752" y="32461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to 70 %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3456432" y="3246120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502152" y="324612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84632" y="354787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4632" y="3547872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30352" y="354787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18+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1856232" y="3547872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901952" y="354787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2542032" y="3547872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2587752" y="354787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to 80 %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456432" y="3547872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354787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84632" y="384962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84632" y="3849624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530352" y="384962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precision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1856232" y="3849624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901952" y="384962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2542032" y="3849624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2587752" y="384962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to 50 %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3456432" y="3849624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502152" y="384962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484632" y="415137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84632" y="4151376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30352" y="415137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acted on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1856232" y="4151376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901952" y="415137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2542032" y="4151376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587752" y="415137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to 100 %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456432" y="4151376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415137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484632" y="4453128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84632" y="4453128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530352" y="445312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uplift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856232" y="4453128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901952" y="445312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2542032" y="4453128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2587752" y="445312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3 %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3456432" y="4453128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3502152" y="445312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484632" y="4754880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84632" y="4754880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530352" y="475488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hours saved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1856232" y="4754880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901952" y="475488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 month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2542032" y="4754880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2587752" y="475488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 50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3456432" y="4754880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3502152" y="475488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484632" y="505663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84632" y="505663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530352" y="505663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1856232" y="505663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1901952" y="505663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2542032" y="505663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2587752" y="505663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to 40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3456432" y="505663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3502152" y="505663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484632" y="535838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84632" y="5358384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530352" y="535838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reclaimed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1856232" y="5358384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901952" y="535838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2542032" y="5358384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2587752" y="535838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90 %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3456432" y="5358384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502152" y="535838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484632" y="566013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02920" y="5742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Conf.: H high, M medium, L low. Low means an assumption to test in owner interviews.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4160520" y="1115568"/>
            <a:ext cx="44348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160520" y="1115568"/>
            <a:ext cx="443484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4270248" y="1115568"/>
            <a:ext cx="42153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ECONOMICS: GUIDE VS PRAGATI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4233672" y="1463040"/>
            <a:ext cx="160020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4279392" y="146304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400 students</a:t>
            </a:r>
            <a:endParaRPr lang="en-US" sz="950" dirty="0"/>
          </a:p>
        </p:txBody>
      </p:sp>
      <p:sp>
        <p:nvSpPr>
          <p:cNvPr id="149" name="Shape 147"/>
          <p:cNvSpPr/>
          <p:nvPr/>
        </p:nvSpPr>
        <p:spPr>
          <a:xfrm>
            <a:off x="5833872" y="1463040"/>
            <a:ext cx="64008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8795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950" dirty="0"/>
          </a:p>
        </p:txBody>
      </p:sp>
      <p:sp>
        <p:nvSpPr>
          <p:cNvPr id="151" name="Shape 149"/>
          <p:cNvSpPr/>
          <p:nvPr/>
        </p:nvSpPr>
        <p:spPr>
          <a:xfrm>
            <a:off x="6473952" y="1463040"/>
            <a:ext cx="68580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519672" y="1463040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950" dirty="0"/>
          </a:p>
        </p:txBody>
      </p:sp>
      <p:sp>
        <p:nvSpPr>
          <p:cNvPr id="153" name="Shape 151"/>
          <p:cNvSpPr/>
          <p:nvPr/>
        </p:nvSpPr>
        <p:spPr>
          <a:xfrm>
            <a:off x="7159752" y="1463040"/>
            <a:ext cx="731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7205472" y="1463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7891272" y="1463040"/>
            <a:ext cx="64008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79369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4233672" y="1773936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4279392" y="177393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5833872" y="1773936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58795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6473952" y="1773936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6519672" y="177393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7159752" y="1773936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7205472" y="177393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950" dirty="0"/>
          </a:p>
        </p:txBody>
      </p:sp>
      <p:sp>
        <p:nvSpPr>
          <p:cNvPr id="165" name="Shape 163"/>
          <p:cNvSpPr/>
          <p:nvPr/>
        </p:nvSpPr>
        <p:spPr>
          <a:xfrm>
            <a:off x="7891272" y="1773936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79369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22 %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4233672" y="2167128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233672" y="2167128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4279392" y="216712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58338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8795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473952" y="2167128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19672" y="216712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159752" y="2167128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7205472" y="216712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78912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79369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178" name="Shape 176"/>
          <p:cNvSpPr/>
          <p:nvPr/>
        </p:nvSpPr>
        <p:spPr>
          <a:xfrm>
            <a:off x="4233672" y="2560320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4233672" y="2560320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4279392" y="25603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lost per dropout</a:t>
            </a:r>
            <a:endParaRPr lang="en-US" sz="950" dirty="0"/>
          </a:p>
        </p:txBody>
      </p:sp>
      <p:sp>
        <p:nvSpPr>
          <p:cNvPr id="181" name="Shape 179"/>
          <p:cNvSpPr/>
          <p:nvPr/>
        </p:nvSpPr>
        <p:spPr>
          <a:xfrm>
            <a:off x="5833872" y="2560320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8795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950" dirty="0"/>
          </a:p>
        </p:txBody>
      </p:sp>
      <p:sp>
        <p:nvSpPr>
          <p:cNvPr id="183" name="Shape 181"/>
          <p:cNvSpPr/>
          <p:nvPr/>
        </p:nvSpPr>
        <p:spPr>
          <a:xfrm>
            <a:off x="6473952" y="2560320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19672" y="256032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₹15,414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7159752" y="2560320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7205472" y="256032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₹36,967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7891272" y="2560320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79369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₹56,994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4233672" y="2953512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4233672" y="2953512"/>
            <a:ext cx="160020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4279392" y="29535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retained</a:t>
            </a:r>
            <a:endParaRPr lang="en-US" sz="950" dirty="0"/>
          </a:p>
        </p:txBody>
      </p:sp>
      <p:sp>
        <p:nvSpPr>
          <p:cNvPr id="192" name="Shape 190"/>
          <p:cNvSpPr/>
          <p:nvPr/>
        </p:nvSpPr>
        <p:spPr>
          <a:xfrm>
            <a:off x="5833872" y="2953512"/>
            <a:ext cx="64008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8795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194" name="Shape 192"/>
          <p:cNvSpPr/>
          <p:nvPr/>
        </p:nvSpPr>
        <p:spPr>
          <a:xfrm>
            <a:off x="6473952" y="2953512"/>
            <a:ext cx="68580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6519672" y="295351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₹2,928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7159752" y="2953512"/>
            <a:ext cx="73152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7205472" y="295351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₹89,672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7891272" y="2953512"/>
            <a:ext cx="64008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79369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₹9.11 L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4233672" y="3346704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233672" y="3346704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4279392" y="33467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</a:t>
            </a:r>
            <a:endParaRPr lang="en-US" sz="950" dirty="0"/>
          </a:p>
        </p:txBody>
      </p:sp>
      <p:sp>
        <p:nvSpPr>
          <p:cNvPr id="203" name="Shape 201"/>
          <p:cNvSpPr/>
          <p:nvPr/>
        </p:nvSpPr>
        <p:spPr>
          <a:xfrm>
            <a:off x="5833872" y="3346704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4" name="Text 202"/>
          <p:cNvSpPr txBox="1"/>
          <p:nvPr/>
        </p:nvSpPr>
        <p:spPr>
          <a:xfrm>
            <a:off x="58795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205" name="Shape 203"/>
          <p:cNvSpPr/>
          <p:nvPr/>
        </p:nvSpPr>
        <p:spPr>
          <a:xfrm>
            <a:off x="6473952" y="3346704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6519672" y="3346704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₹11,928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7159752" y="3346704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7205472" y="334670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₹3.48 L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7891272" y="3346704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79369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₹21.5 L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4233672" y="3739896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233672" y="3739896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3" name="Text 211"/>
          <p:cNvSpPr txBox="1"/>
          <p:nvPr/>
        </p:nvSpPr>
        <p:spPr>
          <a:xfrm>
            <a:off x="4279392" y="37398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to institute</a:t>
            </a:r>
            <a:endParaRPr lang="en-US" sz="950" dirty="0"/>
          </a:p>
        </p:txBody>
      </p:sp>
      <p:sp>
        <p:nvSpPr>
          <p:cNvPr id="214" name="Shape 212"/>
          <p:cNvSpPr/>
          <p:nvPr/>
        </p:nvSpPr>
        <p:spPr>
          <a:xfrm>
            <a:off x="58338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58795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₹1.92 L</a:t>
            </a:r>
            <a:endParaRPr lang="en-US" sz="950" dirty="0"/>
          </a:p>
        </p:txBody>
      </p:sp>
      <p:sp>
        <p:nvSpPr>
          <p:cNvPr id="216" name="Shape 214"/>
          <p:cNvSpPr/>
          <p:nvPr/>
        </p:nvSpPr>
        <p:spPr>
          <a:xfrm>
            <a:off x="6473952" y="3739896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6519672" y="373989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₹78,544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7159752" y="3739896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7205472" y="37398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₹1.20 L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78912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79369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 L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4233672" y="4133088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233672" y="4133088"/>
            <a:ext cx="16002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24" name="Text 222"/>
          <p:cNvSpPr txBox="1"/>
          <p:nvPr/>
        </p:nvSpPr>
        <p:spPr>
          <a:xfrm>
            <a:off x="4279392" y="41330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all benefits</a:t>
            </a:r>
            <a:endParaRPr lang="en-US" sz="950" dirty="0"/>
          </a:p>
        </p:txBody>
      </p:sp>
      <p:sp>
        <p:nvSpPr>
          <p:cNvPr id="225" name="Shape 223"/>
          <p:cNvSpPr/>
          <p:nvPr/>
        </p:nvSpPr>
        <p:spPr>
          <a:xfrm>
            <a:off x="5833872" y="4133088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58795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27" name="Shape 225"/>
          <p:cNvSpPr/>
          <p:nvPr/>
        </p:nvSpPr>
        <p:spPr>
          <a:xfrm>
            <a:off x="6473952" y="4133088"/>
            <a:ext cx="6858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28" name="Text 226"/>
          <p:cNvSpPr txBox="1"/>
          <p:nvPr/>
        </p:nvSpPr>
        <p:spPr>
          <a:xfrm>
            <a:off x="6519672" y="413308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950" dirty="0"/>
          </a:p>
        </p:txBody>
      </p:sp>
      <p:sp>
        <p:nvSpPr>
          <p:cNvPr id="229" name="Shape 227"/>
          <p:cNvSpPr/>
          <p:nvPr/>
        </p:nvSpPr>
        <p:spPr>
          <a:xfrm>
            <a:off x="7159752" y="4133088"/>
            <a:ext cx="73152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205472" y="413308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31" name="Shape 229"/>
          <p:cNvSpPr/>
          <p:nvPr/>
        </p:nvSpPr>
        <p:spPr>
          <a:xfrm>
            <a:off x="7891272" y="4133088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79369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950" dirty="0"/>
          </a:p>
        </p:txBody>
      </p:sp>
      <p:sp>
        <p:nvSpPr>
          <p:cNvPr id="233" name="Shape 231"/>
          <p:cNvSpPr/>
          <p:nvPr/>
        </p:nvSpPr>
        <p:spPr>
          <a:xfrm>
            <a:off x="4233672" y="4526280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4233672" y="4526280"/>
            <a:ext cx="16002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5" name="Text 233"/>
          <p:cNvSpPr txBox="1"/>
          <p:nvPr/>
        </p:nvSpPr>
        <p:spPr>
          <a:xfrm>
            <a:off x="4279392" y="45262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fees only</a:t>
            </a:r>
            <a:endParaRPr lang="en-US" sz="950" dirty="0"/>
          </a:p>
        </p:txBody>
      </p:sp>
      <p:sp>
        <p:nvSpPr>
          <p:cNvPr id="236" name="Shape 234"/>
          <p:cNvSpPr/>
          <p:nvPr/>
        </p:nvSpPr>
        <p:spPr>
          <a:xfrm>
            <a:off x="5833872" y="4526280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7" name="Text 235"/>
          <p:cNvSpPr txBox="1"/>
          <p:nvPr/>
        </p:nvSpPr>
        <p:spPr>
          <a:xfrm>
            <a:off x="58795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38" name="Shape 236"/>
          <p:cNvSpPr/>
          <p:nvPr/>
        </p:nvSpPr>
        <p:spPr>
          <a:xfrm>
            <a:off x="6473952" y="4526280"/>
            <a:ext cx="6858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9" name="Text 237"/>
          <p:cNvSpPr txBox="1"/>
          <p:nvPr/>
        </p:nvSpPr>
        <p:spPr>
          <a:xfrm>
            <a:off x="6519672" y="452628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950" dirty="0"/>
          </a:p>
        </p:txBody>
      </p:sp>
      <p:sp>
        <p:nvSpPr>
          <p:cNvPr id="240" name="Shape 238"/>
          <p:cNvSpPr/>
          <p:nvPr/>
        </p:nvSpPr>
        <p:spPr>
          <a:xfrm>
            <a:off x="7159752" y="4526280"/>
            <a:ext cx="73152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205472" y="452628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950" dirty="0"/>
          </a:p>
        </p:txBody>
      </p:sp>
      <p:sp>
        <p:nvSpPr>
          <p:cNvPr id="242" name="Shape 240"/>
          <p:cNvSpPr/>
          <p:nvPr/>
        </p:nvSpPr>
        <p:spPr>
          <a:xfrm>
            <a:off x="7891272" y="4526280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43" name="Text 241"/>
          <p:cNvSpPr txBox="1"/>
          <p:nvPr/>
        </p:nvSpPr>
        <p:spPr>
          <a:xfrm>
            <a:off x="79369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950" dirty="0"/>
          </a:p>
        </p:txBody>
      </p:sp>
      <p:sp>
        <p:nvSpPr>
          <p:cNvPr id="244" name="Shape 242"/>
          <p:cNvSpPr/>
          <p:nvPr/>
        </p:nvSpPr>
        <p:spPr>
          <a:xfrm>
            <a:off x="4233672" y="4919472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4233672" y="4919472"/>
            <a:ext cx="160020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4279392" y="49194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950" dirty="0"/>
          </a:p>
        </p:txBody>
      </p:sp>
      <p:sp>
        <p:nvSpPr>
          <p:cNvPr id="247" name="Shape 245"/>
          <p:cNvSpPr/>
          <p:nvPr/>
        </p:nvSpPr>
        <p:spPr>
          <a:xfrm>
            <a:off x="5833872" y="4919472"/>
            <a:ext cx="64008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58795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950" dirty="0"/>
          </a:p>
        </p:txBody>
      </p:sp>
      <p:sp>
        <p:nvSpPr>
          <p:cNvPr id="249" name="Shape 247"/>
          <p:cNvSpPr/>
          <p:nvPr/>
        </p:nvSpPr>
        <p:spPr>
          <a:xfrm>
            <a:off x="6473952" y="4919472"/>
            <a:ext cx="68580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50" name="Text 248"/>
          <p:cNvSpPr txBox="1"/>
          <p:nvPr/>
        </p:nvSpPr>
        <p:spPr>
          <a:xfrm>
            <a:off x="6519672" y="491947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251" name="Shape 249"/>
          <p:cNvSpPr/>
          <p:nvPr/>
        </p:nvSpPr>
        <p:spPr>
          <a:xfrm>
            <a:off x="7159752" y="4919472"/>
            <a:ext cx="73152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52" name="Text 250"/>
          <p:cNvSpPr txBox="1"/>
          <p:nvPr/>
        </p:nvSpPr>
        <p:spPr>
          <a:xfrm>
            <a:off x="7205472" y="49194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50" dirty="0"/>
          </a:p>
        </p:txBody>
      </p:sp>
      <p:sp>
        <p:nvSpPr>
          <p:cNvPr id="253" name="Shape 251"/>
          <p:cNvSpPr/>
          <p:nvPr/>
        </p:nvSpPr>
        <p:spPr>
          <a:xfrm>
            <a:off x="7891272" y="4919472"/>
            <a:ext cx="640080" cy="393192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9369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950" dirty="0"/>
          </a:p>
        </p:txBody>
      </p:sp>
      <p:sp>
        <p:nvSpPr>
          <p:cNvPr id="255" name="Shape 253"/>
          <p:cNvSpPr/>
          <p:nvPr/>
        </p:nvSpPr>
        <p:spPr>
          <a:xfrm>
            <a:off x="4233672" y="5312664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4251960" y="5468112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257" name="Text 255"/>
          <p:cNvSpPr txBox="1"/>
          <p:nvPr/>
        </p:nvSpPr>
        <p:spPr>
          <a:xfrm>
            <a:off x="4251960" y="54681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58" name="Text 256"/>
          <p:cNvSpPr txBox="1"/>
          <p:nvPr/>
        </p:nvSpPr>
        <p:spPr>
          <a:xfrm>
            <a:off x="4251960" y="57424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includes the fee, GST net of what institutes reclaim, and mentor time.</a:t>
            </a:r>
            <a:endParaRPr lang="en-US" sz="950" dirty="0"/>
          </a:p>
        </p:txBody>
      </p:sp>
      <p:sp>
        <p:nvSpPr>
          <p:cNvPr id="259" name="Shape 257"/>
          <p:cNvSpPr/>
          <p:nvPr/>
        </p:nvSpPr>
        <p:spPr>
          <a:xfrm>
            <a:off x="8732520" y="1115568"/>
            <a:ext cx="304769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732520" y="1115568"/>
            <a:ext cx="304769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8842248" y="1115568"/>
            <a:ext cx="282823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 COST AND WHAT IT MEANS</a:t>
            </a:r>
            <a:endParaRPr lang="en-US" sz="1200" dirty="0"/>
          </a:p>
        </p:txBody>
      </p:sp>
      <p:pic>
        <p:nvPicPr>
          <p:cNvPr id="262" name="Image 0" descr="Value vs cost by scena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463040"/>
            <a:ext cx="2864815" cy="2177260"/>
          </a:xfrm>
          <a:prstGeom prst="rect">
            <a:avLst/>
          </a:prstGeom>
        </p:spPr>
      </p:pic>
      <p:sp>
        <p:nvSpPr>
          <p:cNvPr id="263" name="Shape 260"/>
          <p:cNvSpPr/>
          <p:nvPr/>
        </p:nvSpPr>
        <p:spPr>
          <a:xfrm>
            <a:off x="8823960" y="3840480"/>
            <a:ext cx="2864815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4" name="Text 261"/>
          <p:cNvSpPr txBox="1"/>
          <p:nvPr/>
        </p:nvSpPr>
        <p:spPr>
          <a:xfrm>
            <a:off x="8897112" y="3840480"/>
            <a:ext cx="27185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265" name="Shape 262"/>
          <p:cNvSpPr/>
          <p:nvPr/>
        </p:nvSpPr>
        <p:spPr>
          <a:xfrm>
            <a:off x="8823960" y="4114800"/>
            <a:ext cx="2864815" cy="210312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66" name="Text 263"/>
          <p:cNvSpPr txBox="1"/>
          <p:nvPr/>
        </p:nvSpPr>
        <p:spPr>
          <a:xfrm>
            <a:off x="8897112" y="4160520"/>
            <a:ext cx="271851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alone return 0.75x: they do not cover the cost on their own.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plus staff time reach about break-even; every 1 % admissions uplift adds about ₹2.3 lakh.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3 to 4 students a year and it pays for itself.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cost is 0.3 % of a student's fee.</a:t>
            </a:r>
            <a:endParaRPr lang="en-US" sz="1050" dirty="0"/>
          </a:p>
        </p:txBody>
      </p:sp>
      <p:sp>
        <p:nvSpPr>
          <p:cNvPr id="267" name="Text 264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(Assumptions, Scenarios). Model output, not measured; dropout effect borrowed from 8 trials in comparable settings (mean 15.8 %).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are real, but thinner than the guide's 10x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977640" cy="5212080"/>
          </a:xfrm>
          <a:prstGeom prst="roundRect">
            <a:avLst>
              <a:gd name="adj" fmla="val 690"/>
            </a:avLst>
          </a:prstGeom>
          <a:solidFill>
            <a:srgbClr val="E3ECF7"/>
          </a:solidFill>
          <a:ln/>
        </p:spPr>
      </p:sp>
      <p:sp>
        <p:nvSpPr>
          <p:cNvPr id="16" name="Shape 14"/>
          <p:cNvSpPr/>
          <p:nvPr/>
        </p:nvSpPr>
        <p:spPr>
          <a:xfrm>
            <a:off x="557784" y="1220724"/>
            <a:ext cx="128016" cy="128016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" y="1161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(MID, BASE)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" y="1463040"/>
            <a:ext cx="17373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463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institute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21992" y="1463040"/>
            <a:ext cx="868680" cy="29260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67712" y="14630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90672" y="1463040"/>
            <a:ext cx="118872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36392" y="1463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" y="1755648"/>
            <a:ext cx="1737360" cy="38404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21992" y="1755648"/>
            <a:ext cx="868680" cy="38404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67712" y="17556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90672" y="1755648"/>
            <a:ext cx="1188720" cy="38404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36392" y="17556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" y="2139696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" y="2139696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0352" y="21396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21992" y="2139696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267712" y="213969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months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90672" y="2139696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36392" y="21396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" y="2523744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4632" y="2523744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0352" y="25237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21992" y="2523744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267712" y="2523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0672" y="2523744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136392" y="25237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4632" y="2907792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4632" y="2907792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30352" y="2907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value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21992" y="2907792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67712" y="29077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₹3.53 lakh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090672" y="2907792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9077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₹1.30 lakh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" y="3291840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632" y="3291840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30352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21992" y="3291840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2267712" y="3291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₹33,000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90672" y="3291840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136392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84632" y="3675888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632" y="3675888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30352" y="36758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monthly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21992" y="3675888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2267712" y="36758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₹16,000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090672" y="3675888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36392" y="36758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84632" y="4059936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4632" y="4059936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30352" y="4059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Contribution, monthly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221992" y="4059936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2267712" y="405993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₹10,600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090672" y="4059936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136392" y="405993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₹6,740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4632" y="4443984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84632" y="4443984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30352" y="44439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logo retention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221992" y="4443984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2267712" y="44439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090672" y="4443984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136392" y="4443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64 %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84632" y="4828032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4632" y="4828032"/>
            <a:ext cx="1737360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30352" y="48280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to cover fixed team cost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2" y="4828032"/>
            <a:ext cx="868680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267712" y="482803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3090672" y="4828032"/>
            <a:ext cx="1188720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136392" y="4828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84632" y="5212080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02920" y="5285232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502920" y="528523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502920" y="555955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thinner: seasonal billing, 20 % non-renewal after the session, pilots that do not convert, and a price near the top of what ERPs charge.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526280" y="1115568"/>
            <a:ext cx="3749040" cy="5212080"/>
          </a:xfrm>
          <a:prstGeom prst="roundRect">
            <a:avLst>
              <a:gd name="adj" fmla="val 732"/>
            </a:avLst>
          </a:prstGeom>
          <a:solidFill>
            <a:srgbClr val="E3ECF7"/>
          </a:solidFill>
          <a:ln/>
        </p:spPr>
      </p:sp>
      <p:sp>
        <p:nvSpPr>
          <p:cNvPr id="91" name="Shape 89"/>
          <p:cNvSpPr/>
          <p:nvPr/>
        </p:nvSpPr>
        <p:spPr>
          <a:xfrm>
            <a:off x="4672584" y="1220724"/>
            <a:ext cx="128016" cy="128016"/>
          </a:xfrm>
          <a:prstGeom prst="ellipse">
            <a:avLst/>
          </a:prstGeom>
          <a:solidFill>
            <a:srgbClr val="2E6DB4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873752" y="1161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WHAT MOVES THE ANSWER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4617720" y="14630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 (x), by effective reduction and list price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507492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950" dirty="0"/>
          </a:p>
        </p:txBody>
      </p:sp>
      <p:sp>
        <p:nvSpPr>
          <p:cNvPr id="95" name="Text 93"/>
          <p:cNvSpPr txBox="1"/>
          <p:nvPr/>
        </p:nvSpPr>
        <p:spPr>
          <a:xfrm>
            <a:off x="5586984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96" name="Text 94"/>
          <p:cNvSpPr txBox="1"/>
          <p:nvPr/>
        </p:nvSpPr>
        <p:spPr>
          <a:xfrm>
            <a:off x="6099048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</a:t>
            </a:r>
            <a:endParaRPr lang="en-US" sz="950" dirty="0"/>
          </a:p>
        </p:txBody>
      </p:sp>
      <p:sp>
        <p:nvSpPr>
          <p:cNvPr id="97" name="Text 95"/>
          <p:cNvSpPr txBox="1"/>
          <p:nvPr/>
        </p:nvSpPr>
        <p:spPr>
          <a:xfrm>
            <a:off x="6611112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</a:t>
            </a:r>
            <a:endParaRPr lang="en-US" sz="950" dirty="0"/>
          </a:p>
        </p:txBody>
      </p:sp>
      <p:sp>
        <p:nvSpPr>
          <p:cNvPr id="98" name="Text 96"/>
          <p:cNvSpPr txBox="1"/>
          <p:nvPr/>
        </p:nvSpPr>
        <p:spPr>
          <a:xfrm>
            <a:off x="7123176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3524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</a:t>
            </a:r>
            <a:endParaRPr lang="en-US" sz="950" dirty="0"/>
          </a:p>
        </p:txBody>
      </p:sp>
      <p:sp>
        <p:nvSpPr>
          <p:cNvPr id="100" name="Text 98"/>
          <p:cNvSpPr txBox="1"/>
          <p:nvPr/>
        </p:nvSpPr>
        <p:spPr>
          <a:xfrm>
            <a:off x="4617720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088636" y="1961388"/>
            <a:ext cx="484632" cy="246888"/>
          </a:xfrm>
          <a:prstGeom prst="rect">
            <a:avLst/>
          </a:prstGeom>
          <a:solidFill>
            <a:srgbClr val="719CD0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07492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4.0x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00700" y="1961388"/>
            <a:ext cx="484632" cy="246888"/>
          </a:xfrm>
          <a:prstGeom prst="rect">
            <a:avLst/>
          </a:prstGeom>
          <a:solidFill>
            <a:srgbClr val="A6C1E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586984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6112764" y="1961388"/>
            <a:ext cx="484632" cy="246888"/>
          </a:xfrm>
          <a:prstGeom prst="rect">
            <a:avLst/>
          </a:prstGeom>
          <a:solidFill>
            <a:srgbClr val="C1D4EC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6099048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6624828" y="1961388"/>
            <a:ext cx="484632" cy="246888"/>
          </a:xfrm>
          <a:prstGeom prst="rect">
            <a:avLst/>
          </a:prstGeom>
          <a:solidFill>
            <a:srgbClr val="D2E0F1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611112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7136892" y="1961388"/>
            <a:ext cx="484632" cy="246888"/>
          </a:xfrm>
          <a:prstGeom prst="rect">
            <a:avLst/>
          </a:prstGeom>
          <a:solidFill>
            <a:srgbClr val="DEE8F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123176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7648956" y="1961388"/>
            <a:ext cx="484632" cy="246888"/>
          </a:xfrm>
          <a:prstGeom prst="rect">
            <a:avLst/>
          </a:prstGeom>
          <a:solidFill>
            <a:srgbClr val="ECF2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763524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950" dirty="0"/>
          </a:p>
        </p:txBody>
      </p:sp>
      <p:sp>
        <p:nvSpPr>
          <p:cNvPr id="113" name="Text 111"/>
          <p:cNvSpPr txBox="1"/>
          <p:nvPr/>
        </p:nvSpPr>
        <p:spPr>
          <a:xfrm>
            <a:off x="4617720" y="2221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088636" y="2235708"/>
            <a:ext cx="484632" cy="246888"/>
          </a:xfrm>
          <a:prstGeom prst="rect">
            <a:avLst/>
          </a:prstGeom>
          <a:solidFill>
            <a:srgbClr val="5C8DC9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507492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4.5x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5600700" y="2235708"/>
            <a:ext cx="484632" cy="246888"/>
          </a:xfrm>
          <a:prstGeom prst="rect">
            <a:avLst/>
          </a:prstGeom>
          <a:solidFill>
            <a:srgbClr val="98B7DD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5586984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6112764" y="2235708"/>
            <a:ext cx="484632" cy="246888"/>
          </a:xfrm>
          <a:prstGeom prst="rect">
            <a:avLst/>
          </a:prstGeom>
          <a:solidFill>
            <a:srgbClr val="B6CDE8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099048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24828" y="2235708"/>
            <a:ext cx="484632" cy="246888"/>
          </a:xfrm>
          <a:prstGeom prst="rect">
            <a:avLst/>
          </a:prstGeom>
          <a:solidFill>
            <a:srgbClr val="C9DAEE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6611112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7136892" y="2235708"/>
            <a:ext cx="484632" cy="246888"/>
          </a:xfrm>
          <a:prstGeom prst="rect">
            <a:avLst/>
          </a:prstGeom>
          <a:solidFill>
            <a:srgbClr val="D6E3F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7123176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7648956" y="2235708"/>
            <a:ext cx="484632" cy="246888"/>
          </a:xfrm>
          <a:prstGeom prst="rect">
            <a:avLst/>
          </a:prstGeom>
          <a:solidFill>
            <a:srgbClr val="E7EEF8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763524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50" dirty="0"/>
          </a:p>
        </p:txBody>
      </p:sp>
      <p:sp>
        <p:nvSpPr>
          <p:cNvPr id="126" name="Text 124"/>
          <p:cNvSpPr txBox="1"/>
          <p:nvPr/>
        </p:nvSpPr>
        <p:spPr>
          <a:xfrm>
            <a:off x="4617720" y="2496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11 %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5088636" y="2510028"/>
            <a:ext cx="484632" cy="246888"/>
          </a:xfrm>
          <a:prstGeom prst="rect">
            <a:avLst/>
          </a:prstGeom>
          <a:solidFill>
            <a:srgbClr val="4F7DB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507492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5600700" y="2510028"/>
            <a:ext cx="484632" cy="246888"/>
          </a:xfrm>
          <a:prstGeom prst="rect">
            <a:avLst/>
          </a:prstGeom>
          <a:solidFill>
            <a:srgbClr val="89ADD9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5586984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6112764" y="2510028"/>
            <a:ext cx="484632" cy="246888"/>
          </a:xfrm>
          <a:prstGeom prst="rect">
            <a:avLst/>
          </a:prstGeom>
          <a:solidFill>
            <a:srgbClr val="ABC5E4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6099048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6624828" y="2510028"/>
            <a:ext cx="484632" cy="246888"/>
          </a:xfrm>
          <a:prstGeom prst="rect">
            <a:avLst/>
          </a:prstGeom>
          <a:solidFill>
            <a:srgbClr val="C0D4EB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611112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136892" y="2510028"/>
            <a:ext cx="484632" cy="246888"/>
          </a:xfrm>
          <a:prstGeom prst="rect">
            <a:avLst/>
          </a:prstGeom>
          <a:solidFill>
            <a:srgbClr val="CFDEF0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123176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648956" y="2510028"/>
            <a:ext cx="484632" cy="246888"/>
          </a:xfrm>
          <a:prstGeom prst="rect">
            <a:avLst/>
          </a:prstGeom>
          <a:solidFill>
            <a:srgbClr val="E1EAF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3524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950" dirty="0"/>
          </a:p>
        </p:txBody>
      </p:sp>
      <p:sp>
        <p:nvSpPr>
          <p:cNvPr id="139" name="Text 137"/>
          <p:cNvSpPr txBox="1"/>
          <p:nvPr/>
        </p:nvSpPr>
        <p:spPr>
          <a:xfrm>
            <a:off x="4617720" y="2770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5088636" y="2784348"/>
            <a:ext cx="484632" cy="246888"/>
          </a:xfrm>
          <a:prstGeom prst="rect">
            <a:avLst/>
          </a:prstGeom>
          <a:solidFill>
            <a:srgbClr val="3F689C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507492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5.6x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5600700" y="2784348"/>
            <a:ext cx="484632" cy="246888"/>
          </a:xfrm>
          <a:prstGeom prst="rect">
            <a:avLst/>
          </a:prstGeom>
          <a:solidFill>
            <a:srgbClr val="76A0D2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5586984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3.9x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6112764" y="2784348"/>
            <a:ext cx="484632" cy="246888"/>
          </a:xfrm>
          <a:prstGeom prst="rect">
            <a:avLst/>
          </a:prstGeom>
          <a:solidFill>
            <a:srgbClr val="9DBBD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099048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6624828" y="2784348"/>
            <a:ext cx="484632" cy="246888"/>
          </a:xfrm>
          <a:prstGeom prst="rect">
            <a:avLst/>
          </a:prstGeom>
          <a:solidFill>
            <a:srgbClr val="B5CCE7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611112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7136892" y="2784348"/>
            <a:ext cx="484632" cy="246888"/>
          </a:xfrm>
          <a:prstGeom prst="rect">
            <a:avLst/>
          </a:prstGeom>
          <a:solidFill>
            <a:srgbClr val="C5D7ED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7123176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7648956" y="2784348"/>
            <a:ext cx="484632" cy="246888"/>
          </a:xfrm>
          <a:prstGeom prst="rect">
            <a:avLst/>
          </a:prstGeom>
          <a:solidFill>
            <a:srgbClr val="D9E5F4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63524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152" name="Text 150"/>
          <p:cNvSpPr txBox="1"/>
          <p:nvPr/>
        </p:nvSpPr>
        <p:spPr>
          <a:xfrm>
            <a:off x="4617720" y="3044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50" dirty="0"/>
          </a:p>
        </p:txBody>
      </p:sp>
      <p:sp>
        <p:nvSpPr>
          <p:cNvPr id="153" name="Shape 151"/>
          <p:cNvSpPr/>
          <p:nvPr/>
        </p:nvSpPr>
        <p:spPr>
          <a:xfrm>
            <a:off x="5088636" y="3058668"/>
            <a:ext cx="484632" cy="246888"/>
          </a:xfrm>
          <a:prstGeom prst="rect">
            <a:avLst/>
          </a:prstGeom>
          <a:solidFill>
            <a:srgbClr val="2B4D7C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507492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5600700" y="3058668"/>
            <a:ext cx="484632" cy="246888"/>
          </a:xfrm>
          <a:prstGeom prst="rect">
            <a:avLst/>
          </a:prstGeom>
          <a:solidFill>
            <a:srgbClr val="5E8FCA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5586984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6112764" y="3058668"/>
            <a:ext cx="484632" cy="246888"/>
          </a:xfrm>
          <a:prstGeom prst="rect">
            <a:avLst/>
          </a:prstGeom>
          <a:solidFill>
            <a:srgbClr val="8BAED9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099048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6624828" y="3058668"/>
            <a:ext cx="484632" cy="246888"/>
          </a:xfrm>
          <a:prstGeom prst="rect">
            <a:avLst/>
          </a:prstGeom>
          <a:solidFill>
            <a:srgbClr val="A6C1E2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6611112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7136892" y="3058668"/>
            <a:ext cx="484632" cy="246888"/>
          </a:xfrm>
          <a:prstGeom prst="rect">
            <a:avLst/>
          </a:prstGeom>
          <a:solidFill>
            <a:srgbClr val="B9CEE9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7123176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7648956" y="3058668"/>
            <a:ext cx="484632" cy="246888"/>
          </a:xfrm>
          <a:prstGeom prst="rect">
            <a:avLst/>
          </a:prstGeom>
          <a:solidFill>
            <a:srgbClr val="D0DFF1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763524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65" name="Text 163"/>
          <p:cNvSpPr txBox="1"/>
          <p:nvPr/>
        </p:nvSpPr>
        <p:spPr>
          <a:xfrm>
            <a:off x="4617720" y="33192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66" name="Shape 164"/>
          <p:cNvSpPr/>
          <p:nvPr/>
        </p:nvSpPr>
        <p:spPr>
          <a:xfrm>
            <a:off x="5088636" y="3332988"/>
            <a:ext cx="484632" cy="246888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507492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68" name="Shape 166"/>
          <p:cNvSpPr/>
          <p:nvPr/>
        </p:nvSpPr>
        <p:spPr>
          <a:xfrm>
            <a:off x="5600700" y="3332988"/>
            <a:ext cx="484632" cy="246888"/>
          </a:xfrm>
          <a:prstGeom prst="rect">
            <a:avLst/>
          </a:prstGeom>
          <a:solidFill>
            <a:srgbClr val="4F7DB6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5586984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6112764" y="3332988"/>
            <a:ext cx="484632" cy="246888"/>
          </a:xfrm>
          <a:prstGeom prst="rect">
            <a:avLst/>
          </a:prstGeom>
          <a:solidFill>
            <a:srgbClr val="79A2D3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6099048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3.8x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624828" y="3332988"/>
            <a:ext cx="484632" cy="246888"/>
          </a:xfrm>
          <a:prstGeom prst="rect">
            <a:avLst/>
          </a:prstGeom>
          <a:solidFill>
            <a:srgbClr val="98B7DD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611112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136892" y="3332988"/>
            <a:ext cx="484632" cy="246888"/>
          </a:xfrm>
          <a:prstGeom prst="rect">
            <a:avLst/>
          </a:prstGeom>
          <a:solidFill>
            <a:srgbClr val="ADC6E5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7123176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7648956" y="3332988"/>
            <a:ext cx="484632" cy="246888"/>
          </a:xfrm>
          <a:prstGeom prst="rect">
            <a:avLst/>
          </a:prstGeom>
          <a:solidFill>
            <a:srgbClr val="C7D8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763524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78" name="Text 176"/>
          <p:cNvSpPr txBox="1"/>
          <p:nvPr/>
        </p:nvSpPr>
        <p:spPr>
          <a:xfrm>
            <a:off x="4617720" y="36576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by acquisition cost and monthly churn</a:t>
            </a:r>
            <a:endParaRPr lang="en-US" sz="1000" dirty="0"/>
          </a:p>
        </p:txBody>
      </p:sp>
      <p:sp>
        <p:nvSpPr>
          <p:cNvPr id="179" name="Text 177"/>
          <p:cNvSpPr txBox="1"/>
          <p:nvPr/>
        </p:nvSpPr>
        <p:spPr>
          <a:xfrm>
            <a:off x="507492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80" name="Text 178"/>
          <p:cNvSpPr txBox="1"/>
          <p:nvPr/>
        </p:nvSpPr>
        <p:spPr>
          <a:xfrm>
            <a:off x="571500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2 %</a:t>
            </a:r>
            <a:endParaRPr lang="en-US" sz="950" dirty="0"/>
          </a:p>
        </p:txBody>
      </p:sp>
      <p:sp>
        <p:nvSpPr>
          <p:cNvPr id="181" name="Text 179"/>
          <p:cNvSpPr txBox="1"/>
          <p:nvPr/>
        </p:nvSpPr>
        <p:spPr>
          <a:xfrm>
            <a:off x="635508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950" dirty="0"/>
          </a:p>
        </p:txBody>
      </p:sp>
      <p:sp>
        <p:nvSpPr>
          <p:cNvPr id="182" name="Text 180"/>
          <p:cNvSpPr txBox="1"/>
          <p:nvPr/>
        </p:nvSpPr>
        <p:spPr>
          <a:xfrm>
            <a:off x="699516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4 %</a:t>
            </a:r>
            <a:endParaRPr lang="en-US" sz="950" dirty="0"/>
          </a:p>
        </p:txBody>
      </p:sp>
      <p:sp>
        <p:nvSpPr>
          <p:cNvPr id="183" name="Text 181"/>
          <p:cNvSpPr txBox="1"/>
          <p:nvPr/>
        </p:nvSpPr>
        <p:spPr>
          <a:xfrm>
            <a:off x="763524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184" name="Text 182"/>
          <p:cNvSpPr txBox="1"/>
          <p:nvPr/>
        </p:nvSpPr>
        <p:spPr>
          <a:xfrm>
            <a:off x="4617720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5088636" y="4155948"/>
            <a:ext cx="612648" cy="246888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507492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11.0x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5728716" y="4155948"/>
            <a:ext cx="612648" cy="246888"/>
          </a:xfrm>
          <a:prstGeom prst="rect">
            <a:avLst/>
          </a:prstGeom>
          <a:solidFill>
            <a:srgbClr val="2D5080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571500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6368796" y="4155948"/>
            <a:ext cx="612648" cy="246888"/>
          </a:xfrm>
          <a:prstGeom prst="rect">
            <a:avLst/>
          </a:prstGeom>
          <a:solidFill>
            <a:srgbClr val="3C6397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635508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8.7x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7008876" y="4155948"/>
            <a:ext cx="612648" cy="246888"/>
          </a:xfrm>
          <a:prstGeom prst="rect">
            <a:avLst/>
          </a:prstGeom>
          <a:solidFill>
            <a:srgbClr val="4874AB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99516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7.9x</a:t>
            </a:r>
            <a:endParaRPr lang="en-US" sz="950" dirty="0"/>
          </a:p>
        </p:txBody>
      </p:sp>
      <p:sp>
        <p:nvSpPr>
          <p:cNvPr id="193" name="Shape 191"/>
          <p:cNvSpPr/>
          <p:nvPr/>
        </p:nvSpPr>
        <p:spPr>
          <a:xfrm>
            <a:off x="7648956" y="4155948"/>
            <a:ext cx="612648" cy="246888"/>
          </a:xfrm>
          <a:prstGeom prst="rect">
            <a:avLst/>
          </a:prstGeom>
          <a:solidFill>
            <a:srgbClr val="5281BA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763524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95" name="Text 193"/>
          <p:cNvSpPr txBox="1"/>
          <p:nvPr/>
        </p:nvSpPr>
        <p:spPr>
          <a:xfrm>
            <a:off x="4617720" y="4416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₹25k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5088636" y="4430268"/>
            <a:ext cx="612648" cy="246888"/>
          </a:xfrm>
          <a:prstGeom prst="rect">
            <a:avLst/>
          </a:prstGeom>
          <a:solidFill>
            <a:srgbClr val="6493CC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507492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6.4x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5728716" y="4430268"/>
            <a:ext cx="612648" cy="246888"/>
          </a:xfrm>
          <a:prstGeom prst="rect">
            <a:avLst/>
          </a:prstGeom>
          <a:solidFill>
            <a:srgbClr val="759FD2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71500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5.8x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6368796" y="4430268"/>
            <a:ext cx="612648" cy="246888"/>
          </a:xfrm>
          <a:prstGeom prst="rect">
            <a:avLst/>
          </a:prstGeom>
          <a:solidFill>
            <a:srgbClr val="85AAD7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635508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5.2x</a:t>
            </a:r>
            <a:endParaRPr lang="en-US" sz="950" dirty="0"/>
          </a:p>
        </p:txBody>
      </p:sp>
      <p:sp>
        <p:nvSpPr>
          <p:cNvPr id="202" name="Shape 200"/>
          <p:cNvSpPr/>
          <p:nvPr/>
        </p:nvSpPr>
        <p:spPr>
          <a:xfrm>
            <a:off x="7008876" y="4430268"/>
            <a:ext cx="612648" cy="246888"/>
          </a:xfrm>
          <a:prstGeom prst="rect">
            <a:avLst/>
          </a:prstGeom>
          <a:solidFill>
            <a:srgbClr val="90B2DB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99516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4.8x</a:t>
            </a:r>
            <a:endParaRPr lang="en-US" sz="950" dirty="0"/>
          </a:p>
        </p:txBody>
      </p:sp>
      <p:sp>
        <p:nvSpPr>
          <p:cNvPr id="204" name="Shape 202"/>
          <p:cNvSpPr/>
          <p:nvPr/>
        </p:nvSpPr>
        <p:spPr>
          <a:xfrm>
            <a:off x="7648956" y="4430268"/>
            <a:ext cx="612648" cy="246888"/>
          </a:xfrm>
          <a:prstGeom prst="rect">
            <a:avLst/>
          </a:prstGeom>
          <a:solidFill>
            <a:srgbClr val="9CBADF"/>
          </a:solidFill>
          <a:ln/>
        </p:spPr>
      </p:sp>
      <p:sp>
        <p:nvSpPr>
          <p:cNvPr id="205" name="Text 203"/>
          <p:cNvSpPr txBox="1"/>
          <p:nvPr/>
        </p:nvSpPr>
        <p:spPr>
          <a:xfrm>
            <a:off x="763524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206" name="Text 204"/>
          <p:cNvSpPr txBox="1"/>
          <p:nvPr/>
        </p:nvSpPr>
        <p:spPr>
          <a:xfrm>
            <a:off x="4617720" y="4690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₹35k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5088636" y="4704588"/>
            <a:ext cx="612648" cy="246888"/>
          </a:xfrm>
          <a:prstGeom prst="rect">
            <a:avLst/>
          </a:prstGeom>
          <a:solidFill>
            <a:srgbClr val="96B6DD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507492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4.6x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5728716" y="4704588"/>
            <a:ext cx="612648" cy="246888"/>
          </a:xfrm>
          <a:prstGeom prst="rect">
            <a:avLst/>
          </a:prstGeom>
          <a:solidFill>
            <a:srgbClr val="A4C0E2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571500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4.1x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6368796" y="4704588"/>
            <a:ext cx="612648" cy="246888"/>
          </a:xfrm>
          <a:prstGeom prst="rect">
            <a:avLst/>
          </a:prstGeom>
          <a:solidFill>
            <a:srgbClr val="AFC7E5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35508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>
            <a:off x="7008876" y="4704588"/>
            <a:ext cx="612648" cy="246888"/>
          </a:xfrm>
          <a:prstGeom prst="rect">
            <a:avLst/>
          </a:prstGeom>
          <a:solidFill>
            <a:srgbClr val="B7CDE8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99516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215" name="Shape 213"/>
          <p:cNvSpPr/>
          <p:nvPr/>
        </p:nvSpPr>
        <p:spPr>
          <a:xfrm>
            <a:off x="7648956" y="4704588"/>
            <a:ext cx="612648" cy="246888"/>
          </a:xfrm>
          <a:prstGeom prst="rect">
            <a:avLst/>
          </a:prstGeom>
          <a:solidFill>
            <a:srgbClr val="C0D3EB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763524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50" dirty="0"/>
          </a:p>
        </p:txBody>
      </p:sp>
      <p:sp>
        <p:nvSpPr>
          <p:cNvPr id="217" name="Text 215"/>
          <p:cNvSpPr txBox="1"/>
          <p:nvPr/>
        </p:nvSpPr>
        <p:spPr>
          <a:xfrm>
            <a:off x="461772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5088636" y="4978908"/>
            <a:ext cx="612648" cy="246888"/>
          </a:xfrm>
          <a:prstGeom prst="rect">
            <a:avLst/>
          </a:prstGeom>
          <a:solidFill>
            <a:srgbClr val="BDD1EA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507492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3.2x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5728716" y="4978908"/>
            <a:ext cx="612648" cy="246888"/>
          </a:xfrm>
          <a:prstGeom prst="rect">
            <a:avLst/>
          </a:prstGeom>
          <a:solidFill>
            <a:srgbClr val="C5D7ED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571500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6368796" y="4978908"/>
            <a:ext cx="612648" cy="246888"/>
          </a:xfrm>
          <a:prstGeom prst="rect">
            <a:avLst/>
          </a:prstGeom>
          <a:solidFill>
            <a:srgbClr val="CDDDF0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635508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224" name="Shape 222"/>
          <p:cNvSpPr/>
          <p:nvPr/>
        </p:nvSpPr>
        <p:spPr>
          <a:xfrm>
            <a:off x="7008876" y="4978908"/>
            <a:ext cx="612648" cy="246888"/>
          </a:xfrm>
          <a:prstGeom prst="rect">
            <a:avLst/>
          </a:prstGeom>
          <a:solidFill>
            <a:srgbClr val="D3E1F2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699516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226" name="Shape 224"/>
          <p:cNvSpPr/>
          <p:nvPr/>
        </p:nvSpPr>
        <p:spPr>
          <a:xfrm>
            <a:off x="7648956" y="4978908"/>
            <a:ext cx="612648" cy="246888"/>
          </a:xfrm>
          <a:prstGeom prst="rect">
            <a:avLst/>
          </a:prstGeom>
          <a:solidFill>
            <a:srgbClr val="D9E4F3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763524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2.2x</a:t>
            </a:r>
            <a:endParaRPr lang="en-US" sz="950" dirty="0"/>
          </a:p>
        </p:txBody>
      </p:sp>
      <p:sp>
        <p:nvSpPr>
          <p:cNvPr id="228" name="Text 226"/>
          <p:cNvSpPr txBox="1"/>
          <p:nvPr/>
        </p:nvSpPr>
        <p:spPr>
          <a:xfrm>
            <a:off x="4617720" y="5239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₹75k</a:t>
            </a:r>
            <a:endParaRPr lang="en-US" sz="950" dirty="0"/>
          </a:p>
        </p:txBody>
      </p:sp>
      <p:sp>
        <p:nvSpPr>
          <p:cNvPr id="229" name="Shape 227"/>
          <p:cNvSpPr/>
          <p:nvPr/>
        </p:nvSpPr>
        <p:spPr>
          <a:xfrm>
            <a:off x="5088636" y="5253228"/>
            <a:ext cx="612648" cy="246888"/>
          </a:xfrm>
          <a:prstGeom prst="rect">
            <a:avLst/>
          </a:prstGeom>
          <a:solidFill>
            <a:srgbClr val="DBE6F4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507492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231" name="Shape 229"/>
          <p:cNvSpPr/>
          <p:nvPr/>
        </p:nvSpPr>
        <p:spPr>
          <a:xfrm>
            <a:off x="5728716" y="5253228"/>
            <a:ext cx="612648" cy="246888"/>
          </a:xfrm>
          <a:prstGeom prst="rect">
            <a:avLst/>
          </a:prstGeom>
          <a:solidFill>
            <a:srgbClr val="E1EAF6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571500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233" name="Shape 231"/>
          <p:cNvSpPr/>
          <p:nvPr/>
        </p:nvSpPr>
        <p:spPr>
          <a:xfrm>
            <a:off x="6368796" y="5253228"/>
            <a:ext cx="612648" cy="246888"/>
          </a:xfrm>
          <a:prstGeom prst="rect">
            <a:avLst/>
          </a:prstGeom>
          <a:solidFill>
            <a:srgbClr val="E6EEF8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635508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235" name="Shape 233"/>
          <p:cNvSpPr/>
          <p:nvPr/>
        </p:nvSpPr>
        <p:spPr>
          <a:xfrm>
            <a:off x="7008876" y="5253228"/>
            <a:ext cx="612648" cy="246888"/>
          </a:xfrm>
          <a:prstGeom prst="rect">
            <a:avLst/>
          </a:prstGeom>
          <a:solidFill>
            <a:srgbClr val="E9F0F9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699516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237" name="Shape 235"/>
          <p:cNvSpPr/>
          <p:nvPr/>
        </p:nvSpPr>
        <p:spPr>
          <a:xfrm>
            <a:off x="7648956" y="5253228"/>
            <a:ext cx="612648" cy="246888"/>
          </a:xfrm>
          <a:prstGeom prst="rect">
            <a:avLst/>
          </a:prstGeom>
          <a:solidFill>
            <a:srgbClr val="ECF2FA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63524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239" name="Shape 237"/>
          <p:cNvSpPr/>
          <p:nvPr/>
        </p:nvSpPr>
        <p:spPr>
          <a:xfrm>
            <a:off x="4617720" y="5870448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240" name="Text 238"/>
          <p:cNvSpPr txBox="1"/>
          <p:nvPr/>
        </p:nvSpPr>
        <p:spPr>
          <a:xfrm>
            <a:off x="4617720" y="587044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41" name="Text 239"/>
          <p:cNvSpPr txBox="1"/>
          <p:nvPr/>
        </p:nvSpPr>
        <p:spPr>
          <a:xfrm>
            <a:off x="6263640" y="5833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cells: ₹30 with 6.6 % reduction; ₹35k with 3 %.</a:t>
            </a:r>
            <a:endParaRPr lang="en-US" sz="900" dirty="0"/>
          </a:p>
        </p:txBody>
      </p:sp>
      <p:sp>
        <p:nvSpPr>
          <p:cNvPr id="242" name="Shape 240"/>
          <p:cNvSpPr/>
          <p:nvPr/>
        </p:nvSpPr>
        <p:spPr>
          <a:xfrm>
            <a:off x="8412480" y="1115568"/>
            <a:ext cx="3367735" cy="5212080"/>
          </a:xfrm>
          <a:prstGeom prst="roundRect">
            <a:avLst>
              <a:gd name="adj" fmla="val 815"/>
            </a:avLst>
          </a:prstGeom>
          <a:solidFill>
            <a:srgbClr val="E3ECF7"/>
          </a:solidFill>
          <a:ln/>
        </p:spPr>
      </p:sp>
      <p:sp>
        <p:nvSpPr>
          <p:cNvPr id="243" name="Shape 241"/>
          <p:cNvSpPr/>
          <p:nvPr/>
        </p:nvSpPr>
        <p:spPr>
          <a:xfrm>
            <a:off x="8558784" y="1220724"/>
            <a:ext cx="128016" cy="128016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244" name="Text 242"/>
          <p:cNvSpPr txBox="1"/>
          <p:nvPr/>
        </p:nvSpPr>
        <p:spPr>
          <a:xfrm>
            <a:off x="8759952" y="1161288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TORNADO AND SEGMENTS</a:t>
            </a:r>
            <a:endParaRPr lang="en-US" sz="1200" dirty="0"/>
          </a:p>
        </p:txBody>
      </p:sp>
      <p:sp>
        <p:nvSpPr>
          <p:cNvPr id="245" name="Text 243"/>
          <p:cNvSpPr txBox="1"/>
          <p:nvPr/>
        </p:nvSpPr>
        <p:spPr>
          <a:xfrm>
            <a:off x="8503920" y="1463040"/>
            <a:ext cx="3184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one input at a time</a:t>
            </a:r>
            <a:endParaRPr lang="en-US" sz="1000" dirty="0"/>
          </a:p>
        </p:txBody>
      </p:sp>
      <p:sp>
        <p:nvSpPr>
          <p:cNvPr id="246" name="Text 244"/>
          <p:cNvSpPr txBox="1"/>
          <p:nvPr/>
        </p:nvSpPr>
        <p:spPr>
          <a:xfrm>
            <a:off x="850392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₹20 to ₹40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10079383" y="1856232"/>
            <a:ext cx="610092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48" name="Shape 246"/>
          <p:cNvSpPr/>
          <p:nvPr/>
        </p:nvSpPr>
        <p:spPr>
          <a:xfrm>
            <a:off x="10689475" y="1856232"/>
            <a:ext cx="610092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9731911" y="17830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00" dirty="0"/>
          </a:p>
        </p:txBody>
      </p:sp>
      <p:sp>
        <p:nvSpPr>
          <p:cNvPr id="250" name="Text 248"/>
          <p:cNvSpPr txBox="1"/>
          <p:nvPr/>
        </p:nvSpPr>
        <p:spPr>
          <a:xfrm>
            <a:off x="1132700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900" dirty="0"/>
          </a:p>
        </p:txBody>
      </p:sp>
      <p:sp>
        <p:nvSpPr>
          <p:cNvPr id="251" name="Text 249"/>
          <p:cNvSpPr txBox="1"/>
          <p:nvPr/>
        </p:nvSpPr>
        <p:spPr>
          <a:xfrm>
            <a:off x="850392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15 to 50 %</a:t>
            </a:r>
            <a:endParaRPr lang="en-US" sz="900" dirty="0"/>
          </a:p>
        </p:txBody>
      </p:sp>
      <p:sp>
        <p:nvSpPr>
          <p:cNvPr id="252" name="Shape 250"/>
          <p:cNvSpPr/>
          <p:nvPr/>
        </p:nvSpPr>
        <p:spPr>
          <a:xfrm>
            <a:off x="10095230" y="2313432"/>
            <a:ext cx="594246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689475" y="2313432"/>
            <a:ext cx="554629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9747758" y="22402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255" name="Text 253"/>
          <p:cNvSpPr txBox="1"/>
          <p:nvPr/>
        </p:nvSpPr>
        <p:spPr>
          <a:xfrm>
            <a:off x="11271537" y="22402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00" dirty="0"/>
          </a:p>
        </p:txBody>
      </p:sp>
      <p:sp>
        <p:nvSpPr>
          <p:cNvPr id="256" name="Text 254"/>
          <p:cNvSpPr txBox="1"/>
          <p:nvPr/>
        </p:nvSpPr>
        <p:spPr>
          <a:xfrm>
            <a:off x="850392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Non-renewal 30 to 10 %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10483470" y="2770632"/>
            <a:ext cx="206005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0689475" y="2770632"/>
            <a:ext cx="245622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59" name="Text 257"/>
          <p:cNvSpPr txBox="1"/>
          <p:nvPr/>
        </p:nvSpPr>
        <p:spPr>
          <a:xfrm>
            <a:off x="10135998" y="26974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60" name="Text 258"/>
          <p:cNvSpPr txBox="1"/>
          <p:nvPr/>
        </p:nvSpPr>
        <p:spPr>
          <a:xfrm>
            <a:off x="10962529" y="26974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61" name="Text 259"/>
          <p:cNvSpPr txBox="1"/>
          <p:nvPr/>
        </p:nvSpPr>
        <p:spPr>
          <a:xfrm>
            <a:off x="8503920" y="3154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churn 5 to 1.5 %</a:t>
            </a:r>
            <a:endParaRPr lang="en-US" sz="900" dirty="0"/>
          </a:p>
        </p:txBody>
      </p:sp>
      <p:sp>
        <p:nvSpPr>
          <p:cNvPr id="262" name="Shape 260"/>
          <p:cNvSpPr/>
          <p:nvPr/>
        </p:nvSpPr>
        <p:spPr>
          <a:xfrm>
            <a:off x="10451777" y="3227832"/>
            <a:ext cx="237698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689475" y="3227832"/>
            <a:ext cx="237698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64" name="Text 262"/>
          <p:cNvSpPr txBox="1"/>
          <p:nvPr/>
        </p:nvSpPr>
        <p:spPr>
          <a:xfrm>
            <a:off x="10104305" y="31546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65" name="Text 263"/>
          <p:cNvSpPr txBox="1"/>
          <p:nvPr/>
        </p:nvSpPr>
        <p:spPr>
          <a:xfrm>
            <a:off x="10954606" y="31546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66" name="Text 264"/>
          <p:cNvSpPr txBox="1"/>
          <p:nvPr/>
        </p:nvSpPr>
        <p:spPr>
          <a:xfrm>
            <a:off x="8503920" y="3611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per rep 6 to 14</a:t>
            </a:r>
            <a:endParaRPr lang="en-US" sz="900" dirty="0"/>
          </a:p>
        </p:txBody>
      </p:sp>
      <p:sp>
        <p:nvSpPr>
          <p:cNvPr id="267" name="Shape 265"/>
          <p:cNvSpPr/>
          <p:nvPr/>
        </p:nvSpPr>
        <p:spPr>
          <a:xfrm>
            <a:off x="10467624" y="3685032"/>
            <a:ext cx="221852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68" name="Shape 266"/>
          <p:cNvSpPr/>
          <p:nvPr/>
        </p:nvSpPr>
        <p:spPr>
          <a:xfrm>
            <a:off x="10689475" y="3685032"/>
            <a:ext cx="122811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69" name="Text 267"/>
          <p:cNvSpPr txBox="1"/>
          <p:nvPr/>
        </p:nvSpPr>
        <p:spPr>
          <a:xfrm>
            <a:off x="10120152" y="36118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70" name="Text 268"/>
          <p:cNvSpPr txBox="1"/>
          <p:nvPr/>
        </p:nvSpPr>
        <p:spPr>
          <a:xfrm>
            <a:off x="10839718" y="3611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00" dirty="0"/>
          </a:p>
        </p:txBody>
      </p:sp>
      <p:sp>
        <p:nvSpPr>
          <p:cNvPr id="271" name="Shape 269"/>
          <p:cNvSpPr/>
          <p:nvPr/>
        </p:nvSpPr>
        <p:spPr>
          <a:xfrm>
            <a:off x="10680331" y="1737360"/>
            <a:ext cx="18288" cy="237744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272" name="Text 270"/>
          <p:cNvSpPr txBox="1"/>
          <p:nvPr/>
        </p:nvSpPr>
        <p:spPr>
          <a:xfrm>
            <a:off x="10232275" y="4114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3.7x</a:t>
            </a:r>
            <a:endParaRPr lang="en-US" sz="900" dirty="0"/>
          </a:p>
        </p:txBody>
      </p:sp>
      <p:pic>
        <p:nvPicPr>
          <p:cNvPr id="273" name="Image 0" descr="LTV over acquisition cost by seg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389120"/>
            <a:ext cx="2103120" cy="1572768"/>
          </a:xfrm>
          <a:prstGeom prst="rect">
            <a:avLst/>
          </a:prstGeom>
        </p:spPr>
      </p:pic>
      <p:sp>
        <p:nvSpPr>
          <p:cNvPr id="274" name="Text 271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(Scenarios, Sensitivity). List price ₹30; ERP and LMS prices found: ₹4 to ₹21. Willingness to pay is untested.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GO-TO-MARKET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mid-size institutes in Patna and Lucknow, keep small ones self-serve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GO-TO-MARKET 10 %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INSTITUTES PAY TODAY</a:t>
            </a:r>
            <a:endParaRPr lang="en-US" sz="1200" dirty="0"/>
          </a:p>
        </p:txBody>
      </p:sp>
      <p:pic>
        <p:nvPicPr>
          <p:cNvPr id="17" name="Image 0" descr="Listed prices of generic institute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297680" cy="23774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21208" y="3858768"/>
            <a:ext cx="3224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1208" y="3858768"/>
            <a:ext cx="3224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INPUTS: LISTED PRICES, LOW TO MEDIUM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9200" y="1115568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120640" y="11612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5138928" y="1481328"/>
            <a:ext cx="3392424" cy="786384"/>
          </a:xfrm>
          <a:prstGeom prst="trapezoid">
            <a:avLst/>
          </a:prstGeom>
          <a:solidFill>
            <a:srgbClr val="2E6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81244" y="15087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year's Excel: who left, would we have caught them?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 flipV="1">
            <a:off x="5335524" y="2304288"/>
            <a:ext cx="2999232" cy="786384"/>
          </a:xfrm>
          <a:prstGeom prst="trapezoid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77840" y="2331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agreed measures; about 30 % convert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 flipV="1">
            <a:off x="5532120" y="3127248"/>
            <a:ext cx="2606040" cy="786384"/>
          </a:xfrm>
          <a:prstGeom prst="trapezoid">
            <a:avLst/>
          </a:prstGeom>
          <a:solidFill>
            <a:srgbClr val="5B8D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774436" y="315468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Onboarded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₹8,000 each, after conversion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778240" y="1115568"/>
            <a:ext cx="3001975" cy="3017520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8869680" y="1161288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(BASE)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51392" y="1463040"/>
            <a:ext cx="7772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897112" y="14630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9628632" y="1463040"/>
            <a:ext cx="64008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7435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10268712" y="1463040"/>
            <a:ext cx="64008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31443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10908792" y="1463040"/>
            <a:ext cx="73152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954512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8851392" y="1737360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897112" y="1737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9628632" y="1737360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67435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0268712" y="1737360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443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0908792" y="1737360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0954512" y="1737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8851392" y="2066544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851392" y="2066544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897112" y="20665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962863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67435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₹65k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1026871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031443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₹95k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10908792" y="2066544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0954512" y="20665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₹1.25L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8851392" y="2395728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851392" y="2395728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897112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9628632" y="2395728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67435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10268712" y="2395728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31443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10908792" y="2395728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10954512" y="239572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8851392" y="2724912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851392" y="2724912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8897112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962863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67435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1026871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1031443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10908792" y="2724912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10954512" y="27249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8851392" y="3054096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851392" y="3054096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897112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9628632" y="3054096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967435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10268712" y="3054096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1031443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80" name="Shape 77"/>
          <p:cNvSpPr/>
          <p:nvPr/>
        </p:nvSpPr>
        <p:spPr>
          <a:xfrm>
            <a:off x="10908792" y="3054096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10954512" y="30540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82" name="Shape 79"/>
          <p:cNvSpPr/>
          <p:nvPr/>
        </p:nvSpPr>
        <p:spPr>
          <a:xfrm>
            <a:off x="8851392" y="3383280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8869680" y="3474720"/>
            <a:ext cx="2819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window: March to June, before the new session.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8869680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85" name="Shape 82"/>
          <p:cNvSpPr/>
          <p:nvPr/>
        </p:nvSpPr>
        <p:spPr>
          <a:xfrm>
            <a:off x="9104605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86" name="Shape 83"/>
          <p:cNvSpPr/>
          <p:nvPr/>
        </p:nvSpPr>
        <p:spPr>
          <a:xfrm>
            <a:off x="9339529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87" name="Shape 84"/>
          <p:cNvSpPr/>
          <p:nvPr/>
        </p:nvSpPr>
        <p:spPr>
          <a:xfrm>
            <a:off x="9574454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8" name="Shape 85"/>
          <p:cNvSpPr/>
          <p:nvPr/>
        </p:nvSpPr>
        <p:spPr>
          <a:xfrm>
            <a:off x="9809378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9" name="Shape 86"/>
          <p:cNvSpPr/>
          <p:nvPr/>
        </p:nvSpPr>
        <p:spPr>
          <a:xfrm>
            <a:off x="10044303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0" name="Shape 87"/>
          <p:cNvSpPr/>
          <p:nvPr/>
        </p:nvSpPr>
        <p:spPr>
          <a:xfrm>
            <a:off x="10279228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1" name="Shape 88"/>
          <p:cNvSpPr/>
          <p:nvPr/>
        </p:nvSpPr>
        <p:spPr>
          <a:xfrm>
            <a:off x="10514152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2" name="Shape 89"/>
          <p:cNvSpPr/>
          <p:nvPr/>
        </p:nvSpPr>
        <p:spPr>
          <a:xfrm>
            <a:off x="10749077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3" name="Shape 90"/>
          <p:cNvSpPr/>
          <p:nvPr/>
        </p:nvSpPr>
        <p:spPr>
          <a:xfrm>
            <a:off x="10984001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4" name="Shape 91"/>
          <p:cNvSpPr/>
          <p:nvPr/>
        </p:nvSpPr>
        <p:spPr>
          <a:xfrm>
            <a:off x="11218926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5" name="Shape 92"/>
          <p:cNvSpPr/>
          <p:nvPr/>
        </p:nvSpPr>
        <p:spPr>
          <a:xfrm>
            <a:off x="11453851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96" name="Shape 93"/>
          <p:cNvSpPr/>
          <p:nvPr/>
        </p:nvSpPr>
        <p:spPr>
          <a:xfrm>
            <a:off x="411480" y="4251960"/>
            <a:ext cx="74980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5B8DC9"/>
            </a:solidFill>
            <a:prstDash val="dash"/>
          </a:ln>
        </p:spPr>
      </p:sp>
      <p:sp>
        <p:nvSpPr>
          <p:cNvPr id="97" name="Text 94"/>
          <p:cNvSpPr txBox="1"/>
          <p:nvPr/>
        </p:nvSpPr>
        <p:spPr>
          <a:xfrm>
            <a:off x="5029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GENERIC APPS SHOW (VENDOR LISTINGS, OCT 2026)</a:t>
            </a:r>
            <a:endParaRPr lang="en-US" sz="1200" dirty="0"/>
          </a:p>
        </p:txBody>
      </p:sp>
      <p:sp>
        <p:nvSpPr>
          <p:cNvPr id="98" name="Shape 95"/>
          <p:cNvSpPr/>
          <p:nvPr/>
        </p:nvSpPr>
        <p:spPr>
          <a:xfrm>
            <a:off x="502920" y="4590288"/>
            <a:ext cx="201168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54864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2514600" y="4590288"/>
            <a:ext cx="91440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256032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3429000" y="4590288"/>
            <a:ext cx="100584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347472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analytics</a:t>
            </a:r>
            <a:endParaRPr lang="en-US" sz="950" dirty="0"/>
          </a:p>
        </p:txBody>
      </p:sp>
      <p:sp>
        <p:nvSpPr>
          <p:cNvPr id="104" name="Shape 101"/>
          <p:cNvSpPr/>
          <p:nvPr/>
        </p:nvSpPr>
        <p:spPr>
          <a:xfrm>
            <a:off x="4434840" y="4590288"/>
            <a:ext cx="100584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5" name="Text 102"/>
          <p:cNvSpPr txBox="1"/>
          <p:nvPr/>
        </p:nvSpPr>
        <p:spPr>
          <a:xfrm>
            <a:off x="448056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reports</a:t>
            </a:r>
            <a:endParaRPr lang="en-US" sz="950" dirty="0"/>
          </a:p>
        </p:txBody>
      </p:sp>
      <p:sp>
        <p:nvSpPr>
          <p:cNvPr id="106" name="Shape 103"/>
          <p:cNvSpPr/>
          <p:nvPr/>
        </p:nvSpPr>
        <p:spPr>
          <a:xfrm>
            <a:off x="5440680" y="4590288"/>
            <a:ext cx="82296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7" name="Text 104"/>
          <p:cNvSpPr txBox="1"/>
          <p:nvPr/>
        </p:nvSpPr>
        <p:spPr>
          <a:xfrm>
            <a:off x="5486400" y="45902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50" dirty="0"/>
          </a:p>
        </p:txBody>
      </p:sp>
      <p:sp>
        <p:nvSpPr>
          <p:cNvPr id="108" name="Shape 105"/>
          <p:cNvSpPr/>
          <p:nvPr/>
        </p:nvSpPr>
        <p:spPr>
          <a:xfrm>
            <a:off x="6263640" y="4590288"/>
            <a:ext cx="91440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9" name="Text 106"/>
          <p:cNvSpPr txBox="1"/>
          <p:nvPr/>
        </p:nvSpPr>
        <p:spPr>
          <a:xfrm>
            <a:off x="630936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950" dirty="0"/>
          </a:p>
        </p:txBody>
      </p:sp>
      <p:sp>
        <p:nvSpPr>
          <p:cNvPr id="110" name="Shape 107"/>
          <p:cNvSpPr/>
          <p:nvPr/>
        </p:nvSpPr>
        <p:spPr>
          <a:xfrm>
            <a:off x="7178040" y="4590288"/>
            <a:ext cx="73152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7223760" y="4590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112" name="Shape 109"/>
          <p:cNvSpPr/>
          <p:nvPr/>
        </p:nvSpPr>
        <p:spPr>
          <a:xfrm>
            <a:off x="502920" y="4846320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48640" y="484632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Classplus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514600" y="4846320"/>
            <a:ext cx="9144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256032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6" name="Shape 113"/>
          <p:cNvSpPr/>
          <p:nvPr/>
        </p:nvSpPr>
        <p:spPr>
          <a:xfrm>
            <a:off x="3429000" y="4846320"/>
            <a:ext cx="100584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347472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8" name="Shape 115"/>
          <p:cNvSpPr/>
          <p:nvPr/>
        </p:nvSpPr>
        <p:spPr>
          <a:xfrm>
            <a:off x="4434840" y="4846320"/>
            <a:ext cx="100584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448056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0" name="Shape 117"/>
          <p:cNvSpPr/>
          <p:nvPr/>
        </p:nvSpPr>
        <p:spPr>
          <a:xfrm>
            <a:off x="5440680" y="4846320"/>
            <a:ext cx="82296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5486400" y="48463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2" name="Shape 119"/>
          <p:cNvSpPr/>
          <p:nvPr/>
        </p:nvSpPr>
        <p:spPr>
          <a:xfrm>
            <a:off x="6263640" y="4846320"/>
            <a:ext cx="9144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23" name="Text 120"/>
          <p:cNvSpPr txBox="1"/>
          <p:nvPr/>
        </p:nvSpPr>
        <p:spPr>
          <a:xfrm>
            <a:off x="630936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4" name="Shape 121"/>
          <p:cNvSpPr/>
          <p:nvPr/>
        </p:nvSpPr>
        <p:spPr>
          <a:xfrm>
            <a:off x="7178040" y="4846320"/>
            <a:ext cx="73152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7223760" y="48463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6" name="Shape 123"/>
          <p:cNvSpPr/>
          <p:nvPr/>
        </p:nvSpPr>
        <p:spPr>
          <a:xfrm>
            <a:off x="502920" y="5093208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02920" y="5093208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548640" y="50932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Fedena</a:t>
            </a:r>
            <a:endParaRPr lang="en-US" sz="950" dirty="0"/>
          </a:p>
        </p:txBody>
      </p:sp>
      <p:sp>
        <p:nvSpPr>
          <p:cNvPr id="129" name="Shape 126"/>
          <p:cNvSpPr/>
          <p:nvPr/>
        </p:nvSpPr>
        <p:spPr>
          <a:xfrm>
            <a:off x="251460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256032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1" name="Shape 128"/>
          <p:cNvSpPr/>
          <p:nvPr/>
        </p:nvSpPr>
        <p:spPr>
          <a:xfrm>
            <a:off x="3429000" y="5093208"/>
            <a:ext cx="100584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32" name="Text 129"/>
          <p:cNvSpPr txBox="1"/>
          <p:nvPr/>
        </p:nvSpPr>
        <p:spPr>
          <a:xfrm>
            <a:off x="347472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3" name="Shape 130"/>
          <p:cNvSpPr/>
          <p:nvPr/>
        </p:nvSpPr>
        <p:spPr>
          <a:xfrm>
            <a:off x="4434840" y="5093208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448056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35" name="Shape 132"/>
          <p:cNvSpPr/>
          <p:nvPr/>
        </p:nvSpPr>
        <p:spPr>
          <a:xfrm>
            <a:off x="5440680" y="5093208"/>
            <a:ext cx="82296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5486400" y="50932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626364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630936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7178040" y="5093208"/>
            <a:ext cx="73152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7223760" y="509320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502920" y="5340096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502920" y="5340096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548640" y="53400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Edmingle</a:t>
            </a:r>
            <a:endParaRPr lang="en-US" sz="950" dirty="0"/>
          </a:p>
        </p:txBody>
      </p:sp>
      <p:sp>
        <p:nvSpPr>
          <p:cNvPr id="144" name="Shape 141"/>
          <p:cNvSpPr/>
          <p:nvPr/>
        </p:nvSpPr>
        <p:spPr>
          <a:xfrm>
            <a:off x="251460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5" name="Text 142"/>
          <p:cNvSpPr txBox="1"/>
          <p:nvPr/>
        </p:nvSpPr>
        <p:spPr>
          <a:xfrm>
            <a:off x="256032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46" name="Shape 143"/>
          <p:cNvSpPr/>
          <p:nvPr/>
        </p:nvSpPr>
        <p:spPr>
          <a:xfrm>
            <a:off x="3429000" y="5340096"/>
            <a:ext cx="100584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47" name="Text 144"/>
          <p:cNvSpPr txBox="1"/>
          <p:nvPr/>
        </p:nvSpPr>
        <p:spPr>
          <a:xfrm>
            <a:off x="347472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8" name="Shape 145"/>
          <p:cNvSpPr/>
          <p:nvPr/>
        </p:nvSpPr>
        <p:spPr>
          <a:xfrm>
            <a:off x="4434840" y="5340096"/>
            <a:ext cx="100584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49" name="Text 146"/>
          <p:cNvSpPr txBox="1"/>
          <p:nvPr/>
        </p:nvSpPr>
        <p:spPr>
          <a:xfrm>
            <a:off x="448056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0" name="Shape 147"/>
          <p:cNvSpPr/>
          <p:nvPr/>
        </p:nvSpPr>
        <p:spPr>
          <a:xfrm>
            <a:off x="5440680" y="5340096"/>
            <a:ext cx="82296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5486400" y="534009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2" name="Shape 149"/>
          <p:cNvSpPr/>
          <p:nvPr/>
        </p:nvSpPr>
        <p:spPr>
          <a:xfrm>
            <a:off x="626364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630936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54" name="Shape 151"/>
          <p:cNvSpPr/>
          <p:nvPr/>
        </p:nvSpPr>
        <p:spPr>
          <a:xfrm>
            <a:off x="7178040" y="5340096"/>
            <a:ext cx="73152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7223760" y="534009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56" name="Shape 153"/>
          <p:cNvSpPr/>
          <p:nvPr/>
        </p:nvSpPr>
        <p:spPr>
          <a:xfrm>
            <a:off x="502920" y="5586984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502920" y="5586984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8" name="Text 155"/>
          <p:cNvSpPr txBox="1"/>
          <p:nvPr/>
        </p:nvSpPr>
        <p:spPr>
          <a:xfrm>
            <a:off x="548640" y="55869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Teachmint</a:t>
            </a:r>
            <a:endParaRPr lang="en-US" sz="950" dirty="0"/>
          </a:p>
        </p:txBody>
      </p:sp>
      <p:sp>
        <p:nvSpPr>
          <p:cNvPr id="159" name="Shape 156"/>
          <p:cNvSpPr/>
          <p:nvPr/>
        </p:nvSpPr>
        <p:spPr>
          <a:xfrm>
            <a:off x="2514600" y="5586984"/>
            <a:ext cx="9144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256032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1" name="Shape 158"/>
          <p:cNvSpPr/>
          <p:nvPr/>
        </p:nvSpPr>
        <p:spPr>
          <a:xfrm>
            <a:off x="3429000" y="5586984"/>
            <a:ext cx="100584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62" name="Text 159"/>
          <p:cNvSpPr txBox="1"/>
          <p:nvPr/>
        </p:nvSpPr>
        <p:spPr>
          <a:xfrm>
            <a:off x="347472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3" name="Shape 160"/>
          <p:cNvSpPr/>
          <p:nvPr/>
        </p:nvSpPr>
        <p:spPr>
          <a:xfrm>
            <a:off x="4434840" y="5586984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64" name="Text 161"/>
          <p:cNvSpPr txBox="1"/>
          <p:nvPr/>
        </p:nvSpPr>
        <p:spPr>
          <a:xfrm>
            <a:off x="448056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5" name="Shape 162"/>
          <p:cNvSpPr/>
          <p:nvPr/>
        </p:nvSpPr>
        <p:spPr>
          <a:xfrm>
            <a:off x="5440680" y="5586984"/>
            <a:ext cx="82296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5486400" y="558698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7" name="Shape 164"/>
          <p:cNvSpPr/>
          <p:nvPr/>
        </p:nvSpPr>
        <p:spPr>
          <a:xfrm>
            <a:off x="6263640" y="5586984"/>
            <a:ext cx="9144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68" name="Text 165"/>
          <p:cNvSpPr txBox="1"/>
          <p:nvPr/>
        </p:nvSpPr>
        <p:spPr>
          <a:xfrm>
            <a:off x="630936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9" name="Shape 166"/>
          <p:cNvSpPr/>
          <p:nvPr/>
        </p:nvSpPr>
        <p:spPr>
          <a:xfrm>
            <a:off x="7178040" y="5586984"/>
            <a:ext cx="73152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7223760" y="558698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71" name="Shape 168"/>
          <p:cNvSpPr/>
          <p:nvPr/>
        </p:nvSpPr>
        <p:spPr>
          <a:xfrm>
            <a:off x="502920" y="5833872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502920" y="5833872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3" name="Text 170"/>
          <p:cNvSpPr txBox="1"/>
          <p:nvPr/>
        </p:nvSpPr>
        <p:spPr>
          <a:xfrm>
            <a:off x="548640" y="58338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950" dirty="0"/>
          </a:p>
        </p:txBody>
      </p:sp>
      <p:sp>
        <p:nvSpPr>
          <p:cNvPr id="174" name="Shape 171"/>
          <p:cNvSpPr/>
          <p:nvPr/>
        </p:nvSpPr>
        <p:spPr>
          <a:xfrm>
            <a:off x="2514600" y="5833872"/>
            <a:ext cx="91440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75" name="Text 172"/>
          <p:cNvSpPr txBox="1"/>
          <p:nvPr/>
        </p:nvSpPr>
        <p:spPr>
          <a:xfrm>
            <a:off x="256032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176" name="Shape 173"/>
          <p:cNvSpPr/>
          <p:nvPr/>
        </p:nvSpPr>
        <p:spPr>
          <a:xfrm>
            <a:off x="3429000" y="5833872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77" name="Text 174"/>
          <p:cNvSpPr txBox="1"/>
          <p:nvPr/>
        </p:nvSpPr>
        <p:spPr>
          <a:xfrm>
            <a:off x="347472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78" name="Shape 175"/>
          <p:cNvSpPr/>
          <p:nvPr/>
        </p:nvSpPr>
        <p:spPr>
          <a:xfrm>
            <a:off x="4434840" y="5833872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79" name="Text 176"/>
          <p:cNvSpPr txBox="1"/>
          <p:nvPr/>
        </p:nvSpPr>
        <p:spPr>
          <a:xfrm>
            <a:off x="448056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80" name="Shape 177"/>
          <p:cNvSpPr/>
          <p:nvPr/>
        </p:nvSpPr>
        <p:spPr>
          <a:xfrm>
            <a:off x="5440680" y="5833872"/>
            <a:ext cx="82296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5486400" y="583387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82" name="Shape 179"/>
          <p:cNvSpPr/>
          <p:nvPr/>
        </p:nvSpPr>
        <p:spPr>
          <a:xfrm>
            <a:off x="6263640" y="5833872"/>
            <a:ext cx="91440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83" name="Text 180"/>
          <p:cNvSpPr txBox="1"/>
          <p:nvPr/>
        </p:nvSpPr>
        <p:spPr>
          <a:xfrm>
            <a:off x="630936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84" name="Shape 181"/>
          <p:cNvSpPr/>
          <p:nvPr/>
        </p:nvSpPr>
        <p:spPr>
          <a:xfrm>
            <a:off x="7178040" y="5833872"/>
            <a:ext cx="731520" cy="246888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7223760" y="583387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950" dirty="0"/>
          </a:p>
        </p:txBody>
      </p:sp>
      <p:sp>
        <p:nvSpPr>
          <p:cNvPr id="186" name="Shape 183"/>
          <p:cNvSpPr/>
          <p:nvPr/>
        </p:nvSpPr>
        <p:spPr>
          <a:xfrm>
            <a:off x="502920" y="6080760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87" name="Text 184"/>
          <p:cNvSpPr txBox="1"/>
          <p:nvPr/>
        </p:nvSpPr>
        <p:spPr>
          <a:xfrm>
            <a:off x="502920" y="6108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shown in the listing   no: not shown   ?: not verified from the listing</a:t>
            </a:r>
            <a:endParaRPr lang="en-US" sz="850" dirty="0"/>
          </a:p>
        </p:txBody>
      </p:sp>
      <p:sp>
        <p:nvSpPr>
          <p:cNvPr id="188" name="Shape 185"/>
          <p:cNvSpPr/>
          <p:nvPr/>
        </p:nvSpPr>
        <p:spPr>
          <a:xfrm>
            <a:off x="8046720" y="4251960"/>
            <a:ext cx="3733495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89" name="Text 186"/>
          <p:cNvSpPr txBox="1"/>
          <p:nvPr/>
        </p:nvSpPr>
        <p:spPr>
          <a:xfrm>
            <a:off x="8138160" y="429768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AS A FEATURE</a:t>
            </a:r>
            <a:endParaRPr lang="en-US" sz="1200" dirty="0"/>
          </a:p>
        </p:txBody>
      </p:sp>
      <p:sp>
        <p:nvSpPr>
          <p:cNvPr id="190" name="Shape 187"/>
          <p:cNvSpPr/>
          <p:nvPr/>
        </p:nvSpPr>
        <p:spPr>
          <a:xfrm>
            <a:off x="8156448" y="4617720"/>
            <a:ext cx="310896" cy="31089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91" name="Image 1" descr="FaCalendarDay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845" y="4686117"/>
            <a:ext cx="174102" cy="174102"/>
          </a:xfrm>
          <a:prstGeom prst="rect">
            <a:avLst/>
          </a:prstGeom>
        </p:spPr>
      </p:pic>
      <p:sp>
        <p:nvSpPr>
          <p:cNvPr id="192" name="Text 188"/>
          <p:cNvSpPr txBox="1"/>
          <p:nvPr/>
        </p:nvSpPr>
        <p:spPr>
          <a:xfrm>
            <a:off x="8549640" y="4617720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the day after the weekly off</a:t>
            </a:r>
            <a:endParaRPr lang="en-US" sz="1000" dirty="0"/>
          </a:p>
        </p:txBody>
      </p:sp>
      <p:sp>
        <p:nvSpPr>
          <p:cNvPr id="193" name="Shape 189"/>
          <p:cNvSpPr/>
          <p:nvPr/>
        </p:nvSpPr>
        <p:spPr>
          <a:xfrm>
            <a:off x="8156448" y="5038344"/>
            <a:ext cx="310896" cy="31089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194" name="Image 2" descr="FaMoneyBillWav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845" y="5106741"/>
            <a:ext cx="174102" cy="174102"/>
          </a:xfrm>
          <a:prstGeom prst="rect">
            <a:avLst/>
          </a:prstGeom>
        </p:spPr>
      </p:pic>
      <p:sp>
        <p:nvSpPr>
          <p:cNvPr id="195" name="Text 190"/>
          <p:cNvSpPr txBox="1"/>
          <p:nvPr/>
        </p:nvSpPr>
        <p:spPr>
          <a:xfrm>
            <a:off x="8549640" y="5038344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calculator, 10-day rule</a:t>
            </a:r>
            <a:endParaRPr lang="en-US" sz="1000" dirty="0"/>
          </a:p>
        </p:txBody>
      </p:sp>
      <p:sp>
        <p:nvSpPr>
          <p:cNvPr id="196" name="Shape 191"/>
          <p:cNvSpPr/>
          <p:nvPr/>
        </p:nvSpPr>
        <p:spPr>
          <a:xfrm>
            <a:off x="8156448" y="5458968"/>
            <a:ext cx="310896" cy="31089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97" name="Image 3" descr="FaUser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845" y="5527365"/>
            <a:ext cx="174102" cy="174102"/>
          </a:xfrm>
          <a:prstGeom prst="rect">
            <a:avLst/>
          </a:prstGeom>
        </p:spPr>
      </p:pic>
      <p:sp>
        <p:nvSpPr>
          <p:cNvPr id="198" name="Text 192"/>
          <p:cNvSpPr txBox="1"/>
          <p:nvPr/>
        </p:nvSpPr>
        <p:spPr>
          <a:xfrm>
            <a:off x="8549640" y="5458968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check at enrolment, consent ledger</a:t>
            </a:r>
            <a:endParaRPr lang="en-US" sz="1000" dirty="0"/>
          </a:p>
        </p:txBody>
      </p:sp>
      <p:sp>
        <p:nvSpPr>
          <p:cNvPr id="199" name="Shape 193"/>
          <p:cNvSpPr/>
          <p:nvPr/>
        </p:nvSpPr>
        <p:spPr>
          <a:xfrm>
            <a:off x="8156448" y="5879592"/>
            <a:ext cx="310896" cy="310896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200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4845" y="5947989"/>
            <a:ext cx="174102" cy="174102"/>
          </a:xfrm>
          <a:prstGeom prst="rect">
            <a:avLst/>
          </a:prstGeom>
        </p:spPr>
      </p:pic>
      <p:sp>
        <p:nvSpPr>
          <p:cNvPr id="201" name="Text 194"/>
          <p:cNvSpPr txBox="1"/>
          <p:nvPr/>
        </p:nvSpPr>
        <p:spPr>
          <a:xfrm>
            <a:off x="8549640" y="5879592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fee registers, exportable</a:t>
            </a:r>
            <a:endParaRPr lang="en-US" sz="1000" dirty="0"/>
          </a:p>
        </p:txBody>
      </p:sp>
      <p:sp>
        <p:nvSpPr>
          <p:cNvPr id="202" name="Text 195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financial workbook (segments, pilot assumptions), financial/research (vendor listings; many features could not be verified), MoE Guidelines 2024, Rajasthan Act 2025.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PILOT PLAN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proved, what we did not, and how a pilot would settle it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 · HONEST LIMITS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70332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ON PUBLIC DATA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21208" y="15727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 (DKT 0.754)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1208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AUC day 28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(published 0.794, lower)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" y="24871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1208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94560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 AUC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1208" y="34015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top 10 %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 vs 0.24 to 0.31 for rules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42816" y="1115568"/>
            <a:ext cx="370332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52544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352544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SYNTHETIC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52544" y="15727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425696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 to end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025896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 tests pass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2544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425696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025896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rows seen across institutes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352544" y="24871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425696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checker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025896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checks, template fallback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52544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425696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025896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352544" y="34015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25696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lift, range coverage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025896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74152" y="1115568"/>
            <a:ext cx="370332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83880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3880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YET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183880" y="15727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57032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real institutes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857232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pilot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83880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257032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9857232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183880" y="24871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257032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dropout reduction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9857232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borrowed from trials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183880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257032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 at scale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9857232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review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8183880" y="34015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257032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on other sheet layouts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9857232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onboarding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11480" y="4069080"/>
            <a:ext cx="11368735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1480" y="4069080"/>
            <a:ext cx="11368735" cy="30175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21208" y="4069080"/>
            <a:ext cx="1114927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PLAN: HOW WE SETTLE THE OPEN QUESTIONS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594360" y="4434840"/>
            <a:ext cx="3772132" cy="502920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2376" y="4434840"/>
            <a:ext cx="3434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WEEKS 0 TO 4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4209782" y="4434840"/>
            <a:ext cx="3772132" cy="502920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437467" y="4434840"/>
            <a:ext cx="3335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ONE TERM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7825204" y="4434840"/>
            <a:ext cx="3772132" cy="502920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052889" y="4434840"/>
            <a:ext cx="3335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AFTER THE TERM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 at 2 institutes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68580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last year's Excel; show who left and what we would have flagged. Measure recall and precision on their data.</a:t>
            </a:r>
            <a:endParaRPr lang="en-US" sz="1050" dirty="0"/>
          </a:p>
        </p:txBody>
      </p:sp>
      <p:sp>
        <p:nvSpPr>
          <p:cNvPr id="80" name="Text 78"/>
          <p:cNvSpPr txBox="1"/>
          <p:nvPr/>
        </p:nvSpPr>
        <p:spPr>
          <a:xfrm>
            <a:off x="443484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Staggered paid pilot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443484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batches start first; the rest are the comparison. Success measures are written down before we start.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818388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and scale</a:t>
            </a:r>
            <a:endParaRPr lang="en-US" sz="1250" dirty="0"/>
          </a:p>
        </p:txBody>
      </p:sp>
      <p:sp>
        <p:nvSpPr>
          <p:cNvPr id="83" name="Text 81"/>
          <p:cNvSpPr txBox="1"/>
          <p:nvPr/>
        </p:nvSpPr>
        <p:spPr>
          <a:xfrm>
            <a:off x="818388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percentile mapping with real exam outcomes; publish what worked and what did not.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21208" y="6053328"/>
            <a:ext cx="11149279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6053328"/>
            <a:ext cx="108749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from the guide: dropout reduction 25 % to 6.6 %,  LTV ÷ CAC 10.7x to 3.7x.  About a quarter of dropouts are sudden and cannot be predicted from academic data.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ml/public_validation, financial workbook, technical/docs/FEASIBILITY_CHECK.md. Pending items are replaced with measured values before submission.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1: DATA MODEL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tables in five groups, all isolated per institute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88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88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institutes, users, students, guardians, batches, batch_changes, consents, legal_settings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33672" y="1188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33672" y="1188720"/>
            <a:ext cx="37033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43400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topic_prereqs, questions, question_topics, item_params, tests, test_questions, answer_keys, marking_schemes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55864" y="1188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65592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93024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responses, test_totals, attendance, fees, engagement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3474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1480" y="3474720"/>
            <a:ext cx="3703320" cy="30175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" y="3474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mastery_snapshots, risk_scores, predictions, interventions, reports, model_registry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33672" y="3474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33672" y="3474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343400" y="3474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70832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ingest_jobs, omr_templates, audit_log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55864" y="3474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5864" y="3474720"/>
            <a:ext cx="37033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165592" y="3474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STORED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238744" y="39319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or mental-health information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document images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photographs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public rank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11480" y="5852160"/>
            <a:ext cx="11368735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852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tenant table; another institute sees 0 rows (tested on PostgreSQL 16)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technical/contracts/schema.sql. Synthetic data: 4 institutes, 3 academic years, known ground truth.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2: COST PER STUDENT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₹3.6 per student per month, ₹0 extra run locally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STUDENT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754880" cy="52120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INPUTS (BEAR / BASE / BULL)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" y="1481328"/>
            <a:ext cx="21945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0352" y="1481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79192" y="1481328"/>
            <a:ext cx="8229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72491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02152" y="1481328"/>
            <a:ext cx="8229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4787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5112" y="1481328"/>
            <a:ext cx="73152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70832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" y="177393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1773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input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679192" y="177393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72491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02152" y="177393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4787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23.76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25112" y="177393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70832" y="17739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" y="218541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" y="218541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0352" y="21854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output tokens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67919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2491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712.88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50215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4787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25112" y="218541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70832" y="21854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47.53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" y="259689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4632" y="259689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0352" y="25968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utility message, ₹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679192" y="259689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2491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02152" y="259689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54787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25112" y="259689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370832" y="25968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" y="300837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632" y="300837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30352" y="30083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reports per student per month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67919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272491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50215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4787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325112" y="300837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370832" y="30083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84632" y="341985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4632" y="341985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30352" y="34198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per student per month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679192" y="341985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72491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502152" y="341985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54787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25112" y="341985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370832" y="34198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84632" y="383133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84632" y="383133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30352" y="38313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storage, ₹ per student per month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67919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272491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50215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4787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25112" y="383133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370832" y="38313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84632" y="424281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84632" y="424281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30352" y="42428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verification, ₹ per student per year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679192" y="424281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272491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502152" y="424281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4787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25112" y="424281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370832" y="42428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84632" y="465429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84632" y="465429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30352" y="46542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+ database, ₹ per month per stack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67919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2491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50215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4787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325112" y="465429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370832" y="46542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84632" y="506577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4632" y="506577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0352" y="50657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sharing one stack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2679192" y="506577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272491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3502152" y="506577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54787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4325112" y="506577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370832" y="50657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84632" y="547725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02920" y="5669280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02920" y="566928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5029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researched 20 Oct 2026 from vendor pages; exchange rate ₹95.05 per US dollar.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5303520" y="1115568"/>
            <a:ext cx="31089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110" name="Text 108"/>
          <p:cNvSpPr txBox="1"/>
          <p:nvPr/>
        </p:nvSpPr>
        <p:spPr>
          <a:xfrm>
            <a:off x="5394960" y="1161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548640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</a:t>
            </a:r>
            <a:endParaRPr lang="en-US" sz="4800" dirty="0"/>
          </a:p>
        </p:txBody>
      </p:sp>
      <p:sp>
        <p:nvSpPr>
          <p:cNvPr id="112" name="Text 110"/>
          <p:cNvSpPr txBox="1"/>
          <p:nvPr/>
        </p:nvSpPr>
        <p:spPr>
          <a:xfrm>
            <a:off x="5486400" y="2423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month, inside the planned ₹3 to ₹10 band (financial model check).</a:t>
            </a:r>
            <a:endParaRPr lang="en-US" sz="1150" dirty="0"/>
          </a:p>
        </p:txBody>
      </p:sp>
      <p:sp>
        <p:nvSpPr>
          <p:cNvPr id="113" name="Shape 111"/>
          <p:cNvSpPr/>
          <p:nvPr/>
        </p:nvSpPr>
        <p:spPr>
          <a:xfrm>
            <a:off x="5303520" y="3703320"/>
            <a:ext cx="3108960" cy="2624328"/>
          </a:xfrm>
          <a:prstGeom prst="roundRect">
            <a:avLst>
              <a:gd name="adj" fmla="val 2091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14" name="Text 112"/>
          <p:cNvSpPr txBox="1"/>
          <p:nvPr/>
        </p:nvSpPr>
        <p:spPr>
          <a:xfrm>
            <a:off x="5394960" y="3749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RUN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5486400" y="4114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80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0" y="4983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cost: laptop, local model, local database, no paid services.</a:t>
            </a:r>
            <a:endParaRPr lang="en-US" sz="1150" dirty="0"/>
          </a:p>
        </p:txBody>
      </p:sp>
      <p:sp>
        <p:nvSpPr>
          <p:cNvPr id="117" name="Shape 115"/>
          <p:cNvSpPr/>
          <p:nvPr/>
        </p:nvSpPr>
        <p:spPr>
          <a:xfrm>
            <a:off x="8549640" y="1115568"/>
            <a:ext cx="3230575" cy="5212080"/>
          </a:xfrm>
          <a:prstGeom prst="roundRect">
            <a:avLst>
              <a:gd name="adj" fmla="val 1698"/>
            </a:avLst>
          </a:prstGeom>
          <a:solidFill>
            <a:srgbClr val="FFFFFF"/>
          </a:solidFill>
          <a:ln w="15875">
            <a:solidFill>
              <a:srgbClr val="5B8DC9"/>
            </a:solidFill>
            <a:prstDash val="dash"/>
          </a:ln>
        </p:spPr>
      </p:sp>
      <p:sp>
        <p:nvSpPr>
          <p:cNvPr id="118" name="Text 116"/>
          <p:cNvSpPr txBox="1"/>
          <p:nvPr/>
        </p:nvSpPr>
        <p:spPr>
          <a:xfrm>
            <a:off x="8641080" y="116128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IT LOW</a:t>
            </a:r>
            <a:endParaRPr lang="en-US" sz="1200" dirty="0"/>
          </a:p>
        </p:txBody>
      </p:sp>
      <p:pic>
        <p:nvPicPr>
          <p:cNvPr id="119" name="Image 0" descr="FaCircleChe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572768"/>
            <a:ext cx="219456" cy="219456"/>
          </a:xfrm>
          <a:prstGeom prst="rect">
            <a:avLst/>
          </a:prstGeom>
        </p:spPr>
      </p:pic>
      <p:sp>
        <p:nvSpPr>
          <p:cNvPr id="120" name="Text 117"/>
          <p:cNvSpPr txBox="1"/>
          <p:nvPr/>
        </p:nvSpPr>
        <p:spPr>
          <a:xfrm>
            <a:off x="9006840" y="148132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on a laptop</a:t>
            </a:r>
            <a:endParaRPr lang="en-US" sz="1150" dirty="0"/>
          </a:p>
        </p:txBody>
      </p:sp>
      <p:pic>
        <p:nvPicPr>
          <p:cNvPr id="121" name="Image 1" descr="FaCirc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350008"/>
            <a:ext cx="219456" cy="219456"/>
          </a:xfrm>
          <a:prstGeom prst="rect">
            <a:avLst/>
          </a:prstGeom>
        </p:spPr>
      </p:pic>
      <p:sp>
        <p:nvSpPr>
          <p:cNvPr id="122" name="Text 118"/>
          <p:cNvSpPr txBox="1"/>
          <p:nvPr/>
        </p:nvSpPr>
        <p:spPr>
          <a:xfrm>
            <a:off x="9006840" y="225856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fallback: no model required</a:t>
            </a:r>
            <a:endParaRPr lang="en-US" sz="1150" dirty="0"/>
          </a:p>
        </p:txBody>
      </p:sp>
      <p:pic>
        <p:nvPicPr>
          <p:cNvPr id="123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127248"/>
            <a:ext cx="219456" cy="219456"/>
          </a:xfrm>
          <a:prstGeom prst="rect">
            <a:avLst/>
          </a:prstGeom>
        </p:spPr>
      </p:pic>
      <p:sp>
        <p:nvSpPr>
          <p:cNvPr id="124" name="Text 119"/>
          <p:cNvSpPr txBox="1"/>
          <p:nvPr/>
        </p:nvSpPr>
        <p:spPr>
          <a:xfrm>
            <a:off x="9006840" y="303580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APIs or hosting</a:t>
            </a:r>
            <a:endParaRPr lang="en-US" sz="1150" dirty="0"/>
          </a:p>
        </p:txBody>
      </p:sp>
      <p:pic>
        <p:nvPicPr>
          <p:cNvPr id="125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3904488"/>
            <a:ext cx="219456" cy="219456"/>
          </a:xfrm>
          <a:prstGeom prst="rect">
            <a:avLst/>
          </a:prstGeom>
        </p:spPr>
      </p:pic>
      <p:sp>
        <p:nvSpPr>
          <p:cNvPr id="126" name="Text 120"/>
          <p:cNvSpPr txBox="1"/>
          <p:nvPr/>
        </p:nvSpPr>
        <p:spPr>
          <a:xfrm>
            <a:off x="9006840" y="381304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per deployment, isolated per institute</a:t>
            </a:r>
            <a:endParaRPr lang="en-US" sz="1150" dirty="0"/>
          </a:p>
        </p:txBody>
      </p:sp>
      <p:pic>
        <p:nvPicPr>
          <p:cNvPr id="127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4681728"/>
            <a:ext cx="219456" cy="219456"/>
          </a:xfrm>
          <a:prstGeom prst="rect">
            <a:avLst/>
          </a:prstGeom>
        </p:spPr>
      </p:pic>
      <p:sp>
        <p:nvSpPr>
          <p:cNvPr id="128" name="Text 121"/>
          <p:cNvSpPr txBox="1"/>
          <p:nvPr/>
        </p:nvSpPr>
        <p:spPr>
          <a:xfrm>
            <a:off x="9006840" y="459028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only for utility messages, in-window replies free</a:t>
            </a:r>
            <a:endParaRPr lang="en-US" sz="1150" dirty="0"/>
          </a:p>
        </p:txBody>
      </p:sp>
      <p:sp>
        <p:nvSpPr>
          <p:cNvPr id="129" name="Text 122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financial/assumptions.csv (COGS rows), financial/research. Production costs are assumptions with confidence flags.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3: LEGAL BASIS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we design against, and what we do about each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BASIS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11368735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234440"/>
            <a:ext cx="3017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234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520440" y="1234440"/>
            <a:ext cx="813816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66160" y="123444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1545336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15453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s.9(1), Rule 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20440" y="1545336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66160" y="154533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 a minor's data: ID checked at the admission desk, consent recorded per purpose.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11226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112264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2112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520440" y="2112264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566160" y="211226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children: under 18, academic support uses a model; dropout and fee signals use plain rules.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267919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2679192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6791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Schedule, educational institutions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20440" y="2679192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66160" y="26791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and purpose-limited, so we do not rely on it for consent.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324612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32461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32461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Rules, Rules 6 and 7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20440" y="3246120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32461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access control, logs kept one year, breach notice to the institute within hours.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813048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3813048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8640" y="3813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10.2(xi)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520440" y="3813048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566160" y="3813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stay private; early warning leads to counselling, never public ranks.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" y="4379976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3799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12(vii)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520440" y="4379976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566160" y="437997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performance; remedial help is an extra session.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02920" y="494690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" y="4946904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8640" y="494690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8(iv), 10.1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520440" y="4946904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566160" y="494690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within 10 days; no test the day after the weekly off.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02920" y="551383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920" y="55138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48640" y="5513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Act 2025, s.6(2)(d)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3520440" y="5513832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566160" y="55138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plans support four or more equal instalments.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02920" y="608076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2023, DPDP Rules 2025, MoE Guidelines 2024, Rajasthan Coaching Centres Act 2025 (technical/docs/TECH_PLAN.md, section 24). Not legal advice.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4: HOW WE TEST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follows the same protocol, and misses are reported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8872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7" name="Image 0" descr="FaShieldHalve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" y="1482242"/>
            <a:ext cx="281635" cy="28163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 only data before the as-of date. Splits are by student and by year, never by row.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33672" y="118872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16552" y="1371600"/>
            <a:ext cx="502920" cy="50292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22" name="Image 1" descr="FaScaleBalance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194" y="1482242"/>
            <a:ext cx="281635" cy="28163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02352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at equal workload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416552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sits beside a simple rule at the same weekly top-k.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055864" y="118872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38744" y="137160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27" name="Image 2" descr="FaChartColum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9386" y="1482242"/>
            <a:ext cx="281635" cy="28163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24544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238744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intervals over students, three generator seeds, event counts shown.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11480" y="379476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94360" y="3977640"/>
            <a:ext cx="502920" cy="502920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32" name="Image 3" descr="FaTriangleExclam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02" y="4088282"/>
            <a:ext cx="281635" cy="28163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28016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94360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Misspecified generators, a held-out institute, an independent attack on the report checker.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4233672" y="379476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416552" y="397764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7" name="Image 4" descr="FaFla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194" y="4088282"/>
            <a:ext cx="281635" cy="281635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02352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misses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4416552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bar is reported with its cause. Bars are never moved to pass.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8055864" y="379476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38744" y="3977640"/>
            <a:ext cx="502920" cy="50292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42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9386" y="4088282"/>
            <a:ext cx="281635" cy="281635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924544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8238744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and ASSISTments under published protocols, with deviations listed.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technical/docs/agent_prompts/R1_00_COMMON.md and technical/docs/FEASIBILITY_CHECK.md.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5: SCENARIOS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Bear, Base and Bull for a mid-size institute, plus segments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74066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740664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7187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INSTITUTE (400 STUDENTS)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1481328"/>
            <a:ext cx="3017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1481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unless stated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20440" y="1481328"/>
            <a:ext cx="137160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661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92040" y="1481328"/>
            <a:ext cx="137160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377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481328"/>
            <a:ext cx="137160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179222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17922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204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661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9377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636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093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220370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22037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22037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204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377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093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261518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" y="2615184"/>
            <a:ext cx="301752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26151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all benefits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520440" y="261518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5661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92040" y="261518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9377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263640" y="261518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093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302666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920" y="3026664"/>
            <a:ext cx="301752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48640" y="30266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fees only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520440" y="302666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5661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92040" y="302666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377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263640" y="302666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93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02920" y="343814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02920" y="3438144"/>
            <a:ext cx="301752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48640" y="343814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520440" y="3438144"/>
            <a:ext cx="137160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5661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892040" y="3438144"/>
            <a:ext cx="137160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9377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263640" y="3438144"/>
            <a:ext cx="137160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3093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02920" y="384962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02920" y="384962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496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institute, monthly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35204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661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₹4,992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8920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9377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62636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3093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₹11,999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502920" y="426110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02920" y="42611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42611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loaded acquisition cost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35204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5661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₹1.74 L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48920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9377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2636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3093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₹13,336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502920" y="467258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02920" y="4672584"/>
            <a:ext cx="301752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548640" y="46725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3520440" y="4672584"/>
            <a:ext cx="137160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5661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-0.1x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4892040" y="4672584"/>
            <a:ext cx="137160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49377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6263640" y="4672584"/>
            <a:ext cx="1371600" cy="411480"/>
          </a:xfrm>
          <a:prstGeom prst="rect">
            <a:avLst/>
          </a:prstGeom>
          <a:solidFill>
            <a:srgbClr val="FBEFC5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63093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24x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502920" y="508406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02920" y="508406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48640" y="50840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35204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5661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months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48920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49377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62636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63093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02920" y="549554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208" y="5760720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521208" y="576072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955280" y="1115568"/>
            <a:ext cx="382493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955280" y="1115568"/>
            <a:ext cx="3824935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065008" y="1115568"/>
            <a:ext cx="360547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 (BASE)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8046720" y="1481328"/>
            <a:ext cx="137160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8092440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9418320" y="1481328"/>
            <a:ext cx="731520" cy="29260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46404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10149840" y="1481328"/>
            <a:ext cx="73152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19556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100" dirty="0"/>
          </a:p>
        </p:txBody>
      </p:sp>
      <p:sp>
        <p:nvSpPr>
          <p:cNvPr id="118" name="Shape 116"/>
          <p:cNvSpPr/>
          <p:nvPr/>
        </p:nvSpPr>
        <p:spPr>
          <a:xfrm>
            <a:off x="10881360" y="1481328"/>
            <a:ext cx="731520" cy="29260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92708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8046720" y="1773936"/>
            <a:ext cx="137160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8092440" y="17739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941832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46404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1014984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19556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1088136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92708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8046720" y="22311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8046720" y="2231136"/>
            <a:ext cx="1371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8092440" y="2231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941832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946404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1014984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9556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135" name="Shape 133"/>
          <p:cNvSpPr/>
          <p:nvPr/>
        </p:nvSpPr>
        <p:spPr>
          <a:xfrm>
            <a:off x="1088136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1092708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1100" dirty="0"/>
          </a:p>
        </p:txBody>
      </p:sp>
      <p:sp>
        <p:nvSpPr>
          <p:cNvPr id="137" name="Shape 135"/>
          <p:cNvSpPr/>
          <p:nvPr/>
        </p:nvSpPr>
        <p:spPr>
          <a:xfrm>
            <a:off x="8046720" y="26883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046720" y="2688336"/>
            <a:ext cx="137160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092440" y="26883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941832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46404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1100" dirty="0"/>
          </a:p>
        </p:txBody>
      </p:sp>
      <p:sp>
        <p:nvSpPr>
          <p:cNvPr id="142" name="Shape 140"/>
          <p:cNvSpPr/>
          <p:nvPr/>
        </p:nvSpPr>
        <p:spPr>
          <a:xfrm>
            <a:off x="1014984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1019556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1100" dirty="0"/>
          </a:p>
        </p:txBody>
      </p:sp>
      <p:sp>
        <p:nvSpPr>
          <p:cNvPr id="144" name="Shape 142"/>
          <p:cNvSpPr/>
          <p:nvPr/>
        </p:nvSpPr>
        <p:spPr>
          <a:xfrm>
            <a:off x="1088136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1092708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1100" dirty="0"/>
          </a:p>
        </p:txBody>
      </p:sp>
      <p:sp>
        <p:nvSpPr>
          <p:cNvPr id="146" name="Shape 144"/>
          <p:cNvSpPr/>
          <p:nvPr/>
        </p:nvSpPr>
        <p:spPr>
          <a:xfrm>
            <a:off x="8046720" y="31455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092440" y="3383280"/>
            <a:ext cx="3550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changes every input to its worst value at once. It is a stress test, not a forecast.</a:t>
            </a:r>
            <a:endParaRPr lang="en-US" sz="1150" dirty="0"/>
          </a:p>
        </p:txBody>
      </p:sp>
      <p:sp>
        <p:nvSpPr>
          <p:cNvPr id="148" name="Text 146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 sheet). Model output from sourced and assumed inputs, not measured.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274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used AI, and what we cited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5547208" cy="4206240"/>
          </a:xfrm>
          <a:prstGeom prst="roundRect">
            <a:avLst>
              <a:gd name="adj" fmla="val 435"/>
            </a:avLst>
          </a:prstGeom>
          <a:solidFill>
            <a:srgbClr val="E3ECF7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737360"/>
            <a:ext cx="2560320" cy="411480"/>
          </a:xfrm>
          <a:prstGeom prst="roundRect">
            <a:avLst>
              <a:gd name="adj" fmla="val 4444"/>
            </a:avLst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planning, code review, documentation.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agents: code generation.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Gemini Deep Research: literature and regulation research.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was reviewed and tested by the team; research claims were checked against primary sources where possible.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33008" y="1554480"/>
            <a:ext cx="5547208" cy="4206240"/>
          </a:xfrm>
          <a:prstGeom prst="roundRect">
            <a:avLst>
              <a:gd name="adj" fmla="val 435"/>
            </a:avLst>
          </a:prstGeom>
          <a:solidFill>
            <a:srgbClr val="E3ECF7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07328" y="1737360"/>
            <a:ext cx="2560320" cy="411480"/>
          </a:xfrm>
          <a:prstGeom prst="roundRect">
            <a:avLst>
              <a:gd name="adj" fmla="val 4444"/>
            </a:avLst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and libraries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(CC BY 4.0), ASSISTments 2009, the pyKT benchmark, JEEBench.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 Sans Devanagari (SIL OFL), LightGBM, Ollama, FastAPI, PostgreSQL.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licences: technical/docs/CITATIONS.md in the repository.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6126480"/>
            <a:ext cx="7205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github.com/AdityaKuranjekar/institute-intelligence-platform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AlphaQ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AlphaQ: Case B, The Data Moat (Round 1)</dc:title>
  <dc:subject>PptxGenJS Presentation</dc:subject>
  <dc:creator>AlphaQ</dc:creator>
  <cp:lastModifiedBy>AlphaQ</cp:lastModifiedBy>
  <cp:revision>1</cp:revision>
  <dcterms:created xsi:type="dcterms:W3CDTF">2026-10-21T23:05:59Z</dcterms:created>
  <dcterms:modified xsi:type="dcterms:W3CDTF">2026-10-21T23:05:59Z</dcterms:modified>
</cp:coreProperties>
</file>