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47c11543-2e05-d06b-dbf7-688570d77349}">
          <p14:sldIdLst>
            <p14:sldId id="256"/>
          </p14:sldIdLst>
        </p14:section>
        <p14:section name="Problem and product" id="{52c0f493-3caf-e3c8-ea6c-66cb77cdc65b}">
          <p14:sldIdLst>
            <p14:sldId id="257"/>
            <p14:sldId id="258"/>
          </p14:sldIdLst>
        </p14:section>
        <p14:section name="Technology" id="{c786fed7-4f80-5aeb-2e28-e49e8a12abf8}">
          <p14:sldIdLst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Business" id="{925cee00-e59c-8f1e-b0f8-a4d52901395a}">
          <p14:sldIdLst>
            <p14:sldId id="265"/>
            <p14:sldId id="266"/>
            <p14:sldId id="267"/>
          </p14:sldIdLst>
        </p14:section>
        <p14:section name="Validation" id="{a8221972-43d7-faa8-2624-a7839efea501}">
          <p14:sldIdLst>
            <p14:sldId id="268"/>
          </p14:sldIdLst>
        </p14:section>
        <p14:section name="Appendix" id="{bbbc58d9-fec6-7afd-0aeb-b61f0ccd10c1}">
          <p14:sldIdLst>
            <p14:sldId id="269"/>
            <p14:sldId id="270"/>
            <p14:sldId id="271"/>
            <p14:sldId id="272"/>
            <p14:sldId id="273"/>
          </p14:sldIdLst>
        </p14:section>
        <p14:section name="Closing" id="{22d7f870-f74d-bd38-7cfb-4b2e7b129bd4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Right-hand screens are illustrative mock-ups rendered from HTML with synthetic values. The two AUC figures are results on public datasets (ASSISTments 2009 under the pyKT protocol, OULAD day 28); the 3.6 rupee figure is the model's all-in cost per student per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Dense problem slide. The 8-15 percent and 36,000 rupee figures and the 17.3 lakh total are the guide's illustrative baselines (400 x 12% x 36,000). The roster index is an assumption in the financial model; competitor price range comes from the finance research (listed prices, low-medium confidence).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wall in the style of a demo reel: upload, topic map, support list, profile, owner dashboard, parent report. All images are illustrative mock-ups (HTML rendered by headless Edge) using synthetic data and real report text from the report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Architecture. Status tags: BUILT means working code with tests; IN BUILD means in progress; DESIGNED means specified but not coded. Evidence boxes are real: 12 messy export files and 210 synthetic OMR images exist; 31 tables and tenant isolation tested on a live PostgreSQL 16; OULAD 0.706 and ASSISTments 0.763 on public data; 20 templates and 8 checks.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Evidence: the bar chart uses the real result file (online IRT 0.763, 1-parameter 0.759, logistic baseline 0.741, BKT 0.714) next to the published pyKT values (DKT 0.754, SAKT 0.725, AKT 0.785). IRT recovery, wrong-key detection and mastery-vs-baseline come from Agent B and must replace the amber placeholders before submission.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OULAD table is real: LightGBM with isotonic calibration, student-grouped 5-fold; rules are the two deterministic baselines. Published anchors for context: 0.727, 0.794 and 0.804 at days 14, 28 and 42 (PLOS ONE 2026); ours is lower, so do not claim parity. Precision at top 10 percent is shown as P@10. Early warning on synthetic institutes and the comparison against the institute rule come from Agent 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Prediction range is schematic until Agent C delivers coverage numbers. The report images use real template output. Do not state a verifier catch rate until the independent adversarial test passes after the E2 fixes.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Routing table mirrors contracts/routing_policy.yaml. The OULAD bars show that academic-only features lose only about 0.007 to 0.025 AUC against academic plus click behaviour: privacy is cheap here. A lawyer's check on the in-person ID flow is still recommended.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Differentiators. Item 05 (small-batch strength) is marked result pending until the difficulty-recovery curve exists. Item 08 refers to public-data results and the independent attack on the report checker, with misses listed.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from the workbook scenarios table, mid institute. The guide's 25 percent prevention and 2.25x return are shown as the baseline we replaced. Safe wording: randomised trials in comparable settings show 5 to 30 percent among students who get outreach; we model 15 percent.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Heat tables are the two grids of the Sensitivity sheet. Bear, Base and Bull LTV/CAC for the mid institute are -0.1x, 3.7x and 24x. The segment bars show small 1.5x, mid 3.7x, large 9.1x with paybacks of 18, 6 and 3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Competitor matrix shows only what vendor listings showed; a question mark means it could not be verified from the listing, not that the feature is absent. Do not state that competitors lack the features.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amber pending items with measured values from deck_numbers.py. Limitations to state first: synthetic data proves the pipeline only; the percentile mapping is an assumption table; difficulty scales are comparable across institutes only through anchors.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Mandatory disclosure (Problem Statement, rule 2). Keep this as the last slide of the submitted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241280" y="649224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AlphaQ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LL">
    <p:bg>
      <p:bgPr>
        <a:solidFill>
          <a:srgbClr val="0615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LL">
    <p:bg>
      <p:bgPr>
        <a:solidFill>
          <a:srgbClr val="0615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126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AlphaQ</a:t>
            </a:r>
            <a:endParaRPr lang="en-US" sz="2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1264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AlphaQ</a:t>
            </a:r>
            <a:endParaRPr lang="en-US" sz="2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11480" y="1371600"/>
            <a:ext cx="576072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image" Target="../media/image-2-10.png"/><Relationship Id="rId11" Type="http://schemas.openxmlformats.org/officeDocument/2006/relationships/image" Target="../media/image-2-11.png"/><Relationship Id="rId12" Type="http://schemas.openxmlformats.org/officeDocument/2006/relationships/image" Target="../media/image-2-12.png"/><Relationship Id="rId13" Type="http://schemas.openxmlformats.org/officeDocument/2006/relationships/image" Target="../media/image-2-13.png"/><Relationship Id="rId14" Type="http://schemas.openxmlformats.org/officeDocument/2006/relationships/image" Target="../media/image-2-14.png"/><Relationship Id="rId15" Type="http://schemas.openxmlformats.org/officeDocument/2006/relationships/image" Target="../media/image-2-15.png"/><Relationship Id="rId16" Type="http://schemas.openxmlformats.org/officeDocument/2006/relationships/image" Target="../media/image-2-16.png"/><Relationship Id="rId17" Type="http://schemas.openxmlformats.org/officeDocument/2006/relationships/image" Target="../media/image-2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7772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9B5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  ·  THE DATA MOAT</a:t>
            </a:r>
            <a:endParaRPr lang="en-US" sz="13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411480" y="1371600"/>
            <a:ext cx="5760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Intelligence for the coaching institutes that run on Excel, OMR sheets and WhatsApp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384048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CE6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upload becomes a topic map, a weekly support list and a verified Hindi and English parent report. Offline, private, free to run.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" y="4983480"/>
            <a:ext cx="1783080" cy="868680"/>
          </a:xfrm>
          <a:prstGeom prst="rect">
            <a:avLst/>
          </a:prstGeom>
          <a:solidFill>
            <a:srgbClr val="10325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21208" y="5029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0.763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21208" y="548640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B9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on ASSISTments (public)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331720" y="4983480"/>
            <a:ext cx="1783080" cy="868680"/>
          </a:xfrm>
          <a:prstGeom prst="rect">
            <a:avLst/>
          </a:prstGeom>
          <a:solidFill>
            <a:srgbClr val="10325B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41448" y="5029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0.706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2441448" y="548640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B9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on OULAD, day 28 (public)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251960" y="4983480"/>
            <a:ext cx="1783080" cy="868680"/>
          </a:xfrm>
          <a:prstGeom prst="rect">
            <a:avLst/>
          </a:prstGeom>
          <a:solidFill>
            <a:srgbClr val="10325B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361688" y="5029200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₹3.6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361688" y="5486400"/>
            <a:ext cx="1600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B9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student per month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783080" y="612648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B9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1  ·  Nextute x Finance Club, IIT Patna</a:t>
            </a:r>
            <a:endParaRPr lang="en-US" sz="1300" dirty="0"/>
          </a:p>
        </p:txBody>
      </p:sp>
      <p:pic>
        <p:nvPicPr>
          <p:cNvPr id="15" name="Image 0" descr="Topic mastery screen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46520" y="685800"/>
            <a:ext cx="5120640" cy="2880360"/>
          </a:xfrm>
          <a:prstGeom prst="rect">
            <a:avLst/>
          </a:prstGeom>
        </p:spPr>
      </p:pic>
      <p:pic>
        <p:nvPicPr>
          <p:cNvPr id="16" name="Image 1" descr="Support list screen (illustrative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2280" y="2240280"/>
            <a:ext cx="4937760" cy="2779776"/>
          </a:xfrm>
          <a:prstGeom prst="rect">
            <a:avLst/>
          </a:prstGeom>
        </p:spPr>
      </p:pic>
      <p:pic>
        <p:nvPicPr>
          <p:cNvPr id="17" name="Image 2" descr="Student profile screen (illustrative)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3749040"/>
            <a:ext cx="3108960" cy="1746504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6446520" y="685800"/>
            <a:ext cx="5120640" cy="2880360"/>
          </a:xfrm>
          <a:prstGeom prst="rect">
            <a:avLst/>
          </a:prstGeom>
          <a:ln w="19050">
            <a:solidFill>
              <a:srgbClr val="19B5B7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6812280" y="2240280"/>
            <a:ext cx="4937760" cy="2779776"/>
          </a:xfrm>
          <a:prstGeom prst="rect">
            <a:avLst/>
          </a:prstGeom>
          <a:ln w="19050">
            <a:solidFill>
              <a:srgbClr val="19B5B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446520" y="3749040"/>
            <a:ext cx="3108960" cy="1746504"/>
          </a:xfrm>
          <a:prstGeom prst="rect">
            <a:avLst/>
          </a:prstGeom>
          <a:ln w="19050">
            <a:solidFill>
              <a:srgbClr val="19B5B7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6446520" y="5669280"/>
            <a:ext cx="17922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446520" y="566928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23" name="Text 18"/>
          <p:cNvSpPr txBox="1"/>
          <p:nvPr/>
        </p:nvSpPr>
        <p:spPr>
          <a:xfrm>
            <a:off x="8229600" y="5623560"/>
            <a:ext cx="3566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B9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 show synthetic students; accuracy figures are on public data.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Institutes hold the data, but notice a struggling student only after they leave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 · PARTICIPANT GUIDE §2, §7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434340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02920" y="1161288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LOSES TODAY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420624" cy="42062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7" name="Image 0" descr="FaChalkboardUser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1177" y="1573865"/>
            <a:ext cx="235549" cy="23554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97280" y="148132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Teachers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2011680" y="148132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which topics are weak only after the exam.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2029968"/>
            <a:ext cx="420624" cy="420624"/>
          </a:xfrm>
          <a:prstGeom prst="ellipse">
            <a:avLst/>
          </a:prstGeom>
          <a:solidFill>
            <a:srgbClr val="0A6F71"/>
          </a:solidFill>
          <a:ln/>
        </p:spPr>
      </p:sp>
      <p:pic>
        <p:nvPicPr>
          <p:cNvPr id="11" name="Image 1" descr="FaBuilding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177" y="2122505"/>
            <a:ext cx="235549" cy="235549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097280" y="202996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Owners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2011680" y="202996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compare batches or teaching methods.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2578608"/>
            <a:ext cx="420624" cy="42062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5" name="Image 2" descr="FaUsers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177" y="2671145"/>
            <a:ext cx="235549" cy="23554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0" y="257860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Parents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2011680" y="257860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marks list and little else, so trust suffers.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3127248"/>
            <a:ext cx="420624" cy="420624"/>
          </a:xfrm>
          <a:prstGeom prst="ellipse">
            <a:avLst/>
          </a:prstGeom>
          <a:solidFill>
            <a:srgbClr val="0A6F71"/>
          </a:solidFill>
          <a:ln/>
        </p:spPr>
      </p:sp>
      <p:pic>
        <p:nvPicPr>
          <p:cNvPr id="19" name="Image 3" descr="FaChildReaching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77" y="3219785"/>
            <a:ext cx="235549" cy="235549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1097280" y="3127248"/>
            <a:ext cx="914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Students</a:t>
            </a:r>
            <a:endParaRPr lang="en-US" sz="1250" dirty="0"/>
          </a:p>
        </p:txBody>
      </p:sp>
      <p:sp>
        <p:nvSpPr>
          <p:cNvPr id="21" name="Text 15"/>
          <p:cNvSpPr txBox="1"/>
          <p:nvPr/>
        </p:nvSpPr>
        <p:spPr>
          <a:xfrm>
            <a:off x="2011680" y="3127248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Noticed only after they stop paying or coming.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846320" y="1115568"/>
            <a:ext cx="3977640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23" name="Text 17"/>
          <p:cNvSpPr txBox="1"/>
          <p:nvPr/>
        </p:nvSpPr>
        <p:spPr>
          <a:xfrm>
            <a:off x="4937760" y="116128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DATA LIVES</a:t>
            </a:r>
            <a:endParaRPr lang="en-US" sz="1250" dirty="0"/>
          </a:p>
        </p:txBody>
      </p:sp>
      <p:sp>
        <p:nvSpPr>
          <p:cNvPr id="24" name="Shape 18"/>
          <p:cNvSpPr/>
          <p:nvPr/>
        </p:nvSpPr>
        <p:spPr>
          <a:xfrm>
            <a:off x="4983480" y="1481328"/>
            <a:ext cx="3703320" cy="530352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25" name="Shape 19"/>
          <p:cNvSpPr/>
          <p:nvPr/>
        </p:nvSpPr>
        <p:spPr>
          <a:xfrm>
            <a:off x="5047488" y="1545336"/>
            <a:ext cx="402336" cy="402336"/>
          </a:xfrm>
          <a:prstGeom prst="ellipse">
            <a:avLst/>
          </a:prstGeom>
          <a:solidFill>
            <a:srgbClr val="0A6F71"/>
          </a:solidFill>
          <a:ln/>
        </p:spPr>
      </p:sp>
      <p:pic>
        <p:nvPicPr>
          <p:cNvPr id="26" name="Image 4" descr="FaFileLines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6002" y="1633850"/>
            <a:ext cx="225308" cy="225308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559552" y="1481328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 OMR sheets</a:t>
            </a:r>
            <a:endParaRPr lang="en-US" sz="1150" dirty="0"/>
          </a:p>
        </p:txBody>
      </p:sp>
      <p:sp>
        <p:nvSpPr>
          <p:cNvPr id="28" name="Text 21"/>
          <p:cNvSpPr txBox="1"/>
          <p:nvPr/>
        </p:nvSpPr>
        <p:spPr>
          <a:xfrm>
            <a:off x="6995160" y="1481328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kept; per-question answers rarely are.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4983480" y="2084832"/>
            <a:ext cx="3703320" cy="530352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30" name="Shape 23"/>
          <p:cNvSpPr/>
          <p:nvPr/>
        </p:nvSpPr>
        <p:spPr>
          <a:xfrm>
            <a:off x="5047488" y="2148840"/>
            <a:ext cx="402336" cy="402336"/>
          </a:xfrm>
          <a:prstGeom prst="ellipse">
            <a:avLst/>
          </a:prstGeom>
          <a:solidFill>
            <a:srgbClr val="0A6F71"/>
          </a:solidFill>
          <a:ln/>
        </p:spPr>
      </p:sp>
      <p:pic>
        <p:nvPicPr>
          <p:cNvPr id="31" name="Image 5" descr="FaFileExcel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36002" y="2237354"/>
            <a:ext cx="225308" cy="225308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5559552" y="2084832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and registers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6995160" y="2084832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names and dates differ file to file.</a:t>
            </a:r>
            <a:endParaRPr lang="en-US" sz="1050" dirty="0"/>
          </a:p>
        </p:txBody>
      </p:sp>
      <p:sp>
        <p:nvSpPr>
          <p:cNvPr id="34" name="Shape 26"/>
          <p:cNvSpPr/>
          <p:nvPr/>
        </p:nvSpPr>
        <p:spPr>
          <a:xfrm>
            <a:off x="4983480" y="2688336"/>
            <a:ext cx="3703320" cy="530352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35" name="Shape 27"/>
          <p:cNvSpPr/>
          <p:nvPr/>
        </p:nvSpPr>
        <p:spPr>
          <a:xfrm>
            <a:off x="5047488" y="2752344"/>
            <a:ext cx="402336" cy="402336"/>
          </a:xfrm>
          <a:prstGeom prst="ellipse">
            <a:avLst/>
          </a:prstGeom>
          <a:solidFill>
            <a:srgbClr val="0A6F71"/>
          </a:solidFill>
          <a:ln/>
        </p:spPr>
      </p:sp>
      <p:pic>
        <p:nvPicPr>
          <p:cNvPr id="36" name="Image 6" descr="FaWhatsapp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36002" y="2840858"/>
            <a:ext cx="225308" cy="225308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5559552" y="2688336"/>
            <a:ext cx="1463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groups</a:t>
            </a:r>
            <a:endParaRPr lang="en-US" sz="1150" dirty="0"/>
          </a:p>
        </p:txBody>
      </p:sp>
      <p:sp>
        <p:nvSpPr>
          <p:cNvPr id="38" name="Text 29"/>
          <p:cNvSpPr txBox="1"/>
          <p:nvPr/>
        </p:nvSpPr>
        <p:spPr>
          <a:xfrm>
            <a:off x="6995160" y="2688336"/>
            <a:ext cx="16459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and chats, with no structure to analyse.</a:t>
            </a:r>
            <a:endParaRPr lang="en-US" sz="1050" dirty="0"/>
          </a:p>
        </p:txBody>
      </p:sp>
      <p:sp>
        <p:nvSpPr>
          <p:cNvPr id="39" name="Shape 30"/>
          <p:cNvSpPr/>
          <p:nvPr/>
        </p:nvSpPr>
        <p:spPr>
          <a:xfrm>
            <a:off x="4983480" y="3364992"/>
            <a:ext cx="3703320" cy="2743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40" name="Text 31"/>
          <p:cNvSpPr txBox="1"/>
          <p:nvPr/>
        </p:nvSpPr>
        <p:spPr>
          <a:xfrm>
            <a:off x="5056632" y="3364992"/>
            <a:ext cx="35570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no topic view, no early warning</a:t>
            </a:r>
            <a:endParaRPr lang="en-US" sz="1150" dirty="0"/>
          </a:p>
        </p:txBody>
      </p:sp>
      <p:sp>
        <p:nvSpPr>
          <p:cNvPr id="41" name="Shape 32"/>
          <p:cNvSpPr/>
          <p:nvPr/>
        </p:nvSpPr>
        <p:spPr>
          <a:xfrm>
            <a:off x="8915400" y="1115568"/>
            <a:ext cx="2864815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42" name="Text 33"/>
          <p:cNvSpPr txBox="1"/>
          <p:nvPr/>
        </p:nvSpPr>
        <p:spPr>
          <a:xfrm>
            <a:off x="9006840" y="1161288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250" dirty="0"/>
          </a:p>
        </p:txBody>
      </p:sp>
      <p:sp>
        <p:nvSpPr>
          <p:cNvPr id="43" name="Shape 34"/>
          <p:cNvSpPr/>
          <p:nvPr/>
        </p:nvSpPr>
        <p:spPr>
          <a:xfrm>
            <a:off x="9025128" y="1463040"/>
            <a:ext cx="2645359" cy="585216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44" name="Text 35"/>
          <p:cNvSpPr txBox="1"/>
          <p:nvPr/>
        </p:nvSpPr>
        <p:spPr>
          <a:xfrm>
            <a:off x="9098280" y="1463040"/>
            <a:ext cx="1325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8-15 %</a:t>
            </a:r>
            <a:endParaRPr lang="en-US" sz="1800" dirty="0"/>
          </a:p>
        </p:txBody>
      </p:sp>
      <p:sp>
        <p:nvSpPr>
          <p:cNvPr id="45" name="Text 36"/>
          <p:cNvSpPr txBox="1"/>
          <p:nvPr/>
        </p:nvSpPr>
        <p:spPr>
          <a:xfrm>
            <a:off x="10396728" y="1463040"/>
            <a:ext cx="1218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students drop out or default mid-session</a:t>
            </a:r>
            <a:endParaRPr lang="en-US" sz="1000" dirty="0"/>
          </a:p>
        </p:txBody>
      </p:sp>
      <p:sp>
        <p:nvSpPr>
          <p:cNvPr id="46" name="Shape 37"/>
          <p:cNvSpPr/>
          <p:nvPr/>
        </p:nvSpPr>
        <p:spPr>
          <a:xfrm>
            <a:off x="9025128" y="2103120"/>
            <a:ext cx="2645359" cy="585216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47" name="Text 38"/>
          <p:cNvSpPr txBox="1"/>
          <p:nvPr/>
        </p:nvSpPr>
        <p:spPr>
          <a:xfrm>
            <a:off x="9098280" y="2103120"/>
            <a:ext cx="1325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₹36,000</a:t>
            </a:r>
            <a:endParaRPr lang="en-US" sz="1800" dirty="0"/>
          </a:p>
        </p:txBody>
      </p:sp>
      <p:sp>
        <p:nvSpPr>
          <p:cNvPr id="48" name="Text 39"/>
          <p:cNvSpPr txBox="1"/>
          <p:nvPr/>
        </p:nvSpPr>
        <p:spPr>
          <a:xfrm>
            <a:off x="10396728" y="2103120"/>
            <a:ext cx="1218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lost per dropout at month 4</a:t>
            </a:r>
            <a:endParaRPr lang="en-US" sz="1000" dirty="0"/>
          </a:p>
        </p:txBody>
      </p:sp>
      <p:sp>
        <p:nvSpPr>
          <p:cNvPr id="49" name="Shape 40"/>
          <p:cNvSpPr/>
          <p:nvPr/>
        </p:nvSpPr>
        <p:spPr>
          <a:xfrm>
            <a:off x="9025128" y="2743200"/>
            <a:ext cx="2645359" cy="585216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50" name="Text 41"/>
          <p:cNvSpPr txBox="1"/>
          <p:nvPr/>
        </p:nvSpPr>
        <p:spPr>
          <a:xfrm>
            <a:off x="9098280" y="2743200"/>
            <a:ext cx="1325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₹17.3 lakh</a:t>
            </a:r>
            <a:endParaRPr lang="en-US" sz="1800" dirty="0"/>
          </a:p>
        </p:txBody>
      </p:sp>
      <p:sp>
        <p:nvSpPr>
          <p:cNvPr id="51" name="Text 42"/>
          <p:cNvSpPr txBox="1"/>
          <p:nvPr/>
        </p:nvSpPr>
        <p:spPr>
          <a:xfrm>
            <a:off x="10396728" y="2743200"/>
            <a:ext cx="1218895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at risk a year (400 students, 12 %)</a:t>
            </a:r>
            <a:endParaRPr lang="en-US" sz="1000" dirty="0"/>
          </a:p>
        </p:txBody>
      </p:sp>
      <p:sp>
        <p:nvSpPr>
          <p:cNvPr id="52" name="Shape 43"/>
          <p:cNvSpPr/>
          <p:nvPr/>
        </p:nvSpPr>
        <p:spPr>
          <a:xfrm>
            <a:off x="9025128" y="3438144"/>
            <a:ext cx="1204976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9025128" y="3438144"/>
            <a:ext cx="1204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 BASELINE</a:t>
            </a:r>
            <a:endParaRPr lang="en-US" sz="800" dirty="0"/>
          </a:p>
        </p:txBody>
      </p:sp>
      <p:sp>
        <p:nvSpPr>
          <p:cNvPr id="54" name="Shape 45"/>
          <p:cNvSpPr/>
          <p:nvPr/>
        </p:nvSpPr>
        <p:spPr>
          <a:xfrm>
            <a:off x="411480" y="3886200"/>
            <a:ext cx="434340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5" name="Text 46"/>
          <p:cNvSpPr txBox="1"/>
          <p:nvPr/>
        </p:nvSpPr>
        <p:spPr>
          <a:xfrm>
            <a:off x="502920" y="3931920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STUDENTS LEAVE AND RETURN</a:t>
            </a:r>
            <a:endParaRPr lang="en-US" sz="1250" dirty="0"/>
          </a:p>
        </p:txBody>
      </p:sp>
      <p:pic>
        <p:nvPicPr>
          <p:cNvPr id="56" name="Image 7" descr="Active roster index through the sessio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251960"/>
            <a:ext cx="4069080" cy="1828800"/>
          </a:xfrm>
          <a:prstGeom prst="rect">
            <a:avLst/>
          </a:prstGeom>
        </p:spPr>
      </p:pic>
      <p:sp>
        <p:nvSpPr>
          <p:cNvPr id="57" name="Shape 47"/>
          <p:cNvSpPr/>
          <p:nvPr/>
        </p:nvSpPr>
        <p:spPr>
          <a:xfrm>
            <a:off x="548640" y="6108192"/>
            <a:ext cx="2034032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8" name="Text 48"/>
          <p:cNvSpPr txBox="1"/>
          <p:nvPr/>
        </p:nvSpPr>
        <p:spPr>
          <a:xfrm>
            <a:off x="548640" y="6108192"/>
            <a:ext cx="2034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ASSUMPTION, LOW CONFIDENCE</a:t>
            </a:r>
            <a:endParaRPr lang="en-US" sz="800" dirty="0"/>
          </a:p>
        </p:txBody>
      </p:sp>
      <p:sp>
        <p:nvSpPr>
          <p:cNvPr id="59" name="Shape 49"/>
          <p:cNvSpPr/>
          <p:nvPr/>
        </p:nvSpPr>
        <p:spPr>
          <a:xfrm>
            <a:off x="4846320" y="3886200"/>
            <a:ext cx="397764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60" name="Text 50"/>
          <p:cNvSpPr txBox="1"/>
          <p:nvPr/>
        </p:nvSpPr>
        <p:spPr>
          <a:xfrm>
            <a:off x="4937760" y="393192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BUYER'S CONSTRAINTS</a:t>
            </a:r>
            <a:endParaRPr lang="en-US" sz="1250" dirty="0"/>
          </a:p>
        </p:txBody>
      </p:sp>
      <p:sp>
        <p:nvSpPr>
          <p:cNvPr id="61" name="Shape 51"/>
          <p:cNvSpPr/>
          <p:nvPr/>
        </p:nvSpPr>
        <p:spPr>
          <a:xfrm>
            <a:off x="4956048" y="4251960"/>
            <a:ext cx="1828800" cy="932688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62" name="Shape 52"/>
          <p:cNvSpPr/>
          <p:nvPr/>
        </p:nvSpPr>
        <p:spPr>
          <a:xfrm>
            <a:off x="5029200" y="4325112"/>
            <a:ext cx="329184" cy="32918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63" name="Image 8" descr="FaIndianRupeeSign ico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01620" y="4397532"/>
            <a:ext cx="184343" cy="184343"/>
          </a:xfrm>
          <a:prstGeom prst="rect">
            <a:avLst/>
          </a:prstGeom>
        </p:spPr>
      </p:pic>
      <p:sp>
        <p:nvSpPr>
          <p:cNvPr id="64" name="Text 53"/>
          <p:cNvSpPr txBox="1"/>
          <p:nvPr/>
        </p:nvSpPr>
        <p:spPr>
          <a:xfrm>
            <a:off x="5413248" y="42976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Price-sensitive</a:t>
            </a:r>
            <a:endParaRPr lang="en-US" sz="1100" dirty="0"/>
          </a:p>
        </p:txBody>
      </p:sp>
      <p:sp>
        <p:nvSpPr>
          <p:cNvPr id="65" name="Text 54"/>
          <p:cNvSpPr txBox="1"/>
          <p:nvPr/>
        </p:nvSpPr>
        <p:spPr>
          <a:xfrm>
            <a:off x="5029200" y="4690872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apps cost ₹4 to ₹21 per student per month today.</a:t>
            </a:r>
            <a:endParaRPr lang="en-US" sz="950" dirty="0"/>
          </a:p>
        </p:txBody>
      </p:sp>
      <p:sp>
        <p:nvSpPr>
          <p:cNvPr id="66" name="Shape 55"/>
          <p:cNvSpPr/>
          <p:nvPr/>
        </p:nvSpPr>
        <p:spPr>
          <a:xfrm>
            <a:off x="6876288" y="4251960"/>
            <a:ext cx="1828800" cy="932688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67" name="Shape 56"/>
          <p:cNvSpPr/>
          <p:nvPr/>
        </p:nvSpPr>
        <p:spPr>
          <a:xfrm>
            <a:off x="6949440" y="4325112"/>
            <a:ext cx="329184" cy="32918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68" name="Image 9" descr="FaTable icon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021860" y="4397532"/>
            <a:ext cx="184343" cy="184343"/>
          </a:xfrm>
          <a:prstGeom prst="rect">
            <a:avLst/>
          </a:prstGeom>
        </p:spPr>
      </p:pic>
      <p:sp>
        <p:nvSpPr>
          <p:cNvPr id="69" name="Text 57"/>
          <p:cNvSpPr txBox="1"/>
          <p:nvPr/>
        </p:nvSpPr>
        <p:spPr>
          <a:xfrm>
            <a:off x="7333488" y="4297680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Low-tech staff</a:t>
            </a:r>
            <a:endParaRPr lang="en-US" sz="1100" dirty="0"/>
          </a:p>
        </p:txBody>
      </p:sp>
      <p:sp>
        <p:nvSpPr>
          <p:cNvPr id="70" name="Text 58"/>
          <p:cNvSpPr txBox="1"/>
          <p:nvPr/>
        </p:nvSpPr>
        <p:spPr>
          <a:xfrm>
            <a:off x="6949440" y="4690872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Excel, registers and the phone camera.</a:t>
            </a:r>
            <a:endParaRPr lang="en-US" sz="950" dirty="0"/>
          </a:p>
        </p:txBody>
      </p:sp>
      <p:sp>
        <p:nvSpPr>
          <p:cNvPr id="71" name="Shape 59"/>
          <p:cNvSpPr/>
          <p:nvPr/>
        </p:nvSpPr>
        <p:spPr>
          <a:xfrm>
            <a:off x="4956048" y="5276088"/>
            <a:ext cx="1828800" cy="932688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72" name="Shape 60"/>
          <p:cNvSpPr/>
          <p:nvPr/>
        </p:nvSpPr>
        <p:spPr>
          <a:xfrm>
            <a:off x="5029200" y="5349240"/>
            <a:ext cx="329184" cy="32918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73" name="Image 10" descr="FaWifi icon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01620" y="5421660"/>
            <a:ext cx="184343" cy="184343"/>
          </a:xfrm>
          <a:prstGeom prst="rect">
            <a:avLst/>
          </a:prstGeom>
        </p:spPr>
      </p:pic>
      <p:sp>
        <p:nvSpPr>
          <p:cNvPr id="74" name="Text 61"/>
          <p:cNvSpPr txBox="1"/>
          <p:nvPr/>
        </p:nvSpPr>
        <p:spPr>
          <a:xfrm>
            <a:off x="5413248" y="532180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Patchy internet</a:t>
            </a:r>
            <a:endParaRPr lang="en-US" sz="1100" dirty="0"/>
          </a:p>
        </p:txBody>
      </p:sp>
      <p:sp>
        <p:nvSpPr>
          <p:cNvPr id="75" name="Text 62"/>
          <p:cNvSpPr txBox="1"/>
          <p:nvPr/>
        </p:nvSpPr>
        <p:spPr>
          <a:xfrm>
            <a:off x="5029200" y="571500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must work offline, on one laptop.</a:t>
            </a:r>
            <a:endParaRPr lang="en-US" sz="950" dirty="0"/>
          </a:p>
        </p:txBody>
      </p:sp>
      <p:sp>
        <p:nvSpPr>
          <p:cNvPr id="76" name="Shape 63"/>
          <p:cNvSpPr/>
          <p:nvPr/>
        </p:nvSpPr>
        <p:spPr>
          <a:xfrm>
            <a:off x="6876288" y="5276088"/>
            <a:ext cx="1828800" cy="932688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77" name="Shape 64"/>
          <p:cNvSpPr/>
          <p:nvPr/>
        </p:nvSpPr>
        <p:spPr>
          <a:xfrm>
            <a:off x="6949440" y="5349240"/>
            <a:ext cx="329184" cy="32918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78" name="Image 11" descr="FaUserShield icon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21860" y="5421660"/>
            <a:ext cx="184343" cy="184343"/>
          </a:xfrm>
          <a:prstGeom prst="rect">
            <a:avLst/>
          </a:prstGeom>
        </p:spPr>
      </p:pic>
      <p:sp>
        <p:nvSpPr>
          <p:cNvPr id="79" name="Text 65"/>
          <p:cNvSpPr txBox="1"/>
          <p:nvPr/>
        </p:nvSpPr>
        <p:spPr>
          <a:xfrm>
            <a:off x="7333488" y="5321808"/>
            <a:ext cx="1325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Minors' data</a:t>
            </a:r>
            <a:endParaRPr lang="en-US" sz="1100" dirty="0"/>
          </a:p>
        </p:txBody>
      </p:sp>
      <p:sp>
        <p:nvSpPr>
          <p:cNvPr id="80" name="Text 66"/>
          <p:cNvSpPr txBox="1"/>
          <p:nvPr/>
        </p:nvSpPr>
        <p:spPr>
          <a:xfrm>
            <a:off x="6949440" y="5715000"/>
            <a:ext cx="1691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and MoE coaching rules apply.</a:t>
            </a:r>
            <a:endParaRPr lang="en-US" sz="950" dirty="0"/>
          </a:p>
        </p:txBody>
      </p:sp>
      <p:sp>
        <p:nvSpPr>
          <p:cNvPr id="81" name="Shape 67"/>
          <p:cNvSpPr/>
          <p:nvPr/>
        </p:nvSpPr>
        <p:spPr>
          <a:xfrm>
            <a:off x="8915400" y="3886200"/>
            <a:ext cx="2864815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82" name="Text 68"/>
          <p:cNvSpPr txBox="1"/>
          <p:nvPr/>
        </p:nvSpPr>
        <p:spPr>
          <a:xfrm>
            <a:off x="9006840" y="393192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ALPHAQ DOES</a:t>
            </a:r>
            <a:endParaRPr lang="en-US" sz="1250" dirty="0"/>
          </a:p>
        </p:txBody>
      </p:sp>
      <p:pic>
        <p:nvPicPr>
          <p:cNvPr id="83" name="Image 12" descr="FaCircleCheck ico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61704" y="4315968"/>
            <a:ext cx="201168" cy="201168"/>
          </a:xfrm>
          <a:prstGeom prst="rect">
            <a:avLst/>
          </a:prstGeom>
        </p:spPr>
      </p:pic>
      <p:sp>
        <p:nvSpPr>
          <p:cNvPr id="84" name="Text 69"/>
          <p:cNvSpPr txBox="1"/>
          <p:nvPr/>
        </p:nvSpPr>
        <p:spPr>
          <a:xfrm>
            <a:off x="9354312" y="4261104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Topic-level view of every student</a:t>
            </a:r>
            <a:endParaRPr lang="en-US" sz="1050" dirty="0"/>
          </a:p>
        </p:txBody>
      </p:sp>
      <p:pic>
        <p:nvPicPr>
          <p:cNvPr id="85" name="Image 13" descr="FaCircleCheck icon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61704" y="4654296"/>
            <a:ext cx="201168" cy="201168"/>
          </a:xfrm>
          <a:prstGeom prst="rect">
            <a:avLst/>
          </a:prstGeom>
        </p:spPr>
      </p:pic>
      <p:sp>
        <p:nvSpPr>
          <p:cNvPr id="86" name="Text 70"/>
          <p:cNvSpPr txBox="1"/>
          <p:nvPr/>
        </p:nvSpPr>
        <p:spPr>
          <a:xfrm>
            <a:off x="9354312" y="4599432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short, supportive list each week</a:t>
            </a:r>
            <a:endParaRPr lang="en-US" sz="1050" dirty="0"/>
          </a:p>
        </p:txBody>
      </p:sp>
      <p:pic>
        <p:nvPicPr>
          <p:cNvPr id="87" name="Image 14" descr="FaCircleCheck icon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61704" y="4992624"/>
            <a:ext cx="201168" cy="201168"/>
          </a:xfrm>
          <a:prstGeom prst="rect">
            <a:avLst/>
          </a:prstGeom>
        </p:spPr>
      </p:pic>
      <p:sp>
        <p:nvSpPr>
          <p:cNvPr id="88" name="Text 71"/>
          <p:cNvSpPr txBox="1"/>
          <p:nvPr/>
        </p:nvSpPr>
        <p:spPr>
          <a:xfrm>
            <a:off x="9354312" y="4937760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percentile range</a:t>
            </a:r>
            <a:endParaRPr lang="en-US" sz="1050" dirty="0"/>
          </a:p>
        </p:txBody>
      </p:sp>
      <p:pic>
        <p:nvPicPr>
          <p:cNvPr id="89" name="Image 15" descr="FaCircleCheck icon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061704" y="5330952"/>
            <a:ext cx="201168" cy="201168"/>
          </a:xfrm>
          <a:prstGeom prst="rect">
            <a:avLst/>
          </a:prstGeom>
        </p:spPr>
      </p:pic>
      <p:sp>
        <p:nvSpPr>
          <p:cNvPr id="90" name="Text 72"/>
          <p:cNvSpPr txBox="1"/>
          <p:nvPr/>
        </p:nvSpPr>
        <p:spPr>
          <a:xfrm>
            <a:off x="9354312" y="5276088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Hindi and English reports</a:t>
            </a:r>
            <a:endParaRPr lang="en-US" sz="1050" dirty="0"/>
          </a:p>
        </p:txBody>
      </p:sp>
      <p:pic>
        <p:nvPicPr>
          <p:cNvPr id="91" name="Image 16" descr="FaCircleCheck icon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061704" y="5669280"/>
            <a:ext cx="201168" cy="201168"/>
          </a:xfrm>
          <a:prstGeom prst="rect">
            <a:avLst/>
          </a:prstGeom>
        </p:spPr>
      </p:pic>
      <p:sp>
        <p:nvSpPr>
          <p:cNvPr id="92" name="Text 73"/>
          <p:cNvSpPr txBox="1"/>
          <p:nvPr/>
        </p:nvSpPr>
        <p:spPr>
          <a:xfrm>
            <a:off x="9354312" y="5614416"/>
            <a:ext cx="2316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offline, free to run</a:t>
            </a:r>
            <a:endParaRPr lang="en-US" sz="1050" dirty="0"/>
          </a:p>
        </p:txBody>
      </p:sp>
      <p:sp>
        <p:nvSpPr>
          <p:cNvPr id="93" name="Shape 74"/>
          <p:cNvSpPr/>
          <p:nvPr/>
        </p:nvSpPr>
        <p:spPr>
          <a:xfrm>
            <a:off x="9025128" y="6016752"/>
            <a:ext cx="2645359" cy="246888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94" name="Text 75"/>
          <p:cNvSpPr txBox="1"/>
          <p:nvPr/>
        </p:nvSpPr>
        <p:spPr>
          <a:xfrm>
            <a:off x="9098280" y="6016752"/>
            <a:ext cx="2499055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how it works</a:t>
            </a:r>
            <a:endParaRPr lang="en-US" sz="1050" dirty="0"/>
          </a:p>
        </p:txBody>
      </p:sp>
      <p:sp>
        <p:nvSpPr>
          <p:cNvPr id="95" name="Text 76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Participant Guide sections 2, 6 and 7 (illustrative baselines); roster index and competitor prices from financial/ (assumptions and research, confidence low to medium).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one upload to action: six screens of the same flow</a:t>
            </a:r>
            <a:endParaRPr lang="en-US" sz="2600" dirty="0"/>
          </a:p>
        </p:txBody>
      </p:sp>
      <p:pic>
        <p:nvPicPr>
          <p:cNvPr id="3" name="Image 0" descr="Upload and map: the system fixes the me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097280"/>
            <a:ext cx="3703320" cy="208483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11480" y="1097280"/>
            <a:ext cx="3703320" cy="2084832"/>
          </a:xfrm>
          <a:prstGeom prst="rect">
            <a:avLst/>
          </a:prstGeom>
          <a:ln w="15875">
            <a:solidFill>
              <a:srgbClr val="19B5B7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11480" y="3273552"/>
            <a:ext cx="292608" cy="292608"/>
          </a:xfrm>
          <a:prstGeom prst="ellipse">
            <a:avLst/>
          </a:prstGeom>
          <a:solidFill>
            <a:srgbClr val="19B5B7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11480" y="3273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95528" y="321868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and map: the system fixes the mess</a:t>
            </a:r>
            <a:endParaRPr lang="en-US" sz="1150" dirty="0"/>
          </a:p>
        </p:txBody>
      </p:sp>
      <p:pic>
        <p:nvPicPr>
          <p:cNvPr id="8" name="Image 1" descr="Topic map: strengths, gaps, untaught topic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42816" y="1097280"/>
            <a:ext cx="3703320" cy="208483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242816" y="1097280"/>
            <a:ext cx="3703320" cy="2084832"/>
          </a:xfrm>
          <a:prstGeom prst="rect">
            <a:avLst/>
          </a:prstGeom>
          <a:ln w="15875">
            <a:solidFill>
              <a:srgbClr val="19B5B7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242816" y="3273552"/>
            <a:ext cx="292608" cy="292608"/>
          </a:xfrm>
          <a:prstGeom prst="ellipse">
            <a:avLst/>
          </a:prstGeom>
          <a:solidFill>
            <a:srgbClr val="19B5B7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4242816" y="3273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626864" y="321868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map: strengths, gaps, untaught topics</a:t>
            </a:r>
            <a:endParaRPr lang="en-US" sz="1150" dirty="0"/>
          </a:p>
        </p:txBody>
      </p:sp>
      <p:pic>
        <p:nvPicPr>
          <p:cNvPr id="13" name="Image 2" descr="Weekly support list: reasons and action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4152" y="1097280"/>
            <a:ext cx="3703320" cy="2084832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074152" y="1097280"/>
            <a:ext cx="3703320" cy="2084832"/>
          </a:xfrm>
          <a:prstGeom prst="rect">
            <a:avLst/>
          </a:prstGeom>
          <a:ln w="15875">
            <a:solidFill>
              <a:srgbClr val="19B5B7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8074152" y="3273552"/>
            <a:ext cx="292608" cy="292608"/>
          </a:xfrm>
          <a:prstGeom prst="ellipse">
            <a:avLst/>
          </a:prstGeom>
          <a:solidFill>
            <a:srgbClr val="19B5B7"/>
          </a:solidFill>
          <a:ln/>
        </p:spPr>
      </p:sp>
      <p:sp>
        <p:nvSpPr>
          <p:cNvPr id="16" name="Text 11"/>
          <p:cNvSpPr txBox="1"/>
          <p:nvPr/>
        </p:nvSpPr>
        <p:spPr>
          <a:xfrm>
            <a:off x="8074152" y="3273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458200" y="321868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support list: reasons and actions</a:t>
            </a:r>
            <a:endParaRPr lang="en-US" sz="1150" dirty="0"/>
          </a:p>
        </p:txBody>
      </p:sp>
      <p:pic>
        <p:nvPicPr>
          <p:cNvPr id="18" name="Image 3" descr="Student profile: mastery with doubt, honest rang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703320"/>
            <a:ext cx="3703320" cy="2084832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411480" y="3703320"/>
            <a:ext cx="3703320" cy="2084832"/>
          </a:xfrm>
          <a:prstGeom prst="rect">
            <a:avLst/>
          </a:prstGeom>
          <a:ln w="15875">
            <a:solidFill>
              <a:srgbClr val="19B5B7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411480" y="5879592"/>
            <a:ext cx="292608" cy="292608"/>
          </a:xfrm>
          <a:prstGeom prst="ellipse">
            <a:avLst/>
          </a:prstGeom>
          <a:solidFill>
            <a:srgbClr val="19B5B7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411480" y="5879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795528" y="582472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profile: mastery with doubt, honest range</a:t>
            </a:r>
            <a:endParaRPr lang="en-US" sz="1150" dirty="0"/>
          </a:p>
        </p:txBody>
      </p:sp>
      <p:pic>
        <p:nvPicPr>
          <p:cNvPr id="23" name="Image 4" descr="Owner dashboard: retention, coverage, complian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42816" y="3703320"/>
            <a:ext cx="3703320" cy="2084832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4242816" y="3703320"/>
            <a:ext cx="3703320" cy="2084832"/>
          </a:xfrm>
          <a:prstGeom prst="rect">
            <a:avLst/>
          </a:prstGeom>
          <a:ln w="15875">
            <a:solidFill>
              <a:srgbClr val="19B5B7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4242816" y="5879592"/>
            <a:ext cx="292608" cy="292608"/>
          </a:xfrm>
          <a:prstGeom prst="ellipse">
            <a:avLst/>
          </a:prstGeom>
          <a:solidFill>
            <a:srgbClr val="19B5B7"/>
          </a:solidFill>
          <a:ln/>
        </p:spPr>
      </p:sp>
      <p:sp>
        <p:nvSpPr>
          <p:cNvPr id="26" name="Text 19"/>
          <p:cNvSpPr txBox="1"/>
          <p:nvPr/>
        </p:nvSpPr>
        <p:spPr>
          <a:xfrm>
            <a:off x="4242816" y="5879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0"/>
          <p:cNvSpPr txBox="1"/>
          <p:nvPr/>
        </p:nvSpPr>
        <p:spPr>
          <a:xfrm>
            <a:off x="4626864" y="582472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dashboard: retention, coverage, compliance</a:t>
            </a:r>
            <a:endParaRPr lang="en-US" sz="1150" dirty="0"/>
          </a:p>
        </p:txBody>
      </p:sp>
      <p:pic>
        <p:nvPicPr>
          <p:cNvPr id="28" name="Image 5" descr="Parent report in Hindi and English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88452" y="3703320"/>
            <a:ext cx="3474720" cy="2084832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8188452" y="3703320"/>
            <a:ext cx="3474720" cy="2084832"/>
          </a:xfrm>
          <a:prstGeom prst="rect">
            <a:avLst/>
          </a:prstGeom>
          <a:ln w="15875">
            <a:solidFill>
              <a:srgbClr val="19B5B7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8074152" y="5879592"/>
            <a:ext cx="292608" cy="292608"/>
          </a:xfrm>
          <a:prstGeom prst="ellipse">
            <a:avLst/>
          </a:prstGeom>
          <a:solidFill>
            <a:srgbClr val="19B5B7"/>
          </a:solidFill>
          <a:ln/>
        </p:spPr>
      </p:sp>
      <p:sp>
        <p:nvSpPr>
          <p:cNvPr id="31" name="Text 23"/>
          <p:cNvSpPr txBox="1"/>
          <p:nvPr/>
        </p:nvSpPr>
        <p:spPr>
          <a:xfrm>
            <a:off x="8074152" y="58795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8458200" y="5824728"/>
            <a:ext cx="3246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 in Hindi and English</a:t>
            </a:r>
            <a:endParaRPr lang="en-US" sz="1150" dirty="0"/>
          </a:p>
        </p:txBody>
      </p:sp>
      <p:sp>
        <p:nvSpPr>
          <p:cNvPr id="33" name="Text 25"/>
          <p:cNvSpPr txBox="1"/>
          <p:nvPr/>
        </p:nvSpPr>
        <p:spPr>
          <a:xfrm>
            <a:off x="411480" y="6473952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FB4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mock-ups rendered from HTML with synthetic values. They become real screenshots once the web app is wired to the models.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ystem architecture: capture, structure, intelligence, deliver, with a trust layer underneat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estimate what each student knows, topic by topic, and say how sure we are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RIGOUR 25 % · LEARNING ANALYTICS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4892040" cy="521208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02920" y="1161288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TEACHER SEES</a:t>
            </a:r>
            <a:endParaRPr lang="en-US" sz="1250" dirty="0"/>
          </a:p>
        </p:txBody>
      </p:sp>
      <p:pic>
        <p:nvPicPr>
          <p:cNvPr id="6" name="Image 0" descr="Topic mastery heatmap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4572000" cy="25694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097280" y="3822192"/>
            <a:ext cx="274320" cy="27432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097280" y="38221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947672" y="1664208"/>
            <a:ext cx="274320" cy="27432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947672" y="16642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160520" y="2834640"/>
            <a:ext cx="274320" cy="27432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160520" y="28346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66928" y="4206240"/>
            <a:ext cx="237744" cy="237744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6928" y="42062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41605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Bands, not scores: building, steady, strong, or not enough data.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4663440"/>
            <a:ext cx="237744" cy="237744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66928" y="46634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914400" y="46177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column low for the whole batch means probably not taught yet, not weak students.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5120640"/>
            <a:ext cx="237744" cy="237744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66928" y="512064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14400" y="507492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question the best students miss is flagged as a likely wrong answer key.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66928" y="5623560"/>
            <a:ext cx="17922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66928" y="562356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2194560" y="5623560"/>
            <a:ext cx="132588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194560" y="5623560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21208" y="5943600"/>
            <a:ext cx="4672584" cy="274320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594360" y="594360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view: topic-level, per student, per batch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394960" y="1115568"/>
            <a:ext cx="3154680" cy="521208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29" name="Text 26"/>
          <p:cNvSpPr txBox="1"/>
          <p:nvPr/>
        </p:nvSpPr>
        <p:spPr>
          <a:xfrm>
            <a:off x="5486400" y="1161288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0" name="Shape 27"/>
          <p:cNvSpPr/>
          <p:nvPr/>
        </p:nvSpPr>
        <p:spPr>
          <a:xfrm>
            <a:off x="5504688" y="1481328"/>
            <a:ext cx="2935224" cy="2743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577840" y="1481328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Answers and versioned keys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5504688" y="1755648"/>
            <a:ext cx="2935224" cy="80467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5577840" y="1783080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counts as wrong. Dropped and multi-correct items follow NTA rules; fixing a key re-scores everything.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5504688" y="2651760"/>
            <a:ext cx="2935224" cy="2743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5577840" y="265176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Question difficulty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5504688" y="2926080"/>
            <a:ext cx="2935224" cy="80467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577840" y="2953512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2-parameter IRT with a guessing prior; Rasch for small samples. Negative discrimination flags a bad key.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5504688" y="3822192"/>
            <a:ext cx="2935224" cy="2743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5577840" y="3822192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Mastery per topic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5504688" y="4096512"/>
            <a:ext cx="2935224" cy="80467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5577840" y="4123944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Shrunk toward the student's overall level and the batch; recent tests count more.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5504688" y="4992624"/>
            <a:ext cx="2935224" cy="2743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5577840" y="4992624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Bands with honesty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5504688" y="5266944"/>
            <a:ext cx="2935224" cy="80467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45" name="Text 42"/>
          <p:cNvSpPr txBox="1"/>
          <p:nvPr/>
        </p:nvSpPr>
        <p:spPr>
          <a:xfrm>
            <a:off x="5577840" y="5294376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band appears only when the standard error is small; otherwise: not enough data.</a:t>
            </a:r>
            <a:endParaRPr lang="en-US" sz="1050" dirty="0"/>
          </a:p>
        </p:txBody>
      </p:sp>
      <p:sp>
        <p:nvSpPr>
          <p:cNvPr id="46" name="Shape 43"/>
          <p:cNvSpPr/>
          <p:nvPr/>
        </p:nvSpPr>
        <p:spPr>
          <a:xfrm>
            <a:off x="8686800" y="1115568"/>
            <a:ext cx="3093415" cy="5212080"/>
          </a:xfrm>
          <a:prstGeom prst="roundRect">
            <a:avLst>
              <a:gd name="adj" fmla="val 1774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47" name="Text 44"/>
          <p:cNvSpPr txBox="1"/>
          <p:nvPr/>
        </p:nvSpPr>
        <p:spPr>
          <a:xfrm>
            <a:off x="8778240" y="1161288"/>
            <a:ext cx="2910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ON REAL DATA</a:t>
            </a:r>
            <a:endParaRPr lang="en-US" sz="1250" dirty="0"/>
          </a:p>
        </p:txBody>
      </p:sp>
      <p:pic>
        <p:nvPicPr>
          <p:cNvPr id="48" name="Image 1" descr="Knowledge tracing AUC: ours vs publish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1481328"/>
            <a:ext cx="2910535" cy="1804532"/>
          </a:xfrm>
          <a:prstGeom prst="rect">
            <a:avLst/>
          </a:prstGeom>
        </p:spPr>
      </p:pic>
      <p:sp>
        <p:nvSpPr>
          <p:cNvPr id="49" name="Shape 45"/>
          <p:cNvSpPr/>
          <p:nvPr/>
        </p:nvSpPr>
        <p:spPr>
          <a:xfrm>
            <a:off x="8796528" y="3429000"/>
            <a:ext cx="1092708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6F71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796528" y="3429000"/>
            <a:ext cx="10927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sp>
        <p:nvSpPr>
          <p:cNvPr id="51" name="Text 47"/>
          <p:cNvSpPr txBox="1"/>
          <p:nvPr/>
        </p:nvSpPr>
        <p:spPr>
          <a:xfrm>
            <a:off x="8796528" y="3675888"/>
            <a:ext cx="28739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770 held-out students, 55,755 predictions, 5-fold, pyKT split. Our 95% interval: 0.756 to 0.779. AKT is higher than ours.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8796528" y="4315968"/>
            <a:ext cx="2873959" cy="256032"/>
          </a:xfrm>
          <a:prstGeom prst="rect">
            <a:avLst/>
          </a:prstGeom>
          <a:solidFill>
            <a:srgbClr val="4F5D75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869680" y="4315968"/>
            <a:ext cx="27276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SYNTHETIC-DATA RESULTS</a:t>
            </a:r>
            <a:endParaRPr lang="en-US" sz="1050" dirty="0"/>
          </a:p>
        </p:txBody>
      </p:sp>
      <p:sp>
        <p:nvSpPr>
          <p:cNvPr id="54" name="Shape 50"/>
          <p:cNvSpPr/>
          <p:nvPr/>
        </p:nvSpPr>
        <p:spPr>
          <a:xfrm>
            <a:off x="8796528" y="4572000"/>
            <a:ext cx="2873959" cy="347472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8869680" y="4572000"/>
            <a:ext cx="1813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recovery vs students</a:t>
            </a:r>
            <a:endParaRPr lang="en-US" sz="1050" dirty="0"/>
          </a:p>
        </p:txBody>
      </p:sp>
      <p:sp>
        <p:nvSpPr>
          <p:cNvPr id="56" name="Shape 52"/>
          <p:cNvSpPr/>
          <p:nvPr/>
        </p:nvSpPr>
        <p:spPr>
          <a:xfrm>
            <a:off x="10820095" y="4645152"/>
            <a:ext cx="721360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10820095" y="4645152"/>
            <a:ext cx="72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58" name="Shape 54"/>
          <p:cNvSpPr/>
          <p:nvPr/>
        </p:nvSpPr>
        <p:spPr>
          <a:xfrm>
            <a:off x="8796528" y="4937760"/>
            <a:ext cx="2873959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8869680" y="4937760"/>
            <a:ext cx="1813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Wrong-key detection</a:t>
            </a:r>
            <a:endParaRPr lang="en-US" sz="1050" dirty="0"/>
          </a:p>
        </p:txBody>
      </p:sp>
      <p:sp>
        <p:nvSpPr>
          <p:cNvPr id="60" name="Shape 56"/>
          <p:cNvSpPr/>
          <p:nvPr/>
        </p:nvSpPr>
        <p:spPr>
          <a:xfrm>
            <a:off x="10820095" y="5010912"/>
            <a:ext cx="721360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10820095" y="5010912"/>
            <a:ext cx="72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62" name="Shape 58"/>
          <p:cNvSpPr/>
          <p:nvPr/>
        </p:nvSpPr>
        <p:spPr>
          <a:xfrm>
            <a:off x="8796528" y="5303520"/>
            <a:ext cx="2873959" cy="347472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8869680" y="5303520"/>
            <a:ext cx="181325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vs raw % correct</a:t>
            </a:r>
            <a:endParaRPr lang="en-US" sz="1050" dirty="0"/>
          </a:p>
        </p:txBody>
      </p:sp>
      <p:sp>
        <p:nvSpPr>
          <p:cNvPr id="64" name="Shape 60"/>
          <p:cNvSpPr/>
          <p:nvPr/>
        </p:nvSpPr>
        <p:spPr>
          <a:xfrm>
            <a:off x="10820095" y="5376672"/>
            <a:ext cx="721360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10820095" y="5376672"/>
            <a:ext cx="72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66" name="Text 62"/>
          <p:cNvSpPr txBox="1"/>
          <p:nvPr/>
        </p:nvSpPr>
        <p:spPr>
          <a:xfrm>
            <a:off x="8796528" y="5715000"/>
            <a:ext cx="28739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Moat curve: difficulty accuracy as more students answer.</a:t>
            </a:r>
            <a:endParaRPr lang="en-US" sz="1000" dirty="0"/>
          </a:p>
        </p:txBody>
      </p:sp>
      <p:sp>
        <p:nvSpPr>
          <p:cNvPr id="67" name="Text 63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 (ASSISTments 2009, pyKT NeurIPS 2022 reference values); screens are illustrative. Difficulty and mastery results on synthetic data are pending.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short, supportive list each week: who to call, why, and what to offer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RIGOUR 25 % · EARLY WARNING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4572000" cy="521208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02920" y="11612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MENTOR SEES</a:t>
            </a:r>
            <a:endParaRPr lang="en-US" sz="1250" dirty="0"/>
          </a:p>
        </p:txBody>
      </p:sp>
      <p:pic>
        <p:nvPicPr>
          <p:cNvPr id="6" name="Image 0" descr="Support list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4389120" cy="24688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794760" y="1965960"/>
            <a:ext cx="274320" cy="27432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794760" y="19659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423160" y="2148840"/>
            <a:ext cx="274320" cy="27432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423160" y="21488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3977640"/>
            <a:ext cx="4389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BY AGE AND PURPOSE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02920" y="4224528"/>
            <a:ext cx="1188720" cy="256032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48640" y="42245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691640" y="4224528"/>
            <a:ext cx="1097280" cy="256032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737360" y="42245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support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2788920" y="4224528"/>
            <a:ext cx="1051560" cy="256032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2834640" y="42245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840480" y="4224528"/>
            <a:ext cx="1051560" cy="256032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3886200" y="4224528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502920" y="4480560"/>
            <a:ext cx="1188720" cy="310896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48640" y="4480560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18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1691640" y="4480560"/>
            <a:ext cx="1097280" cy="310896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737360" y="448056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2788920" y="4480560"/>
            <a:ext cx="1051560" cy="310896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2834640" y="448056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3840480" y="4480560"/>
            <a:ext cx="1051560" cy="310896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886200" y="4480560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02920" y="4791456"/>
            <a:ext cx="1188720" cy="31089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 txBox="1"/>
          <p:nvPr/>
        </p:nvSpPr>
        <p:spPr>
          <a:xfrm>
            <a:off x="548640" y="4791456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and over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1691640" y="4791456"/>
            <a:ext cx="1097280" cy="310896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737360" y="479145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2788920" y="4791456"/>
            <a:ext cx="1051560" cy="310896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834640" y="479145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3840480" y="4791456"/>
            <a:ext cx="1051560" cy="310896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3886200" y="479145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502920" y="5102352"/>
            <a:ext cx="1188720" cy="310896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548640" y="5102352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Minors, legal opinion</a:t>
            </a:r>
            <a:endParaRPr lang="en-US" sz="1000" dirty="0"/>
          </a:p>
        </p:txBody>
      </p:sp>
      <p:sp>
        <p:nvSpPr>
          <p:cNvPr id="38" name="Shape 35"/>
          <p:cNvSpPr/>
          <p:nvPr/>
        </p:nvSpPr>
        <p:spPr>
          <a:xfrm>
            <a:off x="1691640" y="5102352"/>
            <a:ext cx="1097280" cy="310896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1737360" y="510235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2788920" y="5102352"/>
            <a:ext cx="1051560" cy="310896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41" name="Text 38"/>
          <p:cNvSpPr txBox="1"/>
          <p:nvPr/>
        </p:nvSpPr>
        <p:spPr>
          <a:xfrm>
            <a:off x="2834640" y="51023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3840480" y="5102352"/>
            <a:ext cx="1051560" cy="310896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3886200" y="510235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44" name="Text 41"/>
          <p:cNvSpPr txBox="1"/>
          <p:nvPr/>
        </p:nvSpPr>
        <p:spPr>
          <a:xfrm>
            <a:off x="502920" y="546811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used for minors: app activity tracking. Flags persist until resolved; list capped at mentor capacity.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502920" y="5852160"/>
            <a:ext cx="17922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02920" y="585216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02920" y="6053328"/>
            <a:ext cx="4389120" cy="24688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76072" y="6053328"/>
            <a:ext cx="4242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to mentor and owner only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5120640" y="1115568"/>
            <a:ext cx="3657600" cy="521208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0" name="Text 47"/>
          <p:cNvSpPr txBox="1"/>
          <p:nvPr/>
        </p:nvSpPr>
        <p:spPr>
          <a:xfrm>
            <a:off x="5212080" y="1161288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REAL-DATA CHECK ON OULAD (WITHDRAWAL)</a:t>
            </a:r>
            <a:endParaRPr lang="en-US" sz="1250" dirty="0"/>
          </a:p>
        </p:txBody>
      </p:sp>
      <p:pic>
        <p:nvPicPr>
          <p:cNvPr id="51" name="Image 1" descr="OULAD AUC by observation wind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463040"/>
            <a:ext cx="3474720" cy="2414930"/>
          </a:xfrm>
          <a:prstGeom prst="rect">
            <a:avLst/>
          </a:prstGeom>
        </p:spPr>
      </p:pic>
      <p:sp>
        <p:nvSpPr>
          <p:cNvPr id="52" name="Shape 48"/>
          <p:cNvSpPr/>
          <p:nvPr/>
        </p:nvSpPr>
        <p:spPr>
          <a:xfrm>
            <a:off x="5230368" y="4041648"/>
            <a:ext cx="1092708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6F71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5230368" y="4041648"/>
            <a:ext cx="10927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sp>
        <p:nvSpPr>
          <p:cNvPr id="54" name="Shape 50"/>
          <p:cNvSpPr/>
          <p:nvPr/>
        </p:nvSpPr>
        <p:spPr>
          <a:xfrm>
            <a:off x="5212080" y="4297680"/>
            <a:ext cx="1828800" cy="24688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55" name="Text 51"/>
          <p:cNvSpPr txBox="1"/>
          <p:nvPr/>
        </p:nvSpPr>
        <p:spPr>
          <a:xfrm>
            <a:off x="5257800" y="4297680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28, 5-fold by student</a:t>
            </a:r>
            <a:endParaRPr lang="en-US" sz="950" dirty="0"/>
          </a:p>
        </p:txBody>
      </p:sp>
      <p:sp>
        <p:nvSpPr>
          <p:cNvPr id="56" name="Shape 52"/>
          <p:cNvSpPr/>
          <p:nvPr/>
        </p:nvSpPr>
        <p:spPr>
          <a:xfrm>
            <a:off x="7040880" y="4297680"/>
            <a:ext cx="822960" cy="24688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57" name="Text 53"/>
          <p:cNvSpPr txBox="1"/>
          <p:nvPr/>
        </p:nvSpPr>
        <p:spPr>
          <a:xfrm>
            <a:off x="7086600" y="4297680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</a:t>
            </a:r>
            <a:endParaRPr lang="en-US" sz="950" dirty="0"/>
          </a:p>
        </p:txBody>
      </p:sp>
      <p:sp>
        <p:nvSpPr>
          <p:cNvPr id="58" name="Shape 54"/>
          <p:cNvSpPr/>
          <p:nvPr/>
        </p:nvSpPr>
        <p:spPr>
          <a:xfrm>
            <a:off x="7863840" y="4297680"/>
            <a:ext cx="731520" cy="24688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59" name="Text 55"/>
          <p:cNvSpPr txBox="1"/>
          <p:nvPr/>
        </p:nvSpPr>
        <p:spPr>
          <a:xfrm>
            <a:off x="7909560" y="429768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P@10 %</a:t>
            </a:r>
            <a:endParaRPr lang="en-US" sz="950" dirty="0"/>
          </a:p>
        </p:txBody>
      </p:sp>
      <p:sp>
        <p:nvSpPr>
          <p:cNvPr id="60" name="Shape 56"/>
          <p:cNvSpPr/>
          <p:nvPr/>
        </p:nvSpPr>
        <p:spPr>
          <a:xfrm>
            <a:off x="5212080" y="4544568"/>
            <a:ext cx="1828800" cy="246888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61" name="Text 57"/>
          <p:cNvSpPr txBox="1"/>
          <p:nvPr/>
        </p:nvSpPr>
        <p:spPr>
          <a:xfrm>
            <a:off x="5257800" y="4544568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LightGBM, academic + clicks</a:t>
            </a:r>
            <a:endParaRPr lang="en-US" sz="950" dirty="0"/>
          </a:p>
        </p:txBody>
      </p:sp>
      <p:sp>
        <p:nvSpPr>
          <p:cNvPr id="62" name="Shape 58"/>
          <p:cNvSpPr/>
          <p:nvPr/>
        </p:nvSpPr>
        <p:spPr>
          <a:xfrm>
            <a:off x="7040880" y="4544568"/>
            <a:ext cx="822960" cy="246888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63" name="Text 59"/>
          <p:cNvSpPr txBox="1"/>
          <p:nvPr/>
        </p:nvSpPr>
        <p:spPr>
          <a:xfrm>
            <a:off x="7086600" y="454456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0.706</a:t>
            </a:r>
            <a:endParaRPr lang="en-US" sz="950" dirty="0"/>
          </a:p>
        </p:txBody>
      </p:sp>
      <p:sp>
        <p:nvSpPr>
          <p:cNvPr id="64" name="Shape 60"/>
          <p:cNvSpPr/>
          <p:nvPr/>
        </p:nvSpPr>
        <p:spPr>
          <a:xfrm>
            <a:off x="7863840" y="4544568"/>
            <a:ext cx="731520" cy="246888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65" name="Text 61"/>
          <p:cNvSpPr txBox="1"/>
          <p:nvPr/>
        </p:nvSpPr>
        <p:spPr>
          <a:xfrm>
            <a:off x="7909560" y="4544568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950" dirty="0"/>
          </a:p>
        </p:txBody>
      </p:sp>
      <p:sp>
        <p:nvSpPr>
          <p:cNvPr id="66" name="Shape 62"/>
          <p:cNvSpPr/>
          <p:nvPr/>
        </p:nvSpPr>
        <p:spPr>
          <a:xfrm>
            <a:off x="5212080" y="4791456"/>
            <a:ext cx="1828800" cy="24688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67" name="Text 63"/>
          <p:cNvSpPr txBox="1"/>
          <p:nvPr/>
        </p:nvSpPr>
        <p:spPr>
          <a:xfrm>
            <a:off x="5257800" y="4791456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LightGBM, academic only</a:t>
            </a:r>
            <a:endParaRPr lang="en-US" sz="950" dirty="0"/>
          </a:p>
        </p:txBody>
      </p:sp>
      <p:sp>
        <p:nvSpPr>
          <p:cNvPr id="68" name="Shape 64"/>
          <p:cNvSpPr/>
          <p:nvPr/>
        </p:nvSpPr>
        <p:spPr>
          <a:xfrm>
            <a:off x="7040880" y="4791456"/>
            <a:ext cx="822960" cy="24688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69" name="Text 65"/>
          <p:cNvSpPr txBox="1"/>
          <p:nvPr/>
        </p:nvSpPr>
        <p:spPr>
          <a:xfrm>
            <a:off x="7086600" y="4791456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0.698</a:t>
            </a:r>
            <a:endParaRPr lang="en-US" sz="950" dirty="0"/>
          </a:p>
        </p:txBody>
      </p:sp>
      <p:sp>
        <p:nvSpPr>
          <p:cNvPr id="70" name="Shape 66"/>
          <p:cNvSpPr/>
          <p:nvPr/>
        </p:nvSpPr>
        <p:spPr>
          <a:xfrm>
            <a:off x="7863840" y="4791456"/>
            <a:ext cx="731520" cy="24688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71" name="Text 67"/>
          <p:cNvSpPr txBox="1"/>
          <p:nvPr/>
        </p:nvSpPr>
        <p:spPr>
          <a:xfrm>
            <a:off x="7909560" y="4791456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</a:t>
            </a:r>
            <a:endParaRPr lang="en-US" sz="950" dirty="0"/>
          </a:p>
        </p:txBody>
      </p:sp>
      <p:sp>
        <p:nvSpPr>
          <p:cNvPr id="72" name="Shape 68"/>
          <p:cNvSpPr/>
          <p:nvPr/>
        </p:nvSpPr>
        <p:spPr>
          <a:xfrm>
            <a:off x="5212080" y="5038344"/>
            <a:ext cx="182880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69"/>
          <p:cNvSpPr txBox="1"/>
          <p:nvPr/>
        </p:nvSpPr>
        <p:spPr>
          <a:xfrm>
            <a:off x="5257800" y="5038344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Logistic, academic only</a:t>
            </a:r>
            <a:endParaRPr lang="en-US" sz="950" dirty="0"/>
          </a:p>
        </p:txBody>
      </p:sp>
      <p:sp>
        <p:nvSpPr>
          <p:cNvPr id="74" name="Shape 70"/>
          <p:cNvSpPr/>
          <p:nvPr/>
        </p:nvSpPr>
        <p:spPr>
          <a:xfrm>
            <a:off x="7040880" y="5038344"/>
            <a:ext cx="82296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5" name="Text 71"/>
          <p:cNvSpPr txBox="1"/>
          <p:nvPr/>
        </p:nvSpPr>
        <p:spPr>
          <a:xfrm>
            <a:off x="7086600" y="5038344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0.680</a:t>
            </a:r>
            <a:endParaRPr lang="en-US" sz="950" dirty="0"/>
          </a:p>
        </p:txBody>
      </p:sp>
      <p:sp>
        <p:nvSpPr>
          <p:cNvPr id="76" name="Shape 72"/>
          <p:cNvSpPr/>
          <p:nvPr/>
        </p:nvSpPr>
        <p:spPr>
          <a:xfrm>
            <a:off x="7863840" y="5038344"/>
            <a:ext cx="73152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Text 73"/>
          <p:cNvSpPr txBox="1"/>
          <p:nvPr/>
        </p:nvSpPr>
        <p:spPr>
          <a:xfrm>
            <a:off x="7909560" y="5038344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0.40</a:t>
            </a:r>
            <a:endParaRPr lang="en-US" sz="950" dirty="0"/>
          </a:p>
        </p:txBody>
      </p:sp>
      <p:sp>
        <p:nvSpPr>
          <p:cNvPr id="78" name="Shape 74"/>
          <p:cNvSpPr/>
          <p:nvPr/>
        </p:nvSpPr>
        <p:spPr>
          <a:xfrm>
            <a:off x="5212080" y="5285232"/>
            <a:ext cx="182880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79" name="Text 75"/>
          <p:cNvSpPr txBox="1"/>
          <p:nvPr/>
        </p:nvSpPr>
        <p:spPr>
          <a:xfrm>
            <a:off x="5257800" y="5285232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no assessment</a:t>
            </a:r>
            <a:endParaRPr lang="en-US" sz="950" dirty="0"/>
          </a:p>
        </p:txBody>
      </p:sp>
      <p:sp>
        <p:nvSpPr>
          <p:cNvPr id="80" name="Shape 76"/>
          <p:cNvSpPr/>
          <p:nvPr/>
        </p:nvSpPr>
        <p:spPr>
          <a:xfrm>
            <a:off x="7040880" y="5285232"/>
            <a:ext cx="82296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81" name="Text 77"/>
          <p:cNvSpPr txBox="1"/>
          <p:nvPr/>
        </p:nvSpPr>
        <p:spPr>
          <a:xfrm>
            <a:off x="7086600" y="5285232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0.521</a:t>
            </a:r>
            <a:endParaRPr lang="en-US" sz="950" dirty="0"/>
          </a:p>
        </p:txBody>
      </p:sp>
      <p:sp>
        <p:nvSpPr>
          <p:cNvPr id="82" name="Shape 78"/>
          <p:cNvSpPr/>
          <p:nvPr/>
        </p:nvSpPr>
        <p:spPr>
          <a:xfrm>
            <a:off x="7863840" y="5285232"/>
            <a:ext cx="73152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83" name="Text 79"/>
          <p:cNvSpPr txBox="1"/>
          <p:nvPr/>
        </p:nvSpPr>
        <p:spPr>
          <a:xfrm>
            <a:off x="7909560" y="5285232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0.31</a:t>
            </a:r>
            <a:endParaRPr lang="en-US" sz="950" dirty="0"/>
          </a:p>
        </p:txBody>
      </p:sp>
      <p:sp>
        <p:nvSpPr>
          <p:cNvPr id="84" name="Shape 80"/>
          <p:cNvSpPr/>
          <p:nvPr/>
        </p:nvSpPr>
        <p:spPr>
          <a:xfrm>
            <a:off x="5212080" y="5532120"/>
            <a:ext cx="182880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85" name="Text 81"/>
          <p:cNvSpPr txBox="1"/>
          <p:nvPr/>
        </p:nvSpPr>
        <p:spPr>
          <a:xfrm>
            <a:off x="5257800" y="5532120"/>
            <a:ext cx="17373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Rule: zero clicks, 7 days</a:t>
            </a:r>
            <a:endParaRPr lang="en-US" sz="950" dirty="0"/>
          </a:p>
        </p:txBody>
      </p:sp>
      <p:sp>
        <p:nvSpPr>
          <p:cNvPr id="86" name="Shape 82"/>
          <p:cNvSpPr/>
          <p:nvPr/>
        </p:nvSpPr>
        <p:spPr>
          <a:xfrm>
            <a:off x="7040880" y="5532120"/>
            <a:ext cx="82296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87" name="Text 83"/>
          <p:cNvSpPr txBox="1"/>
          <p:nvPr/>
        </p:nvSpPr>
        <p:spPr>
          <a:xfrm>
            <a:off x="7086600" y="5532120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0.532</a:t>
            </a:r>
            <a:endParaRPr lang="en-US" sz="950" dirty="0"/>
          </a:p>
        </p:txBody>
      </p:sp>
      <p:sp>
        <p:nvSpPr>
          <p:cNvPr id="88" name="Shape 84"/>
          <p:cNvSpPr/>
          <p:nvPr/>
        </p:nvSpPr>
        <p:spPr>
          <a:xfrm>
            <a:off x="7863840" y="5532120"/>
            <a:ext cx="73152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89" name="Text 85"/>
          <p:cNvSpPr txBox="1"/>
          <p:nvPr/>
        </p:nvSpPr>
        <p:spPr>
          <a:xfrm>
            <a:off x="7909560" y="553212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950" dirty="0"/>
          </a:p>
        </p:txBody>
      </p:sp>
      <p:sp>
        <p:nvSpPr>
          <p:cNvPr id="90" name="Text 86"/>
          <p:cNvSpPr txBox="1"/>
          <p:nvPr/>
        </p:nvSpPr>
        <p:spPr>
          <a:xfrm>
            <a:off x="5212080" y="5852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error 0.009. Held-out course: 0.654.</a:t>
            </a:r>
            <a:endParaRPr lang="en-US" sz="1000" dirty="0"/>
          </a:p>
        </p:txBody>
      </p:sp>
      <p:sp>
        <p:nvSpPr>
          <p:cNvPr id="91" name="Shape 87"/>
          <p:cNvSpPr/>
          <p:nvPr/>
        </p:nvSpPr>
        <p:spPr>
          <a:xfrm>
            <a:off x="8915400" y="1115568"/>
            <a:ext cx="2864815" cy="5212080"/>
          </a:xfrm>
          <a:prstGeom prst="roundRect">
            <a:avLst>
              <a:gd name="adj" fmla="val 1915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92" name="Text 88"/>
          <p:cNvSpPr txBox="1"/>
          <p:nvPr/>
        </p:nvSpPr>
        <p:spPr>
          <a:xfrm>
            <a:off x="9006840" y="1161288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FLAG IS MADE</a:t>
            </a:r>
            <a:endParaRPr lang="en-US" sz="1250" dirty="0"/>
          </a:p>
        </p:txBody>
      </p:sp>
      <p:sp>
        <p:nvSpPr>
          <p:cNvPr id="93" name="Shape 89"/>
          <p:cNvSpPr/>
          <p:nvPr/>
        </p:nvSpPr>
        <p:spPr>
          <a:xfrm>
            <a:off x="9025128" y="1481328"/>
            <a:ext cx="329184" cy="32918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94" name="Image 2" descr="FaClo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7548" y="1553748"/>
            <a:ext cx="184343" cy="184343"/>
          </a:xfrm>
          <a:prstGeom prst="rect">
            <a:avLst/>
          </a:prstGeom>
        </p:spPr>
      </p:pic>
      <p:sp>
        <p:nvSpPr>
          <p:cNvPr id="95" name="Text 90"/>
          <p:cNvSpPr txBox="1"/>
          <p:nvPr/>
        </p:nvSpPr>
        <p:spPr>
          <a:xfrm>
            <a:off x="9427464" y="14813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as of the date, never the future</a:t>
            </a:r>
            <a:endParaRPr lang="en-US" sz="1050" dirty="0"/>
          </a:p>
        </p:txBody>
      </p:sp>
      <p:sp>
        <p:nvSpPr>
          <p:cNvPr id="96" name="Shape 91"/>
          <p:cNvSpPr/>
          <p:nvPr/>
        </p:nvSpPr>
        <p:spPr>
          <a:xfrm>
            <a:off x="9025128" y="1938528"/>
            <a:ext cx="329184" cy="329184"/>
          </a:xfrm>
          <a:prstGeom prst="ellipse">
            <a:avLst/>
          </a:prstGeom>
          <a:solidFill>
            <a:srgbClr val="0A6F71"/>
          </a:solidFill>
          <a:ln/>
        </p:spPr>
      </p:sp>
      <p:pic>
        <p:nvPicPr>
          <p:cNvPr id="97" name="Image 3" descr="FaScaleBalance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97548" y="2010948"/>
            <a:ext cx="184343" cy="184343"/>
          </a:xfrm>
          <a:prstGeom prst="rect">
            <a:avLst/>
          </a:prstGeom>
        </p:spPr>
      </p:pic>
      <p:sp>
        <p:nvSpPr>
          <p:cNvPr id="98" name="Text 92"/>
          <p:cNvSpPr txBox="1"/>
          <p:nvPr/>
        </p:nvSpPr>
        <p:spPr>
          <a:xfrm>
            <a:off x="9427464" y="19385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by age and purpose</a:t>
            </a:r>
            <a:endParaRPr lang="en-US" sz="1050" dirty="0"/>
          </a:p>
        </p:txBody>
      </p:sp>
      <p:sp>
        <p:nvSpPr>
          <p:cNvPr id="99" name="Shape 93"/>
          <p:cNvSpPr/>
          <p:nvPr/>
        </p:nvSpPr>
        <p:spPr>
          <a:xfrm>
            <a:off x="9025128" y="2395728"/>
            <a:ext cx="329184" cy="32918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00" name="Image 4" descr="FaChartLine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97548" y="2468148"/>
            <a:ext cx="184343" cy="184343"/>
          </a:xfrm>
          <a:prstGeom prst="rect">
            <a:avLst/>
          </a:prstGeom>
        </p:spPr>
      </p:pic>
      <p:sp>
        <p:nvSpPr>
          <p:cNvPr id="101" name="Text 94"/>
          <p:cNvSpPr txBox="1"/>
          <p:nvPr/>
        </p:nvSpPr>
        <p:spPr>
          <a:xfrm>
            <a:off x="9427464" y="23957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or apply a plain rule</a:t>
            </a:r>
            <a:endParaRPr lang="en-US" sz="1050" dirty="0"/>
          </a:p>
        </p:txBody>
      </p:sp>
      <p:sp>
        <p:nvSpPr>
          <p:cNvPr id="102" name="Shape 95"/>
          <p:cNvSpPr/>
          <p:nvPr/>
        </p:nvSpPr>
        <p:spPr>
          <a:xfrm>
            <a:off x="9025128" y="2852928"/>
            <a:ext cx="329184" cy="329184"/>
          </a:xfrm>
          <a:prstGeom prst="ellipse">
            <a:avLst/>
          </a:prstGeom>
          <a:solidFill>
            <a:srgbClr val="0A6F71"/>
          </a:solidFill>
          <a:ln/>
        </p:spPr>
      </p:sp>
      <p:pic>
        <p:nvPicPr>
          <p:cNvPr id="103" name="Image 5" descr="FaClipboard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97548" y="2925348"/>
            <a:ext cx="184343" cy="184343"/>
          </a:xfrm>
          <a:prstGeom prst="rect">
            <a:avLst/>
          </a:prstGeom>
        </p:spPr>
      </p:pic>
      <p:sp>
        <p:nvSpPr>
          <p:cNvPr id="104" name="Text 96"/>
          <p:cNvSpPr txBox="1"/>
          <p:nvPr/>
        </p:nvSpPr>
        <p:spPr>
          <a:xfrm>
            <a:off x="9427464" y="28529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reasons and a supportive action</a:t>
            </a:r>
            <a:endParaRPr lang="en-US" sz="1050" dirty="0"/>
          </a:p>
        </p:txBody>
      </p:sp>
      <p:sp>
        <p:nvSpPr>
          <p:cNvPr id="105" name="Shape 97"/>
          <p:cNvSpPr/>
          <p:nvPr/>
        </p:nvSpPr>
        <p:spPr>
          <a:xfrm>
            <a:off x="9025128" y="3310128"/>
            <a:ext cx="329184" cy="329184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06" name="Image 6" descr="FaHandshake ico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7548" y="3382548"/>
            <a:ext cx="184343" cy="184343"/>
          </a:xfrm>
          <a:prstGeom prst="rect">
            <a:avLst/>
          </a:prstGeom>
        </p:spPr>
      </p:pic>
      <p:sp>
        <p:nvSpPr>
          <p:cNvPr id="107" name="Text 98"/>
          <p:cNvSpPr txBox="1"/>
          <p:nvPr/>
        </p:nvSpPr>
        <p:spPr>
          <a:xfrm>
            <a:off x="9427464" y="3310128"/>
            <a:ext cx="22430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decides; outcome is logged</a:t>
            </a:r>
            <a:endParaRPr lang="en-US" sz="1050" dirty="0"/>
          </a:p>
        </p:txBody>
      </p:sp>
      <p:pic>
        <p:nvPicPr>
          <p:cNvPr id="108" name="Image 7" descr="Calibration curve, OULAD day 28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35440" y="3858768"/>
            <a:ext cx="2011680" cy="1892808"/>
          </a:xfrm>
          <a:prstGeom prst="rect">
            <a:avLst/>
          </a:prstGeom>
        </p:spPr>
      </p:pic>
      <p:sp>
        <p:nvSpPr>
          <p:cNvPr id="109" name="Text 99"/>
          <p:cNvSpPr txBox="1"/>
          <p:nvPr/>
        </p:nvSpPr>
        <p:spPr>
          <a:xfrm>
            <a:off x="9025128" y="5833872"/>
            <a:ext cx="1676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on synthetic institutes: pending.</a:t>
            </a:r>
            <a:endParaRPr lang="en-US" sz="900" dirty="0"/>
          </a:p>
        </p:txBody>
      </p:sp>
      <p:sp>
        <p:nvSpPr>
          <p:cNvPr id="110" name="Shape 100"/>
          <p:cNvSpPr/>
          <p:nvPr/>
        </p:nvSpPr>
        <p:spPr>
          <a:xfrm>
            <a:off x="10820095" y="5897880"/>
            <a:ext cx="721360" cy="201168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111" name="Text 101"/>
          <p:cNvSpPr txBox="1"/>
          <p:nvPr/>
        </p:nvSpPr>
        <p:spPr>
          <a:xfrm>
            <a:off x="10820095" y="5897880"/>
            <a:ext cx="721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800" dirty="0"/>
          </a:p>
        </p:txBody>
      </p:sp>
      <p:sp>
        <p:nvSpPr>
          <p:cNvPr id="112" name="Text 102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 (OULAD, CC BY 4.0); routing policy: contracts/routing_policy.yaml. About a quarter of dropouts are sudden and cannot be predicted from academic data.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honest percentile range, and a parent report where every number is checked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RIGOUR 25 % · GENAI WITH GUARDRAILS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3840480" cy="521208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02920" y="11612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PERCENTILE RANGE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21208" y="1481328"/>
            <a:ext cx="3621024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5DE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07008" y="3264408"/>
            <a:ext cx="2706624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04088" y="315468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207008" y="2837688"/>
            <a:ext cx="2706624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04088" y="272796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207008" y="2410968"/>
            <a:ext cx="2706624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04088" y="230124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207008" y="1984248"/>
            <a:ext cx="2706624" cy="9144"/>
          </a:xfrm>
          <a:prstGeom prst="rect">
            <a:avLst/>
          </a:prstGeom>
          <a:solidFill>
            <a:srgbClr val="D5DEE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04088" y="1874520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" y="1572768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Predicted percentile range, one student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358579" y="2112264"/>
            <a:ext cx="238183" cy="896112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207008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899904" y="2176272"/>
            <a:ext cx="238183" cy="704088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748333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441229" y="2240280"/>
            <a:ext cx="238183" cy="533400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289658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982553" y="2304288"/>
            <a:ext cx="238183" cy="362712"/>
          </a:xfrm>
          <a:prstGeom prst="roundRect">
            <a:avLst>
              <a:gd name="adj" fmla="val 19195"/>
            </a:avLst>
          </a:prstGeom>
          <a:solidFill>
            <a:srgbClr val="9FD3D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830982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23878" y="2346960"/>
            <a:ext cx="238183" cy="234696"/>
          </a:xfrm>
          <a:prstGeom prst="roundRect">
            <a:avLst>
              <a:gd name="adj" fmla="val 19481"/>
            </a:avLst>
          </a:prstGeom>
          <a:solidFill>
            <a:srgbClr val="0F8B8D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72307" y="3319272"/>
            <a:ext cx="54132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04088" y="3648456"/>
            <a:ext cx="3255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range narrows as more tests come in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21208" y="4069080"/>
            <a:ext cx="36210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Quantile model plus conformal band, 80 % target (77 to 83 % accepted).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521208" y="4462272"/>
            <a:ext cx="362102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the NTA percentile through an editable table: 2026 average curve, with 2024 easy and tough shifts as the uncertainty envelope.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21208" y="5120640"/>
            <a:ext cx="36210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as a range with a disclaimer, never a single number or a rank promise.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21208" y="5669280"/>
            <a:ext cx="17922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1208" y="566928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194560" y="5669280"/>
            <a:ext cx="781812" cy="219456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194560" y="5669280"/>
            <a:ext cx="7818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21208" y="5943600"/>
            <a:ext cx="3621024" cy="256032"/>
          </a:xfrm>
          <a:prstGeom prst="rect">
            <a:avLst/>
          </a:prstGeom>
          <a:solidFill>
            <a:srgbClr val="4F5D7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94360" y="594360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results pending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389120" y="1115568"/>
            <a:ext cx="4572000" cy="521208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37" name="Text 35"/>
          <p:cNvSpPr txBox="1"/>
          <p:nvPr/>
        </p:nvSpPr>
        <p:spPr>
          <a:xfrm>
            <a:off x="4480560" y="1161288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REPORT: HINDI AND ENGLISH</a:t>
            </a:r>
            <a:endParaRPr lang="en-US" sz="1250" dirty="0"/>
          </a:p>
        </p:txBody>
      </p:sp>
      <p:pic>
        <p:nvPicPr>
          <p:cNvPr id="38" name="Image 0" descr="Parent report in Hindi and English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80560" y="1463040"/>
            <a:ext cx="4389120" cy="2633472"/>
          </a:xfrm>
          <a:prstGeom prst="rect">
            <a:avLst/>
          </a:prstGeom>
        </p:spPr>
      </p:pic>
      <p:sp>
        <p:nvSpPr>
          <p:cNvPr id="39" name="Shape 36"/>
          <p:cNvSpPr/>
          <p:nvPr/>
        </p:nvSpPr>
        <p:spPr>
          <a:xfrm>
            <a:off x="7132320" y="1600200"/>
            <a:ext cx="274320" cy="27432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132320" y="16002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709160" y="3931920"/>
            <a:ext cx="274320" cy="27432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4709160" y="39319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4526280" y="434340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Every number and topic comes from the data, never from the AI.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4526280" y="46177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Checked before sending: if any check fails, a template is sent instead.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4526280" y="5029200"/>
            <a:ext cx="1075944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4526280" y="5029200"/>
            <a:ext cx="1075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needed</a:t>
            </a:r>
            <a:endParaRPr lang="en-US" sz="1000" dirty="0"/>
          </a:p>
        </p:txBody>
      </p:sp>
      <p:sp>
        <p:nvSpPr>
          <p:cNvPr id="47" name="Shape 44"/>
          <p:cNvSpPr/>
          <p:nvPr/>
        </p:nvSpPr>
        <p:spPr>
          <a:xfrm>
            <a:off x="5675376" y="5029200"/>
            <a:ext cx="1075944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5675376" y="5029200"/>
            <a:ext cx="1075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templates</a:t>
            </a:r>
            <a:endParaRPr lang="en-US" sz="1000" dirty="0"/>
          </a:p>
        </p:txBody>
      </p:sp>
      <p:sp>
        <p:nvSpPr>
          <p:cNvPr id="49" name="Shape 46"/>
          <p:cNvSpPr/>
          <p:nvPr/>
        </p:nvSpPr>
        <p:spPr>
          <a:xfrm>
            <a:off x="6824472" y="5029200"/>
            <a:ext cx="1355344" cy="256032"/>
          </a:xfrm>
          <a:prstGeom prst="roundRect">
            <a:avLst>
              <a:gd name="adj" fmla="val 50000"/>
            </a:avLst>
          </a:prstGeom>
          <a:solidFill>
            <a:srgbClr val="E3F2F2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6824472" y="5029200"/>
            <a:ext cx="1355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 added last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4526280" y="5669280"/>
            <a:ext cx="17922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4526280" y="566928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53" name="Text 50"/>
          <p:cNvSpPr txBox="1"/>
          <p:nvPr/>
        </p:nvSpPr>
        <p:spPr>
          <a:xfrm>
            <a:off x="6172200" y="564184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text produced by our report module (template path) for a synthetic student.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4480560" y="5989320"/>
            <a:ext cx="4389120" cy="246888"/>
          </a:xfrm>
          <a:prstGeom prst="rect">
            <a:avLst/>
          </a:prstGeom>
          <a:solidFill>
            <a:srgbClr val="4F5D75"/>
          </a:solidFill>
          <a:ln/>
        </p:spPr>
      </p:sp>
      <p:sp>
        <p:nvSpPr>
          <p:cNvPr id="55" name="Text 52"/>
          <p:cNvSpPr txBox="1"/>
          <p:nvPr/>
        </p:nvSpPr>
        <p:spPr>
          <a:xfrm>
            <a:off x="4553712" y="5989320"/>
            <a:ext cx="424281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still needs a native reviewer</a:t>
            </a:r>
            <a:endParaRPr lang="en-US" sz="1050" dirty="0"/>
          </a:p>
        </p:txBody>
      </p:sp>
      <p:sp>
        <p:nvSpPr>
          <p:cNvPr id="56" name="Shape 53"/>
          <p:cNvSpPr/>
          <p:nvPr/>
        </p:nvSpPr>
        <p:spPr>
          <a:xfrm>
            <a:off x="9098280" y="1115568"/>
            <a:ext cx="2681935" cy="5212080"/>
          </a:xfrm>
          <a:prstGeom prst="roundRect">
            <a:avLst>
              <a:gd name="adj" fmla="val 2046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7" name="Text 54"/>
          <p:cNvSpPr txBox="1"/>
          <p:nvPr/>
        </p:nvSpPr>
        <p:spPr>
          <a:xfrm>
            <a:off x="9189720" y="1161288"/>
            <a:ext cx="2499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CHECKING PIPELINE</a:t>
            </a:r>
            <a:endParaRPr lang="en-US" sz="1250" dirty="0"/>
          </a:p>
        </p:txBody>
      </p:sp>
      <p:sp>
        <p:nvSpPr>
          <p:cNvPr id="58" name="Shape 55"/>
          <p:cNvSpPr/>
          <p:nvPr/>
        </p:nvSpPr>
        <p:spPr>
          <a:xfrm>
            <a:off x="9208008" y="1481328"/>
            <a:ext cx="365760" cy="36576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59" name="Image 1" descr="FaDatabase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88475" y="1561795"/>
            <a:ext cx="204826" cy="204826"/>
          </a:xfrm>
          <a:prstGeom prst="rect">
            <a:avLst/>
          </a:prstGeom>
        </p:spPr>
      </p:pic>
      <p:sp>
        <p:nvSpPr>
          <p:cNvPr id="60" name="Text 56"/>
          <p:cNvSpPr txBox="1"/>
          <p:nvPr/>
        </p:nvSpPr>
        <p:spPr>
          <a:xfrm>
            <a:off x="9665208" y="1481328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from data</a:t>
            </a:r>
            <a:endParaRPr lang="en-US" sz="1150" dirty="0"/>
          </a:p>
        </p:txBody>
      </p:sp>
      <p:sp>
        <p:nvSpPr>
          <p:cNvPr id="61" name="Text 57"/>
          <p:cNvSpPr txBox="1"/>
          <p:nvPr/>
        </p:nvSpPr>
        <p:spPr>
          <a:xfrm>
            <a:off x="9665208" y="1847088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tests, topics, trend, two tips.</a:t>
            </a:r>
            <a:endParaRPr lang="en-US" sz="1000" dirty="0"/>
          </a:p>
        </p:txBody>
      </p:sp>
      <p:sp>
        <p:nvSpPr>
          <p:cNvPr id="62" name="Shape 58"/>
          <p:cNvSpPr/>
          <p:nvPr/>
        </p:nvSpPr>
        <p:spPr>
          <a:xfrm>
            <a:off x="9208008" y="2505456"/>
            <a:ext cx="365760" cy="36576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63" name="Image 2" descr="FaRobot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88475" y="2585923"/>
            <a:ext cx="204826" cy="204826"/>
          </a:xfrm>
          <a:prstGeom prst="rect">
            <a:avLst/>
          </a:prstGeom>
        </p:spPr>
      </p:pic>
      <p:sp>
        <p:nvSpPr>
          <p:cNvPr id="64" name="Text 59"/>
          <p:cNvSpPr txBox="1"/>
          <p:nvPr/>
        </p:nvSpPr>
        <p:spPr>
          <a:xfrm>
            <a:off x="9665208" y="2505456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local AI</a:t>
            </a:r>
            <a:endParaRPr lang="en-US" sz="1150" dirty="0"/>
          </a:p>
        </p:txBody>
      </p:sp>
      <p:sp>
        <p:nvSpPr>
          <p:cNvPr id="65" name="Text 60"/>
          <p:cNvSpPr txBox="1"/>
          <p:nvPr/>
        </p:nvSpPr>
        <p:spPr>
          <a:xfrm>
            <a:off x="9665208" y="2871216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rewords; runs on the laptop.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9208008" y="3529584"/>
            <a:ext cx="365760" cy="365760"/>
          </a:xfrm>
          <a:prstGeom prst="ellipse">
            <a:avLst/>
          </a:prstGeom>
          <a:solidFill>
            <a:srgbClr val="0A6F71"/>
          </a:solidFill>
          <a:ln/>
        </p:spPr>
      </p:sp>
      <p:pic>
        <p:nvPicPr>
          <p:cNvPr id="67" name="Image 3" descr="FaList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8475" y="3610051"/>
            <a:ext cx="204826" cy="204826"/>
          </a:xfrm>
          <a:prstGeom prst="rect">
            <a:avLst/>
          </a:prstGeom>
        </p:spPr>
      </p:pic>
      <p:sp>
        <p:nvSpPr>
          <p:cNvPr id="68" name="Text 62"/>
          <p:cNvSpPr txBox="1"/>
          <p:nvPr/>
        </p:nvSpPr>
        <p:spPr>
          <a:xfrm>
            <a:off x="9665208" y="3529584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checks</a:t>
            </a:r>
            <a:endParaRPr lang="en-US" sz="1150" dirty="0"/>
          </a:p>
        </p:txBody>
      </p:sp>
      <p:sp>
        <p:nvSpPr>
          <p:cNvPr id="69" name="Text 63"/>
          <p:cNvSpPr txBox="1"/>
          <p:nvPr/>
        </p:nvSpPr>
        <p:spPr>
          <a:xfrm>
            <a:off x="9665208" y="3895344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Numbers, topics, names, banned words, length, trend, tips, schema.</a:t>
            </a:r>
            <a:endParaRPr lang="en-US" sz="1000" dirty="0"/>
          </a:p>
        </p:txBody>
      </p:sp>
      <p:sp>
        <p:nvSpPr>
          <p:cNvPr id="70" name="Shape 64"/>
          <p:cNvSpPr/>
          <p:nvPr/>
        </p:nvSpPr>
        <p:spPr>
          <a:xfrm>
            <a:off x="9208008" y="4553712"/>
            <a:ext cx="365760" cy="36576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71" name="Image 4" descr="FaFilePdf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8475" y="4634179"/>
            <a:ext cx="204826" cy="204826"/>
          </a:xfrm>
          <a:prstGeom prst="rect">
            <a:avLst/>
          </a:prstGeom>
        </p:spPr>
      </p:pic>
      <p:sp>
        <p:nvSpPr>
          <p:cNvPr id="72" name="Text 65"/>
          <p:cNvSpPr txBox="1"/>
          <p:nvPr/>
        </p:nvSpPr>
        <p:spPr>
          <a:xfrm>
            <a:off x="9665208" y="4553712"/>
            <a:ext cx="20052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fallback</a:t>
            </a:r>
            <a:endParaRPr lang="en-US" sz="1150" dirty="0"/>
          </a:p>
        </p:txBody>
      </p:sp>
      <p:sp>
        <p:nvSpPr>
          <p:cNvPr id="73" name="Text 66"/>
          <p:cNvSpPr txBox="1"/>
          <p:nvPr/>
        </p:nvSpPr>
        <p:spPr>
          <a:xfrm>
            <a:off x="9665208" y="4919472"/>
            <a:ext cx="20052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human-written text if anything fails.</a:t>
            </a:r>
            <a:endParaRPr lang="en-US" sz="1000" dirty="0"/>
          </a:p>
        </p:txBody>
      </p:sp>
      <p:sp>
        <p:nvSpPr>
          <p:cNvPr id="74" name="Shape 67"/>
          <p:cNvSpPr/>
          <p:nvPr/>
        </p:nvSpPr>
        <p:spPr>
          <a:xfrm>
            <a:off x="9208008" y="5623560"/>
            <a:ext cx="626364" cy="219456"/>
          </a:xfrm>
          <a:prstGeom prst="roundRect">
            <a:avLst>
              <a:gd name="adj" fmla="val 50000"/>
            </a:avLst>
          </a:prstGeom>
          <a:solidFill>
            <a:srgbClr val="0A6F71"/>
          </a:solidFill>
          <a:ln/>
        </p:spPr>
      </p:sp>
      <p:sp>
        <p:nvSpPr>
          <p:cNvPr id="75" name="Text 68"/>
          <p:cNvSpPr txBox="1"/>
          <p:nvPr/>
        </p:nvSpPr>
        <p:spPr>
          <a:xfrm>
            <a:off x="9208008" y="5623560"/>
            <a:ext cx="6263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</a:t>
            </a:r>
            <a:endParaRPr lang="en-US" sz="900" dirty="0"/>
          </a:p>
        </p:txBody>
      </p:sp>
      <p:sp>
        <p:nvSpPr>
          <p:cNvPr id="76" name="Text 69"/>
          <p:cNvSpPr txBox="1"/>
          <p:nvPr/>
        </p:nvSpPr>
        <p:spPr>
          <a:xfrm>
            <a:off x="9875520" y="5596128"/>
            <a:ext cx="1767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automated tests</a:t>
            </a:r>
            <a:endParaRPr lang="en-US" sz="1000" dirty="0"/>
          </a:p>
        </p:txBody>
      </p:sp>
      <p:sp>
        <p:nvSpPr>
          <p:cNvPr id="77" name="Text 70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backend/app/genai (report module), contracts/report_numbers.schema.json. An independent attack on the checker found gaps; fixes are in progress, so no catch rate is claimed here.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the law: consent first, supportive actions only, no rankings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FEASIBILITY, PRIVACY AND SAFETY 20 %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4160520" cy="452628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02920" y="1161288"/>
            <a:ext cx="3977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GETS WHAT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960120" cy="4572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4813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463040" y="1481328"/>
            <a:ext cx="822960" cy="4572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508760" y="14813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support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0" y="1481328"/>
            <a:ext cx="777240" cy="4572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331720" y="14813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063240" y="1481328"/>
            <a:ext cx="731520" cy="4572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108960" y="14813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94760" y="1481328"/>
            <a:ext cx="685800" cy="45720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840480" y="14813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activity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1938528"/>
            <a:ext cx="960120" cy="45720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19385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463040" y="1938528"/>
            <a:ext cx="822960" cy="457200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508760" y="19385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86000" y="1938528"/>
            <a:ext cx="777240" cy="457200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331720" y="19385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63240" y="1938528"/>
            <a:ext cx="731520" cy="457200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08960" y="19385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94760" y="1938528"/>
            <a:ext cx="685800" cy="457200"/>
          </a:xfrm>
          <a:prstGeom prst="rect">
            <a:avLst/>
          </a:prstGeom>
          <a:solidFill>
            <a:srgbClr val="F4CFC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840480" y="1938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2920" y="2395728"/>
            <a:ext cx="9601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48640" y="23957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and over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1463040" y="2395728"/>
            <a:ext cx="822960" cy="457200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508760" y="23957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286000" y="2395728"/>
            <a:ext cx="777240" cy="457200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2331720" y="23957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63240" y="2395728"/>
            <a:ext cx="731520" cy="457200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108960" y="23957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794760" y="2395728"/>
            <a:ext cx="685800" cy="457200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840480" y="23957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Opt-in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02920" y="2852928"/>
            <a:ext cx="960120" cy="45720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48640" y="285292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18, legal opinion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1463040" y="2852928"/>
            <a:ext cx="822960" cy="457200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1508760" y="2852928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286000" y="2852928"/>
            <a:ext cx="777240" cy="457200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331720" y="2852928"/>
            <a:ext cx="685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063240" y="2852928"/>
            <a:ext cx="731520" cy="457200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108960" y="2852928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rules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3794760" y="2852928"/>
            <a:ext cx="685800" cy="457200"/>
          </a:xfrm>
          <a:prstGeom prst="rect">
            <a:avLst/>
          </a:prstGeom>
          <a:solidFill>
            <a:srgbClr val="F4CFCB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28529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521208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s.9(3): </a:t>
            </a:r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tracking or behavioural monitoring of children, even with consent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521208" y="4005072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Schedule: </a:t>
            </a:r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exemption is narrow and purpose-limited, so we do not rely on it for consent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521208" y="4535424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cl. 10.2(xi): </a:t>
            </a:r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results and counsel students whose performance is deteriorating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521208" y="506577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act as the processor: </a:t>
            </a:r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institute stays the data fiduciary; no pooling of children's raw data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21208" y="5486400"/>
            <a:ext cx="233629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6F71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21208" y="5486400"/>
            <a:ext cx="23362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 AND TESTED IN CODE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709160" y="1115568"/>
            <a:ext cx="3246120" cy="4526280"/>
          </a:xfrm>
          <a:prstGeom prst="roundRect">
            <a:avLst>
              <a:gd name="adj" fmla="val 1690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3" name="Text 51"/>
          <p:cNvSpPr txBox="1"/>
          <p:nvPr/>
        </p:nvSpPr>
        <p:spPr>
          <a:xfrm>
            <a:off x="4800600" y="1161288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PARENTAL CONSENT</a:t>
            </a:r>
            <a:endParaRPr lang="en-US" sz="1250" dirty="0"/>
          </a:p>
        </p:txBody>
      </p:sp>
      <p:pic>
        <p:nvPicPr>
          <p:cNvPr id="54" name="Image 0" descr="Consent notice with purpose switches (illustrative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0" y="1481328"/>
            <a:ext cx="2971800" cy="2971800"/>
          </a:xfrm>
          <a:prstGeom prst="rect">
            <a:avLst/>
          </a:prstGeom>
        </p:spPr>
      </p:pic>
      <p:sp>
        <p:nvSpPr>
          <p:cNvPr id="55" name="Shape 52"/>
          <p:cNvSpPr/>
          <p:nvPr/>
        </p:nvSpPr>
        <p:spPr>
          <a:xfrm>
            <a:off x="4800600" y="1828800"/>
            <a:ext cx="274320" cy="27432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4800600" y="1828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57" name="Shape 54"/>
          <p:cNvSpPr/>
          <p:nvPr/>
        </p:nvSpPr>
        <p:spPr>
          <a:xfrm>
            <a:off x="4800600" y="2926080"/>
            <a:ext cx="274320" cy="27432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480060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9" name="Shape 56"/>
          <p:cNvSpPr/>
          <p:nvPr/>
        </p:nvSpPr>
        <p:spPr>
          <a:xfrm>
            <a:off x="4800600" y="3840480"/>
            <a:ext cx="274320" cy="274320"/>
          </a:xfrm>
          <a:prstGeom prst="ellipse">
            <a:avLst/>
          </a:prstGeom>
          <a:solidFill>
            <a:srgbClr val="0B2545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480060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61" name="Text 58"/>
          <p:cNvSpPr txBox="1"/>
          <p:nvPr/>
        </p:nvSpPr>
        <p:spPr>
          <a:xfrm>
            <a:off x="4846320" y="4498848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Itemised data  2 One switch per purpose  3 Withdraw in one tap</a:t>
            </a:r>
            <a:endParaRPr lang="en-US" sz="1000" dirty="0"/>
          </a:p>
        </p:txBody>
      </p:sp>
      <p:sp>
        <p:nvSpPr>
          <p:cNvPr id="62" name="Text 59"/>
          <p:cNvSpPr txBox="1"/>
          <p:nvPr/>
        </p:nvSpPr>
        <p:spPr>
          <a:xfrm>
            <a:off x="4846320" y="4919472"/>
            <a:ext cx="2971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checked at the admission desk (Rule 10); consent recorded per purpose and notice version.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4846320" y="5349240"/>
            <a:ext cx="1792224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4F5D75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4846320" y="5349240"/>
            <a:ext cx="17922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MOCK-UP</a:t>
            </a:r>
            <a:endParaRPr lang="en-US" sz="900" dirty="0"/>
          </a:p>
        </p:txBody>
      </p:sp>
      <p:sp>
        <p:nvSpPr>
          <p:cNvPr id="65" name="Shape 62"/>
          <p:cNvSpPr/>
          <p:nvPr/>
        </p:nvSpPr>
        <p:spPr>
          <a:xfrm>
            <a:off x="8092440" y="1115568"/>
            <a:ext cx="3687775" cy="4526280"/>
          </a:xfrm>
          <a:prstGeom prst="roundRect">
            <a:avLst>
              <a:gd name="adj" fmla="val 1488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66" name="Text 63"/>
          <p:cNvSpPr txBox="1"/>
          <p:nvPr/>
        </p:nvSpPr>
        <p:spPr>
          <a:xfrm>
            <a:off x="8183880" y="1161288"/>
            <a:ext cx="3504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OF PRIVACY, ON REAL DATA</a:t>
            </a:r>
            <a:endParaRPr lang="en-US" sz="1250" dirty="0"/>
          </a:p>
        </p:txBody>
      </p:sp>
      <p:pic>
        <p:nvPicPr>
          <p:cNvPr id="67" name="Image 1" descr="Academic-only vs academic plus click behaviour, OULA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2168" y="1463040"/>
            <a:ext cx="3468319" cy="2635923"/>
          </a:xfrm>
          <a:prstGeom prst="rect">
            <a:avLst/>
          </a:prstGeom>
        </p:spPr>
      </p:pic>
      <p:sp>
        <p:nvSpPr>
          <p:cNvPr id="68" name="Shape 64"/>
          <p:cNvSpPr/>
          <p:nvPr/>
        </p:nvSpPr>
        <p:spPr>
          <a:xfrm>
            <a:off x="8202168" y="4251960"/>
            <a:ext cx="1092708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A6F71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8202168" y="4251960"/>
            <a:ext cx="10927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</a:t>
            </a:r>
            <a:endParaRPr lang="en-US" sz="900" dirty="0"/>
          </a:p>
        </p:txBody>
      </p:sp>
      <p:pic>
        <p:nvPicPr>
          <p:cNvPr id="70" name="Image 2" descr="FaCircleChe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38744" y="4572000"/>
            <a:ext cx="182880" cy="182880"/>
          </a:xfrm>
          <a:prstGeom prst="rect">
            <a:avLst/>
          </a:prstGeom>
        </p:spPr>
      </p:pic>
      <p:sp>
        <p:nvSpPr>
          <p:cNvPr id="71" name="Text 66"/>
          <p:cNvSpPr txBox="1"/>
          <p:nvPr/>
        </p:nvSpPr>
        <p:spPr>
          <a:xfrm>
            <a:off x="8503920" y="4526280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leaderboards, no public ranks</a:t>
            </a:r>
            <a:endParaRPr lang="en-US" sz="1000" dirty="0"/>
          </a:p>
        </p:txBody>
      </p:sp>
      <p:pic>
        <p:nvPicPr>
          <p:cNvPr id="72" name="Image 3" descr="FaCircle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38744" y="4828032"/>
            <a:ext cx="182880" cy="182880"/>
          </a:xfrm>
          <a:prstGeom prst="rect">
            <a:avLst/>
          </a:prstGeom>
        </p:spPr>
      </p:pic>
      <p:sp>
        <p:nvSpPr>
          <p:cNvPr id="73" name="Text 67"/>
          <p:cNvSpPr txBox="1"/>
          <p:nvPr/>
        </p:nvSpPr>
        <p:spPr>
          <a:xfrm>
            <a:off x="8503920" y="4782312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batch moves based on performance</a:t>
            </a:r>
            <a:endParaRPr lang="en-US" sz="1000" dirty="0"/>
          </a:p>
        </p:txBody>
      </p:sp>
      <p:pic>
        <p:nvPicPr>
          <p:cNvPr id="74" name="Image 4" descr="FaCircleChec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8744" y="5084064"/>
            <a:ext cx="182880" cy="182880"/>
          </a:xfrm>
          <a:prstGeom prst="rect">
            <a:avLst/>
          </a:prstGeom>
        </p:spPr>
      </p:pic>
      <p:sp>
        <p:nvSpPr>
          <p:cNvPr id="75" name="Text 68"/>
          <p:cNvSpPr txBox="1"/>
          <p:nvPr/>
        </p:nvSpPr>
        <p:spPr>
          <a:xfrm>
            <a:off x="8503920" y="5038344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Banned-words check on every message</a:t>
            </a:r>
            <a:endParaRPr lang="en-US" sz="1000" dirty="0"/>
          </a:p>
        </p:txBody>
      </p:sp>
      <p:pic>
        <p:nvPicPr>
          <p:cNvPr id="76" name="Image 5" descr="FaCircle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8744" y="534009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 txBox="1"/>
          <p:nvPr/>
        </p:nvSpPr>
        <p:spPr>
          <a:xfrm>
            <a:off x="8503920" y="5294376"/>
            <a:ext cx="318485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Counsellor contact for every institute</a:t>
            </a:r>
            <a:endParaRPr lang="en-US" sz="1000" dirty="0"/>
          </a:p>
        </p:txBody>
      </p:sp>
      <p:sp>
        <p:nvSpPr>
          <p:cNvPr id="78" name="Shape 70"/>
          <p:cNvSpPr/>
          <p:nvPr/>
        </p:nvSpPr>
        <p:spPr>
          <a:xfrm>
            <a:off x="411480" y="5760720"/>
            <a:ext cx="11368735" cy="54864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79" name="Text 71"/>
          <p:cNvSpPr txBox="1"/>
          <p:nvPr/>
        </p:nvSpPr>
        <p:spPr>
          <a:xfrm>
            <a:off x="594360" y="5760720"/>
            <a:ext cx="11002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Coaching Centre Guidelines 2024, cl. 10.2(xi): </a:t>
            </a:r>
            <a:pPr algn="l" indent="0" marL="0">
              <a:buNone/>
            </a:pPr>
            <a:r>
              <a:rPr lang="en-US" sz="1150" i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should be used for regular analysis and counselling of students whose performance is deteriorating. </a:t>
            </a:r>
            <a:pPr algn="l" indent="0" marL="0">
              <a:buNone/>
            </a:pPr>
            <a:r>
              <a:rPr lang="en-US" sz="1150" b="1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whole flow is built on that sentence.</a:t>
            </a:r>
            <a:endParaRPr lang="en-US" sz="1150" dirty="0"/>
          </a:p>
        </p:txBody>
      </p:sp>
      <p:sp>
        <p:nvSpPr>
          <p:cNvPr id="80" name="Text 72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DPDP Act 2023 s.9, DPDP Rules 2025, MoE Guidelines 2024; contracts/routing_policy.yaml; OULAD results in ml/public_validation. Not legal advice.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What makes us different: eight differentiato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pays for itself if it saves three or four students a year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 AND UNIT ECONOMICS 20 %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3611880" cy="52120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02920" y="11612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ASSUMPTIONS (MID, BASE)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84632" y="1463040"/>
            <a:ext cx="1371600" cy="2743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30352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1856232" y="1463040"/>
            <a:ext cx="685800" cy="2743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901952" y="1463040"/>
            <a:ext cx="594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542032" y="1463040"/>
            <a:ext cx="914400" cy="2743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2587752" y="14630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456432" y="1463040"/>
            <a:ext cx="457200" cy="2743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3502152" y="14630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84632" y="1737360"/>
            <a:ext cx="13716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30352" y="1737360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56232" y="1737360"/>
            <a:ext cx="6858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901952" y="1737360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2542032" y="1737360"/>
            <a:ext cx="9144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587752" y="173736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 to 1,200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456432" y="1737360"/>
            <a:ext cx="4572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02152" y="1737360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84632" y="2039112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30352" y="2039112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856232" y="2039112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901952" y="2039112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₹95,000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542032" y="2039112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587752" y="2039112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70k to 120k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456432" y="2039112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502152" y="2039112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84632" y="2340864"/>
            <a:ext cx="13716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0352" y="2340864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Mid-session dropout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1856232" y="2340864"/>
            <a:ext cx="6858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1901952" y="2340864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542032" y="2340864"/>
            <a:ext cx="9144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2587752" y="2340864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to 18 %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456432" y="2340864"/>
            <a:ext cx="4572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502152" y="2340864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484632" y="2642616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0352" y="2642616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 effect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1856232" y="2642616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1901952" y="2642616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542032" y="2642616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2587752" y="2642616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to 30 %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456432" y="2642616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502152" y="2642616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84632" y="2944368"/>
            <a:ext cx="13716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30352" y="2944368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preventable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1856232" y="2944368"/>
            <a:ext cx="6858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1901952" y="2944368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2542032" y="2944368"/>
            <a:ext cx="9144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587752" y="2944368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to 60 %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456432" y="2944368"/>
            <a:ext cx="4572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502152" y="2944368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484632" y="3246120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30352" y="3246120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under 18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1856232" y="3246120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1901952" y="3246120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55 %</a:t>
            </a:r>
            <a:endParaRPr lang="en-US" sz="950" dirty="0"/>
          </a:p>
        </p:txBody>
      </p:sp>
      <p:sp>
        <p:nvSpPr>
          <p:cNvPr id="58" name="Shape 56"/>
          <p:cNvSpPr/>
          <p:nvPr/>
        </p:nvSpPr>
        <p:spPr>
          <a:xfrm>
            <a:off x="2542032" y="3246120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2587752" y="324612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to 70 %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3456432" y="3246120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3502152" y="3246120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62" name="Shape 60"/>
          <p:cNvSpPr/>
          <p:nvPr/>
        </p:nvSpPr>
        <p:spPr>
          <a:xfrm>
            <a:off x="484632" y="3547872"/>
            <a:ext cx="13716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30352" y="3547872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Recall, 18+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1856232" y="3547872"/>
            <a:ext cx="6858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901952" y="3547872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65 %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2542032" y="3547872"/>
            <a:ext cx="9144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587752" y="3547872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to 80 %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3456432" y="3547872"/>
            <a:ext cx="4572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02152" y="3547872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484632" y="3849624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30352" y="3849624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precision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1856232" y="3849624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901952" y="3849624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50" dirty="0"/>
          </a:p>
        </p:txBody>
      </p:sp>
      <p:sp>
        <p:nvSpPr>
          <p:cNvPr id="74" name="Shape 72"/>
          <p:cNvSpPr/>
          <p:nvPr/>
        </p:nvSpPr>
        <p:spPr>
          <a:xfrm>
            <a:off x="2542032" y="3849624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587752" y="3849624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to 50 %</a:t>
            </a:r>
            <a:endParaRPr lang="en-US" sz="950" dirty="0"/>
          </a:p>
        </p:txBody>
      </p:sp>
      <p:sp>
        <p:nvSpPr>
          <p:cNvPr id="76" name="Shape 74"/>
          <p:cNvSpPr/>
          <p:nvPr/>
        </p:nvSpPr>
        <p:spPr>
          <a:xfrm>
            <a:off x="3456432" y="3849624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3502152" y="3849624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78" name="Shape 76"/>
          <p:cNvSpPr/>
          <p:nvPr/>
        </p:nvSpPr>
        <p:spPr>
          <a:xfrm>
            <a:off x="484632" y="4151376"/>
            <a:ext cx="13716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530352" y="4151376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acted on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1856232" y="4151376"/>
            <a:ext cx="6858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1901952" y="4151376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90 %</a:t>
            </a:r>
            <a:endParaRPr lang="en-US" sz="950" dirty="0"/>
          </a:p>
        </p:txBody>
      </p:sp>
      <p:sp>
        <p:nvSpPr>
          <p:cNvPr id="82" name="Shape 80"/>
          <p:cNvSpPr/>
          <p:nvPr/>
        </p:nvSpPr>
        <p:spPr>
          <a:xfrm>
            <a:off x="2542032" y="4151376"/>
            <a:ext cx="9144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587752" y="4151376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to 100 %</a:t>
            </a:r>
            <a:endParaRPr lang="en-US" sz="950" dirty="0"/>
          </a:p>
        </p:txBody>
      </p:sp>
      <p:sp>
        <p:nvSpPr>
          <p:cNvPr id="84" name="Shape 82"/>
          <p:cNvSpPr/>
          <p:nvPr/>
        </p:nvSpPr>
        <p:spPr>
          <a:xfrm>
            <a:off x="3456432" y="4151376"/>
            <a:ext cx="4572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3502152" y="4151376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86" name="Shape 84"/>
          <p:cNvSpPr/>
          <p:nvPr/>
        </p:nvSpPr>
        <p:spPr>
          <a:xfrm>
            <a:off x="484632" y="4453128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530352" y="4453128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 uplift</a:t>
            </a:r>
            <a:endParaRPr lang="en-US" sz="950" dirty="0"/>
          </a:p>
        </p:txBody>
      </p:sp>
      <p:sp>
        <p:nvSpPr>
          <p:cNvPr id="88" name="Shape 86"/>
          <p:cNvSpPr/>
          <p:nvPr/>
        </p:nvSpPr>
        <p:spPr>
          <a:xfrm>
            <a:off x="1856232" y="4453128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1901952" y="4453128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2542032" y="4453128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587752" y="4453128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to 3 %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3456432" y="4453128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502152" y="4453128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484632" y="4754880"/>
            <a:ext cx="13716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530352" y="4754880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hours saved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1856232" y="4754880"/>
            <a:ext cx="6858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901952" y="4754880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a month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2542032" y="4754880"/>
            <a:ext cx="9144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2587752" y="4754880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to 50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3456432" y="4754880"/>
            <a:ext cx="4572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3502152" y="4754880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484632" y="5056632"/>
            <a:ext cx="13716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30352" y="5056632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price</a:t>
            </a:r>
            <a:endParaRPr lang="en-US" sz="950" dirty="0"/>
          </a:p>
        </p:txBody>
      </p:sp>
      <p:sp>
        <p:nvSpPr>
          <p:cNvPr id="104" name="Shape 102"/>
          <p:cNvSpPr/>
          <p:nvPr/>
        </p:nvSpPr>
        <p:spPr>
          <a:xfrm>
            <a:off x="1856232" y="5056632"/>
            <a:ext cx="6858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1901952" y="5056632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</a:t>
            </a:r>
            <a:endParaRPr lang="en-US" sz="950" dirty="0"/>
          </a:p>
        </p:txBody>
      </p:sp>
      <p:sp>
        <p:nvSpPr>
          <p:cNvPr id="106" name="Shape 104"/>
          <p:cNvSpPr/>
          <p:nvPr/>
        </p:nvSpPr>
        <p:spPr>
          <a:xfrm>
            <a:off x="2542032" y="5056632"/>
            <a:ext cx="9144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2587752" y="5056632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to 40</a:t>
            </a:r>
            <a:endParaRPr lang="en-US" sz="950" dirty="0"/>
          </a:p>
        </p:txBody>
      </p:sp>
      <p:sp>
        <p:nvSpPr>
          <p:cNvPr id="108" name="Shape 106"/>
          <p:cNvSpPr/>
          <p:nvPr/>
        </p:nvSpPr>
        <p:spPr>
          <a:xfrm>
            <a:off x="3456432" y="5056632"/>
            <a:ext cx="457200" cy="3017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3502152" y="5056632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10" name="Shape 108"/>
          <p:cNvSpPr/>
          <p:nvPr/>
        </p:nvSpPr>
        <p:spPr>
          <a:xfrm>
            <a:off x="484632" y="5358384"/>
            <a:ext cx="13716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530352" y="5358384"/>
            <a:ext cx="12801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GST reclaimed</a:t>
            </a:r>
            <a:endParaRPr lang="en-US" sz="950" dirty="0"/>
          </a:p>
        </p:txBody>
      </p:sp>
      <p:sp>
        <p:nvSpPr>
          <p:cNvPr id="112" name="Shape 110"/>
          <p:cNvSpPr/>
          <p:nvPr/>
        </p:nvSpPr>
        <p:spPr>
          <a:xfrm>
            <a:off x="1856232" y="5358384"/>
            <a:ext cx="6858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1901952" y="5358384"/>
            <a:ext cx="5943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endParaRPr lang="en-US" sz="950" dirty="0"/>
          </a:p>
        </p:txBody>
      </p:sp>
      <p:sp>
        <p:nvSpPr>
          <p:cNvPr id="114" name="Shape 112"/>
          <p:cNvSpPr/>
          <p:nvPr/>
        </p:nvSpPr>
        <p:spPr>
          <a:xfrm>
            <a:off x="2542032" y="5358384"/>
            <a:ext cx="9144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2587752" y="5358384"/>
            <a:ext cx="8229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to 90 %</a:t>
            </a:r>
            <a:endParaRPr lang="en-US" sz="950" dirty="0"/>
          </a:p>
        </p:txBody>
      </p:sp>
      <p:sp>
        <p:nvSpPr>
          <p:cNvPr id="116" name="Shape 114"/>
          <p:cNvSpPr/>
          <p:nvPr/>
        </p:nvSpPr>
        <p:spPr>
          <a:xfrm>
            <a:off x="3456432" y="5358384"/>
            <a:ext cx="457200" cy="30175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3502152" y="5358384"/>
            <a:ext cx="36576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endParaRPr lang="en-US" sz="950" dirty="0"/>
          </a:p>
        </p:txBody>
      </p:sp>
      <p:sp>
        <p:nvSpPr>
          <p:cNvPr id="118" name="Text 116"/>
          <p:cNvSpPr txBox="1"/>
          <p:nvPr/>
        </p:nvSpPr>
        <p:spPr>
          <a:xfrm>
            <a:off x="502920" y="5742432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Conf.: H high, M medium, L low. Low means an assumption to test in owner interviews.</a:t>
            </a:r>
            <a:endParaRPr lang="en-US" sz="950" dirty="0"/>
          </a:p>
        </p:txBody>
      </p:sp>
      <p:sp>
        <p:nvSpPr>
          <p:cNvPr id="119" name="Shape 117"/>
          <p:cNvSpPr/>
          <p:nvPr/>
        </p:nvSpPr>
        <p:spPr>
          <a:xfrm>
            <a:off x="4160520" y="1115568"/>
            <a:ext cx="4434840" cy="5212080"/>
          </a:xfrm>
          <a:prstGeom prst="roundRect">
            <a:avLst>
              <a:gd name="adj" fmla="val 1237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120" name="Text 118"/>
          <p:cNvSpPr txBox="1"/>
          <p:nvPr/>
        </p:nvSpPr>
        <p:spPr>
          <a:xfrm>
            <a:off x="4251960" y="1161288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ECONOMICS: GUIDE VS ALPHAQ</a:t>
            </a:r>
            <a:endParaRPr lang="en-US" sz="1250" dirty="0"/>
          </a:p>
        </p:txBody>
      </p:sp>
      <p:sp>
        <p:nvSpPr>
          <p:cNvPr id="121" name="Shape 119"/>
          <p:cNvSpPr/>
          <p:nvPr/>
        </p:nvSpPr>
        <p:spPr>
          <a:xfrm>
            <a:off x="4233672" y="1463040"/>
            <a:ext cx="1600200" cy="310896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4279392" y="1463040"/>
            <a:ext cx="1508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year, 400 students</a:t>
            </a:r>
            <a:endParaRPr lang="en-US" sz="950" dirty="0"/>
          </a:p>
        </p:txBody>
      </p:sp>
      <p:sp>
        <p:nvSpPr>
          <p:cNvPr id="123" name="Shape 121"/>
          <p:cNvSpPr/>
          <p:nvPr/>
        </p:nvSpPr>
        <p:spPr>
          <a:xfrm>
            <a:off x="5833872" y="1463040"/>
            <a:ext cx="640080" cy="310896"/>
          </a:xfrm>
          <a:prstGeom prst="rect">
            <a:avLst/>
          </a:prstGeom>
          <a:solidFill>
            <a:srgbClr val="4F5D75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5879592" y="1463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950" dirty="0"/>
          </a:p>
        </p:txBody>
      </p:sp>
      <p:sp>
        <p:nvSpPr>
          <p:cNvPr id="125" name="Shape 123"/>
          <p:cNvSpPr/>
          <p:nvPr/>
        </p:nvSpPr>
        <p:spPr>
          <a:xfrm>
            <a:off x="6473952" y="1463040"/>
            <a:ext cx="685800" cy="310896"/>
          </a:xfrm>
          <a:prstGeom prst="rect">
            <a:avLst/>
          </a:prstGeom>
          <a:solidFill>
            <a:srgbClr val="4F5D75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6519672" y="1463040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950" dirty="0"/>
          </a:p>
        </p:txBody>
      </p:sp>
      <p:sp>
        <p:nvSpPr>
          <p:cNvPr id="127" name="Shape 125"/>
          <p:cNvSpPr/>
          <p:nvPr/>
        </p:nvSpPr>
        <p:spPr>
          <a:xfrm>
            <a:off x="7159752" y="1463040"/>
            <a:ext cx="731520" cy="310896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7205472" y="1463040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950" dirty="0"/>
          </a:p>
        </p:txBody>
      </p:sp>
      <p:sp>
        <p:nvSpPr>
          <p:cNvPr id="129" name="Shape 127"/>
          <p:cNvSpPr/>
          <p:nvPr/>
        </p:nvSpPr>
        <p:spPr>
          <a:xfrm>
            <a:off x="7891272" y="1463040"/>
            <a:ext cx="640080" cy="310896"/>
          </a:xfrm>
          <a:prstGeom prst="rect">
            <a:avLst/>
          </a:prstGeom>
          <a:solidFill>
            <a:srgbClr val="4F5D75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7936992" y="146304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950" dirty="0"/>
          </a:p>
        </p:txBody>
      </p:sp>
      <p:sp>
        <p:nvSpPr>
          <p:cNvPr id="131" name="Shape 129"/>
          <p:cNvSpPr/>
          <p:nvPr/>
        </p:nvSpPr>
        <p:spPr>
          <a:xfrm>
            <a:off x="4233672" y="1773936"/>
            <a:ext cx="1600200" cy="3931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4279392" y="177393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dropout reduction</a:t>
            </a:r>
            <a:endParaRPr lang="en-US" sz="950" dirty="0"/>
          </a:p>
        </p:txBody>
      </p:sp>
      <p:sp>
        <p:nvSpPr>
          <p:cNvPr id="133" name="Shape 131"/>
          <p:cNvSpPr/>
          <p:nvPr/>
        </p:nvSpPr>
        <p:spPr>
          <a:xfrm>
            <a:off x="5833872" y="1773936"/>
            <a:ext cx="640080" cy="3931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5879592" y="177393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6473952" y="1773936"/>
            <a:ext cx="685800" cy="3931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6519672" y="1773936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1.0 %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7159752" y="1773936"/>
            <a:ext cx="731520" cy="3931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7205472" y="177393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6.6 %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891272" y="1773936"/>
            <a:ext cx="640080" cy="3931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936992" y="177393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22 %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4233672" y="2167128"/>
            <a:ext cx="16002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4279392" y="216712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Dropouts prevented</a:t>
            </a:r>
            <a:endParaRPr lang="en-US" sz="950" dirty="0"/>
          </a:p>
        </p:txBody>
      </p:sp>
      <p:sp>
        <p:nvSpPr>
          <p:cNvPr id="143" name="Shape 141"/>
          <p:cNvSpPr/>
          <p:nvPr/>
        </p:nvSpPr>
        <p:spPr>
          <a:xfrm>
            <a:off x="5833872" y="2167128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5879592" y="216712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 dirty="0"/>
          </a:p>
        </p:txBody>
      </p:sp>
      <p:sp>
        <p:nvSpPr>
          <p:cNvPr id="145" name="Shape 143"/>
          <p:cNvSpPr/>
          <p:nvPr/>
        </p:nvSpPr>
        <p:spPr>
          <a:xfrm>
            <a:off x="6473952" y="2167128"/>
            <a:ext cx="6858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6" name="Text 144"/>
          <p:cNvSpPr txBox="1"/>
          <p:nvPr/>
        </p:nvSpPr>
        <p:spPr>
          <a:xfrm>
            <a:off x="6519672" y="2167128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950" dirty="0"/>
          </a:p>
        </p:txBody>
      </p:sp>
      <p:sp>
        <p:nvSpPr>
          <p:cNvPr id="147" name="Shape 145"/>
          <p:cNvSpPr/>
          <p:nvPr/>
        </p:nvSpPr>
        <p:spPr>
          <a:xfrm>
            <a:off x="7159752" y="2167128"/>
            <a:ext cx="73152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7205472" y="2167128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950" dirty="0"/>
          </a:p>
        </p:txBody>
      </p:sp>
      <p:sp>
        <p:nvSpPr>
          <p:cNvPr id="149" name="Shape 147"/>
          <p:cNvSpPr/>
          <p:nvPr/>
        </p:nvSpPr>
        <p:spPr>
          <a:xfrm>
            <a:off x="7891272" y="2167128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7936992" y="216712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 dirty="0"/>
          </a:p>
        </p:txBody>
      </p:sp>
      <p:sp>
        <p:nvSpPr>
          <p:cNvPr id="151" name="Shape 149"/>
          <p:cNvSpPr/>
          <p:nvPr/>
        </p:nvSpPr>
        <p:spPr>
          <a:xfrm>
            <a:off x="4233672" y="2560320"/>
            <a:ext cx="1600200" cy="3931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4279392" y="256032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lost per dropout</a:t>
            </a:r>
            <a:endParaRPr lang="en-US" sz="950" dirty="0"/>
          </a:p>
        </p:txBody>
      </p:sp>
      <p:sp>
        <p:nvSpPr>
          <p:cNvPr id="153" name="Shape 151"/>
          <p:cNvSpPr/>
          <p:nvPr/>
        </p:nvSpPr>
        <p:spPr>
          <a:xfrm>
            <a:off x="5833872" y="2560320"/>
            <a:ext cx="640080" cy="3931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54" name="Text 152"/>
          <p:cNvSpPr txBox="1"/>
          <p:nvPr/>
        </p:nvSpPr>
        <p:spPr>
          <a:xfrm>
            <a:off x="5879592" y="256032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₹36,000</a:t>
            </a:r>
            <a:endParaRPr lang="en-US" sz="950" dirty="0"/>
          </a:p>
        </p:txBody>
      </p:sp>
      <p:sp>
        <p:nvSpPr>
          <p:cNvPr id="155" name="Shape 153"/>
          <p:cNvSpPr/>
          <p:nvPr/>
        </p:nvSpPr>
        <p:spPr>
          <a:xfrm>
            <a:off x="6473952" y="2560320"/>
            <a:ext cx="685800" cy="3931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6519672" y="2560320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₹15,414</a:t>
            </a:r>
            <a:endParaRPr lang="en-US" sz="950" dirty="0"/>
          </a:p>
        </p:txBody>
      </p:sp>
      <p:sp>
        <p:nvSpPr>
          <p:cNvPr id="157" name="Shape 155"/>
          <p:cNvSpPr/>
          <p:nvPr/>
        </p:nvSpPr>
        <p:spPr>
          <a:xfrm>
            <a:off x="7159752" y="2560320"/>
            <a:ext cx="731520" cy="3931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7205472" y="256032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₹36,967</a:t>
            </a:r>
            <a:endParaRPr lang="en-US" sz="950" dirty="0"/>
          </a:p>
        </p:txBody>
      </p:sp>
      <p:sp>
        <p:nvSpPr>
          <p:cNvPr id="159" name="Shape 157"/>
          <p:cNvSpPr/>
          <p:nvPr/>
        </p:nvSpPr>
        <p:spPr>
          <a:xfrm>
            <a:off x="7891272" y="2560320"/>
            <a:ext cx="640080" cy="3931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7936992" y="256032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₹56,994</a:t>
            </a:r>
            <a:endParaRPr lang="en-US" sz="950" dirty="0"/>
          </a:p>
        </p:txBody>
      </p:sp>
      <p:sp>
        <p:nvSpPr>
          <p:cNvPr id="161" name="Shape 159"/>
          <p:cNvSpPr/>
          <p:nvPr/>
        </p:nvSpPr>
        <p:spPr>
          <a:xfrm>
            <a:off x="4233672" y="2953512"/>
            <a:ext cx="1600200" cy="393192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279392" y="295351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retained</a:t>
            </a:r>
            <a:endParaRPr lang="en-US" sz="950" dirty="0"/>
          </a:p>
        </p:txBody>
      </p:sp>
      <p:sp>
        <p:nvSpPr>
          <p:cNvPr id="163" name="Shape 161"/>
          <p:cNvSpPr/>
          <p:nvPr/>
        </p:nvSpPr>
        <p:spPr>
          <a:xfrm>
            <a:off x="5833872" y="2953512"/>
            <a:ext cx="640080" cy="393192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5879592" y="295351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₹4.32 L</a:t>
            </a:r>
            <a:endParaRPr lang="en-US" sz="950" dirty="0"/>
          </a:p>
        </p:txBody>
      </p:sp>
      <p:sp>
        <p:nvSpPr>
          <p:cNvPr id="165" name="Shape 163"/>
          <p:cNvSpPr/>
          <p:nvPr/>
        </p:nvSpPr>
        <p:spPr>
          <a:xfrm>
            <a:off x="6473952" y="2953512"/>
            <a:ext cx="685800" cy="393192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6519672" y="2953512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₹2,928</a:t>
            </a:r>
            <a:endParaRPr lang="en-US" sz="950" dirty="0"/>
          </a:p>
        </p:txBody>
      </p:sp>
      <p:sp>
        <p:nvSpPr>
          <p:cNvPr id="167" name="Shape 165"/>
          <p:cNvSpPr/>
          <p:nvPr/>
        </p:nvSpPr>
        <p:spPr>
          <a:xfrm>
            <a:off x="7159752" y="2953512"/>
            <a:ext cx="731520" cy="393192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7205472" y="295351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₹89,672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7891272" y="2953512"/>
            <a:ext cx="640080" cy="393192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7936992" y="295351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₹9.11 L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4233672" y="3346704"/>
            <a:ext cx="1600200" cy="3931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4279392" y="3346704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value</a:t>
            </a:r>
            <a:endParaRPr lang="en-US" sz="950" dirty="0"/>
          </a:p>
        </p:txBody>
      </p:sp>
      <p:sp>
        <p:nvSpPr>
          <p:cNvPr id="173" name="Shape 171"/>
          <p:cNvSpPr/>
          <p:nvPr/>
        </p:nvSpPr>
        <p:spPr>
          <a:xfrm>
            <a:off x="5833872" y="3346704"/>
            <a:ext cx="640080" cy="3931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5879592" y="3346704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₹4.32 L</a:t>
            </a:r>
            <a:endParaRPr lang="en-US" sz="950" dirty="0"/>
          </a:p>
        </p:txBody>
      </p:sp>
      <p:sp>
        <p:nvSpPr>
          <p:cNvPr id="175" name="Shape 173"/>
          <p:cNvSpPr/>
          <p:nvPr/>
        </p:nvSpPr>
        <p:spPr>
          <a:xfrm>
            <a:off x="6473952" y="3346704"/>
            <a:ext cx="685800" cy="3931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76" name="Text 174"/>
          <p:cNvSpPr txBox="1"/>
          <p:nvPr/>
        </p:nvSpPr>
        <p:spPr>
          <a:xfrm>
            <a:off x="6519672" y="3346704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₹11,928</a:t>
            </a:r>
            <a:endParaRPr lang="en-US" sz="950" dirty="0"/>
          </a:p>
        </p:txBody>
      </p:sp>
      <p:sp>
        <p:nvSpPr>
          <p:cNvPr id="177" name="Shape 175"/>
          <p:cNvSpPr/>
          <p:nvPr/>
        </p:nvSpPr>
        <p:spPr>
          <a:xfrm>
            <a:off x="7159752" y="3346704"/>
            <a:ext cx="731520" cy="3931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7205472" y="334670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₹3.48 L</a:t>
            </a:r>
            <a:endParaRPr lang="en-US" sz="950" dirty="0"/>
          </a:p>
        </p:txBody>
      </p:sp>
      <p:sp>
        <p:nvSpPr>
          <p:cNvPr id="179" name="Shape 177"/>
          <p:cNvSpPr/>
          <p:nvPr/>
        </p:nvSpPr>
        <p:spPr>
          <a:xfrm>
            <a:off x="7891272" y="3346704"/>
            <a:ext cx="640080" cy="3931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7936992" y="3346704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₹21.5 L</a:t>
            </a:r>
            <a:endParaRPr lang="en-US" sz="950" dirty="0"/>
          </a:p>
        </p:txBody>
      </p:sp>
      <p:sp>
        <p:nvSpPr>
          <p:cNvPr id="181" name="Shape 179"/>
          <p:cNvSpPr/>
          <p:nvPr/>
        </p:nvSpPr>
        <p:spPr>
          <a:xfrm>
            <a:off x="4233672" y="3739896"/>
            <a:ext cx="16002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4279392" y="3739896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to institute</a:t>
            </a:r>
            <a:endParaRPr lang="en-US" sz="950" dirty="0"/>
          </a:p>
        </p:txBody>
      </p:sp>
      <p:sp>
        <p:nvSpPr>
          <p:cNvPr id="183" name="Shape 181"/>
          <p:cNvSpPr/>
          <p:nvPr/>
        </p:nvSpPr>
        <p:spPr>
          <a:xfrm>
            <a:off x="5833872" y="3739896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4" name="Text 182"/>
          <p:cNvSpPr txBox="1"/>
          <p:nvPr/>
        </p:nvSpPr>
        <p:spPr>
          <a:xfrm>
            <a:off x="5879592" y="373989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₹1.92 L</a:t>
            </a:r>
            <a:endParaRPr lang="en-US" sz="950" dirty="0"/>
          </a:p>
        </p:txBody>
      </p:sp>
      <p:sp>
        <p:nvSpPr>
          <p:cNvPr id="185" name="Shape 183"/>
          <p:cNvSpPr/>
          <p:nvPr/>
        </p:nvSpPr>
        <p:spPr>
          <a:xfrm>
            <a:off x="6473952" y="3739896"/>
            <a:ext cx="68580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519672" y="3739896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₹78,544</a:t>
            </a:r>
            <a:endParaRPr lang="en-US" sz="950" dirty="0"/>
          </a:p>
        </p:txBody>
      </p:sp>
      <p:sp>
        <p:nvSpPr>
          <p:cNvPr id="187" name="Shape 185"/>
          <p:cNvSpPr/>
          <p:nvPr/>
        </p:nvSpPr>
        <p:spPr>
          <a:xfrm>
            <a:off x="7159752" y="3739896"/>
            <a:ext cx="73152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7205472" y="373989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₹1.20 L</a:t>
            </a:r>
            <a:endParaRPr lang="en-US" sz="950" dirty="0"/>
          </a:p>
        </p:txBody>
      </p:sp>
      <p:sp>
        <p:nvSpPr>
          <p:cNvPr id="189" name="Shape 187"/>
          <p:cNvSpPr/>
          <p:nvPr/>
        </p:nvSpPr>
        <p:spPr>
          <a:xfrm>
            <a:off x="7891272" y="3739896"/>
            <a:ext cx="640080" cy="3931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7936992" y="3739896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₹1.53 L</a:t>
            </a:r>
            <a:endParaRPr lang="en-US" sz="950" dirty="0"/>
          </a:p>
        </p:txBody>
      </p:sp>
      <p:sp>
        <p:nvSpPr>
          <p:cNvPr id="191" name="Shape 189"/>
          <p:cNvSpPr/>
          <p:nvPr/>
        </p:nvSpPr>
        <p:spPr>
          <a:xfrm>
            <a:off x="4233672" y="4133088"/>
            <a:ext cx="1600200" cy="393192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4279392" y="4133088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Return, all benefits</a:t>
            </a:r>
            <a:endParaRPr lang="en-US" sz="950" dirty="0"/>
          </a:p>
        </p:txBody>
      </p:sp>
      <p:sp>
        <p:nvSpPr>
          <p:cNvPr id="193" name="Shape 191"/>
          <p:cNvSpPr/>
          <p:nvPr/>
        </p:nvSpPr>
        <p:spPr>
          <a:xfrm>
            <a:off x="5833872" y="4133088"/>
            <a:ext cx="640080" cy="393192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194" name="Text 192"/>
          <p:cNvSpPr txBox="1"/>
          <p:nvPr/>
        </p:nvSpPr>
        <p:spPr>
          <a:xfrm>
            <a:off x="5879592" y="413308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2.25x</a:t>
            </a:r>
            <a:endParaRPr lang="en-US" sz="950" dirty="0"/>
          </a:p>
        </p:txBody>
      </p:sp>
      <p:sp>
        <p:nvSpPr>
          <p:cNvPr id="195" name="Shape 193"/>
          <p:cNvSpPr/>
          <p:nvPr/>
        </p:nvSpPr>
        <p:spPr>
          <a:xfrm>
            <a:off x="6473952" y="4133088"/>
            <a:ext cx="685800" cy="393192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196" name="Text 194"/>
          <p:cNvSpPr txBox="1"/>
          <p:nvPr/>
        </p:nvSpPr>
        <p:spPr>
          <a:xfrm>
            <a:off x="6519672" y="4133088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0.15x</a:t>
            </a:r>
            <a:endParaRPr lang="en-US" sz="950" dirty="0"/>
          </a:p>
        </p:txBody>
      </p:sp>
      <p:sp>
        <p:nvSpPr>
          <p:cNvPr id="197" name="Shape 195"/>
          <p:cNvSpPr/>
          <p:nvPr/>
        </p:nvSpPr>
        <p:spPr>
          <a:xfrm>
            <a:off x="7159752" y="4133088"/>
            <a:ext cx="731520" cy="393192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7205472" y="4133088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950" dirty="0"/>
          </a:p>
        </p:txBody>
      </p:sp>
      <p:sp>
        <p:nvSpPr>
          <p:cNvPr id="199" name="Shape 197"/>
          <p:cNvSpPr/>
          <p:nvPr/>
        </p:nvSpPr>
        <p:spPr>
          <a:xfrm>
            <a:off x="7891272" y="4133088"/>
            <a:ext cx="640080" cy="393192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7936992" y="4133088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14x</a:t>
            </a:r>
            <a:endParaRPr lang="en-US" sz="950" dirty="0"/>
          </a:p>
        </p:txBody>
      </p:sp>
      <p:sp>
        <p:nvSpPr>
          <p:cNvPr id="201" name="Shape 199"/>
          <p:cNvSpPr/>
          <p:nvPr/>
        </p:nvSpPr>
        <p:spPr>
          <a:xfrm>
            <a:off x="4233672" y="4526280"/>
            <a:ext cx="1600200" cy="393192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202" name="Text 200"/>
          <p:cNvSpPr txBox="1"/>
          <p:nvPr/>
        </p:nvSpPr>
        <p:spPr>
          <a:xfrm>
            <a:off x="4279392" y="4526280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Return, fees only</a:t>
            </a:r>
            <a:endParaRPr lang="en-US" sz="950" dirty="0"/>
          </a:p>
        </p:txBody>
      </p:sp>
      <p:sp>
        <p:nvSpPr>
          <p:cNvPr id="203" name="Shape 201"/>
          <p:cNvSpPr/>
          <p:nvPr/>
        </p:nvSpPr>
        <p:spPr>
          <a:xfrm>
            <a:off x="5833872" y="4526280"/>
            <a:ext cx="640080" cy="393192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204" name="Text 202"/>
          <p:cNvSpPr txBox="1"/>
          <p:nvPr/>
        </p:nvSpPr>
        <p:spPr>
          <a:xfrm>
            <a:off x="5879592" y="452628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2.25x</a:t>
            </a:r>
            <a:endParaRPr lang="en-US" sz="950" dirty="0"/>
          </a:p>
        </p:txBody>
      </p:sp>
      <p:sp>
        <p:nvSpPr>
          <p:cNvPr id="205" name="Shape 203"/>
          <p:cNvSpPr/>
          <p:nvPr/>
        </p:nvSpPr>
        <p:spPr>
          <a:xfrm>
            <a:off x="6473952" y="4526280"/>
            <a:ext cx="685800" cy="393192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206" name="Text 204"/>
          <p:cNvSpPr txBox="1"/>
          <p:nvPr/>
        </p:nvSpPr>
        <p:spPr>
          <a:xfrm>
            <a:off x="6519672" y="4526280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0.04x</a:t>
            </a:r>
            <a:endParaRPr lang="en-US" sz="950" dirty="0"/>
          </a:p>
        </p:txBody>
      </p:sp>
      <p:sp>
        <p:nvSpPr>
          <p:cNvPr id="207" name="Shape 205"/>
          <p:cNvSpPr/>
          <p:nvPr/>
        </p:nvSpPr>
        <p:spPr>
          <a:xfrm>
            <a:off x="7159752" y="4526280"/>
            <a:ext cx="731520" cy="393192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7205472" y="452628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0.75x</a:t>
            </a:r>
            <a:endParaRPr lang="en-US" sz="950" dirty="0"/>
          </a:p>
        </p:txBody>
      </p:sp>
      <p:sp>
        <p:nvSpPr>
          <p:cNvPr id="209" name="Shape 207"/>
          <p:cNvSpPr/>
          <p:nvPr/>
        </p:nvSpPr>
        <p:spPr>
          <a:xfrm>
            <a:off x="7891272" y="4526280"/>
            <a:ext cx="640080" cy="393192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210" name="Text 208"/>
          <p:cNvSpPr txBox="1"/>
          <p:nvPr/>
        </p:nvSpPr>
        <p:spPr>
          <a:xfrm>
            <a:off x="7936992" y="4526280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5.9x</a:t>
            </a:r>
            <a:endParaRPr lang="en-US" sz="950" dirty="0"/>
          </a:p>
        </p:txBody>
      </p:sp>
      <p:sp>
        <p:nvSpPr>
          <p:cNvPr id="211" name="Shape 209"/>
          <p:cNvSpPr/>
          <p:nvPr/>
        </p:nvSpPr>
        <p:spPr>
          <a:xfrm>
            <a:off x="4233672" y="4919472"/>
            <a:ext cx="1600200" cy="393192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4279392" y="4919472"/>
            <a:ext cx="15087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to save to break even</a:t>
            </a:r>
            <a:endParaRPr lang="en-US" sz="950" dirty="0"/>
          </a:p>
        </p:txBody>
      </p:sp>
      <p:sp>
        <p:nvSpPr>
          <p:cNvPr id="213" name="Shape 211"/>
          <p:cNvSpPr/>
          <p:nvPr/>
        </p:nvSpPr>
        <p:spPr>
          <a:xfrm>
            <a:off x="5833872" y="4919472"/>
            <a:ext cx="640080" cy="393192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5879592" y="491947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5.3</a:t>
            </a:r>
            <a:endParaRPr lang="en-US" sz="950" dirty="0"/>
          </a:p>
        </p:txBody>
      </p:sp>
      <p:sp>
        <p:nvSpPr>
          <p:cNvPr id="215" name="Shape 213"/>
          <p:cNvSpPr/>
          <p:nvPr/>
        </p:nvSpPr>
        <p:spPr>
          <a:xfrm>
            <a:off x="6473952" y="4919472"/>
            <a:ext cx="685800" cy="393192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6519672" y="4919472"/>
            <a:ext cx="594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950" dirty="0"/>
          </a:p>
        </p:txBody>
      </p:sp>
      <p:sp>
        <p:nvSpPr>
          <p:cNvPr id="217" name="Shape 215"/>
          <p:cNvSpPr/>
          <p:nvPr/>
        </p:nvSpPr>
        <p:spPr>
          <a:xfrm>
            <a:off x="7159752" y="4919472"/>
            <a:ext cx="731520" cy="393192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218" name="Text 216"/>
          <p:cNvSpPr txBox="1"/>
          <p:nvPr/>
        </p:nvSpPr>
        <p:spPr>
          <a:xfrm>
            <a:off x="7205472" y="49194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950" dirty="0"/>
          </a:p>
        </p:txBody>
      </p:sp>
      <p:sp>
        <p:nvSpPr>
          <p:cNvPr id="219" name="Shape 217"/>
          <p:cNvSpPr/>
          <p:nvPr/>
        </p:nvSpPr>
        <p:spPr>
          <a:xfrm>
            <a:off x="7891272" y="4919472"/>
            <a:ext cx="640080" cy="393192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220" name="Text 218"/>
          <p:cNvSpPr txBox="1"/>
          <p:nvPr/>
        </p:nvSpPr>
        <p:spPr>
          <a:xfrm>
            <a:off x="7936992" y="4919472"/>
            <a:ext cx="54864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</a:t>
            </a:r>
            <a:endParaRPr lang="en-US" sz="950" dirty="0"/>
          </a:p>
        </p:txBody>
      </p:sp>
      <p:sp>
        <p:nvSpPr>
          <p:cNvPr id="221" name="Shape 219"/>
          <p:cNvSpPr/>
          <p:nvPr/>
        </p:nvSpPr>
        <p:spPr>
          <a:xfrm>
            <a:off x="4251960" y="5468112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4251960" y="546811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223" name="Text 221"/>
          <p:cNvSpPr txBox="1"/>
          <p:nvPr/>
        </p:nvSpPr>
        <p:spPr>
          <a:xfrm>
            <a:off x="4251960" y="5742432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includes the fee, GST net of what institutes reclaim, and mentor time.</a:t>
            </a:r>
            <a:endParaRPr lang="en-US" sz="950" dirty="0"/>
          </a:p>
        </p:txBody>
      </p:sp>
      <p:sp>
        <p:nvSpPr>
          <p:cNvPr id="224" name="Shape 222"/>
          <p:cNvSpPr/>
          <p:nvPr/>
        </p:nvSpPr>
        <p:spPr>
          <a:xfrm>
            <a:off x="8732520" y="1115568"/>
            <a:ext cx="3047695" cy="5212080"/>
          </a:xfrm>
          <a:prstGeom prst="roundRect">
            <a:avLst>
              <a:gd name="adj" fmla="val 1800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225" name="Text 223"/>
          <p:cNvSpPr txBox="1"/>
          <p:nvPr/>
        </p:nvSpPr>
        <p:spPr>
          <a:xfrm>
            <a:off x="8823960" y="1161288"/>
            <a:ext cx="28648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VS COST AND WHAT IT MEANS</a:t>
            </a:r>
            <a:endParaRPr lang="en-US" sz="1250" dirty="0"/>
          </a:p>
        </p:txBody>
      </p:sp>
      <p:pic>
        <p:nvPicPr>
          <p:cNvPr id="226" name="Image 0" descr="Value vs cost by scenari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0" y="1463040"/>
            <a:ext cx="2864815" cy="2177260"/>
          </a:xfrm>
          <a:prstGeom prst="rect">
            <a:avLst/>
          </a:prstGeom>
        </p:spPr>
      </p:pic>
      <p:sp>
        <p:nvSpPr>
          <p:cNvPr id="227" name="Shape 224"/>
          <p:cNvSpPr/>
          <p:nvPr/>
        </p:nvSpPr>
        <p:spPr>
          <a:xfrm>
            <a:off x="8823960" y="3840480"/>
            <a:ext cx="2864815" cy="2743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228" name="Text 225"/>
          <p:cNvSpPr txBox="1"/>
          <p:nvPr/>
        </p:nvSpPr>
        <p:spPr>
          <a:xfrm>
            <a:off x="8897112" y="3840480"/>
            <a:ext cx="271851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229" name="Shape 226"/>
          <p:cNvSpPr/>
          <p:nvPr/>
        </p:nvSpPr>
        <p:spPr>
          <a:xfrm>
            <a:off x="8823960" y="4114800"/>
            <a:ext cx="2864815" cy="2103120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230" name="Text 227"/>
          <p:cNvSpPr txBox="1"/>
          <p:nvPr/>
        </p:nvSpPr>
        <p:spPr>
          <a:xfrm>
            <a:off x="8897112" y="4160520"/>
            <a:ext cx="2718511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alone return 0.75x: they do not cover the cost on their own.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plus staff time reach about break-even; every 1 % admissions uplift adds about ₹2.3 lakh.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3 to 4 students a year and it pays for itself.</a:t>
            </a:r>
            <a:endParaRPr lang="en-US" sz="1050" dirty="0"/>
          </a:p>
          <a:p>
            <a:pPr algn="l" marL="152400" indent="-152400">
              <a:spcAft>
                <a:spcPts val="400"/>
              </a:spcAft>
              <a:buSzPct val="100000"/>
              <a:buChar char="•"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cost is 0.3 % of a student's fee.</a:t>
            </a:r>
            <a:endParaRPr lang="en-US" sz="1050" dirty="0"/>
          </a:p>
        </p:txBody>
      </p:sp>
      <p:sp>
        <p:nvSpPr>
          <p:cNvPr id="231" name="Text 228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workbook (Assumptions, Scenarios). Model output, not measured; dropout effect borrowed from 8 trials in comparable settings (mean 15.8 %).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economics are real, but thinner than the guide's 10x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MODEL AND UNIT ECONOMICS 20 %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3977640" cy="521208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02920" y="116128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 (MID, BASE)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84632" y="1463040"/>
            <a:ext cx="1737360" cy="29260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30352" y="1463040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institute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221992" y="1463040"/>
            <a:ext cx="868680" cy="292608"/>
          </a:xfrm>
          <a:prstGeom prst="rect">
            <a:avLst/>
          </a:prstGeom>
          <a:solidFill>
            <a:srgbClr val="4F5D7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267712" y="146304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090672" y="1463040"/>
            <a:ext cx="1188720" cy="292608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136392" y="146304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AlphaQ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84632" y="1755648"/>
            <a:ext cx="1737360" cy="38404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30352" y="175564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221992" y="1755648"/>
            <a:ext cx="868680" cy="38404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267712" y="175564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10.7x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090672" y="1755648"/>
            <a:ext cx="1188720" cy="38404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136392" y="175564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84632" y="2139696"/>
            <a:ext cx="1737360" cy="38404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30352" y="213969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221992" y="2139696"/>
            <a:ext cx="868680" cy="38404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267712" y="213969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months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90672" y="2139696"/>
            <a:ext cx="1188720" cy="38404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136392" y="213969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84632" y="2523744"/>
            <a:ext cx="17373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30352" y="252374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 margin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221992" y="2523744"/>
            <a:ext cx="8686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267712" y="25237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66 %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90672" y="2523744"/>
            <a:ext cx="11887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136392" y="252374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78 %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" y="2907792"/>
            <a:ext cx="1737360" cy="38404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0352" y="290779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Lifetime value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221992" y="2907792"/>
            <a:ext cx="868680" cy="38404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267712" y="290779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₹3.53 lakh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090672" y="2907792"/>
            <a:ext cx="1188720" cy="38404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136392" y="290779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₹1.30 lakh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84632" y="3291840"/>
            <a:ext cx="17373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530352" y="3291840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Acquisition cost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2221992" y="3291840"/>
            <a:ext cx="8686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267712" y="3291840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₹33,000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090672" y="3291840"/>
            <a:ext cx="11887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136392" y="329184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₹35,492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84632" y="3675888"/>
            <a:ext cx="1737360" cy="38404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30352" y="3675888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monthly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2221992" y="3675888"/>
            <a:ext cx="868680" cy="38404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2267712" y="367588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₹16,000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90672" y="3675888"/>
            <a:ext cx="1188720" cy="38404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3136392" y="367588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₹8,612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484632" y="4059936"/>
            <a:ext cx="173736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530352" y="4059936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Contribution, monthly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2221992" y="4059936"/>
            <a:ext cx="86868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2267712" y="405993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₹10,600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090672" y="4059936"/>
            <a:ext cx="1188720" cy="3840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3136392" y="405993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₹6,740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84632" y="4443984"/>
            <a:ext cx="1737360" cy="38404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30352" y="4443984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logo retention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2221992" y="4443984"/>
            <a:ext cx="868680" cy="38404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267712" y="444398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69 %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090672" y="4443984"/>
            <a:ext cx="1188720" cy="38404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136392" y="444398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64 %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84632" y="4828032"/>
            <a:ext cx="1737360" cy="384048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30352" y="4828032"/>
            <a:ext cx="1645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 to cover fixed team cost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2221992" y="4828032"/>
            <a:ext cx="868680" cy="384048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2267712" y="482803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3090672" y="4828032"/>
            <a:ext cx="1188720" cy="384048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136392" y="48280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502920" y="5285232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2920" y="5285232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68" name="Text 66"/>
          <p:cNvSpPr txBox="1"/>
          <p:nvPr/>
        </p:nvSpPr>
        <p:spPr>
          <a:xfrm>
            <a:off x="502920" y="5559552"/>
            <a:ext cx="3794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thinner: seasonal billing, 20 % non-renewal after the session, pilots that do not convert, and a price near the top of what ERPs charge.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4526280" y="1115568"/>
            <a:ext cx="3749040" cy="5212080"/>
          </a:xfrm>
          <a:prstGeom prst="roundRect">
            <a:avLst>
              <a:gd name="adj" fmla="val 1463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70" name="Text 68"/>
          <p:cNvSpPr txBox="1"/>
          <p:nvPr/>
        </p:nvSpPr>
        <p:spPr>
          <a:xfrm>
            <a:off x="4617720" y="116128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SENSITIVITY: WHAT MOVES THE ANSWER</a:t>
            </a:r>
            <a:endParaRPr lang="en-US" sz="1250" dirty="0"/>
          </a:p>
        </p:txBody>
      </p:sp>
      <p:sp>
        <p:nvSpPr>
          <p:cNvPr id="71" name="Text 69"/>
          <p:cNvSpPr txBox="1"/>
          <p:nvPr/>
        </p:nvSpPr>
        <p:spPr>
          <a:xfrm>
            <a:off x="4617720" y="14630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return (x), by effective reduction and list price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5074920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</a:t>
            </a:r>
            <a:endParaRPr lang="en-US" sz="950" dirty="0"/>
          </a:p>
        </p:txBody>
      </p:sp>
      <p:sp>
        <p:nvSpPr>
          <p:cNvPr id="73" name="Text 71"/>
          <p:cNvSpPr txBox="1"/>
          <p:nvPr/>
        </p:nvSpPr>
        <p:spPr>
          <a:xfrm>
            <a:off x="5586984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6099048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₹40</a:t>
            </a:r>
            <a:endParaRPr lang="en-US" sz="950" dirty="0"/>
          </a:p>
        </p:txBody>
      </p:sp>
      <p:sp>
        <p:nvSpPr>
          <p:cNvPr id="75" name="Text 73"/>
          <p:cNvSpPr txBox="1"/>
          <p:nvPr/>
        </p:nvSpPr>
        <p:spPr>
          <a:xfrm>
            <a:off x="6611112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</a:t>
            </a:r>
            <a:endParaRPr lang="en-US" sz="950" dirty="0"/>
          </a:p>
        </p:txBody>
      </p:sp>
      <p:sp>
        <p:nvSpPr>
          <p:cNvPr id="76" name="Text 74"/>
          <p:cNvSpPr txBox="1"/>
          <p:nvPr/>
        </p:nvSpPr>
        <p:spPr>
          <a:xfrm>
            <a:off x="7123176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</a:t>
            </a:r>
            <a:endParaRPr lang="en-US" sz="950" dirty="0"/>
          </a:p>
        </p:txBody>
      </p:sp>
      <p:sp>
        <p:nvSpPr>
          <p:cNvPr id="77" name="Text 75"/>
          <p:cNvSpPr txBox="1"/>
          <p:nvPr/>
        </p:nvSpPr>
        <p:spPr>
          <a:xfrm>
            <a:off x="7635240" y="1700784"/>
            <a:ext cx="512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₹80</a:t>
            </a:r>
            <a:endParaRPr lang="en-US" sz="950" dirty="0"/>
          </a:p>
        </p:txBody>
      </p:sp>
      <p:sp>
        <p:nvSpPr>
          <p:cNvPr id="78" name="Text 76"/>
          <p:cNvSpPr txBox="1"/>
          <p:nvPr/>
        </p:nvSpPr>
        <p:spPr>
          <a:xfrm>
            <a:off x="4617720" y="19476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5088636" y="1961388"/>
            <a:ext cx="484632" cy="246888"/>
          </a:xfrm>
          <a:prstGeom prst="rect">
            <a:avLst/>
          </a:prstGeom>
          <a:solidFill>
            <a:srgbClr val="309B9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5074920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4.0x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5600700" y="1961388"/>
            <a:ext cx="484632" cy="246888"/>
          </a:xfrm>
          <a:prstGeom prst="rect">
            <a:avLst/>
          </a:prstGeom>
          <a:solidFill>
            <a:srgbClr val="80C1C3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5586984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2.7x</a:t>
            </a:r>
            <a:endParaRPr lang="en-US" sz="950" dirty="0"/>
          </a:p>
        </p:txBody>
      </p:sp>
      <p:sp>
        <p:nvSpPr>
          <p:cNvPr id="83" name="Shape 81"/>
          <p:cNvSpPr/>
          <p:nvPr/>
        </p:nvSpPr>
        <p:spPr>
          <a:xfrm>
            <a:off x="6112764" y="1961388"/>
            <a:ext cx="484632" cy="246888"/>
          </a:xfrm>
          <a:prstGeom prst="rect">
            <a:avLst/>
          </a:prstGeom>
          <a:solidFill>
            <a:srgbClr val="A9D5D7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099048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50" dirty="0"/>
          </a:p>
        </p:txBody>
      </p:sp>
      <p:sp>
        <p:nvSpPr>
          <p:cNvPr id="85" name="Shape 83"/>
          <p:cNvSpPr/>
          <p:nvPr/>
        </p:nvSpPr>
        <p:spPr>
          <a:xfrm>
            <a:off x="6624828" y="1961388"/>
            <a:ext cx="484632" cy="246888"/>
          </a:xfrm>
          <a:prstGeom prst="rect">
            <a:avLst/>
          </a:prstGeom>
          <a:solidFill>
            <a:srgbClr val="C2E1E3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6611112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87" name="Shape 85"/>
          <p:cNvSpPr/>
          <p:nvPr/>
        </p:nvSpPr>
        <p:spPr>
          <a:xfrm>
            <a:off x="7136892" y="1961388"/>
            <a:ext cx="484632" cy="246888"/>
          </a:xfrm>
          <a:prstGeom prst="rect">
            <a:avLst/>
          </a:prstGeom>
          <a:solidFill>
            <a:srgbClr val="D3EAEC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7123176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1.4x</a:t>
            </a:r>
            <a:endParaRPr lang="en-US" sz="950" dirty="0"/>
          </a:p>
        </p:txBody>
      </p:sp>
      <p:sp>
        <p:nvSpPr>
          <p:cNvPr id="89" name="Shape 87"/>
          <p:cNvSpPr/>
          <p:nvPr/>
        </p:nvSpPr>
        <p:spPr>
          <a:xfrm>
            <a:off x="7648956" y="1961388"/>
            <a:ext cx="484632" cy="246888"/>
          </a:xfrm>
          <a:prstGeom prst="rect">
            <a:avLst/>
          </a:prstGeom>
          <a:solidFill>
            <a:srgbClr val="E9F4F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7635240" y="19476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1.1x</a:t>
            </a:r>
            <a:endParaRPr lang="en-US" sz="950" dirty="0"/>
          </a:p>
        </p:txBody>
      </p:sp>
      <p:sp>
        <p:nvSpPr>
          <p:cNvPr id="91" name="Text 89"/>
          <p:cNvSpPr txBox="1"/>
          <p:nvPr/>
        </p:nvSpPr>
        <p:spPr>
          <a:xfrm>
            <a:off x="4617720" y="22219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5088636" y="2235708"/>
            <a:ext cx="484632" cy="246888"/>
          </a:xfrm>
          <a:prstGeom prst="rect">
            <a:avLst/>
          </a:prstGeom>
          <a:solidFill>
            <a:srgbClr val="108B8D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5074920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4.5x</a:t>
            </a:r>
            <a:endParaRPr lang="en-US" sz="950" dirty="0"/>
          </a:p>
        </p:txBody>
      </p:sp>
      <p:sp>
        <p:nvSpPr>
          <p:cNvPr id="94" name="Shape 92"/>
          <p:cNvSpPr/>
          <p:nvPr/>
        </p:nvSpPr>
        <p:spPr>
          <a:xfrm>
            <a:off x="5600700" y="2235708"/>
            <a:ext cx="484632" cy="246888"/>
          </a:xfrm>
          <a:prstGeom prst="rect">
            <a:avLst/>
          </a:prstGeom>
          <a:solidFill>
            <a:srgbClr val="6AB7B9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5586984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3.0x</a:t>
            </a:r>
            <a:endParaRPr lang="en-US" sz="950" dirty="0"/>
          </a:p>
        </p:txBody>
      </p:sp>
      <p:sp>
        <p:nvSpPr>
          <p:cNvPr id="96" name="Shape 94"/>
          <p:cNvSpPr/>
          <p:nvPr/>
        </p:nvSpPr>
        <p:spPr>
          <a:xfrm>
            <a:off x="6112764" y="2235708"/>
            <a:ext cx="484632" cy="246888"/>
          </a:xfrm>
          <a:prstGeom prst="rect">
            <a:avLst/>
          </a:prstGeom>
          <a:solidFill>
            <a:srgbClr val="98CDCF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6099048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950" dirty="0"/>
          </a:p>
        </p:txBody>
      </p:sp>
      <p:sp>
        <p:nvSpPr>
          <p:cNvPr id="98" name="Shape 96"/>
          <p:cNvSpPr/>
          <p:nvPr/>
        </p:nvSpPr>
        <p:spPr>
          <a:xfrm>
            <a:off x="6624828" y="2235708"/>
            <a:ext cx="484632" cy="246888"/>
          </a:xfrm>
          <a:prstGeom prst="rect">
            <a:avLst/>
          </a:prstGeom>
          <a:solidFill>
            <a:srgbClr val="B5DBDD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611112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1.9x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7136892" y="2235708"/>
            <a:ext cx="484632" cy="246888"/>
          </a:xfrm>
          <a:prstGeom prst="rect">
            <a:avLst/>
          </a:prstGeom>
          <a:solidFill>
            <a:srgbClr val="C8E4E6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7123176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950" dirty="0"/>
          </a:p>
        </p:txBody>
      </p:sp>
      <p:sp>
        <p:nvSpPr>
          <p:cNvPr id="102" name="Shape 100"/>
          <p:cNvSpPr/>
          <p:nvPr/>
        </p:nvSpPr>
        <p:spPr>
          <a:xfrm>
            <a:off x="7648956" y="2235708"/>
            <a:ext cx="484632" cy="246888"/>
          </a:xfrm>
          <a:prstGeom prst="rect">
            <a:avLst/>
          </a:prstGeom>
          <a:solidFill>
            <a:srgbClr val="E1F0F2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7635240" y="222199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1.2x</a:t>
            </a:r>
            <a:endParaRPr lang="en-US" sz="950" dirty="0"/>
          </a:p>
        </p:txBody>
      </p:sp>
      <p:sp>
        <p:nvSpPr>
          <p:cNvPr id="104" name="Text 102"/>
          <p:cNvSpPr txBox="1"/>
          <p:nvPr/>
        </p:nvSpPr>
        <p:spPr>
          <a:xfrm>
            <a:off x="4617720" y="24963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11 %</a:t>
            </a:r>
            <a:endParaRPr lang="en-US" sz="950" dirty="0"/>
          </a:p>
        </p:txBody>
      </p:sp>
      <p:sp>
        <p:nvSpPr>
          <p:cNvPr id="105" name="Shape 103"/>
          <p:cNvSpPr/>
          <p:nvPr/>
        </p:nvSpPr>
        <p:spPr>
          <a:xfrm>
            <a:off x="5088636" y="2510028"/>
            <a:ext cx="484632" cy="246888"/>
          </a:xfrm>
          <a:prstGeom prst="rect">
            <a:avLst/>
          </a:prstGeom>
          <a:solidFill>
            <a:srgbClr val="0E7980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5074920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5.0x</a:t>
            </a:r>
            <a:endParaRPr lang="en-US" sz="950" dirty="0"/>
          </a:p>
        </p:txBody>
      </p:sp>
      <p:sp>
        <p:nvSpPr>
          <p:cNvPr id="107" name="Shape 105"/>
          <p:cNvSpPr/>
          <p:nvPr/>
        </p:nvSpPr>
        <p:spPr>
          <a:xfrm>
            <a:off x="5600700" y="2510028"/>
            <a:ext cx="484632" cy="246888"/>
          </a:xfrm>
          <a:prstGeom prst="rect">
            <a:avLst/>
          </a:prstGeom>
          <a:solidFill>
            <a:srgbClr val="54ACAE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5586984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3.4x</a:t>
            </a:r>
            <a:endParaRPr lang="en-US" sz="950" dirty="0"/>
          </a:p>
        </p:txBody>
      </p:sp>
      <p:sp>
        <p:nvSpPr>
          <p:cNvPr id="109" name="Shape 107"/>
          <p:cNvSpPr/>
          <p:nvPr/>
        </p:nvSpPr>
        <p:spPr>
          <a:xfrm>
            <a:off x="6112764" y="2510028"/>
            <a:ext cx="484632" cy="246888"/>
          </a:xfrm>
          <a:prstGeom prst="rect">
            <a:avLst/>
          </a:prstGeom>
          <a:solidFill>
            <a:srgbClr val="88C5C7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6099048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</a:t>
            </a:r>
            <a:endParaRPr lang="en-US" sz="950" dirty="0"/>
          </a:p>
        </p:txBody>
      </p:sp>
      <p:sp>
        <p:nvSpPr>
          <p:cNvPr id="111" name="Shape 109"/>
          <p:cNvSpPr/>
          <p:nvPr/>
        </p:nvSpPr>
        <p:spPr>
          <a:xfrm>
            <a:off x="6624828" y="2510028"/>
            <a:ext cx="484632" cy="246888"/>
          </a:xfrm>
          <a:prstGeom prst="rect">
            <a:avLst/>
          </a:prstGeom>
          <a:solidFill>
            <a:srgbClr val="A8D4D6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6611112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50" dirty="0"/>
          </a:p>
        </p:txBody>
      </p:sp>
      <p:sp>
        <p:nvSpPr>
          <p:cNvPr id="113" name="Shape 111"/>
          <p:cNvSpPr/>
          <p:nvPr/>
        </p:nvSpPr>
        <p:spPr>
          <a:xfrm>
            <a:off x="7136892" y="2510028"/>
            <a:ext cx="484632" cy="246888"/>
          </a:xfrm>
          <a:prstGeom prst="rect">
            <a:avLst/>
          </a:prstGeom>
          <a:solidFill>
            <a:srgbClr val="BDDFE1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7123176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115" name="Shape 113"/>
          <p:cNvSpPr/>
          <p:nvPr/>
        </p:nvSpPr>
        <p:spPr>
          <a:xfrm>
            <a:off x="7648956" y="2510028"/>
            <a:ext cx="484632" cy="246888"/>
          </a:xfrm>
          <a:prstGeom prst="rect">
            <a:avLst/>
          </a:prstGeom>
          <a:solidFill>
            <a:srgbClr val="D8ECEE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7635240" y="249631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1.3x</a:t>
            </a:r>
            <a:endParaRPr lang="en-US" sz="950" dirty="0"/>
          </a:p>
        </p:txBody>
      </p:sp>
      <p:sp>
        <p:nvSpPr>
          <p:cNvPr id="117" name="Text 115"/>
          <p:cNvSpPr txBox="1"/>
          <p:nvPr/>
        </p:nvSpPr>
        <p:spPr>
          <a:xfrm>
            <a:off x="4617720" y="27706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50" dirty="0"/>
          </a:p>
        </p:txBody>
      </p:sp>
      <p:sp>
        <p:nvSpPr>
          <p:cNvPr id="118" name="Shape 116"/>
          <p:cNvSpPr/>
          <p:nvPr/>
        </p:nvSpPr>
        <p:spPr>
          <a:xfrm>
            <a:off x="5088636" y="2784348"/>
            <a:ext cx="484632" cy="246888"/>
          </a:xfrm>
          <a:prstGeom prst="rect">
            <a:avLst/>
          </a:prstGeom>
          <a:solidFill>
            <a:srgbClr val="0D6170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5074920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5.6x</a:t>
            </a:r>
            <a:endParaRPr lang="en-US" sz="950" dirty="0"/>
          </a:p>
        </p:txBody>
      </p:sp>
      <p:sp>
        <p:nvSpPr>
          <p:cNvPr id="120" name="Shape 118"/>
          <p:cNvSpPr/>
          <p:nvPr/>
        </p:nvSpPr>
        <p:spPr>
          <a:xfrm>
            <a:off x="5600700" y="2784348"/>
            <a:ext cx="484632" cy="246888"/>
          </a:xfrm>
          <a:prstGeom prst="rect">
            <a:avLst/>
          </a:prstGeom>
          <a:solidFill>
            <a:srgbClr val="379EA0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5586984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3.9x</a:t>
            </a:r>
            <a:endParaRPr lang="en-US" sz="950" dirty="0"/>
          </a:p>
        </p:txBody>
      </p:sp>
      <p:sp>
        <p:nvSpPr>
          <p:cNvPr id="122" name="Shape 120"/>
          <p:cNvSpPr/>
          <p:nvPr/>
        </p:nvSpPr>
        <p:spPr>
          <a:xfrm>
            <a:off x="6112764" y="2784348"/>
            <a:ext cx="484632" cy="246888"/>
          </a:xfrm>
          <a:prstGeom prst="rect">
            <a:avLst/>
          </a:prstGeom>
          <a:solidFill>
            <a:srgbClr val="72BBBD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6099048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950" dirty="0"/>
          </a:p>
        </p:txBody>
      </p:sp>
      <p:sp>
        <p:nvSpPr>
          <p:cNvPr id="124" name="Shape 122"/>
          <p:cNvSpPr/>
          <p:nvPr/>
        </p:nvSpPr>
        <p:spPr>
          <a:xfrm>
            <a:off x="6624828" y="2784348"/>
            <a:ext cx="484632" cy="246888"/>
          </a:xfrm>
          <a:prstGeom prst="rect">
            <a:avLst/>
          </a:prstGeom>
          <a:solidFill>
            <a:srgbClr val="96CCCE"/>
          </a:solidFill>
          <a:ln/>
        </p:spPr>
      </p:sp>
      <p:sp>
        <p:nvSpPr>
          <p:cNvPr id="125" name="Text 123"/>
          <p:cNvSpPr txBox="1"/>
          <p:nvPr/>
        </p:nvSpPr>
        <p:spPr>
          <a:xfrm>
            <a:off x="6611112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2.4x</a:t>
            </a:r>
            <a:endParaRPr lang="en-US" sz="950" dirty="0"/>
          </a:p>
        </p:txBody>
      </p:sp>
      <p:sp>
        <p:nvSpPr>
          <p:cNvPr id="126" name="Shape 124"/>
          <p:cNvSpPr/>
          <p:nvPr/>
        </p:nvSpPr>
        <p:spPr>
          <a:xfrm>
            <a:off x="7136892" y="2784348"/>
            <a:ext cx="484632" cy="246888"/>
          </a:xfrm>
          <a:prstGeom prst="rect">
            <a:avLst/>
          </a:prstGeom>
          <a:solidFill>
            <a:srgbClr val="AFD8DA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7123176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2.0x</a:t>
            </a:r>
            <a:endParaRPr lang="en-US" sz="950" dirty="0"/>
          </a:p>
        </p:txBody>
      </p:sp>
      <p:sp>
        <p:nvSpPr>
          <p:cNvPr id="128" name="Shape 126"/>
          <p:cNvSpPr/>
          <p:nvPr/>
        </p:nvSpPr>
        <p:spPr>
          <a:xfrm>
            <a:off x="7648956" y="2784348"/>
            <a:ext cx="484632" cy="246888"/>
          </a:xfrm>
          <a:prstGeom prst="rect">
            <a:avLst/>
          </a:prstGeom>
          <a:solidFill>
            <a:srgbClr val="CDE7E9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7635240" y="277063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950" dirty="0"/>
          </a:p>
        </p:txBody>
      </p:sp>
      <p:sp>
        <p:nvSpPr>
          <p:cNvPr id="130" name="Text 128"/>
          <p:cNvSpPr txBox="1"/>
          <p:nvPr/>
        </p:nvSpPr>
        <p:spPr>
          <a:xfrm>
            <a:off x="4617720" y="3044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50" dirty="0"/>
          </a:p>
        </p:txBody>
      </p:sp>
      <p:sp>
        <p:nvSpPr>
          <p:cNvPr id="131" name="Shape 129"/>
          <p:cNvSpPr/>
          <p:nvPr/>
        </p:nvSpPr>
        <p:spPr>
          <a:xfrm>
            <a:off x="5088636" y="3058668"/>
            <a:ext cx="484632" cy="246888"/>
          </a:xfrm>
          <a:prstGeom prst="rect">
            <a:avLst/>
          </a:prstGeom>
          <a:solidFill>
            <a:srgbClr val="0C435A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074920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6.5x</a:t>
            </a:r>
            <a:endParaRPr lang="en-US" sz="950" dirty="0"/>
          </a:p>
        </p:txBody>
      </p:sp>
      <p:sp>
        <p:nvSpPr>
          <p:cNvPr id="133" name="Shape 131"/>
          <p:cNvSpPr/>
          <p:nvPr/>
        </p:nvSpPr>
        <p:spPr>
          <a:xfrm>
            <a:off x="5600700" y="3058668"/>
            <a:ext cx="484632" cy="246888"/>
          </a:xfrm>
          <a:prstGeom prst="rect">
            <a:avLst/>
          </a:prstGeom>
          <a:solidFill>
            <a:srgbClr val="148D8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5586984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4.4x</a:t>
            </a:r>
            <a:endParaRPr lang="en-US" sz="950" dirty="0"/>
          </a:p>
        </p:txBody>
      </p:sp>
      <p:sp>
        <p:nvSpPr>
          <p:cNvPr id="135" name="Shape 133"/>
          <p:cNvSpPr/>
          <p:nvPr/>
        </p:nvSpPr>
        <p:spPr>
          <a:xfrm>
            <a:off x="6112764" y="3058668"/>
            <a:ext cx="484632" cy="246888"/>
          </a:xfrm>
          <a:prstGeom prst="rect">
            <a:avLst/>
          </a:prstGeom>
          <a:solidFill>
            <a:srgbClr val="57AEB0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6099048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3.4x</a:t>
            </a:r>
            <a:endParaRPr lang="en-US" sz="950" dirty="0"/>
          </a:p>
        </p:txBody>
      </p:sp>
      <p:sp>
        <p:nvSpPr>
          <p:cNvPr id="137" name="Shape 135"/>
          <p:cNvSpPr/>
          <p:nvPr/>
        </p:nvSpPr>
        <p:spPr>
          <a:xfrm>
            <a:off x="6624828" y="3058668"/>
            <a:ext cx="484632" cy="246888"/>
          </a:xfrm>
          <a:prstGeom prst="rect">
            <a:avLst/>
          </a:prstGeom>
          <a:solidFill>
            <a:srgbClr val="80C2C4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6611112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2.7x</a:t>
            </a:r>
            <a:endParaRPr lang="en-US" sz="950" dirty="0"/>
          </a:p>
        </p:txBody>
      </p:sp>
      <p:sp>
        <p:nvSpPr>
          <p:cNvPr id="139" name="Shape 137"/>
          <p:cNvSpPr/>
          <p:nvPr/>
        </p:nvSpPr>
        <p:spPr>
          <a:xfrm>
            <a:off x="7136892" y="3058668"/>
            <a:ext cx="484632" cy="246888"/>
          </a:xfrm>
          <a:prstGeom prst="rect">
            <a:avLst/>
          </a:prstGeom>
          <a:solidFill>
            <a:srgbClr val="9CCFD1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7123176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950" dirty="0"/>
          </a:p>
        </p:txBody>
      </p:sp>
      <p:sp>
        <p:nvSpPr>
          <p:cNvPr id="141" name="Shape 139"/>
          <p:cNvSpPr/>
          <p:nvPr/>
        </p:nvSpPr>
        <p:spPr>
          <a:xfrm>
            <a:off x="7648956" y="3058668"/>
            <a:ext cx="484632" cy="246888"/>
          </a:xfrm>
          <a:prstGeom prst="rect">
            <a:avLst/>
          </a:prstGeom>
          <a:solidFill>
            <a:srgbClr val="BFE0E2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7635240" y="304495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143" name="Text 141"/>
          <p:cNvSpPr txBox="1"/>
          <p:nvPr/>
        </p:nvSpPr>
        <p:spPr>
          <a:xfrm>
            <a:off x="4617720" y="33192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25 %</a:t>
            </a:r>
            <a:endParaRPr lang="en-US" sz="950" dirty="0"/>
          </a:p>
        </p:txBody>
      </p:sp>
      <p:sp>
        <p:nvSpPr>
          <p:cNvPr id="144" name="Shape 142"/>
          <p:cNvSpPr/>
          <p:nvPr/>
        </p:nvSpPr>
        <p:spPr>
          <a:xfrm>
            <a:off x="5088636" y="3332988"/>
            <a:ext cx="484632" cy="24688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5074920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7.3x</a:t>
            </a:r>
            <a:endParaRPr lang="en-US" sz="950" dirty="0"/>
          </a:p>
        </p:txBody>
      </p:sp>
      <p:sp>
        <p:nvSpPr>
          <p:cNvPr id="146" name="Shape 144"/>
          <p:cNvSpPr/>
          <p:nvPr/>
        </p:nvSpPr>
        <p:spPr>
          <a:xfrm>
            <a:off x="5600700" y="3332988"/>
            <a:ext cx="484632" cy="246888"/>
          </a:xfrm>
          <a:prstGeom prst="rect">
            <a:avLst/>
          </a:prstGeom>
          <a:solidFill>
            <a:srgbClr val="0E7980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5586984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5.0x</a:t>
            </a:r>
            <a:endParaRPr lang="en-US" sz="950" dirty="0"/>
          </a:p>
        </p:txBody>
      </p:sp>
      <p:sp>
        <p:nvSpPr>
          <p:cNvPr id="148" name="Shape 146"/>
          <p:cNvSpPr/>
          <p:nvPr/>
        </p:nvSpPr>
        <p:spPr>
          <a:xfrm>
            <a:off x="6112764" y="3332988"/>
            <a:ext cx="484632" cy="246888"/>
          </a:xfrm>
          <a:prstGeom prst="rect">
            <a:avLst/>
          </a:prstGeom>
          <a:solidFill>
            <a:srgbClr val="3CA0A2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6099048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3.8x</a:t>
            </a:r>
            <a:endParaRPr lang="en-US" sz="950" dirty="0"/>
          </a:p>
        </p:txBody>
      </p:sp>
      <p:sp>
        <p:nvSpPr>
          <p:cNvPr id="150" name="Shape 148"/>
          <p:cNvSpPr/>
          <p:nvPr/>
        </p:nvSpPr>
        <p:spPr>
          <a:xfrm>
            <a:off x="6624828" y="3332988"/>
            <a:ext cx="484632" cy="246888"/>
          </a:xfrm>
          <a:prstGeom prst="rect">
            <a:avLst/>
          </a:prstGeom>
          <a:solidFill>
            <a:srgbClr val="6AB7B9"/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6611112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3.0x</a:t>
            </a:r>
            <a:endParaRPr lang="en-US" sz="950" dirty="0"/>
          </a:p>
        </p:txBody>
      </p:sp>
      <p:sp>
        <p:nvSpPr>
          <p:cNvPr id="152" name="Shape 150"/>
          <p:cNvSpPr/>
          <p:nvPr/>
        </p:nvSpPr>
        <p:spPr>
          <a:xfrm>
            <a:off x="7136892" y="3332988"/>
            <a:ext cx="484632" cy="246888"/>
          </a:xfrm>
          <a:prstGeom prst="rect">
            <a:avLst/>
          </a:prstGeom>
          <a:solidFill>
            <a:srgbClr val="8AC6C8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123176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2.5x</a:t>
            </a:r>
            <a:endParaRPr lang="en-US" sz="950" dirty="0"/>
          </a:p>
        </p:txBody>
      </p:sp>
      <p:sp>
        <p:nvSpPr>
          <p:cNvPr id="154" name="Shape 152"/>
          <p:cNvSpPr/>
          <p:nvPr/>
        </p:nvSpPr>
        <p:spPr>
          <a:xfrm>
            <a:off x="7648956" y="3332988"/>
            <a:ext cx="484632" cy="246888"/>
          </a:xfrm>
          <a:prstGeom prst="rect">
            <a:avLst/>
          </a:prstGeom>
          <a:solidFill>
            <a:srgbClr val="B1D9DB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7635240" y="3319272"/>
            <a:ext cx="512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1.9x</a:t>
            </a:r>
            <a:endParaRPr lang="en-US" sz="950" dirty="0"/>
          </a:p>
        </p:txBody>
      </p:sp>
      <p:sp>
        <p:nvSpPr>
          <p:cNvPr id="156" name="Text 154"/>
          <p:cNvSpPr txBox="1"/>
          <p:nvPr/>
        </p:nvSpPr>
        <p:spPr>
          <a:xfrm>
            <a:off x="4617720" y="36576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cost, by acquisition cost and monthly churn</a:t>
            </a:r>
            <a:endParaRPr lang="en-US" sz="1000" dirty="0"/>
          </a:p>
        </p:txBody>
      </p:sp>
      <p:sp>
        <p:nvSpPr>
          <p:cNvPr id="157" name="Text 155"/>
          <p:cNvSpPr txBox="1"/>
          <p:nvPr/>
        </p:nvSpPr>
        <p:spPr>
          <a:xfrm>
            <a:off x="507492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1 %</a:t>
            </a:r>
            <a:endParaRPr lang="en-US" sz="950" dirty="0"/>
          </a:p>
        </p:txBody>
      </p:sp>
      <p:sp>
        <p:nvSpPr>
          <p:cNvPr id="158" name="Text 156"/>
          <p:cNvSpPr txBox="1"/>
          <p:nvPr/>
        </p:nvSpPr>
        <p:spPr>
          <a:xfrm>
            <a:off x="571500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2 %</a:t>
            </a:r>
            <a:endParaRPr lang="en-US" sz="950" dirty="0"/>
          </a:p>
        </p:txBody>
      </p:sp>
      <p:sp>
        <p:nvSpPr>
          <p:cNvPr id="159" name="Text 157"/>
          <p:cNvSpPr txBox="1"/>
          <p:nvPr/>
        </p:nvSpPr>
        <p:spPr>
          <a:xfrm>
            <a:off x="635508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3 %</a:t>
            </a:r>
            <a:endParaRPr lang="en-US" sz="950" dirty="0"/>
          </a:p>
        </p:txBody>
      </p:sp>
      <p:sp>
        <p:nvSpPr>
          <p:cNvPr id="160" name="Text 158"/>
          <p:cNvSpPr txBox="1"/>
          <p:nvPr/>
        </p:nvSpPr>
        <p:spPr>
          <a:xfrm>
            <a:off x="699516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4 %</a:t>
            </a:r>
            <a:endParaRPr lang="en-US" sz="950" dirty="0"/>
          </a:p>
        </p:txBody>
      </p:sp>
      <p:sp>
        <p:nvSpPr>
          <p:cNvPr id="161" name="Text 159"/>
          <p:cNvSpPr txBox="1"/>
          <p:nvPr/>
        </p:nvSpPr>
        <p:spPr>
          <a:xfrm>
            <a:off x="7635240" y="389534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50" dirty="0"/>
          </a:p>
        </p:txBody>
      </p:sp>
      <p:sp>
        <p:nvSpPr>
          <p:cNvPr id="162" name="Text 160"/>
          <p:cNvSpPr txBox="1"/>
          <p:nvPr/>
        </p:nvSpPr>
        <p:spPr>
          <a:xfrm>
            <a:off x="4617720" y="41422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₹15k</a:t>
            </a:r>
            <a:endParaRPr lang="en-US" sz="950" dirty="0"/>
          </a:p>
        </p:txBody>
      </p:sp>
      <p:sp>
        <p:nvSpPr>
          <p:cNvPr id="163" name="Shape 161"/>
          <p:cNvSpPr/>
          <p:nvPr/>
        </p:nvSpPr>
        <p:spPr>
          <a:xfrm>
            <a:off x="5088636" y="4155948"/>
            <a:ext cx="612648" cy="24688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507492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11.0x</a:t>
            </a:r>
            <a:endParaRPr lang="en-US" sz="950" dirty="0"/>
          </a:p>
        </p:txBody>
      </p:sp>
      <p:sp>
        <p:nvSpPr>
          <p:cNvPr id="165" name="Shape 163"/>
          <p:cNvSpPr/>
          <p:nvPr/>
        </p:nvSpPr>
        <p:spPr>
          <a:xfrm>
            <a:off x="5728716" y="4155948"/>
            <a:ext cx="612648" cy="246888"/>
          </a:xfrm>
          <a:prstGeom prst="rect">
            <a:avLst/>
          </a:prstGeom>
          <a:solidFill>
            <a:srgbClr val="0C465D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71500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9.6x</a:t>
            </a:r>
            <a:endParaRPr lang="en-US" sz="950" dirty="0"/>
          </a:p>
        </p:txBody>
      </p:sp>
      <p:sp>
        <p:nvSpPr>
          <p:cNvPr id="167" name="Shape 165"/>
          <p:cNvSpPr/>
          <p:nvPr/>
        </p:nvSpPr>
        <p:spPr>
          <a:xfrm>
            <a:off x="6368796" y="4155948"/>
            <a:ext cx="612648" cy="246888"/>
          </a:xfrm>
          <a:prstGeom prst="rect">
            <a:avLst/>
          </a:prstGeom>
          <a:solidFill>
            <a:srgbClr val="0D5C6C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635508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8.7x</a:t>
            </a:r>
            <a:endParaRPr lang="en-US" sz="950" dirty="0"/>
          </a:p>
        </p:txBody>
      </p:sp>
      <p:sp>
        <p:nvSpPr>
          <p:cNvPr id="169" name="Shape 167"/>
          <p:cNvSpPr/>
          <p:nvPr/>
        </p:nvSpPr>
        <p:spPr>
          <a:xfrm>
            <a:off x="7008876" y="4155948"/>
            <a:ext cx="612648" cy="246888"/>
          </a:xfrm>
          <a:prstGeom prst="rect">
            <a:avLst/>
          </a:prstGeom>
          <a:solidFill>
            <a:srgbClr val="0E6F79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699516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7.9x</a:t>
            </a:r>
            <a:endParaRPr lang="en-US" sz="950" dirty="0"/>
          </a:p>
        </p:txBody>
      </p:sp>
      <p:sp>
        <p:nvSpPr>
          <p:cNvPr id="171" name="Shape 169"/>
          <p:cNvSpPr/>
          <p:nvPr/>
        </p:nvSpPr>
        <p:spPr>
          <a:xfrm>
            <a:off x="7648956" y="4155948"/>
            <a:ext cx="612648" cy="246888"/>
          </a:xfrm>
          <a:prstGeom prst="rect">
            <a:avLst/>
          </a:prstGeom>
          <a:solidFill>
            <a:srgbClr val="0E7D83"/>
          </a:solidFill>
          <a:ln/>
        </p:spPr>
      </p:sp>
      <p:sp>
        <p:nvSpPr>
          <p:cNvPr id="172" name="Text 170"/>
          <p:cNvSpPr txBox="1"/>
          <p:nvPr/>
        </p:nvSpPr>
        <p:spPr>
          <a:xfrm>
            <a:off x="7635240" y="414223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7.3x</a:t>
            </a:r>
            <a:endParaRPr lang="en-US" sz="950" dirty="0"/>
          </a:p>
        </p:txBody>
      </p:sp>
      <p:sp>
        <p:nvSpPr>
          <p:cNvPr id="173" name="Text 171"/>
          <p:cNvSpPr txBox="1"/>
          <p:nvPr/>
        </p:nvSpPr>
        <p:spPr>
          <a:xfrm>
            <a:off x="4617720" y="44165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₹25k</a:t>
            </a:r>
            <a:endParaRPr lang="en-US" sz="950" dirty="0"/>
          </a:p>
        </p:txBody>
      </p:sp>
      <p:sp>
        <p:nvSpPr>
          <p:cNvPr id="174" name="Shape 172"/>
          <p:cNvSpPr/>
          <p:nvPr/>
        </p:nvSpPr>
        <p:spPr>
          <a:xfrm>
            <a:off x="5088636" y="4430268"/>
            <a:ext cx="612648" cy="246888"/>
          </a:xfrm>
          <a:prstGeom prst="rect">
            <a:avLst/>
          </a:prstGeom>
          <a:solidFill>
            <a:srgbClr val="1D9294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507492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6.4x</a:t>
            </a:r>
            <a:endParaRPr lang="en-US" sz="950" dirty="0"/>
          </a:p>
        </p:txBody>
      </p:sp>
      <p:sp>
        <p:nvSpPr>
          <p:cNvPr id="176" name="Shape 174"/>
          <p:cNvSpPr/>
          <p:nvPr/>
        </p:nvSpPr>
        <p:spPr>
          <a:xfrm>
            <a:off x="5728716" y="4430268"/>
            <a:ext cx="612648" cy="246888"/>
          </a:xfrm>
          <a:prstGeom prst="rect">
            <a:avLst/>
          </a:prstGeom>
          <a:solidFill>
            <a:srgbClr val="369EA0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571500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5.8x</a:t>
            </a:r>
            <a:endParaRPr lang="en-US" sz="950" dirty="0"/>
          </a:p>
        </p:txBody>
      </p:sp>
      <p:sp>
        <p:nvSpPr>
          <p:cNvPr id="178" name="Shape 176"/>
          <p:cNvSpPr/>
          <p:nvPr/>
        </p:nvSpPr>
        <p:spPr>
          <a:xfrm>
            <a:off x="6368796" y="4430268"/>
            <a:ext cx="612648" cy="246888"/>
          </a:xfrm>
          <a:prstGeom prst="rect">
            <a:avLst/>
          </a:prstGeom>
          <a:solidFill>
            <a:srgbClr val="4FAAAC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635508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5.2x</a:t>
            </a:r>
            <a:endParaRPr lang="en-US" sz="950" dirty="0"/>
          </a:p>
        </p:txBody>
      </p:sp>
      <p:sp>
        <p:nvSpPr>
          <p:cNvPr id="180" name="Shape 178"/>
          <p:cNvSpPr/>
          <p:nvPr/>
        </p:nvSpPr>
        <p:spPr>
          <a:xfrm>
            <a:off x="7008876" y="4430268"/>
            <a:ext cx="612648" cy="246888"/>
          </a:xfrm>
          <a:prstGeom prst="rect">
            <a:avLst/>
          </a:prstGeom>
          <a:solidFill>
            <a:srgbClr val="5FB2B4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699516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4.8x</a:t>
            </a:r>
            <a:endParaRPr lang="en-US" sz="950" dirty="0"/>
          </a:p>
        </p:txBody>
      </p:sp>
      <p:sp>
        <p:nvSpPr>
          <p:cNvPr id="182" name="Shape 180"/>
          <p:cNvSpPr/>
          <p:nvPr/>
        </p:nvSpPr>
        <p:spPr>
          <a:xfrm>
            <a:off x="7648956" y="4430268"/>
            <a:ext cx="612648" cy="246888"/>
          </a:xfrm>
          <a:prstGeom prst="rect">
            <a:avLst/>
          </a:prstGeom>
          <a:solidFill>
            <a:srgbClr val="70BABC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7635240" y="44165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4.4x</a:t>
            </a:r>
            <a:endParaRPr lang="en-US" sz="950" dirty="0"/>
          </a:p>
        </p:txBody>
      </p:sp>
      <p:sp>
        <p:nvSpPr>
          <p:cNvPr id="184" name="Text 182"/>
          <p:cNvSpPr txBox="1"/>
          <p:nvPr/>
        </p:nvSpPr>
        <p:spPr>
          <a:xfrm>
            <a:off x="4617720" y="4690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₹35k</a:t>
            </a:r>
            <a:endParaRPr lang="en-US" sz="950" dirty="0"/>
          </a:p>
        </p:txBody>
      </p:sp>
      <p:sp>
        <p:nvSpPr>
          <p:cNvPr id="185" name="Shape 183"/>
          <p:cNvSpPr/>
          <p:nvPr/>
        </p:nvSpPr>
        <p:spPr>
          <a:xfrm>
            <a:off x="5088636" y="4704588"/>
            <a:ext cx="612648" cy="246888"/>
          </a:xfrm>
          <a:prstGeom prst="rect">
            <a:avLst/>
          </a:prstGeom>
          <a:solidFill>
            <a:srgbClr val="68B6B8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507492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4.6x</a:t>
            </a:r>
            <a:endParaRPr lang="en-US" sz="950" dirty="0"/>
          </a:p>
        </p:txBody>
      </p:sp>
      <p:sp>
        <p:nvSpPr>
          <p:cNvPr id="187" name="Shape 185"/>
          <p:cNvSpPr/>
          <p:nvPr/>
        </p:nvSpPr>
        <p:spPr>
          <a:xfrm>
            <a:off x="5728716" y="4704588"/>
            <a:ext cx="612648" cy="246888"/>
          </a:xfrm>
          <a:prstGeom prst="rect">
            <a:avLst/>
          </a:prstGeom>
          <a:solidFill>
            <a:srgbClr val="7DC0C2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571500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4.1x</a:t>
            </a:r>
            <a:endParaRPr lang="en-US" sz="950" dirty="0"/>
          </a:p>
        </p:txBody>
      </p:sp>
      <p:sp>
        <p:nvSpPr>
          <p:cNvPr id="189" name="Shape 187"/>
          <p:cNvSpPr/>
          <p:nvPr/>
        </p:nvSpPr>
        <p:spPr>
          <a:xfrm>
            <a:off x="6368796" y="4704588"/>
            <a:ext cx="612648" cy="246888"/>
          </a:xfrm>
          <a:prstGeom prst="rect">
            <a:avLst/>
          </a:prstGeom>
          <a:solidFill>
            <a:srgbClr val="8DC8CA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635508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950" dirty="0"/>
          </a:p>
        </p:txBody>
      </p:sp>
      <p:sp>
        <p:nvSpPr>
          <p:cNvPr id="191" name="Shape 189"/>
          <p:cNvSpPr/>
          <p:nvPr/>
        </p:nvSpPr>
        <p:spPr>
          <a:xfrm>
            <a:off x="7008876" y="4704588"/>
            <a:ext cx="612648" cy="246888"/>
          </a:xfrm>
          <a:prstGeom prst="rect">
            <a:avLst/>
          </a:prstGeom>
          <a:solidFill>
            <a:srgbClr val="9ACED0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699516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3.4x</a:t>
            </a:r>
            <a:endParaRPr lang="en-US" sz="950" dirty="0"/>
          </a:p>
        </p:txBody>
      </p:sp>
      <p:sp>
        <p:nvSpPr>
          <p:cNvPr id="193" name="Shape 191"/>
          <p:cNvSpPr/>
          <p:nvPr/>
        </p:nvSpPr>
        <p:spPr>
          <a:xfrm>
            <a:off x="7648956" y="4704588"/>
            <a:ext cx="612648" cy="246888"/>
          </a:xfrm>
          <a:prstGeom prst="rect">
            <a:avLst/>
          </a:prstGeom>
          <a:solidFill>
            <a:srgbClr val="A6D4D6"/>
          </a:solidFill>
          <a:ln/>
        </p:spPr>
      </p:sp>
      <p:sp>
        <p:nvSpPr>
          <p:cNvPr id="194" name="Text 192"/>
          <p:cNvSpPr txBox="1"/>
          <p:nvPr/>
        </p:nvSpPr>
        <p:spPr>
          <a:xfrm>
            <a:off x="7635240" y="469087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3.1x</a:t>
            </a:r>
            <a:endParaRPr lang="en-US" sz="950" dirty="0"/>
          </a:p>
        </p:txBody>
      </p:sp>
      <p:sp>
        <p:nvSpPr>
          <p:cNvPr id="195" name="Text 193"/>
          <p:cNvSpPr txBox="1"/>
          <p:nvPr/>
        </p:nvSpPr>
        <p:spPr>
          <a:xfrm>
            <a:off x="4617720" y="49651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₹50k</a:t>
            </a:r>
            <a:endParaRPr lang="en-US" sz="950" dirty="0"/>
          </a:p>
        </p:txBody>
      </p:sp>
      <p:sp>
        <p:nvSpPr>
          <p:cNvPr id="196" name="Shape 194"/>
          <p:cNvSpPr/>
          <p:nvPr/>
        </p:nvSpPr>
        <p:spPr>
          <a:xfrm>
            <a:off x="5088636" y="4978908"/>
            <a:ext cx="612648" cy="246888"/>
          </a:xfrm>
          <a:prstGeom prst="rect">
            <a:avLst/>
          </a:prstGeom>
          <a:solidFill>
            <a:srgbClr val="A2D2D4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507492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3.2x</a:t>
            </a:r>
            <a:endParaRPr lang="en-US" sz="950" dirty="0"/>
          </a:p>
        </p:txBody>
      </p:sp>
      <p:sp>
        <p:nvSpPr>
          <p:cNvPr id="198" name="Shape 196"/>
          <p:cNvSpPr/>
          <p:nvPr/>
        </p:nvSpPr>
        <p:spPr>
          <a:xfrm>
            <a:off x="5728716" y="4978908"/>
            <a:ext cx="612648" cy="246888"/>
          </a:xfrm>
          <a:prstGeom prst="rect">
            <a:avLst/>
          </a:prstGeom>
          <a:solidFill>
            <a:srgbClr val="AFD8DA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571500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950" dirty="0"/>
          </a:p>
        </p:txBody>
      </p:sp>
      <p:sp>
        <p:nvSpPr>
          <p:cNvPr id="200" name="Shape 198"/>
          <p:cNvSpPr/>
          <p:nvPr/>
        </p:nvSpPr>
        <p:spPr>
          <a:xfrm>
            <a:off x="6368796" y="4978908"/>
            <a:ext cx="612648" cy="246888"/>
          </a:xfrm>
          <a:prstGeom prst="rect">
            <a:avLst/>
          </a:prstGeom>
          <a:solidFill>
            <a:srgbClr val="BBDEE0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635508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2.6x</a:t>
            </a:r>
            <a:endParaRPr lang="en-US" sz="950" dirty="0"/>
          </a:p>
        </p:txBody>
      </p:sp>
      <p:sp>
        <p:nvSpPr>
          <p:cNvPr id="202" name="Shape 200"/>
          <p:cNvSpPr/>
          <p:nvPr/>
        </p:nvSpPr>
        <p:spPr>
          <a:xfrm>
            <a:off x="7008876" y="4978908"/>
            <a:ext cx="612648" cy="246888"/>
          </a:xfrm>
          <a:prstGeom prst="rect">
            <a:avLst/>
          </a:prstGeom>
          <a:solidFill>
            <a:srgbClr val="C3E2E4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99516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2.4x</a:t>
            </a:r>
            <a:endParaRPr lang="en-US" sz="950" dirty="0"/>
          </a:p>
        </p:txBody>
      </p:sp>
      <p:sp>
        <p:nvSpPr>
          <p:cNvPr id="204" name="Shape 202"/>
          <p:cNvSpPr/>
          <p:nvPr/>
        </p:nvSpPr>
        <p:spPr>
          <a:xfrm>
            <a:off x="7648956" y="4978908"/>
            <a:ext cx="612648" cy="246888"/>
          </a:xfrm>
          <a:prstGeom prst="rect">
            <a:avLst/>
          </a:prstGeom>
          <a:solidFill>
            <a:srgbClr val="CCE6E8"/>
          </a:solidFill>
          <a:ln/>
        </p:spPr>
      </p:sp>
      <p:sp>
        <p:nvSpPr>
          <p:cNvPr id="205" name="Text 203"/>
          <p:cNvSpPr txBox="1"/>
          <p:nvPr/>
        </p:nvSpPr>
        <p:spPr>
          <a:xfrm>
            <a:off x="7635240" y="496519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2.2x</a:t>
            </a:r>
            <a:endParaRPr lang="en-US" sz="950" dirty="0"/>
          </a:p>
        </p:txBody>
      </p:sp>
      <p:sp>
        <p:nvSpPr>
          <p:cNvPr id="206" name="Text 204"/>
          <p:cNvSpPr txBox="1"/>
          <p:nvPr/>
        </p:nvSpPr>
        <p:spPr>
          <a:xfrm>
            <a:off x="4617720" y="5239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₹75k</a:t>
            </a:r>
            <a:endParaRPr lang="en-US" sz="950" dirty="0"/>
          </a:p>
        </p:txBody>
      </p:sp>
      <p:sp>
        <p:nvSpPr>
          <p:cNvPr id="207" name="Shape 205"/>
          <p:cNvSpPr/>
          <p:nvPr/>
        </p:nvSpPr>
        <p:spPr>
          <a:xfrm>
            <a:off x="5088636" y="5253228"/>
            <a:ext cx="612648" cy="246888"/>
          </a:xfrm>
          <a:prstGeom prst="rect">
            <a:avLst/>
          </a:prstGeom>
          <a:solidFill>
            <a:srgbClr val="D0E8EA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507492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2.1x</a:t>
            </a:r>
            <a:endParaRPr lang="en-US" sz="950" dirty="0"/>
          </a:p>
        </p:txBody>
      </p:sp>
      <p:sp>
        <p:nvSpPr>
          <p:cNvPr id="209" name="Shape 207"/>
          <p:cNvSpPr/>
          <p:nvPr/>
        </p:nvSpPr>
        <p:spPr>
          <a:xfrm>
            <a:off x="5728716" y="5253228"/>
            <a:ext cx="612648" cy="246888"/>
          </a:xfrm>
          <a:prstGeom prst="rect">
            <a:avLst/>
          </a:prstGeom>
          <a:solidFill>
            <a:srgbClr val="D8ECEE"/>
          </a:solidFill>
          <a:ln/>
        </p:spPr>
      </p:sp>
      <p:sp>
        <p:nvSpPr>
          <p:cNvPr id="210" name="Text 208"/>
          <p:cNvSpPr txBox="1"/>
          <p:nvPr/>
        </p:nvSpPr>
        <p:spPr>
          <a:xfrm>
            <a:off x="571500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1.9x</a:t>
            </a:r>
            <a:endParaRPr lang="en-US" sz="950" dirty="0"/>
          </a:p>
        </p:txBody>
      </p:sp>
      <p:sp>
        <p:nvSpPr>
          <p:cNvPr id="211" name="Shape 209"/>
          <p:cNvSpPr/>
          <p:nvPr/>
        </p:nvSpPr>
        <p:spPr>
          <a:xfrm>
            <a:off x="6368796" y="5253228"/>
            <a:ext cx="612648" cy="246888"/>
          </a:xfrm>
          <a:prstGeom prst="rect">
            <a:avLst/>
          </a:prstGeom>
          <a:solidFill>
            <a:srgbClr val="E1F0F2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35508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1.7x</a:t>
            </a:r>
            <a:endParaRPr lang="en-US" sz="950" dirty="0"/>
          </a:p>
        </p:txBody>
      </p:sp>
      <p:sp>
        <p:nvSpPr>
          <p:cNvPr id="213" name="Shape 211"/>
          <p:cNvSpPr/>
          <p:nvPr/>
        </p:nvSpPr>
        <p:spPr>
          <a:xfrm>
            <a:off x="7008876" y="5253228"/>
            <a:ext cx="612648" cy="246888"/>
          </a:xfrm>
          <a:prstGeom prst="rect">
            <a:avLst/>
          </a:prstGeom>
          <a:solidFill>
            <a:srgbClr val="E5F2F4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699516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1.6x</a:t>
            </a:r>
            <a:endParaRPr lang="en-US" sz="950" dirty="0"/>
          </a:p>
        </p:txBody>
      </p:sp>
      <p:sp>
        <p:nvSpPr>
          <p:cNvPr id="215" name="Shape 213"/>
          <p:cNvSpPr/>
          <p:nvPr/>
        </p:nvSpPr>
        <p:spPr>
          <a:xfrm>
            <a:off x="7648956" y="5253228"/>
            <a:ext cx="612648" cy="246888"/>
          </a:xfrm>
          <a:prstGeom prst="rect">
            <a:avLst/>
          </a:prstGeom>
          <a:solidFill>
            <a:srgbClr val="E9F4F6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7635240" y="523951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950" dirty="0"/>
          </a:p>
        </p:txBody>
      </p:sp>
      <p:sp>
        <p:nvSpPr>
          <p:cNvPr id="217" name="Shape 215"/>
          <p:cNvSpPr/>
          <p:nvPr/>
        </p:nvSpPr>
        <p:spPr>
          <a:xfrm>
            <a:off x="4617720" y="5870448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18" name="Text 216"/>
          <p:cNvSpPr txBox="1"/>
          <p:nvPr/>
        </p:nvSpPr>
        <p:spPr>
          <a:xfrm>
            <a:off x="4617720" y="587044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219" name="Text 217"/>
          <p:cNvSpPr txBox="1"/>
          <p:nvPr/>
        </p:nvSpPr>
        <p:spPr>
          <a:xfrm>
            <a:off x="6263640" y="58338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cells: ₹30 with 6.6 % reduction; ₹35k with 3 %.</a:t>
            </a:r>
            <a:endParaRPr lang="en-US" sz="900" dirty="0"/>
          </a:p>
        </p:txBody>
      </p:sp>
      <p:sp>
        <p:nvSpPr>
          <p:cNvPr id="220" name="Shape 218"/>
          <p:cNvSpPr/>
          <p:nvPr/>
        </p:nvSpPr>
        <p:spPr>
          <a:xfrm>
            <a:off x="8412480" y="1115568"/>
            <a:ext cx="3367735" cy="5212080"/>
          </a:xfrm>
          <a:prstGeom prst="roundRect">
            <a:avLst>
              <a:gd name="adj" fmla="val 1629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221" name="Text 219"/>
          <p:cNvSpPr txBox="1"/>
          <p:nvPr/>
        </p:nvSpPr>
        <p:spPr>
          <a:xfrm>
            <a:off x="8503920" y="1161288"/>
            <a:ext cx="3184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TORNADO AND SEGMENTS</a:t>
            </a:r>
            <a:endParaRPr lang="en-US" sz="1250" dirty="0"/>
          </a:p>
        </p:txBody>
      </p:sp>
      <p:sp>
        <p:nvSpPr>
          <p:cNvPr id="222" name="Text 220"/>
          <p:cNvSpPr txBox="1"/>
          <p:nvPr/>
        </p:nvSpPr>
        <p:spPr>
          <a:xfrm>
            <a:off x="8503920" y="1463040"/>
            <a:ext cx="31848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cost, one input at a time</a:t>
            </a:r>
            <a:endParaRPr lang="en-US" sz="1000" dirty="0"/>
          </a:p>
        </p:txBody>
      </p:sp>
      <p:sp>
        <p:nvSpPr>
          <p:cNvPr id="223" name="Text 221"/>
          <p:cNvSpPr txBox="1"/>
          <p:nvPr/>
        </p:nvSpPr>
        <p:spPr>
          <a:xfrm>
            <a:off x="8503920" y="17830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₹20 to ₹40</a:t>
            </a:r>
            <a:endParaRPr lang="en-US" sz="900" dirty="0"/>
          </a:p>
        </p:txBody>
      </p:sp>
      <p:sp>
        <p:nvSpPr>
          <p:cNvPr id="224" name="Shape 222"/>
          <p:cNvSpPr/>
          <p:nvPr/>
        </p:nvSpPr>
        <p:spPr>
          <a:xfrm>
            <a:off x="10079383" y="1856232"/>
            <a:ext cx="610092" cy="237744"/>
          </a:xfrm>
          <a:prstGeom prst="rect">
            <a:avLst/>
          </a:prstGeom>
          <a:solidFill>
            <a:srgbClr val="9FD3D4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689475" y="1856232"/>
            <a:ext cx="610092" cy="237744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226" name="Text 224"/>
          <p:cNvSpPr txBox="1"/>
          <p:nvPr/>
        </p:nvSpPr>
        <p:spPr>
          <a:xfrm>
            <a:off x="9731911" y="17830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900" dirty="0"/>
          </a:p>
        </p:txBody>
      </p:sp>
      <p:sp>
        <p:nvSpPr>
          <p:cNvPr id="227" name="Text 225"/>
          <p:cNvSpPr txBox="1"/>
          <p:nvPr/>
        </p:nvSpPr>
        <p:spPr>
          <a:xfrm>
            <a:off x="11327000" y="17830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</a:t>
            </a:r>
            <a:endParaRPr lang="en-US" sz="900" dirty="0"/>
          </a:p>
        </p:txBody>
      </p:sp>
      <p:sp>
        <p:nvSpPr>
          <p:cNvPr id="228" name="Text 226"/>
          <p:cNvSpPr txBox="1"/>
          <p:nvPr/>
        </p:nvSpPr>
        <p:spPr>
          <a:xfrm>
            <a:off x="8503920" y="22402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conversion 15 to 50 %</a:t>
            </a:r>
            <a:endParaRPr lang="en-US" sz="900" dirty="0"/>
          </a:p>
        </p:txBody>
      </p:sp>
      <p:sp>
        <p:nvSpPr>
          <p:cNvPr id="229" name="Shape 227"/>
          <p:cNvSpPr/>
          <p:nvPr/>
        </p:nvSpPr>
        <p:spPr>
          <a:xfrm>
            <a:off x="10095230" y="2313432"/>
            <a:ext cx="594246" cy="237744"/>
          </a:xfrm>
          <a:prstGeom prst="rect">
            <a:avLst/>
          </a:prstGeom>
          <a:solidFill>
            <a:srgbClr val="9FD3D4"/>
          </a:solidFill>
          <a:ln/>
        </p:spPr>
      </p:sp>
      <p:sp>
        <p:nvSpPr>
          <p:cNvPr id="230" name="Shape 228"/>
          <p:cNvSpPr/>
          <p:nvPr/>
        </p:nvSpPr>
        <p:spPr>
          <a:xfrm>
            <a:off x="10689475" y="2313432"/>
            <a:ext cx="554629" cy="237744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231" name="Text 229"/>
          <p:cNvSpPr txBox="1"/>
          <p:nvPr/>
        </p:nvSpPr>
        <p:spPr>
          <a:xfrm>
            <a:off x="9747758" y="22402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900" dirty="0"/>
          </a:p>
        </p:txBody>
      </p:sp>
      <p:sp>
        <p:nvSpPr>
          <p:cNvPr id="232" name="Text 230"/>
          <p:cNvSpPr txBox="1"/>
          <p:nvPr/>
        </p:nvSpPr>
        <p:spPr>
          <a:xfrm>
            <a:off x="11271537" y="22402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</a:t>
            </a:r>
            <a:endParaRPr lang="en-US" sz="900" dirty="0"/>
          </a:p>
        </p:txBody>
      </p:sp>
      <p:sp>
        <p:nvSpPr>
          <p:cNvPr id="233" name="Text 231"/>
          <p:cNvSpPr txBox="1"/>
          <p:nvPr/>
        </p:nvSpPr>
        <p:spPr>
          <a:xfrm>
            <a:off x="8503920" y="26974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Non-renewal 30 to 10 %</a:t>
            </a:r>
            <a:endParaRPr lang="en-US" sz="900" dirty="0"/>
          </a:p>
        </p:txBody>
      </p:sp>
      <p:sp>
        <p:nvSpPr>
          <p:cNvPr id="234" name="Shape 232"/>
          <p:cNvSpPr/>
          <p:nvPr/>
        </p:nvSpPr>
        <p:spPr>
          <a:xfrm>
            <a:off x="10483470" y="2770632"/>
            <a:ext cx="206005" cy="237744"/>
          </a:xfrm>
          <a:prstGeom prst="rect">
            <a:avLst/>
          </a:prstGeom>
          <a:solidFill>
            <a:srgbClr val="9FD3D4"/>
          </a:solidFill>
          <a:ln/>
        </p:spPr>
      </p:sp>
      <p:sp>
        <p:nvSpPr>
          <p:cNvPr id="235" name="Shape 233"/>
          <p:cNvSpPr/>
          <p:nvPr/>
        </p:nvSpPr>
        <p:spPr>
          <a:xfrm>
            <a:off x="10689475" y="2770632"/>
            <a:ext cx="245622" cy="237744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10135998" y="26974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00" dirty="0"/>
          </a:p>
        </p:txBody>
      </p:sp>
      <p:sp>
        <p:nvSpPr>
          <p:cNvPr id="237" name="Text 235"/>
          <p:cNvSpPr txBox="1"/>
          <p:nvPr/>
        </p:nvSpPr>
        <p:spPr>
          <a:xfrm>
            <a:off x="10962529" y="26974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900" dirty="0"/>
          </a:p>
        </p:txBody>
      </p:sp>
      <p:sp>
        <p:nvSpPr>
          <p:cNvPr id="238" name="Text 236"/>
          <p:cNvSpPr txBox="1"/>
          <p:nvPr/>
        </p:nvSpPr>
        <p:spPr>
          <a:xfrm>
            <a:off x="8503920" y="31546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churn 5 to 1.5 %</a:t>
            </a:r>
            <a:endParaRPr lang="en-US" sz="900" dirty="0"/>
          </a:p>
        </p:txBody>
      </p:sp>
      <p:sp>
        <p:nvSpPr>
          <p:cNvPr id="239" name="Shape 237"/>
          <p:cNvSpPr/>
          <p:nvPr/>
        </p:nvSpPr>
        <p:spPr>
          <a:xfrm>
            <a:off x="10451777" y="3227832"/>
            <a:ext cx="237698" cy="237744"/>
          </a:xfrm>
          <a:prstGeom prst="rect">
            <a:avLst/>
          </a:prstGeom>
          <a:solidFill>
            <a:srgbClr val="9FD3D4"/>
          </a:solidFill>
          <a:ln/>
        </p:spPr>
      </p:sp>
      <p:sp>
        <p:nvSpPr>
          <p:cNvPr id="240" name="Shape 238"/>
          <p:cNvSpPr/>
          <p:nvPr/>
        </p:nvSpPr>
        <p:spPr>
          <a:xfrm>
            <a:off x="10689475" y="3227832"/>
            <a:ext cx="237698" cy="237744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241" name="Text 239"/>
          <p:cNvSpPr txBox="1"/>
          <p:nvPr/>
        </p:nvSpPr>
        <p:spPr>
          <a:xfrm>
            <a:off x="10104305" y="31546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00" dirty="0"/>
          </a:p>
        </p:txBody>
      </p:sp>
      <p:sp>
        <p:nvSpPr>
          <p:cNvPr id="242" name="Text 240"/>
          <p:cNvSpPr txBox="1"/>
          <p:nvPr/>
        </p:nvSpPr>
        <p:spPr>
          <a:xfrm>
            <a:off x="10954606" y="31546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4.3</a:t>
            </a:r>
            <a:endParaRPr lang="en-US" sz="900" dirty="0"/>
          </a:p>
        </p:txBody>
      </p:sp>
      <p:sp>
        <p:nvSpPr>
          <p:cNvPr id="243" name="Text 241"/>
          <p:cNvSpPr txBox="1"/>
          <p:nvPr/>
        </p:nvSpPr>
        <p:spPr>
          <a:xfrm>
            <a:off x="8503920" y="361188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Pilots per rep 6 to 14</a:t>
            </a:r>
            <a:endParaRPr lang="en-US" sz="900" dirty="0"/>
          </a:p>
        </p:txBody>
      </p:sp>
      <p:sp>
        <p:nvSpPr>
          <p:cNvPr id="244" name="Shape 242"/>
          <p:cNvSpPr/>
          <p:nvPr/>
        </p:nvSpPr>
        <p:spPr>
          <a:xfrm>
            <a:off x="10467624" y="3685032"/>
            <a:ext cx="221852" cy="237744"/>
          </a:xfrm>
          <a:prstGeom prst="rect">
            <a:avLst/>
          </a:prstGeom>
          <a:solidFill>
            <a:srgbClr val="9FD3D4"/>
          </a:solidFill>
          <a:ln/>
        </p:spPr>
      </p:sp>
      <p:sp>
        <p:nvSpPr>
          <p:cNvPr id="245" name="Shape 243"/>
          <p:cNvSpPr/>
          <p:nvPr/>
        </p:nvSpPr>
        <p:spPr>
          <a:xfrm>
            <a:off x="10689475" y="3685032"/>
            <a:ext cx="122811" cy="237744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10120152" y="3611880"/>
            <a:ext cx="3291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</a:t>
            </a:r>
            <a:endParaRPr lang="en-US" sz="900" dirty="0"/>
          </a:p>
        </p:txBody>
      </p:sp>
      <p:sp>
        <p:nvSpPr>
          <p:cNvPr id="247" name="Text 245"/>
          <p:cNvSpPr txBox="1"/>
          <p:nvPr/>
        </p:nvSpPr>
        <p:spPr>
          <a:xfrm>
            <a:off x="10839718" y="3611880"/>
            <a:ext cx="365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</a:t>
            </a:r>
            <a:endParaRPr lang="en-US" sz="900" dirty="0"/>
          </a:p>
        </p:txBody>
      </p:sp>
      <p:sp>
        <p:nvSpPr>
          <p:cNvPr id="248" name="Shape 246"/>
          <p:cNvSpPr/>
          <p:nvPr/>
        </p:nvSpPr>
        <p:spPr>
          <a:xfrm>
            <a:off x="10680331" y="1737360"/>
            <a:ext cx="18288" cy="237744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249" name="Text 247"/>
          <p:cNvSpPr txBox="1"/>
          <p:nvPr/>
        </p:nvSpPr>
        <p:spPr>
          <a:xfrm>
            <a:off x="10232275" y="411480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3.7x</a:t>
            </a:r>
            <a:endParaRPr lang="en-US" sz="900" dirty="0"/>
          </a:p>
        </p:txBody>
      </p:sp>
      <p:pic>
        <p:nvPicPr>
          <p:cNvPr id="250" name="Image 0" descr="LTV over acquisition cost by seg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0" y="4389120"/>
            <a:ext cx="2103120" cy="1572768"/>
          </a:xfrm>
          <a:prstGeom prst="rect">
            <a:avLst/>
          </a:prstGeom>
        </p:spPr>
      </p:pic>
      <p:sp>
        <p:nvSpPr>
          <p:cNvPr id="251" name="Text 248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workbook (Scenarios, Sensitivity). List price ₹30; ERP and LMS prices found: ₹4 to ₹21. Willingness to pay is untested.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mid-size institutes in Patna and Lucknow, keep small ones self-serve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AND GO-TO-MARKET 10 %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448056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02920" y="116128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INSTITUTES PAY TODAY</a:t>
            </a:r>
            <a:endParaRPr lang="en-US" sz="1250" dirty="0"/>
          </a:p>
        </p:txBody>
      </p:sp>
      <p:pic>
        <p:nvPicPr>
          <p:cNvPr id="6" name="Image 0" descr="Listed prices of generic institute app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63040"/>
            <a:ext cx="4297680" cy="23774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21208" y="3858768"/>
            <a:ext cx="3623056" cy="182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21208" y="3858768"/>
            <a:ext cx="36230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 INPUTS: LISTED PRICES, LOW TO MEDIUM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0" y="1115568"/>
            <a:ext cx="3611880" cy="301752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10" name="Text 7"/>
          <p:cNvSpPr txBox="1"/>
          <p:nvPr/>
        </p:nvSpPr>
        <p:spPr>
          <a:xfrm>
            <a:off x="5120640" y="1161288"/>
            <a:ext cx="3429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166360" y="1481328"/>
            <a:ext cx="3337560" cy="804672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257800" y="1481328"/>
            <a:ext cx="31546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Retro-pilot  </a:t>
            </a:r>
            <a:pPr algn="l" indent="0" marL="0">
              <a:buNone/>
            </a:pPr>
            <a:r>
              <a:rPr lang="en-US" sz="100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year's Excel: who left, would we have caught them?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394960" y="2350008"/>
            <a:ext cx="2880360" cy="804672"/>
          </a:xfrm>
          <a:prstGeom prst="rect">
            <a:avLst/>
          </a:prstGeom>
          <a:solidFill>
            <a:srgbClr val="0F8B8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486400" y="2350008"/>
            <a:ext cx="26974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pilot  </a:t>
            </a:r>
            <a:pPr algn="l" indent="0" marL="0">
              <a:buNone/>
            </a:pPr>
            <a:r>
              <a:rPr lang="en-US" sz="100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month, measures agreed in advance; about 30 % convert (15 to 50 %).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623560" y="3218688"/>
            <a:ext cx="2423160" cy="804672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715000" y="3218688"/>
            <a:ext cx="224028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Onboarded  </a:t>
            </a:r>
            <a:pPr algn="l" indent="0" marL="0">
              <a:buNone/>
            </a:pPr>
            <a:r>
              <a:rPr lang="en-US" sz="1000" dirty="0">
                <a:solidFill>
                  <a:srgbClr val="E8F0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onboarding only after conversion; about ₹8,000 each.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778240" y="1115568"/>
            <a:ext cx="3001975" cy="3017520"/>
          </a:xfrm>
          <a:prstGeom prst="roundRect">
            <a:avLst>
              <a:gd name="adj" fmla="val 1828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18" name="Text 15"/>
          <p:cNvSpPr txBox="1"/>
          <p:nvPr/>
        </p:nvSpPr>
        <p:spPr>
          <a:xfrm>
            <a:off x="8869680" y="1161288"/>
            <a:ext cx="2819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 (BASE)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8851392" y="1463040"/>
            <a:ext cx="777240" cy="274320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8897112" y="1463040"/>
            <a:ext cx="685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9628632" y="1463040"/>
            <a:ext cx="640080" cy="274320"/>
          </a:xfrm>
          <a:prstGeom prst="rect">
            <a:avLst/>
          </a:prstGeom>
          <a:solidFill>
            <a:srgbClr val="4F5D75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9674352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10268712" y="1463040"/>
            <a:ext cx="640080" cy="274320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0314432" y="14630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10908792" y="1463040"/>
            <a:ext cx="731520" cy="274320"/>
          </a:xfrm>
          <a:prstGeom prst="rect">
            <a:avLst/>
          </a:prstGeom>
          <a:solidFill>
            <a:srgbClr val="4F5D75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0954512" y="14630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8851392" y="1737360"/>
            <a:ext cx="777240" cy="329184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8897112" y="173736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9628632" y="1737360"/>
            <a:ext cx="640080" cy="329184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9674352" y="17373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180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10268712" y="1737360"/>
            <a:ext cx="640080" cy="329184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314432" y="1737360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10908792" y="1737360"/>
            <a:ext cx="731520" cy="329184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954512" y="1737360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851392" y="2066544"/>
            <a:ext cx="7772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8897112" y="206654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fee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9628632" y="2066544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9674352" y="20665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₹65k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10268712" y="2066544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10314432" y="2066544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₹95k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10908792" y="2066544"/>
            <a:ext cx="7315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10954512" y="2066544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₹1.25L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8851392" y="2395728"/>
            <a:ext cx="777240" cy="329184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44" name="Text 41"/>
          <p:cNvSpPr txBox="1"/>
          <p:nvPr/>
        </p:nvSpPr>
        <p:spPr>
          <a:xfrm>
            <a:off x="8897112" y="2395728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LTV÷CAC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9628632" y="2395728"/>
            <a:ext cx="640080" cy="329184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9674352" y="239572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10268712" y="2395728"/>
            <a:ext cx="640080" cy="329184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10314432" y="2395728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10908792" y="2395728"/>
            <a:ext cx="731520" cy="329184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50" name="Text 47"/>
          <p:cNvSpPr txBox="1"/>
          <p:nvPr/>
        </p:nvSpPr>
        <p:spPr>
          <a:xfrm>
            <a:off x="10954512" y="2395728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9.1x</a:t>
            </a:r>
            <a:endParaRPr lang="en-US" sz="950" dirty="0"/>
          </a:p>
        </p:txBody>
      </p:sp>
      <p:sp>
        <p:nvSpPr>
          <p:cNvPr id="51" name="Shape 48"/>
          <p:cNvSpPr/>
          <p:nvPr/>
        </p:nvSpPr>
        <p:spPr>
          <a:xfrm>
            <a:off x="8851392" y="2724912"/>
            <a:ext cx="77724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49"/>
          <p:cNvSpPr txBox="1"/>
          <p:nvPr/>
        </p:nvSpPr>
        <p:spPr>
          <a:xfrm>
            <a:off x="8897112" y="272491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9628632" y="2724912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Text 51"/>
          <p:cNvSpPr txBox="1"/>
          <p:nvPr/>
        </p:nvSpPr>
        <p:spPr>
          <a:xfrm>
            <a:off x="9674352" y="272491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</a:t>
            </a:r>
            <a:endParaRPr lang="en-US" sz="950" dirty="0"/>
          </a:p>
        </p:txBody>
      </p:sp>
      <p:sp>
        <p:nvSpPr>
          <p:cNvPr id="55" name="Shape 52"/>
          <p:cNvSpPr/>
          <p:nvPr/>
        </p:nvSpPr>
        <p:spPr>
          <a:xfrm>
            <a:off x="10268712" y="2724912"/>
            <a:ext cx="64008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6" name="Text 53"/>
          <p:cNvSpPr txBox="1"/>
          <p:nvPr/>
        </p:nvSpPr>
        <p:spPr>
          <a:xfrm>
            <a:off x="10314432" y="2724912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</a:t>
            </a:r>
            <a:endParaRPr lang="en-US" sz="950" dirty="0"/>
          </a:p>
        </p:txBody>
      </p:sp>
      <p:sp>
        <p:nvSpPr>
          <p:cNvPr id="57" name="Shape 54"/>
          <p:cNvSpPr/>
          <p:nvPr/>
        </p:nvSpPr>
        <p:spPr>
          <a:xfrm>
            <a:off x="10908792" y="2724912"/>
            <a:ext cx="7315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10954512" y="272491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8851392" y="3054096"/>
            <a:ext cx="777240" cy="329184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8897112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</a:t>
            </a:r>
            <a:endParaRPr lang="en-US" sz="950" dirty="0"/>
          </a:p>
        </p:txBody>
      </p:sp>
      <p:sp>
        <p:nvSpPr>
          <p:cNvPr id="61" name="Shape 58"/>
          <p:cNvSpPr/>
          <p:nvPr/>
        </p:nvSpPr>
        <p:spPr>
          <a:xfrm>
            <a:off x="9628632" y="3054096"/>
            <a:ext cx="640080" cy="329184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62" name="Text 59"/>
          <p:cNvSpPr txBox="1"/>
          <p:nvPr/>
        </p:nvSpPr>
        <p:spPr>
          <a:xfrm>
            <a:off x="9674352" y="305409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Self-serve</a:t>
            </a:r>
            <a:endParaRPr lang="en-US" sz="950" dirty="0"/>
          </a:p>
        </p:txBody>
      </p:sp>
      <p:sp>
        <p:nvSpPr>
          <p:cNvPr id="63" name="Shape 60"/>
          <p:cNvSpPr/>
          <p:nvPr/>
        </p:nvSpPr>
        <p:spPr>
          <a:xfrm>
            <a:off x="10268712" y="3054096"/>
            <a:ext cx="640080" cy="329184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64" name="Text 61"/>
          <p:cNvSpPr txBox="1"/>
          <p:nvPr/>
        </p:nvSpPr>
        <p:spPr>
          <a:xfrm>
            <a:off x="10314432" y="3054096"/>
            <a:ext cx="548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950" dirty="0"/>
          </a:p>
        </p:txBody>
      </p:sp>
      <p:sp>
        <p:nvSpPr>
          <p:cNvPr id="65" name="Shape 62"/>
          <p:cNvSpPr/>
          <p:nvPr/>
        </p:nvSpPr>
        <p:spPr>
          <a:xfrm>
            <a:off x="10908792" y="3054096"/>
            <a:ext cx="731520" cy="329184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66" name="Text 63"/>
          <p:cNvSpPr txBox="1"/>
          <p:nvPr/>
        </p:nvSpPr>
        <p:spPr>
          <a:xfrm>
            <a:off x="10954512" y="3054096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</a:t>
            </a:r>
            <a:endParaRPr lang="en-US" sz="950" dirty="0"/>
          </a:p>
        </p:txBody>
      </p:sp>
      <p:sp>
        <p:nvSpPr>
          <p:cNvPr id="67" name="Text 64"/>
          <p:cNvSpPr txBox="1"/>
          <p:nvPr/>
        </p:nvSpPr>
        <p:spPr>
          <a:xfrm>
            <a:off x="8869680" y="3474720"/>
            <a:ext cx="28190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Selling window: March to June, before the new session.</a:t>
            </a:r>
            <a:endParaRPr lang="en-US" sz="1000" dirty="0"/>
          </a:p>
        </p:txBody>
      </p:sp>
      <p:sp>
        <p:nvSpPr>
          <p:cNvPr id="68" name="Shape 65"/>
          <p:cNvSpPr/>
          <p:nvPr/>
        </p:nvSpPr>
        <p:spPr>
          <a:xfrm>
            <a:off x="8869680" y="3931920"/>
            <a:ext cx="216637" cy="164592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69" name="Shape 66"/>
          <p:cNvSpPr/>
          <p:nvPr/>
        </p:nvSpPr>
        <p:spPr>
          <a:xfrm>
            <a:off x="9104605" y="3931920"/>
            <a:ext cx="216637" cy="164592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70" name="Shape 67"/>
          <p:cNvSpPr/>
          <p:nvPr/>
        </p:nvSpPr>
        <p:spPr>
          <a:xfrm>
            <a:off x="9339529" y="3931920"/>
            <a:ext cx="216637" cy="164592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71" name="Shape 68"/>
          <p:cNvSpPr/>
          <p:nvPr/>
        </p:nvSpPr>
        <p:spPr>
          <a:xfrm>
            <a:off x="9574454" y="3931920"/>
            <a:ext cx="216637" cy="1645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72" name="Shape 69"/>
          <p:cNvSpPr/>
          <p:nvPr/>
        </p:nvSpPr>
        <p:spPr>
          <a:xfrm>
            <a:off x="9809378" y="3931920"/>
            <a:ext cx="216637" cy="1645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73" name="Shape 70"/>
          <p:cNvSpPr/>
          <p:nvPr/>
        </p:nvSpPr>
        <p:spPr>
          <a:xfrm>
            <a:off x="10044303" y="3931920"/>
            <a:ext cx="216637" cy="1645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74" name="Shape 71"/>
          <p:cNvSpPr/>
          <p:nvPr/>
        </p:nvSpPr>
        <p:spPr>
          <a:xfrm>
            <a:off x="10279228" y="3931920"/>
            <a:ext cx="216637" cy="1645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75" name="Shape 72"/>
          <p:cNvSpPr/>
          <p:nvPr/>
        </p:nvSpPr>
        <p:spPr>
          <a:xfrm>
            <a:off x="10514152" y="3931920"/>
            <a:ext cx="216637" cy="1645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76" name="Shape 73"/>
          <p:cNvSpPr/>
          <p:nvPr/>
        </p:nvSpPr>
        <p:spPr>
          <a:xfrm>
            <a:off x="10749077" y="3931920"/>
            <a:ext cx="216637" cy="1645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77" name="Shape 74"/>
          <p:cNvSpPr/>
          <p:nvPr/>
        </p:nvSpPr>
        <p:spPr>
          <a:xfrm>
            <a:off x="10984001" y="3931920"/>
            <a:ext cx="216637" cy="1645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78" name="Shape 75"/>
          <p:cNvSpPr/>
          <p:nvPr/>
        </p:nvSpPr>
        <p:spPr>
          <a:xfrm>
            <a:off x="11218926" y="3931920"/>
            <a:ext cx="216637" cy="164592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79" name="Shape 76"/>
          <p:cNvSpPr/>
          <p:nvPr/>
        </p:nvSpPr>
        <p:spPr>
          <a:xfrm>
            <a:off x="11453851" y="3931920"/>
            <a:ext cx="216637" cy="164592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80" name="Shape 77"/>
          <p:cNvSpPr/>
          <p:nvPr/>
        </p:nvSpPr>
        <p:spPr>
          <a:xfrm>
            <a:off x="411480" y="4251960"/>
            <a:ext cx="749808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81" name="Text 78"/>
          <p:cNvSpPr txBox="1"/>
          <p:nvPr/>
        </p:nvSpPr>
        <p:spPr>
          <a:xfrm>
            <a:off x="502920" y="4297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GENERIC APPS SHOW (VENDOR LISTINGS, OCT 2026)</a:t>
            </a:r>
            <a:endParaRPr lang="en-US" sz="1250" dirty="0"/>
          </a:p>
        </p:txBody>
      </p:sp>
      <p:sp>
        <p:nvSpPr>
          <p:cNvPr id="82" name="Shape 79"/>
          <p:cNvSpPr/>
          <p:nvPr/>
        </p:nvSpPr>
        <p:spPr>
          <a:xfrm>
            <a:off x="502920" y="4590288"/>
            <a:ext cx="2011680" cy="256032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83" name="Text 80"/>
          <p:cNvSpPr txBox="1"/>
          <p:nvPr/>
        </p:nvSpPr>
        <p:spPr>
          <a:xfrm>
            <a:off x="548640" y="459028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950" dirty="0"/>
          </a:p>
        </p:txBody>
      </p:sp>
      <p:sp>
        <p:nvSpPr>
          <p:cNvPr id="84" name="Shape 81"/>
          <p:cNvSpPr/>
          <p:nvPr/>
        </p:nvSpPr>
        <p:spPr>
          <a:xfrm>
            <a:off x="2514600" y="4590288"/>
            <a:ext cx="914400" cy="256032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2560320" y="45902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</a:t>
            </a:r>
            <a:endParaRPr lang="en-US" sz="950" dirty="0"/>
          </a:p>
        </p:txBody>
      </p:sp>
      <p:sp>
        <p:nvSpPr>
          <p:cNvPr id="86" name="Shape 83"/>
          <p:cNvSpPr/>
          <p:nvPr/>
        </p:nvSpPr>
        <p:spPr>
          <a:xfrm>
            <a:off x="3429000" y="4590288"/>
            <a:ext cx="1005840" cy="256032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87" name="Text 84"/>
          <p:cNvSpPr txBox="1"/>
          <p:nvPr/>
        </p:nvSpPr>
        <p:spPr>
          <a:xfrm>
            <a:off x="3474720" y="4590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analytics</a:t>
            </a:r>
            <a:endParaRPr lang="en-US" sz="950" dirty="0"/>
          </a:p>
        </p:txBody>
      </p:sp>
      <p:sp>
        <p:nvSpPr>
          <p:cNvPr id="88" name="Shape 85"/>
          <p:cNvSpPr/>
          <p:nvPr/>
        </p:nvSpPr>
        <p:spPr>
          <a:xfrm>
            <a:off x="4434840" y="4590288"/>
            <a:ext cx="1005840" cy="256032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89" name="Text 86"/>
          <p:cNvSpPr txBox="1"/>
          <p:nvPr/>
        </p:nvSpPr>
        <p:spPr>
          <a:xfrm>
            <a:off x="4480560" y="4590288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reports</a:t>
            </a:r>
            <a:endParaRPr lang="en-US" sz="950" dirty="0"/>
          </a:p>
        </p:txBody>
      </p:sp>
      <p:sp>
        <p:nvSpPr>
          <p:cNvPr id="90" name="Shape 87"/>
          <p:cNvSpPr/>
          <p:nvPr/>
        </p:nvSpPr>
        <p:spPr>
          <a:xfrm>
            <a:off x="5440680" y="4590288"/>
            <a:ext cx="822960" cy="256032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91" name="Text 88"/>
          <p:cNvSpPr txBox="1"/>
          <p:nvPr/>
        </p:nvSpPr>
        <p:spPr>
          <a:xfrm>
            <a:off x="5486400" y="459028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</a:t>
            </a:r>
            <a:endParaRPr lang="en-US" sz="950" dirty="0"/>
          </a:p>
        </p:txBody>
      </p:sp>
      <p:sp>
        <p:nvSpPr>
          <p:cNvPr id="92" name="Shape 89"/>
          <p:cNvSpPr/>
          <p:nvPr/>
        </p:nvSpPr>
        <p:spPr>
          <a:xfrm>
            <a:off x="6263640" y="4590288"/>
            <a:ext cx="914400" cy="256032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6309360" y="4590288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ledger</a:t>
            </a:r>
            <a:endParaRPr lang="en-US" sz="950" dirty="0"/>
          </a:p>
        </p:txBody>
      </p:sp>
      <p:sp>
        <p:nvSpPr>
          <p:cNvPr id="94" name="Shape 91"/>
          <p:cNvSpPr/>
          <p:nvPr/>
        </p:nvSpPr>
        <p:spPr>
          <a:xfrm>
            <a:off x="7178040" y="4590288"/>
            <a:ext cx="731520" cy="256032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95" name="Text 92"/>
          <p:cNvSpPr txBox="1"/>
          <p:nvPr/>
        </p:nvSpPr>
        <p:spPr>
          <a:xfrm>
            <a:off x="7223760" y="45902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950" dirty="0"/>
          </a:p>
        </p:txBody>
      </p:sp>
      <p:sp>
        <p:nvSpPr>
          <p:cNvPr id="96" name="Shape 93"/>
          <p:cNvSpPr/>
          <p:nvPr/>
        </p:nvSpPr>
        <p:spPr>
          <a:xfrm>
            <a:off x="502920" y="4846320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7" name="Text 94"/>
          <p:cNvSpPr txBox="1"/>
          <p:nvPr/>
        </p:nvSpPr>
        <p:spPr>
          <a:xfrm>
            <a:off x="548640" y="4846320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Classplus</a:t>
            </a:r>
            <a:endParaRPr lang="en-US" sz="950" dirty="0"/>
          </a:p>
        </p:txBody>
      </p:sp>
      <p:sp>
        <p:nvSpPr>
          <p:cNvPr id="98" name="Shape 95"/>
          <p:cNvSpPr/>
          <p:nvPr/>
        </p:nvSpPr>
        <p:spPr>
          <a:xfrm>
            <a:off x="2514600" y="4846320"/>
            <a:ext cx="91440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99" name="Text 96"/>
          <p:cNvSpPr txBox="1"/>
          <p:nvPr/>
        </p:nvSpPr>
        <p:spPr>
          <a:xfrm>
            <a:off x="2560320" y="4846320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00" name="Shape 97"/>
          <p:cNvSpPr/>
          <p:nvPr/>
        </p:nvSpPr>
        <p:spPr>
          <a:xfrm>
            <a:off x="3429000" y="4846320"/>
            <a:ext cx="100584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3474720" y="484632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02" name="Shape 99"/>
          <p:cNvSpPr/>
          <p:nvPr/>
        </p:nvSpPr>
        <p:spPr>
          <a:xfrm>
            <a:off x="4434840" y="4846320"/>
            <a:ext cx="100584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03" name="Text 100"/>
          <p:cNvSpPr txBox="1"/>
          <p:nvPr/>
        </p:nvSpPr>
        <p:spPr>
          <a:xfrm>
            <a:off x="4480560" y="4846320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04" name="Shape 101"/>
          <p:cNvSpPr/>
          <p:nvPr/>
        </p:nvSpPr>
        <p:spPr>
          <a:xfrm>
            <a:off x="5440680" y="4846320"/>
            <a:ext cx="82296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05" name="Text 102"/>
          <p:cNvSpPr txBox="1"/>
          <p:nvPr/>
        </p:nvSpPr>
        <p:spPr>
          <a:xfrm>
            <a:off x="5486400" y="4846320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06" name="Shape 103"/>
          <p:cNvSpPr/>
          <p:nvPr/>
        </p:nvSpPr>
        <p:spPr>
          <a:xfrm>
            <a:off x="6263640" y="4846320"/>
            <a:ext cx="91440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07" name="Text 104"/>
          <p:cNvSpPr txBox="1"/>
          <p:nvPr/>
        </p:nvSpPr>
        <p:spPr>
          <a:xfrm>
            <a:off x="6309360" y="4846320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08" name="Shape 105"/>
          <p:cNvSpPr/>
          <p:nvPr/>
        </p:nvSpPr>
        <p:spPr>
          <a:xfrm>
            <a:off x="7178040" y="4846320"/>
            <a:ext cx="73152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09" name="Text 106"/>
          <p:cNvSpPr txBox="1"/>
          <p:nvPr/>
        </p:nvSpPr>
        <p:spPr>
          <a:xfrm>
            <a:off x="7223760" y="4846320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10" name="Shape 107"/>
          <p:cNvSpPr/>
          <p:nvPr/>
        </p:nvSpPr>
        <p:spPr>
          <a:xfrm>
            <a:off x="502920" y="5093208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1" name="Text 108"/>
          <p:cNvSpPr txBox="1"/>
          <p:nvPr/>
        </p:nvSpPr>
        <p:spPr>
          <a:xfrm>
            <a:off x="548640" y="5093208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Fedena</a:t>
            </a:r>
            <a:endParaRPr lang="en-US" sz="950" dirty="0"/>
          </a:p>
        </p:txBody>
      </p:sp>
      <p:sp>
        <p:nvSpPr>
          <p:cNvPr id="112" name="Shape 109"/>
          <p:cNvSpPr/>
          <p:nvPr/>
        </p:nvSpPr>
        <p:spPr>
          <a:xfrm>
            <a:off x="2514600" y="5093208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13" name="Text 110"/>
          <p:cNvSpPr txBox="1"/>
          <p:nvPr/>
        </p:nvSpPr>
        <p:spPr>
          <a:xfrm>
            <a:off x="2560320" y="5093208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14" name="Shape 111"/>
          <p:cNvSpPr/>
          <p:nvPr/>
        </p:nvSpPr>
        <p:spPr>
          <a:xfrm>
            <a:off x="3429000" y="5093208"/>
            <a:ext cx="100584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15" name="Text 112"/>
          <p:cNvSpPr txBox="1"/>
          <p:nvPr/>
        </p:nvSpPr>
        <p:spPr>
          <a:xfrm>
            <a:off x="3474720" y="509320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16" name="Shape 113"/>
          <p:cNvSpPr/>
          <p:nvPr/>
        </p:nvSpPr>
        <p:spPr>
          <a:xfrm>
            <a:off x="4434840" y="5093208"/>
            <a:ext cx="1005840" cy="246888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117" name="Text 114"/>
          <p:cNvSpPr txBox="1"/>
          <p:nvPr/>
        </p:nvSpPr>
        <p:spPr>
          <a:xfrm>
            <a:off x="4480560" y="5093208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18" name="Shape 115"/>
          <p:cNvSpPr/>
          <p:nvPr/>
        </p:nvSpPr>
        <p:spPr>
          <a:xfrm>
            <a:off x="5440680" y="5093208"/>
            <a:ext cx="82296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19" name="Text 116"/>
          <p:cNvSpPr txBox="1"/>
          <p:nvPr/>
        </p:nvSpPr>
        <p:spPr>
          <a:xfrm>
            <a:off x="5486400" y="5093208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20" name="Shape 117"/>
          <p:cNvSpPr/>
          <p:nvPr/>
        </p:nvSpPr>
        <p:spPr>
          <a:xfrm>
            <a:off x="6263640" y="5093208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21" name="Text 118"/>
          <p:cNvSpPr txBox="1"/>
          <p:nvPr/>
        </p:nvSpPr>
        <p:spPr>
          <a:xfrm>
            <a:off x="6309360" y="5093208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22" name="Shape 119"/>
          <p:cNvSpPr/>
          <p:nvPr/>
        </p:nvSpPr>
        <p:spPr>
          <a:xfrm>
            <a:off x="7178040" y="5093208"/>
            <a:ext cx="73152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23" name="Text 120"/>
          <p:cNvSpPr txBox="1"/>
          <p:nvPr/>
        </p:nvSpPr>
        <p:spPr>
          <a:xfrm>
            <a:off x="7223760" y="5093208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24" name="Shape 121"/>
          <p:cNvSpPr/>
          <p:nvPr/>
        </p:nvSpPr>
        <p:spPr>
          <a:xfrm>
            <a:off x="502920" y="5340096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5" name="Text 122"/>
          <p:cNvSpPr txBox="1"/>
          <p:nvPr/>
        </p:nvSpPr>
        <p:spPr>
          <a:xfrm>
            <a:off x="548640" y="5340096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Edmingle</a:t>
            </a:r>
            <a:endParaRPr lang="en-US" sz="950" dirty="0"/>
          </a:p>
        </p:txBody>
      </p:sp>
      <p:sp>
        <p:nvSpPr>
          <p:cNvPr id="126" name="Shape 123"/>
          <p:cNvSpPr/>
          <p:nvPr/>
        </p:nvSpPr>
        <p:spPr>
          <a:xfrm>
            <a:off x="2514600" y="5340096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27" name="Text 124"/>
          <p:cNvSpPr txBox="1"/>
          <p:nvPr/>
        </p:nvSpPr>
        <p:spPr>
          <a:xfrm>
            <a:off x="2560320" y="5340096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28" name="Shape 125"/>
          <p:cNvSpPr/>
          <p:nvPr/>
        </p:nvSpPr>
        <p:spPr>
          <a:xfrm>
            <a:off x="3429000" y="5340096"/>
            <a:ext cx="100584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29" name="Text 126"/>
          <p:cNvSpPr txBox="1"/>
          <p:nvPr/>
        </p:nvSpPr>
        <p:spPr>
          <a:xfrm>
            <a:off x="3474720" y="534009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30" name="Shape 127"/>
          <p:cNvSpPr/>
          <p:nvPr/>
        </p:nvSpPr>
        <p:spPr>
          <a:xfrm>
            <a:off x="4434840" y="5340096"/>
            <a:ext cx="100584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31" name="Text 128"/>
          <p:cNvSpPr txBox="1"/>
          <p:nvPr/>
        </p:nvSpPr>
        <p:spPr>
          <a:xfrm>
            <a:off x="4480560" y="534009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32" name="Shape 129"/>
          <p:cNvSpPr/>
          <p:nvPr/>
        </p:nvSpPr>
        <p:spPr>
          <a:xfrm>
            <a:off x="5440680" y="5340096"/>
            <a:ext cx="82296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33" name="Text 130"/>
          <p:cNvSpPr txBox="1"/>
          <p:nvPr/>
        </p:nvSpPr>
        <p:spPr>
          <a:xfrm>
            <a:off x="5486400" y="5340096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34" name="Shape 131"/>
          <p:cNvSpPr/>
          <p:nvPr/>
        </p:nvSpPr>
        <p:spPr>
          <a:xfrm>
            <a:off x="6263640" y="5340096"/>
            <a:ext cx="914400" cy="246888"/>
          </a:xfrm>
          <a:prstGeom prst="rect">
            <a:avLst/>
          </a:prstGeom>
          <a:solidFill>
            <a:srgbClr val="F4F7FB"/>
          </a:solidFill>
          <a:ln/>
        </p:spPr>
      </p:sp>
      <p:sp>
        <p:nvSpPr>
          <p:cNvPr id="135" name="Text 132"/>
          <p:cNvSpPr txBox="1"/>
          <p:nvPr/>
        </p:nvSpPr>
        <p:spPr>
          <a:xfrm>
            <a:off x="6309360" y="5340096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50" dirty="0"/>
          </a:p>
        </p:txBody>
      </p:sp>
      <p:sp>
        <p:nvSpPr>
          <p:cNvPr id="136" name="Shape 133"/>
          <p:cNvSpPr/>
          <p:nvPr/>
        </p:nvSpPr>
        <p:spPr>
          <a:xfrm>
            <a:off x="7178040" y="5340096"/>
            <a:ext cx="731520" cy="246888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137" name="Text 134"/>
          <p:cNvSpPr txBox="1"/>
          <p:nvPr/>
        </p:nvSpPr>
        <p:spPr>
          <a:xfrm>
            <a:off x="7223760" y="5340096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38" name="Shape 135"/>
          <p:cNvSpPr/>
          <p:nvPr/>
        </p:nvSpPr>
        <p:spPr>
          <a:xfrm>
            <a:off x="502920" y="5586984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9" name="Text 136"/>
          <p:cNvSpPr txBox="1"/>
          <p:nvPr/>
        </p:nvSpPr>
        <p:spPr>
          <a:xfrm>
            <a:off x="548640" y="5586984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Teachmint</a:t>
            </a:r>
            <a:endParaRPr lang="en-US" sz="950" dirty="0"/>
          </a:p>
        </p:txBody>
      </p:sp>
      <p:sp>
        <p:nvSpPr>
          <p:cNvPr id="140" name="Shape 137"/>
          <p:cNvSpPr/>
          <p:nvPr/>
        </p:nvSpPr>
        <p:spPr>
          <a:xfrm>
            <a:off x="2514600" y="5586984"/>
            <a:ext cx="91440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41" name="Text 138"/>
          <p:cNvSpPr txBox="1"/>
          <p:nvPr/>
        </p:nvSpPr>
        <p:spPr>
          <a:xfrm>
            <a:off x="2560320" y="5586984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42" name="Shape 139"/>
          <p:cNvSpPr/>
          <p:nvPr/>
        </p:nvSpPr>
        <p:spPr>
          <a:xfrm>
            <a:off x="3429000" y="5586984"/>
            <a:ext cx="100584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43" name="Text 140"/>
          <p:cNvSpPr txBox="1"/>
          <p:nvPr/>
        </p:nvSpPr>
        <p:spPr>
          <a:xfrm>
            <a:off x="3474720" y="558698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44" name="Shape 141"/>
          <p:cNvSpPr/>
          <p:nvPr/>
        </p:nvSpPr>
        <p:spPr>
          <a:xfrm>
            <a:off x="4434840" y="5586984"/>
            <a:ext cx="1005840" cy="246888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145" name="Text 142"/>
          <p:cNvSpPr txBox="1"/>
          <p:nvPr/>
        </p:nvSpPr>
        <p:spPr>
          <a:xfrm>
            <a:off x="4480560" y="5586984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46" name="Shape 143"/>
          <p:cNvSpPr/>
          <p:nvPr/>
        </p:nvSpPr>
        <p:spPr>
          <a:xfrm>
            <a:off x="5440680" y="5586984"/>
            <a:ext cx="822960" cy="246888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147" name="Text 144"/>
          <p:cNvSpPr txBox="1"/>
          <p:nvPr/>
        </p:nvSpPr>
        <p:spPr>
          <a:xfrm>
            <a:off x="5486400" y="5586984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48" name="Shape 145"/>
          <p:cNvSpPr/>
          <p:nvPr/>
        </p:nvSpPr>
        <p:spPr>
          <a:xfrm>
            <a:off x="6263640" y="5586984"/>
            <a:ext cx="91440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49" name="Text 146"/>
          <p:cNvSpPr txBox="1"/>
          <p:nvPr/>
        </p:nvSpPr>
        <p:spPr>
          <a:xfrm>
            <a:off x="6309360" y="5586984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50" name="Shape 147"/>
          <p:cNvSpPr/>
          <p:nvPr/>
        </p:nvSpPr>
        <p:spPr>
          <a:xfrm>
            <a:off x="7178040" y="5586984"/>
            <a:ext cx="73152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51" name="Text 148"/>
          <p:cNvSpPr txBox="1"/>
          <p:nvPr/>
        </p:nvSpPr>
        <p:spPr>
          <a:xfrm>
            <a:off x="7223760" y="5586984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950" dirty="0"/>
          </a:p>
        </p:txBody>
      </p:sp>
      <p:sp>
        <p:nvSpPr>
          <p:cNvPr id="152" name="Shape 149"/>
          <p:cNvSpPr/>
          <p:nvPr/>
        </p:nvSpPr>
        <p:spPr>
          <a:xfrm>
            <a:off x="502920" y="5833872"/>
            <a:ext cx="2011680" cy="2468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3" name="Text 150"/>
          <p:cNvSpPr txBox="1"/>
          <p:nvPr/>
        </p:nvSpPr>
        <p:spPr>
          <a:xfrm>
            <a:off x="548640" y="5833872"/>
            <a:ext cx="19202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0A6F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AlphaQ</a:t>
            </a:r>
            <a:endParaRPr lang="en-US" sz="950" dirty="0"/>
          </a:p>
        </p:txBody>
      </p:sp>
      <p:sp>
        <p:nvSpPr>
          <p:cNvPr id="154" name="Shape 151"/>
          <p:cNvSpPr/>
          <p:nvPr/>
        </p:nvSpPr>
        <p:spPr>
          <a:xfrm>
            <a:off x="2514600" y="5833872"/>
            <a:ext cx="91440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55" name="Text 152"/>
          <p:cNvSpPr txBox="1"/>
          <p:nvPr/>
        </p:nvSpPr>
        <p:spPr>
          <a:xfrm>
            <a:off x="2560320" y="5833872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</a:t>
            </a:r>
            <a:endParaRPr lang="en-US" sz="950" dirty="0"/>
          </a:p>
        </p:txBody>
      </p:sp>
      <p:sp>
        <p:nvSpPr>
          <p:cNvPr id="156" name="Shape 153"/>
          <p:cNvSpPr/>
          <p:nvPr/>
        </p:nvSpPr>
        <p:spPr>
          <a:xfrm>
            <a:off x="3429000" y="5833872"/>
            <a:ext cx="1005840" cy="246888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157" name="Text 154"/>
          <p:cNvSpPr txBox="1"/>
          <p:nvPr/>
        </p:nvSpPr>
        <p:spPr>
          <a:xfrm>
            <a:off x="3474720" y="583387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58" name="Shape 155"/>
          <p:cNvSpPr/>
          <p:nvPr/>
        </p:nvSpPr>
        <p:spPr>
          <a:xfrm>
            <a:off x="4434840" y="5833872"/>
            <a:ext cx="1005840" cy="246888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159" name="Text 156"/>
          <p:cNvSpPr txBox="1"/>
          <p:nvPr/>
        </p:nvSpPr>
        <p:spPr>
          <a:xfrm>
            <a:off x="4480560" y="583387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60" name="Shape 157"/>
          <p:cNvSpPr/>
          <p:nvPr/>
        </p:nvSpPr>
        <p:spPr>
          <a:xfrm>
            <a:off x="5440680" y="5833872"/>
            <a:ext cx="822960" cy="246888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161" name="Text 158"/>
          <p:cNvSpPr txBox="1"/>
          <p:nvPr/>
        </p:nvSpPr>
        <p:spPr>
          <a:xfrm>
            <a:off x="5486400" y="5833872"/>
            <a:ext cx="7315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62" name="Shape 159"/>
          <p:cNvSpPr/>
          <p:nvPr/>
        </p:nvSpPr>
        <p:spPr>
          <a:xfrm>
            <a:off x="6263640" y="5833872"/>
            <a:ext cx="914400" cy="246888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163" name="Text 160"/>
          <p:cNvSpPr txBox="1"/>
          <p:nvPr/>
        </p:nvSpPr>
        <p:spPr>
          <a:xfrm>
            <a:off x="6309360" y="5833872"/>
            <a:ext cx="8229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7F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50" dirty="0"/>
          </a:p>
        </p:txBody>
      </p:sp>
      <p:sp>
        <p:nvSpPr>
          <p:cNvPr id="164" name="Shape 161"/>
          <p:cNvSpPr/>
          <p:nvPr/>
        </p:nvSpPr>
        <p:spPr>
          <a:xfrm>
            <a:off x="7178040" y="5833872"/>
            <a:ext cx="731520" cy="246888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165" name="Text 162"/>
          <p:cNvSpPr txBox="1"/>
          <p:nvPr/>
        </p:nvSpPr>
        <p:spPr>
          <a:xfrm>
            <a:off x="7223760" y="5833872"/>
            <a:ext cx="640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</a:t>
            </a:r>
            <a:endParaRPr lang="en-US" sz="950" dirty="0"/>
          </a:p>
        </p:txBody>
      </p:sp>
      <p:sp>
        <p:nvSpPr>
          <p:cNvPr id="166" name="Text 163"/>
          <p:cNvSpPr txBox="1"/>
          <p:nvPr/>
        </p:nvSpPr>
        <p:spPr>
          <a:xfrm>
            <a:off x="502920" y="610819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yes: shown in the listing   no: not shown   ?: not verified from the listing</a:t>
            </a:r>
            <a:endParaRPr lang="en-US" sz="850" dirty="0"/>
          </a:p>
        </p:txBody>
      </p:sp>
      <p:sp>
        <p:nvSpPr>
          <p:cNvPr id="167" name="Shape 164"/>
          <p:cNvSpPr/>
          <p:nvPr/>
        </p:nvSpPr>
        <p:spPr>
          <a:xfrm>
            <a:off x="8046720" y="4251960"/>
            <a:ext cx="3733495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168" name="Text 165"/>
          <p:cNvSpPr txBox="1"/>
          <p:nvPr/>
        </p:nvSpPr>
        <p:spPr>
          <a:xfrm>
            <a:off x="8138160" y="4297680"/>
            <a:ext cx="3550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AS A FEATURE</a:t>
            </a:r>
            <a:endParaRPr lang="en-US" sz="1250" dirty="0"/>
          </a:p>
        </p:txBody>
      </p:sp>
      <p:sp>
        <p:nvSpPr>
          <p:cNvPr id="169" name="Shape 166"/>
          <p:cNvSpPr/>
          <p:nvPr/>
        </p:nvSpPr>
        <p:spPr>
          <a:xfrm>
            <a:off x="8156448" y="4617720"/>
            <a:ext cx="310896" cy="310896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70" name="Image 1" descr="FaCalendarDays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4845" y="4686117"/>
            <a:ext cx="174102" cy="174102"/>
          </a:xfrm>
          <a:prstGeom prst="rect">
            <a:avLst/>
          </a:prstGeom>
        </p:spPr>
      </p:pic>
      <p:sp>
        <p:nvSpPr>
          <p:cNvPr id="171" name="Text 167"/>
          <p:cNvSpPr txBox="1"/>
          <p:nvPr/>
        </p:nvSpPr>
        <p:spPr>
          <a:xfrm>
            <a:off x="8549640" y="4617720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test the day after the weekly off</a:t>
            </a:r>
            <a:endParaRPr lang="en-US" sz="1000" dirty="0"/>
          </a:p>
        </p:txBody>
      </p:sp>
      <p:sp>
        <p:nvSpPr>
          <p:cNvPr id="172" name="Shape 168"/>
          <p:cNvSpPr/>
          <p:nvPr/>
        </p:nvSpPr>
        <p:spPr>
          <a:xfrm>
            <a:off x="8156448" y="5038344"/>
            <a:ext cx="310896" cy="310896"/>
          </a:xfrm>
          <a:prstGeom prst="ellipse">
            <a:avLst/>
          </a:prstGeom>
          <a:solidFill>
            <a:srgbClr val="0A6F71"/>
          </a:solidFill>
          <a:ln/>
        </p:spPr>
      </p:sp>
      <p:pic>
        <p:nvPicPr>
          <p:cNvPr id="173" name="Image 2" descr="FaMoneyBillWave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4845" y="5106741"/>
            <a:ext cx="174102" cy="174102"/>
          </a:xfrm>
          <a:prstGeom prst="rect">
            <a:avLst/>
          </a:prstGeom>
        </p:spPr>
      </p:pic>
      <p:sp>
        <p:nvSpPr>
          <p:cNvPr id="174" name="Text 169"/>
          <p:cNvSpPr txBox="1"/>
          <p:nvPr/>
        </p:nvSpPr>
        <p:spPr>
          <a:xfrm>
            <a:off x="8549640" y="5038344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Pro-rata refund calculator, 10-day rule</a:t>
            </a:r>
            <a:endParaRPr lang="en-US" sz="1000" dirty="0"/>
          </a:p>
        </p:txBody>
      </p:sp>
      <p:sp>
        <p:nvSpPr>
          <p:cNvPr id="175" name="Shape 170"/>
          <p:cNvSpPr/>
          <p:nvPr/>
        </p:nvSpPr>
        <p:spPr>
          <a:xfrm>
            <a:off x="8156448" y="5458968"/>
            <a:ext cx="310896" cy="310896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76" name="Image 3" descr="FaUserShield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4845" y="5527365"/>
            <a:ext cx="174102" cy="174102"/>
          </a:xfrm>
          <a:prstGeom prst="rect">
            <a:avLst/>
          </a:prstGeom>
        </p:spPr>
      </p:pic>
      <p:sp>
        <p:nvSpPr>
          <p:cNvPr id="177" name="Text 171"/>
          <p:cNvSpPr txBox="1"/>
          <p:nvPr/>
        </p:nvSpPr>
        <p:spPr>
          <a:xfrm>
            <a:off x="8549640" y="5458968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check at enrolment, consent ledger</a:t>
            </a:r>
            <a:endParaRPr lang="en-US" sz="1000" dirty="0"/>
          </a:p>
        </p:txBody>
      </p:sp>
      <p:sp>
        <p:nvSpPr>
          <p:cNvPr id="178" name="Shape 172"/>
          <p:cNvSpPr/>
          <p:nvPr/>
        </p:nvSpPr>
        <p:spPr>
          <a:xfrm>
            <a:off x="8156448" y="5879592"/>
            <a:ext cx="310896" cy="310896"/>
          </a:xfrm>
          <a:prstGeom prst="ellipse">
            <a:avLst/>
          </a:prstGeom>
          <a:solidFill>
            <a:srgbClr val="0A6F71"/>
          </a:solidFill>
          <a:ln/>
        </p:spPr>
      </p:sp>
      <p:pic>
        <p:nvPicPr>
          <p:cNvPr id="179" name="Image 4" descr="FaFileLines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4845" y="5947989"/>
            <a:ext cx="174102" cy="174102"/>
          </a:xfrm>
          <a:prstGeom prst="rect">
            <a:avLst/>
          </a:prstGeom>
        </p:spPr>
      </p:pic>
      <p:sp>
        <p:nvSpPr>
          <p:cNvPr id="180" name="Text 173"/>
          <p:cNvSpPr txBox="1"/>
          <p:nvPr/>
        </p:nvSpPr>
        <p:spPr>
          <a:xfrm>
            <a:off x="8549640" y="5879592"/>
            <a:ext cx="31391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and fee registers, exportable</a:t>
            </a:r>
            <a:endParaRPr lang="en-US" sz="1000" dirty="0"/>
          </a:p>
        </p:txBody>
      </p:sp>
      <p:sp>
        <p:nvSpPr>
          <p:cNvPr id="181" name="Text 174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financial workbook (segments, pilot assumptions), financial/research (vendor listings; many features could not be verified), MoE Guidelines 2024, Rajasthan Act 2025.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proved, what we did not, and how a pilot would settle it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FEASIBILITY, PRIVACY AND SAFETY 20 % · HONEST LIMITS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370332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21208" y="1207008"/>
            <a:ext cx="3483864" cy="256032"/>
          </a:xfrm>
          <a:prstGeom prst="roundRect">
            <a:avLst>
              <a:gd name="adj" fmla="val 50000"/>
            </a:avLst>
          </a:prstGeom>
          <a:solidFill>
            <a:srgbClr val="1B7F4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21208" y="1207008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PROVED ON PUBLIC DATA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21208" y="1572768"/>
            <a:ext cx="3483864" cy="420624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94360" y="15727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Next-answer AUC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2194560" y="15727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0.763 (DKT 0.754)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1208" y="20299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94360" y="20299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Withdrawal AUC day 28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2194560" y="20299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0.706 (published 0.794, lower)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1208" y="2487168"/>
            <a:ext cx="3483864" cy="420624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24871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error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194560" y="24871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1208" y="29443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9443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Academic-only cost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2194560" y="29443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0.008 AUC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1208" y="3401568"/>
            <a:ext cx="3483864" cy="420624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94360" y="3401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 at top 10 %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2194560" y="34015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0.46 vs 0.24 to 0.31 for rules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2816" y="1115568"/>
            <a:ext cx="370332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352544" y="1207008"/>
            <a:ext cx="3483864" cy="256032"/>
          </a:xfrm>
          <a:prstGeom prst="roundRect">
            <a:avLst>
              <a:gd name="adj" fmla="val 50000"/>
            </a:avLst>
          </a:prstGeom>
          <a:solidFill>
            <a:srgbClr val="F2A90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52544" y="1207008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SHOWN ON SYNTHETIC DATA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352544" y="1572768"/>
            <a:ext cx="3483864" cy="420624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425696" y="15727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end to end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6025896" y="15727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100 tests pass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52544" y="20299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425696" y="20299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isolation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025896" y="20299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rows seen across institutes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352544" y="2487168"/>
            <a:ext cx="3483864" cy="420624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425696" y="24871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checker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025896" y="24871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checks, template fallback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352544" y="29443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425696" y="29443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recovery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6025896" y="29443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352544" y="3401568"/>
            <a:ext cx="3483864" cy="420624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425696" y="3401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Early-warning lift, range coverage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6025896" y="34015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074152" y="1115568"/>
            <a:ext cx="370332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8183880" y="1207008"/>
            <a:ext cx="348386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83880" y="1207008"/>
            <a:ext cx="3483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B326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PROVEN YET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183880" y="1572768"/>
            <a:ext cx="3483864" cy="420624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257032" y="15727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on real institutes</a:t>
            </a:r>
            <a:endParaRPr lang="en-US" sz="1050" dirty="0"/>
          </a:p>
        </p:txBody>
      </p:sp>
      <p:sp>
        <p:nvSpPr>
          <p:cNvPr id="45" name="Text 43"/>
          <p:cNvSpPr txBox="1"/>
          <p:nvPr/>
        </p:nvSpPr>
        <p:spPr>
          <a:xfrm>
            <a:off x="9857232" y="15727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pilot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183880" y="20299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8257032" y="20299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Willingness to pay</a:t>
            </a:r>
            <a:endParaRPr lang="en-US" sz="1050" dirty="0"/>
          </a:p>
        </p:txBody>
      </p:sp>
      <p:sp>
        <p:nvSpPr>
          <p:cNvPr id="48" name="Text 46"/>
          <p:cNvSpPr txBox="1"/>
          <p:nvPr/>
        </p:nvSpPr>
        <p:spPr>
          <a:xfrm>
            <a:off x="9857232" y="20299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interviews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183880" y="2487168"/>
            <a:ext cx="3483864" cy="420624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257032" y="24871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dropout reduction</a:t>
            </a:r>
            <a:endParaRPr lang="en-US" sz="1050" dirty="0"/>
          </a:p>
        </p:txBody>
      </p:sp>
      <p:sp>
        <p:nvSpPr>
          <p:cNvPr id="51" name="Text 49"/>
          <p:cNvSpPr txBox="1"/>
          <p:nvPr/>
        </p:nvSpPr>
        <p:spPr>
          <a:xfrm>
            <a:off x="9857232" y="24871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borrowed from trials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183880" y="2944368"/>
            <a:ext cx="3483864" cy="4206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8257032" y="29443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Hindi quality at scale</a:t>
            </a:r>
            <a:endParaRPr lang="en-US" sz="1050" dirty="0"/>
          </a:p>
        </p:txBody>
      </p:sp>
      <p:sp>
        <p:nvSpPr>
          <p:cNvPr id="54" name="Text 52"/>
          <p:cNvSpPr txBox="1"/>
          <p:nvPr/>
        </p:nvSpPr>
        <p:spPr>
          <a:xfrm>
            <a:off x="9857232" y="29443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review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8183880" y="3401568"/>
            <a:ext cx="3483864" cy="420624"/>
          </a:xfrm>
          <a:prstGeom prst="rect">
            <a:avLst/>
          </a:prstGeom>
          <a:solidFill>
            <a:srgbClr val="EAF3F7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8257032" y="3401568"/>
            <a:ext cx="1600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OMR on other sheet layouts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9857232" y="3401568"/>
            <a:ext cx="1783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one-time onboarding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411480" y="4069080"/>
            <a:ext cx="11368735" cy="2286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9" name="Text 57"/>
          <p:cNvSpPr txBox="1"/>
          <p:nvPr/>
        </p:nvSpPr>
        <p:spPr>
          <a:xfrm>
            <a:off x="502920" y="411480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PLAN: HOW WE SETTLE THE OPEN QUESTIONS</a:t>
            </a:r>
            <a:endParaRPr lang="en-US" sz="1250" dirty="0"/>
          </a:p>
        </p:txBody>
      </p:sp>
      <p:sp>
        <p:nvSpPr>
          <p:cNvPr id="60" name="Shape 58"/>
          <p:cNvSpPr/>
          <p:nvPr/>
        </p:nvSpPr>
        <p:spPr>
          <a:xfrm>
            <a:off x="960120" y="4709160"/>
            <a:ext cx="10271455" cy="0"/>
          </a:xfrm>
          <a:prstGeom prst="line">
            <a:avLst/>
          </a:prstGeom>
          <a:noFill/>
          <a:ln w="25400">
            <a:solidFill>
              <a:srgbClr val="0A6F71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22960" y="4617720"/>
            <a:ext cx="182880" cy="182880"/>
          </a:xfrm>
          <a:prstGeom prst="ellipse">
            <a:avLst/>
          </a:prstGeom>
          <a:solidFill>
            <a:srgbClr val="0A6F71"/>
          </a:solidFill>
          <a:ln/>
        </p:spPr>
      </p:sp>
      <p:sp>
        <p:nvSpPr>
          <p:cNvPr id="62" name="Shape 60"/>
          <p:cNvSpPr/>
          <p:nvPr/>
        </p:nvSpPr>
        <p:spPr>
          <a:xfrm>
            <a:off x="731520" y="4370832"/>
            <a:ext cx="3520440" cy="219456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804672" y="4370832"/>
            <a:ext cx="3374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 ·  WEEKS 0 TO 4</a:t>
            </a:r>
            <a:endParaRPr lang="en-US" sz="950" dirty="0"/>
          </a:p>
        </p:txBody>
      </p:sp>
      <p:sp>
        <p:nvSpPr>
          <p:cNvPr id="64" name="Text 62"/>
          <p:cNvSpPr txBox="1"/>
          <p:nvPr/>
        </p:nvSpPr>
        <p:spPr>
          <a:xfrm>
            <a:off x="731520" y="48920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Retro-pilot at 2 institutes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731520" y="519379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last year's Excel; show who left and what we would have flagged. Measure recall and precision on their data.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4572000" y="4617720"/>
            <a:ext cx="182880" cy="182880"/>
          </a:xfrm>
          <a:prstGeom prst="ellipse">
            <a:avLst/>
          </a:prstGeom>
          <a:solidFill>
            <a:srgbClr val="0A6F71"/>
          </a:solidFill>
          <a:ln/>
        </p:spPr>
      </p:sp>
      <p:sp>
        <p:nvSpPr>
          <p:cNvPr id="67" name="Shape 65"/>
          <p:cNvSpPr/>
          <p:nvPr/>
        </p:nvSpPr>
        <p:spPr>
          <a:xfrm>
            <a:off x="4480560" y="4370832"/>
            <a:ext cx="3520440" cy="219456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4553712" y="4370832"/>
            <a:ext cx="3374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 ·  ONE TERM</a:t>
            </a:r>
            <a:endParaRPr lang="en-US" sz="950" dirty="0"/>
          </a:p>
        </p:txBody>
      </p:sp>
      <p:sp>
        <p:nvSpPr>
          <p:cNvPr id="69" name="Text 67"/>
          <p:cNvSpPr txBox="1"/>
          <p:nvPr/>
        </p:nvSpPr>
        <p:spPr>
          <a:xfrm>
            <a:off x="4480560" y="48920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Staggered paid pilot</a:t>
            </a:r>
            <a:endParaRPr lang="en-US" sz="1200" dirty="0"/>
          </a:p>
        </p:txBody>
      </p:sp>
      <p:sp>
        <p:nvSpPr>
          <p:cNvPr id="70" name="Text 68"/>
          <p:cNvSpPr txBox="1"/>
          <p:nvPr/>
        </p:nvSpPr>
        <p:spPr>
          <a:xfrm>
            <a:off x="4480560" y="519379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the batches start first; the rest are the comparison. Success measures are written down before we start.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8321040" y="4617720"/>
            <a:ext cx="182880" cy="182880"/>
          </a:xfrm>
          <a:prstGeom prst="ellipse">
            <a:avLst/>
          </a:prstGeom>
          <a:solidFill>
            <a:srgbClr val="0A6F71"/>
          </a:solidFill>
          <a:ln/>
        </p:spPr>
      </p:sp>
      <p:sp>
        <p:nvSpPr>
          <p:cNvPr id="72" name="Shape 70"/>
          <p:cNvSpPr/>
          <p:nvPr/>
        </p:nvSpPr>
        <p:spPr>
          <a:xfrm>
            <a:off x="8229600" y="4370832"/>
            <a:ext cx="3520440" cy="219456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8302752" y="4370832"/>
            <a:ext cx="33741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 ·  AFTER THE TERM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8229600" y="48920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Decide and scale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8229600" y="5193792"/>
            <a:ext cx="3520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percentile mapping with real exam outcomes; publish what worked and what did not.</a:t>
            </a:r>
            <a:endParaRPr lang="en-US" sz="1050" dirty="0"/>
          </a:p>
        </p:txBody>
      </p:sp>
      <p:sp>
        <p:nvSpPr>
          <p:cNvPr id="76" name="Shape 74"/>
          <p:cNvSpPr/>
          <p:nvPr/>
        </p:nvSpPr>
        <p:spPr>
          <a:xfrm>
            <a:off x="521208" y="6053328"/>
            <a:ext cx="11149279" cy="256032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594360" y="6053328"/>
            <a:ext cx="1100297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Changed from the guide: dropout reduction 25 % to 6.6 %,  LTV ÷ CAC 10.7x to 3.7x.  About a quarter of dropouts are sudden and cannot be predicted from academic data.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ml/public_validation, financial workbook, technical/docs/FEASIBILITY_CHECK.md. Pending items are replaced with measured values before submission.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1: 31 tables in five groups, all isolated per institute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37033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02920" y="1234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institutes, users, students, guardians, batches, batch_changes, consents, legal_settings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33672" y="1188720"/>
            <a:ext cx="37033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8" name="Text 6"/>
          <p:cNvSpPr txBox="1"/>
          <p:nvPr/>
        </p:nvSpPr>
        <p:spPr>
          <a:xfrm>
            <a:off x="4325112" y="1234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4370832" y="1645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topics, topic_prereqs, questions, question_topics, item_params, tests, test_questions, answer_keys, marking_schemes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55864" y="1188720"/>
            <a:ext cx="37033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8147304" y="1234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193024" y="1645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responses, test_totals, attendance, fees, engagement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11480" y="3474720"/>
            <a:ext cx="37033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02920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31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mastery_snapshots, risk_scores, predictions, interventions, reports, model_registry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233672" y="3474720"/>
            <a:ext cx="37033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17" name="Text 15"/>
          <p:cNvSpPr txBox="1"/>
          <p:nvPr/>
        </p:nvSpPr>
        <p:spPr>
          <a:xfrm>
            <a:off x="4325112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OPERATIONS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4370832" y="3931920"/>
            <a:ext cx="3429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ingest_jobs, omr_templates, audit_log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055864" y="3474720"/>
            <a:ext cx="37033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8147304" y="352044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DELIBERATELY NOT STORED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238744" y="3931920"/>
            <a:ext cx="3383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or mental-health information</a:t>
            </a:r>
            <a:endParaRPr lang="en-US" sz="12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 document images</a:t>
            </a:r>
            <a:endParaRPr lang="en-US" sz="12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photographs</a:t>
            </a:r>
            <a:endParaRPr lang="en-US" sz="1200" dirty="0"/>
          </a:p>
          <a:p>
            <a:pPr algn="l"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public rank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11480" y="5852160"/>
            <a:ext cx="11368735" cy="310896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4632" y="5852160"/>
            <a:ext cx="1122243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on every tenant table; another institute sees 0 rows (tested on PostgreSQL 16)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technical/contracts/schema.sql. Synthetic data: 4 institutes, 3 academic years, known ground truth.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2: about ₹3.6 per student per month in the model, ₹0 extra when run locally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PER STUDENT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4754880" cy="5212080"/>
          </a:xfrm>
          <a:prstGeom prst="roundRect">
            <a:avLst>
              <a:gd name="adj" fmla="val 1154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02920" y="11612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INPUTS (BEAR / BASE / BULL)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84632" y="1481328"/>
            <a:ext cx="2194560" cy="29260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30352" y="148132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679192" y="1481328"/>
            <a:ext cx="822960" cy="29260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724912" y="148132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502152" y="1481328"/>
            <a:ext cx="822960" cy="29260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47872" y="148132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25112" y="1481328"/>
            <a:ext cx="731520" cy="29260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70832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4632" y="1773936"/>
            <a:ext cx="219456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30352" y="17739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model, ₹ per 1M input tokens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2679192" y="1773936"/>
            <a:ext cx="82296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724912" y="17739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142.58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502152" y="1773936"/>
            <a:ext cx="82296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547872" y="17739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23.76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25112" y="1773936"/>
            <a:ext cx="73152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370832" y="177393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9.51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4632" y="218541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30352" y="218541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model, ₹ per 1M output tokens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679192" y="218541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2724912" y="21854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712.88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02152" y="218541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47872" y="21854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142.58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325112" y="218541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370832" y="21854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47.53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84632" y="2596896"/>
            <a:ext cx="219456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30352" y="259689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utility message, ₹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679192" y="2596896"/>
            <a:ext cx="82296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2724912" y="25968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0.145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502152" y="2596896"/>
            <a:ext cx="82296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547872" y="25968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0.132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325112" y="2596896"/>
            <a:ext cx="73152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4370832" y="259689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84632" y="300837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30352" y="300837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reports per student per month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2679192" y="300837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2724912" y="30083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502152" y="300837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547872" y="30083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325112" y="300837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370832" y="30083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84632" y="3419856"/>
            <a:ext cx="219456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30352" y="341985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messages per student per month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679192" y="3419856"/>
            <a:ext cx="82296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2724912" y="341985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502152" y="3419856"/>
            <a:ext cx="82296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547872" y="341985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4325112" y="3419856"/>
            <a:ext cx="73152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4370832" y="341985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84632" y="383133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30352" y="383133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storage, ₹ per student per month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2679192" y="383133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2724912" y="38313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502152" y="383133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547872" y="383133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4325112" y="383133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4370832" y="383133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484632" y="4242816"/>
            <a:ext cx="219456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30352" y="424281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verification, ₹ per student per year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2679192" y="4242816"/>
            <a:ext cx="82296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2724912" y="42428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3.0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3502152" y="4242816"/>
            <a:ext cx="82296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547872" y="424281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4325112" y="4242816"/>
            <a:ext cx="73152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4370832" y="424281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484632" y="4654296"/>
            <a:ext cx="21945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30352" y="465429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server + database, ₹ per month per stack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2679192" y="465429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2724912" y="46542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9,000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3502152" y="4654296"/>
            <a:ext cx="82296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547872" y="465429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4,000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4325112" y="4654296"/>
            <a:ext cx="731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4370832" y="465429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484632" y="5065776"/>
            <a:ext cx="219456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530352" y="5065776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Institutes sharing one stack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2679192" y="5065776"/>
            <a:ext cx="82296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2724912" y="50657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3502152" y="5065776"/>
            <a:ext cx="82296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3547872" y="5065776"/>
            <a:ext cx="731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25112" y="5065776"/>
            <a:ext cx="73152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4370832" y="506577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sp>
        <p:nvSpPr>
          <p:cNvPr id="86" name="Shape 84"/>
          <p:cNvSpPr/>
          <p:nvPr/>
        </p:nvSpPr>
        <p:spPr>
          <a:xfrm>
            <a:off x="502920" y="5669280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502920" y="566928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502920" y="5943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researched 20 Oct 2026 from vendor pages; exchange rate ₹95.05 per US dollar.</a:t>
            </a:r>
            <a:endParaRPr lang="en-US" sz="950" dirty="0"/>
          </a:p>
        </p:txBody>
      </p:sp>
      <p:sp>
        <p:nvSpPr>
          <p:cNvPr id="89" name="Shape 87"/>
          <p:cNvSpPr/>
          <p:nvPr/>
        </p:nvSpPr>
        <p:spPr>
          <a:xfrm>
            <a:off x="5303520" y="1115568"/>
            <a:ext cx="310896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90" name="Text 88"/>
          <p:cNvSpPr txBox="1"/>
          <p:nvPr/>
        </p:nvSpPr>
        <p:spPr>
          <a:xfrm>
            <a:off x="5394960" y="116128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1250" dirty="0"/>
          </a:p>
        </p:txBody>
      </p:sp>
      <p:sp>
        <p:nvSpPr>
          <p:cNvPr id="91" name="Text 89"/>
          <p:cNvSpPr txBox="1"/>
          <p:nvPr/>
        </p:nvSpPr>
        <p:spPr>
          <a:xfrm>
            <a:off x="5486400" y="15544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₹3.6</a:t>
            </a:r>
            <a:endParaRPr lang="en-US" sz="4800" dirty="0"/>
          </a:p>
        </p:txBody>
      </p:sp>
      <p:sp>
        <p:nvSpPr>
          <p:cNvPr id="92" name="Text 90"/>
          <p:cNvSpPr txBox="1"/>
          <p:nvPr/>
        </p:nvSpPr>
        <p:spPr>
          <a:xfrm>
            <a:off x="5486400" y="24231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student per month, inside the planned ₹3 to ₹10 band (financial model check).</a:t>
            </a:r>
            <a:endParaRPr lang="en-US" sz="1150" dirty="0"/>
          </a:p>
        </p:txBody>
      </p:sp>
      <p:sp>
        <p:nvSpPr>
          <p:cNvPr id="93" name="Shape 91"/>
          <p:cNvSpPr/>
          <p:nvPr/>
        </p:nvSpPr>
        <p:spPr>
          <a:xfrm>
            <a:off x="5303520" y="3703320"/>
            <a:ext cx="3108960" cy="2624328"/>
          </a:xfrm>
          <a:prstGeom prst="roundRect">
            <a:avLst>
              <a:gd name="adj" fmla="val 2091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94" name="Text 92"/>
          <p:cNvSpPr txBox="1"/>
          <p:nvPr/>
        </p:nvSpPr>
        <p:spPr>
          <a:xfrm>
            <a:off x="5394960" y="37490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RUN</a:t>
            </a:r>
            <a:endParaRPr lang="en-US" sz="1250" dirty="0"/>
          </a:p>
        </p:txBody>
      </p:sp>
      <p:sp>
        <p:nvSpPr>
          <p:cNvPr id="95" name="Text 93"/>
          <p:cNvSpPr txBox="1"/>
          <p:nvPr/>
        </p:nvSpPr>
        <p:spPr>
          <a:xfrm>
            <a:off x="5486400" y="4114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0A6F7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₹0</a:t>
            </a:r>
            <a:endParaRPr lang="en-US" sz="4800" dirty="0"/>
          </a:p>
        </p:txBody>
      </p:sp>
      <p:sp>
        <p:nvSpPr>
          <p:cNvPr id="96" name="Text 94"/>
          <p:cNvSpPr txBox="1"/>
          <p:nvPr/>
        </p:nvSpPr>
        <p:spPr>
          <a:xfrm>
            <a:off x="5486400" y="49834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marginal cost: laptop, local model, local database, no paid services.</a:t>
            </a:r>
            <a:endParaRPr lang="en-US" sz="1150" dirty="0"/>
          </a:p>
        </p:txBody>
      </p:sp>
      <p:sp>
        <p:nvSpPr>
          <p:cNvPr id="97" name="Shape 95"/>
          <p:cNvSpPr/>
          <p:nvPr/>
        </p:nvSpPr>
        <p:spPr>
          <a:xfrm>
            <a:off x="8549640" y="1115568"/>
            <a:ext cx="3230575" cy="5212080"/>
          </a:xfrm>
          <a:prstGeom prst="roundRect">
            <a:avLst>
              <a:gd name="adj" fmla="val 1698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98" name="Text 96"/>
          <p:cNvSpPr txBox="1"/>
          <p:nvPr/>
        </p:nvSpPr>
        <p:spPr>
          <a:xfrm>
            <a:off x="8641080" y="1161288"/>
            <a:ext cx="30476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KEEP IT LOW</a:t>
            </a:r>
            <a:endParaRPr lang="en-US" sz="1250" dirty="0"/>
          </a:p>
        </p:txBody>
      </p:sp>
      <p:pic>
        <p:nvPicPr>
          <p:cNvPr id="99" name="Image 0" descr="FaCircleCheck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0" y="1572768"/>
            <a:ext cx="219456" cy="219456"/>
          </a:xfrm>
          <a:prstGeom prst="rect">
            <a:avLst/>
          </a:prstGeom>
        </p:spPr>
      </p:pic>
      <p:sp>
        <p:nvSpPr>
          <p:cNvPr id="100" name="Text 97"/>
          <p:cNvSpPr txBox="1"/>
          <p:nvPr/>
        </p:nvSpPr>
        <p:spPr>
          <a:xfrm>
            <a:off x="9006840" y="148132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local models on a laptop</a:t>
            </a:r>
            <a:endParaRPr lang="en-US" sz="1150" dirty="0"/>
          </a:p>
        </p:txBody>
      </p:sp>
      <p:pic>
        <p:nvPicPr>
          <p:cNvPr id="101" name="Image 1" descr="FaCircleCheck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2350008"/>
            <a:ext cx="219456" cy="219456"/>
          </a:xfrm>
          <a:prstGeom prst="rect">
            <a:avLst/>
          </a:prstGeom>
        </p:spPr>
      </p:pic>
      <p:sp>
        <p:nvSpPr>
          <p:cNvPr id="102" name="Text 98"/>
          <p:cNvSpPr txBox="1"/>
          <p:nvPr/>
        </p:nvSpPr>
        <p:spPr>
          <a:xfrm>
            <a:off x="9006840" y="225856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fallback: no model required</a:t>
            </a:r>
            <a:endParaRPr lang="en-US" sz="1150" dirty="0"/>
          </a:p>
        </p:txBody>
      </p:sp>
      <p:pic>
        <p:nvPicPr>
          <p:cNvPr id="103" name="Image 2" descr="FaCircleCheck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3127248"/>
            <a:ext cx="219456" cy="219456"/>
          </a:xfrm>
          <a:prstGeom prst="rect">
            <a:avLst/>
          </a:prstGeom>
        </p:spPr>
      </p:pic>
      <p:sp>
        <p:nvSpPr>
          <p:cNvPr id="104" name="Text 99"/>
          <p:cNvSpPr txBox="1"/>
          <p:nvPr/>
        </p:nvSpPr>
        <p:spPr>
          <a:xfrm>
            <a:off x="9006840" y="303580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paid APIs or hosting</a:t>
            </a:r>
            <a:endParaRPr lang="en-US" sz="1150" dirty="0"/>
          </a:p>
        </p:txBody>
      </p:sp>
      <p:pic>
        <p:nvPicPr>
          <p:cNvPr id="105" name="Image 3" descr="FaCircleCheck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3904488"/>
            <a:ext cx="219456" cy="219456"/>
          </a:xfrm>
          <a:prstGeom prst="rect">
            <a:avLst/>
          </a:prstGeom>
        </p:spPr>
      </p:pic>
      <p:sp>
        <p:nvSpPr>
          <p:cNvPr id="106" name="Text 100"/>
          <p:cNvSpPr txBox="1"/>
          <p:nvPr/>
        </p:nvSpPr>
        <p:spPr>
          <a:xfrm>
            <a:off x="9006840" y="381304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database per deployment, isolated per institute</a:t>
            </a:r>
            <a:endParaRPr lang="en-US" sz="1150" dirty="0"/>
          </a:p>
        </p:txBody>
      </p:sp>
      <p:pic>
        <p:nvPicPr>
          <p:cNvPr id="107" name="Image 4" descr="FaCircleCheck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0" y="4681728"/>
            <a:ext cx="219456" cy="219456"/>
          </a:xfrm>
          <a:prstGeom prst="rect">
            <a:avLst/>
          </a:prstGeom>
        </p:spPr>
      </p:pic>
      <p:sp>
        <p:nvSpPr>
          <p:cNvPr id="108" name="Text 101"/>
          <p:cNvSpPr txBox="1"/>
          <p:nvPr/>
        </p:nvSpPr>
        <p:spPr>
          <a:xfrm>
            <a:off x="9006840" y="4590288"/>
            <a:ext cx="2636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only for utility messages, in-window replies free</a:t>
            </a:r>
            <a:endParaRPr lang="en-US" sz="1150" dirty="0"/>
          </a:p>
        </p:txBody>
      </p:sp>
      <p:sp>
        <p:nvSpPr>
          <p:cNvPr id="109" name="Text 102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financial/assumptions.csv (COGS rows), financial/research. Production costs are assumptions with confidence flags.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3: the rules we design against, and what we do about each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 BASIS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11368735" cy="5212080"/>
          </a:xfrm>
          <a:prstGeom prst="roundRect">
            <a:avLst>
              <a:gd name="adj" fmla="val 1053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02920" y="1234440"/>
            <a:ext cx="3017520" cy="310896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48640" y="1234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520440" y="1234440"/>
            <a:ext cx="8138160" cy="310896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566160" y="1234440"/>
            <a:ext cx="8046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response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02920" y="1545336"/>
            <a:ext cx="3017520" cy="56692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154533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s.9(1), Rule 10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520440" y="1545336"/>
            <a:ext cx="8138160" cy="56692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566160" y="154533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Verifiable parental consent before processing a minor's data: ID checked at the admission desk, consent recorded per purpose.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02920" y="2112264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211226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Act s.9(3)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520440" y="2112264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566160" y="211226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tracking or behavioural monitoring of children: under 18, academic support uses a model; dropout and fee signals use plain rules.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679192"/>
            <a:ext cx="3017520" cy="56692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548640" y="267919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Fourth Schedule, educational institutions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520440" y="2679192"/>
            <a:ext cx="8138160" cy="56692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566160" y="267919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and purpose-limited, so we do not rely on it for consent.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02920" y="3246120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48640" y="3246120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DPDP Rules, Rules 6 and 7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520440" y="3246120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3566160" y="324612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Encryption, access control, logs kept one year, breach notice to the institute within hours.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2920" y="3813048"/>
            <a:ext cx="3017520" cy="56692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48640" y="3813048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10.2(xi)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520440" y="3813048"/>
            <a:ext cx="8138160" cy="56692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3566160" y="3813048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stay private; early warning leads to counselling, never public ranks.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4379976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548640" y="4379976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12(vii)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520440" y="4379976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566160" y="4379976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batch moves based on performance; remedial help is an extra session.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4946904"/>
            <a:ext cx="3017520" cy="56692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548640" y="494690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MoE Guidelines 2024, cl. 8(iv), 10.1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520440" y="4946904"/>
            <a:ext cx="8138160" cy="566928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566160" y="4946904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Pro-rata refund within 10 days; no test the day after the weekly off.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02920" y="5513832"/>
            <a:ext cx="301752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" y="551383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Rajasthan Act 2025, s.6(2)(d)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3520440" y="5513832"/>
            <a:ext cx="8138160" cy="56692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566160" y="5513832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plans support four or more equal instalments.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DPDP Act 2023, DPDP Rules 2025, MoE Guidelines 2024, Rajasthan Coaching Centres Act 2025 (technical/docs/TECH_PLAN.md, section 24). Not legal advice.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4: every result follows the same protocol, and misses are reported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TEST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88720"/>
            <a:ext cx="370332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94360" y="137160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6" name="Image 0" descr="FaShieldHalved ic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002" y="1482242"/>
            <a:ext cx="281635" cy="28163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280160" y="1371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leakage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94360" y="21031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use only data before the as-of date. Splits are by student and by year, never by row.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233672" y="1188720"/>
            <a:ext cx="370332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10" name="Shape 7"/>
          <p:cNvSpPr/>
          <p:nvPr/>
        </p:nvSpPr>
        <p:spPr>
          <a:xfrm>
            <a:off x="4416552" y="1371600"/>
            <a:ext cx="502920" cy="502920"/>
          </a:xfrm>
          <a:prstGeom prst="ellipse">
            <a:avLst/>
          </a:prstGeom>
          <a:solidFill>
            <a:srgbClr val="0A6F71"/>
          </a:solidFill>
          <a:ln/>
        </p:spPr>
      </p:sp>
      <p:pic>
        <p:nvPicPr>
          <p:cNvPr id="11" name="Image 1" descr="FaScaleBalanced ic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7194" y="148224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102352" y="1371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Baselines at equal workload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4416552" y="21031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model sits beside a simple rule at the same weekly top-k.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055864" y="1188720"/>
            <a:ext cx="370332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15" name="Shape 11"/>
          <p:cNvSpPr/>
          <p:nvPr/>
        </p:nvSpPr>
        <p:spPr>
          <a:xfrm>
            <a:off x="8238744" y="137160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16" name="Image 2" descr="FaChartColumn ic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9386" y="1482242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924544" y="137160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Uncertainty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8238744" y="210312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intervals over students, three generator seeds, event counts shown.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411480" y="3794760"/>
            <a:ext cx="370332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20" name="Shape 15"/>
          <p:cNvSpPr/>
          <p:nvPr/>
        </p:nvSpPr>
        <p:spPr>
          <a:xfrm>
            <a:off x="594360" y="3977640"/>
            <a:ext cx="502920" cy="502920"/>
          </a:xfrm>
          <a:prstGeom prst="ellipse">
            <a:avLst/>
          </a:prstGeom>
          <a:solidFill>
            <a:srgbClr val="0A6F71"/>
          </a:solidFill>
          <a:ln/>
        </p:spPr>
      </p:sp>
      <p:pic>
        <p:nvPicPr>
          <p:cNvPr id="21" name="Image 3" descr="FaTriangleExclamation ic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5002" y="4088282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280160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 tests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94360" y="470916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Misspecified generators, a held-out institute, an independent attack on the report checker.</a:t>
            </a:r>
            <a:endParaRPr lang="en-US" sz="1200" dirty="0"/>
          </a:p>
        </p:txBody>
      </p:sp>
      <p:sp>
        <p:nvSpPr>
          <p:cNvPr id="24" name="Shape 18"/>
          <p:cNvSpPr/>
          <p:nvPr/>
        </p:nvSpPr>
        <p:spPr>
          <a:xfrm>
            <a:off x="4233672" y="3794760"/>
            <a:ext cx="370332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25" name="Shape 19"/>
          <p:cNvSpPr/>
          <p:nvPr/>
        </p:nvSpPr>
        <p:spPr>
          <a:xfrm>
            <a:off x="4416552" y="3977640"/>
            <a:ext cx="502920" cy="502920"/>
          </a:xfrm>
          <a:prstGeom prst="ellipse">
            <a:avLst/>
          </a:prstGeom>
          <a:solidFill>
            <a:srgbClr val="0B2545"/>
          </a:solidFill>
          <a:ln/>
        </p:spPr>
      </p:sp>
      <p:pic>
        <p:nvPicPr>
          <p:cNvPr id="26" name="Image 4" descr="FaFlag ic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194" y="4088282"/>
            <a:ext cx="281635" cy="281635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5102352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misses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4416552" y="470916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bar is reported with its cause. Bars are never moved to pass.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8055864" y="3794760"/>
            <a:ext cx="370332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30" name="Shape 23"/>
          <p:cNvSpPr/>
          <p:nvPr/>
        </p:nvSpPr>
        <p:spPr>
          <a:xfrm>
            <a:off x="8238744" y="3977640"/>
            <a:ext cx="502920" cy="502920"/>
          </a:xfrm>
          <a:prstGeom prst="ellipse">
            <a:avLst/>
          </a:prstGeom>
          <a:solidFill>
            <a:srgbClr val="0A6F71"/>
          </a:solidFill>
          <a:ln/>
        </p:spPr>
      </p:sp>
      <p:pic>
        <p:nvPicPr>
          <p:cNvPr id="31" name="Image 5" descr="FaCircleCheck ic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9386" y="4088282"/>
            <a:ext cx="281635" cy="281635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924544" y="397764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data</a:t>
            </a:r>
            <a:endParaRPr lang="en-US" sz="1400" dirty="0"/>
          </a:p>
        </p:txBody>
      </p:sp>
      <p:sp>
        <p:nvSpPr>
          <p:cNvPr id="33" name="Text 25"/>
          <p:cNvSpPr txBox="1"/>
          <p:nvPr/>
        </p:nvSpPr>
        <p:spPr>
          <a:xfrm>
            <a:off x="8238744" y="4709160"/>
            <a:ext cx="3337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OULAD and ASSISTments under published protocols, with deviations listed.</a:t>
            </a:r>
            <a:endParaRPr lang="en-US" sz="1200" dirty="0"/>
          </a:p>
        </p:txBody>
      </p:sp>
      <p:sp>
        <p:nvSpPr>
          <p:cNvPr id="34" name="Text 26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technical/docs/agent_prompts/R1_00_COMMON.md and technical/docs/FEASIBILITY_CHECK.md.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310896"/>
            <a:ext cx="11368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Appendix 5: Bear, Base and Bull for a mid-size institute, plus segments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7589520" y="182880"/>
            <a:ext cx="4187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b="1" spc="150" kern="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SCENARIOS</a:t>
            </a:r>
            <a:endParaRPr lang="en-US" sz="950" dirty="0"/>
          </a:p>
        </p:txBody>
      </p:sp>
      <p:sp>
        <p:nvSpPr>
          <p:cNvPr id="4" name="Shape 2"/>
          <p:cNvSpPr/>
          <p:nvPr/>
        </p:nvSpPr>
        <p:spPr>
          <a:xfrm>
            <a:off x="411480" y="1115568"/>
            <a:ext cx="7406640" cy="5212080"/>
          </a:xfrm>
          <a:prstGeom prst="roundRect">
            <a:avLst>
              <a:gd name="adj" fmla="val 1053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502920" y="1161288"/>
            <a:ext cx="7223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INSTITUTE (400 STUDENTS)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481328"/>
            <a:ext cx="3017520" cy="310896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148132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year unless stated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520440" y="1481328"/>
            <a:ext cx="1371600" cy="310896"/>
          </a:xfrm>
          <a:prstGeom prst="rect">
            <a:avLst/>
          </a:prstGeom>
          <a:solidFill>
            <a:srgbClr val="4F5D7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566160" y="14813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892040" y="1481328"/>
            <a:ext cx="1371600" cy="310896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937760" y="14813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63640" y="1481328"/>
            <a:ext cx="1371600" cy="310896"/>
          </a:xfrm>
          <a:prstGeom prst="rect">
            <a:avLst/>
          </a:prstGeom>
          <a:solidFill>
            <a:srgbClr val="4F5D7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309360" y="148132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1792224"/>
            <a:ext cx="301752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179222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dropout reduction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520440" y="1792224"/>
            <a:ext cx="137160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3566160" y="17922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1.0 %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92040" y="1792224"/>
            <a:ext cx="137160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937760" y="17922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6.6 %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1792224"/>
            <a:ext cx="137160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309360" y="17922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22.2 %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2920" y="2203704"/>
            <a:ext cx="3017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" y="220370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Dropouts prevented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520440" y="22037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66160" y="22037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92040" y="22037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4937760" y="22037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263640" y="22037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309360" y="22037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2615184"/>
            <a:ext cx="3017520" cy="411480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48640" y="261518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return, all benefits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520440" y="2615184"/>
            <a:ext cx="1371600" cy="411480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66160" y="26151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0.15x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892040" y="2615184"/>
            <a:ext cx="1371600" cy="411480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937760" y="26151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263640" y="2615184"/>
            <a:ext cx="1371600" cy="411480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09360" y="26151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14x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02920" y="3026664"/>
            <a:ext cx="3017520" cy="411480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48640" y="302666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Institute return, fees only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520440" y="3026664"/>
            <a:ext cx="1371600" cy="411480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3566160" y="30266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0.04x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4892040" y="3026664"/>
            <a:ext cx="1371600" cy="411480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4937760" y="30266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0.75x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63640" y="3026664"/>
            <a:ext cx="1371600" cy="411480"/>
          </a:xfrm>
          <a:prstGeom prst="rect">
            <a:avLst/>
          </a:prstGeom>
          <a:solidFill>
            <a:srgbClr val="BDECCB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309360" y="30266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5.9x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02920" y="3438144"/>
            <a:ext cx="3017520" cy="411480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48640" y="343814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to save to break even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3520440" y="3438144"/>
            <a:ext cx="1371600" cy="411480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3566160" y="343814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6.5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892040" y="3438144"/>
            <a:ext cx="1371600" cy="411480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4937760" y="343814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6263640" y="3438144"/>
            <a:ext cx="1371600" cy="411480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6309360" y="343814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502920" y="3849624"/>
            <a:ext cx="301752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48640" y="384962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per institute, monthly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520440" y="3849624"/>
            <a:ext cx="137160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66160" y="38496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₹4,992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892040" y="3849624"/>
            <a:ext cx="137160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4937760" y="38496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₹8,612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263640" y="3849624"/>
            <a:ext cx="137160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6309360" y="384962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₹11,999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502920" y="4261104"/>
            <a:ext cx="301752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48640" y="426110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loaded acquisition cost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3520440" y="42611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3566160" y="42611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₹1.74 L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4892040" y="42611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937760" y="42611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₹35,492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263640" y="4261104"/>
            <a:ext cx="1371600" cy="4114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309360" y="426110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₹13,336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502920" y="4672584"/>
            <a:ext cx="3017520" cy="411480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48640" y="467258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 ÷ acquisition cost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3520440" y="4672584"/>
            <a:ext cx="1371600" cy="411480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566160" y="46725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-0.1x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4892040" y="4672584"/>
            <a:ext cx="1371600" cy="411480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4937760" y="46725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100" dirty="0"/>
          </a:p>
        </p:txBody>
      </p:sp>
      <p:sp>
        <p:nvSpPr>
          <p:cNvPr id="76" name="Shape 74"/>
          <p:cNvSpPr/>
          <p:nvPr/>
        </p:nvSpPr>
        <p:spPr>
          <a:xfrm>
            <a:off x="6263640" y="4672584"/>
            <a:ext cx="1371600" cy="411480"/>
          </a:xfrm>
          <a:prstGeom prst="rect">
            <a:avLst/>
          </a:prstGeom>
          <a:solidFill>
            <a:srgbClr val="F6E3A8"/>
          </a:solidFill>
          <a:ln/>
        </p:spPr>
      </p:sp>
      <p:sp>
        <p:nvSpPr>
          <p:cNvPr id="77" name="Text 75"/>
          <p:cNvSpPr txBox="1"/>
          <p:nvPr/>
        </p:nvSpPr>
        <p:spPr>
          <a:xfrm>
            <a:off x="6309360" y="467258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24x</a:t>
            </a:r>
            <a:endParaRPr lang="en-US" sz="1100" dirty="0"/>
          </a:p>
        </p:txBody>
      </p:sp>
      <p:sp>
        <p:nvSpPr>
          <p:cNvPr id="78" name="Shape 76"/>
          <p:cNvSpPr/>
          <p:nvPr/>
        </p:nvSpPr>
        <p:spPr>
          <a:xfrm>
            <a:off x="502920" y="5084064"/>
            <a:ext cx="301752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548640" y="5084064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100" dirty="0"/>
          </a:p>
        </p:txBody>
      </p:sp>
      <p:sp>
        <p:nvSpPr>
          <p:cNvPr id="80" name="Shape 78"/>
          <p:cNvSpPr/>
          <p:nvPr/>
        </p:nvSpPr>
        <p:spPr>
          <a:xfrm>
            <a:off x="3520440" y="5084064"/>
            <a:ext cx="137160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566160" y="5084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 months</a:t>
            </a:r>
            <a:endParaRPr lang="en-US" sz="1100" dirty="0"/>
          </a:p>
        </p:txBody>
      </p:sp>
      <p:sp>
        <p:nvSpPr>
          <p:cNvPr id="82" name="Shape 80"/>
          <p:cNvSpPr/>
          <p:nvPr/>
        </p:nvSpPr>
        <p:spPr>
          <a:xfrm>
            <a:off x="4892040" y="5084064"/>
            <a:ext cx="137160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4937760" y="5084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months</a:t>
            </a:r>
            <a:endParaRPr lang="en-US" sz="1100" dirty="0"/>
          </a:p>
        </p:txBody>
      </p:sp>
      <p:sp>
        <p:nvSpPr>
          <p:cNvPr id="84" name="Shape 82"/>
          <p:cNvSpPr/>
          <p:nvPr/>
        </p:nvSpPr>
        <p:spPr>
          <a:xfrm>
            <a:off x="6263640" y="5084064"/>
            <a:ext cx="1371600" cy="41148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309360" y="5084064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1100" dirty="0"/>
          </a:p>
        </p:txBody>
      </p:sp>
      <p:sp>
        <p:nvSpPr>
          <p:cNvPr id="86" name="Shape 84"/>
          <p:cNvSpPr/>
          <p:nvPr/>
        </p:nvSpPr>
        <p:spPr>
          <a:xfrm>
            <a:off x="521208" y="5760720"/>
            <a:ext cx="1170432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521208" y="5760720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OUTPUT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7955280" y="1115568"/>
            <a:ext cx="3824935" cy="5212080"/>
          </a:xfrm>
          <a:prstGeom prst="roundRect">
            <a:avLst>
              <a:gd name="adj" fmla="val 1434"/>
            </a:avLst>
          </a:prstGeom>
          <a:solidFill>
            <a:srgbClr val="FFFFFF"/>
          </a:solidFill>
          <a:ln w="15875">
            <a:solidFill>
              <a:srgbClr val="6FA9AB"/>
            </a:solidFill>
            <a:prstDash val="dash"/>
          </a:ln>
        </p:spPr>
      </p:sp>
      <p:sp>
        <p:nvSpPr>
          <p:cNvPr id="89" name="Text 87"/>
          <p:cNvSpPr txBox="1"/>
          <p:nvPr/>
        </p:nvSpPr>
        <p:spPr>
          <a:xfrm>
            <a:off x="8046720" y="116128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SEGMENT (BASE)</a:t>
            </a:r>
            <a:endParaRPr lang="en-US" sz="1250" dirty="0"/>
          </a:p>
        </p:txBody>
      </p:sp>
      <p:sp>
        <p:nvSpPr>
          <p:cNvPr id="90" name="Shape 88"/>
          <p:cNvSpPr/>
          <p:nvPr/>
        </p:nvSpPr>
        <p:spPr>
          <a:xfrm>
            <a:off x="8046720" y="1481328"/>
            <a:ext cx="1371600" cy="292608"/>
          </a:xfrm>
          <a:prstGeom prst="rect">
            <a:avLst/>
          </a:prstGeom>
          <a:solidFill>
            <a:srgbClr val="0B254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8092440" y="148132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92" name="Shape 90"/>
          <p:cNvSpPr/>
          <p:nvPr/>
        </p:nvSpPr>
        <p:spPr>
          <a:xfrm>
            <a:off x="9418320" y="1481328"/>
            <a:ext cx="731520" cy="292608"/>
          </a:xfrm>
          <a:prstGeom prst="rect">
            <a:avLst/>
          </a:prstGeom>
          <a:solidFill>
            <a:srgbClr val="4F5D7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9464040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1100" dirty="0"/>
          </a:p>
        </p:txBody>
      </p:sp>
      <p:sp>
        <p:nvSpPr>
          <p:cNvPr id="94" name="Shape 92"/>
          <p:cNvSpPr/>
          <p:nvPr/>
        </p:nvSpPr>
        <p:spPr>
          <a:xfrm>
            <a:off x="10149840" y="1481328"/>
            <a:ext cx="731520" cy="292608"/>
          </a:xfrm>
          <a:prstGeom prst="rect">
            <a:avLst/>
          </a:prstGeom>
          <a:solidFill>
            <a:srgbClr val="0A6F71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195560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</a:t>
            </a:r>
            <a:endParaRPr lang="en-US" sz="1100" dirty="0"/>
          </a:p>
        </p:txBody>
      </p:sp>
      <p:sp>
        <p:nvSpPr>
          <p:cNvPr id="96" name="Shape 94"/>
          <p:cNvSpPr/>
          <p:nvPr/>
        </p:nvSpPr>
        <p:spPr>
          <a:xfrm>
            <a:off x="10881360" y="1481328"/>
            <a:ext cx="731520" cy="292608"/>
          </a:xfrm>
          <a:prstGeom prst="rect">
            <a:avLst/>
          </a:prstGeom>
          <a:solidFill>
            <a:srgbClr val="4F5D75"/>
          </a:solidFill>
          <a:ln/>
        </p:spPr>
      </p:sp>
      <p:sp>
        <p:nvSpPr>
          <p:cNvPr id="97" name="Text 95"/>
          <p:cNvSpPr txBox="1"/>
          <p:nvPr/>
        </p:nvSpPr>
        <p:spPr>
          <a:xfrm>
            <a:off x="10927080" y="148132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</a:t>
            </a:r>
            <a:endParaRPr lang="en-US" sz="1100" dirty="0"/>
          </a:p>
        </p:txBody>
      </p:sp>
      <p:sp>
        <p:nvSpPr>
          <p:cNvPr id="98" name="Shape 96"/>
          <p:cNvSpPr/>
          <p:nvPr/>
        </p:nvSpPr>
        <p:spPr>
          <a:xfrm>
            <a:off x="8046720" y="1773936"/>
            <a:ext cx="1371600" cy="45720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8092440" y="17739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100" dirty="0"/>
          </a:p>
        </p:txBody>
      </p:sp>
      <p:sp>
        <p:nvSpPr>
          <p:cNvPr id="100" name="Shape 98"/>
          <p:cNvSpPr/>
          <p:nvPr/>
        </p:nvSpPr>
        <p:spPr>
          <a:xfrm>
            <a:off x="9418320" y="1773936"/>
            <a:ext cx="731520" cy="45720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01" name="Text 99"/>
          <p:cNvSpPr txBox="1"/>
          <p:nvPr/>
        </p:nvSpPr>
        <p:spPr>
          <a:xfrm>
            <a:off x="9464040" y="17739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2.3x</a:t>
            </a:r>
            <a:endParaRPr lang="en-US" sz="1100" dirty="0"/>
          </a:p>
        </p:txBody>
      </p:sp>
      <p:sp>
        <p:nvSpPr>
          <p:cNvPr id="102" name="Shape 100"/>
          <p:cNvSpPr/>
          <p:nvPr/>
        </p:nvSpPr>
        <p:spPr>
          <a:xfrm>
            <a:off x="10149840" y="1773936"/>
            <a:ext cx="731520" cy="45720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195560" y="17739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2.9x</a:t>
            </a:r>
            <a:endParaRPr lang="en-US" sz="1100" dirty="0"/>
          </a:p>
        </p:txBody>
      </p:sp>
      <p:sp>
        <p:nvSpPr>
          <p:cNvPr id="104" name="Shape 102"/>
          <p:cNvSpPr/>
          <p:nvPr/>
        </p:nvSpPr>
        <p:spPr>
          <a:xfrm>
            <a:off x="10881360" y="1773936"/>
            <a:ext cx="731520" cy="45720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10927080" y="17739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3.6x</a:t>
            </a:r>
            <a:endParaRPr lang="en-US" sz="1100" dirty="0"/>
          </a:p>
        </p:txBody>
      </p:sp>
      <p:sp>
        <p:nvSpPr>
          <p:cNvPr id="106" name="Shape 104"/>
          <p:cNvSpPr/>
          <p:nvPr/>
        </p:nvSpPr>
        <p:spPr>
          <a:xfrm>
            <a:off x="8046720" y="2231136"/>
            <a:ext cx="137160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8092440" y="22311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LTV÷CAC</a:t>
            </a:r>
            <a:endParaRPr lang="en-US" sz="1100" dirty="0"/>
          </a:p>
        </p:txBody>
      </p:sp>
      <p:sp>
        <p:nvSpPr>
          <p:cNvPr id="108" name="Shape 106"/>
          <p:cNvSpPr/>
          <p:nvPr/>
        </p:nvSpPr>
        <p:spPr>
          <a:xfrm>
            <a:off x="9418320" y="2231136"/>
            <a:ext cx="731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9" name="Text 107"/>
          <p:cNvSpPr txBox="1"/>
          <p:nvPr/>
        </p:nvSpPr>
        <p:spPr>
          <a:xfrm>
            <a:off x="9464040" y="22311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1.5x</a:t>
            </a:r>
            <a:endParaRPr lang="en-US" sz="1100" dirty="0"/>
          </a:p>
        </p:txBody>
      </p:sp>
      <p:sp>
        <p:nvSpPr>
          <p:cNvPr id="110" name="Shape 108"/>
          <p:cNvSpPr/>
          <p:nvPr/>
        </p:nvSpPr>
        <p:spPr>
          <a:xfrm>
            <a:off x="10149840" y="2231136"/>
            <a:ext cx="731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0195560" y="22311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3.7x</a:t>
            </a:r>
            <a:endParaRPr lang="en-US" sz="1100" dirty="0"/>
          </a:p>
        </p:txBody>
      </p:sp>
      <p:sp>
        <p:nvSpPr>
          <p:cNvPr id="112" name="Shape 110"/>
          <p:cNvSpPr/>
          <p:nvPr/>
        </p:nvSpPr>
        <p:spPr>
          <a:xfrm>
            <a:off x="10881360" y="2231136"/>
            <a:ext cx="7315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10927080" y="22311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9.1x</a:t>
            </a:r>
            <a:endParaRPr lang="en-US" sz="1100" dirty="0"/>
          </a:p>
        </p:txBody>
      </p:sp>
      <p:sp>
        <p:nvSpPr>
          <p:cNvPr id="114" name="Shape 112"/>
          <p:cNvSpPr/>
          <p:nvPr/>
        </p:nvSpPr>
        <p:spPr>
          <a:xfrm>
            <a:off x="8046720" y="2688336"/>
            <a:ext cx="1371600" cy="45720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8092440" y="268833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Payback</a:t>
            </a:r>
            <a:endParaRPr lang="en-US" sz="1100" dirty="0"/>
          </a:p>
        </p:txBody>
      </p:sp>
      <p:sp>
        <p:nvSpPr>
          <p:cNvPr id="116" name="Shape 114"/>
          <p:cNvSpPr/>
          <p:nvPr/>
        </p:nvSpPr>
        <p:spPr>
          <a:xfrm>
            <a:off x="9418320" y="2688336"/>
            <a:ext cx="731520" cy="45720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464040" y="26883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mo</a:t>
            </a:r>
            <a:endParaRPr lang="en-US" sz="1100" dirty="0"/>
          </a:p>
        </p:txBody>
      </p:sp>
      <p:sp>
        <p:nvSpPr>
          <p:cNvPr id="118" name="Shape 116"/>
          <p:cNvSpPr/>
          <p:nvPr/>
        </p:nvSpPr>
        <p:spPr>
          <a:xfrm>
            <a:off x="10149840" y="2688336"/>
            <a:ext cx="731520" cy="45720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195560" y="26883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mo</a:t>
            </a:r>
            <a:endParaRPr lang="en-US" sz="1100" dirty="0"/>
          </a:p>
        </p:txBody>
      </p:sp>
      <p:sp>
        <p:nvSpPr>
          <p:cNvPr id="120" name="Shape 118"/>
          <p:cNvSpPr/>
          <p:nvPr/>
        </p:nvSpPr>
        <p:spPr>
          <a:xfrm>
            <a:off x="10881360" y="2688336"/>
            <a:ext cx="731520" cy="457200"/>
          </a:xfrm>
          <a:prstGeom prst="rect">
            <a:avLst/>
          </a:prstGeom>
          <a:solidFill>
            <a:srgbClr val="DCEEF3"/>
          </a:solidFill>
          <a:ln/>
        </p:spPr>
      </p:sp>
      <p:sp>
        <p:nvSpPr>
          <p:cNvPr id="121" name="Text 119"/>
          <p:cNvSpPr txBox="1"/>
          <p:nvPr/>
        </p:nvSpPr>
        <p:spPr>
          <a:xfrm>
            <a:off x="10927080" y="2688336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mo</a:t>
            </a:r>
            <a:endParaRPr lang="en-US" sz="1100" dirty="0"/>
          </a:p>
        </p:txBody>
      </p:sp>
      <p:sp>
        <p:nvSpPr>
          <p:cNvPr id="122" name="Text 120"/>
          <p:cNvSpPr txBox="1"/>
          <p:nvPr/>
        </p:nvSpPr>
        <p:spPr>
          <a:xfrm>
            <a:off x="8092440" y="3383280"/>
            <a:ext cx="35506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 changes every input to its worst value at once. It is a stress test, not a forecast.</a:t>
            </a:r>
            <a:endParaRPr lang="en-US" sz="1150" dirty="0"/>
          </a:p>
        </p:txBody>
      </p:sp>
      <p:sp>
        <p:nvSpPr>
          <p:cNvPr id="123" name="Text 121"/>
          <p:cNvSpPr txBox="1"/>
          <p:nvPr/>
        </p:nvSpPr>
        <p:spPr>
          <a:xfrm>
            <a:off x="411480" y="6464808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4F5D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financial workbook (Scenarios sheet). Model output from sourced and assumed inputs, not measured.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45720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4F5D75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411480" y="457200"/>
            <a:ext cx="113687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used AI, and what we cited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11480" y="1554480"/>
            <a:ext cx="5547208" cy="4206240"/>
          </a:xfrm>
          <a:prstGeom prst="rect">
            <a:avLst/>
          </a:prstGeom>
          <a:solidFill>
            <a:srgbClr val="10325B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691640"/>
            <a:ext cx="4998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tools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286000"/>
            <a:ext cx="49985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Claude: planning, code review, documentation.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Antigravity agents: code generation.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and Gemini Deep Research: literature and regulation research.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was reviewed and tested by the team; research claims were checked against primary sources where possible.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233008" y="1554480"/>
            <a:ext cx="5547208" cy="4206240"/>
          </a:xfrm>
          <a:prstGeom prst="rect">
            <a:avLst/>
          </a:prstGeom>
          <a:solidFill>
            <a:srgbClr val="10325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507328" y="1691640"/>
            <a:ext cx="49985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Public data and libraries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507328" y="2286000"/>
            <a:ext cx="49985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OULAD (CC BY 4.0), ASSISTments 2009, the pyKT benchmark, JEEBench.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Noto Sans Devanagari (SIL OFL), LightGBM, Ollama, FastAPI, PostgreSQL.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E6EE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 with licences: technical/docs/CITATIONS.md in the repository.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6126480"/>
            <a:ext cx="7205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C7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github.com/AdityaKuranjekar/institute-intelligence-platform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AlphaQ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AlphaQ: Case B, The Data Moat (Round 1)</dc:title>
  <dc:subject>PptxGenJS Presentation</dc:subject>
  <dc:creator>AlphaQ</dc:creator>
  <cp:lastModifiedBy>AlphaQ</cp:lastModifiedBy>
  <cp:revision>1</cp:revision>
  <dcterms:created xsi:type="dcterms:W3CDTF">2026-10-21T21:30:00Z</dcterms:created>
  <dcterms:modified xsi:type="dcterms:W3CDTF">2026-10-21T21:30:00Z</dcterms:modified>
</cp:coreProperties>
</file>