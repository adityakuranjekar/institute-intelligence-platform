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0bc8344-c6d7-94e9-ad0c-9b07d66821fb}">
          <p14:sldIdLst>
            <p14:sldId id="256"/>
          </p14:sldIdLst>
        </p14:section>
        <p14:section name="Problem and product" id="{c87acbbf-6da4-4a15-4340-71fd35f0cb8f}">
          <p14:sldIdLst>
            <p14:sldId id="257"/>
            <p14:sldId id="258"/>
            <p14:sldId id="259"/>
          </p14:sldIdLst>
        </p14:section>
        <p14:section name="Technology" id="{4bb6e1c7-cf56-0cdf-136d-a2d3723f9171}">
          <p14:sldIdLst>
            <p14:sldId id="260"/>
            <p14:sldId id="261"/>
            <p14:sldId id="262"/>
            <p14:sldId id="263"/>
            <p14:sldId id="264"/>
          </p14:sldIdLst>
        </p14:section>
        <p14:section name="Business" id="{e340cd08-f629-eef5-ac88-34891815a20b}">
          <p14:sldIdLst>
            <p14:sldId id="265"/>
            <p14:sldId id="266"/>
            <p14:sldId id="267"/>
          </p14:sldIdLst>
        </p14:section>
        <p14:section name="Validation" id="{8fac6809-f4aa-5924-3d15-7597d3d1bcef}">
          <p14:sldIdLst>
            <p14:sldId id="268"/>
          </p14:sldIdLst>
        </p14:section>
        <p14:section name="Appendix" id="{9c8e3db4-ec28-11ca-11e2-77700f0751f7}">
          <p14:sldIdLst>
            <p14:sldId id="269"/>
            <p14:sldId id="270"/>
            <p14:sldId id="271"/>
            <p14:sldId id="272"/>
            <p14:sldId id="273"/>
          </p14:sldIdLst>
        </p14:section>
        <p14:section name="Closing" id="{f8b1634f-86ee-9739-ad71-c4e015359ac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The right-hand screen is an illustrative mock-up with synthetic student codes. Team name AlphaQ; replace the text wordmark with the logo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framing from the Participant Guide. The 8-15 percent and 36,000 rupee figures are the guide's illustrative baselines, not our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steps map to the four mock-ups: upload and column mapping, topic map, support list, parent report. All screens use synthetic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at a glance. BUILT means working code with tests; IN BUILD means in progress; DESIGNED means specified, not coded. The 3.6 rupee figure is the all-in cost check in the financial workbook (band 3 to 10 rupees).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ASSISTments comparison uses the pyKT protocol; check deviations in ml/public_validation/README before presenting. IRT difficulty recovery and the moat curve come from Agent B and must replace the dashed placeholder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 list capped by mentor capacity. Absolute and relative performance versus the institute rule come from Agent C; do not quote any number until deck_numbers.py shows it. Honest framing: calibrated, explained, privacy-routed lists, not a large accuracy jump over sorting by attendance.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Reports: facts come from data, an optional language model only rewords them, an automatic checker verifies numbers, topics and tone, and a template is used if anything fails. Do not claim a checker catch rate until the independent adversarial test passes after the E2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quote is paraphrased to stay short; exact wording is in TECH_PLAN section 24. We do not rely on the educational-institution exemption for consent. The OULAD result is public data and shows academic-only features lose very little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moat is the pooled item bank and outcome tables, not a pooled profile of children. We are the data processor, so we never train on real minors' raw data across institutes.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numbers from the financial workbook Cover sheet, Base scenario, Mid institute. 12 of 48 and 2.6 of 40 are the guide's and our dropout counts. Safe wording: RCTs in comparable settings show 5 to 30 percent among students who get outreach; we model 15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figures are the Participant Guide's naive example. Bear, Base and Bull LTV/CAC for a mid institute are -0.1x, 3.7x and 24x; Bear stresses every input at once. Tornado values are from the Sensitivity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Competitors checked in the finance research include Classplus, Fedena, Edmingle and Teachmint; several listings could not verify OMR, analytics or Hindi, so the claim is limited to what the listings showed. Do not state they lack the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amber pending items with measured values from deck_numbers.py before submission. Limitations to say first: synthetic data proves the pipeline only; the percentile mapping is an assumption table; difficulty scales are comparable across institutes only through anchors.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disclosure (Problem Statement, rule 2). Keep this as the last slide of the submitted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0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AlphaQ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126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AlphaQ</a:t>
            </a:r>
            <a:endParaRPr lang="en-US" sz="2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02920" y="1463040"/>
            <a:ext cx="594360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126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AlphaQ</a:t>
            </a:r>
            <a:endParaRPr lang="en-US" sz="2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8229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9B5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 ·  THE DATA MOAT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02920" y="146304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 for the coaching institutes that run on Excel, OMR sheets and WhatsApp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069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upload to a topic map, a weekly support list and a verified Hindi and English parent report. Offline, private, free to run.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6126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9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 ·  Nextute x Finance Club, IIT Patna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12280" y="1097280"/>
            <a:ext cx="484632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95160" y="115214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list</a:t>
            </a:r>
            <a:pPr algn="l" indent="0" marL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784080" y="1216152"/>
            <a:ext cx="1634744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0" y="1216152"/>
            <a:ext cx="1634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8 per week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21424" y="1554480"/>
            <a:ext cx="482803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1554480"/>
            <a:ext cx="64008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1554480"/>
            <a:ext cx="210312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6 of the last 10 classes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875520" y="1672209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1672209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call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21424" y="2045970"/>
            <a:ext cx="482803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95160" y="2045970"/>
            <a:ext cx="64008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S-142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045970"/>
            <a:ext cx="210312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2 recent tests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875520" y="2163699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2163699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call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21424" y="2537460"/>
            <a:ext cx="482803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95160" y="2537460"/>
            <a:ext cx="64008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S-107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80960" y="2537460"/>
            <a:ext cx="210312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slipped over the last 3 tests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875520" y="2655189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0" y="2655189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Remedial session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21424" y="3028950"/>
            <a:ext cx="482803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95160" y="3028950"/>
            <a:ext cx="64008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S-163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3028950"/>
            <a:ext cx="210312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slipping in 3 chapters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75520" y="3146679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75520" y="3146679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Remedial session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21424" y="3520440"/>
            <a:ext cx="482803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95160" y="3520440"/>
            <a:ext cx="64008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S-128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3520440"/>
            <a:ext cx="210312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5 days in a row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5520" y="3638169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875520" y="3638169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call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821424" y="4011930"/>
            <a:ext cx="482803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995160" y="4011930"/>
            <a:ext cx="64008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S-135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680960" y="4011930"/>
            <a:ext cx="210312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second instalment (18+ only)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875520" y="4129659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875520" y="4129659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Fee-plan talk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21424" y="4503420"/>
            <a:ext cx="482803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995160" y="4503420"/>
            <a:ext cx="64008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S-171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680960" y="4503420"/>
            <a:ext cx="210312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below batch pace, 4 weeks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4621149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875520" y="4621149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call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821424" y="4994910"/>
            <a:ext cx="482803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995160" y="4994910"/>
            <a:ext cx="64008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S-120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680960" y="4994910"/>
            <a:ext cx="210312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answers rising in tests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875520" y="5112639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875520" y="5112639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referral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812280" y="571500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812280" y="571500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2700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1282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Institutes hold the data, but notice a struggling student only after they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9304" cy="1691640"/>
          </a:xfrm>
          <a:prstGeom prst="roundRect">
            <a:avLst>
              <a:gd name="adj" fmla="val 540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7" name="Image 0" descr="GraduationCa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2025396"/>
            <a:ext cx="246888" cy="2468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1920240"/>
            <a:ext cx="174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487168"/>
            <a:ext cx="2293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know which topics each student is weak in until it is too late.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45104" y="1783080"/>
            <a:ext cx="2659304" cy="1691640"/>
          </a:xfrm>
          <a:prstGeom prst="roundRect">
            <a:avLst>
              <a:gd name="adj" fmla="val 540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7984" y="1920240"/>
            <a:ext cx="457200" cy="45720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12" name="Image 1" descr="Building2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140" y="2025396"/>
            <a:ext cx="246888" cy="246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94912" y="1920240"/>
            <a:ext cx="174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27984" y="2487168"/>
            <a:ext cx="2293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 which batches or teaching methods really work.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87288" y="1783080"/>
            <a:ext cx="2659304" cy="1691640"/>
          </a:xfrm>
          <a:prstGeom prst="roundRect">
            <a:avLst>
              <a:gd name="adj" fmla="val 540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70168" y="1920240"/>
            <a:ext cx="457200" cy="45720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17" name="Image 2" descr="Us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324" y="2025396"/>
            <a:ext cx="246888" cy="24688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37096" y="1920240"/>
            <a:ext cx="174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70168" y="2487168"/>
            <a:ext cx="2293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marks list and little else, so trust suffers.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9029471" y="1783080"/>
            <a:ext cx="2659304" cy="1691640"/>
          </a:xfrm>
          <a:prstGeom prst="roundRect">
            <a:avLst>
              <a:gd name="adj" fmla="val 540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212351" y="1920240"/>
            <a:ext cx="457200" cy="45720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22" name="Image 3" descr="UserRoun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507" y="202539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779279" y="1920240"/>
            <a:ext cx="1744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9212351" y="2487168"/>
            <a:ext cx="2293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noticed only after they stop paying or stop coming.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02920" y="3703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data lives today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502920" y="411480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pic>
        <p:nvPicPr>
          <p:cNvPr id="27" name="Image 4" descr="ScanLin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370832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143000" y="411480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OMR sheets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2743200" y="411480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pic>
        <p:nvPicPr>
          <p:cNvPr id="30" name="Image 5" descr="Table2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7792" y="4370832"/>
            <a:ext cx="347472" cy="34747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383280" y="411480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and registers</a:t>
            </a:r>
            <a:endParaRPr lang="en-US" sz="1400" dirty="0"/>
          </a:p>
        </p:txBody>
      </p:sp>
      <p:sp>
        <p:nvSpPr>
          <p:cNvPr id="32" name="Shape 24"/>
          <p:cNvSpPr/>
          <p:nvPr/>
        </p:nvSpPr>
        <p:spPr>
          <a:xfrm>
            <a:off x="4983480" y="411480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pic>
        <p:nvPicPr>
          <p:cNvPr id="33" name="Image 6" descr="MessageCircl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8072" y="4370832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623560" y="411480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groups</a:t>
            </a:r>
            <a:endParaRPr lang="en-US" sz="1400" dirty="0"/>
          </a:p>
        </p:txBody>
      </p:sp>
      <p:sp>
        <p:nvSpPr>
          <p:cNvPr id="35" name="Shape 26"/>
          <p:cNvSpPr/>
          <p:nvPr/>
        </p:nvSpPr>
        <p:spPr>
          <a:xfrm>
            <a:off x="502920" y="5120640"/>
            <a:ext cx="6492240" cy="566928"/>
          </a:xfrm>
          <a:prstGeom prst="roundRect">
            <a:avLst>
              <a:gd name="adj" fmla="val 161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685800" y="5120640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and inconsistent, so nobody sees the whole picture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7315200" y="3703320"/>
            <a:ext cx="21488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7498080" y="381304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8-15 %</a:t>
            </a:r>
            <a:endParaRPr lang="en-US" sz="3600" dirty="0"/>
          </a:p>
        </p:txBody>
      </p:sp>
      <p:sp>
        <p:nvSpPr>
          <p:cNvPr id="39" name="Text 30"/>
          <p:cNvSpPr txBox="1"/>
          <p:nvPr/>
        </p:nvSpPr>
        <p:spPr>
          <a:xfrm>
            <a:off x="7498080" y="4453128"/>
            <a:ext cx="17830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students drop out or default mid-session, mostly in months 1 to 5</a:t>
            </a:r>
            <a:endParaRPr lang="en-US" sz="1200" dirty="0"/>
          </a:p>
        </p:txBody>
      </p:sp>
      <p:sp>
        <p:nvSpPr>
          <p:cNvPr id="40" name="Shape 31"/>
          <p:cNvSpPr/>
          <p:nvPr/>
        </p:nvSpPr>
        <p:spPr>
          <a:xfrm>
            <a:off x="7498080" y="5358384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7498080" y="535838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BASELINE</a:t>
            </a:r>
            <a:endParaRPr lang="en-US" sz="900" dirty="0"/>
          </a:p>
        </p:txBody>
      </p:sp>
      <p:sp>
        <p:nvSpPr>
          <p:cNvPr id="42" name="Shape 33"/>
          <p:cNvSpPr/>
          <p:nvPr/>
        </p:nvSpPr>
        <p:spPr>
          <a:xfrm>
            <a:off x="9601200" y="370332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9784080" y="3813048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₹36,000</a:t>
            </a:r>
            <a:endParaRPr lang="en-US" sz="3600" dirty="0"/>
          </a:p>
        </p:txBody>
      </p:sp>
      <p:sp>
        <p:nvSpPr>
          <p:cNvPr id="44" name="Text 35"/>
          <p:cNvSpPr txBox="1"/>
          <p:nvPr/>
        </p:nvSpPr>
        <p:spPr>
          <a:xfrm>
            <a:off x="9784080" y="4453128"/>
            <a:ext cx="171907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lost per dropout at month 4 (400 students, ₹60,000 fee)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9784080" y="5358384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9784080" y="535838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BASELINE</a:t>
            </a:r>
            <a:endParaRPr lang="en-US" sz="900" dirty="0"/>
          </a:p>
        </p:txBody>
      </p:sp>
      <p:sp>
        <p:nvSpPr>
          <p:cNvPr id="47" name="Shape 38"/>
          <p:cNvSpPr/>
          <p:nvPr/>
        </p:nvSpPr>
        <p:spPr>
          <a:xfrm>
            <a:off x="502920" y="5897880"/>
            <a:ext cx="2081784" cy="310896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502920" y="5897880"/>
            <a:ext cx="2081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Price-sensitive owners</a:t>
            </a:r>
            <a:endParaRPr lang="en-US" sz="1200" dirty="0"/>
          </a:p>
        </p:txBody>
      </p:sp>
      <p:sp>
        <p:nvSpPr>
          <p:cNvPr id="49" name="Shape 40"/>
          <p:cNvSpPr/>
          <p:nvPr/>
        </p:nvSpPr>
        <p:spPr>
          <a:xfrm>
            <a:off x="2721864" y="5897880"/>
            <a:ext cx="1411224" cy="310896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2721864" y="5897880"/>
            <a:ext cx="1411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Low-tech staff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>
            <a:off x="4270248" y="5897880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4270248" y="5897880"/>
            <a:ext cx="14950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</a:t>
            </a:r>
            <a:endParaRPr lang="en-US" sz="1200" dirty="0"/>
          </a:p>
        </p:txBody>
      </p:sp>
      <p:sp>
        <p:nvSpPr>
          <p:cNvPr id="53" name="Shape 44"/>
          <p:cNvSpPr/>
          <p:nvPr/>
        </p:nvSpPr>
        <p:spPr>
          <a:xfrm>
            <a:off x="5902452" y="5897880"/>
            <a:ext cx="2249424" cy="310896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5902452" y="589788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students are minors</a:t>
            </a:r>
            <a:endParaRPr lang="en-US" sz="1200" dirty="0"/>
          </a:p>
        </p:txBody>
      </p:sp>
      <p:sp>
        <p:nvSpPr>
          <p:cNvPr id="55" name="Text 46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Participant Guide, sections 2, 6 and 7 (illustrative baselines).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77696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1377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upload turns marks sheets into a topic map, a support list and a parent report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556434" cy="1188720"/>
          </a:xfrm>
          <a:prstGeom prst="roundRect">
            <a:avLst>
              <a:gd name="adj" fmla="val 7692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920240"/>
            <a:ext cx="384048" cy="384048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883664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23160"/>
            <a:ext cx="2190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CSV or an OMR photo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05074" y="2304288"/>
            <a:ext cx="228600" cy="0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79394" y="1783080"/>
            <a:ext cx="2556434" cy="1188720"/>
          </a:xfrm>
          <a:prstGeom prst="roundRect">
            <a:avLst>
              <a:gd name="adj" fmla="val 7692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2274" y="1920240"/>
            <a:ext cx="384048" cy="384048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62274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065194" y="1883664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562274" y="2423160"/>
            <a:ext cx="2190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mastery and question difficulty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1548" y="2304288"/>
            <a:ext cx="228600" cy="0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55868" y="1783080"/>
            <a:ext cx="2556434" cy="1188720"/>
          </a:xfrm>
          <a:prstGeom prst="roundRect">
            <a:avLst>
              <a:gd name="adj" fmla="val 7692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1920240"/>
            <a:ext cx="384048" cy="384048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3874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941668" y="1883664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2423160"/>
            <a:ext cx="2190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support list with reasons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858021" y="2304288"/>
            <a:ext cx="228600" cy="0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32341" y="1783080"/>
            <a:ext cx="2556434" cy="1188720"/>
          </a:xfrm>
          <a:prstGeom prst="roundRect">
            <a:avLst>
              <a:gd name="adj" fmla="val 7692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15221" y="1920240"/>
            <a:ext cx="384048" cy="384048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15221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818141" y="1883664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315221" y="2423160"/>
            <a:ext cx="2190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and English parent reports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2920" y="3200400"/>
            <a:ext cx="2556434" cy="2651760"/>
          </a:xfrm>
          <a:prstGeom prst="roundRect">
            <a:avLst>
              <a:gd name="adj" fmla="val 357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273552"/>
            <a:ext cx="21906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</a:t>
            </a:r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chem_test_12.xlsx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" y="3712464"/>
            <a:ext cx="1704594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3712464"/>
            <a:ext cx="1704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found in row 3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114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column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964017" y="4114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it as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4389120"/>
            <a:ext cx="10038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964017" y="4389120"/>
            <a:ext cx="9124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roll_no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4700016"/>
            <a:ext cx="10038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नाम / Name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964017" y="4700016"/>
            <a:ext cx="9124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student_name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5010912"/>
            <a:ext cx="10038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... Q75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964017" y="5010912"/>
            <a:ext cx="9124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321808"/>
            <a:ext cx="10038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/ A / -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964017" y="5321808"/>
            <a:ext cx="9124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85800" y="5742432"/>
            <a:ext cx="1495044" cy="256032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85800" y="5742432"/>
            <a:ext cx="1495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rows need a look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379394" y="3200400"/>
            <a:ext cx="2556434" cy="2651760"/>
          </a:xfrm>
          <a:prstGeom prst="roundRect">
            <a:avLst>
              <a:gd name="adj" fmla="val 357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946322" y="3273552"/>
            <a:ext cx="497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4443698" y="3273552"/>
            <a:ext cx="497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941075" y="3273552"/>
            <a:ext cx="497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438451" y="3273552"/>
            <a:ext cx="497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3470834" y="380390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S-101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964610" y="3822192"/>
            <a:ext cx="460800" cy="292608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51" name="Shape 49"/>
          <p:cNvSpPr/>
          <p:nvPr/>
        </p:nvSpPr>
        <p:spPr>
          <a:xfrm>
            <a:off x="4461986" y="3822192"/>
            <a:ext cx="460800" cy="29260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59363" y="3822192"/>
            <a:ext cx="460800" cy="292608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53" name="Shape 51"/>
          <p:cNvSpPr/>
          <p:nvPr/>
        </p:nvSpPr>
        <p:spPr>
          <a:xfrm>
            <a:off x="5456739" y="3822192"/>
            <a:ext cx="460800" cy="29260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70834" y="4133088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S-108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964610" y="4151376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6" name="Shape 54"/>
          <p:cNvSpPr/>
          <p:nvPr/>
        </p:nvSpPr>
        <p:spPr>
          <a:xfrm>
            <a:off x="4461986" y="4151376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7" name="Shape 55"/>
          <p:cNvSpPr/>
          <p:nvPr/>
        </p:nvSpPr>
        <p:spPr>
          <a:xfrm>
            <a:off x="4959363" y="4151376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8" name="Shape 56"/>
          <p:cNvSpPr/>
          <p:nvPr/>
        </p:nvSpPr>
        <p:spPr>
          <a:xfrm>
            <a:off x="5456739" y="4151376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70834" y="446227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S-115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3964610" y="4480560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1986" y="4480560"/>
            <a:ext cx="460800" cy="292608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62" name="Shape 60"/>
          <p:cNvSpPr/>
          <p:nvPr/>
        </p:nvSpPr>
        <p:spPr>
          <a:xfrm>
            <a:off x="4959363" y="4480560"/>
            <a:ext cx="460800" cy="292608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63" name="Shape 61"/>
          <p:cNvSpPr/>
          <p:nvPr/>
        </p:nvSpPr>
        <p:spPr>
          <a:xfrm>
            <a:off x="5456739" y="4480560"/>
            <a:ext cx="460800" cy="292608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70834" y="4791456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S-122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3964610" y="4809744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66" name="Shape 64"/>
          <p:cNvSpPr/>
          <p:nvPr/>
        </p:nvSpPr>
        <p:spPr>
          <a:xfrm>
            <a:off x="4461986" y="4809744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67" name="Shape 65"/>
          <p:cNvSpPr/>
          <p:nvPr/>
        </p:nvSpPr>
        <p:spPr>
          <a:xfrm>
            <a:off x="4959363" y="4809744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68" name="Shape 66"/>
          <p:cNvSpPr/>
          <p:nvPr/>
        </p:nvSpPr>
        <p:spPr>
          <a:xfrm>
            <a:off x="5456739" y="4809744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0834" y="5120640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S-129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3964610" y="5138928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71" name="Shape 69"/>
          <p:cNvSpPr/>
          <p:nvPr/>
        </p:nvSpPr>
        <p:spPr>
          <a:xfrm>
            <a:off x="4461986" y="5138928"/>
            <a:ext cx="460800" cy="292608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72" name="Shape 70"/>
          <p:cNvSpPr/>
          <p:nvPr/>
        </p:nvSpPr>
        <p:spPr>
          <a:xfrm>
            <a:off x="4959363" y="5138928"/>
            <a:ext cx="460800" cy="292608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73" name="Shape 71"/>
          <p:cNvSpPr/>
          <p:nvPr/>
        </p:nvSpPr>
        <p:spPr>
          <a:xfrm>
            <a:off x="5456739" y="5138928"/>
            <a:ext cx="460800" cy="292608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70834" y="544982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S-136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3964610" y="5468112"/>
            <a:ext cx="460800" cy="292608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76" name="Shape 74"/>
          <p:cNvSpPr/>
          <p:nvPr/>
        </p:nvSpPr>
        <p:spPr>
          <a:xfrm>
            <a:off x="4461986" y="5468112"/>
            <a:ext cx="460800" cy="292608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959363" y="5468112"/>
            <a:ext cx="460800" cy="292608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5456739" y="5468112"/>
            <a:ext cx="460800" cy="292608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6255868" y="3200400"/>
            <a:ext cx="2556434" cy="2651760"/>
          </a:xfrm>
          <a:prstGeom prst="roundRect">
            <a:avLst>
              <a:gd name="adj" fmla="val 357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438748" y="32552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list</a:t>
            </a:r>
            <a:pPr algn="l" indent="0" marL="0">
              <a:buNone/>
            </a:pP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6265012" y="3657600"/>
            <a:ext cx="2538146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438748" y="365760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S-114</a:t>
            </a:r>
            <a:endParaRPr lang="en-US" sz="1050" dirty="0"/>
          </a:p>
        </p:txBody>
      </p:sp>
      <p:sp>
        <p:nvSpPr>
          <p:cNvPr id="83" name="Text 81"/>
          <p:cNvSpPr txBox="1"/>
          <p:nvPr/>
        </p:nvSpPr>
        <p:spPr>
          <a:xfrm>
            <a:off x="7124548" y="3657600"/>
            <a:ext cx="15963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6 of the last 10 classes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6265012" y="4078224"/>
            <a:ext cx="2538146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438748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S-142</a:t>
            </a:r>
            <a:endParaRPr lang="en-US" sz="1050" dirty="0"/>
          </a:p>
        </p:txBody>
      </p:sp>
      <p:sp>
        <p:nvSpPr>
          <p:cNvPr id="86" name="Text 84"/>
          <p:cNvSpPr txBox="1"/>
          <p:nvPr/>
        </p:nvSpPr>
        <p:spPr>
          <a:xfrm>
            <a:off x="7124548" y="4078224"/>
            <a:ext cx="15963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2 recent tests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265012" y="4498848"/>
            <a:ext cx="2538146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438748" y="44988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S-107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7124548" y="4498848"/>
            <a:ext cx="15963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slipped over the last 3 tests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6265012" y="4919472"/>
            <a:ext cx="2538146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438748" y="491947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S-163</a:t>
            </a:r>
            <a:endParaRPr lang="en-US" sz="1050" dirty="0"/>
          </a:p>
        </p:txBody>
      </p:sp>
      <p:sp>
        <p:nvSpPr>
          <p:cNvPr id="92" name="Text 90"/>
          <p:cNvSpPr txBox="1"/>
          <p:nvPr/>
        </p:nvSpPr>
        <p:spPr>
          <a:xfrm>
            <a:off x="7124548" y="4919472"/>
            <a:ext cx="15963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slipping in 3 chapters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6265012" y="5340096"/>
            <a:ext cx="2538146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6438748" y="534009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S-128</a:t>
            </a:r>
            <a:endParaRPr lang="en-US" sz="1050" dirty="0"/>
          </a:p>
        </p:txBody>
      </p:sp>
      <p:sp>
        <p:nvSpPr>
          <p:cNvPr id="95" name="Text 93"/>
          <p:cNvSpPr txBox="1"/>
          <p:nvPr/>
        </p:nvSpPr>
        <p:spPr>
          <a:xfrm>
            <a:off x="7124548" y="5340096"/>
            <a:ext cx="15963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5 days in a row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9406661" y="3200400"/>
            <a:ext cx="2007794" cy="2651760"/>
          </a:xfrm>
          <a:prstGeom prst="roundRect">
            <a:avLst>
              <a:gd name="adj" fmla="val 12752"/>
            </a:avLst>
          </a:prstGeom>
          <a:solidFill>
            <a:srgbClr val="FFFFFF"/>
          </a:solidFill>
          <a:ln w="38100">
            <a:solidFill>
              <a:srgbClr val="0B2545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136238" y="329184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36238" y="3291840"/>
            <a:ext cx="5486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9534677" y="3474720"/>
            <a:ext cx="1751762" cy="384048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644405" y="3474720"/>
            <a:ext cx="153230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AlphaQ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9607829" y="3931920"/>
            <a:ext cx="1605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प्रगति रिपोर्ट (2026-W20)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9607829" y="4352544"/>
            <a:ext cx="160545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41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प्रिय अभिभावक, AlphaQ डेमो संस्थान की ओर से आरव (काल्पनिक) की अवधि 2026-W20 की अध्ययन जानकारी साझा की जा रही है। इस ...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9589541" y="5394960"/>
            <a:ext cx="1642034" cy="237744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589541" y="5394960"/>
            <a:ext cx="16420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checked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502920" y="598932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502920" y="598932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2834640" y="5961888"/>
            <a:ext cx="2500884" cy="292608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2834640" y="5961888"/>
            <a:ext cx="25008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on one laptop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445252" y="5961888"/>
            <a:ext cx="1662684" cy="292608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445252" y="5961888"/>
            <a:ext cx="16626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and English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7217664" y="5961888"/>
            <a:ext cx="1578864" cy="292608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7217664" y="5961888"/>
            <a:ext cx="1578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services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are illustrative mock-ups with synthetic data; the report text is produced by our report module.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517648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51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AND ARCHITECTURE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upload what they already have, and the system cleans up the mess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7830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2519172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5557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CSV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3168396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168396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3543300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579876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photo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4192524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4192524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4567428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60400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Forms, WhatsApp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5216652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5216652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709928" y="4023360"/>
            <a:ext cx="146304" cy="0"/>
          </a:xfrm>
          <a:prstGeom prst="line">
            <a:avLst/>
          </a:prstGeom>
          <a:noFill/>
          <a:ln w="1905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1874520" y="17830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031236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65960" y="306781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mapper and error preview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965960" y="3680460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965960" y="3680460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874520" y="4055364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65960" y="40919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reader with one-tap fix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965960" y="4704588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965960" y="4704588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081528" y="4023360"/>
            <a:ext cx="146304" cy="0"/>
          </a:xfrm>
          <a:prstGeom prst="line">
            <a:avLst/>
          </a:prstGeom>
          <a:noFill/>
          <a:ln w="1905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246120" y="17830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46120" y="3268980"/>
            <a:ext cx="1188720" cy="1463040"/>
          </a:xfrm>
          <a:prstGeom prst="roundRect">
            <a:avLst>
              <a:gd name="adj" fmla="val 769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37560" y="3305556"/>
            <a:ext cx="10058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PostgreSQL: one institute per row, checked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337560" y="4466844"/>
            <a:ext cx="583184" cy="201168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37560" y="4466844"/>
            <a:ext cx="58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453128" y="4023360"/>
            <a:ext cx="146304" cy="0"/>
          </a:xfrm>
          <a:prstGeom prst="line">
            <a:avLst/>
          </a:prstGeom>
          <a:noFill/>
          <a:ln w="1905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17720" y="17830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17720" y="2103120"/>
            <a:ext cx="1188720" cy="866394"/>
          </a:xfrm>
          <a:prstGeom prst="roundRect">
            <a:avLst>
              <a:gd name="adj" fmla="val 10554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09160" y="2139696"/>
            <a:ext cx="1005840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and mastery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2704338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709160" y="2704338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617720" y="3079242"/>
            <a:ext cx="1188720" cy="866394"/>
          </a:xfrm>
          <a:prstGeom prst="roundRect">
            <a:avLst>
              <a:gd name="adj" fmla="val 10554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709160" y="3115818"/>
            <a:ext cx="1005840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709160" y="3680460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3680460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617720" y="4055364"/>
            <a:ext cx="1188720" cy="866394"/>
          </a:xfrm>
          <a:prstGeom prst="roundRect">
            <a:avLst>
              <a:gd name="adj" fmla="val 10554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709160" y="4091940"/>
            <a:ext cx="1005840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09160" y="4656582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709160" y="4656582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617720" y="5031486"/>
            <a:ext cx="1188720" cy="866394"/>
          </a:xfrm>
          <a:prstGeom prst="roundRect">
            <a:avLst>
              <a:gd name="adj" fmla="val 10554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709160" y="5068062"/>
            <a:ext cx="1005840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09160" y="5632704"/>
            <a:ext cx="583184" cy="201168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709160" y="5632704"/>
            <a:ext cx="58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824728" y="4023360"/>
            <a:ext cx="146304" cy="0"/>
          </a:xfrm>
          <a:prstGeom prst="line">
            <a:avLst/>
          </a:prstGeom>
          <a:noFill/>
          <a:ln w="1905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5989320" y="17830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989320" y="2519172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080760" y="25557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080760" y="3168396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080760" y="3168396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989320" y="3543300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080760" y="3579876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and mentor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080760" y="4192524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080760" y="4192524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5989320" y="4567428"/>
            <a:ext cx="11887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080760" y="460400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(mobile)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080760" y="5216652"/>
            <a:ext cx="790448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080760" y="5216652"/>
            <a:ext cx="790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" y="594360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 on one laptop. No paid services.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7543800" y="1783080"/>
            <a:ext cx="4142232" cy="137160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708392" y="1929384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69" name="Image 0" descr="FileSpreadshee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5136" y="2026128"/>
            <a:ext cx="227137" cy="227137"/>
          </a:xfrm>
          <a:prstGeom prst="rect">
            <a:avLst/>
          </a:prstGeom>
        </p:spPr>
      </p:pic>
      <p:sp>
        <p:nvSpPr>
          <p:cNvPr id="70" name="Text 67"/>
          <p:cNvSpPr txBox="1"/>
          <p:nvPr/>
        </p:nvSpPr>
        <p:spPr>
          <a:xfrm>
            <a:off x="8257032" y="191109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and CSV</a:t>
            </a:r>
            <a:endParaRPr lang="en-US" sz="1600" dirty="0"/>
          </a:p>
        </p:txBody>
      </p:sp>
      <p:sp>
        <p:nvSpPr>
          <p:cNvPr id="71" name="Text 68"/>
          <p:cNvSpPr txBox="1"/>
          <p:nvPr/>
        </p:nvSpPr>
        <p:spPr>
          <a:xfrm>
            <a:off x="7726680" y="2423160"/>
            <a:ext cx="3776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header row, reads English, Hinglish and Devanagari column names, and shows each row error before saving.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7543800" y="3310128"/>
            <a:ext cx="4142232" cy="137160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708392" y="3456432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74" name="Image 1" descr="ScanLin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136" y="3553176"/>
            <a:ext cx="227137" cy="227137"/>
          </a:xfrm>
          <a:prstGeom prst="rect">
            <a:avLst/>
          </a:prstGeom>
        </p:spPr>
      </p:pic>
      <p:sp>
        <p:nvSpPr>
          <p:cNvPr id="75" name="Text 71"/>
          <p:cNvSpPr txBox="1"/>
          <p:nvPr/>
        </p:nvSpPr>
        <p:spPr>
          <a:xfrm>
            <a:off x="8257032" y="3438144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OMR photo</a:t>
            </a:r>
            <a:endParaRPr lang="en-US" sz="1600" dirty="0"/>
          </a:p>
        </p:txBody>
      </p:sp>
      <p:sp>
        <p:nvSpPr>
          <p:cNvPr id="76" name="Text 72"/>
          <p:cNvSpPr txBox="1"/>
          <p:nvPr/>
        </p:nvSpPr>
        <p:spPr>
          <a:xfrm>
            <a:off x="7726680" y="3950208"/>
            <a:ext cx="3776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corner marks and a QR code identify the test. Uncertain bubbles are shown for a one-tap fix.</a:t>
            </a:r>
            <a:endParaRPr lang="en-US" sz="1200" dirty="0"/>
          </a:p>
        </p:txBody>
      </p:sp>
      <p:sp>
        <p:nvSpPr>
          <p:cNvPr id="77" name="Shape 73"/>
          <p:cNvSpPr/>
          <p:nvPr/>
        </p:nvSpPr>
        <p:spPr>
          <a:xfrm>
            <a:off x="7543800" y="4837176"/>
            <a:ext cx="4142232" cy="137160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7708392" y="4983480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79" name="Image 2" descr="Shield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5136" y="5080224"/>
            <a:ext cx="227137" cy="227137"/>
          </a:xfrm>
          <a:prstGeom prst="rect">
            <a:avLst/>
          </a:prstGeom>
        </p:spPr>
      </p:pic>
      <p:sp>
        <p:nvSpPr>
          <p:cNvPr id="80" name="Text 75"/>
          <p:cNvSpPr txBox="1"/>
          <p:nvPr/>
        </p:nvSpPr>
        <p:spPr>
          <a:xfrm>
            <a:off x="8257032" y="4965192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 and safe</a:t>
            </a:r>
            <a:endParaRPr lang="en-US" sz="1600" dirty="0"/>
          </a:p>
        </p:txBody>
      </p:sp>
      <p:sp>
        <p:nvSpPr>
          <p:cNvPr id="81" name="Text 76"/>
          <p:cNvSpPr txBox="1"/>
          <p:nvPr/>
        </p:nvSpPr>
        <p:spPr>
          <a:xfrm>
            <a:off x="7726680" y="5477256"/>
            <a:ext cx="3776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institute cannot read another's rows. Verified on PostgreSQL 16. All-in cost ₹3.6 per student per month.</a:t>
            </a:r>
            <a:endParaRPr lang="en-US" sz="1200" dirty="0"/>
          </a:p>
        </p:txBody>
      </p:sp>
      <p:sp>
        <p:nvSpPr>
          <p:cNvPr id="82" name="Text 77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contracts/schema.sql, generator messy exports, financial model (COGS_Build). Status tags show what exists today.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947672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ANALYTICS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estimate what each student knows, topic by topic, and say how sure we are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760720" cy="406908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85623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5623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motion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185623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and energy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185623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85623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85623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5623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185623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350008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61288" y="236829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16" name="Shape 14"/>
          <p:cNvSpPr/>
          <p:nvPr/>
        </p:nvSpPr>
        <p:spPr>
          <a:xfrm>
            <a:off x="1801368" y="2368296"/>
            <a:ext cx="603504" cy="275234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7" name="Shape 15"/>
          <p:cNvSpPr/>
          <p:nvPr/>
        </p:nvSpPr>
        <p:spPr>
          <a:xfrm>
            <a:off x="2441448" y="236829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18" name="Shape 16"/>
          <p:cNvSpPr/>
          <p:nvPr/>
        </p:nvSpPr>
        <p:spPr>
          <a:xfrm>
            <a:off x="3081528" y="2368296"/>
            <a:ext cx="603504" cy="275234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21608" y="2368296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20" name="Shape 18"/>
          <p:cNvSpPr/>
          <p:nvPr/>
        </p:nvSpPr>
        <p:spPr>
          <a:xfrm>
            <a:off x="4361688" y="2368296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21" name="Shape 19"/>
          <p:cNvSpPr/>
          <p:nvPr/>
        </p:nvSpPr>
        <p:spPr>
          <a:xfrm>
            <a:off x="5001768" y="236829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22" name="Shape 20"/>
          <p:cNvSpPr/>
          <p:nvPr/>
        </p:nvSpPr>
        <p:spPr>
          <a:xfrm>
            <a:off x="5641848" y="236829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2661818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61288" y="2680106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25" name="Shape 23"/>
          <p:cNvSpPr/>
          <p:nvPr/>
        </p:nvSpPr>
        <p:spPr>
          <a:xfrm>
            <a:off x="1801368" y="268010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26" name="Shape 24"/>
          <p:cNvSpPr/>
          <p:nvPr/>
        </p:nvSpPr>
        <p:spPr>
          <a:xfrm>
            <a:off x="2441448" y="268010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27" name="Shape 25"/>
          <p:cNvSpPr/>
          <p:nvPr/>
        </p:nvSpPr>
        <p:spPr>
          <a:xfrm>
            <a:off x="3081528" y="268010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28" name="Shape 26"/>
          <p:cNvSpPr/>
          <p:nvPr/>
        </p:nvSpPr>
        <p:spPr>
          <a:xfrm>
            <a:off x="3721608" y="2680106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61688" y="268010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30" name="Shape 28"/>
          <p:cNvSpPr/>
          <p:nvPr/>
        </p:nvSpPr>
        <p:spPr>
          <a:xfrm>
            <a:off x="5001768" y="2680106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31" name="Shape 29"/>
          <p:cNvSpPr/>
          <p:nvPr/>
        </p:nvSpPr>
        <p:spPr>
          <a:xfrm>
            <a:off x="5641848" y="2680106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2973629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S-115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161288" y="2991917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34" name="Shape 32"/>
          <p:cNvSpPr/>
          <p:nvPr/>
        </p:nvSpPr>
        <p:spPr>
          <a:xfrm>
            <a:off x="1801368" y="299191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35" name="Shape 33"/>
          <p:cNvSpPr/>
          <p:nvPr/>
        </p:nvSpPr>
        <p:spPr>
          <a:xfrm>
            <a:off x="2441448" y="299191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1528" y="2991917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37" name="Shape 35"/>
          <p:cNvSpPr/>
          <p:nvPr/>
        </p:nvSpPr>
        <p:spPr>
          <a:xfrm>
            <a:off x="3721608" y="2991917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38" name="Shape 36"/>
          <p:cNvSpPr/>
          <p:nvPr/>
        </p:nvSpPr>
        <p:spPr>
          <a:xfrm>
            <a:off x="4361688" y="299191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39" name="Shape 37"/>
          <p:cNvSpPr/>
          <p:nvPr/>
        </p:nvSpPr>
        <p:spPr>
          <a:xfrm>
            <a:off x="5001768" y="299191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40" name="Shape 38"/>
          <p:cNvSpPr/>
          <p:nvPr/>
        </p:nvSpPr>
        <p:spPr>
          <a:xfrm>
            <a:off x="5641848" y="299191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3285439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S-122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161288" y="330372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43" name="Shape 41"/>
          <p:cNvSpPr/>
          <p:nvPr/>
        </p:nvSpPr>
        <p:spPr>
          <a:xfrm>
            <a:off x="1801368" y="330372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44" name="Shape 42"/>
          <p:cNvSpPr/>
          <p:nvPr/>
        </p:nvSpPr>
        <p:spPr>
          <a:xfrm>
            <a:off x="2441448" y="330372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45" name="Shape 43"/>
          <p:cNvSpPr/>
          <p:nvPr/>
        </p:nvSpPr>
        <p:spPr>
          <a:xfrm>
            <a:off x="3081528" y="3303727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46" name="Shape 44"/>
          <p:cNvSpPr/>
          <p:nvPr/>
        </p:nvSpPr>
        <p:spPr>
          <a:xfrm>
            <a:off x="3721608" y="3303727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47" name="Shape 45"/>
          <p:cNvSpPr/>
          <p:nvPr/>
        </p:nvSpPr>
        <p:spPr>
          <a:xfrm>
            <a:off x="4361688" y="330372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48" name="Shape 46"/>
          <p:cNvSpPr/>
          <p:nvPr/>
        </p:nvSpPr>
        <p:spPr>
          <a:xfrm>
            <a:off x="5001768" y="330372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49" name="Shape 47"/>
          <p:cNvSpPr/>
          <p:nvPr/>
        </p:nvSpPr>
        <p:spPr>
          <a:xfrm>
            <a:off x="5641848" y="3303727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94360" y="3597250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S-129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161288" y="361553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2" name="Shape 50"/>
          <p:cNvSpPr/>
          <p:nvPr/>
        </p:nvSpPr>
        <p:spPr>
          <a:xfrm>
            <a:off x="1801368" y="361553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3" name="Shape 51"/>
          <p:cNvSpPr/>
          <p:nvPr/>
        </p:nvSpPr>
        <p:spPr>
          <a:xfrm>
            <a:off x="2441448" y="3615538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54" name="Shape 52"/>
          <p:cNvSpPr/>
          <p:nvPr/>
        </p:nvSpPr>
        <p:spPr>
          <a:xfrm>
            <a:off x="3081528" y="361553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5" name="Shape 53"/>
          <p:cNvSpPr/>
          <p:nvPr/>
        </p:nvSpPr>
        <p:spPr>
          <a:xfrm>
            <a:off x="3721608" y="3615538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56" name="Shape 54"/>
          <p:cNvSpPr/>
          <p:nvPr/>
        </p:nvSpPr>
        <p:spPr>
          <a:xfrm>
            <a:off x="4361688" y="361553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7" name="Shape 55"/>
          <p:cNvSpPr/>
          <p:nvPr/>
        </p:nvSpPr>
        <p:spPr>
          <a:xfrm>
            <a:off x="5001768" y="361553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8" name="Shape 56"/>
          <p:cNvSpPr/>
          <p:nvPr/>
        </p:nvSpPr>
        <p:spPr>
          <a:xfrm>
            <a:off x="5641848" y="361553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94360" y="3909060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S-136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161288" y="3927348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61" name="Shape 59"/>
          <p:cNvSpPr/>
          <p:nvPr/>
        </p:nvSpPr>
        <p:spPr>
          <a:xfrm>
            <a:off x="1801368" y="3927348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62" name="Shape 60"/>
          <p:cNvSpPr/>
          <p:nvPr/>
        </p:nvSpPr>
        <p:spPr>
          <a:xfrm>
            <a:off x="2441448" y="3927348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63" name="Shape 61"/>
          <p:cNvSpPr/>
          <p:nvPr/>
        </p:nvSpPr>
        <p:spPr>
          <a:xfrm>
            <a:off x="3081528" y="3927348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64" name="Shape 62"/>
          <p:cNvSpPr/>
          <p:nvPr/>
        </p:nvSpPr>
        <p:spPr>
          <a:xfrm>
            <a:off x="3721608" y="3927348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65" name="Shape 63"/>
          <p:cNvSpPr/>
          <p:nvPr/>
        </p:nvSpPr>
        <p:spPr>
          <a:xfrm>
            <a:off x="4361688" y="3927348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66" name="Shape 64"/>
          <p:cNvSpPr/>
          <p:nvPr/>
        </p:nvSpPr>
        <p:spPr>
          <a:xfrm>
            <a:off x="5001768" y="3927348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67" name="Shape 65"/>
          <p:cNvSpPr/>
          <p:nvPr/>
        </p:nvSpPr>
        <p:spPr>
          <a:xfrm>
            <a:off x="5641848" y="3927348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94360" y="4220870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S-143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161288" y="4239158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70" name="Shape 68"/>
          <p:cNvSpPr/>
          <p:nvPr/>
        </p:nvSpPr>
        <p:spPr>
          <a:xfrm>
            <a:off x="1801368" y="423915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71" name="Shape 69"/>
          <p:cNvSpPr/>
          <p:nvPr/>
        </p:nvSpPr>
        <p:spPr>
          <a:xfrm>
            <a:off x="2441448" y="4239158"/>
            <a:ext cx="603504" cy="275234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72" name="Shape 70"/>
          <p:cNvSpPr/>
          <p:nvPr/>
        </p:nvSpPr>
        <p:spPr>
          <a:xfrm>
            <a:off x="3081528" y="423915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73" name="Shape 71"/>
          <p:cNvSpPr/>
          <p:nvPr/>
        </p:nvSpPr>
        <p:spPr>
          <a:xfrm>
            <a:off x="3721608" y="4239158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4361688" y="4239158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75" name="Shape 73"/>
          <p:cNvSpPr/>
          <p:nvPr/>
        </p:nvSpPr>
        <p:spPr>
          <a:xfrm>
            <a:off x="5001768" y="4239158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76" name="Shape 74"/>
          <p:cNvSpPr/>
          <p:nvPr/>
        </p:nvSpPr>
        <p:spPr>
          <a:xfrm>
            <a:off x="5641848" y="4239158"/>
            <a:ext cx="603504" cy="275234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94360" y="4532681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S-150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61288" y="4550969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79" name="Shape 77"/>
          <p:cNvSpPr/>
          <p:nvPr/>
        </p:nvSpPr>
        <p:spPr>
          <a:xfrm>
            <a:off x="1801368" y="4550969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80" name="Shape 78"/>
          <p:cNvSpPr/>
          <p:nvPr/>
        </p:nvSpPr>
        <p:spPr>
          <a:xfrm>
            <a:off x="2441448" y="4550969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81" name="Shape 79"/>
          <p:cNvSpPr/>
          <p:nvPr/>
        </p:nvSpPr>
        <p:spPr>
          <a:xfrm>
            <a:off x="3081528" y="4550969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82" name="Shape 80"/>
          <p:cNvSpPr/>
          <p:nvPr/>
        </p:nvSpPr>
        <p:spPr>
          <a:xfrm>
            <a:off x="3721608" y="4550969"/>
            <a:ext cx="603504" cy="275234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83" name="Shape 81"/>
          <p:cNvSpPr/>
          <p:nvPr/>
        </p:nvSpPr>
        <p:spPr>
          <a:xfrm>
            <a:off x="4361688" y="4550969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84" name="Shape 82"/>
          <p:cNvSpPr/>
          <p:nvPr/>
        </p:nvSpPr>
        <p:spPr>
          <a:xfrm>
            <a:off x="5001768" y="4550969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85" name="Shape 83"/>
          <p:cNvSpPr/>
          <p:nvPr/>
        </p:nvSpPr>
        <p:spPr>
          <a:xfrm>
            <a:off x="5641848" y="4550969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594360" y="4844491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S-157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1161288" y="4862779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1801368" y="4862779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2441448" y="4862779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3081528" y="4862779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3721608" y="4862779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4361688" y="4862779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5001768" y="4862779"/>
            <a:ext cx="603504" cy="275234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94" name="Shape 92"/>
          <p:cNvSpPr/>
          <p:nvPr/>
        </p:nvSpPr>
        <p:spPr>
          <a:xfrm>
            <a:off x="5641848" y="4862779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594360" y="5156302"/>
            <a:ext cx="54864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S-164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1161288" y="5174590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97" name="Shape 95"/>
          <p:cNvSpPr/>
          <p:nvPr/>
        </p:nvSpPr>
        <p:spPr>
          <a:xfrm>
            <a:off x="1801368" y="5174590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98" name="Shape 96"/>
          <p:cNvSpPr/>
          <p:nvPr/>
        </p:nvSpPr>
        <p:spPr>
          <a:xfrm>
            <a:off x="2441448" y="5174590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1528" y="5174590"/>
            <a:ext cx="603504" cy="275234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21608" y="5174590"/>
            <a:ext cx="603504" cy="275234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361688" y="5174590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001768" y="5174590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41848" y="5174590"/>
            <a:ext cx="603504" cy="275234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07892" y="2331720"/>
            <a:ext cx="630936" cy="3154680"/>
          </a:xfrm>
          <a:prstGeom prst="roundRect">
            <a:avLst>
              <a:gd name="adj" fmla="val 8696"/>
            </a:avLst>
          </a:prstGeom>
          <a:ln w="25400">
            <a:solidFill>
              <a:srgbClr val="0B254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12648" y="5605272"/>
            <a:ext cx="182880" cy="1828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868680" y="55412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data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2263140" y="5605272"/>
            <a:ext cx="182880" cy="182880"/>
          </a:xfrm>
          <a:prstGeom prst="rect">
            <a:avLst/>
          </a:prstGeom>
          <a:solidFill>
            <a:srgbClr val="C9E6E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2519172" y="55412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3369564" y="5605272"/>
            <a:ext cx="182880" cy="182880"/>
          </a:xfrm>
          <a:prstGeom prst="rect">
            <a:avLst/>
          </a:prstGeom>
          <a:solidFill>
            <a:srgbClr val="6FBFC0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3625596" y="55412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</a:t>
            </a:r>
            <a:endParaRPr lang="en-US" sz="1100" dirty="0"/>
          </a:p>
        </p:txBody>
      </p:sp>
      <p:sp>
        <p:nvSpPr>
          <p:cNvPr id="111" name="Shape 109"/>
          <p:cNvSpPr/>
          <p:nvPr/>
        </p:nvSpPr>
        <p:spPr>
          <a:xfrm>
            <a:off x="4320540" y="5605272"/>
            <a:ext cx="182880" cy="182880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4576572" y="55412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502920" y="594360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502920" y="594360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115" name="Text 113"/>
          <p:cNvSpPr txBox="1"/>
          <p:nvPr/>
        </p:nvSpPr>
        <p:spPr>
          <a:xfrm>
            <a:off x="2743200" y="5925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batch low in one topic: probably not taught yet, not student weakness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6537960" y="1783080"/>
            <a:ext cx="5148072" cy="1024128"/>
          </a:xfrm>
          <a:prstGeom prst="roundRect">
            <a:avLst>
              <a:gd name="adj" fmla="val 8929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702552" y="1874520"/>
            <a:ext cx="365760" cy="36576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118" name="Image 0" descr="Search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677" y="1958645"/>
            <a:ext cx="197510" cy="197510"/>
          </a:xfrm>
          <a:prstGeom prst="rect">
            <a:avLst/>
          </a:prstGeom>
        </p:spPr>
      </p:pic>
      <p:sp>
        <p:nvSpPr>
          <p:cNvPr id="119" name="Text 116"/>
          <p:cNvSpPr txBox="1"/>
          <p:nvPr/>
        </p:nvSpPr>
        <p:spPr>
          <a:xfrm>
            <a:off x="7178040" y="1856232"/>
            <a:ext cx="3410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difficulty with error bars</a:t>
            </a:r>
            <a:endParaRPr lang="en-US" sz="1500" dirty="0"/>
          </a:p>
        </p:txBody>
      </p:sp>
      <p:sp>
        <p:nvSpPr>
          <p:cNvPr id="120" name="Text 117"/>
          <p:cNvSpPr txBox="1"/>
          <p:nvPr/>
        </p:nvSpPr>
        <p:spPr>
          <a:xfrm>
            <a:off x="6720840" y="2295144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the best students get wrong is flagged as a likely wrong answer key.</a:t>
            </a:r>
            <a:endParaRPr lang="en-US" sz="1250" dirty="0"/>
          </a:p>
        </p:txBody>
      </p:sp>
      <p:sp>
        <p:nvSpPr>
          <p:cNvPr id="121" name="Shape 118"/>
          <p:cNvSpPr/>
          <p:nvPr/>
        </p:nvSpPr>
        <p:spPr>
          <a:xfrm>
            <a:off x="10771632" y="1911096"/>
            <a:ext cx="781812" cy="21945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10771632" y="1911096"/>
            <a:ext cx="781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123" name="Shape 120"/>
          <p:cNvSpPr/>
          <p:nvPr/>
        </p:nvSpPr>
        <p:spPr>
          <a:xfrm>
            <a:off x="6537960" y="2898648"/>
            <a:ext cx="5148072" cy="1024128"/>
          </a:xfrm>
          <a:prstGeom prst="roundRect">
            <a:avLst>
              <a:gd name="adj" fmla="val 8929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6702552" y="2990088"/>
            <a:ext cx="365760" cy="36576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125" name="Image 1" descr="Brai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77" y="3074213"/>
            <a:ext cx="197510" cy="197510"/>
          </a:xfrm>
          <a:prstGeom prst="rect">
            <a:avLst/>
          </a:prstGeom>
        </p:spPr>
      </p:pic>
      <p:sp>
        <p:nvSpPr>
          <p:cNvPr id="126" name="Text 122"/>
          <p:cNvSpPr txBox="1"/>
          <p:nvPr/>
        </p:nvSpPr>
        <p:spPr>
          <a:xfrm>
            <a:off x="7178040" y="2971800"/>
            <a:ext cx="3410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Mastery that admits doubt</a:t>
            </a:r>
            <a:endParaRPr lang="en-US" sz="1500" dirty="0"/>
          </a:p>
        </p:txBody>
      </p:sp>
      <p:sp>
        <p:nvSpPr>
          <p:cNvPr id="127" name="Text 123"/>
          <p:cNvSpPr txBox="1"/>
          <p:nvPr/>
        </p:nvSpPr>
        <p:spPr>
          <a:xfrm>
            <a:off x="6720840" y="341071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appears only with enough evidence. Otherwise it says not enough data.</a:t>
            </a:r>
            <a:endParaRPr lang="en-US" sz="1250" dirty="0"/>
          </a:p>
        </p:txBody>
      </p:sp>
      <p:sp>
        <p:nvSpPr>
          <p:cNvPr id="128" name="Shape 124"/>
          <p:cNvSpPr/>
          <p:nvPr/>
        </p:nvSpPr>
        <p:spPr>
          <a:xfrm>
            <a:off x="6537960" y="4014216"/>
            <a:ext cx="5148072" cy="1280160"/>
          </a:xfrm>
          <a:prstGeom prst="roundRect">
            <a:avLst>
              <a:gd name="adj" fmla="val 714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702552" y="4105656"/>
            <a:ext cx="365760" cy="36576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130" name="Image 2" descr="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677" y="4189781"/>
            <a:ext cx="197510" cy="197510"/>
          </a:xfrm>
          <a:prstGeom prst="rect">
            <a:avLst/>
          </a:prstGeom>
        </p:spPr>
      </p:pic>
      <p:sp>
        <p:nvSpPr>
          <p:cNvPr id="131" name="Text 126"/>
          <p:cNvSpPr txBox="1"/>
          <p:nvPr/>
        </p:nvSpPr>
        <p:spPr>
          <a:xfrm>
            <a:off x="7178040" y="4087368"/>
            <a:ext cx="3410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 real public data</a:t>
            </a:r>
            <a:endParaRPr lang="en-US" sz="1500" dirty="0"/>
          </a:p>
        </p:txBody>
      </p:sp>
      <p:sp>
        <p:nvSpPr>
          <p:cNvPr id="132" name="Text 127"/>
          <p:cNvSpPr txBox="1"/>
          <p:nvPr/>
        </p:nvSpPr>
        <p:spPr>
          <a:xfrm>
            <a:off x="6720840" y="4526280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accuracy on ASSISTments 2009: ours 0.763 AUC, DKT 0.754, SAKT 0.725 (same test protocol).</a:t>
            </a:r>
            <a:endParaRPr lang="en-US" sz="1250" dirty="0"/>
          </a:p>
        </p:txBody>
      </p:sp>
      <p:sp>
        <p:nvSpPr>
          <p:cNvPr id="133" name="Shape 128"/>
          <p:cNvSpPr/>
          <p:nvPr/>
        </p:nvSpPr>
        <p:spPr>
          <a:xfrm>
            <a:off x="6720840" y="4983480"/>
            <a:ext cx="1092708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6720840" y="4983480"/>
            <a:ext cx="10927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135" name="Text 130"/>
          <p:cNvSpPr txBox="1"/>
          <p:nvPr/>
        </p:nvSpPr>
        <p:spPr>
          <a:xfrm>
            <a:off x="8001000" y="49651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 scores 0.785, higher than ours</a:t>
            </a:r>
            <a:endParaRPr lang="en-US" sz="1100" dirty="0"/>
          </a:p>
        </p:txBody>
      </p:sp>
      <p:sp>
        <p:nvSpPr>
          <p:cNvPr id="136" name="Shape 131"/>
          <p:cNvSpPr/>
          <p:nvPr/>
        </p:nvSpPr>
        <p:spPr>
          <a:xfrm>
            <a:off x="6537960" y="5385816"/>
            <a:ext cx="5148072" cy="466344"/>
          </a:xfrm>
          <a:prstGeom prst="roundRect">
            <a:avLst>
              <a:gd name="adj" fmla="val 19608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dash"/>
          </a:ln>
        </p:spPr>
      </p:sp>
      <p:sp>
        <p:nvSpPr>
          <p:cNvPr id="137" name="Text 132"/>
          <p:cNvSpPr txBox="1"/>
          <p:nvPr/>
        </p:nvSpPr>
        <p:spPr>
          <a:xfrm>
            <a:off x="6720840" y="5385816"/>
            <a:ext cx="3776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goes here: how well difficulty is recovered as more students answer.</a:t>
            </a:r>
            <a:endParaRPr lang="en-US" sz="1200" dirty="0"/>
          </a:p>
        </p:txBody>
      </p:sp>
      <p:sp>
        <p:nvSpPr>
          <p:cNvPr id="138" name="Shape 133"/>
          <p:cNvSpPr/>
          <p:nvPr/>
        </p:nvSpPr>
        <p:spPr>
          <a:xfrm>
            <a:off x="10680192" y="5509260"/>
            <a:ext cx="781812" cy="21945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139" name="Text 134"/>
          <p:cNvSpPr txBox="1"/>
          <p:nvPr/>
        </p:nvSpPr>
        <p:spPr>
          <a:xfrm>
            <a:off x="10680192" y="5509260"/>
            <a:ext cx="781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140" name="Text 135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public validation (ml/public_validation); pyKT benchmark (Liu et al., 2022). Difficulty and mastery results are pending.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72692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147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short, supportive list each week: who to call, why, and what to offer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6720840" cy="406908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3794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list</a:t>
            </a:r>
            <a:pPr algn="l" indent="0" marL="0">
              <a:buNone/>
            </a:pPr>
            <a:r>
              <a:rPr lang="en-US" sz="13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Batch JEE-11A, week 20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49240" y="1901952"/>
            <a:ext cx="1634744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49240" y="1901952"/>
            <a:ext cx="1634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8 per week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12064" y="2240280"/>
            <a:ext cx="670255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240280"/>
            <a:ext cx="6400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S-114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240280"/>
            <a:ext cx="26974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6 of the last 10 classes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60520" y="2332292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160520" y="23322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call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97880" y="233229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97880" y="23322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support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2064" y="2680335"/>
            <a:ext cx="670255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2680335"/>
            <a:ext cx="6400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S-142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680335"/>
            <a:ext cx="26974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2 recent tests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60520" y="2772347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60520" y="2772347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call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97880" y="2772347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277234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support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" y="3120390"/>
            <a:ext cx="670255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3120390"/>
            <a:ext cx="6400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S-107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3120390"/>
            <a:ext cx="26974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slipped over the last 3 tests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160520" y="3212402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60520" y="32124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Remedial session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97880" y="321240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97880" y="321240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12064" y="3560445"/>
            <a:ext cx="670255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5800" y="3560445"/>
            <a:ext cx="6400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S-163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371600" y="3560445"/>
            <a:ext cx="26974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slipping in 3 chapters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160520" y="3652457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160520" y="3652457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Remedial session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897880" y="3652457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897880" y="365245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2064" y="4000500"/>
            <a:ext cx="670255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5800" y="4000500"/>
            <a:ext cx="6400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S-128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371600" y="4000500"/>
            <a:ext cx="26974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5 days in a row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160520" y="4092512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160520" y="40925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call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897880" y="40925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897880" y="409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support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12064" y="4440555"/>
            <a:ext cx="670255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85800" y="4440555"/>
            <a:ext cx="6400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S-135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371600" y="4440555"/>
            <a:ext cx="26974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second instalment (18+ only)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160520" y="4532567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160520" y="4532567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Fee-plan talk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897880" y="4532567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897880" y="453256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12064" y="4880610"/>
            <a:ext cx="670255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85800" y="4880610"/>
            <a:ext cx="6400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S-171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1371600" y="4880610"/>
            <a:ext cx="26974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below batch pace, 4 weeks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4160520" y="4972622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60520" y="497262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call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897880" y="497262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897880" y="49726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12064" y="5320665"/>
            <a:ext cx="6702552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85800" y="5320665"/>
            <a:ext cx="6400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S-120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1371600" y="5320665"/>
            <a:ext cx="269748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answers rising in tests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4160520" y="5412677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160520" y="5412677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referral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897880" y="5412677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897880" y="54126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02920" y="594360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02920" y="594360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98080" y="1783080"/>
            <a:ext cx="4187952" cy="1481328"/>
          </a:xfrm>
          <a:prstGeom prst="roundRect">
            <a:avLst>
              <a:gd name="adj" fmla="val 617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662672" y="1911096"/>
            <a:ext cx="402336" cy="402336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69" name="Image 0" descr="ClipboardLis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5209" y="2003633"/>
            <a:ext cx="217261" cy="217261"/>
          </a:xfrm>
          <a:prstGeom prst="rect">
            <a:avLst/>
          </a:prstGeom>
        </p:spPr>
      </p:pic>
      <p:sp>
        <p:nvSpPr>
          <p:cNvPr id="70" name="Text 67"/>
          <p:cNvSpPr txBox="1"/>
          <p:nvPr/>
        </p:nvSpPr>
        <p:spPr>
          <a:xfrm>
            <a:off x="8183880" y="1892808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Reasons, not scores</a:t>
            </a:r>
            <a:endParaRPr lang="en-US" sz="15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2368296"/>
            <a:ext cx="3822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flag shows one to three plain reasons and a suggested action: mentoring, counselling, a remedial session or a fee-plan talk.</a:t>
            </a:r>
            <a:endParaRPr lang="en-US" sz="1250" dirty="0"/>
          </a:p>
        </p:txBody>
      </p:sp>
      <p:sp>
        <p:nvSpPr>
          <p:cNvPr id="72" name="Shape 69"/>
          <p:cNvSpPr/>
          <p:nvPr/>
        </p:nvSpPr>
        <p:spPr>
          <a:xfrm>
            <a:off x="7498080" y="3374136"/>
            <a:ext cx="4187952" cy="1170432"/>
          </a:xfrm>
          <a:prstGeom prst="roundRect">
            <a:avLst>
              <a:gd name="adj" fmla="val 781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662672" y="3502152"/>
            <a:ext cx="402336" cy="402336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74" name="Image 1" descr="HeartHandshak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209" y="3594689"/>
            <a:ext cx="217261" cy="217261"/>
          </a:xfrm>
          <a:prstGeom prst="rect">
            <a:avLst/>
          </a:prstGeom>
        </p:spPr>
      </p:pic>
      <p:sp>
        <p:nvSpPr>
          <p:cNvPr id="75" name="Text 71"/>
          <p:cNvSpPr txBox="1"/>
          <p:nvPr/>
        </p:nvSpPr>
        <p:spPr>
          <a:xfrm>
            <a:off x="8183880" y="3483864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Kind by design</a:t>
            </a:r>
            <a:endParaRPr lang="en-US" sz="1500" dirty="0"/>
          </a:p>
        </p:txBody>
      </p:sp>
      <p:sp>
        <p:nvSpPr>
          <p:cNvPr id="76" name="Text 72"/>
          <p:cNvSpPr txBox="1"/>
          <p:nvPr/>
        </p:nvSpPr>
        <p:spPr>
          <a:xfrm>
            <a:off x="7680960" y="3959352"/>
            <a:ext cx="3822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rank. No risk label shown to students. A person decides before any outreach.</a:t>
            </a:r>
            <a:endParaRPr lang="en-US" sz="1250" dirty="0"/>
          </a:p>
        </p:txBody>
      </p:sp>
      <p:sp>
        <p:nvSpPr>
          <p:cNvPr id="77" name="Shape 73"/>
          <p:cNvSpPr/>
          <p:nvPr/>
        </p:nvSpPr>
        <p:spPr>
          <a:xfrm>
            <a:off x="7498080" y="4654296"/>
            <a:ext cx="4187952" cy="1234440"/>
          </a:xfrm>
          <a:prstGeom prst="roundRect">
            <a:avLst>
              <a:gd name="adj" fmla="val 740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7662672" y="4782312"/>
            <a:ext cx="402336" cy="402336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79" name="Image 2" descr="Targe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5209" y="4874849"/>
            <a:ext cx="217261" cy="217261"/>
          </a:xfrm>
          <a:prstGeom prst="rect">
            <a:avLst/>
          </a:prstGeom>
        </p:spPr>
      </p:pic>
      <p:sp>
        <p:nvSpPr>
          <p:cNvPr id="80" name="Text 75"/>
          <p:cNvSpPr txBox="1"/>
          <p:nvPr/>
        </p:nvSpPr>
        <p:spPr>
          <a:xfrm>
            <a:off x="8183880" y="4764024"/>
            <a:ext cx="3319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good is it?</a:t>
            </a:r>
            <a:endParaRPr lang="en-US" sz="1500" dirty="0"/>
          </a:p>
        </p:txBody>
      </p:sp>
      <p:sp>
        <p:nvSpPr>
          <p:cNvPr id="81" name="Text 76"/>
          <p:cNvSpPr txBox="1"/>
          <p:nvPr/>
        </p:nvSpPr>
        <p:spPr>
          <a:xfrm>
            <a:off x="7680960" y="5239512"/>
            <a:ext cx="3822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the institute's own attendance rule at the same weekly workload.</a:t>
            </a:r>
            <a:endParaRPr lang="en-US" sz="1250" dirty="0"/>
          </a:p>
        </p:txBody>
      </p:sp>
      <p:sp>
        <p:nvSpPr>
          <p:cNvPr id="82" name="Shape 77"/>
          <p:cNvSpPr/>
          <p:nvPr/>
        </p:nvSpPr>
        <p:spPr>
          <a:xfrm>
            <a:off x="10771632" y="4764024"/>
            <a:ext cx="781812" cy="21945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10771632" y="4764024"/>
            <a:ext cx="781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84" name="Shape 79"/>
          <p:cNvSpPr/>
          <p:nvPr/>
        </p:nvSpPr>
        <p:spPr>
          <a:xfrm>
            <a:off x="7498080" y="5943600"/>
            <a:ext cx="1543939" cy="274320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498080" y="5943600"/>
            <a:ext cx="15439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(30 days)</a:t>
            </a:r>
            <a:endParaRPr lang="en-US" sz="1100" dirty="0"/>
          </a:p>
        </p:txBody>
      </p:sp>
      <p:sp>
        <p:nvSpPr>
          <p:cNvPr id="86" name="Shape 81"/>
          <p:cNvSpPr/>
          <p:nvPr/>
        </p:nvSpPr>
        <p:spPr>
          <a:xfrm>
            <a:off x="9133459" y="5943600"/>
            <a:ext cx="1313434" cy="274320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9133459" y="5943600"/>
            <a:ext cx="13134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behind</a:t>
            </a:r>
            <a:endParaRPr lang="en-US" sz="1100" dirty="0"/>
          </a:p>
        </p:txBody>
      </p:sp>
      <p:sp>
        <p:nvSpPr>
          <p:cNvPr id="88" name="Shape 83"/>
          <p:cNvSpPr/>
          <p:nvPr/>
        </p:nvSpPr>
        <p:spPr>
          <a:xfrm>
            <a:off x="10538333" y="5943600"/>
            <a:ext cx="1006094" cy="274320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10538333" y="5943600"/>
            <a:ext cx="10060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(18+)</a:t>
            </a:r>
            <a:endParaRPr lang="en-US" sz="1100" dirty="0"/>
          </a:p>
        </p:txBody>
      </p:sp>
      <p:sp>
        <p:nvSpPr>
          <p:cNvPr id="90" name="Text 85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codes are synthetic. Early-warning accuracy results are pending; about a quarter of dropouts are sudden and cannot be predicted from academic data.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32660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32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AND REPORT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percentile range, and a parent report where every number is checked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0292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4709160"/>
            <a:ext cx="4114800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45994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88720" y="3901440"/>
            <a:ext cx="4114800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379171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88720" y="3093720"/>
            <a:ext cx="4114800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98399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88720" y="2286000"/>
            <a:ext cx="4114800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17627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874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percentile range, one student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419149" y="2528316"/>
            <a:ext cx="362102" cy="1696212"/>
          </a:xfrm>
          <a:prstGeom prst="roundRect">
            <a:avLst>
              <a:gd name="adj" fmla="val 12626"/>
            </a:avLst>
          </a:prstGeom>
          <a:solidFill>
            <a:srgbClr val="9FD3D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88720" y="47640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42109" y="2649474"/>
            <a:ext cx="362102" cy="1332738"/>
          </a:xfrm>
          <a:prstGeom prst="roundRect">
            <a:avLst>
              <a:gd name="adj" fmla="val 12626"/>
            </a:avLst>
          </a:prstGeom>
          <a:solidFill>
            <a:srgbClr val="9FD3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011680" y="47640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065069" y="2770632"/>
            <a:ext cx="362102" cy="1009650"/>
          </a:xfrm>
          <a:prstGeom prst="roundRect">
            <a:avLst>
              <a:gd name="adj" fmla="val 12626"/>
            </a:avLst>
          </a:prstGeom>
          <a:solidFill>
            <a:srgbClr val="9FD3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34640" y="47640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88029" y="2891790"/>
            <a:ext cx="362102" cy="686562"/>
          </a:xfrm>
          <a:prstGeom prst="roundRect">
            <a:avLst>
              <a:gd name="adj" fmla="val 12626"/>
            </a:avLst>
          </a:prstGeom>
          <a:solidFill>
            <a:srgbClr val="9FD3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47640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10989" y="2972562"/>
            <a:ext cx="362102" cy="444246"/>
          </a:xfrm>
          <a:prstGeom prst="roundRect">
            <a:avLst>
              <a:gd name="adj" fmla="val 12626"/>
            </a:avLst>
          </a:prstGeom>
          <a:solidFill>
            <a:srgbClr val="0F8B8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480560" y="47640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0932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narrows as more tests come 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553212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553212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40280" y="5532120"/>
            <a:ext cx="781812" cy="21945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240280" y="5532120"/>
            <a:ext cx="781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5852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 with a disclaimer, never a single number or a rank promise.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1783080"/>
            <a:ext cx="2514600" cy="374904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38100">
            <a:solidFill>
              <a:srgbClr val="0B254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26580" y="187452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926580" y="1874520"/>
            <a:ext cx="5486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71616" y="2057400"/>
            <a:ext cx="2258568" cy="384048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181344" y="2057400"/>
            <a:ext cx="2039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AlphaQ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144768" y="2514600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प्रगति रिपोर्ट (2026-W20)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44768" y="2935224"/>
            <a:ext cx="211226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A41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प्रिय अभिभावक, AlphaQ डेमो संस्थान की ओर से आरव (काल्पनिक) की अवधि 2026-W20 की अध्ययन जानकारी साझा की जा रही है। इस अंतराल में आरव (काल्पनिक) ने 86.5% कक्षाओं में भाग लिया और 6 अभ्यास टेस्ट दिए। हाल के टेस्ट परिणामों में उत्साहजनक सुधार और सकारात्मक प्रगति देखी गई है। कक्षा अभ्यास के दौरान शुद्धगतिकी और सांख्यिकी और ...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26480" y="5074920"/>
            <a:ext cx="2148840" cy="237744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26480" y="50749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checked against the data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732520" y="1783080"/>
            <a:ext cx="2514600" cy="374904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38100">
            <a:solidFill>
              <a:srgbClr val="0B25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15500" y="187452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715500" y="1874520"/>
            <a:ext cx="5486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860536" y="2057400"/>
            <a:ext cx="2258568" cy="384048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970264" y="2057400"/>
            <a:ext cx="2039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AlphaQ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933688" y="2514600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Update (2026-W20)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8933688" y="2935224"/>
            <a:ext cx="211226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Dear Parent, here is the academic progress summary for Aarav (synthetic) at AlphaQ Demo Institute for period 2026-W20. Aarav (synthetic) attended 86.5% of scheduled classes and appeared in 6 practice tests during this window. Recent test performance reflects an improving trend with growing problem-solving accuracy. Good command is visible in Kinematics and Statistics and ...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915400" y="5074920"/>
            <a:ext cx="2148840" cy="237744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915400" y="50749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checked against the data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943600" y="562356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943600" y="562356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5943600"/>
            <a:ext cx="1467104" cy="274320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943600" y="5943600"/>
            <a:ext cx="1467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without AI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502144" y="5943600"/>
            <a:ext cx="1159764" cy="274320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502144" y="5943600"/>
            <a:ext cx="1159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templates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753348" y="5943600"/>
            <a:ext cx="1467104" cy="274320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753348" y="5943600"/>
            <a:ext cx="1467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added last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text comes from our report module (template path, synthetic student). Hindi still needs a native reviewer; range widths are pending.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327656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327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WELL-BEING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law: consent first, supportive actions only, no rankings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06698" cy="3200400"/>
          </a:xfrm>
          <a:prstGeom prst="roundRect">
            <a:avLst>
              <a:gd name="adj" fmla="val 285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938528"/>
            <a:ext cx="502920" cy="50292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7" name="Image 0" descr="KeyRoun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760" y="2054200"/>
            <a:ext cx="271577" cy="27157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938528"/>
            <a:ext cx="2600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04088" y="2606040"/>
            <a:ext cx="320436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admission desk checks the parent's ID.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recorded for each purpose.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Withdrawing takes one tap.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" y="4572000"/>
            <a:ext cx="19141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4088" y="4572000"/>
            <a:ext cx="1914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 2025, Rule 10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2498" y="1783080"/>
            <a:ext cx="3606698" cy="3200400"/>
          </a:xfrm>
          <a:prstGeom prst="roundRect">
            <a:avLst>
              <a:gd name="adj" fmla="val 285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93666" y="1938528"/>
            <a:ext cx="502920" cy="50292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14" name="Image 1" descr="Sca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338" y="2054200"/>
            <a:ext cx="271577" cy="27157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15458" y="1938528"/>
            <a:ext cx="2600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Age-aware by design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493666" y="2606040"/>
            <a:ext cx="320436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18: academic support uses a model; dropout and fee signals use plain rules.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over: full model, with their own consent.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493666" y="4370832"/>
            <a:ext cx="1092708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93666" y="4370832"/>
            <a:ext cx="10927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493666" y="4608576"/>
            <a:ext cx="3204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Academic-only costs 0.008 AUC on OULAD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082077" y="1783080"/>
            <a:ext cx="3606698" cy="3200400"/>
          </a:xfrm>
          <a:prstGeom prst="roundRect">
            <a:avLst>
              <a:gd name="adj" fmla="val 285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83245" y="1938528"/>
            <a:ext cx="502920" cy="50292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22" name="Image 2" descr="HeartHandshak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8916" y="2054200"/>
            <a:ext cx="271577" cy="27157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05037" y="1938528"/>
            <a:ext cx="26008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Well-being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8283245" y="2606040"/>
            <a:ext cx="320436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leaderboards. No performance-based batch moves.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message passes a banned-words check.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counsellor contact for every institute.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502920" y="5166360"/>
            <a:ext cx="11185855" cy="1005840"/>
          </a:xfrm>
          <a:prstGeom prst="roundRect">
            <a:avLst>
              <a:gd name="adj" fmla="val 909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1520" y="516636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Education, Coaching Centre Guidelines 2024, clause 10.2(xi): </a:t>
            </a:r>
            <a:pPr algn="l" indent="0" marL="0">
              <a:buNone/>
            </a:pPr>
            <a:r>
              <a:rPr lang="en-US" sz="14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should be used for regular analysis and, for a student whose performance is deteriorating, counselling should be provided.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 s.9, DPDP Rules 2025, MoE Guidelines 2024. We act as the institute's data processor.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72692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147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MOAT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institute makes the next one's models better, without sharing children's data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783080" cy="749808"/>
          </a:xfrm>
          <a:prstGeom prst="roundRect">
            <a:avLst>
              <a:gd name="adj" fmla="val 12195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institutes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51760" y="1783080"/>
            <a:ext cx="1783080" cy="749808"/>
          </a:xfrm>
          <a:prstGeom prst="roundRect">
            <a:avLst>
              <a:gd name="adj" fmla="val 12195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783080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 bank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51760" y="3474720"/>
            <a:ext cx="1783080" cy="749808"/>
          </a:xfrm>
          <a:prstGeom prst="roundRect">
            <a:avLst>
              <a:gd name="adj" fmla="val 12195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0" y="3474720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 insights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474720"/>
            <a:ext cx="1783080" cy="749808"/>
          </a:xfrm>
          <a:prstGeom prst="roundRect">
            <a:avLst>
              <a:gd name="adj" fmla="val 12195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474720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results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331720" y="2157984"/>
            <a:ext cx="274320" cy="0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543300" y="2578608"/>
            <a:ext cx="0" cy="850392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2331720" y="3849624"/>
            <a:ext cx="274320" cy="0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1394460" y="2578608"/>
            <a:ext cx="0" cy="850392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02920" y="45262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institutes borrow strength from the pool: a batch of 60 gets difficulty estimates that would otherwise need hundreds of answers.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1783080"/>
            <a:ext cx="6931152" cy="1097280"/>
          </a:xfrm>
          <a:prstGeom prst="roundRect">
            <a:avLst>
              <a:gd name="adj" fmla="val 833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37760" y="2057400"/>
            <a:ext cx="548640" cy="54864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20" name="Image 0" descr="Layer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3947" y="2183587"/>
            <a:ext cx="296266" cy="29626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0" y="1911096"/>
            <a:ext cx="5833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question bank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0" y="2313432"/>
            <a:ext cx="583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estimated across institutes through anchor questions.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754880" y="3008376"/>
            <a:ext cx="6931152" cy="1097280"/>
          </a:xfrm>
          <a:prstGeom prst="roundRect">
            <a:avLst>
              <a:gd name="adj" fmla="val 833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37760" y="3282696"/>
            <a:ext cx="548640" cy="54864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25" name="Image 1" descr="Targe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947" y="3408883"/>
            <a:ext cx="296266" cy="29626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69280" y="3136392"/>
            <a:ext cx="5833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exam outcomes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5669280" y="3538728"/>
            <a:ext cx="583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enter actual percentiles after the exam, so our mapping improves every year.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754880" y="4233672"/>
            <a:ext cx="6931152" cy="1097280"/>
          </a:xfrm>
          <a:prstGeom prst="roundRect">
            <a:avLst>
              <a:gd name="adj" fmla="val 833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937760" y="4507992"/>
            <a:ext cx="548640" cy="548640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30" name="Image 2" descr="Rout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947" y="4634179"/>
            <a:ext cx="296266" cy="29626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669280" y="4361688"/>
            <a:ext cx="5833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works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4764024"/>
            <a:ext cx="5833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support actions show which help suits which kind of student.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4754880" y="5477256"/>
            <a:ext cx="693115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937760" y="5477256"/>
            <a:ext cx="65653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leaves the institute: </a:t>
            </a:r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answers, attendance, fees. Shared: question statistics and anonymous totals from groups of 20 or more.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difficulty scales are comparable across institutes only through shared anchor questions. Evidence curve pending.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32660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32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FOR THE INSTITUTE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pays for itself if it saves three or four students a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9304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92808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6.6 %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32888"/>
            <a:ext cx="22935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 (the guide assumes 25 %)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980944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9809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45104" y="1783080"/>
            <a:ext cx="2659304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7984" y="1892808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527984" y="2532888"/>
            <a:ext cx="22935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counting all benefits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27984" y="2980944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7984" y="29809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87288" y="1783080"/>
            <a:ext cx="2659304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70168" y="1892808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0.75x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370168" y="2532888"/>
            <a:ext cx="22935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from retained fees alone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70168" y="2980944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70168" y="29809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029471" y="1783080"/>
            <a:ext cx="2659304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12351" y="1892808"/>
            <a:ext cx="2293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212351" y="2532888"/>
            <a:ext cx="22935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per year to break even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212351" y="2980944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12351" y="29809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3520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Dropouts prevented per year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3931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508760" y="3977640"/>
            <a:ext cx="3017520" cy="365760"/>
          </a:xfrm>
          <a:prstGeom prst="rect">
            <a:avLst/>
          </a:prstGeom>
          <a:solidFill>
            <a:srgbClr val="9AA7B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1772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of 48 students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4526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508760" y="4572000"/>
            <a:ext cx="653796" cy="365760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253996" y="4526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of 40 students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5166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students who get outreach can benefit, and month-one dropouts cannot be caught.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0" y="3520440"/>
            <a:ext cx="5285232" cy="2148840"/>
          </a:xfrm>
          <a:prstGeom prst="roundRect">
            <a:avLst>
              <a:gd name="adj" fmla="val 425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29400" y="3611880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owner gets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629400" y="4069080"/>
            <a:ext cx="402336" cy="402336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36" name="Image 0" descr="Banknot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1937" y="4161617"/>
            <a:ext cx="217261" cy="217261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7178040" y="4069080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retained from students who stay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29400" y="4599432"/>
            <a:ext cx="402336" cy="402336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39" name="Image 1" descr="Clo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1937" y="4691969"/>
            <a:ext cx="217261" cy="217261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178040" y="4599432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saved on registers and reports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629400" y="5129784"/>
            <a:ext cx="402336" cy="402336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42" name="Image 2" descr="TrendingUp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937" y="5222321"/>
            <a:ext cx="217261" cy="217261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7178040" y="5129784"/>
            <a:ext cx="4279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₹2.3 lakh more per 1 % admissions uplift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502920" y="5760720"/>
            <a:ext cx="11185855" cy="457200"/>
          </a:xfrm>
          <a:prstGeom prst="roundRect">
            <a:avLst>
              <a:gd name="adj" fmla="val 2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31520" y="576072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cost is 0.3 % of a student's fee.  The dropout effect is borrowed from 8 trials in comparable settings (mean 15.8 %).</a:t>
            </a:r>
            <a:endParaRPr lang="en-US" sz="1300" dirty="0"/>
          </a:p>
        </p:txBody>
      </p:sp>
      <p:sp>
        <p:nvSpPr>
          <p:cNvPr id="46" name="Text 41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output, Base case, 400-student institute. We have no coaching-specific dropout data yet. Source: financial/DataMoat_Financial_Model.xlsx (Cover).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67688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156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economics are real, but thinner than the guide's 10x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212080" cy="38404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12648" y="178308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institute, 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1783080"/>
            <a:ext cx="1417320" cy="384048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90088" y="1783080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1417320" cy="384048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07408" y="1783080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AlphaQ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167128"/>
            <a:ext cx="52120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642616"/>
            <a:ext cx="521208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" y="216712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90088" y="2167128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10.7x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07408" y="2167128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2920" y="2642616"/>
            <a:ext cx="5212080" cy="4754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118104"/>
            <a:ext cx="521208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" y="2642616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990088" y="2642616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months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07408" y="2642616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3118104"/>
            <a:ext cx="52120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3593592"/>
            <a:ext cx="521208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2648" y="3118104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margin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3118104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66 %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07408" y="3118104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78 %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02920" y="3593592"/>
            <a:ext cx="5212080" cy="4754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2920" y="4069080"/>
            <a:ext cx="521208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2648" y="3593592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value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3593592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₹3.53 lakh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3593592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₹1.30 lakh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" y="4069080"/>
            <a:ext cx="52120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" y="4544568"/>
            <a:ext cx="521208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2648" y="4069080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cost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990088" y="4069080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₹33,000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4069080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02920" y="4544568"/>
            <a:ext cx="5212080" cy="4754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2920" y="5020056"/>
            <a:ext cx="521208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2648" y="4544568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institute, monthly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2990088" y="4544568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₹16,000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4407408" y="4544568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02920" y="5212080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52120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532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segment, LTV ÷ acquisition cost: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337560" y="5568696"/>
            <a:ext cx="1075944" cy="292608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37560" y="5568696"/>
            <a:ext cx="1075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1.5x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04944" y="5568696"/>
            <a:ext cx="908304" cy="292608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04944" y="5568696"/>
            <a:ext cx="908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3.7x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504688" y="5568696"/>
            <a:ext cx="1075944" cy="292608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504688" y="5568696"/>
            <a:ext cx="1075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9.1x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675120" y="1783080"/>
            <a:ext cx="501091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187452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moves LTV ÷ acquisition cost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858000" y="24231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₹20 to ₹40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9392808" y="2496312"/>
            <a:ext cx="943478" cy="274320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54" name="Shape 52"/>
          <p:cNvSpPr/>
          <p:nvPr/>
        </p:nvSpPr>
        <p:spPr>
          <a:xfrm>
            <a:off x="10336286" y="2496312"/>
            <a:ext cx="943478" cy="274320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35608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11325484" y="2423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6858000" y="29900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15 % to 50 %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9417314" y="3063240"/>
            <a:ext cx="918972" cy="274320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59" name="Shape 57"/>
          <p:cNvSpPr/>
          <p:nvPr/>
        </p:nvSpPr>
        <p:spPr>
          <a:xfrm>
            <a:off x="10336286" y="3063240"/>
            <a:ext cx="857707" cy="274320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60114" y="29900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11239713" y="29900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6858000" y="35570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Non-renewal 30 % to 10 %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0017709" y="3630168"/>
            <a:ext cx="318577" cy="274320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64" name="Shape 62"/>
          <p:cNvSpPr/>
          <p:nvPr/>
        </p:nvSpPr>
        <p:spPr>
          <a:xfrm>
            <a:off x="10336286" y="3630168"/>
            <a:ext cx="379842" cy="274320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560509" y="35570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10761848" y="355701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6858000" y="41239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churn 5 % to 1.5 %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9968697" y="4197096"/>
            <a:ext cx="367589" cy="274320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69" name="Shape 67"/>
          <p:cNvSpPr/>
          <p:nvPr/>
        </p:nvSpPr>
        <p:spPr>
          <a:xfrm>
            <a:off x="10336286" y="4197096"/>
            <a:ext cx="367589" cy="274320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511497" y="41239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10749595" y="412394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6858000" y="46908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per rep 6 to 14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9993203" y="4764024"/>
            <a:ext cx="343083" cy="274320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74" name="Shape 72"/>
          <p:cNvSpPr/>
          <p:nvPr/>
        </p:nvSpPr>
        <p:spPr>
          <a:xfrm>
            <a:off x="10336286" y="4764024"/>
            <a:ext cx="189921" cy="274320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9536003" y="4690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10571927" y="469087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0327142" y="2377440"/>
            <a:ext cx="18288" cy="29260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9787646" y="5321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3.7x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6903720" y="557784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and pilot conversion matter most. Willingness to pay is still untested.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(financial workbook: Scenarios, Sensitivity). List price ₹30 per student per month; ERP and LMS prices we found: ₹4 to ₹21.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377696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1377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mid-size institutes in Patna and Lucknow, keep small ones self-serve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423818" cy="1554480"/>
          </a:xfrm>
          <a:prstGeom prst="roundRect">
            <a:avLst>
              <a:gd name="adj" fmla="val 5882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938528"/>
            <a:ext cx="384048" cy="384048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4088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01952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Retro-pilot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468880"/>
            <a:ext cx="30214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last year's Excel: who left, and would we have caught them?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999890" y="2560320"/>
            <a:ext cx="310896" cy="0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83938" y="1783080"/>
            <a:ext cx="3423818" cy="1554480"/>
          </a:xfrm>
          <a:prstGeom prst="roundRect">
            <a:avLst>
              <a:gd name="adj" fmla="val 5882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5106" y="1938528"/>
            <a:ext cx="384048" cy="384048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85106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115458" y="1901952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pilot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85106" y="2468880"/>
            <a:ext cx="30214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term, with agreed measures set in advance.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80909" y="2560320"/>
            <a:ext cx="310896" cy="0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264957" y="1783080"/>
            <a:ext cx="3423818" cy="1554480"/>
          </a:xfrm>
          <a:prstGeom prst="roundRect">
            <a:avLst>
              <a:gd name="adj" fmla="val 5882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66125" y="1938528"/>
            <a:ext cx="384048" cy="384048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66125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996477" y="1901952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onboarding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466125" y="2468880"/>
            <a:ext cx="30214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after conversion, so onboarding cost is not wasted.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4564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window: March to June, before the new session.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931920"/>
            <a:ext cx="5486400" cy="38404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2648" y="3931920"/>
            <a:ext cx="101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847088" y="393192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sell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904488" y="3931920"/>
            <a:ext cx="832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956048" y="3931920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315968"/>
            <a:ext cx="54864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02920" y="4882896"/>
            <a:ext cx="548640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2648" y="4315968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Mid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847088" y="431596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sales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904488" y="4315968"/>
            <a:ext cx="83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9.1x, 3.7x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956048" y="4315968"/>
            <a:ext cx="923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 6 months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02920" y="4882896"/>
            <a:ext cx="5486400" cy="56692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5449824"/>
            <a:ext cx="548640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2648" y="4882896"/>
            <a:ext cx="1014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847088" y="4882896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or partners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904488" y="4882896"/>
            <a:ext cx="83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956048" y="4882896"/>
            <a:ext cx="923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02920" y="5623560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56235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0800" y="3931920"/>
            <a:ext cx="5285232" cy="2240280"/>
          </a:xfrm>
          <a:prstGeom prst="roundRect">
            <a:avLst>
              <a:gd name="adj" fmla="val 408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629400" y="4005072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generic institute apps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29400" y="4389120"/>
            <a:ext cx="4828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sell operations: fees, classes, content. In the listings we checked, topic analytics, OMR and compliance records were not shown. Our edge is topic-level insight, offline use and records that help with the coaching rules.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629400" y="50749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records built in: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629400" y="5486400"/>
            <a:ext cx="185127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629400" y="5486400"/>
            <a:ext cx="18512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check at enrolment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572119" y="5486400"/>
            <a:ext cx="119119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572119" y="5486400"/>
            <a:ext cx="11911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Test-day rule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854756" y="5486400"/>
            <a:ext cx="14845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854756" y="5486400"/>
            <a:ext cx="1484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calculator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financial workbook (segments), financial/research (competitor listings, several features not verified), MoE Guidelines 2024.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232660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232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LIMITS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proved, what we did not, and how a pilot would settle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395728" cy="3337560"/>
          </a:xfrm>
          <a:prstGeom prst="roundRect">
            <a:avLst>
              <a:gd name="adj" fmla="val 381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920240"/>
            <a:ext cx="2066544" cy="256032"/>
          </a:xfrm>
          <a:prstGeom prst="roundRect">
            <a:avLst>
              <a:gd name="adj" fmla="val 50000"/>
            </a:avLst>
          </a:prstGeom>
          <a:solidFill>
            <a:srgbClr val="1B7F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7512" y="192024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ON PUBLIC DATA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02996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AUC 0.763 on ASSISTments (DKT 0.754)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 AUC 0.706 on OULAD at day 28 (published 0.794, ours is lower)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Academic-only features cost 0.008 AUC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008376" y="1783080"/>
            <a:ext cx="2395728" cy="3337560"/>
          </a:xfrm>
          <a:prstGeom prst="roundRect">
            <a:avLst>
              <a:gd name="adj" fmla="val 381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72968" y="1920240"/>
            <a:ext cx="2066544" cy="256032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72968" y="192024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SYNTHETIC DATA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191256" y="2331720"/>
            <a:ext cx="202996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runs end to end, over 100 automated tests pass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institute never sees another's rows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numbers pending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13832" y="1783080"/>
            <a:ext cx="2395728" cy="3337560"/>
          </a:xfrm>
          <a:prstGeom prst="roundRect">
            <a:avLst>
              <a:gd name="adj" fmla="val 381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78424" y="1920240"/>
            <a:ext cx="20665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78424" y="1920240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PROVEN YET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96712" y="2331720"/>
            <a:ext cx="202996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real institutes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dropout reduction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quality at scale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10728" y="1783080"/>
            <a:ext cx="3578047" cy="3337560"/>
          </a:xfrm>
          <a:prstGeom prst="roundRect">
            <a:avLst>
              <a:gd name="adj" fmla="val 274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920240"/>
            <a:ext cx="31208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settles it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39328" y="2468880"/>
            <a:ext cx="365760" cy="365760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39328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842248" y="2423160"/>
            <a:ext cx="26179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institutes, one term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39328" y="3337560"/>
            <a:ext cx="365760" cy="365760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39328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842248" y="3291840"/>
            <a:ext cx="26179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Staggered start, so we can measure real uplift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339328" y="4206240"/>
            <a:ext cx="365760" cy="365760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39328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842248" y="4160520"/>
            <a:ext cx="26179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measures fixed in advance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2920" y="534924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34924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from the guide: </a:t>
            </a:r>
            <a:pPr algn="l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reduction 25 % to 6.6 %, LTV ÷ acquisition cost 10.7x to 3.7x. About a quarter of dropouts are sudden and cannot be predicted from academic data.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items are replaced by measured values before submission (scripts/deck_numbers.py).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612644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612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1  ·  DATA MODEL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tables, grouped by what they describe, all isolated per institute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501488" cy="1234440"/>
          </a:xfrm>
          <a:prstGeom prst="roundRect">
            <a:avLst>
              <a:gd name="adj" fmla="val 740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892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313432"/>
            <a:ext cx="509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institutes, users, students, guardians, batches, batch_changes, consents, legal_settings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87288" y="1783080"/>
            <a:ext cx="5501488" cy="1234440"/>
          </a:xfrm>
          <a:prstGeom prst="roundRect">
            <a:avLst>
              <a:gd name="adj" fmla="val 740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88456" y="1892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388456" y="2313432"/>
            <a:ext cx="509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topics, topic_prereqs, questions, question_topics, item_params, tests, test_questions, answer_keys, marking_schemes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154680"/>
            <a:ext cx="5501488" cy="1234440"/>
          </a:xfrm>
          <a:prstGeom prst="roundRect">
            <a:avLst>
              <a:gd name="adj" fmla="val 740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32644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" y="3685032"/>
            <a:ext cx="509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responses, test_totals, attendance, fees, engagement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87288" y="3154680"/>
            <a:ext cx="5501488" cy="1234440"/>
          </a:xfrm>
          <a:prstGeom prst="roundRect">
            <a:avLst>
              <a:gd name="adj" fmla="val 740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8456" y="32644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88456" y="3685032"/>
            <a:ext cx="509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mastery_snapshots, risk_scores, predictions, interventions, reports, model_registry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526280"/>
            <a:ext cx="11185855" cy="1234440"/>
          </a:xfrm>
          <a:prstGeom prst="roundRect">
            <a:avLst>
              <a:gd name="adj" fmla="val 7407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4088" y="46360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056632"/>
            <a:ext cx="107835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ingest_jobs, omr_templates, audit_log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897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stored on purpose: counselling notes, ID document images, student photos.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technical/contracts/schema.sql. Synthetic data: 4 institutes, 3 academic years, known ground truth.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3182620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3182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2  ·  COST PER STUDENT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₹3.6 per student per month in the model; ₹0 extra when run locally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2918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9280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₹3.6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3288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per student per month, inside the ₹3 to ₹10 band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026664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02666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77640" y="1783080"/>
            <a:ext cx="32918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0520" y="189280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6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160520" y="253288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 of the local run: laptop, local model, local database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60520" y="3026664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60520" y="3026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3611880"/>
            <a:ext cx="7589520" cy="38404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" y="3611880"/>
            <a:ext cx="2706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Researched input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538728" y="36118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93208" y="36118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36118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995928"/>
            <a:ext cx="7589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4453128"/>
            <a:ext cx="758952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" y="399592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input tokens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538728" y="39959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093208" y="39959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23.76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47688" y="39959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453128"/>
            <a:ext cx="7589520" cy="4572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2920" y="4910328"/>
            <a:ext cx="758952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2648" y="445312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output tokens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538728" y="44531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712.88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093208" y="44531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647688" y="44531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47.53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2920" y="4910328"/>
            <a:ext cx="7589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502920" y="5367528"/>
            <a:ext cx="758952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" y="491032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utility message, ₹ each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538728" y="49103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93208" y="49103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0.1323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647688" y="491032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0.115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56235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a local model, so hosted-model prices apply only if an institute prefers a hosted option.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412480" y="1783080"/>
            <a:ext cx="3273552" cy="4160520"/>
          </a:xfrm>
          <a:prstGeom prst="roundRect">
            <a:avLst>
              <a:gd name="adj" fmla="val 2793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13648" y="1874520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keep it low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8613648" y="2377440"/>
            <a:ext cx="287121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on a laptop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fallback, so no model is required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APIs or hosting</a:t>
            </a:r>
            <a:endParaRPr lang="en-US" sz="1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 per deployment, isolated per institute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(COGS_Build, assumptions.csv; prices from vendor pages researched 20 Oct 2026, exchange rate ₹95.05 per US dollar).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707640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70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3  ·  LEGAL BASIS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rules we design against, and what we do about each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1183112" cy="38404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12648" y="1783080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783080"/>
            <a:ext cx="7763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1118311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715768"/>
            <a:ext cx="11183112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" y="2167128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s.9(1) and Rule 10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13048" y="2167128"/>
            <a:ext cx="7763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 before processing a minor's data: ID checked at the admission desk, consent recorded per purpose.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15768"/>
            <a:ext cx="11183112" cy="54864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3264408"/>
            <a:ext cx="11183112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" y="2715768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13048" y="2715768"/>
            <a:ext cx="7763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children: under 18, academic support uses a model; dropout and fee signals use plain rules.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264408"/>
            <a:ext cx="1118311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813048"/>
            <a:ext cx="11183112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" y="3264408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Schedule, educational institutions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813048" y="3264408"/>
            <a:ext cx="7763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and purpose-limited, so we do not rely on it for consent.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813048"/>
            <a:ext cx="11183112" cy="54864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4361688"/>
            <a:ext cx="11183112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" y="3813048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Rules, Rule 6 and 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813048" y="3813048"/>
            <a:ext cx="7763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access control, logs kept one year, breach notice to the institute within hours.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4361688"/>
            <a:ext cx="1118311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4910328"/>
            <a:ext cx="11183112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2648" y="4361688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10.2(xi)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813048" y="4361688"/>
            <a:ext cx="7763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stay private; early warning leads to counselling, never public ranks.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910328"/>
            <a:ext cx="11183112" cy="54864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9" name="Shape 27"/>
          <p:cNvSpPr/>
          <p:nvPr/>
        </p:nvSpPr>
        <p:spPr>
          <a:xfrm>
            <a:off x="502920" y="5458968"/>
            <a:ext cx="11183112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2648" y="4910328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12(vii)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13048" y="4910328"/>
            <a:ext cx="7763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performance; remedial help is an extra session.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5458968"/>
            <a:ext cx="1118311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502920" y="6007608"/>
            <a:ext cx="11183112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" y="5458968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 Act 2025, s.6(2)(d)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813048" y="5458968"/>
            <a:ext cx="7763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plans support four or more equal instalments.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2023, DPDP Rules 2025, MoE Guidelines 2024, Rajasthan Coaching Centres Act 2025 (technical/docs/TECH_PLAN.md, section 24). Not legal advice.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707640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70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4  ·  HOW WE TEST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result follows the same protocol, and misses are reported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929384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7" name="Image 0" descr="ShieldCheck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544" y="2026128"/>
            <a:ext cx="227137" cy="2271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16152" y="1911096"/>
            <a:ext cx="2738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leakage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496312"/>
            <a:ext cx="32409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use only data before the as-of date. Splits are by student and by year, never by row.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498" y="178308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5378" y="1929384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12" name="Image 1" descr="Scal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122" y="2026128"/>
            <a:ext cx="227137" cy="2271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05730" y="1911096"/>
            <a:ext cx="2738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 at equal workload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475378" y="2496312"/>
            <a:ext cx="32409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sits beside a simple rule at the same weekly top-k.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82077" y="178308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64957" y="1929384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17" name="Image 2" descr="ChartColum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700" y="2026128"/>
            <a:ext cx="227137" cy="2271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95309" y="1911096"/>
            <a:ext cx="2738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Uncertainty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264957" y="2496312"/>
            <a:ext cx="32409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over students, three generator seeds, event counts shown.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502920" y="39776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85800" y="4123944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22" name="Image 3" descr="TriangleAler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44" y="4220688"/>
            <a:ext cx="227137" cy="22713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16152" y="4105656"/>
            <a:ext cx="2738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tests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4690872"/>
            <a:ext cx="32409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Misspecified generators, a held-out institute, and an independent adversarial test of the report checker.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4292498" y="39776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475378" y="4123944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27" name="Image 4" descr="Flag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122" y="4220688"/>
            <a:ext cx="227137" cy="22713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005730" y="4105656"/>
            <a:ext cx="2738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misses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475378" y="4690872"/>
            <a:ext cx="32409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bar is reported with its cause. Bars are never moved to pass.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082077" y="3977640"/>
            <a:ext cx="3606698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264957" y="4123944"/>
            <a:ext cx="420624" cy="420624"/>
          </a:xfrm>
          <a:prstGeom prst="ellipse">
            <a:avLst/>
          </a:prstGeom>
          <a:solidFill>
            <a:srgbClr val="E3F2F2"/>
          </a:solidFill>
          <a:ln/>
        </p:spPr>
      </p:sp>
      <p:pic>
        <p:nvPicPr>
          <p:cNvPr id="32" name="Image 5" descr="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1700" y="4220688"/>
            <a:ext cx="227137" cy="22713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795309" y="4105656"/>
            <a:ext cx="2738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data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64957" y="4690872"/>
            <a:ext cx="32409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and ASSISTments under published protocols, with deviations listed.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technical/docs/agent_prompts/R1_00_COMMON.md and docs/FEASIBILITY_CHECK.md.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2517648" cy="274320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51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5  ·  SCENARIOS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Bear, Base and Bull for a mid-size institute: Bear stresses every input at once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7863840" cy="38404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12648" y="178308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institute (400 students)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783080"/>
            <a:ext cx="1371600" cy="384048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61688" y="178308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23560" y="1783080"/>
            <a:ext cx="1371600" cy="384048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78308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95160" y="1783080"/>
            <a:ext cx="1371600" cy="38404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04888" y="178308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167128"/>
            <a:ext cx="78638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2624328"/>
            <a:ext cx="786384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2648" y="2167128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1671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733288" y="21671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104888" y="21671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2624328"/>
            <a:ext cx="7863840" cy="4572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3081528"/>
            <a:ext cx="786384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" y="2624328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 per year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6243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733288" y="26243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04888" y="26243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3081528"/>
            <a:ext cx="78638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3538728"/>
            <a:ext cx="786384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2648" y="3081528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all benefits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61688" y="30815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733288" y="30815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04888" y="30815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" y="3538728"/>
            <a:ext cx="7863840" cy="4572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" y="3995928"/>
            <a:ext cx="786384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2648" y="3538728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fees only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61688" y="35387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733288" y="35387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104888" y="35387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02920" y="3995928"/>
            <a:ext cx="78638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02920" y="4453128"/>
            <a:ext cx="786384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2648" y="3995928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61688" y="39959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733288" y="39959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104888" y="39959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02920" y="4453128"/>
            <a:ext cx="7863840" cy="4572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44" name="Shape 42"/>
          <p:cNvSpPr/>
          <p:nvPr/>
        </p:nvSpPr>
        <p:spPr>
          <a:xfrm>
            <a:off x="502920" y="4910328"/>
            <a:ext cx="786384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2648" y="4453128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61688" y="44531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-0.1x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733288" y="44531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7104888" y="44531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24x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02920" y="4910328"/>
            <a:ext cx="786384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502920" y="5367528"/>
            <a:ext cx="7863840" cy="0"/>
          </a:xfrm>
          <a:prstGeom prst="line">
            <a:avLst/>
          </a:prstGeom>
          <a:noFill/>
          <a:ln w="9525">
            <a:solidFill>
              <a:srgbClr val="D5DEE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12648" y="4910328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61688" y="49103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months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733288" y="49103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7104888" y="4910328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02920" y="5486400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02920" y="548640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052560" y="1783080"/>
            <a:ext cx="2633472" cy="3657600"/>
          </a:xfrm>
          <a:prstGeom prst="roundRect">
            <a:avLst>
              <a:gd name="adj" fmla="val 3472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235440" y="187452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segment, Base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9235440" y="2331720"/>
            <a:ext cx="226771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2.3x, Mid 2.9x, Large 3.6x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1.5x, Mid 3.7x, Large 9.1x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 6 and 3 months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02920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 sheet). Model output from sourced and assumed inputs, not measured.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4389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02920" y="7315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used AI, and what we cited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5455768" cy="3931920"/>
          </a:xfrm>
          <a:prstGeom prst="roundRect">
            <a:avLst>
              <a:gd name="adj" fmla="val 2326"/>
            </a:avLst>
          </a:prstGeom>
          <a:solidFill>
            <a:srgbClr val="10325B"/>
          </a:solidFill>
          <a:ln w="12700">
            <a:solidFill>
              <a:srgbClr val="10325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9659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490712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planning, code review, documentation.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 agents: code generation.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and Gemini Deep Research: literature and regulation research.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was reviewed and tested by the team, and research claims were checked against primary sources where possible.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33008" y="1828800"/>
            <a:ext cx="5455768" cy="3931920"/>
          </a:xfrm>
          <a:prstGeom prst="roundRect">
            <a:avLst>
              <a:gd name="adj" fmla="val 2326"/>
            </a:avLst>
          </a:prstGeom>
          <a:solidFill>
            <a:srgbClr val="10325B"/>
          </a:solidFill>
          <a:ln w="12700">
            <a:solidFill>
              <a:srgbClr val="1032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07328" y="196596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data and libraries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07328" y="2514600"/>
            <a:ext cx="490712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(CC BY 4.0), ASSISTments 2009, the pyKT benchmark, JEEBench.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Noto Sans Devanagari (SIL OFL), LightGBM, Ollama, FastAPI, PostgreSQL.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licences: technical/docs/CITATIONS.md in the repository.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61264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github.com/AdityaKuranjekar/institute-intelligence-platform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AlphaQ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AlphaQ: Case B, The Data Moat (Round 1)</dc:title>
  <dc:subject>PptxGenJS Presentation</dc:subject>
  <dc:creator>AlphaQ</dc:creator>
  <cp:lastModifiedBy>AlphaQ</cp:lastModifiedBy>
  <cp:revision>1</cp:revision>
  <dcterms:created xsi:type="dcterms:W3CDTF">2026-10-21T20:40:50Z</dcterms:created>
  <dcterms:modified xsi:type="dcterms:W3CDTF">2026-10-21T20:40:50Z</dcterms:modified>
</cp:coreProperties>
</file>