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89ae40d-cb78-f491-31c9-66012682ce10}">
          <p14:sldIdLst>
            <p14:sldId id="256"/>
          </p14:sldIdLst>
        </p14:section>
        <p14:section name="Summary" id="{7945a092-5d87-1f63-e642-c4c1f3668c7f}">
          <p14:sldIdLst>
            <p14:sldId id="257"/>
          </p14:sldIdLst>
        </p14:section>
        <p14:section name="Problem" id="{96f11805-1d3c-28c9-d1fa-953ad2269286}">
          <p14:sldIdLst>
            <p14:sldId id="258"/>
            <p14:sldId id="259"/>
          </p14:sldIdLst>
        </p14:section>
        <p14:section name="Technology" id="{8656b0b9-8431-0673-4f6c-95f15753ab93}">
          <p14:sldIdLst>
            <p14:sldId id="260"/>
            <p14:sldId id="262"/>
            <p14:sldId id="263"/>
            <p14:sldId id="264"/>
          </p14:sldIdLst>
        </p14:section>
        <p14:section name="Product" id="{1a652c5a-005f-1fb4-8faa-830144f6cefd}">
          <p14:sldIdLst>
            <p14:sldId id="261"/>
          </p14:sldIdLst>
        </p14:section>
        <p14:section name="Trust" id="{c04216e5-13a8-308d-6098-493c8066e683}">
          <p14:sldIdLst>
            <p14:sldId id="265"/>
          </p14:sldIdLst>
        </p14:section>
        <p14:section name="Business" id="{85a83363-dca4-fa85-f272-d910b87b6e5a}">
          <p14:sldIdLst>
            <p14:sldId id="266"/>
            <p14:sldId id="267"/>
          </p14:sldIdLst>
        </p14:section>
        <p14:section name="The Ask" id="{90168efc-5d9c-c8bd-1ce7-98966f9fcadf}">
          <p14:sldIdLst>
            <p14:sldId id="268"/>
          </p14:sldIdLst>
        </p14:section>
        <p14:section name="Appendix" id="{12d9cbe5-5833-6fac-a4a2-60f3526802d9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Closing" id="{8d2574d7-43bb-48e1-d177-dd8db69e2f62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0.76 is the next-answer AUC on ASSISTments 2009 (published DKT 0.754). Two public datasets: ASSISTments 2009 and OULAD. 3.6 rupees is the all-in cost per student per month from the financial model (Base).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All criteriaThe loop in plain English with the technical names as secondary labels. Each step statement is eight words or fewer.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Problem framingThe 8-15 percent dropout, 36,000 rupee loss per leaver and 17.3 lakh total are the guide's illustrative baselines (400 x 12 % x 36,000). Market numbers are in financial/research/R7_market_check.md.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Feasibility and business realismFour of the six assumptions tested in the guide. Effective dropout reduction 4.0 % in the v1.1 model against the guide's 25 %. Our OULAD day-28 AUC is 0.706 on a strict student-grouped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Architecture and engineeringLayered view of the architecture. Keywords in brackets are the technical names for judges: IRT, LightGBM, conformal prediction, row-level security. Local-first: one laptop or one small server per deployment, no paid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Architecture and productProduct view. 1 is the scan screen, 2 the topic heatmap in the web console, 3 the mentor's weekly list, 4 the parent report in Hindi. The week strip shows the operating rhythm.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Data science, ML and AI rigourPlain-English headline with technical names as secondary labels. The three pending gates (difficulty recovery, wrong-key detection, mastery vs raw percent correct) come from Agent B and must be filled before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Data science, ML and AI rigour; privacyJourney on top, public-data evidence bottom-left (shrunk), compliance matrix on the right. Locks denote data walls. About a quarter of dropouts are sudden and cannot be predicted from academic data; say so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Data science, ML and AI rigour; GenAI guardrailsMock-ups: student profile with the narrowing percentile range, and the Hindi/English parent report. Do not quote a verifier catch rate until the independent adversarial test passes after the E2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Feasibility, privacy and safetyCentral lockbox: raw data stays in the institute's own environment; only item difficulty statistics reach a shared bank. We are the data processor; the institute is the data fiduciary. A lawyer's check on the in-person ID flow is still recommended.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Revenue model and unit economicsv1.1 numbers: LTV/CAC 3.6x discounted (4.8x undiscounted), payback 5.7 months simple, margin 78 %. Return 1.7x with admissions counted, 0.55x on hard benefits (fees plus staff time), 0.35x fees only. Cost stack from the COGS build at Base inputs: WhatsApp 0.8 plus platform fee 0.2, compute 0.8, AI reports 0.7, servers 0.5, compliance 0.5, consent 0.1.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Market and go-to-market; moatYear 3 Base: 58 paying institutes, revenue 65.3 lakh, EBITDA 11.9 lakh, break-even month 16, funding need 45 lakh. Channel partners give LTV/CAC 3.4x for small institutes against 1.5x by field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Feasibility; honest limitsThe ask is concrete and falsifiable. Funding of 45 lakh and break-even in month 16 are Base outputs of the v1.1 projection; Bear needs 1 crore and does not break even within 36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Revenue model and unit economics: sensitivity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Revenue model; three-year projection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Data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Legal basis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Validation plan and model card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Problem statement coverage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Source register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Mandatory disclosure (Problem Statement, rule 2). Keep this as the last slide of the submitted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6510528"/>
            <a:ext cx="530352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1148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11480" y="1051560"/>
            <a:ext cx="5669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  ·  NEXTUTE × FINANCE CLUB, IIT PATNA</a:t>
            </a:r>
            <a:endParaRPr lang="en-US" sz="11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11480" y="105156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21488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Moat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2743200"/>
            <a:ext cx="1097280" cy="457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11480" y="29260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student's weak topics, found before the exam.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AlphaQ  ·  Round 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78841" y="3609344"/>
            <a:ext cx="922647" cy="43168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 flipV="1">
            <a:off x="6111137" y="3424650"/>
            <a:ext cx="467704" cy="184694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6159140" y="3609344"/>
            <a:ext cx="419702" cy="225448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6578841" y="3173846"/>
            <a:ext cx="904240" cy="435497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6578841" y="3413000"/>
            <a:ext cx="580995" cy="196344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 flipV="1">
            <a:off x="6216312" y="3083339"/>
            <a:ext cx="362529" cy="526005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6430877" y="3609344"/>
            <a:ext cx="147964" cy="218492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 flipV="1">
            <a:off x="6270835" y="2675157"/>
            <a:ext cx="308006" cy="934187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 flipV="1">
            <a:off x="7483081" y="3173846"/>
            <a:ext cx="18407" cy="478665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 flipV="1">
            <a:off x="7159836" y="3413000"/>
            <a:ext cx="341653" cy="239511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11137" y="3424650"/>
            <a:ext cx="48002" cy="410142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6111137" y="3413000"/>
            <a:ext cx="1048698" cy="11650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6111137" y="3083339"/>
            <a:ext cx="105174" cy="341311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11137" y="3424650"/>
            <a:ext cx="319739" cy="403186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6111137" y="2675157"/>
            <a:ext cx="159698" cy="749493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80549" y="855762"/>
            <a:ext cx="235379" cy="175707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6159140" y="3083339"/>
            <a:ext cx="57172" cy="751453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6159140" y="3827836"/>
            <a:ext cx="271737" cy="6956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 flipV="1">
            <a:off x="7914583" y="2023815"/>
            <a:ext cx="476476" cy="362200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 flipV="1">
            <a:off x="8048863" y="1831905"/>
            <a:ext cx="342196" cy="554110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04902" y="2439105"/>
            <a:ext cx="378179" cy="734741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7104902" y="2023815"/>
            <a:ext cx="809681" cy="415290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04902" y="2439105"/>
            <a:ext cx="54934" cy="973895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 flipV="1">
            <a:off x="6884200" y="2226816"/>
            <a:ext cx="220702" cy="212289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 flipV="1">
            <a:off x="6290687" y="2141271"/>
            <a:ext cx="814215" cy="297834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>
            <a:off x="6270835" y="2439105"/>
            <a:ext cx="834067" cy="236052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>
            <a:off x="7159836" y="3173846"/>
            <a:ext cx="323246" cy="239154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>
            <a:off x="6884200" y="2023815"/>
            <a:ext cx="1030383" cy="203001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7914583" y="1831905"/>
            <a:ext cx="134280" cy="191910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H="1" flipV="1">
            <a:off x="6216312" y="3083339"/>
            <a:ext cx="943524" cy="329661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>
            <a:off x="6430877" y="3413000"/>
            <a:ext cx="728959" cy="414836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 flipV="1">
            <a:off x="6290687" y="2141271"/>
            <a:ext cx="593513" cy="85545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>
            <a:off x="6270835" y="2226816"/>
            <a:ext cx="613364" cy="448341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6312" y="3083339"/>
            <a:ext cx="214565" cy="744497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6216312" y="2141271"/>
            <a:ext cx="74375" cy="942067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6216312" y="2675157"/>
            <a:ext cx="54523" cy="408182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>
            <a:off x="6270835" y="2141271"/>
            <a:ext cx="19851" cy="533885"/>
          </a:xfrm>
          <a:prstGeom prst="line">
            <a:avLst/>
          </a:prstGeom>
          <a:noFill/>
          <a:ln w="11430">
            <a:solidFill>
              <a:srgbClr val="B9CB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14833" y="3545336"/>
            <a:ext cx="128016" cy="128016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46" name="Shape 44"/>
          <p:cNvSpPr/>
          <p:nvPr/>
        </p:nvSpPr>
        <p:spPr>
          <a:xfrm>
            <a:off x="7437480" y="3588503"/>
            <a:ext cx="128016" cy="128016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47" name="Shape 45"/>
          <p:cNvSpPr/>
          <p:nvPr/>
        </p:nvSpPr>
        <p:spPr>
          <a:xfrm>
            <a:off x="6047129" y="3360642"/>
            <a:ext cx="128016" cy="128016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48" name="Shape 46"/>
          <p:cNvSpPr/>
          <p:nvPr/>
        </p:nvSpPr>
        <p:spPr>
          <a:xfrm>
            <a:off x="6816541" y="791754"/>
            <a:ext cx="128016" cy="128016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49" name="Shape 47"/>
          <p:cNvSpPr/>
          <p:nvPr/>
        </p:nvSpPr>
        <p:spPr>
          <a:xfrm>
            <a:off x="6095132" y="3770784"/>
            <a:ext cx="128016" cy="128016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50" name="Shape 48"/>
          <p:cNvSpPr/>
          <p:nvPr/>
        </p:nvSpPr>
        <p:spPr>
          <a:xfrm>
            <a:off x="8327051" y="2322007"/>
            <a:ext cx="128016" cy="128016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51" name="Shape 49"/>
          <p:cNvSpPr/>
          <p:nvPr/>
        </p:nvSpPr>
        <p:spPr>
          <a:xfrm>
            <a:off x="7040894" y="2375097"/>
            <a:ext cx="128016" cy="128016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52" name="Shape 50"/>
          <p:cNvSpPr/>
          <p:nvPr/>
        </p:nvSpPr>
        <p:spPr>
          <a:xfrm>
            <a:off x="7419073" y="3109838"/>
            <a:ext cx="128016" cy="128016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53" name="Shape 51"/>
          <p:cNvSpPr/>
          <p:nvPr/>
        </p:nvSpPr>
        <p:spPr>
          <a:xfrm>
            <a:off x="7850575" y="1959807"/>
            <a:ext cx="128016" cy="128016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54" name="Shape 52"/>
          <p:cNvSpPr/>
          <p:nvPr/>
        </p:nvSpPr>
        <p:spPr>
          <a:xfrm>
            <a:off x="7095828" y="3348992"/>
            <a:ext cx="128016" cy="128016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55" name="Shape 53"/>
          <p:cNvSpPr/>
          <p:nvPr/>
        </p:nvSpPr>
        <p:spPr>
          <a:xfrm>
            <a:off x="6820192" y="2162808"/>
            <a:ext cx="128016" cy="128016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56" name="Shape 54"/>
          <p:cNvSpPr/>
          <p:nvPr/>
        </p:nvSpPr>
        <p:spPr>
          <a:xfrm>
            <a:off x="6152304" y="3019331"/>
            <a:ext cx="128016" cy="128016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57" name="Shape 55"/>
          <p:cNvSpPr/>
          <p:nvPr/>
        </p:nvSpPr>
        <p:spPr>
          <a:xfrm>
            <a:off x="7984855" y="1767897"/>
            <a:ext cx="128016" cy="128016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58" name="Shape 56"/>
          <p:cNvSpPr/>
          <p:nvPr/>
        </p:nvSpPr>
        <p:spPr>
          <a:xfrm>
            <a:off x="6366869" y="3763828"/>
            <a:ext cx="128016" cy="128016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59" name="Shape 57"/>
          <p:cNvSpPr/>
          <p:nvPr/>
        </p:nvSpPr>
        <p:spPr>
          <a:xfrm>
            <a:off x="6226679" y="2077263"/>
            <a:ext cx="128016" cy="128016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0" name="Shape 58"/>
          <p:cNvSpPr/>
          <p:nvPr/>
        </p:nvSpPr>
        <p:spPr>
          <a:xfrm>
            <a:off x="7051920" y="967461"/>
            <a:ext cx="128016" cy="128016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61" name="Shape 59"/>
          <p:cNvSpPr/>
          <p:nvPr/>
        </p:nvSpPr>
        <p:spPr>
          <a:xfrm>
            <a:off x="6206827" y="2611149"/>
            <a:ext cx="128016" cy="128016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2" name="Shape 60"/>
          <p:cNvSpPr/>
          <p:nvPr/>
        </p:nvSpPr>
        <p:spPr>
          <a:xfrm>
            <a:off x="5943600" y="3931920"/>
            <a:ext cx="552069" cy="219456"/>
          </a:xfrm>
          <a:prstGeom prst="roundRect">
            <a:avLst>
              <a:gd name="adj" fmla="val 50000"/>
            </a:avLst>
          </a:prstGeom>
          <a:solidFill>
            <a:srgbClr val="E3ECF7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5943600" y="3931920"/>
            <a:ext cx="5520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812280" y="3931920"/>
            <a:ext cx="866394" cy="219456"/>
          </a:xfrm>
          <a:prstGeom prst="roundRect">
            <a:avLst>
              <a:gd name="adj" fmla="val 50000"/>
            </a:avLst>
          </a:prstGeom>
          <a:solidFill>
            <a:srgbClr val="E3ECF7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6812280" y="3931920"/>
            <a:ext cx="8663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sheets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680960" y="3931920"/>
            <a:ext cx="740664" cy="219456"/>
          </a:xfrm>
          <a:prstGeom prst="roundRect">
            <a:avLst>
              <a:gd name="adj" fmla="val 50000"/>
            </a:avLst>
          </a:prstGeom>
          <a:solidFill>
            <a:srgbClr val="E3ECF7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7680960" y="3931920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641080" y="2286000"/>
            <a:ext cx="502920" cy="0"/>
          </a:xfrm>
          <a:prstGeom prst="line">
            <a:avLst/>
          </a:prstGeom>
          <a:noFill/>
          <a:ln w="38100">
            <a:solidFill>
              <a:srgbClr val="1F4A82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9281160" y="822960"/>
            <a:ext cx="384048" cy="512064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70" name="Shape 68"/>
          <p:cNvSpPr/>
          <p:nvPr/>
        </p:nvSpPr>
        <p:spPr>
          <a:xfrm>
            <a:off x="9692640" y="822960"/>
            <a:ext cx="384048" cy="512064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71" name="Shape 69"/>
          <p:cNvSpPr/>
          <p:nvPr/>
        </p:nvSpPr>
        <p:spPr>
          <a:xfrm>
            <a:off x="10104120" y="822960"/>
            <a:ext cx="384048" cy="512064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2" name="Shape 70"/>
          <p:cNvSpPr/>
          <p:nvPr/>
        </p:nvSpPr>
        <p:spPr>
          <a:xfrm>
            <a:off x="10515600" y="822960"/>
            <a:ext cx="384048" cy="5120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3" name="Shape 71"/>
          <p:cNvSpPr/>
          <p:nvPr/>
        </p:nvSpPr>
        <p:spPr>
          <a:xfrm>
            <a:off x="10927080" y="822960"/>
            <a:ext cx="384048" cy="512064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74" name="Shape 72"/>
          <p:cNvSpPr/>
          <p:nvPr/>
        </p:nvSpPr>
        <p:spPr>
          <a:xfrm>
            <a:off x="11338560" y="822960"/>
            <a:ext cx="384048" cy="512064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5" name="Shape 73"/>
          <p:cNvSpPr/>
          <p:nvPr/>
        </p:nvSpPr>
        <p:spPr>
          <a:xfrm>
            <a:off x="9281160" y="1371600"/>
            <a:ext cx="384048" cy="512064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76" name="Shape 74"/>
          <p:cNvSpPr/>
          <p:nvPr/>
        </p:nvSpPr>
        <p:spPr>
          <a:xfrm>
            <a:off x="9692640" y="1371600"/>
            <a:ext cx="384048" cy="512064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77" name="Shape 75"/>
          <p:cNvSpPr/>
          <p:nvPr/>
        </p:nvSpPr>
        <p:spPr>
          <a:xfrm>
            <a:off x="10104120" y="1371600"/>
            <a:ext cx="384048" cy="512064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78" name="Shape 76"/>
          <p:cNvSpPr/>
          <p:nvPr/>
        </p:nvSpPr>
        <p:spPr>
          <a:xfrm>
            <a:off x="10515600" y="1371600"/>
            <a:ext cx="384048" cy="512064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9" name="Shape 77"/>
          <p:cNvSpPr/>
          <p:nvPr/>
        </p:nvSpPr>
        <p:spPr>
          <a:xfrm>
            <a:off x="10927080" y="1371600"/>
            <a:ext cx="384048" cy="512064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80" name="Shape 78"/>
          <p:cNvSpPr/>
          <p:nvPr/>
        </p:nvSpPr>
        <p:spPr>
          <a:xfrm>
            <a:off x="11338560" y="1371600"/>
            <a:ext cx="384048" cy="512064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81" name="Shape 79"/>
          <p:cNvSpPr/>
          <p:nvPr/>
        </p:nvSpPr>
        <p:spPr>
          <a:xfrm>
            <a:off x="9281160" y="1920240"/>
            <a:ext cx="384048" cy="5120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2" name="Shape 80"/>
          <p:cNvSpPr/>
          <p:nvPr/>
        </p:nvSpPr>
        <p:spPr>
          <a:xfrm>
            <a:off x="9692640" y="1920240"/>
            <a:ext cx="384048" cy="512064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3" name="Shape 81"/>
          <p:cNvSpPr/>
          <p:nvPr/>
        </p:nvSpPr>
        <p:spPr>
          <a:xfrm>
            <a:off x="10104120" y="1920240"/>
            <a:ext cx="384048" cy="512064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84" name="Shape 82"/>
          <p:cNvSpPr/>
          <p:nvPr/>
        </p:nvSpPr>
        <p:spPr>
          <a:xfrm>
            <a:off x="10515600" y="1920240"/>
            <a:ext cx="384048" cy="512064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85" name="Shape 83"/>
          <p:cNvSpPr/>
          <p:nvPr/>
        </p:nvSpPr>
        <p:spPr>
          <a:xfrm>
            <a:off x="10927080" y="1920240"/>
            <a:ext cx="384048" cy="512064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6" name="Shape 84"/>
          <p:cNvSpPr/>
          <p:nvPr/>
        </p:nvSpPr>
        <p:spPr>
          <a:xfrm>
            <a:off x="11338560" y="1920240"/>
            <a:ext cx="384048" cy="512064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87" name="Shape 85"/>
          <p:cNvSpPr/>
          <p:nvPr/>
        </p:nvSpPr>
        <p:spPr>
          <a:xfrm>
            <a:off x="9281160" y="2468880"/>
            <a:ext cx="384048" cy="512064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88" name="Shape 86"/>
          <p:cNvSpPr/>
          <p:nvPr/>
        </p:nvSpPr>
        <p:spPr>
          <a:xfrm>
            <a:off x="9692640" y="2468880"/>
            <a:ext cx="384048" cy="5120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9" name="Shape 87"/>
          <p:cNvSpPr/>
          <p:nvPr/>
        </p:nvSpPr>
        <p:spPr>
          <a:xfrm>
            <a:off x="10104120" y="2468880"/>
            <a:ext cx="384048" cy="512064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0" name="Shape 88"/>
          <p:cNvSpPr/>
          <p:nvPr/>
        </p:nvSpPr>
        <p:spPr>
          <a:xfrm>
            <a:off x="10515600" y="2468880"/>
            <a:ext cx="384048" cy="512064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91" name="Shape 89"/>
          <p:cNvSpPr/>
          <p:nvPr/>
        </p:nvSpPr>
        <p:spPr>
          <a:xfrm>
            <a:off x="10927080" y="2468880"/>
            <a:ext cx="384048" cy="5120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2" name="Shape 90"/>
          <p:cNvSpPr/>
          <p:nvPr/>
        </p:nvSpPr>
        <p:spPr>
          <a:xfrm>
            <a:off x="11338560" y="2468880"/>
            <a:ext cx="384048" cy="512064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3" name="Shape 91"/>
          <p:cNvSpPr/>
          <p:nvPr/>
        </p:nvSpPr>
        <p:spPr>
          <a:xfrm>
            <a:off x="9281160" y="3017520"/>
            <a:ext cx="384048" cy="512064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94" name="Shape 92"/>
          <p:cNvSpPr/>
          <p:nvPr/>
        </p:nvSpPr>
        <p:spPr>
          <a:xfrm>
            <a:off x="9692640" y="3017520"/>
            <a:ext cx="384048" cy="512064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95" name="Shape 93"/>
          <p:cNvSpPr/>
          <p:nvPr/>
        </p:nvSpPr>
        <p:spPr>
          <a:xfrm>
            <a:off x="10104120" y="3017520"/>
            <a:ext cx="384048" cy="5120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6" name="Shape 94"/>
          <p:cNvSpPr/>
          <p:nvPr/>
        </p:nvSpPr>
        <p:spPr>
          <a:xfrm>
            <a:off x="10515600" y="3017520"/>
            <a:ext cx="384048" cy="512064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7" name="Shape 95"/>
          <p:cNvSpPr/>
          <p:nvPr/>
        </p:nvSpPr>
        <p:spPr>
          <a:xfrm>
            <a:off x="10927080" y="3017520"/>
            <a:ext cx="384048" cy="512064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98" name="Shape 96"/>
          <p:cNvSpPr/>
          <p:nvPr/>
        </p:nvSpPr>
        <p:spPr>
          <a:xfrm>
            <a:off x="11338560" y="3017520"/>
            <a:ext cx="384048" cy="5120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9281160" y="39319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topic map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411480" y="4709160"/>
            <a:ext cx="1463040" cy="1371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1" name="Text 99"/>
          <p:cNvSpPr txBox="1"/>
          <p:nvPr/>
        </p:nvSpPr>
        <p:spPr>
          <a:xfrm>
            <a:off x="411480" y="470916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3000" dirty="0"/>
          </a:p>
        </p:txBody>
      </p:sp>
      <p:sp>
        <p:nvSpPr>
          <p:cNvPr id="102" name="Shape 100"/>
          <p:cNvSpPr/>
          <p:nvPr/>
        </p:nvSpPr>
        <p:spPr>
          <a:xfrm>
            <a:off x="1874520" y="4709160"/>
            <a:ext cx="2235098" cy="1371600"/>
          </a:xfrm>
          <a:prstGeom prst="rect">
            <a:avLst/>
          </a:prstGeom>
          <a:solidFill>
            <a:srgbClr val="F4F7FB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2011680" y="4965192"/>
            <a:ext cx="2006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 score</a:t>
            </a:r>
            <a:endParaRPr lang="en-US" sz="1400" dirty="0"/>
          </a:p>
        </p:txBody>
      </p:sp>
      <p:sp>
        <p:nvSpPr>
          <p:cNvPr id="104" name="Text 102"/>
          <p:cNvSpPr txBox="1"/>
          <p:nvPr/>
        </p:nvSpPr>
        <p:spPr>
          <a:xfrm>
            <a:off x="2011680" y="5458968"/>
            <a:ext cx="2006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data; published rival 0.75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>
            <a:off x="4246778" y="4709160"/>
            <a:ext cx="1463040" cy="1371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4246778" y="470916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107" name="Shape 105"/>
          <p:cNvSpPr/>
          <p:nvPr/>
        </p:nvSpPr>
        <p:spPr>
          <a:xfrm>
            <a:off x="5709818" y="4709160"/>
            <a:ext cx="2235098" cy="1371600"/>
          </a:xfrm>
          <a:prstGeom prst="rect">
            <a:avLst/>
          </a:prstGeom>
          <a:solidFill>
            <a:srgbClr val="F4F7FB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5846978" y="4965192"/>
            <a:ext cx="2006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datasets, not just ours</a:t>
            </a:r>
            <a:endParaRPr lang="en-US" sz="1400" dirty="0"/>
          </a:p>
        </p:txBody>
      </p:sp>
      <p:sp>
        <p:nvSpPr>
          <p:cNvPr id="109" name="Text 107"/>
          <p:cNvSpPr txBox="1"/>
          <p:nvPr/>
        </p:nvSpPr>
        <p:spPr>
          <a:xfrm>
            <a:off x="5846978" y="5458968"/>
            <a:ext cx="2006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University and ASSISTments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8082077" y="4709160"/>
            <a:ext cx="1463040" cy="1371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8082077" y="470916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₹3.6</a:t>
            </a:r>
            <a:endParaRPr lang="en-US" sz="3000" dirty="0"/>
          </a:p>
        </p:txBody>
      </p:sp>
      <p:sp>
        <p:nvSpPr>
          <p:cNvPr id="112" name="Shape 110"/>
          <p:cNvSpPr/>
          <p:nvPr/>
        </p:nvSpPr>
        <p:spPr>
          <a:xfrm>
            <a:off x="9545117" y="4709160"/>
            <a:ext cx="2235098" cy="1371600"/>
          </a:xfrm>
          <a:prstGeom prst="rect">
            <a:avLst/>
          </a:prstGeom>
          <a:solidFill>
            <a:srgbClr val="F4F7FB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9682277" y="4965192"/>
            <a:ext cx="2006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student per month</a:t>
            </a:r>
            <a:endParaRPr lang="en-US" sz="1400" dirty="0"/>
          </a:p>
        </p:txBody>
      </p:sp>
      <p:sp>
        <p:nvSpPr>
          <p:cNvPr id="114" name="Text 112"/>
          <p:cNvSpPr txBox="1"/>
          <p:nvPr/>
        </p:nvSpPr>
        <p:spPr>
          <a:xfrm>
            <a:off x="9682277" y="5458968"/>
            <a:ext cx="2006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All-in, on one laptop</a:t>
            </a:r>
            <a:endParaRPr lang="en-US" sz="1050" dirty="0"/>
          </a:p>
        </p:txBody>
      </p:sp>
      <p:sp>
        <p:nvSpPr>
          <p:cNvPr id="115" name="Text 113"/>
          <p:cNvSpPr txBox="1"/>
          <p:nvPr/>
        </p:nvSpPr>
        <p:spPr>
          <a:xfrm>
            <a:off x="411480" y="44622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RIBBON</a:t>
            </a:r>
            <a:endParaRPr lang="en-US" sz="900" dirty="0"/>
          </a:p>
        </p:txBody>
      </p:sp>
      <p:sp>
        <p:nvSpPr>
          <p:cNvPr id="116" name="Text 114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ml/public_validation (ASSISTments 2009 under the pyKT protocol; OULAD); financial model v1.1, Base case. Screens and graphics are illustrative.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91440"/>
            <a:ext cx="873252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SUMMARY: THE PRAGATI LOOP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become a weekly to-do list for mentors, at a price owners accept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320040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84632" y="118872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FRICTION &amp; THE FIX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11480" y="1481328"/>
            <a:ext cx="3200400" cy="2148840"/>
          </a:xfrm>
          <a:prstGeom prst="rect">
            <a:avLst/>
          </a:prstGeom>
          <a:solidFill>
            <a:srgbClr val="F6EAE8"/>
          </a:solidFill>
          <a:ln w="12700">
            <a:solidFill>
              <a:srgbClr val="D9A9A2"/>
            </a:solidFill>
            <a:prstDash val="solid"/>
          </a:ln>
        </p:spPr>
      </p:sp>
      <p:pic>
        <p:nvPicPr>
          <p:cNvPr id="26" name="Image 0" descr="FaTriangleExclamatio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914400" y="159105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FRICTION</a:t>
            </a:r>
            <a:endParaRPr lang="en-US" sz="1150" dirty="0"/>
          </a:p>
        </p:txBody>
      </p:sp>
      <p:sp>
        <p:nvSpPr>
          <p:cNvPr id="28" name="Text 24"/>
          <p:cNvSpPr txBox="1"/>
          <p:nvPr/>
        </p:nvSpPr>
        <p:spPr>
          <a:xfrm>
            <a:off x="576072" y="1993392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sit on paper and WhatsApp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topics found after the exam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₹17.3 L a year lost to dropouts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apps give no early warning</a:t>
            </a:r>
            <a:endParaRPr lang="en-US" sz="1050" dirty="0"/>
          </a:p>
        </p:txBody>
      </p:sp>
      <p:pic>
        <p:nvPicPr>
          <p:cNvPr id="29" name="Image 1" descr="FaArrowDow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3675888"/>
            <a:ext cx="274320" cy="27432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411480" y="4005072"/>
            <a:ext cx="3200400" cy="2286000"/>
          </a:xfrm>
          <a:prstGeom prst="rect">
            <a:avLst/>
          </a:prstGeom>
          <a:solidFill>
            <a:srgbClr val="E3ECF7"/>
          </a:solidFill>
          <a:ln w="15875">
            <a:solidFill>
              <a:srgbClr val="1F4A82"/>
            </a:solidFill>
            <a:prstDash val="solid"/>
          </a:ln>
        </p:spPr>
      </p:sp>
      <p:pic>
        <p:nvPicPr>
          <p:cNvPr id="31" name="Image 2" descr="FaCircleChe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0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14400" y="410565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150" dirty="0"/>
          </a:p>
        </p:txBody>
      </p:sp>
      <p:sp>
        <p:nvSpPr>
          <p:cNvPr id="33" name="Text 27"/>
          <p:cNvSpPr txBox="1"/>
          <p:nvPr/>
        </p:nvSpPr>
        <p:spPr>
          <a:xfrm>
            <a:off x="576072" y="45262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upload gives a topic map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weekly list for mentors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reasons, supportive actions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Hindi and English parent notes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run, works offline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8234031" y="2384427"/>
            <a:ext cx="870749" cy="397505"/>
          </a:xfrm>
          <a:prstGeom prst="line">
            <a:avLst/>
          </a:prstGeom>
          <a:noFill/>
          <a:ln w="25400">
            <a:solidFill>
              <a:srgbClr val="9AA6B5"/>
            </a:solidFill>
            <a:prstDash val="solid"/>
            <a:tailEnd type="triangle"/>
          </a:ln>
        </p:spPr>
      </p:sp>
      <p:sp>
        <p:nvSpPr>
          <p:cNvPr id="35" name="Shape 29"/>
          <p:cNvSpPr/>
          <p:nvPr/>
        </p:nvSpPr>
        <p:spPr>
          <a:xfrm>
            <a:off x="9520691" y="3429000"/>
            <a:ext cx="0" cy="640080"/>
          </a:xfrm>
          <a:prstGeom prst="line">
            <a:avLst/>
          </a:prstGeom>
          <a:noFill/>
          <a:ln w="25400">
            <a:solidFill>
              <a:srgbClr val="9AA6B5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 flipH="1">
            <a:off x="8234031" y="4716147"/>
            <a:ext cx="870749" cy="397505"/>
          </a:xfrm>
          <a:prstGeom prst="line">
            <a:avLst/>
          </a:prstGeom>
          <a:noFill/>
          <a:ln w="25400">
            <a:solidFill>
              <a:srgbClr val="9AA6B5"/>
            </a:solidFill>
            <a:prstDash val="solid"/>
            <a:tailEnd type="triangle"/>
          </a:ln>
        </p:spPr>
      </p:sp>
      <p:sp>
        <p:nvSpPr>
          <p:cNvPr id="37" name="Shape 31"/>
          <p:cNvSpPr/>
          <p:nvPr/>
        </p:nvSpPr>
        <p:spPr>
          <a:xfrm flipH="1" flipV="1">
            <a:off x="6531460" y="4716147"/>
            <a:ext cx="870749" cy="397505"/>
          </a:xfrm>
          <a:prstGeom prst="line">
            <a:avLst/>
          </a:prstGeom>
          <a:noFill/>
          <a:ln w="25400">
            <a:solidFill>
              <a:srgbClr val="9AA6B5"/>
            </a:solidFill>
            <a:prstDash val="solid"/>
            <a:tailEnd type="triangle"/>
          </a:ln>
        </p:spPr>
      </p:sp>
      <p:sp>
        <p:nvSpPr>
          <p:cNvPr id="38" name="Shape 32"/>
          <p:cNvSpPr/>
          <p:nvPr/>
        </p:nvSpPr>
        <p:spPr>
          <a:xfrm flipV="1">
            <a:off x="6115549" y="3429000"/>
            <a:ext cx="0" cy="640080"/>
          </a:xfrm>
          <a:prstGeom prst="line">
            <a:avLst/>
          </a:prstGeom>
          <a:noFill/>
          <a:ln w="25400">
            <a:solidFill>
              <a:srgbClr val="9AA6B5"/>
            </a:solidFill>
            <a:prstDash val="solid"/>
            <a:tailEnd type="triangle"/>
          </a:ln>
        </p:spPr>
      </p:sp>
      <p:sp>
        <p:nvSpPr>
          <p:cNvPr id="39" name="Shape 33"/>
          <p:cNvSpPr/>
          <p:nvPr/>
        </p:nvSpPr>
        <p:spPr>
          <a:xfrm flipV="1">
            <a:off x="6531460" y="2384427"/>
            <a:ext cx="870749" cy="397505"/>
          </a:xfrm>
          <a:prstGeom prst="line">
            <a:avLst/>
          </a:prstGeom>
          <a:noFill/>
          <a:ln w="25400">
            <a:solidFill>
              <a:srgbClr val="9AA6B5"/>
            </a:solidFill>
            <a:prstDash val="solid"/>
            <a:tailEnd type="triangle"/>
          </a:ln>
        </p:spPr>
      </p:sp>
      <p:sp>
        <p:nvSpPr>
          <p:cNvPr id="40" name="Shape 34"/>
          <p:cNvSpPr/>
          <p:nvPr/>
        </p:nvSpPr>
        <p:spPr>
          <a:xfrm>
            <a:off x="7040880" y="2971800"/>
            <a:ext cx="1554480" cy="1554480"/>
          </a:xfrm>
          <a:prstGeom prst="ellipse">
            <a:avLst/>
          </a:prstGeom>
          <a:solidFill>
            <a:srgbClr val="E3ECF7"/>
          </a:solidFill>
          <a:ln w="19050">
            <a:solidFill>
              <a:srgbClr val="1F4A82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7040880" y="3246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₹3.6</a:t>
            </a:r>
            <a:endParaRPr lang="en-US" sz="2800" dirty="0"/>
          </a:p>
        </p:txBody>
      </p:sp>
      <p:sp>
        <p:nvSpPr>
          <p:cNvPr id="42" name="Text 36"/>
          <p:cNvSpPr txBox="1"/>
          <p:nvPr/>
        </p:nvSpPr>
        <p:spPr>
          <a:xfrm>
            <a:off x="7086600" y="3794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student, per month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7434072" y="1810512"/>
            <a:ext cx="768096" cy="768096"/>
          </a:xfrm>
          <a:prstGeom prst="ellips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44" name="Image 3" descr="FaCamera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2011680"/>
            <a:ext cx="365760" cy="365760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8321040" y="171907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Capture</a:t>
            </a:r>
            <a:endParaRPr lang="en-US" sz="14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photo or Excel becomes clean data</a:t>
            </a:r>
            <a:endParaRPr lang="en-US" sz="1400" dirty="0"/>
          </a:p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reader</a:t>
            </a:r>
            <a:endParaRPr lang="en-US" sz="1400" dirty="0"/>
          </a:p>
        </p:txBody>
      </p:sp>
      <p:sp>
        <p:nvSpPr>
          <p:cNvPr id="46" name="Shape 39"/>
          <p:cNvSpPr/>
          <p:nvPr/>
        </p:nvSpPr>
        <p:spPr>
          <a:xfrm>
            <a:off x="9136643" y="2587752"/>
            <a:ext cx="768096" cy="768096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47" name="Image 4" descr="FaDiagramProjec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7811" y="2788920"/>
            <a:ext cx="365760" cy="365760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10023611" y="2560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Structure</a:t>
            </a:r>
            <a:endParaRPr lang="en-US" sz="14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tagged to a syllabus topic</a:t>
            </a:r>
            <a:endParaRPr lang="en-US" sz="1400" dirty="0"/>
          </a:p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380-topic map</a:t>
            </a:r>
            <a:endParaRPr lang="en-US" sz="1400" dirty="0"/>
          </a:p>
        </p:txBody>
      </p:sp>
      <p:sp>
        <p:nvSpPr>
          <p:cNvPr id="49" name="Shape 41"/>
          <p:cNvSpPr/>
          <p:nvPr/>
        </p:nvSpPr>
        <p:spPr>
          <a:xfrm>
            <a:off x="9136643" y="4142232"/>
            <a:ext cx="768096" cy="768096"/>
          </a:xfrm>
          <a:prstGeom prst="ellips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50" name="Image 5" descr="FaBrain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7811" y="4343400"/>
            <a:ext cx="365760" cy="365760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10023611" y="41148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Estimate</a:t>
            </a:r>
            <a:endParaRPr lang="en-US" sz="14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each student's strengths, topic by topic</a:t>
            </a:r>
            <a:endParaRPr lang="en-US" sz="1400" dirty="0"/>
          </a:p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 mastery model</a:t>
            </a:r>
            <a:endParaRPr lang="en-US" sz="1400" dirty="0"/>
          </a:p>
        </p:txBody>
      </p:sp>
      <p:sp>
        <p:nvSpPr>
          <p:cNvPr id="52" name="Shape 43"/>
          <p:cNvSpPr/>
          <p:nvPr/>
        </p:nvSpPr>
        <p:spPr>
          <a:xfrm>
            <a:off x="7434072" y="4919472"/>
            <a:ext cx="768096" cy="768096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53" name="Image 6" descr="FaFlag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5120640"/>
            <a:ext cx="365760" cy="365760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5212080" y="50292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Flag</a:t>
            </a:r>
            <a:endParaRPr lang="en-US" sz="140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weekly list: who needs help, why</a:t>
            </a:r>
            <a:endParaRPr lang="en-US" sz="1400" dirty="0"/>
          </a:p>
          <a:p>
            <a:pPr algn="r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risk model</a:t>
            </a:r>
            <a:endParaRPr lang="en-US" sz="1400" dirty="0"/>
          </a:p>
        </p:txBody>
      </p:sp>
      <p:sp>
        <p:nvSpPr>
          <p:cNvPr id="55" name="Shape 45"/>
          <p:cNvSpPr/>
          <p:nvPr/>
        </p:nvSpPr>
        <p:spPr>
          <a:xfrm>
            <a:off x="5731501" y="4142232"/>
            <a:ext cx="768096" cy="768096"/>
          </a:xfrm>
          <a:prstGeom prst="ellips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56" name="Image 7" descr="FaHandshake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2669" y="4343400"/>
            <a:ext cx="365760" cy="365760"/>
          </a:xfrm>
          <a:prstGeom prst="rect">
            <a:avLst/>
          </a:prstGeom>
        </p:spPr>
      </p:pic>
      <p:sp>
        <p:nvSpPr>
          <p:cNvPr id="57" name="Text 46"/>
          <p:cNvSpPr txBox="1"/>
          <p:nvPr/>
        </p:nvSpPr>
        <p:spPr>
          <a:xfrm>
            <a:off x="3783829" y="41148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</a:t>
            </a:r>
            <a:endParaRPr lang="en-US" sz="140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call; every outcome is logged</a:t>
            </a:r>
            <a:endParaRPr lang="en-US" sz="1400" dirty="0"/>
          </a:p>
          <a:p>
            <a:pPr algn="r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log</a:t>
            </a:r>
            <a:endParaRPr lang="en-US" sz="1400" dirty="0"/>
          </a:p>
        </p:txBody>
      </p:sp>
      <p:sp>
        <p:nvSpPr>
          <p:cNvPr id="58" name="Shape 47"/>
          <p:cNvSpPr/>
          <p:nvPr/>
        </p:nvSpPr>
        <p:spPr>
          <a:xfrm>
            <a:off x="5731501" y="2587752"/>
            <a:ext cx="768096" cy="768096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59" name="Image 8" descr="FaFileLines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2669" y="2788920"/>
            <a:ext cx="365760" cy="365760"/>
          </a:xfrm>
          <a:prstGeom prst="rect">
            <a:avLst/>
          </a:prstGeom>
        </p:spPr>
      </p:pic>
      <p:sp>
        <p:nvSpPr>
          <p:cNvPr id="60" name="Text 48"/>
          <p:cNvSpPr txBox="1"/>
          <p:nvPr/>
        </p:nvSpPr>
        <p:spPr>
          <a:xfrm>
            <a:off x="3783829" y="2560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Report</a:t>
            </a:r>
            <a:endParaRPr lang="en-US" sz="140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Hindi and English parent updates</a:t>
            </a:r>
            <a:endParaRPr lang="en-US" sz="1400" dirty="0"/>
          </a:p>
          <a:p>
            <a:pPr algn="r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8-check verifier</a:t>
            </a:r>
            <a:endParaRPr lang="en-US" sz="1400" dirty="0"/>
          </a:p>
        </p:txBody>
      </p:sp>
      <p:sp>
        <p:nvSpPr>
          <p:cNvPr id="61" name="Text 49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product design; financial model v1.1 (₹3.6 all-in cost, Base); case guide baselines. Technical names appear in grey as proof of rigour.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467612" y="91440"/>
            <a:ext cx="873252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LEAKY REVENUE, MESSY DATA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Institutes have the marks, but notice a struggling student only after that student has left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544068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84632" y="1188720"/>
            <a:ext cx="5294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REVENUE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11480" y="1463040"/>
            <a:ext cx="2697480" cy="10515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11480" y="1517904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8–15 %</a:t>
            </a:r>
            <a:endParaRPr lang="en-US" sz="3200" dirty="0"/>
          </a:p>
        </p:txBody>
      </p:sp>
      <p:sp>
        <p:nvSpPr>
          <p:cNvPr id="27" name="Text 24"/>
          <p:cNvSpPr txBox="1"/>
          <p:nvPr/>
        </p:nvSpPr>
        <p:spPr>
          <a:xfrm>
            <a:off x="502920" y="21031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leave mid-session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154680" y="1463040"/>
            <a:ext cx="2697480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3154680" y="1517904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₹17.3 L</a:t>
            </a:r>
            <a:endParaRPr lang="en-US" sz="3200" dirty="0"/>
          </a:p>
        </p:txBody>
      </p:sp>
      <p:sp>
        <p:nvSpPr>
          <p:cNvPr id="30" name="Text 27"/>
          <p:cNvSpPr txBox="1"/>
          <p:nvPr/>
        </p:nvSpPr>
        <p:spPr>
          <a:xfrm>
            <a:off x="3246120" y="21031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lost a year, per 400 students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11480" y="269748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11480" y="2697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740664" y="2697480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LIVES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11480" y="3017520"/>
            <a:ext cx="1737360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9AA6B5"/>
            </a:solidFill>
            <a:prstDash val="dash"/>
          </a:ln>
        </p:spPr>
      </p:sp>
      <p:pic>
        <p:nvPicPr>
          <p:cNvPr id="35" name="Image 0" descr="FaFileExcel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60"/>
            <a:ext cx="274320" cy="274320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868680" y="301752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files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2240280" y="3017520"/>
            <a:ext cx="1737360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9AA6B5"/>
            </a:solidFill>
            <a:prstDash val="dash"/>
          </a:ln>
        </p:spPr>
      </p:sp>
      <p:pic>
        <p:nvPicPr>
          <p:cNvPr id="38" name="Image 1" descr="FaFileLine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3108960"/>
            <a:ext cx="274320" cy="274320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2697480" y="301752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OMR sheets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4069080" y="3017520"/>
            <a:ext cx="1737360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9AA6B5"/>
            </a:solidFill>
            <a:prstDash val="dash"/>
          </a:ln>
        </p:spPr>
      </p:sp>
      <p:pic>
        <p:nvPicPr>
          <p:cNvPr id="41" name="Image 2" descr="FaWhatsapp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3108960"/>
            <a:ext cx="274320" cy="274320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4526280" y="301752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groups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 flipV="1">
            <a:off x="411480" y="3611880"/>
            <a:ext cx="5440680" cy="585216"/>
          </a:xfrm>
          <a:prstGeom prst="trapezoid">
            <a:avLst/>
          </a:prstGeom>
          <a:solidFill>
            <a:srgbClr val="9AA6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685800" y="3611880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Messy, unconnected data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topic view. No early warning.</a:t>
            </a:r>
            <a:endParaRPr lang="en-US" sz="1400" dirty="0"/>
          </a:p>
        </p:txBody>
      </p:sp>
      <p:sp>
        <p:nvSpPr>
          <p:cNvPr id="45" name="Shape 39"/>
          <p:cNvSpPr/>
          <p:nvPr/>
        </p:nvSpPr>
        <p:spPr>
          <a:xfrm flipV="1">
            <a:off x="1257300" y="4251960"/>
            <a:ext cx="3749040" cy="585216"/>
          </a:xfrm>
          <a:prstGeom prst="trapezoid">
            <a:avLst/>
          </a:prstGeom>
          <a:solidFill>
            <a:srgbClr val="5B8D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1531620" y="425196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time, no analysis</a:t>
            </a:r>
            <a:endParaRPr lang="en-US" sz="1400" dirty="0"/>
          </a:p>
        </p:txBody>
      </p:sp>
      <p:sp>
        <p:nvSpPr>
          <p:cNvPr id="47" name="Shape 41"/>
          <p:cNvSpPr/>
          <p:nvPr/>
        </p:nvSpPr>
        <p:spPr>
          <a:xfrm flipV="1">
            <a:off x="1943100" y="4892040"/>
            <a:ext cx="2377440" cy="585216"/>
          </a:xfrm>
          <a:prstGeom prst="trapezoid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2217420" y="489204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topic map, weekly list</a:t>
            </a:r>
            <a:endParaRPr lang="en-US" sz="1400" dirty="0"/>
          </a:p>
        </p:txBody>
      </p:sp>
      <p:sp>
        <p:nvSpPr>
          <p:cNvPr id="49" name="Shape 43"/>
          <p:cNvSpPr/>
          <p:nvPr/>
        </p:nvSpPr>
        <p:spPr>
          <a:xfrm>
            <a:off x="411480" y="5577840"/>
            <a:ext cx="5440680" cy="73152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50" name="Text 44"/>
          <p:cNvSpPr txBox="1"/>
          <p:nvPr/>
        </p:nvSpPr>
        <p:spPr>
          <a:xfrm>
            <a:off x="548640" y="5577840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serve: </a:t>
            </a:r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22.8 lakh NEET and about 15.4 lakh JEE Main candidates registered in 2025. 27 % of school students use private coaching.</a:t>
            </a:r>
            <a:endParaRPr lang="en-US" sz="1000" dirty="0"/>
          </a:p>
        </p:txBody>
      </p:sp>
      <p:sp>
        <p:nvSpPr>
          <p:cNvPr id="51" name="Text 45"/>
          <p:cNvSpPr txBox="1"/>
          <p:nvPr/>
        </p:nvSpPr>
        <p:spPr>
          <a:xfrm>
            <a:off x="6172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FRICTION MATRIX</a:t>
            </a:r>
            <a:endParaRPr lang="en-US" sz="1150" dirty="0"/>
          </a:p>
        </p:txBody>
      </p:sp>
      <p:sp>
        <p:nvSpPr>
          <p:cNvPr id="52" name="Shape 46"/>
          <p:cNvSpPr/>
          <p:nvPr/>
        </p:nvSpPr>
        <p:spPr>
          <a:xfrm>
            <a:off x="6172200" y="1481328"/>
            <a:ext cx="2743200" cy="2331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6172200" y="1481328"/>
            <a:ext cx="2743200" cy="45720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54" name="Image 3" descr="FaChalkboardUser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572768"/>
            <a:ext cx="274320" cy="274320"/>
          </a:xfrm>
          <a:prstGeom prst="rect">
            <a:avLst/>
          </a:prstGeom>
        </p:spPr>
      </p:pic>
      <p:sp>
        <p:nvSpPr>
          <p:cNvPr id="55" name="Text 48"/>
          <p:cNvSpPr txBox="1"/>
          <p:nvPr/>
        </p:nvSpPr>
        <p:spPr>
          <a:xfrm>
            <a:off x="6720840" y="14813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400" dirty="0"/>
          </a:p>
        </p:txBody>
      </p:sp>
      <p:sp>
        <p:nvSpPr>
          <p:cNvPr id="56" name="Text 49"/>
          <p:cNvSpPr txBox="1"/>
          <p:nvPr/>
        </p:nvSpPr>
        <p:spPr>
          <a:xfrm>
            <a:off x="6281928" y="2103120"/>
            <a:ext cx="2542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OMR sheets by hand</a:t>
            </a:r>
            <a:endParaRPr lang="en-US" sz="1300" dirty="0"/>
          </a:p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weak topics after exams</a:t>
            </a:r>
            <a:endParaRPr lang="en-US" sz="1300" dirty="0"/>
          </a:p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for each student</a:t>
            </a:r>
            <a:endParaRPr lang="en-US" sz="1300" dirty="0"/>
          </a:p>
        </p:txBody>
      </p:sp>
      <p:sp>
        <p:nvSpPr>
          <p:cNvPr id="57" name="Shape 50"/>
          <p:cNvSpPr/>
          <p:nvPr/>
        </p:nvSpPr>
        <p:spPr>
          <a:xfrm>
            <a:off x="9006840" y="1481328"/>
            <a:ext cx="2743200" cy="2331720"/>
          </a:xfrm>
          <a:prstGeom prst="rect">
            <a:avLst/>
          </a:prstGeom>
          <a:solidFill>
            <a:srgbClr val="F4F7FB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9006840" y="1481328"/>
            <a:ext cx="2743200" cy="45720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59" name="Image 4" descr="FaBuilding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1572768"/>
            <a:ext cx="274320" cy="274320"/>
          </a:xfrm>
          <a:prstGeom prst="rect">
            <a:avLst/>
          </a:prstGeom>
        </p:spPr>
      </p:pic>
      <p:sp>
        <p:nvSpPr>
          <p:cNvPr id="60" name="Text 52"/>
          <p:cNvSpPr txBox="1"/>
          <p:nvPr/>
        </p:nvSpPr>
        <p:spPr>
          <a:xfrm>
            <a:off x="9555480" y="14813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1400" dirty="0"/>
          </a:p>
        </p:txBody>
      </p:sp>
      <p:sp>
        <p:nvSpPr>
          <p:cNvPr id="61" name="Text 53"/>
          <p:cNvSpPr txBox="1"/>
          <p:nvPr/>
        </p:nvSpPr>
        <p:spPr>
          <a:xfrm>
            <a:off x="9116568" y="2103120"/>
            <a:ext cx="2542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compare batches or teachers</a:t>
            </a:r>
            <a:endParaRPr lang="en-US" sz="1300" dirty="0"/>
          </a:p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of dropouts too late</a:t>
            </a:r>
            <a:endParaRPr lang="en-US" sz="1300" dirty="0"/>
          </a:p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apps give no insight</a:t>
            </a:r>
            <a:endParaRPr lang="en-US" sz="1300" dirty="0"/>
          </a:p>
        </p:txBody>
      </p:sp>
      <p:sp>
        <p:nvSpPr>
          <p:cNvPr id="62" name="Shape 54"/>
          <p:cNvSpPr/>
          <p:nvPr/>
        </p:nvSpPr>
        <p:spPr>
          <a:xfrm>
            <a:off x="6172200" y="3904488"/>
            <a:ext cx="2743200" cy="2331720"/>
          </a:xfrm>
          <a:prstGeom prst="rect">
            <a:avLst/>
          </a:prstGeom>
          <a:solidFill>
            <a:srgbClr val="F4F7FB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63" name="Shape 55"/>
          <p:cNvSpPr/>
          <p:nvPr/>
        </p:nvSpPr>
        <p:spPr>
          <a:xfrm>
            <a:off x="6172200" y="3904488"/>
            <a:ext cx="2743200" cy="45720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64" name="Image 5" descr="FaUsers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995928"/>
            <a:ext cx="274320" cy="274320"/>
          </a:xfrm>
          <a:prstGeom prst="rect">
            <a:avLst/>
          </a:prstGeom>
        </p:spPr>
      </p:pic>
      <p:sp>
        <p:nvSpPr>
          <p:cNvPr id="65" name="Text 56"/>
          <p:cNvSpPr txBox="1"/>
          <p:nvPr/>
        </p:nvSpPr>
        <p:spPr>
          <a:xfrm>
            <a:off x="6720840" y="39044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400" dirty="0"/>
          </a:p>
        </p:txBody>
      </p:sp>
      <p:sp>
        <p:nvSpPr>
          <p:cNvPr id="66" name="Text 57"/>
          <p:cNvSpPr txBox="1"/>
          <p:nvPr/>
        </p:nvSpPr>
        <p:spPr>
          <a:xfrm>
            <a:off x="6281928" y="4526280"/>
            <a:ext cx="2542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marks list, nothing more</a:t>
            </a:r>
            <a:endParaRPr lang="en-US" sz="1300" dirty="0"/>
          </a:p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tell if child improves</a:t>
            </a:r>
            <a:endParaRPr lang="en-US" sz="1300" dirty="0"/>
          </a:p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slips, fee questions grow</a:t>
            </a:r>
            <a:endParaRPr lang="en-US" sz="1300" dirty="0"/>
          </a:p>
        </p:txBody>
      </p:sp>
      <p:sp>
        <p:nvSpPr>
          <p:cNvPr id="67" name="Shape 58"/>
          <p:cNvSpPr/>
          <p:nvPr/>
        </p:nvSpPr>
        <p:spPr>
          <a:xfrm>
            <a:off x="9006840" y="3904488"/>
            <a:ext cx="2743200" cy="2331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68" name="Shape 59"/>
          <p:cNvSpPr/>
          <p:nvPr/>
        </p:nvSpPr>
        <p:spPr>
          <a:xfrm>
            <a:off x="9006840" y="3904488"/>
            <a:ext cx="2743200" cy="45720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69" name="Image 6" descr="FaChildReaching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0" y="3995928"/>
            <a:ext cx="274320" cy="274320"/>
          </a:xfrm>
          <a:prstGeom prst="rect">
            <a:avLst/>
          </a:prstGeom>
        </p:spPr>
      </p:pic>
      <p:sp>
        <p:nvSpPr>
          <p:cNvPr id="70" name="Text 60"/>
          <p:cNvSpPr txBox="1"/>
          <p:nvPr/>
        </p:nvSpPr>
        <p:spPr>
          <a:xfrm>
            <a:off x="9555480" y="39044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400" dirty="0"/>
          </a:p>
        </p:txBody>
      </p:sp>
      <p:sp>
        <p:nvSpPr>
          <p:cNvPr id="71" name="Text 61"/>
          <p:cNvSpPr txBox="1"/>
          <p:nvPr/>
        </p:nvSpPr>
        <p:spPr>
          <a:xfrm>
            <a:off x="9116568" y="4526280"/>
            <a:ext cx="2542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 quietly for weeks</a:t>
            </a:r>
            <a:endParaRPr lang="en-US" sz="1300" dirty="0"/>
          </a:p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plan as whole batch</a:t>
            </a:r>
            <a:endParaRPr lang="en-US" sz="1300" dirty="0"/>
          </a:p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Noticed only when they stop</a:t>
            </a:r>
            <a:endParaRPr lang="en-US" sz="1300" dirty="0"/>
          </a:p>
        </p:txBody>
      </p:sp>
      <p:sp>
        <p:nvSpPr>
          <p:cNvPr id="72" name="Text 62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Participant Guide §2, §7 (illustrative baselines: 12 % dropout, ₹36,000 per leaver); NTA NEET UG 2025 result data; JEE Main 2025 statistics (secondary); NSO CMS Education 2025.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467612" y="91440"/>
            <a:ext cx="873252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CHECK: MYTH VS PRAGATI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the guide's headline numbers and built around what survives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4754880" cy="34747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11480" y="11887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MYTH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629400" y="1188720"/>
            <a:ext cx="5148072" cy="34747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629400" y="1188720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PRAGATI REALITY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11480" y="1645920"/>
            <a:ext cx="4754880" cy="841248"/>
          </a:xfrm>
          <a:prstGeom prst="rect">
            <a:avLst/>
          </a:prstGeom>
          <a:solidFill>
            <a:srgbClr val="F1F2F4"/>
          </a:solidFill>
          <a:ln w="12700">
            <a:solidFill>
              <a:srgbClr val="C5CAD3"/>
            </a:solidFill>
            <a:prstDash val="solid"/>
          </a:ln>
        </p:spPr>
      </p:sp>
      <p:pic>
        <p:nvPicPr>
          <p:cNvPr id="28" name="Image 0" descr="FaCircleXmar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01952"/>
            <a:ext cx="329184" cy="329184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1051560" y="1645920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will happily pay ₹40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5303520" y="1828800"/>
            <a:ext cx="118872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31" name="Image 1" descr="FaIndianRupeeSig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2" y="1929384"/>
            <a:ext cx="256032" cy="256032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5705856" y="182880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700" dirty="0"/>
          </a:p>
        </p:txBody>
      </p:sp>
      <p:sp>
        <p:nvSpPr>
          <p:cNvPr id="33" name="Shape 28"/>
          <p:cNvSpPr/>
          <p:nvPr/>
        </p:nvSpPr>
        <p:spPr>
          <a:xfrm>
            <a:off x="6629400" y="1645920"/>
            <a:ext cx="5148072" cy="841248"/>
          </a:xfrm>
          <a:prstGeom prst="rect">
            <a:avLst/>
          </a:prstGeom>
          <a:solidFill>
            <a:srgbClr val="E3ECF7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34" name="Image 2" descr="FaCircleChe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901952"/>
            <a:ext cx="329184" cy="329184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7269480" y="164592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Rivals list ₹4–21 a student; we test ₹30</a:t>
            </a:r>
            <a:endParaRPr lang="en-US" sz="1350" dirty="0"/>
          </a:p>
        </p:txBody>
      </p:sp>
      <p:sp>
        <p:nvSpPr>
          <p:cNvPr id="36" name="Shape 30"/>
          <p:cNvSpPr/>
          <p:nvPr/>
        </p:nvSpPr>
        <p:spPr>
          <a:xfrm>
            <a:off x="411480" y="2578608"/>
            <a:ext cx="4754880" cy="841248"/>
          </a:xfrm>
          <a:prstGeom prst="rect">
            <a:avLst/>
          </a:prstGeom>
          <a:solidFill>
            <a:srgbClr val="F1F2F4"/>
          </a:solidFill>
          <a:ln w="12700">
            <a:solidFill>
              <a:srgbClr val="C5CAD3"/>
            </a:solidFill>
            <a:prstDash val="solid"/>
          </a:ln>
        </p:spPr>
      </p:sp>
      <p:pic>
        <p:nvPicPr>
          <p:cNvPr id="37" name="Image 3" descr="FaCircleXmar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834640"/>
            <a:ext cx="329184" cy="32918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051560" y="2578608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 quarter of dropouts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5303520" y="2761488"/>
            <a:ext cx="118872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40" name="Image 4" descr="FaUserMinus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672" y="2862072"/>
            <a:ext cx="256032" cy="256032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5705856" y="276148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DROPOUTS</a:t>
            </a:r>
            <a:endParaRPr lang="en-US" sz="700" dirty="0"/>
          </a:p>
        </p:txBody>
      </p:sp>
      <p:sp>
        <p:nvSpPr>
          <p:cNvPr id="42" name="Shape 34"/>
          <p:cNvSpPr/>
          <p:nvPr/>
        </p:nvSpPr>
        <p:spPr>
          <a:xfrm>
            <a:off x="6629400" y="2578608"/>
            <a:ext cx="5148072" cy="841248"/>
          </a:xfrm>
          <a:prstGeom prst="rect">
            <a:avLst/>
          </a:prstGeom>
          <a:solidFill>
            <a:srgbClr val="E3ECF7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43" name="Image 5" descr="FaCircleChec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2834640"/>
            <a:ext cx="329184" cy="329184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7269480" y="2578608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base case: 4 % fewer dropouts, proven in pilots</a:t>
            </a:r>
            <a:endParaRPr lang="en-US" sz="1350" dirty="0"/>
          </a:p>
        </p:txBody>
      </p:sp>
      <p:sp>
        <p:nvSpPr>
          <p:cNvPr id="45" name="Shape 36"/>
          <p:cNvSpPr/>
          <p:nvPr/>
        </p:nvSpPr>
        <p:spPr>
          <a:xfrm>
            <a:off x="411480" y="3511296"/>
            <a:ext cx="4754880" cy="841248"/>
          </a:xfrm>
          <a:prstGeom prst="rect">
            <a:avLst/>
          </a:prstGeom>
          <a:solidFill>
            <a:srgbClr val="F1F2F4"/>
          </a:solidFill>
          <a:ln w="12700">
            <a:solidFill>
              <a:srgbClr val="C5CAD3"/>
            </a:solidFill>
            <a:prstDash val="solid"/>
          </a:ln>
        </p:spPr>
      </p:sp>
      <p:pic>
        <p:nvPicPr>
          <p:cNvPr id="46" name="Image 6" descr="FaCircleXmark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767328"/>
            <a:ext cx="329184" cy="329184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1051560" y="3511296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student's app activity</a:t>
            </a:r>
            <a:endParaRPr lang="en-US" sz="1400" dirty="0"/>
          </a:p>
        </p:txBody>
      </p:sp>
      <p:sp>
        <p:nvSpPr>
          <p:cNvPr id="48" name="Shape 38"/>
          <p:cNvSpPr/>
          <p:nvPr/>
        </p:nvSpPr>
        <p:spPr>
          <a:xfrm>
            <a:off x="5303520" y="3694176"/>
            <a:ext cx="118872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49" name="Image 7" descr="FaChildReaching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6672" y="3794760"/>
            <a:ext cx="256032" cy="256032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5705856" y="3694176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MINORS' DATA</a:t>
            </a:r>
            <a:endParaRPr lang="en-US" sz="700" dirty="0"/>
          </a:p>
        </p:txBody>
      </p:sp>
      <p:sp>
        <p:nvSpPr>
          <p:cNvPr id="51" name="Shape 40"/>
          <p:cNvSpPr/>
          <p:nvPr/>
        </p:nvSpPr>
        <p:spPr>
          <a:xfrm>
            <a:off x="6629400" y="3511296"/>
            <a:ext cx="5148072" cy="841248"/>
          </a:xfrm>
          <a:prstGeom prst="rect">
            <a:avLst/>
          </a:prstGeom>
          <a:solidFill>
            <a:srgbClr val="E3ECF7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52" name="Image 8" descr="FaCircleCheck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0" y="3767328"/>
            <a:ext cx="329184" cy="329184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7269480" y="3511296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bans tracking minors; under-18s get academic data only</a:t>
            </a:r>
            <a:endParaRPr lang="en-US" sz="1350" dirty="0"/>
          </a:p>
        </p:txBody>
      </p:sp>
      <p:sp>
        <p:nvSpPr>
          <p:cNvPr id="54" name="Shape 42"/>
          <p:cNvSpPr/>
          <p:nvPr/>
        </p:nvSpPr>
        <p:spPr>
          <a:xfrm>
            <a:off x="411480" y="4443984"/>
            <a:ext cx="4754880" cy="841248"/>
          </a:xfrm>
          <a:prstGeom prst="rect">
            <a:avLst/>
          </a:prstGeom>
          <a:solidFill>
            <a:srgbClr val="F1F2F4"/>
          </a:solidFill>
          <a:ln w="12700">
            <a:solidFill>
              <a:srgbClr val="C5CAD3"/>
            </a:solidFill>
            <a:prstDash val="solid"/>
          </a:ln>
        </p:spPr>
      </p:sp>
      <p:pic>
        <p:nvPicPr>
          <p:cNvPr id="55" name="Image 9" descr="FaCircleXmark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4700016"/>
            <a:ext cx="329184" cy="329184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1051560" y="4443984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the best published score</a:t>
            </a:r>
            <a:endParaRPr lang="en-US" sz="1400" dirty="0"/>
          </a:p>
        </p:txBody>
      </p:sp>
      <p:sp>
        <p:nvSpPr>
          <p:cNvPr id="57" name="Shape 44"/>
          <p:cNvSpPr/>
          <p:nvPr/>
        </p:nvSpPr>
        <p:spPr>
          <a:xfrm>
            <a:off x="5303520" y="4626864"/>
            <a:ext cx="118872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58" name="Image 10" descr="FaBullseye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76672" y="4727448"/>
            <a:ext cx="256032" cy="256032"/>
          </a:xfrm>
          <a:prstGeom prst="rect">
            <a:avLst/>
          </a:prstGeom>
        </p:spPr>
      </p:pic>
      <p:sp>
        <p:nvSpPr>
          <p:cNvPr id="59" name="Text 45"/>
          <p:cNvSpPr txBox="1"/>
          <p:nvPr/>
        </p:nvSpPr>
        <p:spPr>
          <a:xfrm>
            <a:off x="5705856" y="4626864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700" dirty="0"/>
          </a:p>
        </p:txBody>
      </p:sp>
      <p:sp>
        <p:nvSpPr>
          <p:cNvPr id="60" name="Shape 46"/>
          <p:cNvSpPr/>
          <p:nvPr/>
        </p:nvSpPr>
        <p:spPr>
          <a:xfrm>
            <a:off x="6629400" y="4443984"/>
            <a:ext cx="5148072" cy="841248"/>
          </a:xfrm>
          <a:prstGeom prst="rect">
            <a:avLst/>
          </a:prstGeom>
          <a:solidFill>
            <a:srgbClr val="E3ECF7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61" name="Image 11" descr="FaCircleCheck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6560" y="4700016"/>
            <a:ext cx="329184" cy="329184"/>
          </a:xfrm>
          <a:prstGeom prst="rect">
            <a:avLst/>
          </a:prstGeom>
        </p:spPr>
      </p:pic>
      <p:sp>
        <p:nvSpPr>
          <p:cNvPr id="62" name="Text 47"/>
          <p:cNvSpPr txBox="1"/>
          <p:nvPr/>
        </p:nvSpPr>
        <p:spPr>
          <a:xfrm>
            <a:off x="7269480" y="4443984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strict student-level test scores 0.71 against 0.79 published</a:t>
            </a:r>
            <a:endParaRPr lang="en-US" sz="1350" dirty="0"/>
          </a:p>
        </p:txBody>
      </p:sp>
      <p:sp>
        <p:nvSpPr>
          <p:cNvPr id="63" name="Shape 48"/>
          <p:cNvSpPr/>
          <p:nvPr/>
        </p:nvSpPr>
        <p:spPr>
          <a:xfrm>
            <a:off x="411480" y="5468112"/>
            <a:ext cx="3017520" cy="8686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4" name="Text 49"/>
          <p:cNvSpPr txBox="1"/>
          <p:nvPr/>
        </p:nvSpPr>
        <p:spPr>
          <a:xfrm>
            <a:off x="521208" y="5468112"/>
            <a:ext cx="2798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REFRAME</a:t>
            </a:r>
            <a:endParaRPr lang="en-US" sz="140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“who will drop out?” but “who do we call this week?”</a:t>
            </a:r>
            <a:endParaRPr lang="en-US" sz="1400" dirty="0"/>
          </a:p>
        </p:txBody>
      </p:sp>
      <p:sp>
        <p:nvSpPr>
          <p:cNvPr id="65" name="Shape 50"/>
          <p:cNvSpPr/>
          <p:nvPr/>
        </p:nvSpPr>
        <p:spPr>
          <a:xfrm>
            <a:off x="3611880" y="5577840"/>
            <a:ext cx="2192000" cy="658368"/>
          </a:xfrm>
          <a:prstGeom prst="homePlat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6" name="Text 51"/>
          <p:cNvSpPr txBox="1"/>
          <p:nvPr/>
        </p:nvSpPr>
        <p:spPr>
          <a:xfrm>
            <a:off x="3739896" y="5577840"/>
            <a:ext cx="1789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slipping</a:t>
            </a:r>
            <a:endParaRPr lang="en-US" sz="1400" dirty="0"/>
          </a:p>
        </p:txBody>
      </p:sp>
      <p:sp>
        <p:nvSpPr>
          <p:cNvPr id="67" name="Shape 52"/>
          <p:cNvSpPr/>
          <p:nvPr/>
        </p:nvSpPr>
        <p:spPr>
          <a:xfrm>
            <a:off x="5593933" y="5577840"/>
            <a:ext cx="2192000" cy="658368"/>
          </a:xfrm>
          <a:prstGeom prst="chevron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8" name="Text 53"/>
          <p:cNvSpPr txBox="1"/>
          <p:nvPr/>
        </p:nvSpPr>
        <p:spPr>
          <a:xfrm>
            <a:off x="5886541" y="5577840"/>
            <a:ext cx="162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reasons</a:t>
            </a:r>
            <a:endParaRPr lang="en-US" sz="1400" dirty="0"/>
          </a:p>
        </p:txBody>
      </p:sp>
      <p:sp>
        <p:nvSpPr>
          <p:cNvPr id="69" name="Shape 54"/>
          <p:cNvSpPr/>
          <p:nvPr/>
        </p:nvSpPr>
        <p:spPr>
          <a:xfrm>
            <a:off x="7575987" y="5577840"/>
            <a:ext cx="2192000" cy="658368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0" name="Text 55"/>
          <p:cNvSpPr txBox="1"/>
          <p:nvPr/>
        </p:nvSpPr>
        <p:spPr>
          <a:xfrm>
            <a:off x="7868595" y="5577840"/>
            <a:ext cx="162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mentor</a:t>
            </a:r>
            <a:endParaRPr lang="en-US" sz="1400" dirty="0"/>
          </a:p>
        </p:txBody>
      </p:sp>
      <p:sp>
        <p:nvSpPr>
          <p:cNvPr id="71" name="Shape 56"/>
          <p:cNvSpPr/>
          <p:nvPr/>
        </p:nvSpPr>
        <p:spPr>
          <a:xfrm>
            <a:off x="9558040" y="5577840"/>
            <a:ext cx="2192000" cy="658368"/>
          </a:xfrm>
          <a:prstGeom prst="chevron">
            <a:avLst/>
          </a:prstGeom>
          <a:solidFill>
            <a:srgbClr val="5B8DC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2" name="Text 57"/>
          <p:cNvSpPr txBox="1"/>
          <p:nvPr/>
        </p:nvSpPr>
        <p:spPr>
          <a:xfrm>
            <a:off x="9850648" y="5577840"/>
            <a:ext cx="162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400" dirty="0"/>
          </a:p>
        </p:txBody>
      </p:sp>
      <p:sp>
        <p:nvSpPr>
          <p:cNvPr id="73" name="Text 58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case guide; vendor listings (financial/research R1); financial model v1.1 (Base: 4.0 % effective reduction); OULAD student-grouped test, PLOS ONE 2026 (0.794); DPDP Act 2023 s.9(3).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79876" y="91440"/>
            <a:ext cx="1106424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ARCHITECTURE: THREE LAYERS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layers, one rule: each institute's data stays its own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1944929" y="1280160"/>
            <a:ext cx="8412480" cy="1353312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24" name="Shape 21"/>
          <p:cNvSpPr/>
          <p:nvPr/>
        </p:nvSpPr>
        <p:spPr>
          <a:xfrm>
            <a:off x="1890065" y="1207008"/>
            <a:ext cx="8412480" cy="135331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90065" y="1207008"/>
            <a:ext cx="1920240" cy="1353312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26" name="Image 0" descr="FaDispla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3297" y="1371600"/>
            <a:ext cx="502920" cy="50292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890065" y="19202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1890065" y="2194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people use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3901745" y="1371600"/>
            <a:ext cx="1481328" cy="102412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3974897" y="1371600"/>
            <a:ext cx="13350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console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and teacher views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5483657" y="1371600"/>
            <a:ext cx="1481328" cy="102412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556809" y="1371600"/>
            <a:ext cx="13350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app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Scan, weekly list, parent view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7065569" y="1371600"/>
            <a:ext cx="1481328" cy="102412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138721" y="1371600"/>
            <a:ext cx="13350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+ English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in both languages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8647481" y="1371600"/>
            <a:ext cx="1481328" cy="102412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8720633" y="1371600"/>
            <a:ext cx="13350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export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and API; you own the data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1350569" y="2724912"/>
            <a:ext cx="9601200" cy="1353312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38" name="Shape 34"/>
          <p:cNvSpPr/>
          <p:nvPr/>
        </p:nvSpPr>
        <p:spPr>
          <a:xfrm>
            <a:off x="1295705" y="2651760"/>
            <a:ext cx="9601200" cy="1353312"/>
          </a:xfrm>
          <a:prstGeom prst="rect">
            <a:avLst/>
          </a:prstGeom>
          <a:solidFill>
            <a:srgbClr val="FFFFFF"/>
          </a:solidFill>
          <a:ln w="19050">
            <a:solidFill>
              <a:srgbClr val="2E6DB4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295705" y="2651760"/>
            <a:ext cx="1920240" cy="1353312"/>
          </a:xfrm>
          <a:prstGeom prst="rect">
            <a:avLst/>
          </a:prstGeom>
          <a:solidFill>
            <a:srgbClr val="2E6DB4"/>
          </a:solidFill>
          <a:ln/>
        </p:spPr>
      </p:sp>
      <p:pic>
        <p:nvPicPr>
          <p:cNvPr id="40" name="Image 1" descr="FaBrai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937" y="2816352"/>
            <a:ext cx="502920" cy="502920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1295705" y="33649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300" dirty="0"/>
          </a:p>
        </p:txBody>
      </p:sp>
      <p:sp>
        <p:nvSpPr>
          <p:cNvPr id="42" name="Text 37"/>
          <p:cNvSpPr txBox="1"/>
          <p:nvPr/>
        </p:nvSpPr>
        <p:spPr>
          <a:xfrm>
            <a:off x="1295705" y="36393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works out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3307385" y="2816352"/>
            <a:ext cx="1778508" cy="102412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3380537" y="2816352"/>
            <a:ext cx="16322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mastery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weak topics (IRT)</a:t>
            </a:r>
            <a:endParaRPr lang="en-US" sz="1400" dirty="0"/>
          </a:p>
        </p:txBody>
      </p:sp>
      <p:sp>
        <p:nvSpPr>
          <p:cNvPr id="45" name="Shape 40"/>
          <p:cNvSpPr/>
          <p:nvPr/>
        </p:nvSpPr>
        <p:spPr>
          <a:xfrm>
            <a:off x="5186477" y="2816352"/>
            <a:ext cx="1778508" cy="102412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5259629" y="2816352"/>
            <a:ext cx="16322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who needs help (LightGBM)</a:t>
            </a:r>
            <a:endParaRPr lang="en-US" sz="1400" dirty="0"/>
          </a:p>
        </p:txBody>
      </p:sp>
      <p:sp>
        <p:nvSpPr>
          <p:cNvPr id="47" name="Shape 42"/>
          <p:cNvSpPr/>
          <p:nvPr/>
        </p:nvSpPr>
        <p:spPr>
          <a:xfrm>
            <a:off x="7065569" y="2816352"/>
            <a:ext cx="1778508" cy="102412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7138721" y="2816352"/>
            <a:ext cx="16322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ranges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bands (conformal)</a:t>
            </a:r>
            <a:endParaRPr lang="en-US" sz="1400" dirty="0"/>
          </a:p>
        </p:txBody>
      </p:sp>
      <p:sp>
        <p:nvSpPr>
          <p:cNvPr id="49" name="Shape 44"/>
          <p:cNvSpPr/>
          <p:nvPr/>
        </p:nvSpPr>
        <p:spPr>
          <a:xfrm>
            <a:off x="8944661" y="2816352"/>
            <a:ext cx="1778508" cy="102412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9017813" y="2816352"/>
            <a:ext cx="16322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reports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invented numbers (8 checks)</a:t>
            </a:r>
            <a:endParaRPr lang="en-US" sz="1400" dirty="0"/>
          </a:p>
        </p:txBody>
      </p:sp>
      <p:sp>
        <p:nvSpPr>
          <p:cNvPr id="51" name="Shape 46"/>
          <p:cNvSpPr/>
          <p:nvPr/>
        </p:nvSpPr>
        <p:spPr>
          <a:xfrm>
            <a:off x="756209" y="4169664"/>
            <a:ext cx="10789920" cy="1353312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52" name="Shape 47"/>
          <p:cNvSpPr/>
          <p:nvPr/>
        </p:nvSpPr>
        <p:spPr>
          <a:xfrm>
            <a:off x="701345" y="4096512"/>
            <a:ext cx="10789920" cy="1353312"/>
          </a:xfrm>
          <a:prstGeom prst="rect">
            <a:avLst/>
          </a:prstGeom>
          <a:solidFill>
            <a:srgbClr val="FFFFFF"/>
          </a:solidFill>
          <a:ln w="19050">
            <a:solidFill>
              <a:srgbClr val="17325C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701345" y="4096512"/>
            <a:ext cx="1920240" cy="1353312"/>
          </a:xfrm>
          <a:prstGeom prst="rect">
            <a:avLst/>
          </a:prstGeom>
          <a:solidFill>
            <a:srgbClr val="17325C"/>
          </a:solidFill>
          <a:ln/>
        </p:spPr>
      </p:sp>
      <p:pic>
        <p:nvPicPr>
          <p:cNvPr id="54" name="Image 2" descr="FaShieldHalve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577" y="4261104"/>
            <a:ext cx="502920" cy="502920"/>
          </a:xfrm>
          <a:prstGeom prst="rect">
            <a:avLst/>
          </a:prstGeom>
        </p:spPr>
      </p:pic>
      <p:sp>
        <p:nvSpPr>
          <p:cNvPr id="55" name="Text 49"/>
          <p:cNvSpPr txBox="1"/>
          <p:nvPr/>
        </p:nvSpPr>
        <p:spPr>
          <a:xfrm>
            <a:off x="701345" y="48097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DATA</a:t>
            </a:r>
            <a:endParaRPr lang="en-US" sz="1300" dirty="0"/>
          </a:p>
        </p:txBody>
      </p:sp>
      <p:sp>
        <p:nvSpPr>
          <p:cNvPr id="56" name="Text 50"/>
          <p:cNvSpPr txBox="1"/>
          <p:nvPr/>
        </p:nvSpPr>
        <p:spPr>
          <a:xfrm>
            <a:off x="701345" y="50840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keeps it safe</a:t>
            </a:r>
            <a:endParaRPr lang="en-US" sz="950" dirty="0"/>
          </a:p>
        </p:txBody>
      </p:sp>
      <p:sp>
        <p:nvSpPr>
          <p:cNvPr id="57" name="Shape 51"/>
          <p:cNvSpPr/>
          <p:nvPr/>
        </p:nvSpPr>
        <p:spPr>
          <a:xfrm>
            <a:off x="2713025" y="4261104"/>
            <a:ext cx="2075688" cy="102412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2786177" y="4261104"/>
            <a:ext cx="19293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Institutes never mix</a:t>
            </a:r>
            <a:endParaRPr lang="en-US" sz="1400" dirty="0"/>
          </a:p>
        </p:txBody>
      </p:sp>
      <p:sp>
        <p:nvSpPr>
          <p:cNvPr id="59" name="Shape 53"/>
          <p:cNvSpPr/>
          <p:nvPr/>
        </p:nvSpPr>
        <p:spPr>
          <a:xfrm>
            <a:off x="4889297" y="4261104"/>
            <a:ext cx="2075688" cy="102412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4962449" y="4261104"/>
            <a:ext cx="19293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gate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consent, no model</a:t>
            </a:r>
            <a:endParaRPr lang="en-US" sz="1400" dirty="0"/>
          </a:p>
        </p:txBody>
      </p:sp>
      <p:sp>
        <p:nvSpPr>
          <p:cNvPr id="61" name="Shape 55"/>
          <p:cNvSpPr/>
          <p:nvPr/>
        </p:nvSpPr>
        <p:spPr>
          <a:xfrm>
            <a:off x="7065569" y="4261104"/>
            <a:ext cx="2075688" cy="102412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7138721" y="4261104"/>
            <a:ext cx="19293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internet</a:t>
            </a:r>
            <a:endParaRPr lang="en-US" sz="1400" dirty="0"/>
          </a:p>
        </p:txBody>
      </p:sp>
      <p:sp>
        <p:nvSpPr>
          <p:cNvPr id="63" name="Shape 57"/>
          <p:cNvSpPr/>
          <p:nvPr/>
        </p:nvSpPr>
        <p:spPr>
          <a:xfrm>
            <a:off x="9241841" y="4261104"/>
            <a:ext cx="2075688" cy="102412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64" name="Text 58"/>
          <p:cNvSpPr txBox="1"/>
          <p:nvPr/>
        </p:nvSpPr>
        <p:spPr>
          <a:xfrm>
            <a:off x="9314993" y="4261104"/>
            <a:ext cx="19293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saw what, kept a year</a:t>
            </a:r>
            <a:endParaRPr lang="en-US" sz="1400" dirty="0"/>
          </a:p>
        </p:txBody>
      </p:sp>
      <p:sp>
        <p:nvSpPr>
          <p:cNvPr id="65" name="Shape 59"/>
          <p:cNvSpPr/>
          <p:nvPr/>
        </p:nvSpPr>
        <p:spPr>
          <a:xfrm>
            <a:off x="411480" y="5596128"/>
            <a:ext cx="2200595" cy="7498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6" name="Text 60"/>
          <p:cNvSpPr txBox="1"/>
          <p:nvPr/>
        </p:nvSpPr>
        <p:spPr>
          <a:xfrm>
            <a:off x="502920" y="5596128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400" dirty="0"/>
          </a:p>
        </p:txBody>
      </p:sp>
      <p:sp>
        <p:nvSpPr>
          <p:cNvPr id="67" name="Text 61"/>
          <p:cNvSpPr txBox="1"/>
          <p:nvPr/>
        </p:nvSpPr>
        <p:spPr>
          <a:xfrm>
            <a:off x="1645920" y="5596128"/>
            <a:ext cx="9204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all isolated</a:t>
            </a:r>
            <a:endParaRPr lang="en-US" sz="1050" dirty="0"/>
          </a:p>
        </p:txBody>
      </p:sp>
      <p:sp>
        <p:nvSpPr>
          <p:cNvPr id="68" name="Shape 62"/>
          <p:cNvSpPr/>
          <p:nvPr/>
        </p:nvSpPr>
        <p:spPr>
          <a:xfrm>
            <a:off x="2703515" y="5596128"/>
            <a:ext cx="2200595" cy="7498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9" name="Text 63"/>
          <p:cNvSpPr txBox="1"/>
          <p:nvPr/>
        </p:nvSpPr>
        <p:spPr>
          <a:xfrm>
            <a:off x="2794955" y="5596128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400" dirty="0"/>
          </a:p>
        </p:txBody>
      </p:sp>
      <p:sp>
        <p:nvSpPr>
          <p:cNvPr id="70" name="Text 64"/>
          <p:cNvSpPr txBox="1"/>
          <p:nvPr/>
        </p:nvSpPr>
        <p:spPr>
          <a:xfrm>
            <a:off x="3937955" y="5596128"/>
            <a:ext cx="9204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50" dirty="0"/>
          </a:p>
        </p:txBody>
      </p:sp>
      <p:sp>
        <p:nvSpPr>
          <p:cNvPr id="71" name="Shape 65"/>
          <p:cNvSpPr/>
          <p:nvPr/>
        </p:nvSpPr>
        <p:spPr>
          <a:xfrm>
            <a:off x="4995550" y="5596128"/>
            <a:ext cx="2200595" cy="7498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2" name="Text 66"/>
          <p:cNvSpPr txBox="1"/>
          <p:nvPr/>
        </p:nvSpPr>
        <p:spPr>
          <a:xfrm>
            <a:off x="5086990" y="5596128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</a:t>
            </a:r>
            <a:endParaRPr lang="en-US" sz="2400" dirty="0"/>
          </a:p>
        </p:txBody>
      </p:sp>
      <p:sp>
        <p:nvSpPr>
          <p:cNvPr id="73" name="Text 67"/>
          <p:cNvSpPr txBox="1"/>
          <p:nvPr/>
        </p:nvSpPr>
        <p:spPr>
          <a:xfrm>
            <a:off x="6229990" y="5596128"/>
            <a:ext cx="9204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topics</a:t>
            </a:r>
            <a:endParaRPr lang="en-US" sz="1050" dirty="0"/>
          </a:p>
        </p:txBody>
      </p:sp>
      <p:sp>
        <p:nvSpPr>
          <p:cNvPr id="74" name="Shape 68"/>
          <p:cNvSpPr/>
          <p:nvPr/>
        </p:nvSpPr>
        <p:spPr>
          <a:xfrm>
            <a:off x="7287585" y="5596128"/>
            <a:ext cx="2200595" cy="7498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5" name="Text 69"/>
          <p:cNvSpPr txBox="1"/>
          <p:nvPr/>
        </p:nvSpPr>
        <p:spPr>
          <a:xfrm>
            <a:off x="7379025" y="5596128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2400" dirty="0"/>
          </a:p>
        </p:txBody>
      </p:sp>
      <p:sp>
        <p:nvSpPr>
          <p:cNvPr id="76" name="Text 70"/>
          <p:cNvSpPr txBox="1"/>
          <p:nvPr/>
        </p:nvSpPr>
        <p:spPr>
          <a:xfrm>
            <a:off x="8522025" y="5596128"/>
            <a:ext cx="9204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050" dirty="0"/>
          </a:p>
        </p:txBody>
      </p:sp>
      <p:sp>
        <p:nvSpPr>
          <p:cNvPr id="77" name="Shape 71"/>
          <p:cNvSpPr/>
          <p:nvPr/>
        </p:nvSpPr>
        <p:spPr>
          <a:xfrm>
            <a:off x="9579620" y="5596128"/>
            <a:ext cx="2200595" cy="7498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8" name="Text 72"/>
          <p:cNvSpPr txBox="1"/>
          <p:nvPr/>
        </p:nvSpPr>
        <p:spPr>
          <a:xfrm>
            <a:off x="9671060" y="5596128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₹3.6</a:t>
            </a:r>
            <a:endParaRPr lang="en-US" sz="2400" dirty="0"/>
          </a:p>
        </p:txBody>
      </p:sp>
      <p:sp>
        <p:nvSpPr>
          <p:cNvPr id="79" name="Text 73"/>
          <p:cNvSpPr txBox="1"/>
          <p:nvPr/>
        </p:nvSpPr>
        <p:spPr>
          <a:xfrm>
            <a:off x="10814060" y="5596128"/>
            <a:ext cx="9204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student a month</a:t>
            </a:r>
            <a:endParaRPr lang="en-US" sz="1050" dirty="0"/>
          </a:p>
        </p:txBody>
      </p:sp>
      <p:sp>
        <p:nvSpPr>
          <p:cNvPr id="80" name="Text 74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technical/contracts (31 tables, 23 endpoints, 380 topics); tenant isolation tested on PostgreSQL 16; test suites; financial model v1.1 (Base, ₹3.6 all-in).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23744" y="91440"/>
            <a:ext cx="873252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PRODUCT: WEB AND PHONE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console for the office, a phone app for mentors and parents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11365992" cy="3429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4" name="Shape 21"/>
          <p:cNvSpPr/>
          <p:nvPr/>
        </p:nvSpPr>
        <p:spPr>
          <a:xfrm>
            <a:off x="502920" y="1261872"/>
            <a:ext cx="5897880" cy="33192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25" name="Image 0" descr="Pragati web console (illustrativ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280160"/>
            <a:ext cx="5861304" cy="3291840"/>
          </a:xfrm>
          <a:prstGeom prst="rect">
            <a:avLst/>
          </a:prstGeom>
        </p:spPr>
      </p:pic>
      <p:pic>
        <p:nvPicPr>
          <p:cNvPr id="26" name="Image 1" descr="Pragati phone screen (illustrative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1645920" cy="3291840"/>
          </a:xfrm>
          <a:prstGeom prst="rect">
            <a:avLst/>
          </a:prstGeom>
        </p:spPr>
      </p:pic>
      <p:pic>
        <p:nvPicPr>
          <p:cNvPr id="27" name="Image 2" descr="Pragati phone screen (illustrative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188720"/>
            <a:ext cx="1645920" cy="3291840"/>
          </a:xfrm>
          <a:prstGeom prst="rect">
            <a:avLst/>
          </a:prstGeom>
        </p:spPr>
      </p:pic>
      <p:pic>
        <p:nvPicPr>
          <p:cNvPr id="28" name="Image 3" descr="Pragati phone screen (illustrative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188720"/>
            <a:ext cx="1645920" cy="329184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8001000" y="384048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800100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2194560" y="288036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219456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8458200" y="214884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845820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10424160" y="301752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1042416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0"/>
          <p:cNvSpPr txBox="1"/>
          <p:nvPr/>
        </p:nvSpPr>
        <p:spPr>
          <a:xfrm>
            <a:off x="6583680" y="448056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mock-ups, synthetic students</a:t>
            </a:r>
            <a:endParaRPr lang="en-US" sz="850" dirty="0"/>
          </a:p>
        </p:txBody>
      </p:sp>
      <p:sp>
        <p:nvSpPr>
          <p:cNvPr id="38" name="Shape 31"/>
          <p:cNvSpPr/>
          <p:nvPr/>
        </p:nvSpPr>
        <p:spPr>
          <a:xfrm>
            <a:off x="411480" y="4800600"/>
            <a:ext cx="2739314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411480" y="4800600"/>
            <a:ext cx="566928" cy="91440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40" name="Image 4" descr="FaCamera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5074920"/>
            <a:ext cx="310896" cy="310896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069848" y="4846320"/>
            <a:ext cx="2007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Scan on a phone</a:t>
            </a:r>
            <a:endParaRPr lang="en-US" sz="1200" dirty="0"/>
          </a:p>
        </p:txBody>
      </p:sp>
      <p:sp>
        <p:nvSpPr>
          <p:cNvPr id="42" name="Text 34"/>
          <p:cNvSpPr txBox="1"/>
          <p:nvPr/>
        </p:nvSpPr>
        <p:spPr>
          <a:xfrm>
            <a:off x="1069848" y="5175504"/>
            <a:ext cx="20077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bubbles fixed in one tap</a:t>
            </a:r>
            <a:endParaRPr lang="en-US" sz="1050" dirty="0"/>
          </a:p>
        </p:txBody>
      </p:sp>
      <p:sp>
        <p:nvSpPr>
          <p:cNvPr id="43" name="Shape 35"/>
          <p:cNvSpPr/>
          <p:nvPr/>
        </p:nvSpPr>
        <p:spPr>
          <a:xfrm>
            <a:off x="3287954" y="4800600"/>
            <a:ext cx="2739314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3287954" y="4800600"/>
            <a:ext cx="566928" cy="91440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45" name="Image 5" descr="FaTableCells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5970" y="5074920"/>
            <a:ext cx="310896" cy="310896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3946322" y="4846320"/>
            <a:ext cx="2007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Topic map</a:t>
            </a:r>
            <a:endParaRPr lang="en-US" sz="1200" dirty="0"/>
          </a:p>
        </p:txBody>
      </p:sp>
      <p:sp>
        <p:nvSpPr>
          <p:cNvPr id="47" name="Text 38"/>
          <p:cNvSpPr txBox="1"/>
          <p:nvPr/>
        </p:nvSpPr>
        <p:spPr>
          <a:xfrm>
            <a:off x="3946322" y="5175504"/>
            <a:ext cx="20077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topics for the whole batch</a:t>
            </a:r>
            <a:endParaRPr lang="en-US" sz="1050" dirty="0"/>
          </a:p>
        </p:txBody>
      </p:sp>
      <p:sp>
        <p:nvSpPr>
          <p:cNvPr id="48" name="Shape 39"/>
          <p:cNvSpPr/>
          <p:nvPr/>
        </p:nvSpPr>
        <p:spPr>
          <a:xfrm>
            <a:off x="6164428" y="4800600"/>
            <a:ext cx="2739314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6164428" y="4800600"/>
            <a:ext cx="566928" cy="91440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50" name="Image 6" descr="FaListCheck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2444" y="5074920"/>
            <a:ext cx="310896" cy="310896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6822796" y="4846320"/>
            <a:ext cx="2007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Weekly list</a:t>
            </a:r>
            <a:endParaRPr lang="en-US" sz="1200" dirty="0"/>
          </a:p>
        </p:txBody>
      </p:sp>
      <p:sp>
        <p:nvSpPr>
          <p:cNvPr id="52" name="Text 42"/>
          <p:cNvSpPr txBox="1"/>
          <p:nvPr/>
        </p:nvSpPr>
        <p:spPr>
          <a:xfrm>
            <a:off x="6822796" y="5175504"/>
            <a:ext cx="20077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8 students, with plain reasons</a:t>
            </a:r>
            <a:endParaRPr lang="en-US" sz="1050" dirty="0"/>
          </a:p>
        </p:txBody>
      </p:sp>
      <p:sp>
        <p:nvSpPr>
          <p:cNvPr id="53" name="Shape 43"/>
          <p:cNvSpPr/>
          <p:nvPr/>
        </p:nvSpPr>
        <p:spPr>
          <a:xfrm>
            <a:off x="9040901" y="4800600"/>
            <a:ext cx="2739314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9040901" y="4800600"/>
            <a:ext cx="566928" cy="91440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55" name="Image 7" descr="FaLanguage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8917" y="5074920"/>
            <a:ext cx="310896" cy="310896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9699269" y="4846320"/>
            <a:ext cx="2007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Parent update</a:t>
            </a:r>
            <a:endParaRPr lang="en-US" sz="1200" dirty="0"/>
          </a:p>
        </p:txBody>
      </p:sp>
      <p:sp>
        <p:nvSpPr>
          <p:cNvPr id="57" name="Text 46"/>
          <p:cNvSpPr txBox="1"/>
          <p:nvPr/>
        </p:nvSpPr>
        <p:spPr>
          <a:xfrm>
            <a:off x="9699269" y="5175504"/>
            <a:ext cx="20077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or English, numbers checked</a:t>
            </a:r>
            <a:endParaRPr lang="en-US" sz="1050" dirty="0"/>
          </a:p>
        </p:txBody>
      </p:sp>
      <p:sp>
        <p:nvSpPr>
          <p:cNvPr id="58" name="Shape 47"/>
          <p:cNvSpPr/>
          <p:nvPr/>
        </p:nvSpPr>
        <p:spPr>
          <a:xfrm>
            <a:off x="411480" y="5852160"/>
            <a:ext cx="2393716" cy="502920"/>
          </a:xfrm>
          <a:prstGeom prst="homePlat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9" name="Text 48"/>
          <p:cNvSpPr txBox="1"/>
          <p:nvPr/>
        </p:nvSpPr>
        <p:spPr>
          <a:xfrm>
            <a:off x="539496" y="5852160"/>
            <a:ext cx="20645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Mon: Test scanned</a:t>
            </a:r>
            <a:endParaRPr lang="en-US" sz="1100" dirty="0"/>
          </a:p>
        </p:txBody>
      </p:sp>
      <p:sp>
        <p:nvSpPr>
          <p:cNvPr id="60" name="Shape 49"/>
          <p:cNvSpPr/>
          <p:nvPr/>
        </p:nvSpPr>
        <p:spPr>
          <a:xfrm>
            <a:off x="2655235" y="5852160"/>
            <a:ext cx="2393716" cy="502920"/>
          </a:xfrm>
          <a:prstGeom prst="chevron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1" name="Text 50"/>
          <p:cNvSpPr txBox="1"/>
          <p:nvPr/>
        </p:nvSpPr>
        <p:spPr>
          <a:xfrm>
            <a:off x="2874691" y="5852160"/>
            <a:ext cx="19730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Tue: Mentor calls</a:t>
            </a:r>
            <a:endParaRPr lang="en-US" sz="1100" dirty="0"/>
          </a:p>
        </p:txBody>
      </p:sp>
      <p:sp>
        <p:nvSpPr>
          <p:cNvPr id="62" name="Shape 51"/>
          <p:cNvSpPr/>
          <p:nvPr/>
        </p:nvSpPr>
        <p:spPr>
          <a:xfrm>
            <a:off x="4898989" y="5852160"/>
            <a:ext cx="2393716" cy="502920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3" name="Text 52"/>
          <p:cNvSpPr txBox="1"/>
          <p:nvPr/>
        </p:nvSpPr>
        <p:spPr>
          <a:xfrm>
            <a:off x="5118445" y="5852160"/>
            <a:ext cx="19730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Wed: Remedial session</a:t>
            </a:r>
            <a:endParaRPr lang="en-US" sz="1100" dirty="0"/>
          </a:p>
        </p:txBody>
      </p:sp>
      <p:sp>
        <p:nvSpPr>
          <p:cNvPr id="64" name="Shape 53"/>
          <p:cNvSpPr/>
          <p:nvPr/>
        </p:nvSpPr>
        <p:spPr>
          <a:xfrm>
            <a:off x="7142744" y="5852160"/>
            <a:ext cx="2393716" cy="502920"/>
          </a:xfrm>
          <a:prstGeom prst="chevron">
            <a:avLst/>
          </a:prstGeom>
          <a:solidFill>
            <a:srgbClr val="5B8DC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5" name="Text 54"/>
          <p:cNvSpPr txBox="1"/>
          <p:nvPr/>
        </p:nvSpPr>
        <p:spPr>
          <a:xfrm>
            <a:off x="7362200" y="5852160"/>
            <a:ext cx="19730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Sat: Parent update</a:t>
            </a:r>
            <a:endParaRPr lang="en-US" sz="1100" dirty="0"/>
          </a:p>
        </p:txBody>
      </p:sp>
      <p:sp>
        <p:nvSpPr>
          <p:cNvPr id="66" name="Shape 55"/>
          <p:cNvSpPr/>
          <p:nvPr/>
        </p:nvSpPr>
        <p:spPr>
          <a:xfrm>
            <a:off x="9386499" y="5852160"/>
            <a:ext cx="2393716" cy="502920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7" name="Text 56"/>
          <p:cNvSpPr txBox="1"/>
          <p:nvPr/>
        </p:nvSpPr>
        <p:spPr>
          <a:xfrm>
            <a:off x="9605955" y="5852160"/>
            <a:ext cx="19730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Month: Owner sees outcomes</a:t>
            </a:r>
            <a:endParaRPr lang="en-US" sz="1100" dirty="0"/>
          </a:p>
        </p:txBody>
      </p:sp>
      <p:sp>
        <p:nvSpPr>
          <p:cNvPr id="68" name="Text 57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surfaces share one API. The phone app is a progressive web app installed from the browser (no app-store fee). Mock-ups use synthetic students; report text comes from our report module.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79876" y="91440"/>
            <a:ext cx="1106424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EVERY STUDENT'S WEAK TOPICS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 knows each student's weak topics, and tells the teacher how sure it is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598932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51560" y="1261872"/>
            <a:ext cx="6686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Kinematics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720215" y="1261872"/>
            <a:ext cx="6686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of motion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2388870" y="1261872"/>
            <a:ext cx="6686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and energy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3057525" y="1261872"/>
            <a:ext cx="6686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3726180" y="1261872"/>
            <a:ext cx="6686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4394835" y="1261872"/>
            <a:ext cx="6686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5063490" y="1261872"/>
            <a:ext cx="6686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5732145" y="1261872"/>
            <a:ext cx="6686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502920" y="1755648"/>
            <a:ext cx="548640" cy="25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S-101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1069848" y="1773936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34" name="Shape 31"/>
          <p:cNvSpPr/>
          <p:nvPr/>
        </p:nvSpPr>
        <p:spPr>
          <a:xfrm>
            <a:off x="1738503" y="1773936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35" name="Shape 32"/>
          <p:cNvSpPr/>
          <p:nvPr/>
        </p:nvSpPr>
        <p:spPr>
          <a:xfrm>
            <a:off x="2407158" y="1773936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36" name="Shape 33"/>
          <p:cNvSpPr/>
          <p:nvPr/>
        </p:nvSpPr>
        <p:spPr>
          <a:xfrm>
            <a:off x="3075813" y="1773936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37" name="Shape 34"/>
          <p:cNvSpPr/>
          <p:nvPr/>
        </p:nvSpPr>
        <p:spPr>
          <a:xfrm>
            <a:off x="3744468" y="1773936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38" name="Shape 35"/>
          <p:cNvSpPr/>
          <p:nvPr/>
        </p:nvSpPr>
        <p:spPr>
          <a:xfrm>
            <a:off x="4413123" y="1773936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39" name="Shape 36"/>
          <p:cNvSpPr/>
          <p:nvPr/>
        </p:nvSpPr>
        <p:spPr>
          <a:xfrm>
            <a:off x="5081778" y="1773936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40" name="Shape 37"/>
          <p:cNvSpPr/>
          <p:nvPr/>
        </p:nvSpPr>
        <p:spPr>
          <a:xfrm>
            <a:off x="5750433" y="1773936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502920" y="2010664"/>
            <a:ext cx="548640" cy="25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S-108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1069848" y="2028952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43" name="Shape 40"/>
          <p:cNvSpPr/>
          <p:nvPr/>
        </p:nvSpPr>
        <p:spPr>
          <a:xfrm>
            <a:off x="1738503" y="2028952"/>
            <a:ext cx="632079" cy="21844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4" name="Shape 41"/>
          <p:cNvSpPr/>
          <p:nvPr/>
        </p:nvSpPr>
        <p:spPr>
          <a:xfrm>
            <a:off x="2407158" y="2028952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45" name="Shape 42"/>
          <p:cNvSpPr/>
          <p:nvPr/>
        </p:nvSpPr>
        <p:spPr>
          <a:xfrm>
            <a:off x="3075813" y="2028952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46" name="Shape 43"/>
          <p:cNvSpPr/>
          <p:nvPr/>
        </p:nvSpPr>
        <p:spPr>
          <a:xfrm>
            <a:off x="3744468" y="2028952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47" name="Shape 44"/>
          <p:cNvSpPr/>
          <p:nvPr/>
        </p:nvSpPr>
        <p:spPr>
          <a:xfrm>
            <a:off x="4413123" y="2028952"/>
            <a:ext cx="632079" cy="21844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8" name="Shape 45"/>
          <p:cNvSpPr/>
          <p:nvPr/>
        </p:nvSpPr>
        <p:spPr>
          <a:xfrm>
            <a:off x="5081778" y="2028952"/>
            <a:ext cx="632079" cy="21844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49" name="Shape 46"/>
          <p:cNvSpPr/>
          <p:nvPr/>
        </p:nvSpPr>
        <p:spPr>
          <a:xfrm>
            <a:off x="5750433" y="2028952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502920" y="2265680"/>
            <a:ext cx="548640" cy="25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S-115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1069848" y="2283968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52" name="Shape 49"/>
          <p:cNvSpPr/>
          <p:nvPr/>
        </p:nvSpPr>
        <p:spPr>
          <a:xfrm>
            <a:off x="1738503" y="2283968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53" name="Shape 50"/>
          <p:cNvSpPr/>
          <p:nvPr/>
        </p:nvSpPr>
        <p:spPr>
          <a:xfrm>
            <a:off x="2407158" y="2283968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54" name="Shape 51"/>
          <p:cNvSpPr/>
          <p:nvPr/>
        </p:nvSpPr>
        <p:spPr>
          <a:xfrm>
            <a:off x="3075813" y="2283968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55" name="Shape 52"/>
          <p:cNvSpPr/>
          <p:nvPr/>
        </p:nvSpPr>
        <p:spPr>
          <a:xfrm>
            <a:off x="3744468" y="2283968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56" name="Shape 53"/>
          <p:cNvSpPr/>
          <p:nvPr/>
        </p:nvSpPr>
        <p:spPr>
          <a:xfrm>
            <a:off x="4413123" y="2283968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57" name="Shape 54"/>
          <p:cNvSpPr/>
          <p:nvPr/>
        </p:nvSpPr>
        <p:spPr>
          <a:xfrm>
            <a:off x="5081778" y="2283968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58" name="Shape 55"/>
          <p:cNvSpPr/>
          <p:nvPr/>
        </p:nvSpPr>
        <p:spPr>
          <a:xfrm>
            <a:off x="5750433" y="2283968"/>
            <a:ext cx="632079" cy="21844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502920" y="2520696"/>
            <a:ext cx="548640" cy="25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S-122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1069848" y="2538984"/>
            <a:ext cx="632079" cy="21844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1" name="Shape 58"/>
          <p:cNvSpPr/>
          <p:nvPr/>
        </p:nvSpPr>
        <p:spPr>
          <a:xfrm>
            <a:off x="1738503" y="2538984"/>
            <a:ext cx="632079" cy="21844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2" name="Shape 59"/>
          <p:cNvSpPr/>
          <p:nvPr/>
        </p:nvSpPr>
        <p:spPr>
          <a:xfrm>
            <a:off x="2407158" y="2538984"/>
            <a:ext cx="632079" cy="21844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3" name="Shape 60"/>
          <p:cNvSpPr/>
          <p:nvPr/>
        </p:nvSpPr>
        <p:spPr>
          <a:xfrm>
            <a:off x="3075813" y="2538984"/>
            <a:ext cx="632079" cy="21844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4" name="Shape 61"/>
          <p:cNvSpPr/>
          <p:nvPr/>
        </p:nvSpPr>
        <p:spPr>
          <a:xfrm>
            <a:off x="3744468" y="2538984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65" name="Shape 62"/>
          <p:cNvSpPr/>
          <p:nvPr/>
        </p:nvSpPr>
        <p:spPr>
          <a:xfrm>
            <a:off x="4413123" y="2538984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66" name="Shape 63"/>
          <p:cNvSpPr/>
          <p:nvPr/>
        </p:nvSpPr>
        <p:spPr>
          <a:xfrm>
            <a:off x="5081778" y="2538984"/>
            <a:ext cx="632079" cy="21844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7" name="Shape 64"/>
          <p:cNvSpPr/>
          <p:nvPr/>
        </p:nvSpPr>
        <p:spPr>
          <a:xfrm>
            <a:off x="5750433" y="2538984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502920" y="2775712"/>
            <a:ext cx="548640" cy="25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S-129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1069848" y="2794000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70" name="Shape 67"/>
          <p:cNvSpPr/>
          <p:nvPr/>
        </p:nvSpPr>
        <p:spPr>
          <a:xfrm>
            <a:off x="1738503" y="2794000"/>
            <a:ext cx="632079" cy="21844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71" name="Shape 68"/>
          <p:cNvSpPr/>
          <p:nvPr/>
        </p:nvSpPr>
        <p:spPr>
          <a:xfrm>
            <a:off x="2407158" y="2794000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72" name="Shape 69"/>
          <p:cNvSpPr/>
          <p:nvPr/>
        </p:nvSpPr>
        <p:spPr>
          <a:xfrm>
            <a:off x="3075813" y="2794000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3" name="Shape 70"/>
          <p:cNvSpPr/>
          <p:nvPr/>
        </p:nvSpPr>
        <p:spPr>
          <a:xfrm>
            <a:off x="3744468" y="2794000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4" name="Shape 71"/>
          <p:cNvSpPr/>
          <p:nvPr/>
        </p:nvSpPr>
        <p:spPr>
          <a:xfrm>
            <a:off x="4413123" y="2794000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5" name="Shape 72"/>
          <p:cNvSpPr/>
          <p:nvPr/>
        </p:nvSpPr>
        <p:spPr>
          <a:xfrm>
            <a:off x="5081778" y="2794000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6" name="Shape 73"/>
          <p:cNvSpPr/>
          <p:nvPr/>
        </p:nvSpPr>
        <p:spPr>
          <a:xfrm>
            <a:off x="5750433" y="2794000"/>
            <a:ext cx="632079" cy="21844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502920" y="3030728"/>
            <a:ext cx="548640" cy="25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S-136</a:t>
            </a:r>
            <a:endParaRPr lang="en-US" sz="950" dirty="0"/>
          </a:p>
        </p:txBody>
      </p:sp>
      <p:sp>
        <p:nvSpPr>
          <p:cNvPr id="78" name="Shape 75"/>
          <p:cNvSpPr/>
          <p:nvPr/>
        </p:nvSpPr>
        <p:spPr>
          <a:xfrm>
            <a:off x="1069848" y="3049016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79" name="Shape 76"/>
          <p:cNvSpPr/>
          <p:nvPr/>
        </p:nvSpPr>
        <p:spPr>
          <a:xfrm>
            <a:off x="1738503" y="3049016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0" name="Shape 77"/>
          <p:cNvSpPr/>
          <p:nvPr/>
        </p:nvSpPr>
        <p:spPr>
          <a:xfrm>
            <a:off x="2407158" y="3049016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1" name="Shape 78"/>
          <p:cNvSpPr/>
          <p:nvPr/>
        </p:nvSpPr>
        <p:spPr>
          <a:xfrm>
            <a:off x="3075813" y="3049016"/>
            <a:ext cx="632079" cy="21844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2" name="Shape 79"/>
          <p:cNvSpPr/>
          <p:nvPr/>
        </p:nvSpPr>
        <p:spPr>
          <a:xfrm>
            <a:off x="3744468" y="3049016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83" name="Shape 80"/>
          <p:cNvSpPr/>
          <p:nvPr/>
        </p:nvSpPr>
        <p:spPr>
          <a:xfrm>
            <a:off x="4413123" y="3049016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4" name="Shape 81"/>
          <p:cNvSpPr/>
          <p:nvPr/>
        </p:nvSpPr>
        <p:spPr>
          <a:xfrm>
            <a:off x="5081778" y="3049016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5" name="Shape 82"/>
          <p:cNvSpPr/>
          <p:nvPr/>
        </p:nvSpPr>
        <p:spPr>
          <a:xfrm>
            <a:off x="5750433" y="3049016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502920" y="3285744"/>
            <a:ext cx="548640" cy="25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S-143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1069848" y="3304032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8" name="Shape 85"/>
          <p:cNvSpPr/>
          <p:nvPr/>
        </p:nvSpPr>
        <p:spPr>
          <a:xfrm>
            <a:off x="1738503" y="3304032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9" name="Shape 86"/>
          <p:cNvSpPr/>
          <p:nvPr/>
        </p:nvSpPr>
        <p:spPr>
          <a:xfrm>
            <a:off x="2407158" y="3304032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90" name="Shape 87"/>
          <p:cNvSpPr/>
          <p:nvPr/>
        </p:nvSpPr>
        <p:spPr>
          <a:xfrm>
            <a:off x="3075813" y="3304032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1" name="Shape 88"/>
          <p:cNvSpPr/>
          <p:nvPr/>
        </p:nvSpPr>
        <p:spPr>
          <a:xfrm>
            <a:off x="3744468" y="3304032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92" name="Shape 89"/>
          <p:cNvSpPr/>
          <p:nvPr/>
        </p:nvSpPr>
        <p:spPr>
          <a:xfrm>
            <a:off x="4413123" y="3304032"/>
            <a:ext cx="632079" cy="21844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93" name="Shape 90"/>
          <p:cNvSpPr/>
          <p:nvPr/>
        </p:nvSpPr>
        <p:spPr>
          <a:xfrm>
            <a:off x="5081778" y="3304032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94" name="Shape 91"/>
          <p:cNvSpPr/>
          <p:nvPr/>
        </p:nvSpPr>
        <p:spPr>
          <a:xfrm>
            <a:off x="5750433" y="3304032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502920" y="3540760"/>
            <a:ext cx="548640" cy="25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S-150</a:t>
            </a:r>
            <a:endParaRPr lang="en-US" sz="950" dirty="0"/>
          </a:p>
        </p:txBody>
      </p:sp>
      <p:sp>
        <p:nvSpPr>
          <p:cNvPr id="96" name="Shape 93"/>
          <p:cNvSpPr/>
          <p:nvPr/>
        </p:nvSpPr>
        <p:spPr>
          <a:xfrm>
            <a:off x="1069848" y="3559048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7" name="Shape 94"/>
          <p:cNvSpPr/>
          <p:nvPr/>
        </p:nvSpPr>
        <p:spPr>
          <a:xfrm>
            <a:off x="1738503" y="3559048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8" name="Shape 95"/>
          <p:cNvSpPr/>
          <p:nvPr/>
        </p:nvSpPr>
        <p:spPr>
          <a:xfrm>
            <a:off x="2407158" y="3559048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9" name="Shape 96"/>
          <p:cNvSpPr/>
          <p:nvPr/>
        </p:nvSpPr>
        <p:spPr>
          <a:xfrm>
            <a:off x="3075813" y="3559048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100" name="Shape 97"/>
          <p:cNvSpPr/>
          <p:nvPr/>
        </p:nvSpPr>
        <p:spPr>
          <a:xfrm>
            <a:off x="3744468" y="3559048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101" name="Shape 98"/>
          <p:cNvSpPr/>
          <p:nvPr/>
        </p:nvSpPr>
        <p:spPr>
          <a:xfrm>
            <a:off x="4413123" y="3559048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2" name="Shape 99"/>
          <p:cNvSpPr/>
          <p:nvPr/>
        </p:nvSpPr>
        <p:spPr>
          <a:xfrm>
            <a:off x="5081778" y="3559048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3" name="Shape 100"/>
          <p:cNvSpPr/>
          <p:nvPr/>
        </p:nvSpPr>
        <p:spPr>
          <a:xfrm>
            <a:off x="5750433" y="3559048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502920" y="3795776"/>
            <a:ext cx="548640" cy="25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S-157</a:t>
            </a:r>
            <a:endParaRPr lang="en-US" sz="950" dirty="0"/>
          </a:p>
        </p:txBody>
      </p:sp>
      <p:sp>
        <p:nvSpPr>
          <p:cNvPr id="105" name="Shape 102"/>
          <p:cNvSpPr/>
          <p:nvPr/>
        </p:nvSpPr>
        <p:spPr>
          <a:xfrm>
            <a:off x="1069848" y="3814064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6" name="Shape 103"/>
          <p:cNvSpPr/>
          <p:nvPr/>
        </p:nvSpPr>
        <p:spPr>
          <a:xfrm>
            <a:off x="1738503" y="3814064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7" name="Shape 104"/>
          <p:cNvSpPr/>
          <p:nvPr/>
        </p:nvSpPr>
        <p:spPr>
          <a:xfrm>
            <a:off x="2407158" y="3814064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8" name="Shape 105"/>
          <p:cNvSpPr/>
          <p:nvPr/>
        </p:nvSpPr>
        <p:spPr>
          <a:xfrm>
            <a:off x="3075813" y="3814064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9" name="Shape 106"/>
          <p:cNvSpPr/>
          <p:nvPr/>
        </p:nvSpPr>
        <p:spPr>
          <a:xfrm>
            <a:off x="3744468" y="3814064"/>
            <a:ext cx="632079" cy="21844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110" name="Shape 107"/>
          <p:cNvSpPr/>
          <p:nvPr/>
        </p:nvSpPr>
        <p:spPr>
          <a:xfrm>
            <a:off x="4413123" y="3814064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1" name="Shape 108"/>
          <p:cNvSpPr/>
          <p:nvPr/>
        </p:nvSpPr>
        <p:spPr>
          <a:xfrm>
            <a:off x="5081778" y="3814064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2" name="Shape 109"/>
          <p:cNvSpPr/>
          <p:nvPr/>
        </p:nvSpPr>
        <p:spPr>
          <a:xfrm>
            <a:off x="5750433" y="3814064"/>
            <a:ext cx="632079" cy="21844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3" name="Shape 110"/>
          <p:cNvSpPr/>
          <p:nvPr/>
        </p:nvSpPr>
        <p:spPr>
          <a:xfrm>
            <a:off x="3730752" y="1737360"/>
            <a:ext cx="659511" cy="2331720"/>
          </a:xfrm>
          <a:prstGeom prst="roundRect">
            <a:avLst>
              <a:gd name="adj" fmla="val 8319"/>
            </a:avLst>
          </a:prstGeom>
          <a:ln w="25400">
            <a:solidFill>
              <a:srgbClr val="17325C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521208" y="4187952"/>
            <a:ext cx="182880" cy="182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15" name="Text 112"/>
          <p:cNvSpPr txBox="1"/>
          <p:nvPr/>
        </p:nvSpPr>
        <p:spPr>
          <a:xfrm>
            <a:off x="777240" y="41239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data</a:t>
            </a:r>
            <a:endParaRPr lang="en-US" sz="1100" dirty="0"/>
          </a:p>
        </p:txBody>
      </p:sp>
      <p:sp>
        <p:nvSpPr>
          <p:cNvPr id="116" name="Shape 113"/>
          <p:cNvSpPr/>
          <p:nvPr/>
        </p:nvSpPr>
        <p:spPr>
          <a:xfrm>
            <a:off x="2171700" y="4187952"/>
            <a:ext cx="182880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2427732" y="41239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100" dirty="0"/>
          </a:p>
        </p:txBody>
      </p:sp>
      <p:sp>
        <p:nvSpPr>
          <p:cNvPr id="118" name="Shape 115"/>
          <p:cNvSpPr/>
          <p:nvPr/>
        </p:nvSpPr>
        <p:spPr>
          <a:xfrm>
            <a:off x="3278124" y="4187952"/>
            <a:ext cx="182880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9" name="Text 116"/>
          <p:cNvSpPr txBox="1"/>
          <p:nvPr/>
        </p:nvSpPr>
        <p:spPr>
          <a:xfrm>
            <a:off x="3534156" y="41239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</a:t>
            </a:r>
            <a:endParaRPr lang="en-US" sz="1100" dirty="0"/>
          </a:p>
        </p:txBody>
      </p:sp>
      <p:sp>
        <p:nvSpPr>
          <p:cNvPr id="120" name="Shape 117"/>
          <p:cNvSpPr/>
          <p:nvPr/>
        </p:nvSpPr>
        <p:spPr>
          <a:xfrm>
            <a:off x="4229100" y="4187952"/>
            <a:ext cx="182880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21" name="Text 118"/>
          <p:cNvSpPr txBox="1"/>
          <p:nvPr/>
        </p:nvSpPr>
        <p:spPr>
          <a:xfrm>
            <a:off x="4485132" y="41239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00" dirty="0"/>
          </a:p>
        </p:txBody>
      </p:sp>
      <p:sp>
        <p:nvSpPr>
          <p:cNvPr id="122" name="Shape 119"/>
          <p:cNvSpPr/>
          <p:nvPr/>
        </p:nvSpPr>
        <p:spPr>
          <a:xfrm>
            <a:off x="3657600" y="1115568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3" name="Text 120"/>
          <p:cNvSpPr txBox="1"/>
          <p:nvPr/>
        </p:nvSpPr>
        <p:spPr>
          <a:xfrm>
            <a:off x="365760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4" name="Text 121"/>
          <p:cNvSpPr txBox="1"/>
          <p:nvPr/>
        </p:nvSpPr>
        <p:spPr>
          <a:xfrm>
            <a:off x="3977640" y="1115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 column = topic probably not taught yet</a:t>
            </a:r>
            <a:endParaRPr lang="en-US" sz="900" dirty="0"/>
          </a:p>
        </p:txBody>
      </p:sp>
      <p:sp>
        <p:nvSpPr>
          <p:cNvPr id="125" name="Shape 122"/>
          <p:cNvSpPr/>
          <p:nvPr/>
        </p:nvSpPr>
        <p:spPr>
          <a:xfrm>
            <a:off x="6675120" y="118872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26" name="Text 123"/>
          <p:cNvSpPr txBox="1"/>
          <p:nvPr/>
        </p:nvSpPr>
        <p:spPr>
          <a:xfrm>
            <a:off x="6675120" y="1188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127" name="Text 124"/>
          <p:cNvSpPr txBox="1"/>
          <p:nvPr/>
        </p:nvSpPr>
        <p:spPr>
          <a:xfrm>
            <a:off x="7004304" y="1188720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WORKS, IN PLAIN ENGLISH</a:t>
            </a:r>
            <a:endParaRPr lang="en-US" sz="1200" dirty="0"/>
          </a:p>
        </p:txBody>
      </p:sp>
      <p:sp>
        <p:nvSpPr>
          <p:cNvPr id="128" name="Shape 125"/>
          <p:cNvSpPr/>
          <p:nvPr/>
        </p:nvSpPr>
        <p:spPr>
          <a:xfrm>
            <a:off x="6675120" y="1572768"/>
            <a:ext cx="5102352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6675120" y="1572768"/>
            <a:ext cx="548640" cy="65836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30" name="Text 127"/>
          <p:cNvSpPr txBox="1"/>
          <p:nvPr/>
        </p:nvSpPr>
        <p:spPr>
          <a:xfrm>
            <a:off x="6675120" y="157276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31" name="Text 128"/>
          <p:cNvSpPr txBox="1"/>
          <p:nvPr/>
        </p:nvSpPr>
        <p:spPr>
          <a:xfrm>
            <a:off x="7360920" y="1572768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how hard every question is</a:t>
            </a:r>
            <a:endParaRPr lang="en-US" sz="1400" dirty="0"/>
          </a:p>
          <a:p>
            <a:pPr algn="l" indent="0" marL="0">
              <a:buNone/>
            </a:pPr>
            <a:r>
              <a:rPr lang="en-US" sz="9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2-parameter IRT, guessing prior</a:t>
            </a:r>
            <a:endParaRPr lang="en-US" sz="1400" dirty="0"/>
          </a:p>
        </p:txBody>
      </p:sp>
      <p:sp>
        <p:nvSpPr>
          <p:cNvPr id="132" name="Shape 129"/>
          <p:cNvSpPr/>
          <p:nvPr/>
        </p:nvSpPr>
        <p:spPr>
          <a:xfrm>
            <a:off x="6675120" y="2304288"/>
            <a:ext cx="51023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6675120" y="2304288"/>
            <a:ext cx="548640" cy="65836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34" name="Text 131"/>
          <p:cNvSpPr txBox="1"/>
          <p:nvPr/>
        </p:nvSpPr>
        <p:spPr>
          <a:xfrm>
            <a:off x="6675120" y="230428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5" name="Text 132"/>
          <p:cNvSpPr txBox="1"/>
          <p:nvPr/>
        </p:nvSpPr>
        <p:spPr>
          <a:xfrm>
            <a:off x="7360920" y="2304288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mastery per topic, with doubt</a:t>
            </a:r>
            <a:endParaRPr lang="en-US" sz="1400" dirty="0"/>
          </a:p>
          <a:p>
            <a:pPr algn="l" indent="0" marL="0">
              <a:buNone/>
            </a:pPr>
            <a:r>
              <a:rPr lang="en-US" sz="9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Per-topic ability, shrunk to the batch</a:t>
            </a:r>
            <a:endParaRPr lang="en-US" sz="1400" dirty="0"/>
          </a:p>
        </p:txBody>
      </p:sp>
      <p:sp>
        <p:nvSpPr>
          <p:cNvPr id="136" name="Shape 133"/>
          <p:cNvSpPr/>
          <p:nvPr/>
        </p:nvSpPr>
        <p:spPr>
          <a:xfrm>
            <a:off x="6675120" y="3035808"/>
            <a:ext cx="5102352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6675120" y="3035808"/>
            <a:ext cx="548640" cy="65836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38" name="Text 135"/>
          <p:cNvSpPr txBox="1"/>
          <p:nvPr/>
        </p:nvSpPr>
        <p:spPr>
          <a:xfrm>
            <a:off x="6675120" y="303580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9" name="Text 136"/>
          <p:cNvSpPr txBox="1"/>
          <p:nvPr/>
        </p:nvSpPr>
        <p:spPr>
          <a:xfrm>
            <a:off x="7360920" y="3035808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“not enough data” when unsure</a:t>
            </a:r>
            <a:endParaRPr lang="en-US" sz="1400" dirty="0"/>
          </a:p>
          <a:p>
            <a:pPr algn="l" indent="0" marL="0">
              <a:buNone/>
            </a:pPr>
            <a:r>
              <a:rPr lang="en-US" sz="9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gate on every band</a:t>
            </a:r>
            <a:endParaRPr lang="en-US" sz="1400" dirty="0"/>
          </a:p>
        </p:txBody>
      </p:sp>
      <p:sp>
        <p:nvSpPr>
          <p:cNvPr id="140" name="Shape 137"/>
          <p:cNvSpPr/>
          <p:nvPr/>
        </p:nvSpPr>
        <p:spPr>
          <a:xfrm>
            <a:off x="6675120" y="3767328"/>
            <a:ext cx="51023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6675120" y="3767328"/>
            <a:ext cx="548640" cy="65836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42" name="Text 139"/>
          <p:cNvSpPr txBox="1"/>
          <p:nvPr/>
        </p:nvSpPr>
        <p:spPr>
          <a:xfrm>
            <a:off x="6675120" y="376732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3" name="Text 140"/>
          <p:cNvSpPr txBox="1"/>
          <p:nvPr/>
        </p:nvSpPr>
        <p:spPr>
          <a:xfrm>
            <a:off x="7360920" y="3767328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 likely wrong answer key</a:t>
            </a:r>
            <a:endParaRPr lang="en-US" sz="1400" dirty="0"/>
          </a:p>
          <a:p>
            <a:pPr algn="l" indent="0" marL="0">
              <a:buNone/>
            </a:pPr>
            <a:r>
              <a:rPr lang="en-US" sz="9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Negative-discrimination detector</a:t>
            </a:r>
            <a:endParaRPr lang="en-US" sz="1400" dirty="0"/>
          </a:p>
        </p:txBody>
      </p:sp>
      <p:sp>
        <p:nvSpPr>
          <p:cNvPr id="144" name="Shape 141"/>
          <p:cNvSpPr/>
          <p:nvPr/>
        </p:nvSpPr>
        <p:spPr>
          <a:xfrm>
            <a:off x="6675120" y="4553712"/>
            <a:ext cx="5102352" cy="329184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145" name="Text 142"/>
          <p:cNvSpPr txBox="1"/>
          <p:nvPr/>
        </p:nvSpPr>
        <p:spPr>
          <a:xfrm>
            <a:off x="6766560" y="455371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small batches: question difficulty pooled across institutes</a:t>
            </a:r>
            <a:endParaRPr lang="en-US" sz="1000" dirty="0"/>
          </a:p>
        </p:txBody>
      </p:sp>
      <p:pic>
        <p:nvPicPr>
          <p:cNvPr id="146" name="Image 0" descr="Next-answer accuracy: ours vs publish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572000"/>
            <a:ext cx="2743200" cy="1700784"/>
          </a:xfrm>
          <a:prstGeom prst="rect">
            <a:avLst/>
          </a:prstGeom>
        </p:spPr>
      </p:pic>
      <p:sp>
        <p:nvSpPr>
          <p:cNvPr id="147" name="Shape 143"/>
          <p:cNvSpPr/>
          <p:nvPr/>
        </p:nvSpPr>
        <p:spPr>
          <a:xfrm>
            <a:off x="3291840" y="4590288"/>
            <a:ext cx="99212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148" name="Text 144"/>
          <p:cNvSpPr txBox="1"/>
          <p:nvPr/>
        </p:nvSpPr>
        <p:spPr>
          <a:xfrm>
            <a:off x="3291840" y="4590288"/>
            <a:ext cx="9921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</a:t>
            </a:r>
            <a:endParaRPr lang="en-US" sz="900" dirty="0"/>
          </a:p>
        </p:txBody>
      </p:sp>
      <p:sp>
        <p:nvSpPr>
          <p:cNvPr id="149" name="Text 145"/>
          <p:cNvSpPr txBox="1"/>
          <p:nvPr/>
        </p:nvSpPr>
        <p:spPr>
          <a:xfrm>
            <a:off x="3291840" y="4864608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 vs 0.75</a:t>
            </a:r>
            <a:endParaRPr lang="en-US" sz="14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770 unseen students, public data. Published rival AKT scores higher (0.785); we say so.</a:t>
            </a:r>
            <a:endParaRPr lang="en-US" sz="1400" dirty="0"/>
          </a:p>
        </p:txBody>
      </p:sp>
      <p:sp>
        <p:nvSpPr>
          <p:cNvPr id="150" name="Text 146"/>
          <p:cNvSpPr txBox="1"/>
          <p:nvPr/>
        </p:nvSpPr>
        <p:spPr>
          <a:xfrm>
            <a:off x="6675120" y="502920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SYNTHETIC-DATA GATES</a:t>
            </a:r>
            <a:endParaRPr lang="en-US" sz="950" dirty="0"/>
          </a:p>
        </p:txBody>
      </p:sp>
      <p:sp>
        <p:nvSpPr>
          <p:cNvPr id="151" name="Text 147"/>
          <p:cNvSpPr txBox="1"/>
          <p:nvPr/>
        </p:nvSpPr>
        <p:spPr>
          <a:xfrm>
            <a:off x="6675120" y="528523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difficulty recovered</a:t>
            </a:r>
            <a:endParaRPr lang="en-US" sz="1050" dirty="0"/>
          </a:p>
        </p:txBody>
      </p:sp>
      <p:sp>
        <p:nvSpPr>
          <p:cNvPr id="152" name="Shape 148"/>
          <p:cNvSpPr/>
          <p:nvPr/>
        </p:nvSpPr>
        <p:spPr>
          <a:xfrm>
            <a:off x="10561320" y="5330952"/>
            <a:ext cx="664464" cy="20116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153" name="Text 149"/>
          <p:cNvSpPr txBox="1"/>
          <p:nvPr/>
        </p:nvSpPr>
        <p:spPr>
          <a:xfrm>
            <a:off x="10561320" y="5330952"/>
            <a:ext cx="664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00" dirty="0"/>
          </a:p>
        </p:txBody>
      </p:sp>
      <p:sp>
        <p:nvSpPr>
          <p:cNvPr id="154" name="Text 150"/>
          <p:cNvSpPr txBox="1"/>
          <p:nvPr/>
        </p:nvSpPr>
        <p:spPr>
          <a:xfrm>
            <a:off x="6675120" y="562356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keys caught, few false alarms</a:t>
            </a:r>
            <a:endParaRPr lang="en-US" sz="1050" dirty="0"/>
          </a:p>
        </p:txBody>
      </p:sp>
      <p:sp>
        <p:nvSpPr>
          <p:cNvPr id="155" name="Shape 151"/>
          <p:cNvSpPr/>
          <p:nvPr/>
        </p:nvSpPr>
        <p:spPr>
          <a:xfrm>
            <a:off x="10561320" y="5669280"/>
            <a:ext cx="664464" cy="20116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156" name="Text 152"/>
          <p:cNvSpPr txBox="1"/>
          <p:nvPr/>
        </p:nvSpPr>
        <p:spPr>
          <a:xfrm>
            <a:off x="10561320" y="5669280"/>
            <a:ext cx="664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00" dirty="0"/>
          </a:p>
        </p:txBody>
      </p:sp>
      <p:sp>
        <p:nvSpPr>
          <p:cNvPr id="157" name="Text 153"/>
          <p:cNvSpPr txBox="1"/>
          <p:nvPr/>
        </p:nvSpPr>
        <p:spPr>
          <a:xfrm>
            <a:off x="6675120" y="596188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beats raw % correct</a:t>
            </a:r>
            <a:endParaRPr lang="en-US" sz="1050" dirty="0"/>
          </a:p>
        </p:txBody>
      </p:sp>
      <p:sp>
        <p:nvSpPr>
          <p:cNvPr id="158" name="Shape 154"/>
          <p:cNvSpPr/>
          <p:nvPr/>
        </p:nvSpPr>
        <p:spPr>
          <a:xfrm>
            <a:off x="10561320" y="6007608"/>
            <a:ext cx="664464" cy="20116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159" name="Text 155"/>
          <p:cNvSpPr txBox="1"/>
          <p:nvPr/>
        </p:nvSpPr>
        <p:spPr>
          <a:xfrm>
            <a:off x="10561320" y="6007608"/>
            <a:ext cx="664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00" dirty="0"/>
          </a:p>
        </p:txBody>
      </p:sp>
      <p:sp>
        <p:nvSpPr>
          <p:cNvPr id="160" name="Text 156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ml/public_validation (ASSISTments 2009, pyKT protocol, 770 held-out students; published DKT 0.754, SAKT 0.725, AKT 0.785); heat map is an illustrative mock-up. Gates pending Agent B.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79876" y="91440"/>
            <a:ext cx="1106424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WARNING: THE INTERVENTION JOURNEY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week a mentor gets a short list: who to call, why, and what to offer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1463040" y="1554480"/>
            <a:ext cx="9235440" cy="0"/>
          </a:xfrm>
          <a:prstGeom prst="line">
            <a:avLst/>
          </a:prstGeom>
          <a:noFill/>
          <a:ln w="38100">
            <a:solidFill>
              <a:srgbClr val="C9D6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97280" y="1188720"/>
            <a:ext cx="731520" cy="731520"/>
          </a:xfrm>
          <a:prstGeom prst="ellipse">
            <a:avLst/>
          </a:prstGeom>
          <a:solidFill>
            <a:srgbClr val="C0392B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5" name="Image 0" descr="FaArrowTrendDow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371600"/>
            <a:ext cx="365760" cy="36576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27432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drops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absences in ten classes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1920240" y="1554480"/>
            <a:ext cx="2167128" cy="0"/>
          </a:xfrm>
          <a:prstGeom prst="line">
            <a:avLst/>
          </a:prstGeom>
          <a:noFill/>
          <a:ln w="25400">
            <a:solidFill>
              <a:srgbClr val="1F4A82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4178808" y="1188720"/>
            <a:ext cx="731520" cy="731520"/>
          </a:xfrm>
          <a:prstGeom prst="ellipse">
            <a:avLst/>
          </a:prstGeom>
          <a:solidFill>
            <a:srgbClr val="1F4A82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9" name="Image 1" descr="FaFla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371600"/>
            <a:ext cx="365760" cy="36576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3355848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flags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on the weekly list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5001768" y="1554480"/>
            <a:ext cx="2167128" cy="0"/>
          </a:xfrm>
          <a:prstGeom prst="line">
            <a:avLst/>
          </a:prstGeom>
          <a:noFill/>
          <a:ln w="25400">
            <a:solidFill>
              <a:srgbClr val="1F4A82"/>
            </a:solidFill>
            <a:prstDash val="solid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7260336" y="1188720"/>
            <a:ext cx="731520" cy="731520"/>
          </a:xfrm>
          <a:prstGeom prst="ellipse">
            <a:avLst/>
          </a:prstGeom>
          <a:solidFill>
            <a:srgbClr val="1F4A82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33" name="Image 2" descr="FaPhon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1371600"/>
            <a:ext cx="365760" cy="36576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6437376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calls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supportive call, not a warning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8083296" y="1554480"/>
            <a:ext cx="2167128" cy="0"/>
          </a:xfrm>
          <a:prstGeom prst="line">
            <a:avLst/>
          </a:prstGeom>
          <a:noFill/>
          <a:ln w="25400">
            <a:solidFill>
              <a:srgbClr val="1F4A82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10341864" y="1188720"/>
            <a:ext cx="731520" cy="731520"/>
          </a:xfrm>
          <a:prstGeom prst="ellipse">
            <a:avLst/>
          </a:prstGeom>
          <a:solidFill>
            <a:srgbClr val="1B8F55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37" name="Image 3" descr="FaUser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4744" y="1371600"/>
            <a:ext cx="365760" cy="36576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9518904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retained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logged; list updates</a:t>
            </a:r>
            <a:endParaRPr lang="en-US" sz="1400" dirty="0"/>
          </a:p>
        </p:txBody>
      </p:sp>
      <p:pic>
        <p:nvPicPr>
          <p:cNvPr id="39" name="Image 4" descr="Weekly support list (illustrative)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606040"/>
            <a:ext cx="3566160" cy="2002536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411480" y="46177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mentor sees (mock-up)</a:t>
            </a:r>
            <a:endParaRPr lang="en-US" sz="850" dirty="0"/>
          </a:p>
        </p:txBody>
      </p:sp>
      <p:pic>
        <p:nvPicPr>
          <p:cNvPr id="41" name="Image 5" descr="Withdrawal prediction accuracy over time, public dat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846320"/>
            <a:ext cx="2011680" cy="1399032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2514600" y="4846320"/>
            <a:ext cx="99212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43" name="Text 34"/>
          <p:cNvSpPr txBox="1"/>
          <p:nvPr/>
        </p:nvSpPr>
        <p:spPr>
          <a:xfrm>
            <a:off x="2514600" y="4846320"/>
            <a:ext cx="9921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2514600" y="510235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</a:t>
            </a:r>
            <a:endParaRPr lang="en-US" sz="14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top 10 % flagged really leave; simple rules: 0.24–0.31</a:t>
            </a:r>
            <a:endParaRPr lang="en-US" sz="1400" dirty="0"/>
          </a:p>
        </p:txBody>
      </p:sp>
      <p:sp>
        <p:nvSpPr>
          <p:cNvPr id="45" name="Text 36"/>
          <p:cNvSpPr txBox="1"/>
          <p:nvPr/>
        </p:nvSpPr>
        <p:spPr>
          <a:xfrm>
            <a:off x="2514600" y="57150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</a:t>
            </a:r>
            <a:endParaRPr lang="en-US" sz="14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error: “30 %” means 30 %</a:t>
            </a:r>
            <a:endParaRPr lang="en-US" sz="1400" dirty="0"/>
          </a:p>
        </p:txBody>
      </p:sp>
      <p:sp>
        <p:nvSpPr>
          <p:cNvPr id="46" name="Shape 37"/>
          <p:cNvSpPr/>
          <p:nvPr/>
        </p:nvSpPr>
        <p:spPr>
          <a:xfrm>
            <a:off x="4251960" y="2606040"/>
            <a:ext cx="7525512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7" name="Text 38"/>
          <p:cNvSpPr txBox="1"/>
          <p:nvPr/>
        </p:nvSpPr>
        <p:spPr>
          <a:xfrm>
            <a:off x="4325112" y="2606040"/>
            <a:ext cx="7379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MATRIX: WHAT THE LAW LETS US USE</a:t>
            </a:r>
            <a:endParaRPr lang="en-US" sz="1100" dirty="0"/>
          </a:p>
        </p:txBody>
      </p:sp>
      <p:sp>
        <p:nvSpPr>
          <p:cNvPr id="48" name="Text 39"/>
          <p:cNvSpPr txBox="1"/>
          <p:nvPr/>
        </p:nvSpPr>
        <p:spPr>
          <a:xfrm>
            <a:off x="6035040" y="2926080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support</a:t>
            </a:r>
            <a:endParaRPr lang="en-US" sz="1050" dirty="0"/>
          </a:p>
        </p:txBody>
      </p:sp>
      <p:sp>
        <p:nvSpPr>
          <p:cNvPr id="49" name="Text 40"/>
          <p:cNvSpPr txBox="1"/>
          <p:nvPr/>
        </p:nvSpPr>
        <p:spPr>
          <a:xfrm>
            <a:off x="7470648" y="2926080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risk</a:t>
            </a:r>
            <a:endParaRPr lang="en-US" sz="1050" dirty="0"/>
          </a:p>
        </p:txBody>
      </p:sp>
      <p:sp>
        <p:nvSpPr>
          <p:cNvPr id="50" name="Text 41"/>
          <p:cNvSpPr txBox="1"/>
          <p:nvPr/>
        </p:nvSpPr>
        <p:spPr>
          <a:xfrm>
            <a:off x="8906256" y="2926080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risk</a:t>
            </a:r>
            <a:endParaRPr lang="en-US" sz="1050" dirty="0"/>
          </a:p>
        </p:txBody>
      </p:sp>
      <p:sp>
        <p:nvSpPr>
          <p:cNvPr id="51" name="Text 42"/>
          <p:cNvSpPr txBox="1"/>
          <p:nvPr/>
        </p:nvSpPr>
        <p:spPr>
          <a:xfrm>
            <a:off x="10341864" y="2926080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activity</a:t>
            </a:r>
            <a:endParaRPr lang="en-US" sz="1050" dirty="0"/>
          </a:p>
        </p:txBody>
      </p:sp>
      <p:sp>
        <p:nvSpPr>
          <p:cNvPr id="52" name="Shape 43"/>
          <p:cNvSpPr/>
          <p:nvPr/>
        </p:nvSpPr>
        <p:spPr>
          <a:xfrm>
            <a:off x="4251960" y="3273552"/>
            <a:ext cx="1737360" cy="84124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53" name="Text 44"/>
          <p:cNvSpPr txBox="1"/>
          <p:nvPr/>
        </p:nvSpPr>
        <p:spPr>
          <a:xfrm>
            <a:off x="4343400" y="3273552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18</a:t>
            </a:r>
            <a:endParaRPr lang="en-US" sz="14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consent</a:t>
            </a:r>
            <a:endParaRPr lang="en-US" sz="1400" dirty="0"/>
          </a:p>
        </p:txBody>
      </p:sp>
      <p:sp>
        <p:nvSpPr>
          <p:cNvPr id="54" name="Shape 45"/>
          <p:cNvSpPr/>
          <p:nvPr/>
        </p:nvSpPr>
        <p:spPr>
          <a:xfrm>
            <a:off x="6062472" y="3273552"/>
            <a:ext cx="1380744" cy="841248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55" name="Image 6" descr="FaCircleCheck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7396" y="3383280"/>
            <a:ext cx="310896" cy="310896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6062472" y="3749040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allowed</a:t>
            </a:r>
            <a:endParaRPr lang="en-US" sz="950" dirty="0"/>
          </a:p>
        </p:txBody>
      </p:sp>
      <p:sp>
        <p:nvSpPr>
          <p:cNvPr id="57" name="Shape 47"/>
          <p:cNvSpPr/>
          <p:nvPr/>
        </p:nvSpPr>
        <p:spPr>
          <a:xfrm>
            <a:off x="7498080" y="3273552"/>
            <a:ext cx="1380744" cy="841248"/>
          </a:xfrm>
          <a:prstGeom prst="rect">
            <a:avLst/>
          </a:prstGeom>
          <a:solidFill>
            <a:srgbClr val="F1E8D3"/>
          </a:solidFill>
          <a:ln/>
        </p:spPr>
      </p:sp>
      <p:pic>
        <p:nvPicPr>
          <p:cNvPr id="58" name="Image 7" descr="FaLock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3004" y="3383280"/>
            <a:ext cx="310896" cy="310896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7498080" y="3749040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rules only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933688" y="3273552"/>
            <a:ext cx="1380744" cy="841248"/>
          </a:xfrm>
          <a:prstGeom prst="rect">
            <a:avLst/>
          </a:prstGeom>
          <a:solidFill>
            <a:srgbClr val="F1E8D3"/>
          </a:solidFill>
          <a:ln/>
        </p:spPr>
      </p:sp>
      <p:pic>
        <p:nvPicPr>
          <p:cNvPr id="61" name="Image 8" descr="FaLock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8612" y="3383280"/>
            <a:ext cx="310896" cy="310896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933688" y="3749040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rules only</a:t>
            </a:r>
            <a:endParaRPr lang="en-US" sz="950" dirty="0"/>
          </a:p>
        </p:txBody>
      </p:sp>
      <p:sp>
        <p:nvSpPr>
          <p:cNvPr id="63" name="Shape 51"/>
          <p:cNvSpPr/>
          <p:nvPr/>
        </p:nvSpPr>
        <p:spPr>
          <a:xfrm>
            <a:off x="10369296" y="3273552"/>
            <a:ext cx="1380744" cy="841248"/>
          </a:xfrm>
          <a:prstGeom prst="rect">
            <a:avLst/>
          </a:prstGeom>
          <a:solidFill>
            <a:srgbClr val="F6E0DD"/>
          </a:solidFill>
          <a:ln/>
        </p:spPr>
      </p:sp>
      <p:pic>
        <p:nvPicPr>
          <p:cNvPr id="64" name="Image 9" descr="FaBan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04220" y="3383280"/>
            <a:ext cx="310896" cy="310896"/>
          </a:xfrm>
          <a:prstGeom prst="rect">
            <a:avLst/>
          </a:prstGeom>
        </p:spPr>
      </p:pic>
      <p:sp>
        <p:nvSpPr>
          <p:cNvPr id="65" name="Text 52"/>
          <p:cNvSpPr txBox="1"/>
          <p:nvPr/>
        </p:nvSpPr>
        <p:spPr>
          <a:xfrm>
            <a:off x="10369296" y="3749040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used</a:t>
            </a:r>
            <a:endParaRPr lang="en-US" sz="950" dirty="0"/>
          </a:p>
        </p:txBody>
      </p:sp>
      <p:sp>
        <p:nvSpPr>
          <p:cNvPr id="66" name="Shape 53"/>
          <p:cNvSpPr/>
          <p:nvPr/>
        </p:nvSpPr>
        <p:spPr>
          <a:xfrm>
            <a:off x="4251960" y="4169664"/>
            <a:ext cx="1737360" cy="84124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67" name="Text 54"/>
          <p:cNvSpPr txBox="1"/>
          <p:nvPr/>
        </p:nvSpPr>
        <p:spPr>
          <a:xfrm>
            <a:off x="4343400" y="4169664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and over</a:t>
            </a:r>
            <a:endParaRPr lang="en-US" sz="14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consent</a:t>
            </a:r>
            <a:endParaRPr lang="en-US" sz="1400" dirty="0"/>
          </a:p>
        </p:txBody>
      </p:sp>
      <p:sp>
        <p:nvSpPr>
          <p:cNvPr id="68" name="Shape 55"/>
          <p:cNvSpPr/>
          <p:nvPr/>
        </p:nvSpPr>
        <p:spPr>
          <a:xfrm>
            <a:off x="6062472" y="4169664"/>
            <a:ext cx="1380744" cy="841248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69" name="Image 10" descr="FaCircleCheck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7396" y="4279392"/>
            <a:ext cx="310896" cy="310896"/>
          </a:xfrm>
          <a:prstGeom prst="rect">
            <a:avLst/>
          </a:prstGeom>
        </p:spPr>
      </p:pic>
      <p:sp>
        <p:nvSpPr>
          <p:cNvPr id="70" name="Text 56"/>
          <p:cNvSpPr txBox="1"/>
          <p:nvPr/>
        </p:nvSpPr>
        <p:spPr>
          <a:xfrm>
            <a:off x="6062472" y="4645152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allowed</a:t>
            </a:r>
            <a:endParaRPr lang="en-US" sz="950" dirty="0"/>
          </a:p>
        </p:txBody>
      </p:sp>
      <p:sp>
        <p:nvSpPr>
          <p:cNvPr id="71" name="Shape 57"/>
          <p:cNvSpPr/>
          <p:nvPr/>
        </p:nvSpPr>
        <p:spPr>
          <a:xfrm>
            <a:off x="7498080" y="4169664"/>
            <a:ext cx="1380744" cy="841248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72" name="Image 11" descr="FaCircleCheck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33004" y="4279392"/>
            <a:ext cx="310896" cy="310896"/>
          </a:xfrm>
          <a:prstGeom prst="rect">
            <a:avLst/>
          </a:prstGeom>
        </p:spPr>
      </p:pic>
      <p:sp>
        <p:nvSpPr>
          <p:cNvPr id="73" name="Text 58"/>
          <p:cNvSpPr txBox="1"/>
          <p:nvPr/>
        </p:nvSpPr>
        <p:spPr>
          <a:xfrm>
            <a:off x="7498080" y="4645152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allowed</a:t>
            </a:r>
            <a:endParaRPr lang="en-US" sz="950" dirty="0"/>
          </a:p>
        </p:txBody>
      </p:sp>
      <p:sp>
        <p:nvSpPr>
          <p:cNvPr id="74" name="Shape 59"/>
          <p:cNvSpPr/>
          <p:nvPr/>
        </p:nvSpPr>
        <p:spPr>
          <a:xfrm>
            <a:off x="8933688" y="4169664"/>
            <a:ext cx="1380744" cy="841248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75" name="Image 12" descr="FaCircleCheck 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68612" y="4279392"/>
            <a:ext cx="310896" cy="310896"/>
          </a:xfrm>
          <a:prstGeom prst="rect">
            <a:avLst/>
          </a:prstGeom>
        </p:spPr>
      </p:pic>
      <p:sp>
        <p:nvSpPr>
          <p:cNvPr id="76" name="Text 60"/>
          <p:cNvSpPr txBox="1"/>
          <p:nvPr/>
        </p:nvSpPr>
        <p:spPr>
          <a:xfrm>
            <a:off x="8933688" y="4645152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allowed</a:t>
            </a:r>
            <a:endParaRPr lang="en-US" sz="950" dirty="0"/>
          </a:p>
        </p:txBody>
      </p:sp>
      <p:sp>
        <p:nvSpPr>
          <p:cNvPr id="77" name="Shape 61"/>
          <p:cNvSpPr/>
          <p:nvPr/>
        </p:nvSpPr>
        <p:spPr>
          <a:xfrm>
            <a:off x="10369296" y="4169664"/>
            <a:ext cx="1380744" cy="841248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78" name="Image 13" descr="FaLockOpen ic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04220" y="4279392"/>
            <a:ext cx="310896" cy="310896"/>
          </a:xfrm>
          <a:prstGeom prst="rect">
            <a:avLst/>
          </a:prstGeom>
        </p:spPr>
      </p:pic>
      <p:sp>
        <p:nvSpPr>
          <p:cNvPr id="79" name="Text 62"/>
          <p:cNvSpPr txBox="1"/>
          <p:nvPr/>
        </p:nvSpPr>
        <p:spPr>
          <a:xfrm>
            <a:off x="10369296" y="4645152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opt-in</a:t>
            </a:r>
            <a:endParaRPr lang="en-US" sz="950" dirty="0"/>
          </a:p>
        </p:txBody>
      </p:sp>
      <p:sp>
        <p:nvSpPr>
          <p:cNvPr id="80" name="Shape 63"/>
          <p:cNvSpPr/>
          <p:nvPr/>
        </p:nvSpPr>
        <p:spPr>
          <a:xfrm>
            <a:off x="4251960" y="5065776"/>
            <a:ext cx="1737360" cy="84124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81" name="Text 64"/>
          <p:cNvSpPr txBox="1"/>
          <p:nvPr/>
        </p:nvSpPr>
        <p:spPr>
          <a:xfrm>
            <a:off x="4343400" y="5065776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18, if counsel agrees</a:t>
            </a:r>
            <a:endParaRPr lang="en-US" sz="14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legal opinion</a:t>
            </a:r>
            <a:endParaRPr lang="en-US" sz="1400" dirty="0"/>
          </a:p>
        </p:txBody>
      </p:sp>
      <p:sp>
        <p:nvSpPr>
          <p:cNvPr id="82" name="Shape 65"/>
          <p:cNvSpPr/>
          <p:nvPr/>
        </p:nvSpPr>
        <p:spPr>
          <a:xfrm>
            <a:off x="6062472" y="5065776"/>
            <a:ext cx="1380744" cy="841248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83" name="Image 14" descr="FaCircleCheck ico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97396" y="5175504"/>
            <a:ext cx="310896" cy="310896"/>
          </a:xfrm>
          <a:prstGeom prst="rect">
            <a:avLst/>
          </a:prstGeom>
        </p:spPr>
      </p:pic>
      <p:sp>
        <p:nvSpPr>
          <p:cNvPr id="84" name="Text 66"/>
          <p:cNvSpPr txBox="1"/>
          <p:nvPr/>
        </p:nvSpPr>
        <p:spPr>
          <a:xfrm>
            <a:off x="6062472" y="5541264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allowed</a:t>
            </a:r>
            <a:endParaRPr lang="en-US" sz="950" dirty="0"/>
          </a:p>
        </p:txBody>
      </p:sp>
      <p:sp>
        <p:nvSpPr>
          <p:cNvPr id="85" name="Shape 67"/>
          <p:cNvSpPr/>
          <p:nvPr/>
        </p:nvSpPr>
        <p:spPr>
          <a:xfrm>
            <a:off x="7498080" y="5065776"/>
            <a:ext cx="1380744" cy="841248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86" name="Image 15" descr="FaCircleCheck icon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33004" y="5175504"/>
            <a:ext cx="310896" cy="310896"/>
          </a:xfrm>
          <a:prstGeom prst="rect">
            <a:avLst/>
          </a:prstGeom>
        </p:spPr>
      </p:pic>
      <p:sp>
        <p:nvSpPr>
          <p:cNvPr id="87" name="Text 68"/>
          <p:cNvSpPr txBox="1"/>
          <p:nvPr/>
        </p:nvSpPr>
        <p:spPr>
          <a:xfrm>
            <a:off x="7498080" y="5541264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allowed</a:t>
            </a:r>
            <a:endParaRPr lang="en-US" sz="950" dirty="0"/>
          </a:p>
        </p:txBody>
      </p:sp>
      <p:sp>
        <p:nvSpPr>
          <p:cNvPr id="88" name="Shape 69"/>
          <p:cNvSpPr/>
          <p:nvPr/>
        </p:nvSpPr>
        <p:spPr>
          <a:xfrm>
            <a:off x="8933688" y="5065776"/>
            <a:ext cx="1380744" cy="841248"/>
          </a:xfrm>
          <a:prstGeom prst="rect">
            <a:avLst/>
          </a:prstGeom>
          <a:solidFill>
            <a:srgbClr val="F1E8D3"/>
          </a:solidFill>
          <a:ln/>
        </p:spPr>
      </p:sp>
      <p:pic>
        <p:nvPicPr>
          <p:cNvPr id="89" name="Image 16" descr="FaLock icon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68612" y="5175504"/>
            <a:ext cx="310896" cy="310896"/>
          </a:xfrm>
          <a:prstGeom prst="rect">
            <a:avLst/>
          </a:prstGeom>
        </p:spPr>
      </p:pic>
      <p:sp>
        <p:nvSpPr>
          <p:cNvPr id="90" name="Text 70"/>
          <p:cNvSpPr txBox="1"/>
          <p:nvPr/>
        </p:nvSpPr>
        <p:spPr>
          <a:xfrm>
            <a:off x="8933688" y="5541264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rules only</a:t>
            </a:r>
            <a:endParaRPr lang="en-US" sz="950" dirty="0"/>
          </a:p>
        </p:txBody>
      </p:sp>
      <p:sp>
        <p:nvSpPr>
          <p:cNvPr id="91" name="Shape 71"/>
          <p:cNvSpPr/>
          <p:nvPr/>
        </p:nvSpPr>
        <p:spPr>
          <a:xfrm>
            <a:off x="10369296" y="5065776"/>
            <a:ext cx="1380744" cy="841248"/>
          </a:xfrm>
          <a:prstGeom prst="rect">
            <a:avLst/>
          </a:prstGeom>
          <a:solidFill>
            <a:srgbClr val="F6E0DD"/>
          </a:solidFill>
          <a:ln/>
        </p:spPr>
      </p:sp>
      <p:pic>
        <p:nvPicPr>
          <p:cNvPr id="92" name="Image 17" descr="FaBan icon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904220" y="5175504"/>
            <a:ext cx="310896" cy="310896"/>
          </a:xfrm>
          <a:prstGeom prst="rect">
            <a:avLst/>
          </a:prstGeom>
        </p:spPr>
      </p:pic>
      <p:sp>
        <p:nvSpPr>
          <p:cNvPr id="93" name="Text 72"/>
          <p:cNvSpPr txBox="1"/>
          <p:nvPr/>
        </p:nvSpPr>
        <p:spPr>
          <a:xfrm>
            <a:off x="10369296" y="5541264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used</a:t>
            </a:r>
            <a:endParaRPr lang="en-US" sz="950" dirty="0"/>
          </a:p>
        </p:txBody>
      </p:sp>
      <p:sp>
        <p:nvSpPr>
          <p:cNvPr id="94" name="Shape 73"/>
          <p:cNvSpPr/>
          <p:nvPr/>
        </p:nvSpPr>
        <p:spPr>
          <a:xfrm>
            <a:off x="4251960" y="5989320"/>
            <a:ext cx="7525512" cy="34747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5" name="Text 74"/>
          <p:cNvSpPr txBox="1"/>
          <p:nvPr/>
        </p:nvSpPr>
        <p:spPr>
          <a:xfrm>
            <a:off x="4343400" y="5989320"/>
            <a:ext cx="7342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s.9(3): no tracking of children, even with consent. Under-18 dropout and fee lists use plain rules.</a:t>
            </a:r>
            <a:endParaRPr lang="en-US" sz="1000" dirty="0"/>
          </a:p>
        </p:txBody>
      </p:sp>
      <p:sp>
        <p:nvSpPr>
          <p:cNvPr id="96" name="Text 75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ml/public_validation (OULAD day 28, student-grouped 5-fold; precision at top 10 %); contracts/routing_policy.yaml; DPDP Act 2023 s.9. On synthetic institutes, early-warning lift is pending.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79876" y="91440"/>
            <a:ext cx="1106424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RANGES AND SAFE PARENT REPORTS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range instead of a single rank, and parent messages where every number is checked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5120640" cy="28895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24" name="Image 0" descr="Student profile with percentile range (illustrativ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207008"/>
            <a:ext cx="5084064" cy="2852928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3017520" y="251460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301752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897880" y="1188720"/>
            <a:ext cx="502920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28" name="Image 1" descr="Parent report in Hindi and English (illustrative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168" y="1207008"/>
            <a:ext cx="4992624" cy="2999232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7223760" y="342900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22376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411480" y="4114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range narrows as tests add up. Never a single rank.</a:t>
            </a:r>
            <a:endParaRPr lang="en-US" sz="1050" dirty="0"/>
          </a:p>
        </p:txBody>
      </p:sp>
      <p:sp>
        <p:nvSpPr>
          <p:cNvPr id="32" name="Text 27"/>
          <p:cNvSpPr txBox="1"/>
          <p:nvPr/>
        </p:nvSpPr>
        <p:spPr>
          <a:xfrm>
            <a:off x="5897880" y="4242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and English; every number checked before sending.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11064240" y="1188720"/>
            <a:ext cx="713232" cy="30175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11064240" y="13258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</a:t>
            </a:r>
            <a:endParaRPr lang="en-US" sz="2000" dirty="0"/>
          </a:p>
        </p:txBody>
      </p:sp>
      <p:sp>
        <p:nvSpPr>
          <p:cNvPr id="35" name="Text 30"/>
          <p:cNvSpPr txBox="1"/>
          <p:nvPr/>
        </p:nvSpPr>
        <p:spPr>
          <a:xfrm>
            <a:off x="11082528" y="1783080"/>
            <a:ext cx="676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land inside their range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11082528" y="3017520"/>
            <a:ext cx="676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exam table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411480" y="457200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411480" y="4572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39" name="Text 34"/>
          <p:cNvSpPr txBox="1"/>
          <p:nvPr/>
        </p:nvSpPr>
        <p:spPr>
          <a:xfrm>
            <a:off x="740664" y="4572000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AUTOMATIC SAFETY CHECKS BEFORE ANY MESSAGE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411480" y="4919472"/>
            <a:ext cx="329184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411480" y="4919472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740664" y="4919472"/>
            <a:ext cx="1389888" cy="38404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795528" y="491947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match the data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2194560" y="4919472"/>
            <a:ext cx="329184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2194560" y="4919472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2523744" y="4919472"/>
            <a:ext cx="1389888" cy="38404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2578608" y="491947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are real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>
            <a:off x="3977640" y="4919472"/>
            <a:ext cx="329184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3977640" y="4919472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0" name="Shape 45"/>
          <p:cNvSpPr/>
          <p:nvPr/>
        </p:nvSpPr>
        <p:spPr>
          <a:xfrm>
            <a:off x="4306824" y="4919472"/>
            <a:ext cx="1389888" cy="38404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51" name="Text 46"/>
          <p:cNvSpPr txBox="1"/>
          <p:nvPr/>
        </p:nvSpPr>
        <p:spPr>
          <a:xfrm>
            <a:off x="4361688" y="491947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added last</a:t>
            </a:r>
            <a:endParaRPr lang="en-US" sz="900" dirty="0"/>
          </a:p>
        </p:txBody>
      </p:sp>
      <p:sp>
        <p:nvSpPr>
          <p:cNvPr id="52" name="Shape 47"/>
          <p:cNvSpPr/>
          <p:nvPr/>
        </p:nvSpPr>
        <p:spPr>
          <a:xfrm>
            <a:off x="5760720" y="4919472"/>
            <a:ext cx="329184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3" name="Text 48"/>
          <p:cNvSpPr txBox="1"/>
          <p:nvPr/>
        </p:nvSpPr>
        <p:spPr>
          <a:xfrm>
            <a:off x="5760720" y="4919472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4" name="Shape 49"/>
          <p:cNvSpPr/>
          <p:nvPr/>
        </p:nvSpPr>
        <p:spPr>
          <a:xfrm>
            <a:off x="6089904" y="4919472"/>
            <a:ext cx="1389888" cy="38404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55" name="Text 50"/>
          <p:cNvSpPr txBox="1"/>
          <p:nvPr/>
        </p:nvSpPr>
        <p:spPr>
          <a:xfrm>
            <a:off x="6144768" y="491947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banned words</a:t>
            </a:r>
            <a:endParaRPr lang="en-US" sz="900" dirty="0"/>
          </a:p>
        </p:txBody>
      </p:sp>
      <p:sp>
        <p:nvSpPr>
          <p:cNvPr id="56" name="Shape 51"/>
          <p:cNvSpPr/>
          <p:nvPr/>
        </p:nvSpPr>
        <p:spPr>
          <a:xfrm>
            <a:off x="411480" y="5376672"/>
            <a:ext cx="329184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7" name="Text 52"/>
          <p:cNvSpPr txBox="1"/>
          <p:nvPr/>
        </p:nvSpPr>
        <p:spPr>
          <a:xfrm>
            <a:off x="411480" y="5376672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8" name="Shape 53"/>
          <p:cNvSpPr/>
          <p:nvPr/>
        </p:nvSpPr>
        <p:spPr>
          <a:xfrm>
            <a:off x="740664" y="5376672"/>
            <a:ext cx="1389888" cy="38404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59" name="Text 54"/>
          <p:cNvSpPr txBox="1"/>
          <p:nvPr/>
        </p:nvSpPr>
        <p:spPr>
          <a:xfrm>
            <a:off x="795528" y="537667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length</a:t>
            </a:r>
            <a:endParaRPr lang="en-US" sz="900" dirty="0"/>
          </a:p>
        </p:txBody>
      </p:sp>
      <p:sp>
        <p:nvSpPr>
          <p:cNvPr id="60" name="Shape 55"/>
          <p:cNvSpPr/>
          <p:nvPr/>
        </p:nvSpPr>
        <p:spPr>
          <a:xfrm>
            <a:off x="2194560" y="5376672"/>
            <a:ext cx="329184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1" name="Text 56"/>
          <p:cNvSpPr txBox="1"/>
          <p:nvPr/>
        </p:nvSpPr>
        <p:spPr>
          <a:xfrm>
            <a:off x="2194560" y="5376672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2" name="Shape 57"/>
          <p:cNvSpPr/>
          <p:nvPr/>
        </p:nvSpPr>
        <p:spPr>
          <a:xfrm>
            <a:off x="2523744" y="5376672"/>
            <a:ext cx="1389888" cy="38404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63" name="Text 58"/>
          <p:cNvSpPr txBox="1"/>
          <p:nvPr/>
        </p:nvSpPr>
        <p:spPr>
          <a:xfrm>
            <a:off x="2578608" y="537667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is correct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3977640" y="5376672"/>
            <a:ext cx="329184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5" name="Text 60"/>
          <p:cNvSpPr txBox="1"/>
          <p:nvPr/>
        </p:nvSpPr>
        <p:spPr>
          <a:xfrm>
            <a:off x="3977640" y="5376672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6" name="Shape 61"/>
          <p:cNvSpPr/>
          <p:nvPr/>
        </p:nvSpPr>
        <p:spPr>
          <a:xfrm>
            <a:off x="4306824" y="5376672"/>
            <a:ext cx="1389888" cy="38404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67" name="Text 62"/>
          <p:cNvSpPr txBox="1"/>
          <p:nvPr/>
        </p:nvSpPr>
        <p:spPr>
          <a:xfrm>
            <a:off x="4361688" y="537667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are approved</a:t>
            </a:r>
            <a:endParaRPr lang="en-US" sz="900" dirty="0"/>
          </a:p>
        </p:txBody>
      </p:sp>
      <p:sp>
        <p:nvSpPr>
          <p:cNvPr id="68" name="Shape 63"/>
          <p:cNvSpPr/>
          <p:nvPr/>
        </p:nvSpPr>
        <p:spPr>
          <a:xfrm>
            <a:off x="5760720" y="5376672"/>
            <a:ext cx="329184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9" name="Text 64"/>
          <p:cNvSpPr txBox="1"/>
          <p:nvPr/>
        </p:nvSpPr>
        <p:spPr>
          <a:xfrm>
            <a:off x="5760720" y="5376672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70" name="Shape 65"/>
          <p:cNvSpPr/>
          <p:nvPr/>
        </p:nvSpPr>
        <p:spPr>
          <a:xfrm>
            <a:off x="6089904" y="5376672"/>
            <a:ext cx="1389888" cy="38404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71" name="Text 66"/>
          <p:cNvSpPr txBox="1"/>
          <p:nvPr/>
        </p:nvSpPr>
        <p:spPr>
          <a:xfrm>
            <a:off x="6144768" y="537667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is valid</a:t>
            </a:r>
            <a:endParaRPr lang="en-US" sz="900" dirty="0"/>
          </a:p>
        </p:txBody>
      </p:sp>
      <p:sp>
        <p:nvSpPr>
          <p:cNvPr id="72" name="Shape 67"/>
          <p:cNvSpPr/>
          <p:nvPr/>
        </p:nvSpPr>
        <p:spPr>
          <a:xfrm>
            <a:off x="7772400" y="4919472"/>
            <a:ext cx="1415004" cy="384048"/>
          </a:xfrm>
          <a:prstGeom prst="homePlat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3" name="Text 68"/>
          <p:cNvSpPr txBox="1"/>
          <p:nvPr/>
        </p:nvSpPr>
        <p:spPr>
          <a:xfrm>
            <a:off x="7900416" y="4919472"/>
            <a:ext cx="1122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</a:t>
            </a:r>
            <a:endParaRPr lang="en-US" sz="1050" dirty="0"/>
          </a:p>
        </p:txBody>
      </p:sp>
      <p:sp>
        <p:nvSpPr>
          <p:cNvPr id="74" name="Shape 69"/>
          <p:cNvSpPr/>
          <p:nvPr/>
        </p:nvSpPr>
        <p:spPr>
          <a:xfrm>
            <a:off x="9067434" y="4919472"/>
            <a:ext cx="1415004" cy="384048"/>
          </a:xfrm>
          <a:prstGeom prst="chevron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5" name="Text 70"/>
          <p:cNvSpPr txBox="1"/>
          <p:nvPr/>
        </p:nvSpPr>
        <p:spPr>
          <a:xfrm>
            <a:off x="9250314" y="4919472"/>
            <a:ext cx="10675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checks</a:t>
            </a:r>
            <a:endParaRPr lang="en-US" sz="1050" dirty="0"/>
          </a:p>
        </p:txBody>
      </p:sp>
      <p:sp>
        <p:nvSpPr>
          <p:cNvPr id="76" name="Shape 71"/>
          <p:cNvSpPr/>
          <p:nvPr/>
        </p:nvSpPr>
        <p:spPr>
          <a:xfrm>
            <a:off x="10362468" y="4919472"/>
            <a:ext cx="1415004" cy="384048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7" name="Text 72"/>
          <p:cNvSpPr txBox="1"/>
          <p:nvPr/>
        </p:nvSpPr>
        <p:spPr>
          <a:xfrm>
            <a:off x="10545348" y="4919472"/>
            <a:ext cx="10675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050" dirty="0"/>
          </a:p>
        </p:txBody>
      </p:sp>
      <p:sp>
        <p:nvSpPr>
          <p:cNvPr id="78" name="Shape 73"/>
          <p:cNvSpPr/>
          <p:nvPr/>
        </p:nvSpPr>
        <p:spPr>
          <a:xfrm>
            <a:off x="7772400" y="5394960"/>
            <a:ext cx="4005072" cy="457200"/>
          </a:xfrm>
          <a:prstGeom prst="rect">
            <a:avLst/>
          </a:prstGeom>
          <a:solidFill>
            <a:srgbClr val="F1E8D3"/>
          </a:solidFill>
          <a:ln w="15875">
            <a:solidFill>
              <a:srgbClr val="D4A24C"/>
            </a:solidFill>
            <a:prstDash val="dash"/>
          </a:ln>
        </p:spPr>
      </p:sp>
      <p:pic>
        <p:nvPicPr>
          <p:cNvPr id="79" name="Image 2" descr="FaShieldHalve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5486400"/>
            <a:ext cx="274320" cy="274320"/>
          </a:xfrm>
          <a:prstGeom prst="rect">
            <a:avLst/>
          </a:prstGeom>
        </p:spPr>
      </p:pic>
      <p:sp>
        <p:nvSpPr>
          <p:cNvPr id="80" name="Text 74"/>
          <p:cNvSpPr txBox="1"/>
          <p:nvPr/>
        </p:nvSpPr>
        <p:spPr>
          <a:xfrm>
            <a:off x="8229600" y="53949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check fails: a safe human-written template goes out instead</a:t>
            </a:r>
            <a:endParaRPr lang="en-US" sz="1000" dirty="0"/>
          </a:p>
        </p:txBody>
      </p:sp>
      <p:sp>
        <p:nvSpPr>
          <p:cNvPr id="81" name="Shape 75"/>
          <p:cNvSpPr/>
          <p:nvPr/>
        </p:nvSpPr>
        <p:spPr>
          <a:xfrm>
            <a:off x="411480" y="5943600"/>
            <a:ext cx="11368735" cy="40233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82" name="Text 76"/>
          <p:cNvSpPr txBox="1"/>
          <p:nvPr/>
        </p:nvSpPr>
        <p:spPr>
          <a:xfrm>
            <a:off x="548640" y="594360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on the same rails (designed):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study plans and doubt answers from retrieved notes. Works with no AI model at all.</a:t>
            </a:r>
            <a:endParaRPr lang="en-US" sz="1050" dirty="0"/>
          </a:p>
        </p:txBody>
      </p:sp>
      <p:sp>
        <p:nvSpPr>
          <p:cNvPr id="83" name="Text 77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backend/app/genai (20 templates, 16 tests); contracts/report_numbers.schema.json. Band = quantile model, conformal 80 % target; coverage pending. Mock-ups illustrative.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69180" y="91440"/>
            <a:ext cx="717804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SAFETY AND DPDP COMPLIANCE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law and for children: consent first, supportive actions only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301752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24" name="Image 0" descr="Consent notice with purpose switches (illustrativ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207008"/>
            <a:ext cx="2980944" cy="2980944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301752" y="160020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301752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01752" y="265176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301752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301752" y="356616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301752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411480" y="427939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10: parent's ID checked at the admission desk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switch for each purpose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everything in one tap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3703320" y="118872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E3ECF7"/>
          </a:solidFill>
          <a:ln w="31750">
            <a:solidFill>
              <a:srgbClr val="1F4A82"/>
            </a:solidFill>
            <a:prstDash val="dash"/>
          </a:ln>
        </p:spPr>
      </p:sp>
      <p:sp>
        <p:nvSpPr>
          <p:cNvPr id="33" name="Shape 29"/>
          <p:cNvSpPr/>
          <p:nvPr/>
        </p:nvSpPr>
        <p:spPr>
          <a:xfrm>
            <a:off x="5303520" y="914400"/>
            <a:ext cx="822960" cy="822960"/>
          </a:xfrm>
          <a:prstGeom prst="ellipse">
            <a:avLst/>
          </a:prstGeom>
          <a:solidFill>
            <a:srgbClr val="1F4A82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34" name="Image 1" descr="FaLo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143000"/>
            <a:ext cx="365760" cy="36576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370332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INSTITUTE'S OWN SPACE</a:t>
            </a:r>
            <a:endParaRPr lang="en-US" sz="1200" dirty="0"/>
          </a:p>
        </p:txBody>
      </p:sp>
      <p:sp>
        <p:nvSpPr>
          <p:cNvPr id="36" name="Text 31"/>
          <p:cNvSpPr txBox="1"/>
          <p:nvPr/>
        </p:nvSpPr>
        <p:spPr>
          <a:xfrm>
            <a:off x="3703320" y="20299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laptop or one private server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3886200" y="237744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pic>
        <p:nvPicPr>
          <p:cNvPr id="38" name="Image 2" descr="FaUserGraduat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2468880"/>
            <a:ext cx="310896" cy="310896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3931920" y="2834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5715000" y="237744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pic>
        <p:nvPicPr>
          <p:cNvPr id="41" name="Image 3" descr="FaFileCircle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2468880"/>
            <a:ext cx="310896" cy="310896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5760720" y="2834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and answers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3886200" y="329184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pic>
        <p:nvPicPr>
          <p:cNvPr id="44" name="Image 4" descr="FaSignatur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3383280"/>
            <a:ext cx="310896" cy="310896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3931920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ledger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5715000" y="329184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pic>
        <p:nvPicPr>
          <p:cNvPr id="47" name="Image 5" descr="FaListChec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3383280"/>
            <a:ext cx="310896" cy="310896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5760720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lists: mentors only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3703320" y="4297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student data never leaves</a:t>
            </a:r>
            <a:endParaRPr lang="en-US" sz="1200" dirty="0"/>
          </a:p>
        </p:txBody>
      </p:sp>
      <p:sp>
        <p:nvSpPr>
          <p:cNvPr id="50" name="Shape 41"/>
          <p:cNvSpPr/>
          <p:nvPr/>
        </p:nvSpPr>
        <p:spPr>
          <a:xfrm>
            <a:off x="7726680" y="2103120"/>
            <a:ext cx="502920" cy="0"/>
          </a:xfrm>
          <a:prstGeom prst="line">
            <a:avLst/>
          </a:prstGeom>
          <a:noFill/>
          <a:ln w="31750">
            <a:solidFill>
              <a:srgbClr val="1F4A82"/>
            </a:solidFill>
            <a:prstDash val="solid"/>
            <a:tailEnd type="triangle"/>
          </a:ln>
        </p:spPr>
      </p:sp>
      <p:sp>
        <p:nvSpPr>
          <p:cNvPr id="51" name="Shape 42"/>
          <p:cNvSpPr/>
          <p:nvPr/>
        </p:nvSpPr>
        <p:spPr>
          <a:xfrm>
            <a:off x="7726680" y="3566160"/>
            <a:ext cx="502920" cy="0"/>
          </a:xfrm>
          <a:prstGeom prst="line">
            <a:avLst/>
          </a:prstGeom>
          <a:noFill/>
          <a:ln w="31750">
            <a:solidFill>
              <a:srgbClr val="1F4A82"/>
            </a:solidFill>
            <a:prstDash val="solid"/>
            <a:tailEnd type="triangle"/>
          </a:ln>
        </p:spPr>
      </p:sp>
      <p:sp>
        <p:nvSpPr>
          <p:cNvPr id="52" name="Shape 43"/>
          <p:cNvSpPr/>
          <p:nvPr/>
        </p:nvSpPr>
        <p:spPr>
          <a:xfrm>
            <a:off x="8229600" y="1188720"/>
            <a:ext cx="3547872" cy="1783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8229600" y="1188720"/>
            <a:ext cx="3547872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4" name="Text 45"/>
          <p:cNvSpPr txBox="1"/>
          <p:nvPr/>
        </p:nvSpPr>
        <p:spPr>
          <a:xfrm>
            <a:off x="8302752" y="118872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SHARED QUESTION BANK</a:t>
            </a:r>
            <a:endParaRPr lang="en-US" sz="1050" dirty="0"/>
          </a:p>
        </p:txBody>
      </p:sp>
      <p:sp>
        <p:nvSpPr>
          <p:cNvPr id="55" name="Text 46"/>
          <p:cNvSpPr txBox="1"/>
          <p:nvPr/>
        </p:nvSpPr>
        <p:spPr>
          <a:xfrm>
            <a:off x="8321040" y="1490472"/>
            <a:ext cx="336499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difficulty numbers only. No student, no name, no marks.</a:t>
            </a:r>
            <a:endParaRPr lang="en-US" sz="1400" dirty="0"/>
          </a:p>
        </p:txBody>
      </p:sp>
      <p:sp>
        <p:nvSpPr>
          <p:cNvPr id="56" name="Shape 47"/>
          <p:cNvSpPr/>
          <p:nvPr/>
        </p:nvSpPr>
        <p:spPr>
          <a:xfrm>
            <a:off x="8229600" y="3108960"/>
            <a:ext cx="3547872" cy="1645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8229600" y="3108960"/>
            <a:ext cx="3547872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8" name="Text 49"/>
          <p:cNvSpPr txBox="1"/>
          <p:nvPr/>
        </p:nvSpPr>
        <p:spPr>
          <a:xfrm>
            <a:off x="8302752" y="31089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BY PARENTS AND STUDENTS</a:t>
            </a:r>
            <a:endParaRPr lang="en-US" sz="1050" dirty="0"/>
          </a:p>
        </p:txBody>
      </p:sp>
      <p:sp>
        <p:nvSpPr>
          <p:cNvPr id="59" name="Text 50"/>
          <p:cNvSpPr txBox="1"/>
          <p:nvPr/>
        </p:nvSpPr>
        <p:spPr>
          <a:xfrm>
            <a:off x="8321040" y="3410712"/>
            <a:ext cx="336499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and next steps. Never ranks. Never a risk label.</a:t>
            </a:r>
            <a:endParaRPr lang="en-US" sz="1400" dirty="0"/>
          </a:p>
        </p:txBody>
      </p:sp>
      <p:sp>
        <p:nvSpPr>
          <p:cNvPr id="60" name="Shape 51"/>
          <p:cNvSpPr/>
          <p:nvPr/>
        </p:nvSpPr>
        <p:spPr>
          <a:xfrm>
            <a:off x="411480" y="4892040"/>
            <a:ext cx="1371600" cy="1371600"/>
          </a:xfrm>
          <a:prstGeom prst="ellipse">
            <a:avLst/>
          </a:prstGeom>
          <a:solidFill>
            <a:srgbClr val="1F4A82"/>
          </a:solidFill>
          <a:ln w="76200">
            <a:solidFill>
              <a:srgbClr val="E3ECF7"/>
            </a:solidFill>
            <a:prstDash val="solid"/>
          </a:ln>
        </p:spPr>
      </p:sp>
      <p:pic>
        <p:nvPicPr>
          <p:cNvPr id="61" name="Image 6" descr="FaShieldHalved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5193792"/>
            <a:ext cx="685800" cy="685800"/>
          </a:xfrm>
          <a:prstGeom prst="rect">
            <a:avLst/>
          </a:prstGeom>
        </p:spPr>
      </p:pic>
      <p:sp>
        <p:nvSpPr>
          <p:cNvPr id="62" name="Text 52"/>
          <p:cNvSpPr txBox="1"/>
          <p:nvPr/>
        </p:nvSpPr>
        <p:spPr>
          <a:xfrm>
            <a:off x="2011680" y="4828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GUARDRAILS</a:t>
            </a:r>
            <a:endParaRPr lang="en-US" sz="1150" dirty="0"/>
          </a:p>
        </p:txBody>
      </p:sp>
      <p:sp>
        <p:nvSpPr>
          <p:cNvPr id="63" name="Shape 53"/>
          <p:cNvSpPr/>
          <p:nvPr/>
        </p:nvSpPr>
        <p:spPr>
          <a:xfrm>
            <a:off x="2011680" y="5120640"/>
            <a:ext cx="3182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64" name="Shape 54"/>
          <p:cNvSpPr/>
          <p:nvPr/>
        </p:nvSpPr>
        <p:spPr>
          <a:xfrm>
            <a:off x="2011680" y="5120640"/>
            <a:ext cx="73152" cy="42062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5" name="Text 55"/>
          <p:cNvSpPr txBox="1"/>
          <p:nvPr/>
        </p:nvSpPr>
        <p:spPr>
          <a:xfrm>
            <a:off x="2176272" y="512064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leaderboards or public ranks</a:t>
            </a:r>
            <a:endParaRPr lang="en-US" sz="1050" dirty="0"/>
          </a:p>
        </p:txBody>
      </p:sp>
      <p:sp>
        <p:nvSpPr>
          <p:cNvPr id="66" name="Shape 56"/>
          <p:cNvSpPr/>
          <p:nvPr/>
        </p:nvSpPr>
        <p:spPr>
          <a:xfrm>
            <a:off x="5257800" y="5120640"/>
            <a:ext cx="3182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67" name="Shape 57"/>
          <p:cNvSpPr/>
          <p:nvPr/>
        </p:nvSpPr>
        <p:spPr>
          <a:xfrm>
            <a:off x="5257800" y="5120640"/>
            <a:ext cx="73152" cy="42062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8" name="Text 58"/>
          <p:cNvSpPr txBox="1"/>
          <p:nvPr/>
        </p:nvSpPr>
        <p:spPr>
          <a:xfrm>
            <a:off x="5422392" y="512064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batch moves based on scores</a:t>
            </a:r>
            <a:endParaRPr lang="en-US" sz="1050" dirty="0"/>
          </a:p>
        </p:txBody>
      </p:sp>
      <p:sp>
        <p:nvSpPr>
          <p:cNvPr id="69" name="Shape 59"/>
          <p:cNvSpPr/>
          <p:nvPr/>
        </p:nvSpPr>
        <p:spPr>
          <a:xfrm>
            <a:off x="8503920" y="5120640"/>
            <a:ext cx="3182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70" name="Shape 60"/>
          <p:cNvSpPr/>
          <p:nvPr/>
        </p:nvSpPr>
        <p:spPr>
          <a:xfrm>
            <a:off x="8503920" y="5120640"/>
            <a:ext cx="73152" cy="42062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1" name="Text 61"/>
          <p:cNvSpPr txBox="1"/>
          <p:nvPr/>
        </p:nvSpPr>
        <p:spPr>
          <a:xfrm>
            <a:off x="8668512" y="512064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Banned-words check on every message</a:t>
            </a:r>
            <a:endParaRPr lang="en-US" sz="1050" dirty="0"/>
          </a:p>
        </p:txBody>
      </p:sp>
      <p:sp>
        <p:nvSpPr>
          <p:cNvPr id="72" name="Shape 62"/>
          <p:cNvSpPr/>
          <p:nvPr/>
        </p:nvSpPr>
        <p:spPr>
          <a:xfrm>
            <a:off x="2011680" y="5596128"/>
            <a:ext cx="3182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73" name="Shape 63"/>
          <p:cNvSpPr/>
          <p:nvPr/>
        </p:nvSpPr>
        <p:spPr>
          <a:xfrm>
            <a:off x="2011680" y="5596128"/>
            <a:ext cx="73152" cy="42062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4" name="Text 64"/>
          <p:cNvSpPr txBox="1"/>
          <p:nvPr/>
        </p:nvSpPr>
        <p:spPr>
          <a:xfrm>
            <a:off x="2176272" y="559612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Counsellor contact for each institute</a:t>
            </a:r>
            <a:endParaRPr lang="en-US" sz="1050" dirty="0"/>
          </a:p>
        </p:txBody>
      </p:sp>
      <p:sp>
        <p:nvSpPr>
          <p:cNvPr id="75" name="Shape 65"/>
          <p:cNvSpPr/>
          <p:nvPr/>
        </p:nvSpPr>
        <p:spPr>
          <a:xfrm>
            <a:off x="5257800" y="5596128"/>
            <a:ext cx="3182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76" name="Shape 66"/>
          <p:cNvSpPr/>
          <p:nvPr/>
        </p:nvSpPr>
        <p:spPr>
          <a:xfrm>
            <a:off x="5257800" y="5596128"/>
            <a:ext cx="73152" cy="42062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7" name="Text 67"/>
          <p:cNvSpPr txBox="1"/>
          <p:nvPr/>
        </p:nvSpPr>
        <p:spPr>
          <a:xfrm>
            <a:off x="5422392" y="559612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lists: mentors and owner only</a:t>
            </a:r>
            <a:endParaRPr lang="en-US" sz="1050" dirty="0"/>
          </a:p>
        </p:txBody>
      </p:sp>
      <p:sp>
        <p:nvSpPr>
          <p:cNvPr id="78" name="Shape 68"/>
          <p:cNvSpPr/>
          <p:nvPr/>
        </p:nvSpPr>
        <p:spPr>
          <a:xfrm>
            <a:off x="8503920" y="5596128"/>
            <a:ext cx="3182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79" name="Shape 69"/>
          <p:cNvSpPr/>
          <p:nvPr/>
        </p:nvSpPr>
        <p:spPr>
          <a:xfrm>
            <a:off x="8503920" y="5596128"/>
            <a:ext cx="73152" cy="42062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0" name="Text 70"/>
          <p:cNvSpPr txBox="1"/>
          <p:nvPr/>
        </p:nvSpPr>
        <p:spPr>
          <a:xfrm>
            <a:off x="8668512" y="559612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never see a risk label</a:t>
            </a:r>
            <a:endParaRPr lang="en-US" sz="1050" dirty="0"/>
          </a:p>
        </p:txBody>
      </p:sp>
      <p:sp>
        <p:nvSpPr>
          <p:cNvPr id="81" name="Text 71"/>
          <p:cNvSpPr txBox="1"/>
          <p:nvPr/>
        </p:nvSpPr>
        <p:spPr>
          <a:xfrm>
            <a:off x="2011680" y="610819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s.9(1) and Rule 10: parental consent  ·  s.9(3): no tracking of children  ·  MoE 2024 cl. 10.2(xi): results for counselling, never public</a:t>
            </a:r>
            <a:endParaRPr lang="en-US" sz="900" dirty="0"/>
          </a:p>
        </p:txBody>
      </p:sp>
      <p:sp>
        <p:nvSpPr>
          <p:cNvPr id="82" name="Text 72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DPDP Act 2023 s.9 and Rules 2025 (Rule 10); MoE Guidelines for Coaching Centres 2024; contracts/routing_policy.yaml; tenant isolation tested on PostgreSQL 16. Not legal advice.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9864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AND UNIT ECONOMICS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₹30 a student the product pays back in under six months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3698138" cy="15087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48640" y="12344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4800" dirty="0"/>
          </a:p>
        </p:txBody>
      </p:sp>
      <p:sp>
        <p:nvSpPr>
          <p:cNvPr id="25" name="Text 22"/>
          <p:cNvSpPr txBox="1"/>
          <p:nvPr/>
        </p:nvSpPr>
        <p:spPr>
          <a:xfrm>
            <a:off x="2286000" y="1325880"/>
            <a:ext cx="1732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2148840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4.8x on the undiscounted basis most peers quote. The guide claims 10.7x.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46778" y="1188720"/>
            <a:ext cx="3698138" cy="15087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383938" y="12344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</a:t>
            </a:r>
            <a:endParaRPr lang="en-US" sz="4800" dirty="0"/>
          </a:p>
        </p:txBody>
      </p:sp>
      <p:sp>
        <p:nvSpPr>
          <p:cNvPr id="29" name="Text 26"/>
          <p:cNvSpPr txBox="1"/>
          <p:nvPr/>
        </p:nvSpPr>
        <p:spPr>
          <a:xfrm>
            <a:off x="6121298" y="1325880"/>
            <a:ext cx="1732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to pay back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4383938" y="2148840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onboarding cost recovered. Guide: 3.1 months.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8082077" y="1188720"/>
            <a:ext cx="3698138" cy="15087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19237" y="12344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78 %</a:t>
            </a:r>
            <a:endParaRPr lang="en-US" sz="4800" dirty="0"/>
          </a:p>
        </p:txBody>
      </p:sp>
      <p:sp>
        <p:nvSpPr>
          <p:cNvPr id="33" name="Text 30"/>
          <p:cNvSpPr txBox="1"/>
          <p:nvPr/>
        </p:nvSpPr>
        <p:spPr>
          <a:xfrm>
            <a:off x="9956597" y="1325880"/>
            <a:ext cx="1732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8219237" y="2148840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₹6,740 a month per institute, after serving costs.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11480" y="288036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11480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740664" y="2880360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TEST: BEAR, BASE, BULL</a:t>
            </a:r>
            <a:endParaRPr lang="en-US" sz="1200" dirty="0"/>
          </a:p>
        </p:txBody>
      </p:sp>
      <p:pic>
        <p:nvPicPr>
          <p:cNvPr id="38" name="Image 0" descr="Gauge of institute return: bear, base, bu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00400"/>
            <a:ext cx="4023360" cy="2011680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411480" y="5321808"/>
            <a:ext cx="1298448" cy="25603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411480" y="532180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411480" y="559612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0.37x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0.75x</a:t>
            </a:r>
            <a:endParaRPr lang="en-US" sz="1400" dirty="0"/>
          </a:p>
        </p:txBody>
      </p:sp>
      <p:sp>
        <p:nvSpPr>
          <p:cNvPr id="42" name="Shape 38"/>
          <p:cNvSpPr/>
          <p:nvPr/>
        </p:nvSpPr>
        <p:spPr>
          <a:xfrm>
            <a:off x="1764792" y="5321808"/>
            <a:ext cx="1298448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3" name="Text 39"/>
          <p:cNvSpPr txBox="1"/>
          <p:nvPr/>
        </p:nvSpPr>
        <p:spPr>
          <a:xfrm>
            <a:off x="1764792" y="532180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1764792" y="559612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3.6x</a:t>
            </a:r>
            <a:endParaRPr lang="en-US" sz="1400" dirty="0"/>
          </a:p>
        </p:txBody>
      </p:sp>
      <p:sp>
        <p:nvSpPr>
          <p:cNvPr id="45" name="Shape 41"/>
          <p:cNvSpPr/>
          <p:nvPr/>
        </p:nvSpPr>
        <p:spPr>
          <a:xfrm>
            <a:off x="3118104" y="5321808"/>
            <a:ext cx="1298448" cy="25603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6" name="Text 42"/>
          <p:cNvSpPr txBox="1"/>
          <p:nvPr/>
        </p:nvSpPr>
        <p:spPr>
          <a:xfrm>
            <a:off x="3118104" y="532180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1000" dirty="0"/>
          </a:p>
        </p:txBody>
      </p:sp>
      <p:sp>
        <p:nvSpPr>
          <p:cNvPr id="47" name="Text 43"/>
          <p:cNvSpPr txBox="1"/>
          <p:nvPr/>
        </p:nvSpPr>
        <p:spPr>
          <a:xfrm>
            <a:off x="3118104" y="559612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3.9x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10x</a:t>
            </a:r>
            <a:endParaRPr lang="en-US" sz="1400" dirty="0"/>
          </a:p>
        </p:txBody>
      </p:sp>
      <p:sp>
        <p:nvSpPr>
          <p:cNvPr id="48" name="Text 44"/>
          <p:cNvSpPr txBox="1"/>
          <p:nvPr/>
        </p:nvSpPr>
        <p:spPr>
          <a:xfrm>
            <a:off x="411480" y="61447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Owner's return, all benefits. Every input at its worst: 0.09x.</a:t>
            </a:r>
            <a:endParaRPr lang="en-US" sz="850" dirty="0"/>
          </a:p>
        </p:txBody>
      </p:sp>
      <p:sp>
        <p:nvSpPr>
          <p:cNvPr id="49" name="Shape 45"/>
          <p:cNvSpPr/>
          <p:nvPr/>
        </p:nvSpPr>
        <p:spPr>
          <a:xfrm>
            <a:off x="4754880" y="288036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0" name="Text 46"/>
          <p:cNvSpPr txBox="1"/>
          <p:nvPr/>
        </p:nvSpPr>
        <p:spPr>
          <a:xfrm>
            <a:off x="4754880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51" name="Text 47"/>
          <p:cNvSpPr txBox="1"/>
          <p:nvPr/>
        </p:nvSpPr>
        <p:spPr>
          <a:xfrm>
            <a:off x="5084064" y="288036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₹3.6 A STUDENT GOES</a:t>
            </a:r>
            <a:endParaRPr lang="en-US" sz="1200" dirty="0"/>
          </a:p>
        </p:txBody>
      </p:sp>
      <p:sp>
        <p:nvSpPr>
          <p:cNvPr id="52" name="Shape 48"/>
          <p:cNvSpPr/>
          <p:nvPr/>
        </p:nvSpPr>
        <p:spPr>
          <a:xfrm>
            <a:off x="4754880" y="3246120"/>
            <a:ext cx="731520" cy="6985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3" name="Shape 49"/>
          <p:cNvSpPr/>
          <p:nvPr/>
        </p:nvSpPr>
        <p:spPr>
          <a:xfrm>
            <a:off x="4754880" y="3944620"/>
            <a:ext cx="731520" cy="5588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54" name="Shape 50"/>
          <p:cNvSpPr/>
          <p:nvPr/>
        </p:nvSpPr>
        <p:spPr>
          <a:xfrm>
            <a:off x="4754880" y="4503420"/>
            <a:ext cx="731520" cy="488950"/>
          </a:xfrm>
          <a:prstGeom prst="rect">
            <a:avLst/>
          </a:prstGeom>
          <a:solidFill>
            <a:srgbClr val="5B8DC9"/>
          </a:solidFill>
          <a:ln/>
        </p:spPr>
      </p:sp>
      <p:sp>
        <p:nvSpPr>
          <p:cNvPr id="55" name="Shape 51"/>
          <p:cNvSpPr/>
          <p:nvPr/>
        </p:nvSpPr>
        <p:spPr>
          <a:xfrm>
            <a:off x="4754880" y="4992370"/>
            <a:ext cx="731520" cy="34925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56" name="Shape 52"/>
          <p:cNvSpPr/>
          <p:nvPr/>
        </p:nvSpPr>
        <p:spPr>
          <a:xfrm>
            <a:off x="4754880" y="5341620"/>
            <a:ext cx="731520" cy="349250"/>
          </a:xfrm>
          <a:prstGeom prst="rect">
            <a:avLst/>
          </a:prstGeom>
          <a:solidFill>
            <a:srgbClr val="B9CFE8"/>
          </a:solidFill>
          <a:ln/>
        </p:spPr>
      </p:sp>
      <p:sp>
        <p:nvSpPr>
          <p:cNvPr id="57" name="Shape 53"/>
          <p:cNvSpPr/>
          <p:nvPr/>
        </p:nvSpPr>
        <p:spPr>
          <a:xfrm>
            <a:off x="4754880" y="5690870"/>
            <a:ext cx="731520" cy="69850"/>
          </a:xfrm>
          <a:prstGeom prst="rect">
            <a:avLst/>
          </a:prstGeom>
          <a:solidFill>
            <a:srgbClr val="DDE7F4"/>
          </a:solidFill>
          <a:ln/>
        </p:spPr>
      </p:sp>
      <p:sp>
        <p:nvSpPr>
          <p:cNvPr id="58" name="Shape 54"/>
          <p:cNvSpPr/>
          <p:nvPr/>
        </p:nvSpPr>
        <p:spPr>
          <a:xfrm>
            <a:off x="5669280" y="3337560"/>
            <a:ext cx="182880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9" name="Text 55"/>
          <p:cNvSpPr txBox="1"/>
          <p:nvPr/>
        </p:nvSpPr>
        <p:spPr>
          <a:xfrm>
            <a:off x="594360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 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messages</a:t>
            </a:r>
            <a:endParaRPr lang="en-US" sz="1050" dirty="0"/>
          </a:p>
        </p:txBody>
      </p:sp>
      <p:sp>
        <p:nvSpPr>
          <p:cNvPr id="60" name="Shape 56"/>
          <p:cNvSpPr/>
          <p:nvPr/>
        </p:nvSpPr>
        <p:spPr>
          <a:xfrm>
            <a:off x="5669280" y="3758184"/>
            <a:ext cx="182880" cy="18288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61" name="Text 57"/>
          <p:cNvSpPr txBox="1"/>
          <p:nvPr/>
        </p:nvSpPr>
        <p:spPr>
          <a:xfrm>
            <a:off x="5943600" y="36667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₹0.8 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and storage</a:t>
            </a:r>
            <a:endParaRPr lang="en-US" sz="1050" dirty="0"/>
          </a:p>
        </p:txBody>
      </p:sp>
      <p:sp>
        <p:nvSpPr>
          <p:cNvPr id="62" name="Shape 58"/>
          <p:cNvSpPr/>
          <p:nvPr/>
        </p:nvSpPr>
        <p:spPr>
          <a:xfrm>
            <a:off x="5669280" y="4178808"/>
            <a:ext cx="182880" cy="182880"/>
          </a:xfrm>
          <a:prstGeom prst="rect">
            <a:avLst/>
          </a:prstGeom>
          <a:solidFill>
            <a:srgbClr val="5B8DC9"/>
          </a:solidFill>
          <a:ln/>
        </p:spPr>
      </p:sp>
      <p:sp>
        <p:nvSpPr>
          <p:cNvPr id="63" name="Text 59"/>
          <p:cNvSpPr txBox="1"/>
          <p:nvPr/>
        </p:nvSpPr>
        <p:spPr>
          <a:xfrm>
            <a:off x="5943600" y="4087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₹0.7 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AI-written reports</a:t>
            </a:r>
            <a:endParaRPr lang="en-US" sz="1050" dirty="0"/>
          </a:p>
        </p:txBody>
      </p:sp>
      <p:sp>
        <p:nvSpPr>
          <p:cNvPr id="64" name="Shape 60"/>
          <p:cNvSpPr/>
          <p:nvPr/>
        </p:nvSpPr>
        <p:spPr>
          <a:xfrm>
            <a:off x="5669280" y="4599432"/>
            <a:ext cx="182880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65" name="Text 61"/>
          <p:cNvSpPr txBox="1"/>
          <p:nvPr/>
        </p:nvSpPr>
        <p:spPr>
          <a:xfrm>
            <a:off x="5943600" y="45079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 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and database</a:t>
            </a:r>
            <a:endParaRPr lang="en-US" sz="1050" dirty="0"/>
          </a:p>
        </p:txBody>
      </p:sp>
      <p:sp>
        <p:nvSpPr>
          <p:cNvPr id="66" name="Shape 62"/>
          <p:cNvSpPr/>
          <p:nvPr/>
        </p:nvSpPr>
        <p:spPr>
          <a:xfrm>
            <a:off x="5669280" y="5020056"/>
            <a:ext cx="182880" cy="182880"/>
          </a:xfrm>
          <a:prstGeom prst="rect">
            <a:avLst/>
          </a:prstGeom>
          <a:solidFill>
            <a:srgbClr val="B9CFE8"/>
          </a:solidFill>
          <a:ln/>
        </p:spPr>
      </p:sp>
      <p:sp>
        <p:nvSpPr>
          <p:cNvPr id="67" name="Text 63"/>
          <p:cNvSpPr txBox="1"/>
          <p:nvPr/>
        </p:nvSpPr>
        <p:spPr>
          <a:xfrm>
            <a:off x="5943600" y="49286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 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and compliance</a:t>
            </a:r>
            <a:endParaRPr lang="en-US" sz="1050" dirty="0"/>
          </a:p>
        </p:txBody>
      </p:sp>
      <p:sp>
        <p:nvSpPr>
          <p:cNvPr id="68" name="Shape 64"/>
          <p:cNvSpPr/>
          <p:nvPr/>
        </p:nvSpPr>
        <p:spPr>
          <a:xfrm>
            <a:off x="5669280" y="5440680"/>
            <a:ext cx="182880" cy="182880"/>
          </a:xfrm>
          <a:prstGeom prst="rect">
            <a:avLst/>
          </a:prstGeom>
          <a:solidFill>
            <a:srgbClr val="DDE7F4"/>
          </a:solidFill>
          <a:ln/>
        </p:spPr>
      </p:sp>
      <p:sp>
        <p:nvSpPr>
          <p:cNvPr id="69" name="Text 65"/>
          <p:cNvSpPr txBox="1"/>
          <p:nvPr/>
        </p:nvSpPr>
        <p:spPr>
          <a:xfrm>
            <a:off x="5943600" y="5349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 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checks</a:t>
            </a:r>
            <a:endParaRPr lang="en-US" sz="1050" dirty="0"/>
          </a:p>
        </p:txBody>
      </p:sp>
      <p:sp>
        <p:nvSpPr>
          <p:cNvPr id="70" name="Text 66"/>
          <p:cNvSpPr txBox="1"/>
          <p:nvPr/>
        </p:nvSpPr>
        <p:spPr>
          <a:xfrm>
            <a:off x="4754880" y="5943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month, per student, all-in. Run locally: ₹0 extra</a:t>
            </a:r>
            <a:endParaRPr lang="en-US" sz="900" dirty="0"/>
          </a:p>
        </p:txBody>
      </p:sp>
      <p:sp>
        <p:nvSpPr>
          <p:cNvPr id="71" name="Shape 67"/>
          <p:cNvSpPr/>
          <p:nvPr/>
        </p:nvSpPr>
        <p:spPr>
          <a:xfrm>
            <a:off x="8366760" y="288036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2" name="Text 68"/>
          <p:cNvSpPr txBox="1"/>
          <p:nvPr/>
        </p:nvSpPr>
        <p:spPr>
          <a:xfrm>
            <a:off x="8366760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73" name="Text 69"/>
          <p:cNvSpPr txBox="1"/>
          <p:nvPr/>
        </p:nvSpPr>
        <p:spPr>
          <a:xfrm>
            <a:off x="8695944" y="2880360"/>
            <a:ext cx="30842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OWNER GETS</a:t>
            </a:r>
            <a:endParaRPr lang="en-US" sz="1200" dirty="0"/>
          </a:p>
        </p:txBody>
      </p:sp>
      <p:sp>
        <p:nvSpPr>
          <p:cNvPr id="74" name="Text 70"/>
          <p:cNvSpPr txBox="1"/>
          <p:nvPr/>
        </p:nvSpPr>
        <p:spPr>
          <a:xfrm>
            <a:off x="8366760" y="324612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benefits</a:t>
            </a:r>
            <a:endParaRPr lang="en-US" sz="1000" dirty="0"/>
          </a:p>
        </p:txBody>
      </p:sp>
      <p:sp>
        <p:nvSpPr>
          <p:cNvPr id="75" name="Shape 71"/>
          <p:cNvSpPr/>
          <p:nvPr/>
        </p:nvSpPr>
        <p:spPr>
          <a:xfrm>
            <a:off x="9601200" y="3300984"/>
            <a:ext cx="1191509" cy="31089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6" name="Text 72"/>
          <p:cNvSpPr txBox="1"/>
          <p:nvPr/>
        </p:nvSpPr>
        <p:spPr>
          <a:xfrm>
            <a:off x="11094415" y="324612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1300" dirty="0"/>
          </a:p>
        </p:txBody>
      </p:sp>
      <p:sp>
        <p:nvSpPr>
          <p:cNvPr id="77" name="Text 73"/>
          <p:cNvSpPr txBox="1"/>
          <p:nvPr/>
        </p:nvSpPr>
        <p:spPr>
          <a:xfrm>
            <a:off x="8366760" y="377647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+ staff time</a:t>
            </a:r>
            <a:endParaRPr lang="en-US" sz="1000" dirty="0"/>
          </a:p>
        </p:txBody>
      </p:sp>
      <p:sp>
        <p:nvSpPr>
          <p:cNvPr id="78" name="Shape 74"/>
          <p:cNvSpPr/>
          <p:nvPr/>
        </p:nvSpPr>
        <p:spPr>
          <a:xfrm>
            <a:off x="9601200" y="3831336"/>
            <a:ext cx="385488" cy="310896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79" name="Text 75"/>
          <p:cNvSpPr txBox="1"/>
          <p:nvPr/>
        </p:nvSpPr>
        <p:spPr>
          <a:xfrm>
            <a:off x="11094415" y="3776472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0.55x</a:t>
            </a:r>
            <a:endParaRPr lang="en-US" sz="1300" dirty="0"/>
          </a:p>
        </p:txBody>
      </p:sp>
      <p:sp>
        <p:nvSpPr>
          <p:cNvPr id="80" name="Text 76"/>
          <p:cNvSpPr txBox="1"/>
          <p:nvPr/>
        </p:nvSpPr>
        <p:spPr>
          <a:xfrm>
            <a:off x="8366760" y="430682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only</a:t>
            </a:r>
            <a:endParaRPr lang="en-US" sz="1000" dirty="0"/>
          </a:p>
        </p:txBody>
      </p:sp>
      <p:sp>
        <p:nvSpPr>
          <p:cNvPr id="81" name="Shape 77"/>
          <p:cNvSpPr/>
          <p:nvPr/>
        </p:nvSpPr>
        <p:spPr>
          <a:xfrm>
            <a:off x="9601200" y="4361688"/>
            <a:ext cx="245311" cy="310896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82" name="Text 78"/>
          <p:cNvSpPr txBox="1"/>
          <p:nvPr/>
        </p:nvSpPr>
        <p:spPr>
          <a:xfrm>
            <a:off x="11094415" y="4306824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0.35x</a:t>
            </a:r>
            <a:endParaRPr lang="en-US" sz="1300" dirty="0"/>
          </a:p>
        </p:txBody>
      </p:sp>
      <p:sp>
        <p:nvSpPr>
          <p:cNvPr id="83" name="Shape 79"/>
          <p:cNvSpPr/>
          <p:nvPr/>
        </p:nvSpPr>
        <p:spPr>
          <a:xfrm>
            <a:off x="10302088" y="3200400"/>
            <a:ext cx="0" cy="164592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84" name="Text 80"/>
          <p:cNvSpPr txBox="1"/>
          <p:nvPr/>
        </p:nvSpPr>
        <p:spPr>
          <a:xfrm>
            <a:off x="9570568" y="48006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= pays for itself</a:t>
            </a:r>
            <a:endParaRPr lang="en-US" sz="850" dirty="0"/>
          </a:p>
        </p:txBody>
      </p:sp>
      <p:sp>
        <p:nvSpPr>
          <p:cNvPr id="85" name="Shape 81"/>
          <p:cNvSpPr/>
          <p:nvPr/>
        </p:nvSpPr>
        <p:spPr>
          <a:xfrm>
            <a:off x="8366760" y="5120640"/>
            <a:ext cx="3413455" cy="1188720"/>
          </a:xfrm>
          <a:prstGeom prst="rect">
            <a:avLst/>
          </a:prstGeom>
          <a:solidFill>
            <a:srgbClr val="F4F7FB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86" name="Text 82"/>
          <p:cNvSpPr txBox="1"/>
          <p:nvPr/>
        </p:nvSpPr>
        <p:spPr>
          <a:xfrm>
            <a:off x="8476488" y="5175504"/>
            <a:ext cx="319399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5.5 students a year, or</a:t>
            </a:r>
            <a:endParaRPr lang="en-US" sz="100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1.5 extra admissions: it breaks even</a:t>
            </a:r>
            <a:endParaRPr lang="en-US" sz="100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 per active student per month</a:t>
            </a:r>
            <a:endParaRPr lang="en-US" sz="100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per session</a:t>
            </a:r>
            <a:endParaRPr lang="en-US" sz="1000" dirty="0"/>
          </a:p>
        </p:txBody>
      </p:sp>
      <p:sp>
        <p:nvSpPr>
          <p:cNvPr id="87" name="Text 83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financial model v1.1 (Mid institute, 400 students, Base; Bear/Bull flex 13 drivers; Stress sets all inputs to worst). Model output from sourced and assumed inputs; willingness to pay is untested.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9864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AND ROADMAP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Patna with a free trial on last year's Excel, then grow city by city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2468880" y="1188720"/>
            <a:ext cx="3102864" cy="201168"/>
          </a:xfrm>
          <a:prstGeom prst="rect">
            <a:avLst/>
          </a:prstGeom>
          <a:solidFill>
            <a:srgbClr val="17325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2468880" y="1188720"/>
            <a:ext cx="3102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571744" y="1188720"/>
            <a:ext cx="6205728" cy="20116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571744" y="1188720"/>
            <a:ext cx="620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FY28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468880" y="1389888"/>
            <a:ext cx="1533144" cy="237744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2468880" y="1389888"/>
            <a:ext cx="1551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 26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020312" y="1389888"/>
            <a:ext cx="1533144" cy="237744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020312" y="1389888"/>
            <a:ext cx="1551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 27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571744" y="1389888"/>
            <a:ext cx="1533144" cy="237744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5571744" y="1389888"/>
            <a:ext cx="1551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Apr–Jun 27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123176" y="1389888"/>
            <a:ext cx="1533144" cy="237744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7123176" y="1389888"/>
            <a:ext cx="1551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Jul–Sep 27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674608" y="1389888"/>
            <a:ext cx="1533144" cy="237744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8674608" y="1389888"/>
            <a:ext cx="1551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 27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10226040" y="1389888"/>
            <a:ext cx="1533144" cy="237744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10226040" y="1389888"/>
            <a:ext cx="1551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 28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11480" y="1682496"/>
            <a:ext cx="11368735" cy="31089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457200" y="17007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1188720" y="170078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public data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2468880" y="1728216"/>
            <a:ext cx="1514856" cy="21945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457200" y="20208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800" dirty="0"/>
          </a:p>
        </p:txBody>
      </p:sp>
      <p:sp>
        <p:nvSpPr>
          <p:cNvPr id="44" name="Text 41"/>
          <p:cNvSpPr txBox="1"/>
          <p:nvPr/>
        </p:nvSpPr>
        <p:spPr>
          <a:xfrm>
            <a:off x="1188720" y="20208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and phone app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2934310" y="2048256"/>
            <a:ext cx="2600858" cy="219456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46" name="Shape 43"/>
          <p:cNvSpPr/>
          <p:nvPr/>
        </p:nvSpPr>
        <p:spPr>
          <a:xfrm>
            <a:off x="411480" y="2322576"/>
            <a:ext cx="11368735" cy="31089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457200" y="23408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</a:t>
            </a:r>
            <a:endParaRPr lang="en-US" sz="800" dirty="0"/>
          </a:p>
        </p:txBody>
      </p:sp>
      <p:sp>
        <p:nvSpPr>
          <p:cNvPr id="48" name="Text 45"/>
          <p:cNvSpPr txBox="1"/>
          <p:nvPr/>
        </p:nvSpPr>
        <p:spPr>
          <a:xfrm>
            <a:off x="1188720" y="234086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retro-pilots (2)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4020312" y="2368296"/>
            <a:ext cx="1514856" cy="21945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457200" y="26609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</a:t>
            </a:r>
            <a:endParaRPr lang="en-US" sz="800" dirty="0"/>
          </a:p>
        </p:txBody>
      </p:sp>
      <p:sp>
        <p:nvSpPr>
          <p:cNvPr id="51" name="Text 48"/>
          <p:cNvSpPr txBox="1"/>
          <p:nvPr/>
        </p:nvSpPr>
        <p:spPr>
          <a:xfrm>
            <a:off x="1188720" y="266090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pilots + controls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5571744" y="2688336"/>
            <a:ext cx="1514856" cy="219456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53" name="Shape 50"/>
          <p:cNvSpPr/>
          <p:nvPr/>
        </p:nvSpPr>
        <p:spPr>
          <a:xfrm>
            <a:off x="411480" y="2962656"/>
            <a:ext cx="11368735" cy="31089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457200" y="29809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1188720" y="298094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before admissions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4485742" y="3008376"/>
            <a:ext cx="1980286" cy="219456"/>
          </a:xfrm>
          <a:prstGeom prst="rect">
            <a:avLst/>
          </a:prstGeom>
          <a:solidFill>
            <a:srgbClr val="5B8DC9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457200" y="33009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1188720" y="330098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paying institutes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6347460" y="3328416"/>
            <a:ext cx="2290572" cy="21945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0" name="Shape 57"/>
          <p:cNvSpPr/>
          <p:nvPr/>
        </p:nvSpPr>
        <p:spPr>
          <a:xfrm>
            <a:off x="411480" y="3602736"/>
            <a:ext cx="11368735" cy="31089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457200" y="36210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800" dirty="0"/>
          </a:p>
        </p:txBody>
      </p:sp>
      <p:sp>
        <p:nvSpPr>
          <p:cNvPr id="62" name="Text 59"/>
          <p:cNvSpPr txBox="1"/>
          <p:nvPr/>
        </p:nvSpPr>
        <p:spPr>
          <a:xfrm>
            <a:off x="1188720" y="3621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Bihar, UP, Jharkhand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7898892" y="3648456"/>
            <a:ext cx="3842004" cy="219456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457200" y="39410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800" dirty="0"/>
          </a:p>
        </p:txBody>
      </p:sp>
      <p:sp>
        <p:nvSpPr>
          <p:cNvPr id="65" name="Text 62"/>
          <p:cNvSpPr txBox="1"/>
          <p:nvPr/>
        </p:nvSpPr>
        <p:spPr>
          <a:xfrm>
            <a:off x="1188720" y="394106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₹45 L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4796028" y="3968496"/>
            <a:ext cx="1204570" cy="219456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67" name="Shape 64"/>
          <p:cNvSpPr/>
          <p:nvPr/>
        </p:nvSpPr>
        <p:spPr>
          <a:xfrm>
            <a:off x="4011168" y="1645920"/>
            <a:ext cx="0" cy="2578608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5562600" y="1645920"/>
            <a:ext cx="0" cy="2578608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7114032" y="1645920"/>
            <a:ext cx="0" cy="2578608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8665464" y="1645920"/>
            <a:ext cx="0" cy="2578608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10216896" y="1645920"/>
            <a:ext cx="0" cy="2578608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411480" y="43708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411480" y="4370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74" name="Text 71"/>
          <p:cNvSpPr txBox="1"/>
          <p:nvPr/>
        </p:nvSpPr>
        <p:spPr>
          <a:xfrm>
            <a:off x="740664" y="4370832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ACQUISITION ENGINE</a:t>
            </a:r>
            <a:endParaRPr lang="en-US" sz="1200" dirty="0"/>
          </a:p>
        </p:txBody>
      </p:sp>
      <p:sp>
        <p:nvSpPr>
          <p:cNvPr id="75" name="Shape 72"/>
          <p:cNvSpPr/>
          <p:nvPr/>
        </p:nvSpPr>
        <p:spPr>
          <a:xfrm flipH="1" flipV="1">
            <a:off x="1783080" y="4919472"/>
            <a:ext cx="1325880" cy="521208"/>
          </a:xfrm>
          <a:prstGeom prst="line">
            <a:avLst/>
          </a:prstGeom>
          <a:noFill/>
          <a:ln w="25400">
            <a:solidFill>
              <a:srgbClr val="C9D6E8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 flipV="1">
            <a:off x="3108960" y="4919472"/>
            <a:ext cx="1325880" cy="521208"/>
          </a:xfrm>
          <a:prstGeom prst="line">
            <a:avLst/>
          </a:prstGeom>
          <a:noFill/>
          <a:ln w="25400">
            <a:solidFill>
              <a:srgbClr val="C9D6E8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 flipH="1">
            <a:off x="1783080" y="5440680"/>
            <a:ext cx="1325880" cy="521208"/>
          </a:xfrm>
          <a:prstGeom prst="line">
            <a:avLst/>
          </a:prstGeom>
          <a:noFill/>
          <a:ln w="25400">
            <a:solidFill>
              <a:srgbClr val="C9D6E8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108960" y="5440680"/>
            <a:ext cx="1325880" cy="521208"/>
          </a:xfrm>
          <a:prstGeom prst="line">
            <a:avLst/>
          </a:prstGeom>
          <a:noFill/>
          <a:ln w="25400">
            <a:solidFill>
              <a:srgbClr val="C9D6E8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2651760" y="4983480"/>
            <a:ext cx="914400" cy="914400"/>
          </a:xfrm>
          <a:prstGeom prst="ellipse">
            <a:avLst/>
          </a:prstGeom>
          <a:solidFill>
            <a:srgbClr val="1F4A8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2651760" y="4983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</a:t>
            </a:r>
            <a:endParaRPr lang="en-US" sz="1100" dirty="0"/>
          </a:p>
        </p:txBody>
      </p:sp>
      <p:sp>
        <p:nvSpPr>
          <p:cNvPr id="81" name="Shape 78"/>
          <p:cNvSpPr/>
          <p:nvPr/>
        </p:nvSpPr>
        <p:spPr>
          <a:xfrm>
            <a:off x="1527048" y="4663440"/>
            <a:ext cx="512064" cy="512064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82" name="Image 0" descr="FaGi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064" y="4791456"/>
            <a:ext cx="256032" cy="256032"/>
          </a:xfrm>
          <a:prstGeom prst="rect">
            <a:avLst/>
          </a:prstGeom>
        </p:spPr>
      </p:pic>
      <p:sp>
        <p:nvSpPr>
          <p:cNvPr id="83" name="Text 79"/>
          <p:cNvSpPr txBox="1"/>
          <p:nvPr/>
        </p:nvSpPr>
        <p:spPr>
          <a:xfrm>
            <a:off x="365760" y="469087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retro-pilot</a:t>
            </a:r>
            <a:endParaRPr lang="en-US" sz="14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Excel file, no install</a:t>
            </a:r>
            <a:endParaRPr lang="en-US" sz="1400" dirty="0"/>
          </a:p>
        </p:txBody>
      </p:sp>
      <p:sp>
        <p:nvSpPr>
          <p:cNvPr id="84" name="Shape 80"/>
          <p:cNvSpPr/>
          <p:nvPr/>
        </p:nvSpPr>
        <p:spPr>
          <a:xfrm>
            <a:off x="4178808" y="4663440"/>
            <a:ext cx="512064" cy="512064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85" name="Image 1" descr="FaPersonChalkboar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824" y="4791456"/>
            <a:ext cx="256032" cy="256032"/>
          </a:xfrm>
          <a:prstGeom prst="rect">
            <a:avLst/>
          </a:prstGeom>
        </p:spPr>
      </p:pic>
      <p:sp>
        <p:nvSpPr>
          <p:cNvPr id="86" name="Text 81"/>
          <p:cNvSpPr txBox="1"/>
          <p:nvPr/>
        </p:nvSpPr>
        <p:spPr>
          <a:xfrm>
            <a:off x="4754880" y="469087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demos</a:t>
            </a:r>
            <a:endParaRPr lang="en-US" sz="14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to Mar, before admissions</a:t>
            </a:r>
            <a:endParaRPr lang="en-US" sz="1400" dirty="0"/>
          </a:p>
        </p:txBody>
      </p:sp>
      <p:sp>
        <p:nvSpPr>
          <p:cNvPr id="87" name="Shape 82"/>
          <p:cNvSpPr/>
          <p:nvPr/>
        </p:nvSpPr>
        <p:spPr>
          <a:xfrm>
            <a:off x="1527048" y="5705856"/>
            <a:ext cx="512064" cy="512064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88" name="Image 2" descr="FaPrin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064" y="5833872"/>
            <a:ext cx="256032" cy="256032"/>
          </a:xfrm>
          <a:prstGeom prst="rect">
            <a:avLst/>
          </a:prstGeom>
        </p:spPr>
      </p:pic>
      <p:sp>
        <p:nvSpPr>
          <p:cNvPr id="89" name="Text 83"/>
          <p:cNvSpPr txBox="1"/>
          <p:nvPr/>
        </p:nvSpPr>
        <p:spPr>
          <a:xfrm>
            <a:off x="365760" y="573328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partners</a:t>
            </a:r>
            <a:endParaRPr lang="en-US" sz="14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and test-series vendors</a:t>
            </a:r>
            <a:endParaRPr lang="en-US" sz="1400" dirty="0"/>
          </a:p>
        </p:txBody>
      </p:sp>
      <p:sp>
        <p:nvSpPr>
          <p:cNvPr id="90" name="Shape 84"/>
          <p:cNvSpPr/>
          <p:nvPr/>
        </p:nvSpPr>
        <p:spPr>
          <a:xfrm>
            <a:off x="4178808" y="5705856"/>
            <a:ext cx="512064" cy="512064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91" name="Image 3" descr="FaHandshak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824" y="5833872"/>
            <a:ext cx="256032" cy="256032"/>
          </a:xfrm>
          <a:prstGeom prst="rect">
            <a:avLst/>
          </a:prstGeom>
        </p:spPr>
      </p:pic>
      <p:sp>
        <p:nvSpPr>
          <p:cNvPr id="92" name="Text 85"/>
          <p:cNvSpPr txBox="1"/>
          <p:nvPr/>
        </p:nvSpPr>
        <p:spPr>
          <a:xfrm>
            <a:off x="4754880" y="573328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Nextute network</a:t>
            </a:r>
            <a:endParaRPr lang="en-US" sz="14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channel, to agree</a:t>
            </a:r>
            <a:endParaRPr lang="en-US" sz="1400" dirty="0"/>
          </a:p>
        </p:txBody>
      </p:sp>
      <p:sp>
        <p:nvSpPr>
          <p:cNvPr id="93" name="Shape 86"/>
          <p:cNvSpPr/>
          <p:nvPr/>
        </p:nvSpPr>
        <p:spPr>
          <a:xfrm>
            <a:off x="6172200" y="43708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4" name="Text 87"/>
          <p:cNvSpPr txBox="1"/>
          <p:nvPr/>
        </p:nvSpPr>
        <p:spPr>
          <a:xfrm>
            <a:off x="6172200" y="4370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95" name="Text 88"/>
          <p:cNvSpPr txBox="1"/>
          <p:nvPr/>
        </p:nvSpPr>
        <p:spPr>
          <a:xfrm>
            <a:off x="6501384" y="437083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(VENDOR LISTINGS)</a:t>
            </a:r>
            <a:endParaRPr lang="en-US" sz="1200" dirty="0"/>
          </a:p>
        </p:txBody>
      </p:sp>
      <p:sp>
        <p:nvSpPr>
          <p:cNvPr id="96" name="Shape 89"/>
          <p:cNvSpPr/>
          <p:nvPr/>
        </p:nvSpPr>
        <p:spPr>
          <a:xfrm>
            <a:off x="6172200" y="4681728"/>
            <a:ext cx="114300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7" name="Text 90"/>
          <p:cNvSpPr txBox="1"/>
          <p:nvPr/>
        </p:nvSpPr>
        <p:spPr>
          <a:xfrm>
            <a:off x="6217920" y="46817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98" name="Shape 91"/>
          <p:cNvSpPr/>
          <p:nvPr/>
        </p:nvSpPr>
        <p:spPr>
          <a:xfrm>
            <a:off x="7315200" y="4681728"/>
            <a:ext cx="109728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9" name="Text 92"/>
          <p:cNvSpPr txBox="1"/>
          <p:nvPr/>
        </p:nvSpPr>
        <p:spPr>
          <a:xfrm>
            <a:off x="7360920" y="46817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/ student / mo</a:t>
            </a:r>
            <a:endParaRPr lang="en-US" sz="850" dirty="0"/>
          </a:p>
        </p:txBody>
      </p:sp>
      <p:sp>
        <p:nvSpPr>
          <p:cNvPr id="100" name="Shape 93"/>
          <p:cNvSpPr/>
          <p:nvPr/>
        </p:nvSpPr>
        <p:spPr>
          <a:xfrm>
            <a:off x="8412480" y="4681728"/>
            <a:ext cx="64008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1" name="Text 94"/>
          <p:cNvSpPr txBox="1"/>
          <p:nvPr/>
        </p:nvSpPr>
        <p:spPr>
          <a:xfrm>
            <a:off x="8458200" y="4681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</a:t>
            </a:r>
            <a:endParaRPr lang="en-US" sz="850" dirty="0"/>
          </a:p>
        </p:txBody>
      </p:sp>
      <p:sp>
        <p:nvSpPr>
          <p:cNvPr id="102" name="Shape 95"/>
          <p:cNvSpPr/>
          <p:nvPr/>
        </p:nvSpPr>
        <p:spPr>
          <a:xfrm>
            <a:off x="9052560" y="4681728"/>
            <a:ext cx="86868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3" name="Text 96"/>
          <p:cNvSpPr txBox="1"/>
          <p:nvPr/>
        </p:nvSpPr>
        <p:spPr>
          <a:xfrm>
            <a:off x="9098280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map</a:t>
            </a:r>
            <a:endParaRPr lang="en-US" sz="850" dirty="0"/>
          </a:p>
        </p:txBody>
      </p:sp>
      <p:sp>
        <p:nvSpPr>
          <p:cNvPr id="104" name="Shape 97"/>
          <p:cNvSpPr/>
          <p:nvPr/>
        </p:nvSpPr>
        <p:spPr>
          <a:xfrm>
            <a:off x="9921240" y="4681728"/>
            <a:ext cx="91440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5" name="Text 98"/>
          <p:cNvSpPr txBox="1"/>
          <p:nvPr/>
        </p:nvSpPr>
        <p:spPr>
          <a:xfrm>
            <a:off x="9966960" y="46817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report</a:t>
            </a:r>
            <a:endParaRPr lang="en-US" sz="850" dirty="0"/>
          </a:p>
        </p:txBody>
      </p:sp>
      <p:sp>
        <p:nvSpPr>
          <p:cNvPr id="106" name="Shape 99"/>
          <p:cNvSpPr/>
          <p:nvPr/>
        </p:nvSpPr>
        <p:spPr>
          <a:xfrm>
            <a:off x="10835640" y="4681728"/>
            <a:ext cx="68580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7" name="Text 100"/>
          <p:cNvSpPr txBox="1"/>
          <p:nvPr/>
        </p:nvSpPr>
        <p:spPr>
          <a:xfrm>
            <a:off x="10881360" y="46817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</a:t>
            </a:r>
            <a:endParaRPr lang="en-US" sz="850" dirty="0"/>
          </a:p>
        </p:txBody>
      </p:sp>
      <p:sp>
        <p:nvSpPr>
          <p:cNvPr id="108" name="Shape 101"/>
          <p:cNvSpPr/>
          <p:nvPr/>
        </p:nvSpPr>
        <p:spPr>
          <a:xfrm>
            <a:off x="6172200" y="4956048"/>
            <a:ext cx="11430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9" name="Text 102"/>
          <p:cNvSpPr txBox="1"/>
          <p:nvPr/>
        </p:nvSpPr>
        <p:spPr>
          <a:xfrm>
            <a:off x="6217920" y="4956048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Classplus</a:t>
            </a:r>
            <a:endParaRPr lang="en-US" sz="900" dirty="0"/>
          </a:p>
        </p:txBody>
      </p:sp>
      <p:sp>
        <p:nvSpPr>
          <p:cNvPr id="110" name="Shape 103"/>
          <p:cNvSpPr/>
          <p:nvPr/>
        </p:nvSpPr>
        <p:spPr>
          <a:xfrm>
            <a:off x="7315200" y="4956048"/>
            <a:ext cx="10972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Text 104"/>
          <p:cNvSpPr txBox="1"/>
          <p:nvPr/>
        </p:nvSpPr>
        <p:spPr>
          <a:xfrm>
            <a:off x="7360920" y="495604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4–7</a:t>
            </a:r>
            <a:endParaRPr lang="en-US" sz="900" dirty="0"/>
          </a:p>
        </p:txBody>
      </p:sp>
      <p:sp>
        <p:nvSpPr>
          <p:cNvPr id="112" name="Shape 105"/>
          <p:cNvSpPr/>
          <p:nvPr/>
        </p:nvSpPr>
        <p:spPr>
          <a:xfrm>
            <a:off x="8412480" y="4956048"/>
            <a:ext cx="640080" cy="24688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3" name="Text 106"/>
          <p:cNvSpPr txBox="1"/>
          <p:nvPr/>
        </p:nvSpPr>
        <p:spPr>
          <a:xfrm>
            <a:off x="8458200" y="4956048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" dirty="0"/>
          </a:p>
        </p:txBody>
      </p:sp>
      <p:sp>
        <p:nvSpPr>
          <p:cNvPr id="114" name="Shape 107"/>
          <p:cNvSpPr/>
          <p:nvPr/>
        </p:nvSpPr>
        <p:spPr>
          <a:xfrm>
            <a:off x="9052560" y="4956048"/>
            <a:ext cx="868680" cy="24688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5" name="Text 108"/>
          <p:cNvSpPr txBox="1"/>
          <p:nvPr/>
        </p:nvSpPr>
        <p:spPr>
          <a:xfrm>
            <a:off x="9098280" y="495604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" dirty="0"/>
          </a:p>
        </p:txBody>
      </p:sp>
      <p:sp>
        <p:nvSpPr>
          <p:cNvPr id="116" name="Shape 109"/>
          <p:cNvSpPr/>
          <p:nvPr/>
        </p:nvSpPr>
        <p:spPr>
          <a:xfrm>
            <a:off x="9921240" y="4956048"/>
            <a:ext cx="914400" cy="24688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7" name="Text 110"/>
          <p:cNvSpPr txBox="1"/>
          <p:nvPr/>
        </p:nvSpPr>
        <p:spPr>
          <a:xfrm>
            <a:off x="9966960" y="4956048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" dirty="0"/>
          </a:p>
        </p:txBody>
      </p:sp>
      <p:sp>
        <p:nvSpPr>
          <p:cNvPr id="118" name="Shape 111"/>
          <p:cNvSpPr/>
          <p:nvPr/>
        </p:nvSpPr>
        <p:spPr>
          <a:xfrm>
            <a:off x="10835640" y="4956048"/>
            <a:ext cx="685800" cy="24688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9" name="Text 112"/>
          <p:cNvSpPr txBox="1"/>
          <p:nvPr/>
        </p:nvSpPr>
        <p:spPr>
          <a:xfrm>
            <a:off x="10881360" y="4956048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" dirty="0"/>
          </a:p>
        </p:txBody>
      </p:sp>
      <p:sp>
        <p:nvSpPr>
          <p:cNvPr id="120" name="Shape 113"/>
          <p:cNvSpPr/>
          <p:nvPr/>
        </p:nvSpPr>
        <p:spPr>
          <a:xfrm>
            <a:off x="6172200" y="5202936"/>
            <a:ext cx="534924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1" name="Shape 114"/>
          <p:cNvSpPr/>
          <p:nvPr/>
        </p:nvSpPr>
        <p:spPr>
          <a:xfrm>
            <a:off x="6172200" y="5202936"/>
            <a:ext cx="11430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2" name="Text 115"/>
          <p:cNvSpPr txBox="1"/>
          <p:nvPr/>
        </p:nvSpPr>
        <p:spPr>
          <a:xfrm>
            <a:off x="6217920" y="5202936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Fedena</a:t>
            </a:r>
            <a:endParaRPr lang="en-US" sz="900" dirty="0"/>
          </a:p>
        </p:txBody>
      </p:sp>
      <p:sp>
        <p:nvSpPr>
          <p:cNvPr id="123" name="Shape 116"/>
          <p:cNvSpPr/>
          <p:nvPr/>
        </p:nvSpPr>
        <p:spPr>
          <a:xfrm>
            <a:off x="7315200" y="5202936"/>
            <a:ext cx="10972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4" name="Text 117"/>
          <p:cNvSpPr txBox="1"/>
          <p:nvPr/>
        </p:nvSpPr>
        <p:spPr>
          <a:xfrm>
            <a:off x="7360920" y="520293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10–21</a:t>
            </a:r>
            <a:endParaRPr lang="en-US" sz="900" dirty="0"/>
          </a:p>
        </p:txBody>
      </p:sp>
      <p:sp>
        <p:nvSpPr>
          <p:cNvPr id="125" name="Shape 118"/>
          <p:cNvSpPr/>
          <p:nvPr/>
        </p:nvSpPr>
        <p:spPr>
          <a:xfrm>
            <a:off x="8412480" y="5202936"/>
            <a:ext cx="640080" cy="24688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26" name="Text 119"/>
          <p:cNvSpPr txBox="1"/>
          <p:nvPr/>
        </p:nvSpPr>
        <p:spPr>
          <a:xfrm>
            <a:off x="8458200" y="5202936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127" name="Shape 120"/>
          <p:cNvSpPr/>
          <p:nvPr/>
        </p:nvSpPr>
        <p:spPr>
          <a:xfrm>
            <a:off x="9052560" y="5202936"/>
            <a:ext cx="868680" cy="24688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28" name="Text 121"/>
          <p:cNvSpPr txBox="1"/>
          <p:nvPr/>
        </p:nvSpPr>
        <p:spPr>
          <a:xfrm>
            <a:off x="9098280" y="520293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" dirty="0"/>
          </a:p>
        </p:txBody>
      </p:sp>
      <p:sp>
        <p:nvSpPr>
          <p:cNvPr id="129" name="Shape 122"/>
          <p:cNvSpPr/>
          <p:nvPr/>
        </p:nvSpPr>
        <p:spPr>
          <a:xfrm>
            <a:off x="9921240" y="5202936"/>
            <a:ext cx="914400" cy="24688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30" name="Text 123"/>
          <p:cNvSpPr txBox="1"/>
          <p:nvPr/>
        </p:nvSpPr>
        <p:spPr>
          <a:xfrm>
            <a:off x="9966960" y="520293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31" name="Shape 124"/>
          <p:cNvSpPr/>
          <p:nvPr/>
        </p:nvSpPr>
        <p:spPr>
          <a:xfrm>
            <a:off x="10835640" y="5202936"/>
            <a:ext cx="685800" cy="24688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32" name="Text 125"/>
          <p:cNvSpPr txBox="1"/>
          <p:nvPr/>
        </p:nvSpPr>
        <p:spPr>
          <a:xfrm>
            <a:off x="10881360" y="5202936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" dirty="0"/>
          </a:p>
        </p:txBody>
      </p:sp>
      <p:sp>
        <p:nvSpPr>
          <p:cNvPr id="133" name="Shape 126"/>
          <p:cNvSpPr/>
          <p:nvPr/>
        </p:nvSpPr>
        <p:spPr>
          <a:xfrm>
            <a:off x="6172200" y="5449824"/>
            <a:ext cx="534924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4" name="Shape 127"/>
          <p:cNvSpPr/>
          <p:nvPr/>
        </p:nvSpPr>
        <p:spPr>
          <a:xfrm>
            <a:off x="6172200" y="5449824"/>
            <a:ext cx="11430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5" name="Text 128"/>
          <p:cNvSpPr txBox="1"/>
          <p:nvPr/>
        </p:nvSpPr>
        <p:spPr>
          <a:xfrm>
            <a:off x="6217920" y="5449824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Teachmint</a:t>
            </a:r>
            <a:endParaRPr lang="en-US" sz="900" dirty="0"/>
          </a:p>
        </p:txBody>
      </p:sp>
      <p:sp>
        <p:nvSpPr>
          <p:cNvPr id="136" name="Shape 129"/>
          <p:cNvSpPr/>
          <p:nvPr/>
        </p:nvSpPr>
        <p:spPr>
          <a:xfrm>
            <a:off x="7315200" y="5449824"/>
            <a:ext cx="10972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7" name="Text 130"/>
          <p:cNvSpPr txBox="1"/>
          <p:nvPr/>
        </p:nvSpPr>
        <p:spPr>
          <a:xfrm>
            <a:off x="7360920" y="544982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 (est.)</a:t>
            </a:r>
            <a:endParaRPr lang="en-US" sz="900" dirty="0"/>
          </a:p>
        </p:txBody>
      </p:sp>
      <p:sp>
        <p:nvSpPr>
          <p:cNvPr id="138" name="Shape 131"/>
          <p:cNvSpPr/>
          <p:nvPr/>
        </p:nvSpPr>
        <p:spPr>
          <a:xfrm>
            <a:off x="8412480" y="5449824"/>
            <a:ext cx="640080" cy="24688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39" name="Text 132"/>
          <p:cNvSpPr txBox="1"/>
          <p:nvPr/>
        </p:nvSpPr>
        <p:spPr>
          <a:xfrm>
            <a:off x="8458200" y="5449824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" dirty="0"/>
          </a:p>
        </p:txBody>
      </p:sp>
      <p:sp>
        <p:nvSpPr>
          <p:cNvPr id="140" name="Shape 133"/>
          <p:cNvSpPr/>
          <p:nvPr/>
        </p:nvSpPr>
        <p:spPr>
          <a:xfrm>
            <a:off x="9052560" y="5449824"/>
            <a:ext cx="868680" cy="24688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41" name="Text 134"/>
          <p:cNvSpPr txBox="1"/>
          <p:nvPr/>
        </p:nvSpPr>
        <p:spPr>
          <a:xfrm>
            <a:off x="9098280" y="5449824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" dirty="0"/>
          </a:p>
        </p:txBody>
      </p:sp>
      <p:sp>
        <p:nvSpPr>
          <p:cNvPr id="142" name="Shape 135"/>
          <p:cNvSpPr/>
          <p:nvPr/>
        </p:nvSpPr>
        <p:spPr>
          <a:xfrm>
            <a:off x="9921240" y="5449824"/>
            <a:ext cx="914400" cy="24688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43" name="Text 136"/>
          <p:cNvSpPr txBox="1"/>
          <p:nvPr/>
        </p:nvSpPr>
        <p:spPr>
          <a:xfrm>
            <a:off x="9966960" y="5449824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44" name="Shape 137"/>
          <p:cNvSpPr/>
          <p:nvPr/>
        </p:nvSpPr>
        <p:spPr>
          <a:xfrm>
            <a:off x="10835640" y="5449824"/>
            <a:ext cx="685800" cy="24688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45" name="Text 138"/>
          <p:cNvSpPr txBox="1"/>
          <p:nvPr/>
        </p:nvSpPr>
        <p:spPr>
          <a:xfrm>
            <a:off x="10881360" y="54498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46" name="Shape 139"/>
          <p:cNvSpPr/>
          <p:nvPr/>
        </p:nvSpPr>
        <p:spPr>
          <a:xfrm>
            <a:off x="6172200" y="5696712"/>
            <a:ext cx="534924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7" name="Shape 140"/>
          <p:cNvSpPr/>
          <p:nvPr/>
        </p:nvSpPr>
        <p:spPr>
          <a:xfrm>
            <a:off x="6172200" y="5696712"/>
            <a:ext cx="1143000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48" name="Text 141"/>
          <p:cNvSpPr txBox="1"/>
          <p:nvPr/>
        </p:nvSpPr>
        <p:spPr>
          <a:xfrm>
            <a:off x="6217920" y="5696712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</a:t>
            </a:r>
            <a:endParaRPr lang="en-US" sz="900" dirty="0"/>
          </a:p>
        </p:txBody>
      </p:sp>
      <p:sp>
        <p:nvSpPr>
          <p:cNvPr id="149" name="Shape 142"/>
          <p:cNvSpPr/>
          <p:nvPr/>
        </p:nvSpPr>
        <p:spPr>
          <a:xfrm>
            <a:off x="7315200" y="5696712"/>
            <a:ext cx="1097280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0" name="Text 143"/>
          <p:cNvSpPr txBox="1"/>
          <p:nvPr/>
        </p:nvSpPr>
        <p:spPr>
          <a:xfrm>
            <a:off x="7360920" y="569671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151" name="Shape 144"/>
          <p:cNvSpPr/>
          <p:nvPr/>
        </p:nvSpPr>
        <p:spPr>
          <a:xfrm>
            <a:off x="8412480" y="5696712"/>
            <a:ext cx="640080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2" name="Text 145"/>
          <p:cNvSpPr txBox="1"/>
          <p:nvPr/>
        </p:nvSpPr>
        <p:spPr>
          <a:xfrm>
            <a:off x="8458200" y="5696712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53" name="Shape 146"/>
          <p:cNvSpPr/>
          <p:nvPr/>
        </p:nvSpPr>
        <p:spPr>
          <a:xfrm>
            <a:off x="9052560" y="5696712"/>
            <a:ext cx="868680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4" name="Text 147"/>
          <p:cNvSpPr txBox="1"/>
          <p:nvPr/>
        </p:nvSpPr>
        <p:spPr>
          <a:xfrm>
            <a:off x="9098280" y="5696712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55" name="Shape 148"/>
          <p:cNvSpPr/>
          <p:nvPr/>
        </p:nvSpPr>
        <p:spPr>
          <a:xfrm>
            <a:off x="9921240" y="5696712"/>
            <a:ext cx="914400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6" name="Text 149"/>
          <p:cNvSpPr txBox="1"/>
          <p:nvPr/>
        </p:nvSpPr>
        <p:spPr>
          <a:xfrm>
            <a:off x="9966960" y="569671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57" name="Shape 150"/>
          <p:cNvSpPr/>
          <p:nvPr/>
        </p:nvSpPr>
        <p:spPr>
          <a:xfrm>
            <a:off x="10835640" y="5696712"/>
            <a:ext cx="685800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8" name="Text 151"/>
          <p:cNvSpPr txBox="1"/>
          <p:nvPr/>
        </p:nvSpPr>
        <p:spPr>
          <a:xfrm>
            <a:off x="10881360" y="5696712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59" name="Shape 152"/>
          <p:cNvSpPr/>
          <p:nvPr/>
        </p:nvSpPr>
        <p:spPr>
          <a:xfrm>
            <a:off x="6172200" y="5943600"/>
            <a:ext cx="534924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60" name="Text 153"/>
          <p:cNvSpPr txBox="1"/>
          <p:nvPr/>
        </p:nvSpPr>
        <p:spPr>
          <a:xfrm>
            <a:off x="6172200" y="5961888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shown in listing · no: not shown · ?: not verifiable</a:t>
            </a:r>
            <a:endParaRPr lang="en-US" sz="800" dirty="0"/>
          </a:p>
        </p:txBody>
      </p:sp>
      <p:sp>
        <p:nvSpPr>
          <p:cNvPr id="161" name="Text 154"/>
          <p:cNvSpPr txBox="1"/>
          <p:nvPr/>
        </p:nvSpPr>
        <p:spPr>
          <a:xfrm>
            <a:off x="6172200" y="612648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Moat: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institutes sharpen question difficulty for all. Weak below about 200 institutes, so early wins come from time saved.</a:t>
            </a:r>
            <a:endParaRPr lang="en-US" sz="900" dirty="0"/>
          </a:p>
        </p:txBody>
      </p:sp>
      <p:sp>
        <p:nvSpPr>
          <p:cNvPr id="162" name="Text 155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vendor listings (financial/research R1; ? means not verifiable, not absent); financial model v1.1 (field vs channel economics); roadmap dates are our plan. Year 3, Base: 58 institutes, ₹65 L revenue.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91440"/>
            <a:ext cx="873252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SCORECARD AND THE ASK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proved, what we have not, and the one pilot that settles it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393192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84632" y="1188720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SCORECARD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11480" y="1536192"/>
            <a:ext cx="3931920" cy="49377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26" name="Image 0" descr="FaCircleChe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645920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914400" y="153619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 accuracy on public student data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11480" y="2084832"/>
            <a:ext cx="3931920" cy="49377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29" name="Image 1" descr="FaCircleChe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2194560"/>
            <a:ext cx="274320" cy="27432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914400" y="208483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 calibration error, public data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411480" y="2633472"/>
            <a:ext cx="3931920" cy="49377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32" name="Image 2" descr="FaCircleChe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2743200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914400" y="263347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costs only 0.008 accuracy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411480" y="3182112"/>
            <a:ext cx="3931920" cy="49377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35" name="Image 3" descr="FaCircle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3291840"/>
            <a:ext cx="274320" cy="27432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914400" y="318211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tests pass; tenants stay apart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411480" y="3730752"/>
            <a:ext cx="3931920" cy="493776"/>
          </a:xfrm>
          <a:prstGeom prst="rect">
            <a:avLst/>
          </a:prstGeom>
          <a:solidFill>
            <a:srgbClr val="F1E8D3"/>
          </a:solidFill>
          <a:ln/>
        </p:spPr>
      </p:sp>
      <p:pic>
        <p:nvPicPr>
          <p:cNvPr id="38" name="Image 4" descr="FaHourglassHalf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3840480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914400" y="373075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and wrong-key gates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411480" y="4279392"/>
            <a:ext cx="3931920" cy="493776"/>
          </a:xfrm>
          <a:prstGeom prst="rect">
            <a:avLst/>
          </a:prstGeom>
          <a:solidFill>
            <a:srgbClr val="F6E0DD"/>
          </a:solidFill>
          <a:ln/>
        </p:spPr>
      </p:sp>
      <p:pic>
        <p:nvPicPr>
          <p:cNvPr id="41" name="Image 5" descr="FaCircleXmar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4389120"/>
            <a:ext cx="274320" cy="27432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914400" y="427939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at a real institute</a:t>
            </a:r>
            <a:endParaRPr lang="en-US" sz="1100" dirty="0"/>
          </a:p>
        </p:txBody>
      </p:sp>
      <p:sp>
        <p:nvSpPr>
          <p:cNvPr id="43" name="Shape 34"/>
          <p:cNvSpPr/>
          <p:nvPr/>
        </p:nvSpPr>
        <p:spPr>
          <a:xfrm>
            <a:off x="4572000" y="118872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4" name="Text 35"/>
          <p:cNvSpPr txBox="1"/>
          <p:nvPr/>
        </p:nvSpPr>
        <p:spPr>
          <a:xfrm>
            <a:off x="4572000" y="1188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45" name="Text 36"/>
          <p:cNvSpPr txBox="1"/>
          <p:nvPr/>
        </p:nvSpPr>
        <p:spPr>
          <a:xfrm>
            <a:off x="4901184" y="1188720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MATRIX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4754880" y="3131820"/>
            <a:ext cx="1664208" cy="154990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7" name="Shape 38"/>
          <p:cNvSpPr/>
          <p:nvPr/>
        </p:nvSpPr>
        <p:spPr>
          <a:xfrm>
            <a:off x="6446520" y="3131820"/>
            <a:ext cx="1664208" cy="1549908"/>
          </a:xfrm>
          <a:prstGeom prst="rect">
            <a:avLst/>
          </a:prstGeom>
          <a:solidFill>
            <a:srgbClr val="FBEFD8"/>
          </a:solidFill>
          <a:ln/>
        </p:spPr>
      </p:sp>
      <p:sp>
        <p:nvSpPr>
          <p:cNvPr id="48" name="Shape 39"/>
          <p:cNvSpPr/>
          <p:nvPr/>
        </p:nvSpPr>
        <p:spPr>
          <a:xfrm>
            <a:off x="4754880" y="1554480"/>
            <a:ext cx="1664208" cy="1549908"/>
          </a:xfrm>
          <a:prstGeom prst="rect">
            <a:avLst/>
          </a:prstGeom>
          <a:solidFill>
            <a:srgbClr val="FBEFD8"/>
          </a:solidFill>
          <a:ln/>
        </p:spPr>
      </p:sp>
      <p:sp>
        <p:nvSpPr>
          <p:cNvPr id="49" name="Shape 40"/>
          <p:cNvSpPr/>
          <p:nvPr/>
        </p:nvSpPr>
        <p:spPr>
          <a:xfrm>
            <a:off x="6446520" y="1554480"/>
            <a:ext cx="1664208" cy="1549908"/>
          </a:xfrm>
          <a:prstGeom prst="rect">
            <a:avLst/>
          </a:prstGeom>
          <a:solidFill>
            <a:srgbClr val="F6E0DD"/>
          </a:solidFill>
          <a:ln/>
        </p:spPr>
      </p:sp>
      <p:sp>
        <p:nvSpPr>
          <p:cNvPr id="50" name="Text 41"/>
          <p:cNvSpPr txBox="1"/>
          <p:nvPr/>
        </p:nvSpPr>
        <p:spPr>
          <a:xfrm>
            <a:off x="4754880" y="47274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→</a:t>
            </a:r>
            <a:endParaRPr lang="en-US" sz="850" dirty="0"/>
          </a:p>
        </p:txBody>
      </p:sp>
      <p:sp>
        <p:nvSpPr>
          <p:cNvPr id="51" name="Text 42"/>
          <p:cNvSpPr/>
          <p:nvPr/>
        </p:nvSpPr>
        <p:spPr>
          <a:xfrm rot="16200000">
            <a:off x="4069080" y="29946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</a:rPr>
              <a:t>IMPACT →</a:t>
            </a:r>
            <a:endParaRPr lang="en-US" sz="850" dirty="0"/>
          </a:p>
        </p:txBody>
      </p:sp>
      <p:sp>
        <p:nvSpPr>
          <p:cNvPr id="52" name="Shape 43"/>
          <p:cNvSpPr/>
          <p:nvPr/>
        </p:nvSpPr>
        <p:spPr>
          <a:xfrm>
            <a:off x="6263640" y="1876349"/>
            <a:ext cx="365760" cy="365760"/>
          </a:xfrm>
          <a:prstGeom prst="ellips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Text 44"/>
          <p:cNvSpPr txBox="1"/>
          <p:nvPr/>
        </p:nvSpPr>
        <p:spPr>
          <a:xfrm>
            <a:off x="6263640" y="187634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4" name="Shape 45"/>
          <p:cNvSpPr/>
          <p:nvPr/>
        </p:nvSpPr>
        <p:spPr>
          <a:xfrm>
            <a:off x="6737299" y="2318004"/>
            <a:ext cx="365760" cy="365760"/>
          </a:xfrm>
          <a:prstGeom prst="ellips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5" name="Text 46"/>
          <p:cNvSpPr txBox="1"/>
          <p:nvPr/>
        </p:nvSpPr>
        <p:spPr>
          <a:xfrm>
            <a:off x="6737299" y="23180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6" name="Shape 47"/>
          <p:cNvSpPr/>
          <p:nvPr/>
        </p:nvSpPr>
        <p:spPr>
          <a:xfrm>
            <a:off x="7346290" y="3075127"/>
            <a:ext cx="365760" cy="365760"/>
          </a:xfrm>
          <a:prstGeom prst="ellips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7" name="Text 48"/>
          <p:cNvSpPr txBox="1"/>
          <p:nvPr/>
        </p:nvSpPr>
        <p:spPr>
          <a:xfrm>
            <a:off x="7346290" y="307512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8" name="Shape 49"/>
          <p:cNvSpPr/>
          <p:nvPr/>
        </p:nvSpPr>
        <p:spPr>
          <a:xfrm>
            <a:off x="5383987" y="3579876"/>
            <a:ext cx="365760" cy="365760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9" name="Text 50"/>
          <p:cNvSpPr txBox="1"/>
          <p:nvPr/>
        </p:nvSpPr>
        <p:spPr>
          <a:xfrm>
            <a:off x="5383987" y="35798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0" name="Shape 51"/>
          <p:cNvSpPr/>
          <p:nvPr/>
        </p:nvSpPr>
        <p:spPr>
          <a:xfrm>
            <a:off x="8503920" y="1353312"/>
            <a:ext cx="365760" cy="36576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1" name="Text 52"/>
          <p:cNvSpPr txBox="1"/>
          <p:nvPr/>
        </p:nvSpPr>
        <p:spPr>
          <a:xfrm>
            <a:off x="8503920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2" name="Text 53"/>
          <p:cNvSpPr txBox="1"/>
          <p:nvPr/>
        </p:nvSpPr>
        <p:spPr>
          <a:xfrm>
            <a:off x="8961120" y="12344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accuracy is lower</a:t>
            </a:r>
            <a:endParaRPr lang="en-US" sz="14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Retro-pilot before any sale</a:t>
            </a:r>
            <a:endParaRPr lang="en-US" sz="1400" dirty="0"/>
          </a:p>
        </p:txBody>
      </p:sp>
      <p:sp>
        <p:nvSpPr>
          <p:cNvPr id="63" name="Shape 54"/>
          <p:cNvSpPr/>
          <p:nvPr/>
        </p:nvSpPr>
        <p:spPr>
          <a:xfrm>
            <a:off x="8503920" y="2231136"/>
            <a:ext cx="365760" cy="36576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4" name="Text 55"/>
          <p:cNvSpPr txBox="1"/>
          <p:nvPr/>
        </p:nvSpPr>
        <p:spPr>
          <a:xfrm>
            <a:off x="8503920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5" name="Text 56"/>
          <p:cNvSpPr txBox="1"/>
          <p:nvPr/>
        </p:nvSpPr>
        <p:spPr>
          <a:xfrm>
            <a:off x="8961120" y="2112264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won't pay ₹30</a:t>
            </a:r>
            <a:endParaRPr lang="en-US" sz="14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Price survey; lead with time saved</a:t>
            </a:r>
            <a:endParaRPr lang="en-US" sz="1400" dirty="0"/>
          </a:p>
        </p:txBody>
      </p:sp>
      <p:sp>
        <p:nvSpPr>
          <p:cNvPr id="66" name="Shape 57"/>
          <p:cNvSpPr/>
          <p:nvPr/>
        </p:nvSpPr>
        <p:spPr>
          <a:xfrm>
            <a:off x="8503920" y="3108960"/>
            <a:ext cx="365760" cy="36576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7" name="Text 58"/>
          <p:cNvSpPr txBox="1"/>
          <p:nvPr/>
        </p:nvSpPr>
        <p:spPr>
          <a:xfrm>
            <a:off x="850392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8" name="Text 59"/>
          <p:cNvSpPr txBox="1"/>
          <p:nvPr/>
        </p:nvSpPr>
        <p:spPr>
          <a:xfrm>
            <a:off x="8961120" y="299008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ignore the list</a:t>
            </a:r>
            <a:endParaRPr lang="en-US" sz="14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Cap the list; log every outcome</a:t>
            </a:r>
            <a:endParaRPr lang="en-US" sz="1400" dirty="0"/>
          </a:p>
        </p:txBody>
      </p:sp>
      <p:sp>
        <p:nvSpPr>
          <p:cNvPr id="69" name="Shape 60"/>
          <p:cNvSpPr/>
          <p:nvPr/>
        </p:nvSpPr>
        <p:spPr>
          <a:xfrm>
            <a:off x="8503920" y="3986784"/>
            <a:ext cx="365760" cy="365760"/>
          </a:xfrm>
          <a:prstGeom prst="ellipse">
            <a:avLst/>
          </a:prstGeom>
          <a:solidFill>
            <a:srgbClr val="2E6DB4"/>
          </a:solidFill>
          <a:ln/>
        </p:spPr>
      </p:sp>
      <p:sp>
        <p:nvSpPr>
          <p:cNvPr id="70" name="Text 61"/>
          <p:cNvSpPr txBox="1"/>
          <p:nvPr/>
        </p:nvSpPr>
        <p:spPr>
          <a:xfrm>
            <a:off x="850392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71" name="Text 62"/>
          <p:cNvSpPr txBox="1"/>
          <p:nvPr/>
        </p:nvSpPr>
        <p:spPr>
          <a:xfrm>
            <a:off x="8961120" y="386791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quality falls short</a:t>
            </a:r>
            <a:endParaRPr lang="en-US" sz="14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Native review; template fallback</a:t>
            </a:r>
            <a:endParaRPr lang="en-US" sz="1400" dirty="0"/>
          </a:p>
        </p:txBody>
      </p:sp>
      <p:sp>
        <p:nvSpPr>
          <p:cNvPr id="72" name="Shape 63"/>
          <p:cNvSpPr/>
          <p:nvPr/>
        </p:nvSpPr>
        <p:spPr>
          <a:xfrm>
            <a:off x="411480" y="5166360"/>
            <a:ext cx="11368735" cy="11887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3" name="Text 64"/>
          <p:cNvSpPr txBox="1"/>
          <p:nvPr/>
        </p:nvSpPr>
        <p:spPr>
          <a:xfrm>
            <a:off x="640080" y="5230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1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74" name="Text 65"/>
          <p:cNvSpPr txBox="1"/>
          <p:nvPr/>
        </p:nvSpPr>
        <p:spPr>
          <a:xfrm>
            <a:off x="640080" y="54864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free retro-pilots in Patna this winter.</a:t>
            </a:r>
            <a:endParaRPr lang="en-US" sz="2400" dirty="0"/>
          </a:p>
        </p:txBody>
      </p:sp>
      <p:sp>
        <p:nvSpPr>
          <p:cNvPr id="75" name="Text 66"/>
          <p:cNvSpPr txBox="1"/>
          <p:nvPr/>
        </p:nvSpPr>
        <p:spPr>
          <a:xfrm>
            <a:off x="640080" y="594360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us last year's Excel. If we don't flag more of the students who left than your attendance rule, at the same workload, we stop.</a:t>
            </a:r>
            <a:endParaRPr lang="en-US" sz="1050" dirty="0"/>
          </a:p>
        </p:txBody>
      </p:sp>
      <p:sp>
        <p:nvSpPr>
          <p:cNvPr id="76" name="Shape 67"/>
          <p:cNvSpPr/>
          <p:nvPr/>
        </p:nvSpPr>
        <p:spPr>
          <a:xfrm>
            <a:off x="7360920" y="5349240"/>
            <a:ext cx="1371600" cy="914400"/>
          </a:xfrm>
          <a:prstGeom prst="rect">
            <a:avLst/>
          </a:prstGeom>
          <a:solidFill>
            <a:srgbClr val="1A3F6F"/>
          </a:solidFill>
          <a:ln/>
        </p:spPr>
      </p:sp>
      <p:sp>
        <p:nvSpPr>
          <p:cNvPr id="77" name="Text 68"/>
          <p:cNvSpPr txBox="1"/>
          <p:nvPr/>
        </p:nvSpPr>
        <p:spPr>
          <a:xfrm>
            <a:off x="7360920" y="5394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 L</a:t>
            </a:r>
            <a:endParaRPr lang="en-US" sz="1800" dirty="0"/>
          </a:p>
        </p:txBody>
      </p:sp>
      <p:sp>
        <p:nvSpPr>
          <p:cNvPr id="78" name="Text 69"/>
          <p:cNvSpPr txBox="1"/>
          <p:nvPr/>
        </p:nvSpPr>
        <p:spPr>
          <a:xfrm>
            <a:off x="7360920" y="5897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funding, Base plan</a:t>
            </a:r>
            <a:endParaRPr lang="en-US" sz="900" dirty="0"/>
          </a:p>
        </p:txBody>
      </p:sp>
      <p:sp>
        <p:nvSpPr>
          <p:cNvPr id="79" name="Shape 70"/>
          <p:cNvSpPr/>
          <p:nvPr/>
        </p:nvSpPr>
        <p:spPr>
          <a:xfrm>
            <a:off x="8842248" y="5349240"/>
            <a:ext cx="1371600" cy="914400"/>
          </a:xfrm>
          <a:prstGeom prst="rect">
            <a:avLst/>
          </a:prstGeom>
          <a:solidFill>
            <a:srgbClr val="1A3F6F"/>
          </a:solidFill>
          <a:ln/>
        </p:spPr>
      </p:sp>
      <p:sp>
        <p:nvSpPr>
          <p:cNvPr id="80" name="Text 71"/>
          <p:cNvSpPr txBox="1"/>
          <p:nvPr/>
        </p:nvSpPr>
        <p:spPr>
          <a:xfrm>
            <a:off x="8842248" y="5394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16</a:t>
            </a:r>
            <a:endParaRPr lang="en-US" sz="1800" dirty="0"/>
          </a:p>
        </p:txBody>
      </p:sp>
      <p:sp>
        <p:nvSpPr>
          <p:cNvPr id="81" name="Text 72"/>
          <p:cNvSpPr txBox="1"/>
          <p:nvPr/>
        </p:nvSpPr>
        <p:spPr>
          <a:xfrm>
            <a:off x="8842248" y="5897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900" dirty="0"/>
          </a:p>
        </p:txBody>
      </p:sp>
      <p:sp>
        <p:nvSpPr>
          <p:cNvPr id="82" name="Shape 73"/>
          <p:cNvSpPr/>
          <p:nvPr/>
        </p:nvSpPr>
        <p:spPr>
          <a:xfrm>
            <a:off x="10323576" y="5349240"/>
            <a:ext cx="1371600" cy="914400"/>
          </a:xfrm>
          <a:prstGeom prst="rect">
            <a:avLst/>
          </a:prstGeom>
          <a:solidFill>
            <a:srgbClr val="1A3F6F"/>
          </a:solidFill>
          <a:ln/>
        </p:spPr>
      </p:sp>
      <p:sp>
        <p:nvSpPr>
          <p:cNvPr id="83" name="Text 74"/>
          <p:cNvSpPr txBox="1"/>
          <p:nvPr/>
        </p:nvSpPr>
        <p:spPr>
          <a:xfrm>
            <a:off x="10323576" y="5394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 L</a:t>
            </a:r>
            <a:endParaRPr lang="en-US" sz="1800" dirty="0"/>
          </a:p>
        </p:txBody>
      </p:sp>
      <p:sp>
        <p:nvSpPr>
          <p:cNvPr id="84" name="Text 75"/>
          <p:cNvSpPr txBox="1"/>
          <p:nvPr/>
        </p:nvSpPr>
        <p:spPr>
          <a:xfrm>
            <a:off x="10323576" y="5897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year-3 revenue</a:t>
            </a:r>
            <a:endParaRPr lang="en-US" sz="900" dirty="0"/>
          </a:p>
        </p:txBody>
      </p:sp>
      <p:sp>
        <p:nvSpPr>
          <p:cNvPr id="85" name="Text 76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ml/public_validation; technical/docs/FEASIBILITY_CHECK.md; financial model v1.1 (3-year projection, Base: ₹45 L funding, break-even month 16, year-3 revenue ₹65.3 L, EBITDA ₹11.9 L).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1: SCENARIOS AND SENSITIVITY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and sensitivity: what the model says when inputs move (Mid institute, 400 students)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704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11480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40664" y="1170432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(BEAR AND BULL MOVE 13 DRIVERS; STRESS MOVES ALL)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11480" y="1481328"/>
            <a:ext cx="2331720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7200" y="14813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743200" y="1481328"/>
            <a:ext cx="713232" cy="256032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2788920" y="148132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456432" y="1481328"/>
            <a:ext cx="685800" cy="256032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502152" y="14813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142232" y="1481328"/>
            <a:ext cx="777240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187952" y="14813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919472" y="1481328"/>
            <a:ext cx="685800" cy="256032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4965192" y="14813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605272" y="1481328"/>
            <a:ext cx="731520" cy="256032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5650992" y="1481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11480" y="1737360"/>
            <a:ext cx="23317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457200" y="1737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reduction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2743200" y="1737360"/>
            <a:ext cx="713232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2788920" y="17373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3456432" y="173736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3502152" y="17373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1.0 %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4142232" y="173736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4187952" y="17373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4.0 %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4919472" y="173736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4965192" y="17373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11.3 %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5605272" y="1737360"/>
            <a:ext cx="7315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5650992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0.6 %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411480" y="201168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11480" y="2011680"/>
            <a:ext cx="2331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457200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kept a year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2743200" y="2011680"/>
            <a:ext cx="713232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2788920" y="20116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3456432" y="201168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3502152" y="2011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4142232" y="201168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4187952" y="20116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4919472" y="201168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4965192" y="2011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5605272" y="201168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5650992" y="2011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411480" y="228600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411480" y="2286000"/>
            <a:ext cx="23317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457200" y="2286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all benefits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2743200" y="2286000"/>
            <a:ext cx="713232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2788920" y="22860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2.25x</a:t>
            </a:r>
            <a:endParaRPr lang="en-US" sz="950" dirty="0"/>
          </a:p>
        </p:txBody>
      </p:sp>
      <p:sp>
        <p:nvSpPr>
          <p:cNvPr id="68" name="Shape 65"/>
          <p:cNvSpPr/>
          <p:nvPr/>
        </p:nvSpPr>
        <p:spPr>
          <a:xfrm>
            <a:off x="3456432" y="228600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3502152" y="22860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0.37x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4142232" y="228600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4187952" y="22860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4919472" y="228600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4965192" y="22860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3.9x</a:t>
            </a:r>
            <a:endParaRPr lang="en-US" sz="950" dirty="0"/>
          </a:p>
        </p:txBody>
      </p:sp>
      <p:sp>
        <p:nvSpPr>
          <p:cNvPr id="74" name="Shape 71"/>
          <p:cNvSpPr/>
          <p:nvPr/>
        </p:nvSpPr>
        <p:spPr>
          <a:xfrm>
            <a:off x="5605272" y="2286000"/>
            <a:ext cx="7315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5650992" y="2286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0.09x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411480" y="256032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411480" y="2560320"/>
            <a:ext cx="2331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457200" y="2560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fees + staff time</a:t>
            </a:r>
            <a:endParaRPr lang="en-US" sz="950" dirty="0"/>
          </a:p>
        </p:txBody>
      </p:sp>
      <p:sp>
        <p:nvSpPr>
          <p:cNvPr id="79" name="Shape 76"/>
          <p:cNvSpPr/>
          <p:nvPr/>
        </p:nvSpPr>
        <p:spPr>
          <a:xfrm>
            <a:off x="2743200" y="2560320"/>
            <a:ext cx="713232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2788920" y="256032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2.25x</a:t>
            </a:r>
            <a:endParaRPr lang="en-US" sz="950" dirty="0"/>
          </a:p>
        </p:txBody>
      </p:sp>
      <p:sp>
        <p:nvSpPr>
          <p:cNvPr id="81" name="Shape 78"/>
          <p:cNvSpPr/>
          <p:nvPr/>
        </p:nvSpPr>
        <p:spPr>
          <a:xfrm>
            <a:off x="3456432" y="256032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3502152" y="2560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0.37x</a:t>
            </a:r>
            <a:endParaRPr lang="en-US" sz="950" dirty="0"/>
          </a:p>
        </p:txBody>
      </p:sp>
      <p:sp>
        <p:nvSpPr>
          <p:cNvPr id="83" name="Shape 80"/>
          <p:cNvSpPr/>
          <p:nvPr/>
        </p:nvSpPr>
        <p:spPr>
          <a:xfrm>
            <a:off x="4142232" y="256032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4187952" y="25603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0.55x</a:t>
            </a:r>
            <a:endParaRPr lang="en-US" sz="950" dirty="0"/>
          </a:p>
        </p:txBody>
      </p:sp>
      <p:sp>
        <p:nvSpPr>
          <p:cNvPr id="85" name="Shape 82"/>
          <p:cNvSpPr/>
          <p:nvPr/>
        </p:nvSpPr>
        <p:spPr>
          <a:xfrm>
            <a:off x="4919472" y="256032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4965192" y="2560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1.3x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5605272" y="256032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Text 85"/>
          <p:cNvSpPr txBox="1"/>
          <p:nvPr/>
        </p:nvSpPr>
        <p:spPr>
          <a:xfrm>
            <a:off x="5650992" y="2560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0.09x</a:t>
            </a:r>
            <a:endParaRPr lang="en-US" sz="950" dirty="0"/>
          </a:p>
        </p:txBody>
      </p:sp>
      <p:sp>
        <p:nvSpPr>
          <p:cNvPr id="89" name="Shape 86"/>
          <p:cNvSpPr/>
          <p:nvPr/>
        </p:nvSpPr>
        <p:spPr>
          <a:xfrm>
            <a:off x="411480" y="283464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411480" y="2834640"/>
            <a:ext cx="23317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1" name="Text 88"/>
          <p:cNvSpPr txBox="1"/>
          <p:nvPr/>
        </p:nvSpPr>
        <p:spPr>
          <a:xfrm>
            <a:off x="457200" y="2834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to keep to break even</a:t>
            </a:r>
            <a:endParaRPr lang="en-US" sz="950" dirty="0"/>
          </a:p>
        </p:txBody>
      </p:sp>
      <p:sp>
        <p:nvSpPr>
          <p:cNvPr id="92" name="Shape 89"/>
          <p:cNvSpPr/>
          <p:nvPr/>
        </p:nvSpPr>
        <p:spPr>
          <a:xfrm>
            <a:off x="2743200" y="2834640"/>
            <a:ext cx="713232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3" name="Text 90"/>
          <p:cNvSpPr txBox="1"/>
          <p:nvPr/>
        </p:nvSpPr>
        <p:spPr>
          <a:xfrm>
            <a:off x="2788920" y="283464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n-US" sz="950" dirty="0"/>
          </a:p>
        </p:txBody>
      </p:sp>
      <p:sp>
        <p:nvSpPr>
          <p:cNvPr id="94" name="Shape 91"/>
          <p:cNvSpPr/>
          <p:nvPr/>
        </p:nvSpPr>
        <p:spPr>
          <a:xfrm>
            <a:off x="3456432" y="283464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3502152" y="28346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</a:t>
            </a:r>
            <a:endParaRPr lang="en-US" sz="950" dirty="0"/>
          </a:p>
        </p:txBody>
      </p:sp>
      <p:sp>
        <p:nvSpPr>
          <p:cNvPr id="96" name="Shape 93"/>
          <p:cNvSpPr/>
          <p:nvPr/>
        </p:nvSpPr>
        <p:spPr>
          <a:xfrm>
            <a:off x="4142232" y="283464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4187952" y="28346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950" dirty="0"/>
          </a:p>
        </p:txBody>
      </p:sp>
      <p:sp>
        <p:nvSpPr>
          <p:cNvPr id="98" name="Shape 95"/>
          <p:cNvSpPr/>
          <p:nvPr/>
        </p:nvSpPr>
        <p:spPr>
          <a:xfrm>
            <a:off x="4919472" y="283464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9" name="Text 96"/>
          <p:cNvSpPr txBox="1"/>
          <p:nvPr/>
        </p:nvSpPr>
        <p:spPr>
          <a:xfrm>
            <a:off x="4965192" y="28346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</a:t>
            </a:r>
            <a:endParaRPr lang="en-US" sz="950" dirty="0"/>
          </a:p>
        </p:txBody>
      </p:sp>
      <p:sp>
        <p:nvSpPr>
          <p:cNvPr id="100" name="Shape 97"/>
          <p:cNvSpPr/>
          <p:nvPr/>
        </p:nvSpPr>
        <p:spPr>
          <a:xfrm>
            <a:off x="5605272" y="2834640"/>
            <a:ext cx="7315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1" name="Text 98"/>
          <p:cNvSpPr txBox="1"/>
          <p:nvPr/>
        </p:nvSpPr>
        <p:spPr>
          <a:xfrm>
            <a:off x="5650992" y="2834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</a:t>
            </a:r>
            <a:endParaRPr lang="en-US" sz="950" dirty="0"/>
          </a:p>
        </p:txBody>
      </p:sp>
      <p:sp>
        <p:nvSpPr>
          <p:cNvPr id="102" name="Shape 99"/>
          <p:cNvSpPr/>
          <p:nvPr/>
        </p:nvSpPr>
        <p:spPr>
          <a:xfrm>
            <a:off x="411480" y="310896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11480" y="3108960"/>
            <a:ext cx="2331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457200" y="3108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CAC, sales and marketing</a:t>
            </a:r>
            <a:endParaRPr lang="en-US" sz="950" dirty="0"/>
          </a:p>
        </p:txBody>
      </p:sp>
      <p:sp>
        <p:nvSpPr>
          <p:cNvPr id="105" name="Shape 102"/>
          <p:cNvSpPr/>
          <p:nvPr/>
        </p:nvSpPr>
        <p:spPr>
          <a:xfrm>
            <a:off x="2743200" y="3108960"/>
            <a:ext cx="713232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2788920" y="31089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₹25,000</a:t>
            </a:r>
            <a:endParaRPr lang="en-US" sz="950" dirty="0"/>
          </a:p>
        </p:txBody>
      </p:sp>
      <p:sp>
        <p:nvSpPr>
          <p:cNvPr id="107" name="Shape 104"/>
          <p:cNvSpPr/>
          <p:nvPr/>
        </p:nvSpPr>
        <p:spPr>
          <a:xfrm>
            <a:off x="3456432" y="310896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3502152" y="31089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₹44,889</a:t>
            </a:r>
            <a:endParaRPr lang="en-US" sz="950" dirty="0"/>
          </a:p>
        </p:txBody>
      </p:sp>
      <p:sp>
        <p:nvSpPr>
          <p:cNvPr id="109" name="Shape 106"/>
          <p:cNvSpPr/>
          <p:nvPr/>
        </p:nvSpPr>
        <p:spPr>
          <a:xfrm>
            <a:off x="4142232" y="310896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10" name="Text 107"/>
          <p:cNvSpPr txBox="1"/>
          <p:nvPr/>
        </p:nvSpPr>
        <p:spPr>
          <a:xfrm>
            <a:off x="4187952" y="31089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₹15,567</a:t>
            </a:r>
            <a:endParaRPr lang="en-US" sz="950" dirty="0"/>
          </a:p>
        </p:txBody>
      </p:sp>
      <p:sp>
        <p:nvSpPr>
          <p:cNvPr id="111" name="Shape 108"/>
          <p:cNvSpPr/>
          <p:nvPr/>
        </p:nvSpPr>
        <p:spPr>
          <a:xfrm>
            <a:off x="4919472" y="310896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2" name="Text 109"/>
          <p:cNvSpPr txBox="1"/>
          <p:nvPr/>
        </p:nvSpPr>
        <p:spPr>
          <a:xfrm>
            <a:off x="4965192" y="31089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₹8,386</a:t>
            </a:r>
            <a:endParaRPr lang="en-US" sz="950" dirty="0"/>
          </a:p>
        </p:txBody>
      </p:sp>
      <p:sp>
        <p:nvSpPr>
          <p:cNvPr id="113" name="Shape 110"/>
          <p:cNvSpPr/>
          <p:nvPr/>
        </p:nvSpPr>
        <p:spPr>
          <a:xfrm>
            <a:off x="5605272" y="310896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4" name="Text 111"/>
          <p:cNvSpPr txBox="1"/>
          <p:nvPr/>
        </p:nvSpPr>
        <p:spPr>
          <a:xfrm>
            <a:off x="5650992" y="3108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₹65,111</a:t>
            </a:r>
            <a:endParaRPr lang="en-US" sz="950" dirty="0"/>
          </a:p>
        </p:txBody>
      </p:sp>
      <p:sp>
        <p:nvSpPr>
          <p:cNvPr id="115" name="Shape 112"/>
          <p:cNvSpPr/>
          <p:nvPr/>
        </p:nvSpPr>
        <p:spPr>
          <a:xfrm>
            <a:off x="411480" y="338328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11480" y="3383280"/>
            <a:ext cx="23317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457200" y="3383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CAC, discounted</a:t>
            </a:r>
            <a:endParaRPr lang="en-US" sz="950" dirty="0"/>
          </a:p>
        </p:txBody>
      </p:sp>
      <p:sp>
        <p:nvSpPr>
          <p:cNvPr id="118" name="Shape 115"/>
          <p:cNvSpPr/>
          <p:nvPr/>
        </p:nvSpPr>
        <p:spPr>
          <a:xfrm>
            <a:off x="2743200" y="3383280"/>
            <a:ext cx="713232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9" name="Text 116"/>
          <p:cNvSpPr txBox="1"/>
          <p:nvPr/>
        </p:nvSpPr>
        <p:spPr>
          <a:xfrm>
            <a:off x="2788920" y="33832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10.7x</a:t>
            </a:r>
            <a:endParaRPr lang="en-US" sz="950" dirty="0"/>
          </a:p>
        </p:txBody>
      </p:sp>
      <p:sp>
        <p:nvSpPr>
          <p:cNvPr id="120" name="Shape 117"/>
          <p:cNvSpPr/>
          <p:nvPr/>
        </p:nvSpPr>
        <p:spPr>
          <a:xfrm>
            <a:off x="3456432" y="338328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1" name="Text 118"/>
          <p:cNvSpPr txBox="1"/>
          <p:nvPr/>
        </p:nvSpPr>
        <p:spPr>
          <a:xfrm>
            <a:off x="3502152" y="33832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0.75x</a:t>
            </a:r>
            <a:endParaRPr lang="en-US" sz="950" dirty="0"/>
          </a:p>
        </p:txBody>
      </p:sp>
      <p:sp>
        <p:nvSpPr>
          <p:cNvPr id="122" name="Shape 119"/>
          <p:cNvSpPr/>
          <p:nvPr/>
        </p:nvSpPr>
        <p:spPr>
          <a:xfrm>
            <a:off x="4142232" y="338328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23" name="Text 120"/>
          <p:cNvSpPr txBox="1"/>
          <p:nvPr/>
        </p:nvSpPr>
        <p:spPr>
          <a:xfrm>
            <a:off x="4187952" y="33832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950" dirty="0"/>
          </a:p>
        </p:txBody>
      </p:sp>
      <p:sp>
        <p:nvSpPr>
          <p:cNvPr id="124" name="Shape 121"/>
          <p:cNvSpPr/>
          <p:nvPr/>
        </p:nvSpPr>
        <p:spPr>
          <a:xfrm>
            <a:off x="4919472" y="338328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5" name="Text 122"/>
          <p:cNvSpPr txBox="1"/>
          <p:nvPr/>
        </p:nvSpPr>
        <p:spPr>
          <a:xfrm>
            <a:off x="4965192" y="33832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950" dirty="0"/>
          </a:p>
        </p:txBody>
      </p:sp>
      <p:sp>
        <p:nvSpPr>
          <p:cNvPr id="126" name="Shape 123"/>
          <p:cNvSpPr/>
          <p:nvPr/>
        </p:nvSpPr>
        <p:spPr>
          <a:xfrm>
            <a:off x="5605272" y="3383280"/>
            <a:ext cx="7315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7" name="Text 124"/>
          <p:cNvSpPr txBox="1"/>
          <p:nvPr/>
        </p:nvSpPr>
        <p:spPr>
          <a:xfrm>
            <a:off x="5650992" y="3383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-0.11x</a:t>
            </a:r>
            <a:endParaRPr lang="en-US" sz="950" dirty="0"/>
          </a:p>
        </p:txBody>
      </p:sp>
      <p:sp>
        <p:nvSpPr>
          <p:cNvPr id="128" name="Shape 125"/>
          <p:cNvSpPr/>
          <p:nvPr/>
        </p:nvSpPr>
        <p:spPr>
          <a:xfrm>
            <a:off x="411480" y="365760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11480" y="3657600"/>
            <a:ext cx="2331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0" name="Text 127"/>
          <p:cNvSpPr txBox="1"/>
          <p:nvPr/>
        </p:nvSpPr>
        <p:spPr>
          <a:xfrm>
            <a:off x="457200" y="3657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CAC, undiscounted</a:t>
            </a:r>
            <a:endParaRPr lang="en-US" sz="950" dirty="0"/>
          </a:p>
        </p:txBody>
      </p:sp>
      <p:sp>
        <p:nvSpPr>
          <p:cNvPr id="131" name="Shape 128"/>
          <p:cNvSpPr/>
          <p:nvPr/>
        </p:nvSpPr>
        <p:spPr>
          <a:xfrm>
            <a:off x="2743200" y="3657600"/>
            <a:ext cx="713232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2" name="Text 129"/>
          <p:cNvSpPr txBox="1"/>
          <p:nvPr/>
        </p:nvSpPr>
        <p:spPr>
          <a:xfrm>
            <a:off x="2788920" y="36576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10.7x</a:t>
            </a:r>
            <a:endParaRPr lang="en-US" sz="950" dirty="0"/>
          </a:p>
        </p:txBody>
      </p:sp>
      <p:sp>
        <p:nvSpPr>
          <p:cNvPr id="133" name="Shape 130"/>
          <p:cNvSpPr/>
          <p:nvPr/>
        </p:nvSpPr>
        <p:spPr>
          <a:xfrm>
            <a:off x="3456432" y="365760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4" name="Text 131"/>
          <p:cNvSpPr txBox="1"/>
          <p:nvPr/>
        </p:nvSpPr>
        <p:spPr>
          <a:xfrm>
            <a:off x="3502152" y="36576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0.93x</a:t>
            </a:r>
            <a:endParaRPr lang="en-US" sz="950" dirty="0"/>
          </a:p>
        </p:txBody>
      </p:sp>
      <p:sp>
        <p:nvSpPr>
          <p:cNvPr id="135" name="Shape 132"/>
          <p:cNvSpPr/>
          <p:nvPr/>
        </p:nvSpPr>
        <p:spPr>
          <a:xfrm>
            <a:off x="4142232" y="365760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36" name="Text 133"/>
          <p:cNvSpPr txBox="1"/>
          <p:nvPr/>
        </p:nvSpPr>
        <p:spPr>
          <a:xfrm>
            <a:off x="4187952" y="36576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4.8x</a:t>
            </a:r>
            <a:endParaRPr lang="en-US" sz="950" dirty="0"/>
          </a:p>
        </p:txBody>
      </p:sp>
      <p:sp>
        <p:nvSpPr>
          <p:cNvPr id="137" name="Shape 134"/>
          <p:cNvSpPr/>
          <p:nvPr/>
        </p:nvSpPr>
        <p:spPr>
          <a:xfrm>
            <a:off x="4919472" y="365760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8" name="Text 135"/>
          <p:cNvSpPr txBox="1"/>
          <p:nvPr/>
        </p:nvSpPr>
        <p:spPr>
          <a:xfrm>
            <a:off x="4965192" y="36576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15x</a:t>
            </a:r>
            <a:endParaRPr lang="en-US" sz="950" dirty="0"/>
          </a:p>
        </p:txBody>
      </p:sp>
      <p:sp>
        <p:nvSpPr>
          <p:cNvPr id="139" name="Shape 136"/>
          <p:cNvSpPr/>
          <p:nvPr/>
        </p:nvSpPr>
        <p:spPr>
          <a:xfrm>
            <a:off x="5605272" y="365760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0" name="Text 137"/>
          <p:cNvSpPr txBox="1"/>
          <p:nvPr/>
        </p:nvSpPr>
        <p:spPr>
          <a:xfrm>
            <a:off x="5650992" y="3657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-0.13x</a:t>
            </a:r>
            <a:endParaRPr lang="en-US" sz="950" dirty="0"/>
          </a:p>
        </p:txBody>
      </p:sp>
      <p:sp>
        <p:nvSpPr>
          <p:cNvPr id="141" name="Shape 138"/>
          <p:cNvSpPr/>
          <p:nvPr/>
        </p:nvSpPr>
        <p:spPr>
          <a:xfrm>
            <a:off x="411480" y="393192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411480" y="3931920"/>
            <a:ext cx="23317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3" name="Text 140"/>
          <p:cNvSpPr txBox="1"/>
          <p:nvPr/>
        </p:nvSpPr>
        <p:spPr>
          <a:xfrm>
            <a:off x="457200" y="3931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Payback, simple (months)</a:t>
            </a:r>
            <a:endParaRPr lang="en-US" sz="950" dirty="0"/>
          </a:p>
        </p:txBody>
      </p:sp>
      <p:sp>
        <p:nvSpPr>
          <p:cNvPr id="144" name="Shape 141"/>
          <p:cNvSpPr/>
          <p:nvPr/>
        </p:nvSpPr>
        <p:spPr>
          <a:xfrm>
            <a:off x="2743200" y="3931920"/>
            <a:ext cx="713232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5" name="Text 142"/>
          <p:cNvSpPr txBox="1"/>
          <p:nvPr/>
        </p:nvSpPr>
        <p:spPr>
          <a:xfrm>
            <a:off x="2788920" y="393192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950" dirty="0"/>
          </a:p>
        </p:txBody>
      </p:sp>
      <p:sp>
        <p:nvSpPr>
          <p:cNvPr id="146" name="Shape 143"/>
          <p:cNvSpPr/>
          <p:nvPr/>
        </p:nvSpPr>
        <p:spPr>
          <a:xfrm>
            <a:off x="3456432" y="393192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7" name="Text 144"/>
          <p:cNvSpPr txBox="1"/>
          <p:nvPr/>
        </p:nvSpPr>
        <p:spPr>
          <a:xfrm>
            <a:off x="3502152" y="39319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21.1</a:t>
            </a:r>
            <a:endParaRPr lang="en-US" sz="950" dirty="0"/>
          </a:p>
        </p:txBody>
      </p:sp>
      <p:sp>
        <p:nvSpPr>
          <p:cNvPr id="148" name="Shape 145"/>
          <p:cNvSpPr/>
          <p:nvPr/>
        </p:nvSpPr>
        <p:spPr>
          <a:xfrm>
            <a:off x="4142232" y="393192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49" name="Text 146"/>
          <p:cNvSpPr txBox="1"/>
          <p:nvPr/>
        </p:nvSpPr>
        <p:spPr>
          <a:xfrm>
            <a:off x="4187952" y="39319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</a:t>
            </a:r>
            <a:endParaRPr lang="en-US" sz="950" dirty="0"/>
          </a:p>
        </p:txBody>
      </p:sp>
      <p:sp>
        <p:nvSpPr>
          <p:cNvPr id="150" name="Shape 147"/>
          <p:cNvSpPr/>
          <p:nvPr/>
        </p:nvSpPr>
        <p:spPr>
          <a:xfrm>
            <a:off x="4919472" y="393192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1" name="Text 148"/>
          <p:cNvSpPr txBox="1"/>
          <p:nvPr/>
        </p:nvSpPr>
        <p:spPr>
          <a:xfrm>
            <a:off x="4965192" y="39319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950" dirty="0"/>
          </a:p>
        </p:txBody>
      </p:sp>
      <p:sp>
        <p:nvSpPr>
          <p:cNvPr id="152" name="Shape 149"/>
          <p:cNvSpPr/>
          <p:nvPr/>
        </p:nvSpPr>
        <p:spPr>
          <a:xfrm>
            <a:off x="5605272" y="3931920"/>
            <a:ext cx="7315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3" name="Text 150"/>
          <p:cNvSpPr txBox="1"/>
          <p:nvPr/>
        </p:nvSpPr>
        <p:spPr>
          <a:xfrm>
            <a:off x="5650992" y="3931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950" dirty="0"/>
          </a:p>
        </p:txBody>
      </p:sp>
      <p:sp>
        <p:nvSpPr>
          <p:cNvPr id="154" name="Shape 151"/>
          <p:cNvSpPr/>
          <p:nvPr/>
        </p:nvSpPr>
        <p:spPr>
          <a:xfrm>
            <a:off x="411480" y="420624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411480" y="43708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6" name="Text 153"/>
          <p:cNvSpPr txBox="1"/>
          <p:nvPr/>
        </p:nvSpPr>
        <p:spPr>
          <a:xfrm>
            <a:off x="411480" y="4370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157" name="Text 154"/>
          <p:cNvSpPr txBox="1"/>
          <p:nvPr/>
        </p:nvSpPr>
        <p:spPr>
          <a:xfrm>
            <a:off x="740664" y="4370832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OWNER'S RETURN BY PRICE AND DROPOUT REDUCTION</a:t>
            </a:r>
            <a:endParaRPr lang="en-US" sz="1200" dirty="0"/>
          </a:p>
        </p:txBody>
      </p:sp>
      <p:sp>
        <p:nvSpPr>
          <p:cNvPr id="158" name="Text 155"/>
          <p:cNvSpPr txBox="1"/>
          <p:nvPr/>
        </p:nvSpPr>
        <p:spPr>
          <a:xfrm>
            <a:off x="868680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</a:t>
            </a:r>
            <a:endParaRPr lang="en-US" sz="900" dirty="0"/>
          </a:p>
        </p:txBody>
      </p:sp>
      <p:sp>
        <p:nvSpPr>
          <p:cNvPr id="159" name="Text 156"/>
          <p:cNvSpPr txBox="1"/>
          <p:nvPr/>
        </p:nvSpPr>
        <p:spPr>
          <a:xfrm>
            <a:off x="1581912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</a:t>
            </a:r>
            <a:endParaRPr lang="en-US" sz="900" dirty="0"/>
          </a:p>
        </p:txBody>
      </p:sp>
      <p:sp>
        <p:nvSpPr>
          <p:cNvPr id="160" name="Text 157"/>
          <p:cNvSpPr txBox="1"/>
          <p:nvPr/>
        </p:nvSpPr>
        <p:spPr>
          <a:xfrm>
            <a:off x="2295144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</a:t>
            </a:r>
            <a:endParaRPr lang="en-US" sz="900" dirty="0"/>
          </a:p>
        </p:txBody>
      </p:sp>
      <p:sp>
        <p:nvSpPr>
          <p:cNvPr id="161" name="Text 158"/>
          <p:cNvSpPr txBox="1"/>
          <p:nvPr/>
        </p:nvSpPr>
        <p:spPr>
          <a:xfrm>
            <a:off x="3008376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</a:t>
            </a:r>
            <a:endParaRPr lang="en-US" sz="900" dirty="0"/>
          </a:p>
        </p:txBody>
      </p:sp>
      <p:sp>
        <p:nvSpPr>
          <p:cNvPr id="162" name="Text 159"/>
          <p:cNvSpPr txBox="1"/>
          <p:nvPr/>
        </p:nvSpPr>
        <p:spPr>
          <a:xfrm>
            <a:off x="3721608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</a:t>
            </a:r>
            <a:endParaRPr lang="en-US" sz="900" dirty="0"/>
          </a:p>
        </p:txBody>
      </p:sp>
      <p:sp>
        <p:nvSpPr>
          <p:cNvPr id="163" name="Text 160"/>
          <p:cNvSpPr txBox="1"/>
          <p:nvPr/>
        </p:nvSpPr>
        <p:spPr>
          <a:xfrm>
            <a:off x="4434840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</a:t>
            </a:r>
            <a:endParaRPr lang="en-US" sz="900" dirty="0"/>
          </a:p>
        </p:txBody>
      </p:sp>
      <p:sp>
        <p:nvSpPr>
          <p:cNvPr id="164" name="Text 161"/>
          <p:cNvSpPr txBox="1"/>
          <p:nvPr/>
        </p:nvSpPr>
        <p:spPr>
          <a:xfrm>
            <a:off x="41148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</a:t>
            </a:r>
            <a:endParaRPr lang="en-US" sz="900" dirty="0"/>
          </a:p>
        </p:txBody>
      </p:sp>
      <p:sp>
        <p:nvSpPr>
          <p:cNvPr id="165" name="Shape 162"/>
          <p:cNvSpPr/>
          <p:nvPr/>
        </p:nvSpPr>
        <p:spPr>
          <a:xfrm>
            <a:off x="882396" y="4878324"/>
            <a:ext cx="685800" cy="201168"/>
          </a:xfrm>
          <a:prstGeom prst="rect">
            <a:avLst/>
          </a:prstGeom>
          <a:solidFill>
            <a:srgbClr val="80A7D6"/>
          </a:solidFill>
          <a:ln/>
        </p:spPr>
      </p:sp>
      <p:sp>
        <p:nvSpPr>
          <p:cNvPr id="166" name="Text 163"/>
          <p:cNvSpPr txBox="1"/>
          <p:nvPr/>
        </p:nvSpPr>
        <p:spPr>
          <a:xfrm>
            <a:off x="868680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2.4x</a:t>
            </a:r>
            <a:endParaRPr lang="en-US" sz="900" dirty="0"/>
          </a:p>
        </p:txBody>
      </p:sp>
      <p:sp>
        <p:nvSpPr>
          <p:cNvPr id="167" name="Shape 164"/>
          <p:cNvSpPr/>
          <p:nvPr/>
        </p:nvSpPr>
        <p:spPr>
          <a:xfrm>
            <a:off x="1595628" y="4878324"/>
            <a:ext cx="685800" cy="201168"/>
          </a:xfrm>
          <a:prstGeom prst="rect">
            <a:avLst/>
          </a:prstGeom>
          <a:solidFill>
            <a:srgbClr val="A9C3E3"/>
          </a:solidFill>
          <a:ln/>
        </p:spPr>
      </p:sp>
      <p:sp>
        <p:nvSpPr>
          <p:cNvPr id="168" name="Text 165"/>
          <p:cNvSpPr txBox="1"/>
          <p:nvPr/>
        </p:nvSpPr>
        <p:spPr>
          <a:xfrm>
            <a:off x="1581912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1.8x</a:t>
            </a:r>
            <a:endParaRPr lang="en-US" sz="900" dirty="0"/>
          </a:p>
        </p:txBody>
      </p:sp>
      <p:sp>
        <p:nvSpPr>
          <p:cNvPr id="169" name="Shape 166"/>
          <p:cNvSpPr/>
          <p:nvPr/>
        </p:nvSpPr>
        <p:spPr>
          <a:xfrm>
            <a:off x="2308860" y="4878324"/>
            <a:ext cx="685800" cy="201168"/>
          </a:xfrm>
          <a:prstGeom prst="rect">
            <a:avLst/>
          </a:prstGeom>
          <a:solidFill>
            <a:srgbClr val="C4D6EC"/>
          </a:solidFill>
          <a:ln/>
        </p:spPr>
      </p:sp>
      <p:sp>
        <p:nvSpPr>
          <p:cNvPr id="170" name="Text 167"/>
          <p:cNvSpPr txBox="1"/>
          <p:nvPr/>
        </p:nvSpPr>
        <p:spPr>
          <a:xfrm>
            <a:off x="2295144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900" dirty="0"/>
          </a:p>
        </p:txBody>
      </p:sp>
      <p:sp>
        <p:nvSpPr>
          <p:cNvPr id="171" name="Shape 168"/>
          <p:cNvSpPr/>
          <p:nvPr/>
        </p:nvSpPr>
        <p:spPr>
          <a:xfrm>
            <a:off x="3022092" y="4878324"/>
            <a:ext cx="685800" cy="201168"/>
          </a:xfrm>
          <a:prstGeom prst="rect">
            <a:avLst/>
          </a:prstGeom>
          <a:solidFill>
            <a:srgbClr val="D2E0F1"/>
          </a:solidFill>
          <a:ln/>
        </p:spPr>
      </p:sp>
      <p:sp>
        <p:nvSpPr>
          <p:cNvPr id="172" name="Text 169"/>
          <p:cNvSpPr txBox="1"/>
          <p:nvPr/>
        </p:nvSpPr>
        <p:spPr>
          <a:xfrm>
            <a:off x="3008376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1.2x</a:t>
            </a:r>
            <a:endParaRPr lang="en-US" sz="900" dirty="0"/>
          </a:p>
        </p:txBody>
      </p:sp>
      <p:sp>
        <p:nvSpPr>
          <p:cNvPr id="173" name="Shape 170"/>
          <p:cNvSpPr/>
          <p:nvPr/>
        </p:nvSpPr>
        <p:spPr>
          <a:xfrm>
            <a:off x="3735324" y="4878324"/>
            <a:ext cx="685800" cy="201168"/>
          </a:xfrm>
          <a:prstGeom prst="rect">
            <a:avLst/>
          </a:prstGeom>
          <a:solidFill>
            <a:srgbClr val="DFE9F6"/>
          </a:solidFill>
          <a:ln/>
        </p:spPr>
      </p:sp>
      <p:sp>
        <p:nvSpPr>
          <p:cNvPr id="174" name="Text 171"/>
          <p:cNvSpPr txBox="1"/>
          <p:nvPr/>
        </p:nvSpPr>
        <p:spPr>
          <a:xfrm>
            <a:off x="3721608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1.0x</a:t>
            </a:r>
            <a:endParaRPr lang="en-US" sz="900" dirty="0"/>
          </a:p>
        </p:txBody>
      </p:sp>
      <p:sp>
        <p:nvSpPr>
          <p:cNvPr id="175" name="Shape 172"/>
          <p:cNvSpPr/>
          <p:nvPr/>
        </p:nvSpPr>
        <p:spPr>
          <a:xfrm>
            <a:off x="4448556" y="4878324"/>
            <a:ext cx="685800" cy="201168"/>
          </a:xfrm>
          <a:prstGeom prst="rect">
            <a:avLst/>
          </a:prstGeom>
          <a:solidFill>
            <a:srgbClr val="ECF2FA"/>
          </a:solidFill>
          <a:ln/>
        </p:spPr>
      </p:sp>
      <p:sp>
        <p:nvSpPr>
          <p:cNvPr id="176" name="Text 173"/>
          <p:cNvSpPr txBox="1"/>
          <p:nvPr/>
        </p:nvSpPr>
        <p:spPr>
          <a:xfrm>
            <a:off x="4434840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0.8x</a:t>
            </a:r>
            <a:endParaRPr lang="en-US" sz="900" dirty="0"/>
          </a:p>
        </p:txBody>
      </p:sp>
      <p:sp>
        <p:nvSpPr>
          <p:cNvPr id="177" name="Text 174"/>
          <p:cNvSpPr txBox="1"/>
          <p:nvPr/>
        </p:nvSpPr>
        <p:spPr>
          <a:xfrm>
            <a:off x="411480" y="50932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8 %</a:t>
            </a:r>
            <a:endParaRPr lang="en-US" sz="900" dirty="0"/>
          </a:p>
        </p:txBody>
      </p:sp>
      <p:sp>
        <p:nvSpPr>
          <p:cNvPr id="178" name="Shape 175"/>
          <p:cNvSpPr/>
          <p:nvPr/>
        </p:nvSpPr>
        <p:spPr>
          <a:xfrm>
            <a:off x="882396" y="5106924"/>
            <a:ext cx="685800" cy="201168"/>
          </a:xfrm>
          <a:prstGeom prst="rect">
            <a:avLst/>
          </a:prstGeom>
          <a:solidFill>
            <a:srgbClr val="6C99CF"/>
          </a:solidFill>
          <a:ln/>
        </p:spPr>
      </p:sp>
      <p:sp>
        <p:nvSpPr>
          <p:cNvPr id="179" name="Text 176"/>
          <p:cNvSpPr txBox="1"/>
          <p:nvPr/>
        </p:nvSpPr>
        <p:spPr>
          <a:xfrm>
            <a:off x="868680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2.7x</a:t>
            </a:r>
            <a:endParaRPr lang="en-US" sz="900" dirty="0"/>
          </a:p>
        </p:txBody>
      </p:sp>
      <p:sp>
        <p:nvSpPr>
          <p:cNvPr id="180" name="Shape 177"/>
          <p:cNvSpPr/>
          <p:nvPr/>
        </p:nvSpPr>
        <p:spPr>
          <a:xfrm>
            <a:off x="1595628" y="5106924"/>
            <a:ext cx="685800" cy="201168"/>
          </a:xfrm>
          <a:prstGeom prst="rect">
            <a:avLst/>
          </a:prstGeom>
          <a:solidFill>
            <a:srgbClr val="95B5DC"/>
          </a:solidFill>
          <a:ln/>
        </p:spPr>
      </p:sp>
      <p:sp>
        <p:nvSpPr>
          <p:cNvPr id="181" name="Text 178"/>
          <p:cNvSpPr txBox="1"/>
          <p:nvPr/>
        </p:nvSpPr>
        <p:spPr>
          <a:xfrm>
            <a:off x="1581912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900" dirty="0"/>
          </a:p>
        </p:txBody>
      </p:sp>
      <p:sp>
        <p:nvSpPr>
          <p:cNvPr id="182" name="Shape 179"/>
          <p:cNvSpPr/>
          <p:nvPr/>
        </p:nvSpPr>
        <p:spPr>
          <a:xfrm>
            <a:off x="2308860" y="5106924"/>
            <a:ext cx="685800" cy="201168"/>
          </a:xfrm>
          <a:prstGeom prst="rect">
            <a:avLst/>
          </a:prstGeom>
          <a:solidFill>
            <a:srgbClr val="B0C8E6"/>
          </a:solidFill>
          <a:ln/>
        </p:spPr>
      </p:sp>
      <p:sp>
        <p:nvSpPr>
          <p:cNvPr id="183" name="Text 180"/>
          <p:cNvSpPr txBox="1"/>
          <p:nvPr/>
        </p:nvSpPr>
        <p:spPr>
          <a:xfrm>
            <a:off x="2295144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900" dirty="0"/>
          </a:p>
        </p:txBody>
      </p:sp>
      <p:sp>
        <p:nvSpPr>
          <p:cNvPr id="184" name="Shape 181"/>
          <p:cNvSpPr/>
          <p:nvPr/>
        </p:nvSpPr>
        <p:spPr>
          <a:xfrm>
            <a:off x="3022092" y="5106924"/>
            <a:ext cx="685800" cy="201168"/>
          </a:xfrm>
          <a:prstGeom prst="rect">
            <a:avLst/>
          </a:prstGeom>
          <a:solidFill>
            <a:srgbClr val="C4D6EC"/>
          </a:solidFill>
          <a:ln/>
        </p:spPr>
      </p:sp>
      <p:sp>
        <p:nvSpPr>
          <p:cNvPr id="185" name="Text 182"/>
          <p:cNvSpPr txBox="1"/>
          <p:nvPr/>
        </p:nvSpPr>
        <p:spPr>
          <a:xfrm>
            <a:off x="3008376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900" dirty="0"/>
          </a:p>
        </p:txBody>
      </p:sp>
      <p:sp>
        <p:nvSpPr>
          <p:cNvPr id="186" name="Shape 183"/>
          <p:cNvSpPr/>
          <p:nvPr/>
        </p:nvSpPr>
        <p:spPr>
          <a:xfrm>
            <a:off x="3735324" y="5106924"/>
            <a:ext cx="685800" cy="201168"/>
          </a:xfrm>
          <a:prstGeom prst="rect">
            <a:avLst/>
          </a:prstGeom>
          <a:solidFill>
            <a:srgbClr val="D2E0F1"/>
          </a:solidFill>
          <a:ln/>
        </p:spPr>
      </p:sp>
      <p:sp>
        <p:nvSpPr>
          <p:cNvPr id="187" name="Text 184"/>
          <p:cNvSpPr txBox="1"/>
          <p:nvPr/>
        </p:nvSpPr>
        <p:spPr>
          <a:xfrm>
            <a:off x="3721608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1.2x</a:t>
            </a:r>
            <a:endParaRPr lang="en-US" sz="900" dirty="0"/>
          </a:p>
        </p:txBody>
      </p:sp>
      <p:sp>
        <p:nvSpPr>
          <p:cNvPr id="188" name="Shape 185"/>
          <p:cNvSpPr/>
          <p:nvPr/>
        </p:nvSpPr>
        <p:spPr>
          <a:xfrm>
            <a:off x="4448556" y="5106924"/>
            <a:ext cx="685800" cy="201168"/>
          </a:xfrm>
          <a:prstGeom prst="rect">
            <a:avLst/>
          </a:prstGeom>
          <a:solidFill>
            <a:srgbClr val="E5EDF7"/>
          </a:solidFill>
          <a:ln/>
        </p:spPr>
      </p:sp>
      <p:sp>
        <p:nvSpPr>
          <p:cNvPr id="189" name="Text 186"/>
          <p:cNvSpPr txBox="1"/>
          <p:nvPr/>
        </p:nvSpPr>
        <p:spPr>
          <a:xfrm>
            <a:off x="4434840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0.9x</a:t>
            </a:r>
            <a:endParaRPr lang="en-US" sz="900" dirty="0"/>
          </a:p>
        </p:txBody>
      </p:sp>
      <p:sp>
        <p:nvSpPr>
          <p:cNvPr id="190" name="Text 187"/>
          <p:cNvSpPr txBox="1"/>
          <p:nvPr/>
        </p:nvSpPr>
        <p:spPr>
          <a:xfrm>
            <a:off x="411480" y="5321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11 %</a:t>
            </a:r>
            <a:endParaRPr lang="en-US" sz="900" dirty="0"/>
          </a:p>
        </p:txBody>
      </p:sp>
      <p:sp>
        <p:nvSpPr>
          <p:cNvPr id="191" name="Shape 188"/>
          <p:cNvSpPr/>
          <p:nvPr/>
        </p:nvSpPr>
        <p:spPr>
          <a:xfrm>
            <a:off x="882396" y="5335524"/>
            <a:ext cx="685800" cy="201168"/>
          </a:xfrm>
          <a:prstGeom prst="rect">
            <a:avLst/>
          </a:prstGeom>
          <a:solidFill>
            <a:srgbClr val="5585C0"/>
          </a:solidFill>
          <a:ln/>
        </p:spPr>
      </p:sp>
      <p:sp>
        <p:nvSpPr>
          <p:cNvPr id="192" name="Text 189"/>
          <p:cNvSpPr txBox="1"/>
          <p:nvPr/>
        </p:nvSpPr>
        <p:spPr>
          <a:xfrm>
            <a:off x="868680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3.1x</a:t>
            </a:r>
            <a:endParaRPr lang="en-US" sz="900" dirty="0"/>
          </a:p>
        </p:txBody>
      </p:sp>
      <p:sp>
        <p:nvSpPr>
          <p:cNvPr id="193" name="Shape 190"/>
          <p:cNvSpPr/>
          <p:nvPr/>
        </p:nvSpPr>
        <p:spPr>
          <a:xfrm>
            <a:off x="1595628" y="5335524"/>
            <a:ext cx="685800" cy="201168"/>
          </a:xfrm>
          <a:prstGeom prst="rect">
            <a:avLst/>
          </a:prstGeom>
          <a:solidFill>
            <a:srgbClr val="87ACD8"/>
          </a:solidFill>
          <a:ln/>
        </p:spPr>
      </p:sp>
      <p:sp>
        <p:nvSpPr>
          <p:cNvPr id="194" name="Text 191"/>
          <p:cNvSpPr txBox="1"/>
          <p:nvPr/>
        </p:nvSpPr>
        <p:spPr>
          <a:xfrm>
            <a:off x="1581912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2.3x</a:t>
            </a:r>
            <a:endParaRPr lang="en-US" sz="900" dirty="0"/>
          </a:p>
        </p:txBody>
      </p:sp>
      <p:sp>
        <p:nvSpPr>
          <p:cNvPr id="195" name="Shape 192"/>
          <p:cNvSpPr/>
          <p:nvPr/>
        </p:nvSpPr>
        <p:spPr>
          <a:xfrm>
            <a:off x="2308860" y="5335524"/>
            <a:ext cx="685800" cy="201168"/>
          </a:xfrm>
          <a:prstGeom prst="rect">
            <a:avLst/>
          </a:prstGeom>
          <a:solidFill>
            <a:srgbClr val="A2BFE1"/>
          </a:solidFill>
          <a:ln/>
        </p:spPr>
      </p:sp>
      <p:sp>
        <p:nvSpPr>
          <p:cNvPr id="196" name="Text 193"/>
          <p:cNvSpPr txBox="1"/>
          <p:nvPr/>
        </p:nvSpPr>
        <p:spPr>
          <a:xfrm>
            <a:off x="2295144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1.9x</a:t>
            </a:r>
            <a:endParaRPr lang="en-US" sz="900" dirty="0"/>
          </a:p>
        </p:txBody>
      </p:sp>
      <p:sp>
        <p:nvSpPr>
          <p:cNvPr id="197" name="Shape 194"/>
          <p:cNvSpPr/>
          <p:nvPr/>
        </p:nvSpPr>
        <p:spPr>
          <a:xfrm>
            <a:off x="3022092" y="5335524"/>
            <a:ext cx="685800" cy="201168"/>
          </a:xfrm>
          <a:prstGeom prst="rect">
            <a:avLst/>
          </a:prstGeom>
          <a:solidFill>
            <a:srgbClr val="B6CDE8"/>
          </a:solidFill>
          <a:ln/>
        </p:spPr>
      </p:sp>
      <p:sp>
        <p:nvSpPr>
          <p:cNvPr id="198" name="Text 195"/>
          <p:cNvSpPr txBox="1"/>
          <p:nvPr/>
        </p:nvSpPr>
        <p:spPr>
          <a:xfrm>
            <a:off x="3008376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900" dirty="0"/>
          </a:p>
        </p:txBody>
      </p:sp>
      <p:sp>
        <p:nvSpPr>
          <p:cNvPr id="199" name="Shape 196"/>
          <p:cNvSpPr/>
          <p:nvPr/>
        </p:nvSpPr>
        <p:spPr>
          <a:xfrm>
            <a:off x="3735324" y="5335524"/>
            <a:ext cx="685800" cy="201168"/>
          </a:xfrm>
          <a:prstGeom prst="rect">
            <a:avLst/>
          </a:prstGeom>
          <a:solidFill>
            <a:srgbClr val="CBDBEF"/>
          </a:solidFill>
          <a:ln/>
        </p:spPr>
      </p:sp>
      <p:sp>
        <p:nvSpPr>
          <p:cNvPr id="200" name="Text 197"/>
          <p:cNvSpPr txBox="1"/>
          <p:nvPr/>
        </p:nvSpPr>
        <p:spPr>
          <a:xfrm>
            <a:off x="3721608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1.3x</a:t>
            </a:r>
            <a:endParaRPr lang="en-US" sz="900" dirty="0"/>
          </a:p>
        </p:txBody>
      </p:sp>
      <p:sp>
        <p:nvSpPr>
          <p:cNvPr id="201" name="Shape 198"/>
          <p:cNvSpPr/>
          <p:nvPr/>
        </p:nvSpPr>
        <p:spPr>
          <a:xfrm>
            <a:off x="4448556" y="5335524"/>
            <a:ext cx="685800" cy="201168"/>
          </a:xfrm>
          <a:prstGeom prst="rect">
            <a:avLst/>
          </a:prstGeom>
          <a:solidFill>
            <a:srgbClr val="DFE9F6"/>
          </a:solidFill>
          <a:ln/>
        </p:spPr>
      </p:sp>
      <p:sp>
        <p:nvSpPr>
          <p:cNvPr id="202" name="Text 199"/>
          <p:cNvSpPr txBox="1"/>
          <p:nvPr/>
        </p:nvSpPr>
        <p:spPr>
          <a:xfrm>
            <a:off x="4434840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1.0x</a:t>
            </a:r>
            <a:endParaRPr lang="en-US" sz="900" dirty="0"/>
          </a:p>
        </p:txBody>
      </p:sp>
      <p:sp>
        <p:nvSpPr>
          <p:cNvPr id="203" name="Text 200"/>
          <p:cNvSpPr txBox="1"/>
          <p:nvPr/>
        </p:nvSpPr>
        <p:spPr>
          <a:xfrm>
            <a:off x="411480" y="55504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900" dirty="0"/>
          </a:p>
        </p:txBody>
      </p:sp>
      <p:sp>
        <p:nvSpPr>
          <p:cNvPr id="204" name="Shape 201"/>
          <p:cNvSpPr/>
          <p:nvPr/>
        </p:nvSpPr>
        <p:spPr>
          <a:xfrm>
            <a:off x="882396" y="5564124"/>
            <a:ext cx="685800" cy="201168"/>
          </a:xfrm>
          <a:prstGeom prst="rect">
            <a:avLst/>
          </a:prstGeom>
          <a:solidFill>
            <a:srgbClr val="426BA0"/>
          </a:solidFill>
          <a:ln/>
        </p:spPr>
      </p:sp>
      <p:sp>
        <p:nvSpPr>
          <p:cNvPr id="205" name="Text 202"/>
          <p:cNvSpPr txBox="1"/>
          <p:nvPr/>
        </p:nvSpPr>
        <p:spPr>
          <a:xfrm>
            <a:off x="868680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900" dirty="0"/>
          </a:p>
        </p:txBody>
      </p:sp>
      <p:sp>
        <p:nvSpPr>
          <p:cNvPr id="206" name="Shape 203"/>
          <p:cNvSpPr/>
          <p:nvPr/>
        </p:nvSpPr>
        <p:spPr>
          <a:xfrm>
            <a:off x="1595628" y="5564124"/>
            <a:ext cx="685800" cy="201168"/>
          </a:xfrm>
          <a:prstGeom prst="rect">
            <a:avLst/>
          </a:prstGeom>
          <a:solidFill>
            <a:srgbClr val="6C99CF"/>
          </a:solidFill>
          <a:ln/>
        </p:spPr>
      </p:sp>
      <p:sp>
        <p:nvSpPr>
          <p:cNvPr id="207" name="Text 204"/>
          <p:cNvSpPr txBox="1"/>
          <p:nvPr/>
        </p:nvSpPr>
        <p:spPr>
          <a:xfrm>
            <a:off x="1581912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2.7x</a:t>
            </a:r>
            <a:endParaRPr lang="en-US" sz="900" dirty="0"/>
          </a:p>
        </p:txBody>
      </p:sp>
      <p:sp>
        <p:nvSpPr>
          <p:cNvPr id="208" name="Shape 205"/>
          <p:cNvSpPr/>
          <p:nvPr/>
        </p:nvSpPr>
        <p:spPr>
          <a:xfrm>
            <a:off x="2308860" y="5564124"/>
            <a:ext cx="685800" cy="201168"/>
          </a:xfrm>
          <a:prstGeom prst="rect">
            <a:avLst/>
          </a:prstGeom>
          <a:solidFill>
            <a:srgbClr val="95B5DC"/>
          </a:solidFill>
          <a:ln/>
        </p:spPr>
      </p:sp>
      <p:sp>
        <p:nvSpPr>
          <p:cNvPr id="209" name="Text 206"/>
          <p:cNvSpPr txBox="1"/>
          <p:nvPr/>
        </p:nvSpPr>
        <p:spPr>
          <a:xfrm>
            <a:off x="2295144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900" dirty="0"/>
          </a:p>
        </p:txBody>
      </p:sp>
      <p:sp>
        <p:nvSpPr>
          <p:cNvPr id="210" name="Shape 207"/>
          <p:cNvSpPr/>
          <p:nvPr/>
        </p:nvSpPr>
        <p:spPr>
          <a:xfrm>
            <a:off x="3022092" y="5564124"/>
            <a:ext cx="685800" cy="201168"/>
          </a:xfrm>
          <a:prstGeom prst="rect">
            <a:avLst/>
          </a:prstGeom>
          <a:solidFill>
            <a:srgbClr val="A9C3E3"/>
          </a:solidFill>
          <a:ln/>
        </p:spPr>
      </p:sp>
      <p:sp>
        <p:nvSpPr>
          <p:cNvPr id="211" name="Text 208"/>
          <p:cNvSpPr txBox="1"/>
          <p:nvPr/>
        </p:nvSpPr>
        <p:spPr>
          <a:xfrm>
            <a:off x="3008376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1.8x</a:t>
            </a:r>
            <a:endParaRPr lang="en-US" sz="900" dirty="0"/>
          </a:p>
        </p:txBody>
      </p:sp>
      <p:sp>
        <p:nvSpPr>
          <p:cNvPr id="212" name="Shape 209"/>
          <p:cNvSpPr/>
          <p:nvPr/>
        </p:nvSpPr>
        <p:spPr>
          <a:xfrm>
            <a:off x="3735324" y="5564124"/>
            <a:ext cx="685800" cy="201168"/>
          </a:xfrm>
          <a:prstGeom prst="rect">
            <a:avLst/>
          </a:prstGeom>
          <a:solidFill>
            <a:srgbClr val="BDD1EA"/>
          </a:solidFill>
          <a:ln/>
        </p:spPr>
      </p:sp>
      <p:sp>
        <p:nvSpPr>
          <p:cNvPr id="213" name="Text 210"/>
          <p:cNvSpPr txBox="1"/>
          <p:nvPr/>
        </p:nvSpPr>
        <p:spPr>
          <a:xfrm>
            <a:off x="3721608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</a:t>
            </a:r>
            <a:endParaRPr lang="en-US" sz="900" dirty="0"/>
          </a:p>
        </p:txBody>
      </p:sp>
      <p:sp>
        <p:nvSpPr>
          <p:cNvPr id="214" name="Shape 211"/>
          <p:cNvSpPr/>
          <p:nvPr/>
        </p:nvSpPr>
        <p:spPr>
          <a:xfrm>
            <a:off x="4448556" y="5564124"/>
            <a:ext cx="685800" cy="201168"/>
          </a:xfrm>
          <a:prstGeom prst="rect">
            <a:avLst/>
          </a:prstGeom>
          <a:solidFill>
            <a:srgbClr val="D2E0F1"/>
          </a:solidFill>
          <a:ln/>
        </p:spPr>
      </p:sp>
      <p:sp>
        <p:nvSpPr>
          <p:cNvPr id="215" name="Text 212"/>
          <p:cNvSpPr txBox="1"/>
          <p:nvPr/>
        </p:nvSpPr>
        <p:spPr>
          <a:xfrm>
            <a:off x="4434840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1.2x</a:t>
            </a:r>
            <a:endParaRPr lang="en-US" sz="900" dirty="0"/>
          </a:p>
        </p:txBody>
      </p:sp>
      <p:sp>
        <p:nvSpPr>
          <p:cNvPr id="216" name="Text 213"/>
          <p:cNvSpPr txBox="1"/>
          <p:nvPr/>
        </p:nvSpPr>
        <p:spPr>
          <a:xfrm>
            <a:off x="411480" y="57790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900" dirty="0"/>
          </a:p>
        </p:txBody>
      </p:sp>
      <p:sp>
        <p:nvSpPr>
          <p:cNvPr id="217" name="Shape 214"/>
          <p:cNvSpPr/>
          <p:nvPr/>
        </p:nvSpPr>
        <p:spPr>
          <a:xfrm>
            <a:off x="882396" y="5792724"/>
            <a:ext cx="685800" cy="201168"/>
          </a:xfrm>
          <a:prstGeom prst="rect">
            <a:avLst/>
          </a:prstGeom>
          <a:solidFill>
            <a:srgbClr val="2E5181"/>
          </a:solidFill>
          <a:ln/>
        </p:spPr>
      </p:sp>
      <p:sp>
        <p:nvSpPr>
          <p:cNvPr id="218" name="Text 215"/>
          <p:cNvSpPr txBox="1"/>
          <p:nvPr/>
        </p:nvSpPr>
        <p:spPr>
          <a:xfrm>
            <a:off x="868680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4.1x</a:t>
            </a:r>
            <a:endParaRPr lang="en-US" sz="900" dirty="0"/>
          </a:p>
        </p:txBody>
      </p:sp>
      <p:sp>
        <p:nvSpPr>
          <p:cNvPr id="219" name="Shape 216"/>
          <p:cNvSpPr/>
          <p:nvPr/>
        </p:nvSpPr>
        <p:spPr>
          <a:xfrm>
            <a:off x="1595628" y="5792724"/>
            <a:ext cx="685800" cy="201168"/>
          </a:xfrm>
          <a:prstGeom prst="rect">
            <a:avLst/>
          </a:prstGeom>
          <a:solidFill>
            <a:srgbClr val="5585C0"/>
          </a:solidFill>
          <a:ln/>
        </p:spPr>
      </p:sp>
      <p:sp>
        <p:nvSpPr>
          <p:cNvPr id="220" name="Text 217"/>
          <p:cNvSpPr txBox="1"/>
          <p:nvPr/>
        </p:nvSpPr>
        <p:spPr>
          <a:xfrm>
            <a:off x="1581912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3.1x</a:t>
            </a:r>
            <a:endParaRPr lang="en-US" sz="900" dirty="0"/>
          </a:p>
        </p:txBody>
      </p:sp>
      <p:sp>
        <p:nvSpPr>
          <p:cNvPr id="221" name="Shape 218"/>
          <p:cNvSpPr/>
          <p:nvPr/>
        </p:nvSpPr>
        <p:spPr>
          <a:xfrm>
            <a:off x="2308860" y="5792724"/>
            <a:ext cx="685800" cy="201168"/>
          </a:xfrm>
          <a:prstGeom prst="rect">
            <a:avLst/>
          </a:prstGeom>
          <a:solidFill>
            <a:srgbClr val="79A2D3"/>
          </a:solidFill>
          <a:ln/>
        </p:spPr>
      </p:sp>
      <p:sp>
        <p:nvSpPr>
          <p:cNvPr id="222" name="Text 219"/>
          <p:cNvSpPr txBox="1"/>
          <p:nvPr/>
        </p:nvSpPr>
        <p:spPr>
          <a:xfrm>
            <a:off x="2295144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2.5x</a:t>
            </a:r>
            <a:endParaRPr lang="en-US" sz="900" dirty="0"/>
          </a:p>
        </p:txBody>
      </p:sp>
      <p:sp>
        <p:nvSpPr>
          <p:cNvPr id="223" name="Shape 220"/>
          <p:cNvSpPr/>
          <p:nvPr/>
        </p:nvSpPr>
        <p:spPr>
          <a:xfrm>
            <a:off x="3022092" y="5792724"/>
            <a:ext cx="685800" cy="201168"/>
          </a:xfrm>
          <a:prstGeom prst="rect">
            <a:avLst/>
          </a:prstGeom>
          <a:solidFill>
            <a:srgbClr val="95B5DC"/>
          </a:solidFill>
          <a:ln/>
        </p:spPr>
      </p:sp>
      <p:sp>
        <p:nvSpPr>
          <p:cNvPr id="224" name="Text 221"/>
          <p:cNvSpPr txBox="1"/>
          <p:nvPr/>
        </p:nvSpPr>
        <p:spPr>
          <a:xfrm>
            <a:off x="3008376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900" dirty="0"/>
          </a:p>
        </p:txBody>
      </p:sp>
      <p:sp>
        <p:nvSpPr>
          <p:cNvPr id="225" name="Shape 222"/>
          <p:cNvSpPr/>
          <p:nvPr/>
        </p:nvSpPr>
        <p:spPr>
          <a:xfrm>
            <a:off x="3735324" y="5792724"/>
            <a:ext cx="685800" cy="201168"/>
          </a:xfrm>
          <a:prstGeom prst="rect">
            <a:avLst/>
          </a:prstGeom>
          <a:solidFill>
            <a:srgbClr val="A9C3E3"/>
          </a:solidFill>
          <a:ln/>
        </p:spPr>
      </p:sp>
      <p:sp>
        <p:nvSpPr>
          <p:cNvPr id="226" name="Text 223"/>
          <p:cNvSpPr txBox="1"/>
          <p:nvPr/>
        </p:nvSpPr>
        <p:spPr>
          <a:xfrm>
            <a:off x="3721608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1.8x</a:t>
            </a:r>
            <a:endParaRPr lang="en-US" sz="900" dirty="0"/>
          </a:p>
        </p:txBody>
      </p:sp>
      <p:sp>
        <p:nvSpPr>
          <p:cNvPr id="227" name="Shape 224"/>
          <p:cNvSpPr/>
          <p:nvPr/>
        </p:nvSpPr>
        <p:spPr>
          <a:xfrm>
            <a:off x="4448556" y="5792724"/>
            <a:ext cx="685800" cy="201168"/>
          </a:xfrm>
          <a:prstGeom prst="rect">
            <a:avLst/>
          </a:prstGeom>
          <a:solidFill>
            <a:srgbClr val="C4D6EC"/>
          </a:solidFill>
          <a:ln/>
        </p:spPr>
      </p:sp>
      <p:sp>
        <p:nvSpPr>
          <p:cNvPr id="228" name="Text 225"/>
          <p:cNvSpPr txBox="1"/>
          <p:nvPr/>
        </p:nvSpPr>
        <p:spPr>
          <a:xfrm>
            <a:off x="4434840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900" dirty="0"/>
          </a:p>
        </p:txBody>
      </p:sp>
      <p:sp>
        <p:nvSpPr>
          <p:cNvPr id="229" name="Text 226"/>
          <p:cNvSpPr txBox="1"/>
          <p:nvPr/>
        </p:nvSpPr>
        <p:spPr>
          <a:xfrm>
            <a:off x="411480" y="6007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</a:t>
            </a:r>
            <a:endParaRPr lang="en-US" sz="900" dirty="0"/>
          </a:p>
        </p:txBody>
      </p:sp>
      <p:sp>
        <p:nvSpPr>
          <p:cNvPr id="230" name="Shape 227"/>
          <p:cNvSpPr/>
          <p:nvPr/>
        </p:nvSpPr>
        <p:spPr>
          <a:xfrm>
            <a:off x="882396" y="6021324"/>
            <a:ext cx="685800" cy="201168"/>
          </a:xfrm>
          <a:prstGeom prst="rect">
            <a:avLst/>
          </a:prstGeom>
          <a:solidFill>
            <a:srgbClr val="17325C"/>
          </a:solidFill>
          <a:ln/>
        </p:spPr>
      </p:sp>
      <p:sp>
        <p:nvSpPr>
          <p:cNvPr id="231" name="Text 228"/>
          <p:cNvSpPr txBox="1"/>
          <p:nvPr/>
        </p:nvSpPr>
        <p:spPr>
          <a:xfrm>
            <a:off x="868680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4.7x</a:t>
            </a:r>
            <a:endParaRPr lang="en-US" sz="900" dirty="0"/>
          </a:p>
        </p:txBody>
      </p:sp>
      <p:sp>
        <p:nvSpPr>
          <p:cNvPr id="232" name="Shape 229"/>
          <p:cNvSpPr/>
          <p:nvPr/>
        </p:nvSpPr>
        <p:spPr>
          <a:xfrm>
            <a:off x="1595628" y="6021324"/>
            <a:ext cx="685800" cy="201168"/>
          </a:xfrm>
          <a:prstGeom prst="rect">
            <a:avLst/>
          </a:prstGeom>
          <a:solidFill>
            <a:srgbClr val="426BA0"/>
          </a:solidFill>
          <a:ln/>
        </p:spPr>
      </p:sp>
      <p:sp>
        <p:nvSpPr>
          <p:cNvPr id="233" name="Text 230"/>
          <p:cNvSpPr txBox="1"/>
          <p:nvPr/>
        </p:nvSpPr>
        <p:spPr>
          <a:xfrm>
            <a:off x="1581912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900" dirty="0"/>
          </a:p>
        </p:txBody>
      </p:sp>
      <p:sp>
        <p:nvSpPr>
          <p:cNvPr id="234" name="Shape 231"/>
          <p:cNvSpPr/>
          <p:nvPr/>
        </p:nvSpPr>
        <p:spPr>
          <a:xfrm>
            <a:off x="2308860" y="6021324"/>
            <a:ext cx="685800" cy="201168"/>
          </a:xfrm>
          <a:prstGeom prst="rect">
            <a:avLst/>
          </a:prstGeom>
          <a:solidFill>
            <a:srgbClr val="6594CC"/>
          </a:solidFill>
          <a:ln/>
        </p:spPr>
      </p:sp>
      <p:sp>
        <p:nvSpPr>
          <p:cNvPr id="235" name="Text 232"/>
          <p:cNvSpPr txBox="1"/>
          <p:nvPr/>
        </p:nvSpPr>
        <p:spPr>
          <a:xfrm>
            <a:off x="2295144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2.8x</a:t>
            </a:r>
            <a:endParaRPr lang="en-US" sz="900" dirty="0"/>
          </a:p>
        </p:txBody>
      </p:sp>
      <p:sp>
        <p:nvSpPr>
          <p:cNvPr id="236" name="Shape 233"/>
          <p:cNvSpPr/>
          <p:nvPr/>
        </p:nvSpPr>
        <p:spPr>
          <a:xfrm>
            <a:off x="3022092" y="6021324"/>
            <a:ext cx="685800" cy="201168"/>
          </a:xfrm>
          <a:prstGeom prst="rect">
            <a:avLst/>
          </a:prstGeom>
          <a:solidFill>
            <a:srgbClr val="80A7D6"/>
          </a:solidFill>
          <a:ln/>
        </p:spPr>
      </p:sp>
      <p:sp>
        <p:nvSpPr>
          <p:cNvPr id="237" name="Text 234"/>
          <p:cNvSpPr txBox="1"/>
          <p:nvPr/>
        </p:nvSpPr>
        <p:spPr>
          <a:xfrm>
            <a:off x="3008376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2.4x</a:t>
            </a:r>
            <a:endParaRPr lang="en-US" sz="900" dirty="0"/>
          </a:p>
        </p:txBody>
      </p:sp>
      <p:sp>
        <p:nvSpPr>
          <p:cNvPr id="238" name="Shape 235"/>
          <p:cNvSpPr/>
          <p:nvPr/>
        </p:nvSpPr>
        <p:spPr>
          <a:xfrm>
            <a:off x="3735324" y="6021324"/>
            <a:ext cx="685800" cy="201168"/>
          </a:xfrm>
          <a:prstGeom prst="rect">
            <a:avLst/>
          </a:prstGeom>
          <a:solidFill>
            <a:srgbClr val="9BBADF"/>
          </a:solidFill>
          <a:ln/>
        </p:spPr>
      </p:sp>
      <p:sp>
        <p:nvSpPr>
          <p:cNvPr id="239" name="Text 236"/>
          <p:cNvSpPr txBox="1"/>
          <p:nvPr/>
        </p:nvSpPr>
        <p:spPr>
          <a:xfrm>
            <a:off x="3721608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2.0x</a:t>
            </a:r>
            <a:endParaRPr lang="en-US" sz="900" dirty="0"/>
          </a:p>
        </p:txBody>
      </p:sp>
      <p:sp>
        <p:nvSpPr>
          <p:cNvPr id="240" name="Shape 237"/>
          <p:cNvSpPr/>
          <p:nvPr/>
        </p:nvSpPr>
        <p:spPr>
          <a:xfrm>
            <a:off x="4448556" y="6021324"/>
            <a:ext cx="685800" cy="201168"/>
          </a:xfrm>
          <a:prstGeom prst="rect">
            <a:avLst/>
          </a:prstGeom>
          <a:solidFill>
            <a:srgbClr val="B6CDE8"/>
          </a:solidFill>
          <a:ln/>
        </p:spPr>
      </p:sp>
      <p:sp>
        <p:nvSpPr>
          <p:cNvPr id="241" name="Text 238"/>
          <p:cNvSpPr txBox="1"/>
          <p:nvPr/>
        </p:nvSpPr>
        <p:spPr>
          <a:xfrm>
            <a:off x="4434840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900" dirty="0"/>
          </a:p>
        </p:txBody>
      </p:sp>
      <p:sp>
        <p:nvSpPr>
          <p:cNvPr id="242" name="Shape 239"/>
          <p:cNvSpPr/>
          <p:nvPr/>
        </p:nvSpPr>
        <p:spPr>
          <a:xfrm>
            <a:off x="7315200" y="11704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3" name="Text 240"/>
          <p:cNvSpPr txBox="1"/>
          <p:nvPr/>
        </p:nvSpPr>
        <p:spPr>
          <a:xfrm>
            <a:off x="7315200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244" name="Text 241"/>
          <p:cNvSpPr txBox="1"/>
          <p:nvPr/>
        </p:nvSpPr>
        <p:spPr>
          <a:xfrm>
            <a:off x="7644384" y="1170432"/>
            <a:ext cx="4135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MOVES THE OWNER'S RETURN (BASE 1.7x)</a:t>
            </a:r>
            <a:endParaRPr lang="en-US" sz="1200" dirty="0"/>
          </a:p>
        </p:txBody>
      </p:sp>
      <p:sp>
        <p:nvSpPr>
          <p:cNvPr id="245" name="Text 242"/>
          <p:cNvSpPr txBox="1"/>
          <p:nvPr/>
        </p:nvSpPr>
        <p:spPr>
          <a:xfrm>
            <a:off x="7315200" y="1517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uplift 0–3 %</a:t>
            </a:r>
            <a:endParaRPr lang="en-US" sz="900" dirty="0"/>
          </a:p>
        </p:txBody>
      </p:sp>
      <p:sp>
        <p:nvSpPr>
          <p:cNvPr id="246" name="Shape 243"/>
          <p:cNvSpPr/>
          <p:nvPr/>
        </p:nvSpPr>
        <p:spPr>
          <a:xfrm>
            <a:off x="9146919" y="1563624"/>
            <a:ext cx="723419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47" name="Shape 244"/>
          <p:cNvSpPr/>
          <p:nvPr/>
        </p:nvSpPr>
        <p:spPr>
          <a:xfrm>
            <a:off x="9870338" y="1563624"/>
            <a:ext cx="1509745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8" name="Text 245"/>
          <p:cNvSpPr txBox="1"/>
          <p:nvPr/>
        </p:nvSpPr>
        <p:spPr>
          <a:xfrm>
            <a:off x="8762871" y="15179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0.55x</a:t>
            </a:r>
            <a:endParaRPr lang="en-US" sz="800" dirty="0"/>
          </a:p>
        </p:txBody>
      </p:sp>
      <p:sp>
        <p:nvSpPr>
          <p:cNvPr id="249" name="Text 246"/>
          <p:cNvSpPr txBox="1"/>
          <p:nvPr/>
        </p:nvSpPr>
        <p:spPr>
          <a:xfrm>
            <a:off x="11407515" y="15179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4.1x</a:t>
            </a:r>
            <a:endParaRPr lang="en-US" sz="800" dirty="0"/>
          </a:p>
        </p:txBody>
      </p:sp>
      <p:sp>
        <p:nvSpPr>
          <p:cNvPr id="250" name="Text 247"/>
          <p:cNvSpPr txBox="1"/>
          <p:nvPr/>
        </p:nvSpPr>
        <p:spPr>
          <a:xfrm>
            <a:off x="7315200" y="1847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₹40 to ₹20</a:t>
            </a:r>
            <a:endParaRPr lang="en-US" sz="900" dirty="0"/>
          </a:p>
        </p:txBody>
      </p:sp>
      <p:sp>
        <p:nvSpPr>
          <p:cNvPr id="251" name="Shape 248"/>
          <p:cNvSpPr/>
          <p:nvPr/>
        </p:nvSpPr>
        <p:spPr>
          <a:xfrm>
            <a:off x="9681620" y="1892808"/>
            <a:ext cx="188718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52" name="Shape 249"/>
          <p:cNvSpPr/>
          <p:nvPr/>
        </p:nvSpPr>
        <p:spPr>
          <a:xfrm>
            <a:off x="9870338" y="1892808"/>
            <a:ext cx="377436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53" name="Text 250"/>
          <p:cNvSpPr txBox="1"/>
          <p:nvPr/>
        </p:nvSpPr>
        <p:spPr>
          <a:xfrm>
            <a:off x="9297572" y="1847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800" dirty="0"/>
          </a:p>
        </p:txBody>
      </p:sp>
      <p:sp>
        <p:nvSpPr>
          <p:cNvPr id="254" name="Text 251"/>
          <p:cNvSpPr txBox="1"/>
          <p:nvPr/>
        </p:nvSpPr>
        <p:spPr>
          <a:xfrm>
            <a:off x="10275207" y="1847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2.3x</a:t>
            </a:r>
            <a:endParaRPr lang="en-US" sz="800" dirty="0"/>
          </a:p>
        </p:txBody>
      </p:sp>
      <p:sp>
        <p:nvSpPr>
          <p:cNvPr id="255" name="Text 252"/>
          <p:cNvSpPr txBox="1"/>
          <p:nvPr/>
        </p:nvSpPr>
        <p:spPr>
          <a:xfrm>
            <a:off x="7315200" y="21762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fee ₹70k to ₹1.2 L</a:t>
            </a:r>
            <a:endParaRPr lang="en-US" sz="900" dirty="0"/>
          </a:p>
        </p:txBody>
      </p:sp>
      <p:sp>
        <p:nvSpPr>
          <p:cNvPr id="256" name="Shape 253"/>
          <p:cNvSpPr/>
          <p:nvPr/>
        </p:nvSpPr>
        <p:spPr>
          <a:xfrm>
            <a:off x="9681620" y="2221992"/>
            <a:ext cx="188718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57" name="Shape 254"/>
          <p:cNvSpPr/>
          <p:nvPr/>
        </p:nvSpPr>
        <p:spPr>
          <a:xfrm>
            <a:off x="9870338" y="2221992"/>
            <a:ext cx="25162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58" name="Text 255"/>
          <p:cNvSpPr txBox="1"/>
          <p:nvPr/>
        </p:nvSpPr>
        <p:spPr>
          <a:xfrm>
            <a:off x="9297572" y="21762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800" dirty="0"/>
          </a:p>
        </p:txBody>
      </p:sp>
      <p:sp>
        <p:nvSpPr>
          <p:cNvPr id="259" name="Text 256"/>
          <p:cNvSpPr txBox="1"/>
          <p:nvPr/>
        </p:nvSpPr>
        <p:spPr>
          <a:xfrm>
            <a:off x="10149395" y="21762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800" dirty="0"/>
          </a:p>
        </p:txBody>
      </p:sp>
      <p:sp>
        <p:nvSpPr>
          <p:cNvPr id="260" name="Text 257"/>
          <p:cNvSpPr txBox="1"/>
          <p:nvPr/>
        </p:nvSpPr>
        <p:spPr>
          <a:xfrm>
            <a:off x="7315200" y="25054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minutes per call</a:t>
            </a:r>
            <a:endParaRPr lang="en-US" sz="900" dirty="0"/>
          </a:p>
        </p:txBody>
      </p:sp>
      <p:sp>
        <p:nvSpPr>
          <p:cNvPr id="261" name="Shape 258"/>
          <p:cNvSpPr/>
          <p:nvPr/>
        </p:nvSpPr>
        <p:spPr>
          <a:xfrm>
            <a:off x="9681620" y="2551176"/>
            <a:ext cx="188718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62" name="Shape 259"/>
          <p:cNvSpPr/>
          <p:nvPr/>
        </p:nvSpPr>
        <p:spPr>
          <a:xfrm>
            <a:off x="9870338" y="2551176"/>
            <a:ext cx="188718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3" name="Text 260"/>
          <p:cNvSpPr txBox="1"/>
          <p:nvPr/>
        </p:nvSpPr>
        <p:spPr>
          <a:xfrm>
            <a:off x="9297572" y="2505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800" dirty="0"/>
          </a:p>
        </p:txBody>
      </p:sp>
      <p:sp>
        <p:nvSpPr>
          <p:cNvPr id="264" name="Text 261"/>
          <p:cNvSpPr txBox="1"/>
          <p:nvPr/>
        </p:nvSpPr>
        <p:spPr>
          <a:xfrm>
            <a:off x="10086488" y="2505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</a:t>
            </a:r>
            <a:endParaRPr lang="en-US" sz="800" dirty="0"/>
          </a:p>
        </p:txBody>
      </p:sp>
      <p:sp>
        <p:nvSpPr>
          <p:cNvPr id="265" name="Text 262"/>
          <p:cNvSpPr txBox="1"/>
          <p:nvPr/>
        </p:nvSpPr>
        <p:spPr>
          <a:xfrm>
            <a:off x="7315200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effect 5–30 %</a:t>
            </a:r>
            <a:endParaRPr lang="en-US" sz="900" dirty="0"/>
          </a:p>
        </p:txBody>
      </p:sp>
      <p:sp>
        <p:nvSpPr>
          <p:cNvPr id="266" name="Shape 263"/>
          <p:cNvSpPr/>
          <p:nvPr/>
        </p:nvSpPr>
        <p:spPr>
          <a:xfrm>
            <a:off x="9744526" y="2880360"/>
            <a:ext cx="125812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67" name="Shape 264"/>
          <p:cNvSpPr/>
          <p:nvPr/>
        </p:nvSpPr>
        <p:spPr>
          <a:xfrm>
            <a:off x="9870338" y="2880360"/>
            <a:ext cx="25162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8" name="Text 265"/>
          <p:cNvSpPr txBox="1"/>
          <p:nvPr/>
        </p:nvSpPr>
        <p:spPr>
          <a:xfrm>
            <a:off x="9360478" y="2834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</a:t>
            </a:r>
            <a:endParaRPr lang="en-US" sz="800" dirty="0"/>
          </a:p>
        </p:txBody>
      </p:sp>
      <p:sp>
        <p:nvSpPr>
          <p:cNvPr id="269" name="Text 266"/>
          <p:cNvSpPr txBox="1"/>
          <p:nvPr/>
        </p:nvSpPr>
        <p:spPr>
          <a:xfrm>
            <a:off x="10149395" y="2834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800" dirty="0"/>
          </a:p>
        </p:txBody>
      </p:sp>
      <p:sp>
        <p:nvSpPr>
          <p:cNvPr id="270" name="Text 267"/>
          <p:cNvSpPr txBox="1"/>
          <p:nvPr/>
        </p:nvSpPr>
        <p:spPr>
          <a:xfrm>
            <a:off x="7315200" y="31638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of the flag</a:t>
            </a:r>
            <a:endParaRPr lang="en-US" sz="900" dirty="0"/>
          </a:p>
        </p:txBody>
      </p:sp>
      <p:sp>
        <p:nvSpPr>
          <p:cNvPr id="271" name="Shape 268"/>
          <p:cNvSpPr/>
          <p:nvPr/>
        </p:nvSpPr>
        <p:spPr>
          <a:xfrm>
            <a:off x="9744526" y="3209544"/>
            <a:ext cx="125812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72" name="Shape 269"/>
          <p:cNvSpPr/>
          <p:nvPr/>
        </p:nvSpPr>
        <p:spPr>
          <a:xfrm>
            <a:off x="9870338" y="3209544"/>
            <a:ext cx="125812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3" name="Text 270"/>
          <p:cNvSpPr txBox="1"/>
          <p:nvPr/>
        </p:nvSpPr>
        <p:spPr>
          <a:xfrm>
            <a:off x="9360478" y="31638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</a:t>
            </a:r>
            <a:endParaRPr lang="en-US" sz="800" dirty="0"/>
          </a:p>
        </p:txBody>
      </p:sp>
      <p:sp>
        <p:nvSpPr>
          <p:cNvPr id="274" name="Text 271"/>
          <p:cNvSpPr txBox="1"/>
          <p:nvPr/>
        </p:nvSpPr>
        <p:spPr>
          <a:xfrm>
            <a:off x="10023582" y="31638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1.9x</a:t>
            </a:r>
            <a:endParaRPr lang="en-US" sz="800" dirty="0"/>
          </a:p>
        </p:txBody>
      </p:sp>
      <p:sp>
        <p:nvSpPr>
          <p:cNvPr id="275" name="Text 272"/>
          <p:cNvSpPr txBox="1"/>
          <p:nvPr/>
        </p:nvSpPr>
        <p:spPr>
          <a:xfrm>
            <a:off x="7315200" y="3493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before first flag</a:t>
            </a:r>
            <a:endParaRPr lang="en-US" sz="900" dirty="0"/>
          </a:p>
        </p:txBody>
      </p:sp>
      <p:sp>
        <p:nvSpPr>
          <p:cNvPr id="276" name="Shape 273"/>
          <p:cNvSpPr/>
          <p:nvPr/>
        </p:nvSpPr>
        <p:spPr>
          <a:xfrm>
            <a:off x="9807432" y="3538728"/>
            <a:ext cx="62906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77" name="Shape 274"/>
          <p:cNvSpPr/>
          <p:nvPr/>
        </p:nvSpPr>
        <p:spPr>
          <a:xfrm>
            <a:off x="9870338" y="3538728"/>
            <a:ext cx="62906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8" name="Text 275"/>
          <p:cNvSpPr txBox="1"/>
          <p:nvPr/>
        </p:nvSpPr>
        <p:spPr>
          <a:xfrm>
            <a:off x="9423384" y="3493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800" dirty="0"/>
          </a:p>
        </p:txBody>
      </p:sp>
      <p:sp>
        <p:nvSpPr>
          <p:cNvPr id="279" name="Text 276"/>
          <p:cNvSpPr txBox="1"/>
          <p:nvPr/>
        </p:nvSpPr>
        <p:spPr>
          <a:xfrm>
            <a:off x="9960676" y="3493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1.8x</a:t>
            </a:r>
            <a:endParaRPr lang="en-US" sz="800" dirty="0"/>
          </a:p>
        </p:txBody>
      </p:sp>
      <p:sp>
        <p:nvSpPr>
          <p:cNvPr id="280" name="Shape 277"/>
          <p:cNvSpPr/>
          <p:nvPr/>
        </p:nvSpPr>
        <p:spPr>
          <a:xfrm>
            <a:off x="9861194" y="1481328"/>
            <a:ext cx="18288" cy="2331720"/>
          </a:xfrm>
          <a:prstGeom prst="rect">
            <a:avLst/>
          </a:prstGeom>
          <a:solidFill>
            <a:srgbClr val="17325C"/>
          </a:solidFill>
          <a:ln/>
        </p:spPr>
      </p:sp>
      <p:sp>
        <p:nvSpPr>
          <p:cNvPr id="281" name="Shape 278"/>
          <p:cNvSpPr/>
          <p:nvPr/>
        </p:nvSpPr>
        <p:spPr>
          <a:xfrm>
            <a:off x="7315200" y="39136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82" name="Text 279"/>
          <p:cNvSpPr txBox="1"/>
          <p:nvPr/>
        </p:nvSpPr>
        <p:spPr>
          <a:xfrm>
            <a:off x="7315200" y="3913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283" name="Text 280"/>
          <p:cNvSpPr txBox="1"/>
          <p:nvPr/>
        </p:nvSpPr>
        <p:spPr>
          <a:xfrm>
            <a:off x="7644384" y="3913632"/>
            <a:ext cx="4135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LTV ÷ CAC BY CHURN AND ACQUISITION COST</a:t>
            </a:r>
            <a:endParaRPr lang="en-US" sz="1200" dirty="0"/>
          </a:p>
        </p:txBody>
      </p:sp>
      <p:sp>
        <p:nvSpPr>
          <p:cNvPr id="284" name="Text 281"/>
          <p:cNvSpPr txBox="1"/>
          <p:nvPr/>
        </p:nvSpPr>
        <p:spPr>
          <a:xfrm>
            <a:off x="7772400" y="4160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1 %</a:t>
            </a:r>
            <a:endParaRPr lang="en-US" sz="900" dirty="0"/>
          </a:p>
        </p:txBody>
      </p:sp>
      <p:sp>
        <p:nvSpPr>
          <p:cNvPr id="285" name="Text 282"/>
          <p:cNvSpPr txBox="1"/>
          <p:nvPr/>
        </p:nvSpPr>
        <p:spPr>
          <a:xfrm>
            <a:off x="8485632" y="4160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2 %</a:t>
            </a:r>
            <a:endParaRPr lang="en-US" sz="900" dirty="0"/>
          </a:p>
        </p:txBody>
      </p:sp>
      <p:sp>
        <p:nvSpPr>
          <p:cNvPr id="286" name="Text 283"/>
          <p:cNvSpPr txBox="1"/>
          <p:nvPr/>
        </p:nvSpPr>
        <p:spPr>
          <a:xfrm>
            <a:off x="9198864" y="4160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3 %</a:t>
            </a:r>
            <a:endParaRPr lang="en-US" sz="900" dirty="0"/>
          </a:p>
        </p:txBody>
      </p:sp>
      <p:sp>
        <p:nvSpPr>
          <p:cNvPr id="287" name="Text 284"/>
          <p:cNvSpPr txBox="1"/>
          <p:nvPr/>
        </p:nvSpPr>
        <p:spPr>
          <a:xfrm>
            <a:off x="9912096" y="4160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4 %</a:t>
            </a:r>
            <a:endParaRPr lang="en-US" sz="900" dirty="0"/>
          </a:p>
        </p:txBody>
      </p:sp>
      <p:sp>
        <p:nvSpPr>
          <p:cNvPr id="288" name="Text 285"/>
          <p:cNvSpPr txBox="1"/>
          <p:nvPr/>
        </p:nvSpPr>
        <p:spPr>
          <a:xfrm>
            <a:off x="10625328" y="4160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</a:t>
            </a:r>
            <a:endParaRPr lang="en-US" sz="900" dirty="0"/>
          </a:p>
        </p:txBody>
      </p:sp>
      <p:sp>
        <p:nvSpPr>
          <p:cNvPr id="289" name="Text 286"/>
          <p:cNvSpPr txBox="1"/>
          <p:nvPr/>
        </p:nvSpPr>
        <p:spPr>
          <a:xfrm>
            <a:off x="7315200" y="440740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₹15k</a:t>
            </a:r>
            <a:endParaRPr lang="en-US" sz="900" dirty="0"/>
          </a:p>
        </p:txBody>
      </p:sp>
      <p:sp>
        <p:nvSpPr>
          <p:cNvPr id="290" name="Shape 287"/>
          <p:cNvSpPr/>
          <p:nvPr/>
        </p:nvSpPr>
        <p:spPr>
          <a:xfrm>
            <a:off x="7786116" y="4421124"/>
            <a:ext cx="685800" cy="219456"/>
          </a:xfrm>
          <a:prstGeom prst="rect">
            <a:avLst/>
          </a:prstGeom>
          <a:solidFill>
            <a:srgbClr val="17325C"/>
          </a:solidFill>
          <a:ln/>
        </p:spPr>
      </p:sp>
      <p:sp>
        <p:nvSpPr>
          <p:cNvPr id="291" name="Text 288"/>
          <p:cNvSpPr txBox="1"/>
          <p:nvPr/>
        </p:nvSpPr>
        <p:spPr>
          <a:xfrm>
            <a:off x="7772400" y="440740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11.0x</a:t>
            </a:r>
            <a:endParaRPr lang="en-US" sz="900" dirty="0"/>
          </a:p>
        </p:txBody>
      </p:sp>
      <p:sp>
        <p:nvSpPr>
          <p:cNvPr id="292" name="Shape 289"/>
          <p:cNvSpPr/>
          <p:nvPr/>
        </p:nvSpPr>
        <p:spPr>
          <a:xfrm>
            <a:off x="8499348" y="4421124"/>
            <a:ext cx="685800" cy="219456"/>
          </a:xfrm>
          <a:prstGeom prst="rect">
            <a:avLst/>
          </a:prstGeom>
          <a:solidFill>
            <a:srgbClr val="274876"/>
          </a:solidFill>
          <a:ln/>
        </p:spPr>
      </p:sp>
      <p:sp>
        <p:nvSpPr>
          <p:cNvPr id="293" name="Text 290"/>
          <p:cNvSpPr txBox="1"/>
          <p:nvPr/>
        </p:nvSpPr>
        <p:spPr>
          <a:xfrm>
            <a:off x="8485632" y="440740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10.0x</a:t>
            </a:r>
            <a:endParaRPr lang="en-US" sz="900" dirty="0"/>
          </a:p>
        </p:txBody>
      </p:sp>
      <p:sp>
        <p:nvSpPr>
          <p:cNvPr id="294" name="Shape 291"/>
          <p:cNvSpPr/>
          <p:nvPr/>
        </p:nvSpPr>
        <p:spPr>
          <a:xfrm>
            <a:off x="9212580" y="4421124"/>
            <a:ext cx="685800" cy="219456"/>
          </a:xfrm>
          <a:prstGeom prst="rect">
            <a:avLst/>
          </a:prstGeom>
          <a:solidFill>
            <a:srgbClr val="325788"/>
          </a:solidFill>
          <a:ln/>
        </p:spPr>
      </p:sp>
      <p:sp>
        <p:nvSpPr>
          <p:cNvPr id="295" name="Text 292"/>
          <p:cNvSpPr txBox="1"/>
          <p:nvPr/>
        </p:nvSpPr>
        <p:spPr>
          <a:xfrm>
            <a:off x="9198864" y="440740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9.3x</a:t>
            </a:r>
            <a:endParaRPr lang="en-US" sz="900" dirty="0"/>
          </a:p>
        </p:txBody>
      </p:sp>
      <p:sp>
        <p:nvSpPr>
          <p:cNvPr id="296" name="Shape 293"/>
          <p:cNvSpPr/>
          <p:nvPr/>
        </p:nvSpPr>
        <p:spPr>
          <a:xfrm>
            <a:off x="9925812" y="4421124"/>
            <a:ext cx="685800" cy="219456"/>
          </a:xfrm>
          <a:prstGeom prst="rect">
            <a:avLst/>
          </a:prstGeom>
          <a:solidFill>
            <a:srgbClr val="3F689C"/>
          </a:solidFill>
          <a:ln/>
        </p:spPr>
      </p:sp>
      <p:sp>
        <p:nvSpPr>
          <p:cNvPr id="297" name="Text 294"/>
          <p:cNvSpPr txBox="1"/>
          <p:nvPr/>
        </p:nvSpPr>
        <p:spPr>
          <a:xfrm>
            <a:off x="9912096" y="440740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8.5x</a:t>
            </a:r>
            <a:endParaRPr lang="en-US" sz="900" dirty="0"/>
          </a:p>
        </p:txBody>
      </p:sp>
      <p:sp>
        <p:nvSpPr>
          <p:cNvPr id="298" name="Shape 295"/>
          <p:cNvSpPr/>
          <p:nvPr/>
        </p:nvSpPr>
        <p:spPr>
          <a:xfrm>
            <a:off x="10639044" y="4421124"/>
            <a:ext cx="685800" cy="219456"/>
          </a:xfrm>
          <a:prstGeom prst="rect">
            <a:avLst/>
          </a:prstGeom>
          <a:solidFill>
            <a:srgbClr val="4A77AE"/>
          </a:solidFill>
          <a:ln/>
        </p:spPr>
      </p:sp>
      <p:sp>
        <p:nvSpPr>
          <p:cNvPr id="299" name="Text 296"/>
          <p:cNvSpPr txBox="1"/>
          <p:nvPr/>
        </p:nvSpPr>
        <p:spPr>
          <a:xfrm>
            <a:off x="10625328" y="440740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7.8x</a:t>
            </a:r>
            <a:endParaRPr lang="en-US" sz="900" dirty="0"/>
          </a:p>
        </p:txBody>
      </p:sp>
      <p:sp>
        <p:nvSpPr>
          <p:cNvPr id="300" name="Text 297"/>
          <p:cNvSpPr txBox="1"/>
          <p:nvPr/>
        </p:nvSpPr>
        <p:spPr>
          <a:xfrm>
            <a:off x="7315200" y="465429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₹25k</a:t>
            </a:r>
            <a:endParaRPr lang="en-US" sz="900" dirty="0"/>
          </a:p>
        </p:txBody>
      </p:sp>
      <p:sp>
        <p:nvSpPr>
          <p:cNvPr id="301" name="Shape 298"/>
          <p:cNvSpPr/>
          <p:nvPr/>
        </p:nvSpPr>
        <p:spPr>
          <a:xfrm>
            <a:off x="7786116" y="4668012"/>
            <a:ext cx="685800" cy="219456"/>
          </a:xfrm>
          <a:prstGeom prst="rect">
            <a:avLst/>
          </a:prstGeom>
          <a:solidFill>
            <a:srgbClr val="598AC6"/>
          </a:solidFill>
          <a:ln/>
        </p:spPr>
      </p:sp>
      <p:sp>
        <p:nvSpPr>
          <p:cNvPr id="302" name="Text 299"/>
          <p:cNvSpPr txBox="1"/>
          <p:nvPr/>
        </p:nvSpPr>
        <p:spPr>
          <a:xfrm>
            <a:off x="7772400" y="46542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6.9x</a:t>
            </a:r>
            <a:endParaRPr lang="en-US" sz="900" dirty="0"/>
          </a:p>
        </p:txBody>
      </p:sp>
      <p:sp>
        <p:nvSpPr>
          <p:cNvPr id="303" name="Shape 300"/>
          <p:cNvSpPr/>
          <p:nvPr/>
        </p:nvSpPr>
        <p:spPr>
          <a:xfrm>
            <a:off x="8499348" y="4668012"/>
            <a:ext cx="685800" cy="219456"/>
          </a:xfrm>
          <a:prstGeom prst="rect">
            <a:avLst/>
          </a:prstGeom>
          <a:solidFill>
            <a:srgbClr val="6B98CE"/>
          </a:solidFill>
          <a:ln/>
        </p:spPr>
      </p:sp>
      <p:sp>
        <p:nvSpPr>
          <p:cNvPr id="304" name="Text 301"/>
          <p:cNvSpPr txBox="1"/>
          <p:nvPr/>
        </p:nvSpPr>
        <p:spPr>
          <a:xfrm>
            <a:off x="8485632" y="46542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6.2x</a:t>
            </a:r>
            <a:endParaRPr lang="en-US" sz="900" dirty="0"/>
          </a:p>
        </p:txBody>
      </p:sp>
      <p:sp>
        <p:nvSpPr>
          <p:cNvPr id="305" name="Shape 302"/>
          <p:cNvSpPr/>
          <p:nvPr/>
        </p:nvSpPr>
        <p:spPr>
          <a:xfrm>
            <a:off x="9212580" y="4668012"/>
            <a:ext cx="685800" cy="219456"/>
          </a:xfrm>
          <a:prstGeom prst="rect">
            <a:avLst/>
          </a:prstGeom>
          <a:solidFill>
            <a:srgbClr val="7CA4D4"/>
          </a:solidFill>
          <a:ln/>
        </p:spPr>
      </p:sp>
      <p:sp>
        <p:nvSpPr>
          <p:cNvPr id="306" name="Text 303"/>
          <p:cNvSpPr txBox="1"/>
          <p:nvPr/>
        </p:nvSpPr>
        <p:spPr>
          <a:xfrm>
            <a:off x="9198864" y="46542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5.6x</a:t>
            </a:r>
            <a:endParaRPr lang="en-US" sz="900" dirty="0"/>
          </a:p>
        </p:txBody>
      </p:sp>
      <p:sp>
        <p:nvSpPr>
          <p:cNvPr id="307" name="Shape 304"/>
          <p:cNvSpPr/>
          <p:nvPr/>
        </p:nvSpPr>
        <p:spPr>
          <a:xfrm>
            <a:off x="9925812" y="4668012"/>
            <a:ext cx="685800" cy="219456"/>
          </a:xfrm>
          <a:prstGeom prst="rect">
            <a:avLst/>
          </a:prstGeom>
          <a:solidFill>
            <a:srgbClr val="8AAED9"/>
          </a:solidFill>
          <a:ln/>
        </p:spPr>
      </p:sp>
      <p:sp>
        <p:nvSpPr>
          <p:cNvPr id="308" name="Text 305"/>
          <p:cNvSpPr txBox="1"/>
          <p:nvPr/>
        </p:nvSpPr>
        <p:spPr>
          <a:xfrm>
            <a:off x="9912096" y="46542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5.1x</a:t>
            </a:r>
            <a:endParaRPr lang="en-US" sz="900" dirty="0"/>
          </a:p>
        </p:txBody>
      </p:sp>
      <p:sp>
        <p:nvSpPr>
          <p:cNvPr id="309" name="Shape 306"/>
          <p:cNvSpPr/>
          <p:nvPr/>
        </p:nvSpPr>
        <p:spPr>
          <a:xfrm>
            <a:off x="10639044" y="4668012"/>
            <a:ext cx="685800" cy="219456"/>
          </a:xfrm>
          <a:prstGeom prst="rect">
            <a:avLst/>
          </a:prstGeom>
          <a:solidFill>
            <a:srgbClr val="95B5DD"/>
          </a:solidFill>
          <a:ln/>
        </p:spPr>
      </p:sp>
      <p:sp>
        <p:nvSpPr>
          <p:cNvPr id="310" name="Text 307"/>
          <p:cNvSpPr txBox="1"/>
          <p:nvPr/>
        </p:nvSpPr>
        <p:spPr>
          <a:xfrm>
            <a:off x="10625328" y="46542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4.7x</a:t>
            </a:r>
            <a:endParaRPr lang="en-US" sz="900" dirty="0"/>
          </a:p>
        </p:txBody>
      </p:sp>
      <p:sp>
        <p:nvSpPr>
          <p:cNvPr id="311" name="Text 308"/>
          <p:cNvSpPr txBox="1"/>
          <p:nvPr/>
        </p:nvSpPr>
        <p:spPr>
          <a:xfrm>
            <a:off x="7315200" y="490118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₹35k</a:t>
            </a:r>
            <a:endParaRPr lang="en-US" sz="900" dirty="0"/>
          </a:p>
        </p:txBody>
      </p:sp>
      <p:sp>
        <p:nvSpPr>
          <p:cNvPr id="312" name="Shape 309"/>
          <p:cNvSpPr/>
          <p:nvPr/>
        </p:nvSpPr>
        <p:spPr>
          <a:xfrm>
            <a:off x="7786116" y="4914900"/>
            <a:ext cx="685800" cy="219456"/>
          </a:xfrm>
          <a:prstGeom prst="rect">
            <a:avLst/>
          </a:prstGeom>
          <a:solidFill>
            <a:srgbClr val="8FB2DB"/>
          </a:solidFill>
          <a:ln/>
        </p:spPr>
      </p:sp>
      <p:sp>
        <p:nvSpPr>
          <p:cNvPr id="313" name="Text 310"/>
          <p:cNvSpPr txBox="1"/>
          <p:nvPr/>
        </p:nvSpPr>
        <p:spPr>
          <a:xfrm>
            <a:off x="7772400" y="49011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4.9x</a:t>
            </a:r>
            <a:endParaRPr lang="en-US" sz="900" dirty="0"/>
          </a:p>
        </p:txBody>
      </p:sp>
      <p:sp>
        <p:nvSpPr>
          <p:cNvPr id="314" name="Shape 311"/>
          <p:cNvSpPr/>
          <p:nvPr/>
        </p:nvSpPr>
        <p:spPr>
          <a:xfrm>
            <a:off x="8499348" y="4914900"/>
            <a:ext cx="685800" cy="219456"/>
          </a:xfrm>
          <a:prstGeom prst="rect">
            <a:avLst/>
          </a:prstGeom>
          <a:solidFill>
            <a:srgbClr val="9DBBDF"/>
          </a:solidFill>
          <a:ln/>
        </p:spPr>
      </p:sp>
      <p:sp>
        <p:nvSpPr>
          <p:cNvPr id="315" name="Text 312"/>
          <p:cNvSpPr txBox="1"/>
          <p:nvPr/>
        </p:nvSpPr>
        <p:spPr>
          <a:xfrm>
            <a:off x="8485632" y="49011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4.4x</a:t>
            </a:r>
            <a:endParaRPr lang="en-US" sz="900" dirty="0"/>
          </a:p>
        </p:txBody>
      </p:sp>
      <p:sp>
        <p:nvSpPr>
          <p:cNvPr id="316" name="Shape 313"/>
          <p:cNvSpPr/>
          <p:nvPr/>
        </p:nvSpPr>
        <p:spPr>
          <a:xfrm>
            <a:off x="9212580" y="4914900"/>
            <a:ext cx="685800" cy="219456"/>
          </a:xfrm>
          <a:prstGeom prst="rect">
            <a:avLst/>
          </a:prstGeom>
          <a:solidFill>
            <a:srgbClr val="A9C3E3"/>
          </a:solidFill>
          <a:ln/>
        </p:spPr>
      </p:sp>
      <p:sp>
        <p:nvSpPr>
          <p:cNvPr id="317" name="Text 314"/>
          <p:cNvSpPr txBox="1"/>
          <p:nvPr/>
        </p:nvSpPr>
        <p:spPr>
          <a:xfrm>
            <a:off x="9198864" y="49011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4.0x</a:t>
            </a:r>
            <a:endParaRPr lang="en-US" sz="900" dirty="0"/>
          </a:p>
        </p:txBody>
      </p:sp>
      <p:sp>
        <p:nvSpPr>
          <p:cNvPr id="318" name="Shape 315"/>
          <p:cNvSpPr/>
          <p:nvPr/>
        </p:nvSpPr>
        <p:spPr>
          <a:xfrm>
            <a:off x="9925812" y="4914900"/>
            <a:ext cx="685800" cy="219456"/>
          </a:xfrm>
          <a:prstGeom prst="rect">
            <a:avLst/>
          </a:prstGeom>
          <a:solidFill>
            <a:srgbClr val="B4CBE7"/>
          </a:solidFill>
          <a:ln/>
        </p:spPr>
      </p:sp>
      <p:sp>
        <p:nvSpPr>
          <p:cNvPr id="319" name="Text 316"/>
          <p:cNvSpPr txBox="1"/>
          <p:nvPr/>
        </p:nvSpPr>
        <p:spPr>
          <a:xfrm>
            <a:off x="9912096" y="49011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900" dirty="0"/>
          </a:p>
        </p:txBody>
      </p:sp>
      <p:sp>
        <p:nvSpPr>
          <p:cNvPr id="320" name="Shape 317"/>
          <p:cNvSpPr/>
          <p:nvPr/>
        </p:nvSpPr>
        <p:spPr>
          <a:xfrm>
            <a:off x="10639044" y="4914900"/>
            <a:ext cx="685800" cy="219456"/>
          </a:xfrm>
          <a:prstGeom prst="rect">
            <a:avLst/>
          </a:prstGeom>
          <a:solidFill>
            <a:srgbClr val="BCD1EA"/>
          </a:solidFill>
          <a:ln/>
        </p:spPr>
      </p:sp>
      <p:sp>
        <p:nvSpPr>
          <p:cNvPr id="321" name="Text 318"/>
          <p:cNvSpPr txBox="1"/>
          <p:nvPr/>
        </p:nvSpPr>
        <p:spPr>
          <a:xfrm>
            <a:off x="10625328" y="49011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3.3x</a:t>
            </a:r>
            <a:endParaRPr lang="en-US" sz="900" dirty="0"/>
          </a:p>
        </p:txBody>
      </p:sp>
      <p:sp>
        <p:nvSpPr>
          <p:cNvPr id="322" name="Text 319"/>
          <p:cNvSpPr txBox="1"/>
          <p:nvPr/>
        </p:nvSpPr>
        <p:spPr>
          <a:xfrm>
            <a:off x="7315200" y="514807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₹50k</a:t>
            </a:r>
            <a:endParaRPr lang="en-US" sz="900" dirty="0"/>
          </a:p>
        </p:txBody>
      </p:sp>
      <p:sp>
        <p:nvSpPr>
          <p:cNvPr id="323" name="Shape 320"/>
          <p:cNvSpPr/>
          <p:nvPr/>
        </p:nvSpPr>
        <p:spPr>
          <a:xfrm>
            <a:off x="7786116" y="5161788"/>
            <a:ext cx="685800" cy="219456"/>
          </a:xfrm>
          <a:prstGeom prst="rect">
            <a:avLst/>
          </a:prstGeom>
          <a:solidFill>
            <a:srgbClr val="BACFE9"/>
          </a:solidFill>
          <a:ln/>
        </p:spPr>
      </p:sp>
      <p:sp>
        <p:nvSpPr>
          <p:cNvPr id="324" name="Text 321"/>
          <p:cNvSpPr txBox="1"/>
          <p:nvPr/>
        </p:nvSpPr>
        <p:spPr>
          <a:xfrm>
            <a:off x="7772400" y="51480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3.4x</a:t>
            </a:r>
            <a:endParaRPr lang="en-US" sz="900" dirty="0"/>
          </a:p>
        </p:txBody>
      </p:sp>
      <p:sp>
        <p:nvSpPr>
          <p:cNvPr id="325" name="Shape 322"/>
          <p:cNvSpPr/>
          <p:nvPr/>
        </p:nvSpPr>
        <p:spPr>
          <a:xfrm>
            <a:off x="8499348" y="5161788"/>
            <a:ext cx="685800" cy="219456"/>
          </a:xfrm>
          <a:prstGeom prst="rect">
            <a:avLst/>
          </a:prstGeom>
          <a:solidFill>
            <a:srgbClr val="C2D5EC"/>
          </a:solidFill>
          <a:ln/>
        </p:spPr>
      </p:sp>
      <p:sp>
        <p:nvSpPr>
          <p:cNvPr id="326" name="Text 323"/>
          <p:cNvSpPr txBox="1"/>
          <p:nvPr/>
        </p:nvSpPr>
        <p:spPr>
          <a:xfrm>
            <a:off x="8485632" y="51480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3.1x</a:t>
            </a:r>
            <a:endParaRPr lang="en-US" sz="900" dirty="0"/>
          </a:p>
        </p:txBody>
      </p:sp>
      <p:sp>
        <p:nvSpPr>
          <p:cNvPr id="327" name="Shape 324"/>
          <p:cNvSpPr/>
          <p:nvPr/>
        </p:nvSpPr>
        <p:spPr>
          <a:xfrm>
            <a:off x="9212580" y="5161788"/>
            <a:ext cx="685800" cy="219456"/>
          </a:xfrm>
          <a:prstGeom prst="rect">
            <a:avLst/>
          </a:prstGeom>
          <a:solidFill>
            <a:srgbClr val="CADBEF"/>
          </a:solidFill>
          <a:ln/>
        </p:spPr>
      </p:sp>
      <p:sp>
        <p:nvSpPr>
          <p:cNvPr id="328" name="Text 325"/>
          <p:cNvSpPr txBox="1"/>
          <p:nvPr/>
        </p:nvSpPr>
        <p:spPr>
          <a:xfrm>
            <a:off x="9198864" y="51480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2.8x</a:t>
            </a:r>
            <a:endParaRPr lang="en-US" sz="900" dirty="0"/>
          </a:p>
        </p:txBody>
      </p:sp>
      <p:sp>
        <p:nvSpPr>
          <p:cNvPr id="329" name="Shape 326"/>
          <p:cNvSpPr/>
          <p:nvPr/>
        </p:nvSpPr>
        <p:spPr>
          <a:xfrm>
            <a:off x="9925812" y="5161788"/>
            <a:ext cx="685800" cy="219456"/>
          </a:xfrm>
          <a:prstGeom prst="rect">
            <a:avLst/>
          </a:prstGeom>
          <a:solidFill>
            <a:srgbClr val="D3E0F1"/>
          </a:solidFill>
          <a:ln/>
        </p:spPr>
      </p:sp>
      <p:sp>
        <p:nvSpPr>
          <p:cNvPr id="330" name="Text 327"/>
          <p:cNvSpPr txBox="1"/>
          <p:nvPr/>
        </p:nvSpPr>
        <p:spPr>
          <a:xfrm>
            <a:off x="9912096" y="51480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2.5x</a:t>
            </a:r>
            <a:endParaRPr lang="en-US" sz="900" dirty="0"/>
          </a:p>
        </p:txBody>
      </p:sp>
      <p:sp>
        <p:nvSpPr>
          <p:cNvPr id="331" name="Shape 328"/>
          <p:cNvSpPr/>
          <p:nvPr/>
        </p:nvSpPr>
        <p:spPr>
          <a:xfrm>
            <a:off x="10639044" y="5161788"/>
            <a:ext cx="685800" cy="219456"/>
          </a:xfrm>
          <a:prstGeom prst="rect">
            <a:avLst/>
          </a:prstGeom>
          <a:solidFill>
            <a:srgbClr val="D8E4F3"/>
          </a:solidFill>
          <a:ln/>
        </p:spPr>
      </p:sp>
      <p:sp>
        <p:nvSpPr>
          <p:cNvPr id="332" name="Text 329"/>
          <p:cNvSpPr txBox="1"/>
          <p:nvPr/>
        </p:nvSpPr>
        <p:spPr>
          <a:xfrm>
            <a:off x="10625328" y="51480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2.3x</a:t>
            </a:r>
            <a:endParaRPr lang="en-US" sz="900" dirty="0"/>
          </a:p>
        </p:txBody>
      </p:sp>
      <p:sp>
        <p:nvSpPr>
          <p:cNvPr id="333" name="Text 330"/>
          <p:cNvSpPr txBox="1"/>
          <p:nvPr/>
        </p:nvSpPr>
        <p:spPr>
          <a:xfrm>
            <a:off x="7315200" y="539496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₹75k</a:t>
            </a:r>
            <a:endParaRPr lang="en-US" sz="900" dirty="0"/>
          </a:p>
        </p:txBody>
      </p:sp>
      <p:sp>
        <p:nvSpPr>
          <p:cNvPr id="334" name="Shape 331"/>
          <p:cNvSpPr/>
          <p:nvPr/>
        </p:nvSpPr>
        <p:spPr>
          <a:xfrm>
            <a:off x="7786116" y="5408676"/>
            <a:ext cx="685800" cy="219456"/>
          </a:xfrm>
          <a:prstGeom prst="rect">
            <a:avLst/>
          </a:prstGeom>
          <a:solidFill>
            <a:srgbClr val="D8E4F3"/>
          </a:solidFill>
          <a:ln/>
        </p:spPr>
      </p:sp>
      <p:sp>
        <p:nvSpPr>
          <p:cNvPr id="335" name="Text 332"/>
          <p:cNvSpPr txBox="1"/>
          <p:nvPr/>
        </p:nvSpPr>
        <p:spPr>
          <a:xfrm>
            <a:off x="7772400" y="53949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2.3x</a:t>
            </a:r>
            <a:endParaRPr lang="en-US" sz="900" dirty="0"/>
          </a:p>
        </p:txBody>
      </p:sp>
      <p:sp>
        <p:nvSpPr>
          <p:cNvPr id="336" name="Shape 333"/>
          <p:cNvSpPr/>
          <p:nvPr/>
        </p:nvSpPr>
        <p:spPr>
          <a:xfrm>
            <a:off x="8499348" y="5408676"/>
            <a:ext cx="685800" cy="219456"/>
          </a:xfrm>
          <a:prstGeom prst="rect">
            <a:avLst/>
          </a:prstGeom>
          <a:solidFill>
            <a:srgbClr val="DEE8F5"/>
          </a:solidFill>
          <a:ln/>
        </p:spPr>
      </p:sp>
      <p:sp>
        <p:nvSpPr>
          <p:cNvPr id="337" name="Text 334"/>
          <p:cNvSpPr txBox="1"/>
          <p:nvPr/>
        </p:nvSpPr>
        <p:spPr>
          <a:xfrm>
            <a:off x="8485632" y="53949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900" dirty="0"/>
          </a:p>
        </p:txBody>
      </p:sp>
      <p:sp>
        <p:nvSpPr>
          <p:cNvPr id="338" name="Shape 335"/>
          <p:cNvSpPr/>
          <p:nvPr/>
        </p:nvSpPr>
        <p:spPr>
          <a:xfrm>
            <a:off x="9212580" y="5408676"/>
            <a:ext cx="685800" cy="219456"/>
          </a:xfrm>
          <a:prstGeom prst="rect">
            <a:avLst/>
          </a:prstGeom>
          <a:solidFill>
            <a:srgbClr val="E4ECF7"/>
          </a:solidFill>
          <a:ln/>
        </p:spPr>
      </p:sp>
      <p:sp>
        <p:nvSpPr>
          <p:cNvPr id="339" name="Text 336"/>
          <p:cNvSpPr txBox="1"/>
          <p:nvPr/>
        </p:nvSpPr>
        <p:spPr>
          <a:xfrm>
            <a:off x="9198864" y="53949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1.9x</a:t>
            </a:r>
            <a:endParaRPr lang="en-US" sz="900" dirty="0"/>
          </a:p>
        </p:txBody>
      </p:sp>
      <p:sp>
        <p:nvSpPr>
          <p:cNvPr id="340" name="Shape 337"/>
          <p:cNvSpPr/>
          <p:nvPr/>
        </p:nvSpPr>
        <p:spPr>
          <a:xfrm>
            <a:off x="9925812" y="5408676"/>
            <a:ext cx="685800" cy="219456"/>
          </a:xfrm>
          <a:prstGeom prst="rect">
            <a:avLst/>
          </a:prstGeom>
          <a:solidFill>
            <a:srgbClr val="E9F0F9"/>
          </a:solidFill>
          <a:ln/>
        </p:spPr>
      </p:sp>
      <p:sp>
        <p:nvSpPr>
          <p:cNvPr id="341" name="Text 338"/>
          <p:cNvSpPr txBox="1"/>
          <p:nvPr/>
        </p:nvSpPr>
        <p:spPr>
          <a:xfrm>
            <a:off x="9912096" y="53949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900" dirty="0"/>
          </a:p>
        </p:txBody>
      </p:sp>
      <p:sp>
        <p:nvSpPr>
          <p:cNvPr id="342" name="Shape 339"/>
          <p:cNvSpPr/>
          <p:nvPr/>
        </p:nvSpPr>
        <p:spPr>
          <a:xfrm>
            <a:off x="10639044" y="5408676"/>
            <a:ext cx="685800" cy="219456"/>
          </a:xfrm>
          <a:prstGeom prst="rect">
            <a:avLst/>
          </a:prstGeom>
          <a:solidFill>
            <a:srgbClr val="ECF2FA"/>
          </a:solidFill>
          <a:ln/>
        </p:spPr>
      </p:sp>
      <p:sp>
        <p:nvSpPr>
          <p:cNvPr id="343" name="Text 340"/>
          <p:cNvSpPr txBox="1"/>
          <p:nvPr/>
        </p:nvSpPr>
        <p:spPr>
          <a:xfrm>
            <a:off x="10625328" y="53949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900" dirty="0"/>
          </a:p>
        </p:txBody>
      </p:sp>
      <p:sp>
        <p:nvSpPr>
          <p:cNvPr id="344" name="Text 341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financial model v1.1 (Scenarios, Sensitivity). Model output from sourced and assumed inputs, not measured. Base marker on the churn grid is about ₹38k acquisition cost at 3 % churn.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2: THREE-YEAR PLAN AND SEGMENTS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three-year plan capped by the market, and how size changes the economics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704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11480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40664" y="117043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THREE-YEAR PROJECTION (₹)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11480" y="1481328"/>
            <a:ext cx="23774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720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788920" y="1481328"/>
            <a:ext cx="1097280" cy="274320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2834640" y="1481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886200" y="1481328"/>
            <a:ext cx="11887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931920" y="1481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074920" y="1481328"/>
            <a:ext cx="1097280" cy="274320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120640" y="1481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11480" y="1755648"/>
            <a:ext cx="23774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457200" y="17556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 year 3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788920" y="1755648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2834640" y="17556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₹11.0 L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886200" y="1755648"/>
            <a:ext cx="1188720" cy="347472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3931920" y="17556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₹65.3 L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074920" y="1755648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5120640" y="17556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₹2.50 Cr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11480" y="2103120"/>
            <a:ext cx="576072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11480" y="2103120"/>
            <a:ext cx="23774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457200" y="2103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in year 3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2788920" y="2103120"/>
            <a:ext cx="10972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2834640" y="21031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-₹30.2 L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3886200" y="2103120"/>
            <a:ext cx="1188720" cy="347472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3931920" y="21031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₹11.9 L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5074920" y="2103120"/>
            <a:ext cx="10972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5120640" y="21031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₹1.26 Cr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411480" y="2450592"/>
            <a:ext cx="576072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11480" y="2450592"/>
            <a:ext cx="23774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457200" y="2450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institutes, end of year 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2788920" y="2450592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2834640" y="24505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3886200" y="2450592"/>
            <a:ext cx="1188720" cy="347472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3931920" y="24505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5074920" y="2450592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5120640" y="24505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411480" y="2798064"/>
            <a:ext cx="576072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11480" y="2798064"/>
            <a:ext cx="23774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457200" y="27980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the model needs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2788920" y="2798064"/>
            <a:ext cx="10972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2834640" y="279806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₹1.00 Cr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3886200" y="2798064"/>
            <a:ext cx="1188720" cy="347472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3931920" y="279806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₹45.0 L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5074920" y="2798064"/>
            <a:ext cx="10972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5120640" y="279806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₹30.0 L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411480" y="3145536"/>
            <a:ext cx="576072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411480" y="3145536"/>
            <a:ext cx="23774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457200" y="31455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month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2788920" y="3145536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2834640" y="31455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36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3886200" y="3145536"/>
            <a:ext cx="1188720" cy="347472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3931920" y="31455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5074920" y="3145536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5120640" y="31455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11480" y="3493008"/>
            <a:ext cx="576072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11480" y="35661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cap: 1,180 addressable institutes in five states x 8 % penetration (derived, mostly assumption). Bear funding assumes no cost response.</a:t>
            </a:r>
            <a:endParaRPr lang="en-US" sz="900" dirty="0"/>
          </a:p>
        </p:txBody>
      </p:sp>
      <p:sp>
        <p:nvSpPr>
          <p:cNvPr id="80" name="Shape 77"/>
          <p:cNvSpPr/>
          <p:nvPr/>
        </p:nvSpPr>
        <p:spPr>
          <a:xfrm>
            <a:off x="411480" y="397764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411480" y="3977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82" name="Text 79"/>
          <p:cNvSpPr txBox="1"/>
          <p:nvPr/>
        </p:nvSpPr>
        <p:spPr>
          <a:xfrm>
            <a:off x="740664" y="3977640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CASE, YEAR BY YEAR (₹ LAKH)</a:t>
            </a:r>
            <a:endParaRPr lang="en-US" sz="1200" dirty="0"/>
          </a:p>
        </p:txBody>
      </p:sp>
      <p:sp>
        <p:nvSpPr>
          <p:cNvPr id="83" name="Shape 80"/>
          <p:cNvSpPr/>
          <p:nvPr/>
        </p:nvSpPr>
        <p:spPr>
          <a:xfrm>
            <a:off x="777240" y="5254508"/>
            <a:ext cx="640080" cy="41477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685800" y="50167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₹18.9</a:t>
            </a:r>
            <a:endParaRPr lang="en-US" sz="1000" dirty="0"/>
          </a:p>
        </p:txBody>
      </p:sp>
      <p:sp>
        <p:nvSpPr>
          <p:cNvPr id="85" name="Shape 82"/>
          <p:cNvSpPr/>
          <p:nvPr/>
        </p:nvSpPr>
        <p:spPr>
          <a:xfrm>
            <a:off x="1490472" y="5669280"/>
            <a:ext cx="502920" cy="35332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1399032" y="60317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-16.1</a:t>
            </a:r>
            <a:endParaRPr lang="en-US" sz="900" dirty="0"/>
          </a:p>
        </p:txBody>
      </p:sp>
      <p:sp>
        <p:nvSpPr>
          <p:cNvPr id="87" name="Text 84"/>
          <p:cNvSpPr txBox="1"/>
          <p:nvPr/>
        </p:nvSpPr>
        <p:spPr>
          <a:xfrm>
            <a:off x="548640" y="6108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 ·  28 institutes</a:t>
            </a:r>
            <a:endParaRPr lang="en-US" sz="900" dirty="0"/>
          </a:p>
        </p:txBody>
      </p:sp>
      <p:sp>
        <p:nvSpPr>
          <p:cNvPr id="88" name="Shape 85"/>
          <p:cNvSpPr/>
          <p:nvPr/>
        </p:nvSpPr>
        <p:spPr>
          <a:xfrm>
            <a:off x="2651760" y="4615891"/>
            <a:ext cx="640080" cy="1053389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9" name="Text 86"/>
          <p:cNvSpPr txBox="1"/>
          <p:nvPr/>
        </p:nvSpPr>
        <p:spPr>
          <a:xfrm>
            <a:off x="2560320" y="4378147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₹48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3364992" y="5669280"/>
            <a:ext cx="502920" cy="19751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1" name="Text 88"/>
          <p:cNvSpPr txBox="1"/>
          <p:nvPr/>
        </p:nvSpPr>
        <p:spPr>
          <a:xfrm>
            <a:off x="3273552" y="5698175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-0.9</a:t>
            </a:r>
            <a:endParaRPr lang="en-US" sz="900" dirty="0"/>
          </a:p>
        </p:txBody>
      </p:sp>
      <p:sp>
        <p:nvSpPr>
          <p:cNvPr id="92" name="Text 89"/>
          <p:cNvSpPr txBox="1"/>
          <p:nvPr/>
        </p:nvSpPr>
        <p:spPr>
          <a:xfrm>
            <a:off x="2423160" y="6108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 ·  51 institutes</a:t>
            </a:r>
            <a:endParaRPr lang="en-US" sz="900" dirty="0"/>
          </a:p>
        </p:txBody>
      </p:sp>
      <p:sp>
        <p:nvSpPr>
          <p:cNvPr id="93" name="Shape 90"/>
          <p:cNvSpPr/>
          <p:nvPr/>
        </p:nvSpPr>
        <p:spPr>
          <a:xfrm>
            <a:off x="4526280" y="4236232"/>
            <a:ext cx="640080" cy="1433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4" name="Text 91"/>
          <p:cNvSpPr txBox="1"/>
          <p:nvPr/>
        </p:nvSpPr>
        <p:spPr>
          <a:xfrm>
            <a:off x="4434840" y="39984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₹65.3</a:t>
            </a:r>
            <a:endParaRPr lang="en-US" sz="1000" dirty="0"/>
          </a:p>
        </p:txBody>
      </p:sp>
      <p:sp>
        <p:nvSpPr>
          <p:cNvPr id="95" name="Shape 92"/>
          <p:cNvSpPr/>
          <p:nvPr/>
        </p:nvSpPr>
        <p:spPr>
          <a:xfrm>
            <a:off x="5239512" y="5408127"/>
            <a:ext cx="502920" cy="261153"/>
          </a:xfrm>
          <a:prstGeom prst="rect">
            <a:avLst/>
          </a:prstGeom>
          <a:solidFill>
            <a:srgbClr val="5B8DC9"/>
          </a:solidFill>
          <a:ln/>
        </p:spPr>
      </p:sp>
      <p:sp>
        <p:nvSpPr>
          <p:cNvPr id="96" name="Text 93"/>
          <p:cNvSpPr txBox="1"/>
          <p:nvPr/>
        </p:nvSpPr>
        <p:spPr>
          <a:xfrm>
            <a:off x="5148072" y="5170383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+11.9</a:t>
            </a:r>
            <a:endParaRPr lang="en-US" sz="900" dirty="0"/>
          </a:p>
        </p:txBody>
      </p:sp>
      <p:sp>
        <p:nvSpPr>
          <p:cNvPr id="97" name="Text 94"/>
          <p:cNvSpPr txBox="1"/>
          <p:nvPr/>
        </p:nvSpPr>
        <p:spPr>
          <a:xfrm>
            <a:off x="4297680" y="6108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 ·  58 institutes</a:t>
            </a:r>
            <a:endParaRPr lang="en-US" sz="900" dirty="0"/>
          </a:p>
        </p:txBody>
      </p:sp>
      <p:sp>
        <p:nvSpPr>
          <p:cNvPr id="98" name="Shape 95"/>
          <p:cNvSpPr/>
          <p:nvPr/>
        </p:nvSpPr>
        <p:spPr>
          <a:xfrm>
            <a:off x="411480" y="5669280"/>
            <a:ext cx="5760720" cy="13716"/>
          </a:xfrm>
          <a:prstGeom prst="rect">
            <a:avLst/>
          </a:prstGeom>
          <a:solidFill>
            <a:srgbClr val="9AA6B5"/>
          </a:solidFill>
          <a:ln/>
        </p:spPr>
      </p:sp>
      <p:sp>
        <p:nvSpPr>
          <p:cNvPr id="99" name="Shape 96"/>
          <p:cNvSpPr/>
          <p:nvPr/>
        </p:nvSpPr>
        <p:spPr>
          <a:xfrm>
            <a:off x="502920" y="6291072"/>
            <a:ext cx="128016" cy="12801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0" name="Text 97"/>
          <p:cNvSpPr txBox="1"/>
          <p:nvPr/>
        </p:nvSpPr>
        <p:spPr>
          <a:xfrm>
            <a:off x="667512" y="62453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101" name="Shape 98"/>
          <p:cNvSpPr/>
          <p:nvPr/>
        </p:nvSpPr>
        <p:spPr>
          <a:xfrm>
            <a:off x="1600200" y="6291072"/>
            <a:ext cx="128016" cy="128016"/>
          </a:xfrm>
          <a:prstGeom prst="rect">
            <a:avLst/>
          </a:prstGeom>
          <a:solidFill>
            <a:srgbClr val="5B8DC9"/>
          </a:solidFill>
          <a:ln/>
        </p:spPr>
      </p:sp>
      <p:sp>
        <p:nvSpPr>
          <p:cNvPr id="102" name="Text 99"/>
          <p:cNvSpPr txBox="1"/>
          <p:nvPr/>
        </p:nvSpPr>
        <p:spPr>
          <a:xfrm>
            <a:off x="1764792" y="62453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900" dirty="0"/>
          </a:p>
        </p:txBody>
      </p:sp>
      <p:sp>
        <p:nvSpPr>
          <p:cNvPr id="103" name="Shape 100"/>
          <p:cNvSpPr/>
          <p:nvPr/>
        </p:nvSpPr>
        <p:spPr>
          <a:xfrm>
            <a:off x="6537960" y="11704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6537960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105" name="Text 102"/>
          <p:cNvSpPr txBox="1"/>
          <p:nvPr/>
        </p:nvSpPr>
        <p:spPr>
          <a:xfrm>
            <a:off x="6867144" y="1170432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INSTITUTE SIZE (BASE)</a:t>
            </a:r>
            <a:endParaRPr lang="en-US" sz="1200" dirty="0"/>
          </a:p>
        </p:txBody>
      </p:sp>
      <p:sp>
        <p:nvSpPr>
          <p:cNvPr id="106" name="Shape 103"/>
          <p:cNvSpPr/>
          <p:nvPr/>
        </p:nvSpPr>
        <p:spPr>
          <a:xfrm>
            <a:off x="6537960" y="1481328"/>
            <a:ext cx="219456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7" name="Text 104"/>
          <p:cNvSpPr txBox="1"/>
          <p:nvPr/>
        </p:nvSpPr>
        <p:spPr>
          <a:xfrm>
            <a:off x="6583680" y="1481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8732520" y="1481328"/>
            <a:ext cx="1005840" cy="274320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109" name="Text 106"/>
          <p:cNvSpPr txBox="1"/>
          <p:nvPr/>
        </p:nvSpPr>
        <p:spPr>
          <a:xfrm>
            <a:off x="8778240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000" dirty="0"/>
          </a:p>
        </p:txBody>
      </p:sp>
      <p:sp>
        <p:nvSpPr>
          <p:cNvPr id="110" name="Shape 107"/>
          <p:cNvSpPr/>
          <p:nvPr/>
        </p:nvSpPr>
        <p:spPr>
          <a:xfrm>
            <a:off x="9738360" y="1481328"/>
            <a:ext cx="10058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1" name="Text 108"/>
          <p:cNvSpPr txBox="1"/>
          <p:nvPr/>
        </p:nvSpPr>
        <p:spPr>
          <a:xfrm>
            <a:off x="9784080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000" dirty="0"/>
          </a:p>
        </p:txBody>
      </p:sp>
      <p:sp>
        <p:nvSpPr>
          <p:cNvPr id="112" name="Shape 109"/>
          <p:cNvSpPr/>
          <p:nvPr/>
        </p:nvSpPr>
        <p:spPr>
          <a:xfrm>
            <a:off x="10744200" y="1481328"/>
            <a:ext cx="987552" cy="274320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113" name="Text 110"/>
          <p:cNvSpPr txBox="1"/>
          <p:nvPr/>
        </p:nvSpPr>
        <p:spPr>
          <a:xfrm>
            <a:off x="10789920" y="148132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000" dirty="0"/>
          </a:p>
        </p:txBody>
      </p:sp>
      <p:sp>
        <p:nvSpPr>
          <p:cNvPr id="114" name="Shape 111"/>
          <p:cNvSpPr/>
          <p:nvPr/>
        </p:nvSpPr>
        <p:spPr>
          <a:xfrm>
            <a:off x="6537960" y="1755648"/>
            <a:ext cx="219456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5" name="Text 112"/>
          <p:cNvSpPr txBox="1"/>
          <p:nvPr/>
        </p:nvSpPr>
        <p:spPr>
          <a:xfrm>
            <a:off x="6583680" y="1755648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00" dirty="0"/>
          </a:p>
        </p:txBody>
      </p:sp>
      <p:sp>
        <p:nvSpPr>
          <p:cNvPr id="116" name="Shape 113"/>
          <p:cNvSpPr/>
          <p:nvPr/>
        </p:nvSpPr>
        <p:spPr>
          <a:xfrm>
            <a:off x="8732520" y="1755648"/>
            <a:ext cx="100584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8778240" y="175564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1000" dirty="0"/>
          </a:p>
        </p:txBody>
      </p:sp>
      <p:sp>
        <p:nvSpPr>
          <p:cNvPr id="118" name="Shape 115"/>
          <p:cNvSpPr/>
          <p:nvPr/>
        </p:nvSpPr>
        <p:spPr>
          <a:xfrm>
            <a:off x="9738360" y="1755648"/>
            <a:ext cx="100584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9" name="Text 116"/>
          <p:cNvSpPr txBox="1"/>
          <p:nvPr/>
        </p:nvSpPr>
        <p:spPr>
          <a:xfrm>
            <a:off x="9784080" y="175564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000" dirty="0"/>
          </a:p>
        </p:txBody>
      </p:sp>
      <p:sp>
        <p:nvSpPr>
          <p:cNvPr id="120" name="Shape 117"/>
          <p:cNvSpPr/>
          <p:nvPr/>
        </p:nvSpPr>
        <p:spPr>
          <a:xfrm>
            <a:off x="10744200" y="1755648"/>
            <a:ext cx="987552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1" name="Text 118"/>
          <p:cNvSpPr txBox="1"/>
          <p:nvPr/>
        </p:nvSpPr>
        <p:spPr>
          <a:xfrm>
            <a:off x="10789920" y="1755648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1000" dirty="0"/>
          </a:p>
        </p:txBody>
      </p:sp>
      <p:sp>
        <p:nvSpPr>
          <p:cNvPr id="122" name="Shape 119"/>
          <p:cNvSpPr/>
          <p:nvPr/>
        </p:nvSpPr>
        <p:spPr>
          <a:xfrm>
            <a:off x="6537960" y="2093976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6537960" y="2093976"/>
            <a:ext cx="21945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6583680" y="2093976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fee per student</a:t>
            </a:r>
            <a:endParaRPr lang="en-US" sz="1000" dirty="0"/>
          </a:p>
        </p:txBody>
      </p:sp>
      <p:sp>
        <p:nvSpPr>
          <p:cNvPr id="125" name="Shape 122"/>
          <p:cNvSpPr/>
          <p:nvPr/>
        </p:nvSpPr>
        <p:spPr>
          <a:xfrm>
            <a:off x="8732520" y="2093976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6" name="Text 123"/>
          <p:cNvSpPr txBox="1"/>
          <p:nvPr/>
        </p:nvSpPr>
        <p:spPr>
          <a:xfrm>
            <a:off x="8778240" y="209397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₹60,000</a:t>
            </a:r>
            <a:endParaRPr lang="en-US" sz="1000" dirty="0"/>
          </a:p>
        </p:txBody>
      </p:sp>
      <p:sp>
        <p:nvSpPr>
          <p:cNvPr id="127" name="Shape 124"/>
          <p:cNvSpPr/>
          <p:nvPr/>
        </p:nvSpPr>
        <p:spPr>
          <a:xfrm>
            <a:off x="9738360" y="2093976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8" name="Text 125"/>
          <p:cNvSpPr txBox="1"/>
          <p:nvPr/>
        </p:nvSpPr>
        <p:spPr>
          <a:xfrm>
            <a:off x="9784080" y="209397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₹75,000</a:t>
            </a:r>
            <a:endParaRPr lang="en-US" sz="1000" dirty="0"/>
          </a:p>
        </p:txBody>
      </p:sp>
      <p:sp>
        <p:nvSpPr>
          <p:cNvPr id="129" name="Shape 126"/>
          <p:cNvSpPr/>
          <p:nvPr/>
        </p:nvSpPr>
        <p:spPr>
          <a:xfrm>
            <a:off x="10744200" y="2093976"/>
            <a:ext cx="98755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0" name="Text 127"/>
          <p:cNvSpPr txBox="1"/>
          <p:nvPr/>
        </p:nvSpPr>
        <p:spPr>
          <a:xfrm>
            <a:off x="10789920" y="2093976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₹1,00,000</a:t>
            </a:r>
            <a:endParaRPr lang="en-US" sz="1000" dirty="0"/>
          </a:p>
        </p:txBody>
      </p:sp>
      <p:sp>
        <p:nvSpPr>
          <p:cNvPr id="131" name="Shape 128"/>
          <p:cNvSpPr/>
          <p:nvPr/>
        </p:nvSpPr>
        <p:spPr>
          <a:xfrm>
            <a:off x="6537960" y="2432304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6537960" y="2432304"/>
            <a:ext cx="219456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3" name="Text 130"/>
          <p:cNvSpPr txBox="1"/>
          <p:nvPr/>
        </p:nvSpPr>
        <p:spPr>
          <a:xfrm>
            <a:off x="6583680" y="2432304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all benefits</a:t>
            </a:r>
            <a:endParaRPr lang="en-US" sz="1000" dirty="0"/>
          </a:p>
        </p:txBody>
      </p:sp>
      <p:sp>
        <p:nvSpPr>
          <p:cNvPr id="134" name="Shape 131"/>
          <p:cNvSpPr/>
          <p:nvPr/>
        </p:nvSpPr>
        <p:spPr>
          <a:xfrm>
            <a:off x="8732520" y="2432304"/>
            <a:ext cx="100584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5" name="Text 132"/>
          <p:cNvSpPr txBox="1"/>
          <p:nvPr/>
        </p:nvSpPr>
        <p:spPr>
          <a:xfrm>
            <a:off x="8778240" y="2432304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1000" dirty="0"/>
          </a:p>
        </p:txBody>
      </p:sp>
      <p:sp>
        <p:nvSpPr>
          <p:cNvPr id="136" name="Shape 133"/>
          <p:cNvSpPr/>
          <p:nvPr/>
        </p:nvSpPr>
        <p:spPr>
          <a:xfrm>
            <a:off x="9738360" y="2432304"/>
            <a:ext cx="1005840" cy="33832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37" name="Text 134"/>
          <p:cNvSpPr txBox="1"/>
          <p:nvPr/>
        </p:nvSpPr>
        <p:spPr>
          <a:xfrm>
            <a:off x="9784080" y="2432304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1000" dirty="0"/>
          </a:p>
        </p:txBody>
      </p:sp>
      <p:sp>
        <p:nvSpPr>
          <p:cNvPr id="138" name="Shape 135"/>
          <p:cNvSpPr/>
          <p:nvPr/>
        </p:nvSpPr>
        <p:spPr>
          <a:xfrm>
            <a:off x="10744200" y="2432304"/>
            <a:ext cx="987552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9" name="Text 136"/>
          <p:cNvSpPr txBox="1"/>
          <p:nvPr/>
        </p:nvSpPr>
        <p:spPr>
          <a:xfrm>
            <a:off x="10789920" y="2432304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1000" dirty="0"/>
          </a:p>
        </p:txBody>
      </p:sp>
      <p:sp>
        <p:nvSpPr>
          <p:cNvPr id="140" name="Shape 137"/>
          <p:cNvSpPr/>
          <p:nvPr/>
        </p:nvSpPr>
        <p:spPr>
          <a:xfrm>
            <a:off x="6537960" y="2770632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6537960" y="2770632"/>
            <a:ext cx="21945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2" name="Text 139"/>
          <p:cNvSpPr txBox="1"/>
          <p:nvPr/>
        </p:nvSpPr>
        <p:spPr>
          <a:xfrm>
            <a:off x="6583680" y="2770632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CAC, field sales</a:t>
            </a:r>
            <a:endParaRPr lang="en-US" sz="1000" dirty="0"/>
          </a:p>
        </p:txBody>
      </p:sp>
      <p:sp>
        <p:nvSpPr>
          <p:cNvPr id="143" name="Shape 140"/>
          <p:cNvSpPr/>
          <p:nvPr/>
        </p:nvSpPr>
        <p:spPr>
          <a:xfrm>
            <a:off x="8732520" y="2770632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4" name="Text 141"/>
          <p:cNvSpPr txBox="1"/>
          <p:nvPr/>
        </p:nvSpPr>
        <p:spPr>
          <a:xfrm>
            <a:off x="8778240" y="2770632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</a:t>
            </a:r>
            <a:endParaRPr lang="en-US" sz="1000" dirty="0"/>
          </a:p>
        </p:txBody>
      </p:sp>
      <p:sp>
        <p:nvSpPr>
          <p:cNvPr id="145" name="Shape 142"/>
          <p:cNvSpPr/>
          <p:nvPr/>
        </p:nvSpPr>
        <p:spPr>
          <a:xfrm>
            <a:off x="9738360" y="2770632"/>
            <a:ext cx="1005840" cy="33832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46" name="Text 143"/>
          <p:cNvSpPr txBox="1"/>
          <p:nvPr/>
        </p:nvSpPr>
        <p:spPr>
          <a:xfrm>
            <a:off x="9784080" y="2770632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1000" dirty="0"/>
          </a:p>
        </p:txBody>
      </p:sp>
      <p:sp>
        <p:nvSpPr>
          <p:cNvPr id="147" name="Shape 144"/>
          <p:cNvSpPr/>
          <p:nvPr/>
        </p:nvSpPr>
        <p:spPr>
          <a:xfrm>
            <a:off x="10744200" y="2770632"/>
            <a:ext cx="98755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8" name="Text 145"/>
          <p:cNvSpPr txBox="1"/>
          <p:nvPr/>
        </p:nvSpPr>
        <p:spPr>
          <a:xfrm>
            <a:off x="10789920" y="2770632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9.2x</a:t>
            </a:r>
            <a:endParaRPr lang="en-US" sz="1000" dirty="0"/>
          </a:p>
        </p:txBody>
      </p:sp>
      <p:sp>
        <p:nvSpPr>
          <p:cNvPr id="149" name="Shape 146"/>
          <p:cNvSpPr/>
          <p:nvPr/>
        </p:nvSpPr>
        <p:spPr>
          <a:xfrm>
            <a:off x="6537960" y="3108960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6537960" y="3108960"/>
            <a:ext cx="219456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1" name="Text 148"/>
          <p:cNvSpPr txBox="1"/>
          <p:nvPr/>
        </p:nvSpPr>
        <p:spPr>
          <a:xfrm>
            <a:off x="6583680" y="3108960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CAC, channel partner</a:t>
            </a:r>
            <a:endParaRPr lang="en-US" sz="1000" dirty="0"/>
          </a:p>
        </p:txBody>
      </p:sp>
      <p:sp>
        <p:nvSpPr>
          <p:cNvPr id="152" name="Shape 149"/>
          <p:cNvSpPr/>
          <p:nvPr/>
        </p:nvSpPr>
        <p:spPr>
          <a:xfrm>
            <a:off x="8732520" y="3108960"/>
            <a:ext cx="100584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3" name="Text 150"/>
          <p:cNvSpPr txBox="1"/>
          <p:nvPr/>
        </p:nvSpPr>
        <p:spPr>
          <a:xfrm>
            <a:off x="8778240" y="310896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3.4x</a:t>
            </a:r>
            <a:endParaRPr lang="en-US" sz="1000" dirty="0"/>
          </a:p>
        </p:txBody>
      </p:sp>
      <p:sp>
        <p:nvSpPr>
          <p:cNvPr id="154" name="Shape 151"/>
          <p:cNvSpPr/>
          <p:nvPr/>
        </p:nvSpPr>
        <p:spPr>
          <a:xfrm>
            <a:off x="9738360" y="3108960"/>
            <a:ext cx="100584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5" name="Text 152"/>
          <p:cNvSpPr txBox="1"/>
          <p:nvPr/>
        </p:nvSpPr>
        <p:spPr>
          <a:xfrm>
            <a:off x="9784080" y="310896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4.9x</a:t>
            </a:r>
            <a:endParaRPr lang="en-US" sz="1000" dirty="0"/>
          </a:p>
        </p:txBody>
      </p:sp>
      <p:sp>
        <p:nvSpPr>
          <p:cNvPr id="156" name="Shape 153"/>
          <p:cNvSpPr/>
          <p:nvPr/>
        </p:nvSpPr>
        <p:spPr>
          <a:xfrm>
            <a:off x="10744200" y="3108960"/>
            <a:ext cx="987552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7" name="Text 154"/>
          <p:cNvSpPr txBox="1"/>
          <p:nvPr/>
        </p:nvSpPr>
        <p:spPr>
          <a:xfrm>
            <a:off x="10789920" y="3108960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6.1x</a:t>
            </a:r>
            <a:endParaRPr lang="en-US" sz="1000" dirty="0"/>
          </a:p>
        </p:txBody>
      </p:sp>
      <p:sp>
        <p:nvSpPr>
          <p:cNvPr id="158" name="Shape 155"/>
          <p:cNvSpPr/>
          <p:nvPr/>
        </p:nvSpPr>
        <p:spPr>
          <a:xfrm>
            <a:off x="6537960" y="3447288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6537960" y="3447288"/>
            <a:ext cx="21945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0" name="Text 157"/>
          <p:cNvSpPr txBox="1"/>
          <p:nvPr/>
        </p:nvSpPr>
        <p:spPr>
          <a:xfrm>
            <a:off x="6583680" y="3447288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Payback, months</a:t>
            </a:r>
            <a:endParaRPr lang="en-US" sz="1000" dirty="0"/>
          </a:p>
        </p:txBody>
      </p:sp>
      <p:sp>
        <p:nvSpPr>
          <p:cNvPr id="161" name="Shape 158"/>
          <p:cNvSpPr/>
          <p:nvPr/>
        </p:nvSpPr>
        <p:spPr>
          <a:xfrm>
            <a:off x="8732520" y="3447288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2" name="Text 159"/>
          <p:cNvSpPr txBox="1"/>
          <p:nvPr/>
        </p:nvSpPr>
        <p:spPr>
          <a:xfrm>
            <a:off x="8778240" y="344728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63" name="Shape 160"/>
          <p:cNvSpPr/>
          <p:nvPr/>
        </p:nvSpPr>
        <p:spPr>
          <a:xfrm>
            <a:off x="9738360" y="3447288"/>
            <a:ext cx="1005840" cy="33832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64" name="Text 161"/>
          <p:cNvSpPr txBox="1"/>
          <p:nvPr/>
        </p:nvSpPr>
        <p:spPr>
          <a:xfrm>
            <a:off x="9784080" y="344728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65" name="Shape 162"/>
          <p:cNvSpPr/>
          <p:nvPr/>
        </p:nvSpPr>
        <p:spPr>
          <a:xfrm>
            <a:off x="10744200" y="3447288"/>
            <a:ext cx="98755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6" name="Text 163"/>
          <p:cNvSpPr txBox="1"/>
          <p:nvPr/>
        </p:nvSpPr>
        <p:spPr>
          <a:xfrm>
            <a:off x="10789920" y="3447288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7" name="Shape 164"/>
          <p:cNvSpPr/>
          <p:nvPr/>
        </p:nvSpPr>
        <p:spPr>
          <a:xfrm>
            <a:off x="6537960" y="3785616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6537960" y="3977640"/>
            <a:ext cx="5239512" cy="21945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69" name="Text 166"/>
          <p:cNvSpPr txBox="1"/>
          <p:nvPr/>
        </p:nvSpPr>
        <p:spPr>
          <a:xfrm>
            <a:off x="6675120" y="40416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GO-TO-MARKET</a:t>
            </a:r>
            <a:endParaRPr lang="en-US" sz="1050" dirty="0"/>
          </a:p>
        </p:txBody>
      </p:sp>
      <p:sp>
        <p:nvSpPr>
          <p:cNvPr id="170" name="Text 167"/>
          <p:cNvSpPr txBox="1"/>
          <p:nvPr/>
        </p:nvSpPr>
        <p:spPr>
          <a:xfrm>
            <a:off x="6675120" y="4370832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and large institutes: field sales pays.</a:t>
            </a:r>
            <a:endParaRPr lang="en-US" sz="105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institutes: channel partners, not reps.</a:t>
            </a:r>
            <a:endParaRPr lang="en-US" sz="105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field rep at 8 % of the market.</a:t>
            </a:r>
            <a:endParaRPr lang="en-US" sz="105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₹45 L, break even in month 16.</a:t>
            </a:r>
            <a:endParaRPr lang="en-US" sz="105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case needs ₹1 Cr: we stop if pilots fail.</a:t>
            </a:r>
            <a:endParaRPr lang="en-US" sz="1050" dirty="0"/>
          </a:p>
        </p:txBody>
      </p:sp>
      <p:sp>
        <p:nvSpPr>
          <p:cNvPr id="171" name="Text 168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financial model v1.1 (Projection, Scenarios; Bear, Base, Bull). Model output from sourced and assumed inputs; willingness to pay is untested. 1 Cr = 100 lakh (L).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3: DATA MODEL AND QUESTION TAGGING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tables in five groups, all isolated per institute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3703320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21208" y="1188720"/>
            <a:ext cx="3483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169664" y="1188720"/>
            <a:ext cx="0" cy="192024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548640" y="16459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institutes, users, students, guardians, batches, batch_changes, consents, legal_settings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233672" y="1188720"/>
            <a:ext cx="3703320" cy="30175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343400" y="1188720"/>
            <a:ext cx="3483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991856" y="1188720"/>
            <a:ext cx="0" cy="192024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30" name="Text 27"/>
          <p:cNvSpPr txBox="1"/>
          <p:nvPr/>
        </p:nvSpPr>
        <p:spPr>
          <a:xfrm>
            <a:off x="4370832" y="16459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topics, topic_prereqs, questions, question_topics, item_params, tests, test_questions, answer_keys, marking_schemes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055864" y="1188720"/>
            <a:ext cx="3703320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165592" y="1188720"/>
            <a:ext cx="3483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193024" y="16459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responses, test_totals, attendance, fees, engagement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448056" y="32644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448056" y="3557016"/>
            <a:ext cx="361188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36" name="Shape 33"/>
          <p:cNvSpPr/>
          <p:nvPr/>
        </p:nvSpPr>
        <p:spPr>
          <a:xfrm>
            <a:off x="448056" y="354787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7" name="Shape 34"/>
          <p:cNvSpPr/>
          <p:nvPr/>
        </p:nvSpPr>
        <p:spPr>
          <a:xfrm>
            <a:off x="4169664" y="3291840"/>
            <a:ext cx="0" cy="187452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38" name="Text 35"/>
          <p:cNvSpPr txBox="1"/>
          <p:nvPr/>
        </p:nvSpPr>
        <p:spPr>
          <a:xfrm>
            <a:off x="548640" y="37033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mastery_snapshots, risk_scores, predictions, interventions, reports, model_registry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4270248" y="32644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4270248" y="3557016"/>
            <a:ext cx="361188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41" name="Shape 38"/>
          <p:cNvSpPr/>
          <p:nvPr/>
        </p:nvSpPr>
        <p:spPr>
          <a:xfrm>
            <a:off x="4270248" y="354787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2" name="Shape 39"/>
          <p:cNvSpPr/>
          <p:nvPr/>
        </p:nvSpPr>
        <p:spPr>
          <a:xfrm>
            <a:off x="7991856" y="3291840"/>
            <a:ext cx="0" cy="187452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43" name="Text 40"/>
          <p:cNvSpPr txBox="1"/>
          <p:nvPr/>
        </p:nvSpPr>
        <p:spPr>
          <a:xfrm>
            <a:off x="4370832" y="37033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ingest_jobs, omr_templates, audit_log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8092440" y="34930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NOT STORED</a:t>
            </a:r>
            <a:endParaRPr lang="en-US" sz="1250" dirty="0"/>
          </a:p>
        </p:txBody>
      </p:sp>
      <p:sp>
        <p:nvSpPr>
          <p:cNvPr id="45" name="Shape 42"/>
          <p:cNvSpPr/>
          <p:nvPr/>
        </p:nvSpPr>
        <p:spPr>
          <a:xfrm>
            <a:off x="8092440" y="3785616"/>
            <a:ext cx="361188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46" name="Shape 43"/>
          <p:cNvSpPr/>
          <p:nvPr/>
        </p:nvSpPr>
        <p:spPr>
          <a:xfrm>
            <a:off x="8092440" y="377647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8238744" y="38404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Counselling notes or mental-health information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document images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photographs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public rank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411480" y="50749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QUESTION GETS ITS TOPIC (SO TAGGING COSTS FALL AS WE GROW)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11480" y="5330952"/>
            <a:ext cx="1559015" cy="457200"/>
          </a:xfrm>
          <a:prstGeom prst="homePlat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39496" y="5330952"/>
            <a:ext cx="12664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text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1850526" y="5330952"/>
            <a:ext cx="1559015" cy="457200"/>
          </a:xfrm>
          <a:prstGeom prst="chevron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033406" y="5330952"/>
            <a:ext cx="1211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</a:t>
            </a:r>
            <a:endParaRPr lang="en-US" sz="14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3289572" y="5330952"/>
            <a:ext cx="1559015" cy="457200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472452" y="5330952"/>
            <a:ext cx="1211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 picks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4728618" y="5330952"/>
            <a:ext cx="1559015" cy="457200"/>
          </a:xfrm>
          <a:prstGeom prst="chevron">
            <a:avLst/>
          </a:prstGeom>
          <a:solidFill>
            <a:srgbClr val="5B8DC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4911498" y="5330952"/>
            <a:ext cx="1211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1-tap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6167665" y="5330952"/>
            <a:ext cx="1559015" cy="457200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350545" y="5330952"/>
            <a:ext cx="1211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bank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411480" y="5852160"/>
            <a:ext cx="11368735" cy="31089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548640" y="585216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on every tenant table; another institute sees 0 rows (tested on PostgreSQL 16)</a:t>
            </a:r>
            <a:endParaRPr lang="en-US" sz="1200" dirty="0"/>
          </a:p>
        </p:txBody>
      </p:sp>
      <p:sp>
        <p:nvSpPr>
          <p:cNvPr id="61" name="Text 58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technical/contracts/schema.sql. Synthetic data: 4 institutes, 3 academic years, known ground truth.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4: LEGAL BASIS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we design against, and what we do about each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11368735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2920" y="1234440"/>
            <a:ext cx="3017520" cy="31089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48640" y="12344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520440" y="1234440"/>
            <a:ext cx="8138160" cy="31089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3566160" y="1234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response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02920" y="1545336"/>
            <a:ext cx="301752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48640" y="154533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s.9(1), Rule 10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520440" y="1545336"/>
            <a:ext cx="813816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566160" y="154533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parental consent before processing a minor's data: ID checked at the admission desk, consent recorded per purpose.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02920" y="2112264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02920" y="2112264"/>
            <a:ext cx="3017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548640" y="211226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s.9(3)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3520440" y="2112264"/>
            <a:ext cx="8138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566160" y="211226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 or behavioural monitoring of children: under 18, academic support uses a model; dropout and fee signals use plain rules.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02920" y="2679192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02920" y="2679192"/>
            <a:ext cx="301752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48640" y="267919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Schedule, educational institutions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3520440" y="2679192"/>
            <a:ext cx="813816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3566160" y="26791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and purpose-limited, so we do not rely on it for consent.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02920" y="3246120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02920" y="3246120"/>
            <a:ext cx="3017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548640" y="32461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Rules, Rules 6 and 7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3520440" y="3246120"/>
            <a:ext cx="8138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3566160" y="32461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access control, logs kept one year, breach notice to the institute within hours.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502920" y="3813048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02920" y="3813048"/>
            <a:ext cx="301752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548640" y="38130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Guidelines 2024, cl. 10.2(xi)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3520440" y="3813048"/>
            <a:ext cx="813816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3566160" y="3813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stay private; early warning leads to counselling, never public ranks.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502920" y="4379976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02920" y="4379976"/>
            <a:ext cx="3017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548640" y="437997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Guidelines 2024, cl. 12(vii)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3520440" y="4379976"/>
            <a:ext cx="8138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3566160" y="437997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batch moves based on performance; remedial help is an extra session.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502920" y="4946904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502920" y="4946904"/>
            <a:ext cx="301752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548640" y="494690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Guidelines 2024, cl. 8(iv), 10.1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3520440" y="4946904"/>
            <a:ext cx="813816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3566160" y="49469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Pro-rata refund within 10 days; no test the day after the weekly off.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502920" y="5513832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02920" y="5513832"/>
            <a:ext cx="3017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548640" y="551383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 Act 2025, s.6(2)(d)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3520440" y="5513832"/>
            <a:ext cx="8138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3566160" y="55138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plans support four or more equal instalments.</a:t>
            </a:r>
            <a:endParaRPr lang="en-US" sz="1100" dirty="0"/>
          </a:p>
        </p:txBody>
      </p:sp>
      <p:sp>
        <p:nvSpPr>
          <p:cNvPr id="67" name="Shape 64"/>
          <p:cNvSpPr/>
          <p:nvPr/>
        </p:nvSpPr>
        <p:spPr>
          <a:xfrm>
            <a:off x="502920" y="6080760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DPDP Act 2023, DPDP Rules 2025, MoE Guidelines 2024, Rajasthan Coaching Centres Act 2025 (technical/docs/TECH_PLAN.md, section 24). Not legal advice.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5: MODEL CARD AND GO-LIVE GATES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know each model works before an institute relies on it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11480" y="1115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40664" y="1115568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SPLIT AND COMPARE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11480" y="1463040"/>
            <a:ext cx="73152" cy="5303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76072" y="14630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student and by year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576072" y="168249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 only data before the as-of date; never split by row.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11480" y="2066544"/>
            <a:ext cx="73152" cy="5303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76072" y="20665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at equal workload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76072" y="228600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sits beside the institute's own rule at the same weekly list size.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11480" y="2670048"/>
            <a:ext cx="73152" cy="5303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76072" y="26700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576072" y="28895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intervals over students; three generator seeds; event counts shown.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11480" y="3273552"/>
            <a:ext cx="73152" cy="5303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576072" y="32735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tests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576072" y="34930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Misspecified generators, a held-out institute, an independent attack on the report checker.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11480" y="3877056"/>
            <a:ext cx="73152" cy="5303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76072" y="38770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misses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576072" y="40965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gate is reported with its cause; gates are never moved to pass.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55371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411480" y="4553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740664" y="455371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LIMITATIONS, STATED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411480" y="4864608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proves the pipeline, not real-world accuracy.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OULAD is a UK online university; ASSISTments is US school maths.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percentile mapping is an editable assumption table until real mock-vs-exam pairs exist.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343400" y="1115568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4343400" y="1115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47" name="Text 44"/>
          <p:cNvSpPr txBox="1"/>
          <p:nvPr/>
        </p:nvSpPr>
        <p:spPr>
          <a:xfrm>
            <a:off x="4672584" y="1115568"/>
            <a:ext cx="71076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AND GATES (FROM contracts/metrics_bars.yaml)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4343400" y="1444752"/>
            <a:ext cx="14173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4389120" y="14447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760720" y="1444752"/>
            <a:ext cx="32918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5806440" y="1444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9052560" y="1444752"/>
            <a:ext cx="105156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9098280" y="1444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10104120" y="1444752"/>
            <a:ext cx="1676095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10149840" y="1444752"/>
            <a:ext cx="1584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4343400" y="1719072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4389120" y="171907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(IRT)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5760720" y="1719072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5806440" y="17190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r(b̂, b) at 60 answers per item; at 30 answers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9052560" y="1719072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9098280" y="171907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0.90; ≥ 0.85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10104120" y="1719072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10149840" y="1719072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4343400" y="2103120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343400" y="2103120"/>
            <a:ext cx="14173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4389120" y="21031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Wrong-key detector</a:t>
            </a:r>
            <a:endParaRPr lang="en-US" sz="950" dirty="0"/>
          </a:p>
        </p:txBody>
      </p:sp>
      <p:sp>
        <p:nvSpPr>
          <p:cNvPr id="67" name="Shape 64"/>
          <p:cNvSpPr/>
          <p:nvPr/>
        </p:nvSpPr>
        <p:spPr>
          <a:xfrm>
            <a:off x="5760720" y="2103120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5806440" y="21031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planted wrong keys; false flags per 300 items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9052560" y="2103120"/>
            <a:ext cx="1051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9098280" y="21031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0.80; ≤ 2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10104120" y="2103120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10149840" y="2103120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4343400" y="2487168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4343400" y="2487168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4389120" y="24871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mastery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5760720" y="2487168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5806440" y="24871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recovery r; next-test AUC vs raw % and BKT</a:t>
            </a:r>
            <a:endParaRPr lang="en-US" sz="950" dirty="0"/>
          </a:p>
        </p:txBody>
      </p:sp>
      <p:sp>
        <p:nvSpPr>
          <p:cNvPr id="78" name="Shape 75"/>
          <p:cNvSpPr/>
          <p:nvPr/>
        </p:nvSpPr>
        <p:spPr>
          <a:xfrm>
            <a:off x="9052560" y="2487168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9098280" y="248716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0.80; better</a:t>
            </a:r>
            <a:endParaRPr lang="en-US" sz="950" dirty="0"/>
          </a:p>
        </p:txBody>
      </p:sp>
      <p:sp>
        <p:nvSpPr>
          <p:cNvPr id="80" name="Shape 77"/>
          <p:cNvSpPr/>
          <p:nvPr/>
        </p:nvSpPr>
        <p:spPr>
          <a:xfrm>
            <a:off x="10104120" y="2487168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10149840" y="2487168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82" name="Shape 79"/>
          <p:cNvSpPr/>
          <p:nvPr/>
        </p:nvSpPr>
        <p:spPr>
          <a:xfrm>
            <a:off x="4343400" y="2871216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4343400" y="2871216"/>
            <a:ext cx="14173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4389120" y="287121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tracing</a:t>
            </a:r>
            <a:endParaRPr lang="en-US" sz="950" dirty="0"/>
          </a:p>
        </p:txBody>
      </p:sp>
      <p:sp>
        <p:nvSpPr>
          <p:cNvPr id="85" name="Shape 82"/>
          <p:cNvSpPr/>
          <p:nvPr/>
        </p:nvSpPr>
        <p:spPr>
          <a:xfrm>
            <a:off x="5760720" y="2871216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5806440" y="287121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Next-answer AUC, ASSISTments 2009 (public)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9052560" y="2871216"/>
            <a:ext cx="1051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Text 85"/>
          <p:cNvSpPr txBox="1"/>
          <p:nvPr/>
        </p:nvSpPr>
        <p:spPr>
          <a:xfrm>
            <a:off x="9098280" y="28712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50" dirty="0"/>
          </a:p>
        </p:txBody>
      </p:sp>
      <p:sp>
        <p:nvSpPr>
          <p:cNvPr id="89" name="Shape 86"/>
          <p:cNvSpPr/>
          <p:nvPr/>
        </p:nvSpPr>
        <p:spPr>
          <a:xfrm>
            <a:off x="10104120" y="2871216"/>
            <a:ext cx="1676095" cy="38404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90" name="Text 87"/>
          <p:cNvSpPr txBox="1"/>
          <p:nvPr/>
        </p:nvSpPr>
        <p:spPr>
          <a:xfrm>
            <a:off x="10149840" y="2871216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0.763</a:t>
            </a:r>
            <a:endParaRPr lang="en-US" sz="950" dirty="0"/>
          </a:p>
        </p:txBody>
      </p:sp>
      <p:sp>
        <p:nvSpPr>
          <p:cNvPr id="91" name="Shape 88"/>
          <p:cNvSpPr/>
          <p:nvPr/>
        </p:nvSpPr>
        <p:spPr>
          <a:xfrm>
            <a:off x="4343400" y="3255264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4343400" y="3255264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3" name="Text 90"/>
          <p:cNvSpPr txBox="1"/>
          <p:nvPr/>
        </p:nvSpPr>
        <p:spPr>
          <a:xfrm>
            <a:off x="4389120" y="325526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950" dirty="0"/>
          </a:p>
        </p:txBody>
      </p:sp>
      <p:sp>
        <p:nvSpPr>
          <p:cNvPr id="94" name="Shape 91"/>
          <p:cNvSpPr/>
          <p:nvPr/>
        </p:nvSpPr>
        <p:spPr>
          <a:xfrm>
            <a:off x="5760720" y="3255264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5806440" y="32552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AUC-PR vs institute rule; precision at capacity vs rule</a:t>
            </a:r>
            <a:endParaRPr lang="en-US" sz="950" dirty="0"/>
          </a:p>
        </p:txBody>
      </p:sp>
      <p:sp>
        <p:nvSpPr>
          <p:cNvPr id="96" name="Shape 93"/>
          <p:cNvSpPr/>
          <p:nvPr/>
        </p:nvSpPr>
        <p:spPr>
          <a:xfrm>
            <a:off x="9052560" y="3255264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9098280" y="325526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+30 %; +25 %</a:t>
            </a:r>
            <a:endParaRPr lang="en-US" sz="950" dirty="0"/>
          </a:p>
        </p:txBody>
      </p:sp>
      <p:sp>
        <p:nvSpPr>
          <p:cNvPr id="98" name="Shape 95"/>
          <p:cNvSpPr/>
          <p:nvPr/>
        </p:nvSpPr>
        <p:spPr>
          <a:xfrm>
            <a:off x="10104120" y="3255264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99" name="Text 96"/>
          <p:cNvSpPr txBox="1"/>
          <p:nvPr/>
        </p:nvSpPr>
        <p:spPr>
          <a:xfrm>
            <a:off x="10149840" y="3255264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00" name="Shape 97"/>
          <p:cNvSpPr/>
          <p:nvPr/>
        </p:nvSpPr>
        <p:spPr>
          <a:xfrm>
            <a:off x="4343400" y="3639312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343400" y="3639312"/>
            <a:ext cx="14173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2" name="Text 99"/>
          <p:cNvSpPr txBox="1"/>
          <p:nvPr/>
        </p:nvSpPr>
        <p:spPr>
          <a:xfrm>
            <a:off x="4389120" y="363931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950" dirty="0"/>
          </a:p>
        </p:txBody>
      </p:sp>
      <p:sp>
        <p:nvSpPr>
          <p:cNvPr id="103" name="Shape 100"/>
          <p:cNvSpPr/>
          <p:nvPr/>
        </p:nvSpPr>
        <p:spPr>
          <a:xfrm>
            <a:off x="5760720" y="3639312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5806440" y="36393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error (public: OULAD day 28)</a:t>
            </a:r>
            <a:endParaRPr lang="en-US" sz="950" dirty="0"/>
          </a:p>
        </p:txBody>
      </p:sp>
      <p:sp>
        <p:nvSpPr>
          <p:cNvPr id="105" name="Shape 102"/>
          <p:cNvSpPr/>
          <p:nvPr/>
        </p:nvSpPr>
        <p:spPr>
          <a:xfrm>
            <a:off x="9052560" y="3639312"/>
            <a:ext cx="1051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9098280" y="363931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0.05</a:t>
            </a:r>
            <a:endParaRPr lang="en-US" sz="950" dirty="0"/>
          </a:p>
        </p:txBody>
      </p:sp>
      <p:sp>
        <p:nvSpPr>
          <p:cNvPr id="107" name="Shape 104"/>
          <p:cNvSpPr/>
          <p:nvPr/>
        </p:nvSpPr>
        <p:spPr>
          <a:xfrm>
            <a:off x="10104120" y="3639312"/>
            <a:ext cx="1676095" cy="38404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10149840" y="3639312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</a:t>
            </a:r>
            <a:endParaRPr lang="en-US" sz="950" dirty="0"/>
          </a:p>
        </p:txBody>
      </p:sp>
      <p:sp>
        <p:nvSpPr>
          <p:cNvPr id="109" name="Shape 106"/>
          <p:cNvSpPr/>
          <p:nvPr/>
        </p:nvSpPr>
        <p:spPr>
          <a:xfrm>
            <a:off x="4343400" y="4023360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343400" y="4023360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1" name="Text 108"/>
          <p:cNvSpPr txBox="1"/>
          <p:nvPr/>
        </p:nvSpPr>
        <p:spPr>
          <a:xfrm>
            <a:off x="4389120" y="40233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950" dirty="0"/>
          </a:p>
        </p:txBody>
      </p:sp>
      <p:sp>
        <p:nvSpPr>
          <p:cNvPr id="112" name="Shape 109"/>
          <p:cNvSpPr/>
          <p:nvPr/>
        </p:nvSpPr>
        <p:spPr>
          <a:xfrm>
            <a:off x="5760720" y="4023360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3" name="Text 110"/>
          <p:cNvSpPr txBox="1"/>
          <p:nvPr/>
        </p:nvSpPr>
        <p:spPr>
          <a:xfrm>
            <a:off x="5806440" y="40233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lead time before a student leaves</a:t>
            </a:r>
            <a:endParaRPr lang="en-US" sz="950" dirty="0"/>
          </a:p>
        </p:txBody>
      </p:sp>
      <p:sp>
        <p:nvSpPr>
          <p:cNvPr id="114" name="Shape 111"/>
          <p:cNvSpPr/>
          <p:nvPr/>
        </p:nvSpPr>
        <p:spPr>
          <a:xfrm>
            <a:off x="9052560" y="4023360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5" name="Text 112"/>
          <p:cNvSpPr txBox="1"/>
          <p:nvPr/>
        </p:nvSpPr>
        <p:spPr>
          <a:xfrm>
            <a:off x="9098280" y="402336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21 days</a:t>
            </a:r>
            <a:endParaRPr lang="en-US" sz="950" dirty="0"/>
          </a:p>
        </p:txBody>
      </p:sp>
      <p:sp>
        <p:nvSpPr>
          <p:cNvPr id="116" name="Shape 113"/>
          <p:cNvSpPr/>
          <p:nvPr/>
        </p:nvSpPr>
        <p:spPr>
          <a:xfrm>
            <a:off x="10104120" y="4023360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10149840" y="4023360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18" name="Shape 115"/>
          <p:cNvSpPr/>
          <p:nvPr/>
        </p:nvSpPr>
        <p:spPr>
          <a:xfrm>
            <a:off x="4343400" y="4407408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343400" y="4407408"/>
            <a:ext cx="14173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0" name="Text 117"/>
          <p:cNvSpPr txBox="1"/>
          <p:nvPr/>
        </p:nvSpPr>
        <p:spPr>
          <a:xfrm>
            <a:off x="4389120" y="44074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Withdrawal, public</a:t>
            </a:r>
            <a:endParaRPr lang="en-US" sz="950" dirty="0"/>
          </a:p>
        </p:txBody>
      </p:sp>
      <p:sp>
        <p:nvSpPr>
          <p:cNvPr id="121" name="Shape 118"/>
          <p:cNvSpPr/>
          <p:nvPr/>
        </p:nvSpPr>
        <p:spPr>
          <a:xfrm>
            <a:off x="5760720" y="4407408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2" name="Text 119"/>
          <p:cNvSpPr txBox="1"/>
          <p:nvPr/>
        </p:nvSpPr>
        <p:spPr>
          <a:xfrm>
            <a:off x="5806440" y="44074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OULAD day-28 AUC, student-grouped 5-fold</a:t>
            </a:r>
            <a:endParaRPr lang="en-US" sz="950" dirty="0"/>
          </a:p>
        </p:txBody>
      </p:sp>
      <p:sp>
        <p:nvSpPr>
          <p:cNvPr id="123" name="Shape 120"/>
          <p:cNvSpPr/>
          <p:nvPr/>
        </p:nvSpPr>
        <p:spPr>
          <a:xfrm>
            <a:off x="9052560" y="4407408"/>
            <a:ext cx="1051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9098280" y="44074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50" dirty="0"/>
          </a:p>
        </p:txBody>
      </p:sp>
      <p:sp>
        <p:nvSpPr>
          <p:cNvPr id="125" name="Shape 122"/>
          <p:cNvSpPr/>
          <p:nvPr/>
        </p:nvSpPr>
        <p:spPr>
          <a:xfrm>
            <a:off x="10104120" y="4407408"/>
            <a:ext cx="1676095" cy="38404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26" name="Text 123"/>
          <p:cNvSpPr txBox="1"/>
          <p:nvPr/>
        </p:nvSpPr>
        <p:spPr>
          <a:xfrm>
            <a:off x="10149840" y="4407408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0.706</a:t>
            </a:r>
            <a:endParaRPr lang="en-US" sz="950" dirty="0"/>
          </a:p>
        </p:txBody>
      </p:sp>
      <p:sp>
        <p:nvSpPr>
          <p:cNvPr id="127" name="Shape 124"/>
          <p:cNvSpPr/>
          <p:nvPr/>
        </p:nvSpPr>
        <p:spPr>
          <a:xfrm>
            <a:off x="4343400" y="4791456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343400" y="4791456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9" name="Text 126"/>
          <p:cNvSpPr txBox="1"/>
          <p:nvPr/>
        </p:nvSpPr>
        <p:spPr>
          <a:xfrm>
            <a:off x="4389120" y="479145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950" dirty="0"/>
          </a:p>
        </p:txBody>
      </p:sp>
      <p:sp>
        <p:nvSpPr>
          <p:cNvPr id="130" name="Shape 127"/>
          <p:cNvSpPr/>
          <p:nvPr/>
        </p:nvSpPr>
        <p:spPr>
          <a:xfrm>
            <a:off x="5760720" y="4791456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1" name="Text 128"/>
          <p:cNvSpPr txBox="1"/>
          <p:nvPr/>
        </p:nvSpPr>
        <p:spPr>
          <a:xfrm>
            <a:off x="5806440" y="479145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recall gap across slices (gender, city tier)</a:t>
            </a:r>
            <a:endParaRPr lang="en-US" sz="950" dirty="0"/>
          </a:p>
        </p:txBody>
      </p:sp>
      <p:sp>
        <p:nvSpPr>
          <p:cNvPr id="132" name="Shape 129"/>
          <p:cNvSpPr/>
          <p:nvPr/>
        </p:nvSpPr>
        <p:spPr>
          <a:xfrm>
            <a:off x="9052560" y="4791456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3" name="Text 130"/>
          <p:cNvSpPr txBox="1"/>
          <p:nvPr/>
        </p:nvSpPr>
        <p:spPr>
          <a:xfrm>
            <a:off x="9098280" y="479145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0.10</a:t>
            </a:r>
            <a:endParaRPr lang="en-US" sz="950" dirty="0"/>
          </a:p>
        </p:txBody>
      </p:sp>
      <p:sp>
        <p:nvSpPr>
          <p:cNvPr id="134" name="Shape 131"/>
          <p:cNvSpPr/>
          <p:nvPr/>
        </p:nvSpPr>
        <p:spPr>
          <a:xfrm>
            <a:off x="10104120" y="4791456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35" name="Text 132"/>
          <p:cNvSpPr txBox="1"/>
          <p:nvPr/>
        </p:nvSpPr>
        <p:spPr>
          <a:xfrm>
            <a:off x="10149840" y="4791456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36" name="Shape 133"/>
          <p:cNvSpPr/>
          <p:nvPr/>
        </p:nvSpPr>
        <p:spPr>
          <a:xfrm>
            <a:off x="4343400" y="5175504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343400" y="5175504"/>
            <a:ext cx="14173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8" name="Text 135"/>
          <p:cNvSpPr txBox="1"/>
          <p:nvPr/>
        </p:nvSpPr>
        <p:spPr>
          <a:xfrm>
            <a:off x="4389120" y="517550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range</a:t>
            </a:r>
            <a:endParaRPr lang="en-US" sz="950" dirty="0"/>
          </a:p>
        </p:txBody>
      </p:sp>
      <p:sp>
        <p:nvSpPr>
          <p:cNvPr id="139" name="Shape 136"/>
          <p:cNvSpPr/>
          <p:nvPr/>
        </p:nvSpPr>
        <p:spPr>
          <a:xfrm>
            <a:off x="5760720" y="5175504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0" name="Text 137"/>
          <p:cNvSpPr txBox="1"/>
          <p:nvPr/>
        </p:nvSpPr>
        <p:spPr>
          <a:xfrm>
            <a:off x="5806440" y="517550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of the 80 % band</a:t>
            </a:r>
            <a:endParaRPr lang="en-US" sz="950" dirty="0"/>
          </a:p>
        </p:txBody>
      </p:sp>
      <p:sp>
        <p:nvSpPr>
          <p:cNvPr id="141" name="Shape 138"/>
          <p:cNvSpPr/>
          <p:nvPr/>
        </p:nvSpPr>
        <p:spPr>
          <a:xfrm>
            <a:off x="9052560" y="5175504"/>
            <a:ext cx="1051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2" name="Text 139"/>
          <p:cNvSpPr txBox="1"/>
          <p:nvPr/>
        </p:nvSpPr>
        <p:spPr>
          <a:xfrm>
            <a:off x="9098280" y="517550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to 83 %</a:t>
            </a:r>
            <a:endParaRPr lang="en-US" sz="950" dirty="0"/>
          </a:p>
        </p:txBody>
      </p:sp>
      <p:sp>
        <p:nvSpPr>
          <p:cNvPr id="143" name="Shape 140"/>
          <p:cNvSpPr/>
          <p:nvPr/>
        </p:nvSpPr>
        <p:spPr>
          <a:xfrm>
            <a:off x="10104120" y="5175504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44" name="Text 141"/>
          <p:cNvSpPr txBox="1"/>
          <p:nvPr/>
        </p:nvSpPr>
        <p:spPr>
          <a:xfrm>
            <a:off x="10149840" y="5175504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45" name="Shape 142"/>
          <p:cNvSpPr/>
          <p:nvPr/>
        </p:nvSpPr>
        <p:spPr>
          <a:xfrm>
            <a:off x="4343400" y="5559552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4343400" y="5559552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7" name="Text 144"/>
          <p:cNvSpPr txBox="1"/>
          <p:nvPr/>
        </p:nvSpPr>
        <p:spPr>
          <a:xfrm>
            <a:off x="4389120" y="555955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reports</a:t>
            </a:r>
            <a:endParaRPr lang="en-US" sz="950" dirty="0"/>
          </a:p>
        </p:txBody>
      </p:sp>
      <p:sp>
        <p:nvSpPr>
          <p:cNvPr id="148" name="Shape 145"/>
          <p:cNvSpPr/>
          <p:nvPr/>
        </p:nvSpPr>
        <p:spPr>
          <a:xfrm>
            <a:off x="5760720" y="5559552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9" name="Text 146"/>
          <p:cNvSpPr txBox="1"/>
          <p:nvPr/>
        </p:nvSpPr>
        <p:spPr>
          <a:xfrm>
            <a:off x="5806440" y="55595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matching the facts; independent attack passes</a:t>
            </a:r>
            <a:endParaRPr lang="en-US" sz="950" dirty="0"/>
          </a:p>
        </p:txBody>
      </p:sp>
      <p:sp>
        <p:nvSpPr>
          <p:cNvPr id="150" name="Shape 147"/>
          <p:cNvSpPr/>
          <p:nvPr/>
        </p:nvSpPr>
        <p:spPr>
          <a:xfrm>
            <a:off x="9052560" y="5559552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1" name="Text 148"/>
          <p:cNvSpPr txBox="1"/>
          <p:nvPr/>
        </p:nvSpPr>
        <p:spPr>
          <a:xfrm>
            <a:off x="9098280" y="555955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950" dirty="0"/>
          </a:p>
        </p:txBody>
      </p:sp>
      <p:sp>
        <p:nvSpPr>
          <p:cNvPr id="152" name="Shape 149"/>
          <p:cNvSpPr/>
          <p:nvPr/>
        </p:nvSpPr>
        <p:spPr>
          <a:xfrm>
            <a:off x="10104120" y="5559552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53" name="Text 150"/>
          <p:cNvSpPr txBox="1"/>
          <p:nvPr/>
        </p:nvSpPr>
        <p:spPr>
          <a:xfrm>
            <a:off x="10149840" y="5559552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54" name="Shape 151"/>
          <p:cNvSpPr/>
          <p:nvPr/>
        </p:nvSpPr>
        <p:spPr>
          <a:xfrm>
            <a:off x="4343400" y="5943600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5" name="Text 152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technical/contracts/metrics_bars.yaml, technical/docs/agent_prompts/R1_00_COMMON.md, ml/public_validation. Pending gates are filled from metrics.json by technical/scripts/deck_numbers.py.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6: CASE QUESTIONS, ANSWERED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case's twelve questions are answered, and how strong the evidence is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41148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57200" y="11887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22960" y="1188720"/>
            <a:ext cx="292608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68680" y="11887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(70 %)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749040" y="1188720"/>
            <a:ext cx="160020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3794760" y="11887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349240" y="1188720"/>
            <a:ext cx="77724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394960" y="11887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11480" y="1481328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57200" y="148132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22960" y="1481328"/>
            <a:ext cx="29260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68680" y="148132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capture, offline, low effort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3749040" y="1481328"/>
            <a:ext cx="1600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794760" y="148132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5, 6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349240" y="1481328"/>
            <a:ext cx="777240" cy="475488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5394960" y="1481328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11480" y="1956816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11480" y="1956816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457200" y="1956816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822960" y="1956816"/>
            <a:ext cx="29260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868680" y="195681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model; tagging questions to topics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3749040" y="1956816"/>
            <a:ext cx="1600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3794760" y="195681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3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5349240" y="1956816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5394960" y="1956816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411480" y="2432304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11480" y="2432304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457200" y="243230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822960" y="2432304"/>
            <a:ext cx="29260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868680" y="243230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and question difficulty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749040" y="2432304"/>
            <a:ext cx="1600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3794760" y="2432304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5349240" y="2432304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5394960" y="243230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411480" y="2907792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11480" y="2907792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457200" y="2907792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822960" y="2907792"/>
            <a:ext cx="29260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868680" y="290779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warning: dropout, behind, fees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3749040" y="2907792"/>
            <a:ext cx="1600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3794760" y="290779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5349240" y="2907792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5394960" y="290779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411480" y="3383280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11480" y="3383280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457200" y="338328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822960" y="3383280"/>
            <a:ext cx="29260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868680" y="33832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range, honest uncertainty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3749040" y="3383280"/>
            <a:ext cx="1600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794760" y="338328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5349240" y="3383280"/>
            <a:ext cx="777240" cy="475488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5394960" y="338328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950" dirty="0"/>
          </a:p>
        </p:txBody>
      </p:sp>
      <p:sp>
        <p:nvSpPr>
          <p:cNvPr id="75" name="Shape 72"/>
          <p:cNvSpPr/>
          <p:nvPr/>
        </p:nvSpPr>
        <p:spPr>
          <a:xfrm>
            <a:off x="411480" y="3858768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11480" y="3858768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457200" y="385876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950" dirty="0"/>
          </a:p>
        </p:txBody>
      </p:sp>
      <p:sp>
        <p:nvSpPr>
          <p:cNvPr id="78" name="Shape 75"/>
          <p:cNvSpPr/>
          <p:nvPr/>
        </p:nvSpPr>
        <p:spPr>
          <a:xfrm>
            <a:off x="822960" y="3858768"/>
            <a:ext cx="29260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868680" y="38587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GenAI: reports, plans, doubts</a:t>
            </a:r>
            <a:endParaRPr lang="en-US" sz="950" dirty="0"/>
          </a:p>
        </p:txBody>
      </p:sp>
      <p:sp>
        <p:nvSpPr>
          <p:cNvPr id="80" name="Shape 77"/>
          <p:cNvSpPr/>
          <p:nvPr/>
        </p:nvSpPr>
        <p:spPr>
          <a:xfrm>
            <a:off x="3749040" y="3858768"/>
            <a:ext cx="1600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3794760" y="38587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950" dirty="0"/>
          </a:p>
        </p:txBody>
      </p:sp>
      <p:sp>
        <p:nvSpPr>
          <p:cNvPr id="82" name="Shape 79"/>
          <p:cNvSpPr/>
          <p:nvPr/>
        </p:nvSpPr>
        <p:spPr>
          <a:xfrm>
            <a:off x="5349240" y="3858768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3" name="Text 80"/>
          <p:cNvSpPr txBox="1"/>
          <p:nvPr/>
        </p:nvSpPr>
        <p:spPr>
          <a:xfrm>
            <a:off x="5394960" y="3858768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50" dirty="0"/>
          </a:p>
        </p:txBody>
      </p:sp>
      <p:sp>
        <p:nvSpPr>
          <p:cNvPr id="84" name="Shape 81"/>
          <p:cNvSpPr/>
          <p:nvPr/>
        </p:nvSpPr>
        <p:spPr>
          <a:xfrm>
            <a:off x="411480" y="4334256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411480" y="4334256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457200" y="4334256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822960" y="4334256"/>
            <a:ext cx="29260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8" name="Text 85"/>
          <p:cNvSpPr txBox="1"/>
          <p:nvPr/>
        </p:nvSpPr>
        <p:spPr>
          <a:xfrm>
            <a:off x="868680" y="433425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Multi-tenant, secure, low-cost</a:t>
            </a:r>
            <a:endParaRPr lang="en-US" sz="950" dirty="0"/>
          </a:p>
        </p:txBody>
      </p:sp>
      <p:sp>
        <p:nvSpPr>
          <p:cNvPr id="89" name="Shape 86"/>
          <p:cNvSpPr/>
          <p:nvPr/>
        </p:nvSpPr>
        <p:spPr>
          <a:xfrm>
            <a:off x="3749040" y="4334256"/>
            <a:ext cx="1600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0" name="Text 87"/>
          <p:cNvSpPr txBox="1"/>
          <p:nvPr/>
        </p:nvSpPr>
        <p:spPr>
          <a:xfrm>
            <a:off x="3794760" y="433425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5, 11</a:t>
            </a:r>
            <a:endParaRPr lang="en-US" sz="950" dirty="0"/>
          </a:p>
        </p:txBody>
      </p:sp>
      <p:sp>
        <p:nvSpPr>
          <p:cNvPr id="91" name="Shape 88"/>
          <p:cNvSpPr/>
          <p:nvPr/>
        </p:nvSpPr>
        <p:spPr>
          <a:xfrm>
            <a:off x="5349240" y="4334256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2" name="Text 89"/>
          <p:cNvSpPr txBox="1"/>
          <p:nvPr/>
        </p:nvSpPr>
        <p:spPr>
          <a:xfrm>
            <a:off x="5394960" y="4334256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50" dirty="0"/>
          </a:p>
        </p:txBody>
      </p:sp>
      <p:sp>
        <p:nvSpPr>
          <p:cNvPr id="93" name="Shape 90"/>
          <p:cNvSpPr/>
          <p:nvPr/>
        </p:nvSpPr>
        <p:spPr>
          <a:xfrm>
            <a:off x="411480" y="4809744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11480" y="4809744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457200" y="480974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</a:t>
            </a:r>
            <a:endParaRPr lang="en-US" sz="950" dirty="0"/>
          </a:p>
        </p:txBody>
      </p:sp>
      <p:sp>
        <p:nvSpPr>
          <p:cNvPr id="96" name="Shape 93"/>
          <p:cNvSpPr/>
          <p:nvPr/>
        </p:nvSpPr>
        <p:spPr>
          <a:xfrm>
            <a:off x="822960" y="4809744"/>
            <a:ext cx="29260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868680" y="480974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and safety for minors</a:t>
            </a:r>
            <a:endParaRPr lang="en-US" sz="950" dirty="0"/>
          </a:p>
        </p:txBody>
      </p:sp>
      <p:sp>
        <p:nvSpPr>
          <p:cNvPr id="98" name="Shape 95"/>
          <p:cNvSpPr/>
          <p:nvPr/>
        </p:nvSpPr>
        <p:spPr>
          <a:xfrm>
            <a:off x="3749040" y="4809744"/>
            <a:ext cx="1600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Text 96"/>
          <p:cNvSpPr txBox="1"/>
          <p:nvPr/>
        </p:nvSpPr>
        <p:spPr>
          <a:xfrm>
            <a:off x="3794760" y="4809744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10, App. 4</a:t>
            </a:r>
            <a:endParaRPr lang="en-US" sz="950" dirty="0"/>
          </a:p>
        </p:txBody>
      </p:sp>
      <p:sp>
        <p:nvSpPr>
          <p:cNvPr id="100" name="Shape 97"/>
          <p:cNvSpPr/>
          <p:nvPr/>
        </p:nvSpPr>
        <p:spPr>
          <a:xfrm>
            <a:off x="5349240" y="4809744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1" name="Text 98"/>
          <p:cNvSpPr txBox="1"/>
          <p:nvPr/>
        </p:nvSpPr>
        <p:spPr>
          <a:xfrm>
            <a:off x="5394960" y="480974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50" dirty="0"/>
          </a:p>
        </p:txBody>
      </p:sp>
      <p:sp>
        <p:nvSpPr>
          <p:cNvPr id="102" name="Shape 99"/>
          <p:cNvSpPr/>
          <p:nvPr/>
        </p:nvSpPr>
        <p:spPr>
          <a:xfrm>
            <a:off x="411480" y="5285232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6355080" y="1188720"/>
            <a:ext cx="41148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6400800" y="11887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105" name="Shape 102"/>
          <p:cNvSpPr/>
          <p:nvPr/>
        </p:nvSpPr>
        <p:spPr>
          <a:xfrm>
            <a:off x="6766560" y="1188720"/>
            <a:ext cx="274320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6812280" y="11887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(30 %) and deliverables</a:t>
            </a:r>
            <a:endParaRPr lang="en-US" sz="950" dirty="0"/>
          </a:p>
        </p:txBody>
      </p:sp>
      <p:sp>
        <p:nvSpPr>
          <p:cNvPr id="107" name="Shape 104"/>
          <p:cNvSpPr/>
          <p:nvPr/>
        </p:nvSpPr>
        <p:spPr>
          <a:xfrm>
            <a:off x="9509760" y="1188720"/>
            <a:ext cx="169164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9555480" y="11887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950" dirty="0"/>
          </a:p>
        </p:txBody>
      </p:sp>
      <p:sp>
        <p:nvSpPr>
          <p:cNvPr id="109" name="Shape 106"/>
          <p:cNvSpPr/>
          <p:nvPr/>
        </p:nvSpPr>
        <p:spPr>
          <a:xfrm>
            <a:off x="11201400" y="1188720"/>
            <a:ext cx="86868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0" name="Text 107"/>
          <p:cNvSpPr txBox="1"/>
          <p:nvPr/>
        </p:nvSpPr>
        <p:spPr>
          <a:xfrm>
            <a:off x="11247120" y="11887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50" dirty="0"/>
          </a:p>
        </p:txBody>
      </p:sp>
      <p:sp>
        <p:nvSpPr>
          <p:cNvPr id="111" name="Shape 108"/>
          <p:cNvSpPr/>
          <p:nvPr/>
        </p:nvSpPr>
        <p:spPr>
          <a:xfrm>
            <a:off x="6355080" y="1481328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2" name="Text 109"/>
          <p:cNvSpPr txBox="1"/>
          <p:nvPr/>
        </p:nvSpPr>
        <p:spPr>
          <a:xfrm>
            <a:off x="6400800" y="148132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950" dirty="0"/>
          </a:p>
        </p:txBody>
      </p:sp>
      <p:sp>
        <p:nvSpPr>
          <p:cNvPr id="113" name="Shape 110"/>
          <p:cNvSpPr/>
          <p:nvPr/>
        </p:nvSpPr>
        <p:spPr>
          <a:xfrm>
            <a:off x="6766560" y="1481328"/>
            <a:ext cx="2743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4" name="Text 111"/>
          <p:cNvSpPr txBox="1"/>
          <p:nvPr/>
        </p:nvSpPr>
        <p:spPr>
          <a:xfrm>
            <a:off x="6812280" y="148132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and measurable return</a:t>
            </a:r>
            <a:endParaRPr lang="en-US" sz="950" dirty="0"/>
          </a:p>
        </p:txBody>
      </p:sp>
      <p:sp>
        <p:nvSpPr>
          <p:cNvPr id="115" name="Shape 112"/>
          <p:cNvSpPr/>
          <p:nvPr/>
        </p:nvSpPr>
        <p:spPr>
          <a:xfrm>
            <a:off x="9509760" y="1481328"/>
            <a:ext cx="169164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6" name="Text 113"/>
          <p:cNvSpPr txBox="1"/>
          <p:nvPr/>
        </p:nvSpPr>
        <p:spPr>
          <a:xfrm>
            <a:off x="9555480" y="14813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11, App. 1</a:t>
            </a:r>
            <a:endParaRPr lang="en-US" sz="950" dirty="0"/>
          </a:p>
        </p:txBody>
      </p:sp>
      <p:sp>
        <p:nvSpPr>
          <p:cNvPr id="117" name="Shape 114"/>
          <p:cNvSpPr/>
          <p:nvPr/>
        </p:nvSpPr>
        <p:spPr>
          <a:xfrm>
            <a:off x="11201400" y="1481328"/>
            <a:ext cx="868680" cy="475488"/>
          </a:xfrm>
          <a:prstGeom prst="rect">
            <a:avLst/>
          </a:prstGeom>
          <a:solidFill>
            <a:srgbClr val="B5832A"/>
          </a:solidFill>
          <a:ln/>
        </p:spPr>
      </p:sp>
      <p:sp>
        <p:nvSpPr>
          <p:cNvPr id="118" name="Text 115"/>
          <p:cNvSpPr txBox="1"/>
          <p:nvPr/>
        </p:nvSpPr>
        <p:spPr>
          <a:xfrm>
            <a:off x="11247120" y="148132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950" dirty="0"/>
          </a:p>
        </p:txBody>
      </p:sp>
      <p:sp>
        <p:nvSpPr>
          <p:cNvPr id="119" name="Shape 116"/>
          <p:cNvSpPr/>
          <p:nvPr/>
        </p:nvSpPr>
        <p:spPr>
          <a:xfrm>
            <a:off x="6355080" y="1956816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6355080" y="1956816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1" name="Text 118"/>
          <p:cNvSpPr txBox="1"/>
          <p:nvPr/>
        </p:nvSpPr>
        <p:spPr>
          <a:xfrm>
            <a:off x="6400800" y="1956816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950" dirty="0"/>
          </a:p>
        </p:txBody>
      </p:sp>
      <p:sp>
        <p:nvSpPr>
          <p:cNvPr id="122" name="Shape 119"/>
          <p:cNvSpPr/>
          <p:nvPr/>
        </p:nvSpPr>
        <p:spPr>
          <a:xfrm>
            <a:off x="6766560" y="1956816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3" name="Text 120"/>
          <p:cNvSpPr txBox="1"/>
          <p:nvPr/>
        </p:nvSpPr>
        <p:spPr>
          <a:xfrm>
            <a:off x="6812280" y="195681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CAC, payback, churn, LTV</a:t>
            </a:r>
            <a:endParaRPr lang="en-US" sz="950" dirty="0"/>
          </a:p>
        </p:txBody>
      </p:sp>
      <p:sp>
        <p:nvSpPr>
          <p:cNvPr id="124" name="Shape 121"/>
          <p:cNvSpPr/>
          <p:nvPr/>
        </p:nvSpPr>
        <p:spPr>
          <a:xfrm>
            <a:off x="9509760" y="1956816"/>
            <a:ext cx="16916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5" name="Text 122"/>
          <p:cNvSpPr txBox="1"/>
          <p:nvPr/>
        </p:nvSpPr>
        <p:spPr>
          <a:xfrm>
            <a:off x="9555480" y="195681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11, App. 1–2</a:t>
            </a:r>
            <a:endParaRPr lang="en-US" sz="950" dirty="0"/>
          </a:p>
        </p:txBody>
      </p:sp>
      <p:sp>
        <p:nvSpPr>
          <p:cNvPr id="126" name="Shape 123"/>
          <p:cNvSpPr/>
          <p:nvPr/>
        </p:nvSpPr>
        <p:spPr>
          <a:xfrm>
            <a:off x="11201400" y="1956816"/>
            <a:ext cx="868680" cy="475488"/>
          </a:xfrm>
          <a:prstGeom prst="rect">
            <a:avLst/>
          </a:prstGeom>
          <a:solidFill>
            <a:srgbClr val="B5832A"/>
          </a:solidFill>
          <a:ln/>
        </p:spPr>
      </p:sp>
      <p:sp>
        <p:nvSpPr>
          <p:cNvPr id="127" name="Text 124"/>
          <p:cNvSpPr txBox="1"/>
          <p:nvPr/>
        </p:nvSpPr>
        <p:spPr>
          <a:xfrm>
            <a:off x="11247120" y="1956816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950" dirty="0"/>
          </a:p>
        </p:txBody>
      </p:sp>
      <p:sp>
        <p:nvSpPr>
          <p:cNvPr id="128" name="Shape 125"/>
          <p:cNvSpPr/>
          <p:nvPr/>
        </p:nvSpPr>
        <p:spPr>
          <a:xfrm>
            <a:off x="6355080" y="2432304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6355080" y="2432304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0" name="Text 127"/>
          <p:cNvSpPr txBox="1"/>
          <p:nvPr/>
        </p:nvSpPr>
        <p:spPr>
          <a:xfrm>
            <a:off x="6400800" y="243230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950" dirty="0"/>
          </a:p>
        </p:txBody>
      </p:sp>
      <p:sp>
        <p:nvSpPr>
          <p:cNvPr id="131" name="Shape 128"/>
          <p:cNvSpPr/>
          <p:nvPr/>
        </p:nvSpPr>
        <p:spPr>
          <a:xfrm>
            <a:off x="6766560" y="2432304"/>
            <a:ext cx="2743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2" name="Text 129"/>
          <p:cNvSpPr txBox="1"/>
          <p:nvPr/>
        </p:nvSpPr>
        <p:spPr>
          <a:xfrm>
            <a:off x="6812280" y="243230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Cities, sizes, channels</a:t>
            </a:r>
            <a:endParaRPr lang="en-US" sz="950" dirty="0"/>
          </a:p>
        </p:txBody>
      </p:sp>
      <p:sp>
        <p:nvSpPr>
          <p:cNvPr id="133" name="Shape 130"/>
          <p:cNvSpPr/>
          <p:nvPr/>
        </p:nvSpPr>
        <p:spPr>
          <a:xfrm>
            <a:off x="9509760" y="2432304"/>
            <a:ext cx="169164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4" name="Text 131"/>
          <p:cNvSpPr txBox="1"/>
          <p:nvPr/>
        </p:nvSpPr>
        <p:spPr>
          <a:xfrm>
            <a:off x="9555480" y="243230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950" dirty="0"/>
          </a:p>
        </p:txBody>
      </p:sp>
      <p:sp>
        <p:nvSpPr>
          <p:cNvPr id="135" name="Shape 132"/>
          <p:cNvSpPr/>
          <p:nvPr/>
        </p:nvSpPr>
        <p:spPr>
          <a:xfrm>
            <a:off x="11201400" y="2432304"/>
            <a:ext cx="868680" cy="475488"/>
          </a:xfrm>
          <a:prstGeom prst="rect">
            <a:avLst/>
          </a:prstGeom>
          <a:solidFill>
            <a:srgbClr val="B5832A"/>
          </a:solidFill>
          <a:ln/>
        </p:spPr>
      </p:sp>
      <p:sp>
        <p:nvSpPr>
          <p:cNvPr id="136" name="Text 133"/>
          <p:cNvSpPr txBox="1"/>
          <p:nvPr/>
        </p:nvSpPr>
        <p:spPr>
          <a:xfrm>
            <a:off x="11247120" y="2432304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950" dirty="0"/>
          </a:p>
        </p:txBody>
      </p:sp>
      <p:sp>
        <p:nvSpPr>
          <p:cNvPr id="137" name="Shape 134"/>
          <p:cNvSpPr/>
          <p:nvPr/>
        </p:nvSpPr>
        <p:spPr>
          <a:xfrm>
            <a:off x="6355080" y="2907792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6355080" y="2907792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9" name="Text 136"/>
          <p:cNvSpPr txBox="1"/>
          <p:nvPr/>
        </p:nvSpPr>
        <p:spPr>
          <a:xfrm>
            <a:off x="6400800" y="2907792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950" dirty="0"/>
          </a:p>
        </p:txBody>
      </p:sp>
      <p:sp>
        <p:nvSpPr>
          <p:cNvPr id="140" name="Shape 137"/>
          <p:cNvSpPr/>
          <p:nvPr/>
        </p:nvSpPr>
        <p:spPr>
          <a:xfrm>
            <a:off x="6766560" y="2907792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1" name="Text 138"/>
          <p:cNvSpPr txBox="1"/>
          <p:nvPr/>
        </p:nvSpPr>
        <p:spPr>
          <a:xfrm>
            <a:off x="6812280" y="290779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and a growing moat</a:t>
            </a:r>
            <a:endParaRPr lang="en-US" sz="950" dirty="0"/>
          </a:p>
        </p:txBody>
      </p:sp>
      <p:sp>
        <p:nvSpPr>
          <p:cNvPr id="142" name="Shape 139"/>
          <p:cNvSpPr/>
          <p:nvPr/>
        </p:nvSpPr>
        <p:spPr>
          <a:xfrm>
            <a:off x="9509760" y="2907792"/>
            <a:ext cx="16916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3" name="Text 140"/>
          <p:cNvSpPr txBox="1"/>
          <p:nvPr/>
        </p:nvSpPr>
        <p:spPr>
          <a:xfrm>
            <a:off x="9555480" y="290779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950" dirty="0"/>
          </a:p>
        </p:txBody>
      </p:sp>
      <p:sp>
        <p:nvSpPr>
          <p:cNvPr id="144" name="Shape 141"/>
          <p:cNvSpPr/>
          <p:nvPr/>
        </p:nvSpPr>
        <p:spPr>
          <a:xfrm>
            <a:off x="11201400" y="2907792"/>
            <a:ext cx="868680" cy="475488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45" name="Text 142"/>
          <p:cNvSpPr txBox="1"/>
          <p:nvPr/>
        </p:nvSpPr>
        <p:spPr>
          <a:xfrm>
            <a:off x="11247120" y="290779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950" dirty="0"/>
          </a:p>
        </p:txBody>
      </p:sp>
      <p:sp>
        <p:nvSpPr>
          <p:cNvPr id="146" name="Shape 143"/>
          <p:cNvSpPr/>
          <p:nvPr/>
        </p:nvSpPr>
        <p:spPr>
          <a:xfrm>
            <a:off x="6355080" y="3383280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6355080" y="3383280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8" name="Text 145"/>
          <p:cNvSpPr txBox="1"/>
          <p:nvPr/>
        </p:nvSpPr>
        <p:spPr>
          <a:xfrm>
            <a:off x="6400800" y="338328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50" dirty="0"/>
          </a:p>
        </p:txBody>
      </p:sp>
      <p:sp>
        <p:nvSpPr>
          <p:cNvPr id="149" name="Shape 146"/>
          <p:cNvSpPr/>
          <p:nvPr/>
        </p:nvSpPr>
        <p:spPr>
          <a:xfrm>
            <a:off x="6766560" y="3383280"/>
            <a:ext cx="2743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0" name="Text 147"/>
          <p:cNvSpPr txBox="1"/>
          <p:nvPr/>
        </p:nvSpPr>
        <p:spPr>
          <a:xfrm>
            <a:off x="6812280" y="33832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 with sensitivity</a:t>
            </a:r>
            <a:endParaRPr lang="en-US" sz="950" dirty="0"/>
          </a:p>
        </p:txBody>
      </p:sp>
      <p:sp>
        <p:nvSpPr>
          <p:cNvPr id="151" name="Shape 148"/>
          <p:cNvSpPr/>
          <p:nvPr/>
        </p:nvSpPr>
        <p:spPr>
          <a:xfrm>
            <a:off x="9509760" y="3383280"/>
            <a:ext cx="169164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2" name="Text 149"/>
          <p:cNvSpPr txBox="1"/>
          <p:nvPr/>
        </p:nvSpPr>
        <p:spPr>
          <a:xfrm>
            <a:off x="9555480" y="338328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 1–2</a:t>
            </a:r>
            <a:endParaRPr lang="en-US" sz="950" dirty="0"/>
          </a:p>
        </p:txBody>
      </p:sp>
      <p:sp>
        <p:nvSpPr>
          <p:cNvPr id="153" name="Shape 150"/>
          <p:cNvSpPr/>
          <p:nvPr/>
        </p:nvSpPr>
        <p:spPr>
          <a:xfrm>
            <a:off x="11201400" y="3383280"/>
            <a:ext cx="868680" cy="475488"/>
          </a:xfrm>
          <a:prstGeom prst="rect">
            <a:avLst/>
          </a:prstGeom>
          <a:solidFill>
            <a:srgbClr val="B5832A"/>
          </a:solidFill>
          <a:ln/>
        </p:spPr>
      </p:sp>
      <p:sp>
        <p:nvSpPr>
          <p:cNvPr id="154" name="Text 151"/>
          <p:cNvSpPr txBox="1"/>
          <p:nvPr/>
        </p:nvSpPr>
        <p:spPr>
          <a:xfrm>
            <a:off x="11247120" y="338328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950" dirty="0"/>
          </a:p>
        </p:txBody>
      </p:sp>
      <p:sp>
        <p:nvSpPr>
          <p:cNvPr id="155" name="Shape 152"/>
          <p:cNvSpPr/>
          <p:nvPr/>
        </p:nvSpPr>
        <p:spPr>
          <a:xfrm>
            <a:off x="6355080" y="3858768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6355080" y="3858768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7" name="Text 154"/>
          <p:cNvSpPr txBox="1"/>
          <p:nvPr/>
        </p:nvSpPr>
        <p:spPr>
          <a:xfrm>
            <a:off x="6400800" y="385876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50" dirty="0"/>
          </a:p>
        </p:txBody>
      </p:sp>
      <p:sp>
        <p:nvSpPr>
          <p:cNvPr id="158" name="Shape 155"/>
          <p:cNvSpPr/>
          <p:nvPr/>
        </p:nvSpPr>
        <p:spPr>
          <a:xfrm>
            <a:off x="6766560" y="3858768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9" name="Text 156"/>
          <p:cNvSpPr txBox="1"/>
          <p:nvPr/>
        </p:nvSpPr>
        <p:spPr>
          <a:xfrm>
            <a:off x="6812280" y="385876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what we did not prove</a:t>
            </a:r>
            <a:endParaRPr lang="en-US" sz="950" dirty="0"/>
          </a:p>
        </p:txBody>
      </p:sp>
      <p:sp>
        <p:nvSpPr>
          <p:cNvPr id="160" name="Shape 157"/>
          <p:cNvSpPr/>
          <p:nvPr/>
        </p:nvSpPr>
        <p:spPr>
          <a:xfrm>
            <a:off x="9509760" y="3858768"/>
            <a:ext cx="16916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1" name="Text 158"/>
          <p:cNvSpPr txBox="1"/>
          <p:nvPr/>
        </p:nvSpPr>
        <p:spPr>
          <a:xfrm>
            <a:off x="9555480" y="385876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13, App. 5</a:t>
            </a:r>
            <a:endParaRPr lang="en-US" sz="950" dirty="0"/>
          </a:p>
        </p:txBody>
      </p:sp>
      <p:sp>
        <p:nvSpPr>
          <p:cNvPr id="162" name="Shape 159"/>
          <p:cNvSpPr/>
          <p:nvPr/>
        </p:nvSpPr>
        <p:spPr>
          <a:xfrm>
            <a:off x="11201400" y="3858768"/>
            <a:ext cx="86868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3" name="Text 160"/>
          <p:cNvSpPr txBox="1"/>
          <p:nvPr/>
        </p:nvSpPr>
        <p:spPr>
          <a:xfrm>
            <a:off x="11247120" y="385876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50" dirty="0"/>
          </a:p>
        </p:txBody>
      </p:sp>
      <p:sp>
        <p:nvSpPr>
          <p:cNvPr id="164" name="Shape 161"/>
          <p:cNvSpPr/>
          <p:nvPr/>
        </p:nvSpPr>
        <p:spPr>
          <a:xfrm>
            <a:off x="6355080" y="4334256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6355080" y="434340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6" name="Text 163"/>
          <p:cNvSpPr txBox="1"/>
          <p:nvPr/>
        </p:nvSpPr>
        <p:spPr>
          <a:xfrm>
            <a:off x="6355080" y="4343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50" dirty="0"/>
          </a:p>
        </p:txBody>
      </p:sp>
      <p:sp>
        <p:nvSpPr>
          <p:cNvPr id="167" name="Text 164"/>
          <p:cNvSpPr txBox="1"/>
          <p:nvPr/>
        </p:nvSpPr>
        <p:spPr>
          <a:xfrm>
            <a:off x="6684264" y="4343400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EVIDENCE COLUMN</a:t>
            </a:r>
            <a:endParaRPr lang="en-US" sz="1200" dirty="0"/>
          </a:p>
        </p:txBody>
      </p:sp>
      <p:sp>
        <p:nvSpPr>
          <p:cNvPr id="168" name="Text 165"/>
          <p:cNvSpPr txBox="1"/>
          <p:nvPr/>
        </p:nvSpPr>
        <p:spPr>
          <a:xfrm>
            <a:off x="6355080" y="466344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our own run on public data or the test suite.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Built: working code with tests, on synthetic data.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Designed: specified in the contracts, not coded yet.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a model input with a range, tested in pilots.</a:t>
            </a:r>
            <a:endParaRPr lang="en-US" sz="1000" dirty="0"/>
          </a:p>
        </p:txBody>
      </p:sp>
      <p:sp>
        <p:nvSpPr>
          <p:cNvPr id="169" name="Shape 166"/>
          <p:cNvSpPr/>
          <p:nvPr/>
        </p:nvSpPr>
        <p:spPr>
          <a:xfrm>
            <a:off x="411480" y="5120640"/>
            <a:ext cx="5669280" cy="1143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70" name="Text 167"/>
          <p:cNvSpPr txBox="1"/>
          <p:nvPr/>
        </p:nvSpPr>
        <p:spPr>
          <a:xfrm>
            <a:off x="548640" y="512064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slide states its limits.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show an honest 4 % rather than a hopeful 25 %, and mark a gate pending rather than quote a number we have not measured. The case says teams that state limits score higher.</a:t>
            </a:r>
            <a:endParaRPr lang="en-US" sz="1050" dirty="0"/>
          </a:p>
        </p:txBody>
      </p:sp>
      <p:sp>
        <p:nvSpPr>
          <p:cNvPr id="171" name="Text 168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Participant Guide sections 4, 8 and 10 (questions and rubric). T = technology question, B = business question, R = round-1 deliverable or limit.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7: SOURCE REGISTER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external number in the deck, where it came from, and where we used it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3200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57200" y="1188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31520" y="1188720"/>
            <a:ext cx="37490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772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480560" y="1188720"/>
            <a:ext cx="42062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52628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686800" y="1188720"/>
            <a:ext cx="182880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732520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10515600" y="1188720"/>
            <a:ext cx="1264615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61320" y="1188720"/>
            <a:ext cx="1173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11480" y="1463040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457200" y="146304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731520" y="1463040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777240" y="1463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 NEET UG 2025 result data (via Careers360, ALLEN)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480560" y="1463040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526280" y="1463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22.76 lakh registered candidates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8686800" y="1463040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732520" y="14630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(official)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10515600" y="1463040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10561320" y="1463040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1810512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1810512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457200" y="181051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731520" y="1810512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777240" y="18105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Main 2025 statistics (Vedantu; NTA total not found)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4480560" y="1810512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4526280" y="18105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15.4 lakh unique registrations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8686800" y="1810512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8732520" y="18105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(secondary)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10515600" y="1810512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10561320" y="1810512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411480" y="2157984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11480" y="2157984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457200" y="2157984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731520" y="2157984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777240" y="21579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NSO Comprehensive Modular Survey: Education 2025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4480560" y="2157984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4526280" y="21579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27 % of school students in private coaching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8686800" y="2157984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8732520" y="21579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(official)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10515600" y="2157984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10561320" y="2157984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411480" y="2505456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11480" y="2505456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457200" y="2505456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68" name="Shape 65"/>
          <p:cNvSpPr/>
          <p:nvPr/>
        </p:nvSpPr>
        <p:spPr>
          <a:xfrm>
            <a:off x="731520" y="2505456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777240" y="25054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participant guide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4480560" y="2505456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4526280" y="250545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 15 % dropout, ₹36,000 per leaver, ₹17.3 lakh, ₹40, 25 %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8686800" y="2505456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8732520" y="250545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</a:t>
            </a:r>
            <a:endParaRPr lang="en-US" sz="950" dirty="0"/>
          </a:p>
        </p:txBody>
      </p:sp>
      <p:sp>
        <p:nvSpPr>
          <p:cNvPr id="74" name="Shape 71"/>
          <p:cNvSpPr/>
          <p:nvPr/>
        </p:nvSpPr>
        <p:spPr>
          <a:xfrm>
            <a:off x="10515600" y="2505456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10561320" y="2505456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3, 4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411480" y="2852928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411480" y="2852928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457200" y="285292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79" name="Shape 76"/>
          <p:cNvSpPr/>
          <p:nvPr/>
        </p:nvSpPr>
        <p:spPr>
          <a:xfrm>
            <a:off x="731520" y="2852928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777240" y="28529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listings: Classplus, Fedena, Edmingle, Teachmint (research R1)</a:t>
            </a:r>
            <a:endParaRPr lang="en-US" sz="950" dirty="0"/>
          </a:p>
        </p:txBody>
      </p:sp>
      <p:sp>
        <p:nvSpPr>
          <p:cNvPr id="81" name="Shape 78"/>
          <p:cNvSpPr/>
          <p:nvPr/>
        </p:nvSpPr>
        <p:spPr>
          <a:xfrm>
            <a:off x="4480560" y="2852928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4526280" y="28529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 to ₹40 per student per month anchors</a:t>
            </a:r>
            <a:endParaRPr lang="en-US" sz="950" dirty="0"/>
          </a:p>
        </p:txBody>
      </p:sp>
      <p:sp>
        <p:nvSpPr>
          <p:cNvPr id="83" name="Shape 80"/>
          <p:cNvSpPr/>
          <p:nvPr/>
        </p:nvSpPr>
        <p:spPr>
          <a:xfrm>
            <a:off x="8686800" y="2852928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8732520" y="28529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85" name="Shape 82"/>
          <p:cNvSpPr/>
          <p:nvPr/>
        </p:nvSpPr>
        <p:spPr>
          <a:xfrm>
            <a:off x="10515600" y="2852928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10561320" y="2852928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4, 12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411480" y="3200400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411480" y="3200400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Text 86"/>
          <p:cNvSpPr txBox="1"/>
          <p:nvPr/>
        </p:nvSpPr>
        <p:spPr>
          <a:xfrm>
            <a:off x="457200" y="320040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90" name="Shape 87"/>
          <p:cNvSpPr/>
          <p:nvPr/>
        </p:nvSpPr>
        <p:spPr>
          <a:xfrm>
            <a:off x="731520" y="3200400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Text 88"/>
          <p:cNvSpPr txBox="1"/>
          <p:nvPr/>
        </p:nvSpPr>
        <p:spPr>
          <a:xfrm>
            <a:off x="777240" y="3200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trials in comparable settings (research R4)</a:t>
            </a:r>
            <a:endParaRPr lang="en-US" sz="950" dirty="0"/>
          </a:p>
        </p:txBody>
      </p:sp>
      <p:sp>
        <p:nvSpPr>
          <p:cNvPr id="92" name="Shape 89"/>
          <p:cNvSpPr/>
          <p:nvPr/>
        </p:nvSpPr>
        <p:spPr>
          <a:xfrm>
            <a:off x="4480560" y="3200400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Text 90"/>
          <p:cNvSpPr txBox="1"/>
          <p:nvPr/>
        </p:nvSpPr>
        <p:spPr>
          <a:xfrm>
            <a:off x="4526280" y="3200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outreach on dropout, 5 to 30 %</a:t>
            </a:r>
            <a:endParaRPr lang="en-US" sz="950" dirty="0"/>
          </a:p>
        </p:txBody>
      </p:sp>
      <p:sp>
        <p:nvSpPr>
          <p:cNvPr id="94" name="Shape 91"/>
          <p:cNvSpPr/>
          <p:nvPr/>
        </p:nvSpPr>
        <p:spPr>
          <a:xfrm>
            <a:off x="8686800" y="3200400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8732520" y="32004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96" name="Shape 93"/>
          <p:cNvSpPr/>
          <p:nvPr/>
        </p:nvSpPr>
        <p:spPr>
          <a:xfrm>
            <a:off x="10515600" y="3200400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10561320" y="3200400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950" dirty="0"/>
          </a:p>
        </p:txBody>
      </p:sp>
      <p:sp>
        <p:nvSpPr>
          <p:cNvPr id="98" name="Shape 95"/>
          <p:cNvSpPr/>
          <p:nvPr/>
        </p:nvSpPr>
        <p:spPr>
          <a:xfrm>
            <a:off x="411480" y="3547872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11480" y="3547872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0" name="Text 97"/>
          <p:cNvSpPr txBox="1"/>
          <p:nvPr/>
        </p:nvSpPr>
        <p:spPr>
          <a:xfrm>
            <a:off x="457200" y="354787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01" name="Shape 98"/>
          <p:cNvSpPr/>
          <p:nvPr/>
        </p:nvSpPr>
        <p:spPr>
          <a:xfrm>
            <a:off x="731520" y="3547872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2" name="Text 99"/>
          <p:cNvSpPr txBox="1"/>
          <p:nvPr/>
        </p:nvSpPr>
        <p:spPr>
          <a:xfrm>
            <a:off x="777240" y="35478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OULAD (Open University, CC BY 4.0), our runs</a:t>
            </a:r>
            <a:endParaRPr lang="en-US" sz="950" dirty="0"/>
          </a:p>
        </p:txBody>
      </p:sp>
      <p:sp>
        <p:nvSpPr>
          <p:cNvPr id="103" name="Shape 100"/>
          <p:cNvSpPr/>
          <p:nvPr/>
        </p:nvSpPr>
        <p:spPr>
          <a:xfrm>
            <a:off x="4480560" y="3547872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4526280" y="35478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0.706 AUC, 0.009 calibration, 0.46 precision</a:t>
            </a:r>
            <a:endParaRPr lang="en-US" sz="950" dirty="0"/>
          </a:p>
        </p:txBody>
      </p:sp>
      <p:sp>
        <p:nvSpPr>
          <p:cNvPr id="105" name="Shape 102"/>
          <p:cNvSpPr/>
          <p:nvPr/>
        </p:nvSpPr>
        <p:spPr>
          <a:xfrm>
            <a:off x="8686800" y="3547872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8732520" y="35478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50" dirty="0"/>
          </a:p>
        </p:txBody>
      </p:sp>
      <p:sp>
        <p:nvSpPr>
          <p:cNvPr id="107" name="Shape 104"/>
          <p:cNvSpPr/>
          <p:nvPr/>
        </p:nvSpPr>
        <p:spPr>
          <a:xfrm>
            <a:off x="10515600" y="3547872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10561320" y="3547872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1, 4, 8</a:t>
            </a:r>
            <a:endParaRPr lang="en-US" sz="950" dirty="0"/>
          </a:p>
        </p:txBody>
      </p:sp>
      <p:sp>
        <p:nvSpPr>
          <p:cNvPr id="109" name="Shape 106"/>
          <p:cNvSpPr/>
          <p:nvPr/>
        </p:nvSpPr>
        <p:spPr>
          <a:xfrm>
            <a:off x="411480" y="3895344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11480" y="3895344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Text 108"/>
          <p:cNvSpPr txBox="1"/>
          <p:nvPr/>
        </p:nvSpPr>
        <p:spPr>
          <a:xfrm>
            <a:off x="457200" y="3895344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112" name="Shape 109"/>
          <p:cNvSpPr/>
          <p:nvPr/>
        </p:nvSpPr>
        <p:spPr>
          <a:xfrm>
            <a:off x="731520" y="3895344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3" name="Text 110"/>
          <p:cNvSpPr txBox="1"/>
          <p:nvPr/>
        </p:nvSpPr>
        <p:spPr>
          <a:xfrm>
            <a:off x="777240" y="38953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PLOS ONE 2026, OULAD withdrawal study</a:t>
            </a:r>
            <a:endParaRPr lang="en-US" sz="950" dirty="0"/>
          </a:p>
        </p:txBody>
      </p:sp>
      <p:sp>
        <p:nvSpPr>
          <p:cNvPr id="114" name="Shape 111"/>
          <p:cNvSpPr/>
          <p:nvPr/>
        </p:nvSpPr>
        <p:spPr>
          <a:xfrm>
            <a:off x="4480560" y="3895344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5" name="Text 112"/>
          <p:cNvSpPr txBox="1"/>
          <p:nvPr/>
        </p:nvSpPr>
        <p:spPr>
          <a:xfrm>
            <a:off x="4526280" y="389534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0.727 / 0.794 / 0.804 anchors</a:t>
            </a:r>
            <a:endParaRPr lang="en-US" sz="950" dirty="0"/>
          </a:p>
        </p:txBody>
      </p:sp>
      <p:sp>
        <p:nvSpPr>
          <p:cNvPr id="116" name="Shape 113"/>
          <p:cNvSpPr/>
          <p:nvPr/>
        </p:nvSpPr>
        <p:spPr>
          <a:xfrm>
            <a:off x="8686800" y="3895344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8732520" y="38953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18" name="Shape 115"/>
          <p:cNvSpPr/>
          <p:nvPr/>
        </p:nvSpPr>
        <p:spPr>
          <a:xfrm>
            <a:off x="10515600" y="3895344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9" name="Text 116"/>
          <p:cNvSpPr txBox="1"/>
          <p:nvPr/>
        </p:nvSpPr>
        <p:spPr>
          <a:xfrm>
            <a:off x="10561320" y="3895344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4, 8</a:t>
            </a:r>
            <a:endParaRPr lang="en-US" sz="950" dirty="0"/>
          </a:p>
        </p:txBody>
      </p:sp>
      <p:sp>
        <p:nvSpPr>
          <p:cNvPr id="120" name="Shape 117"/>
          <p:cNvSpPr/>
          <p:nvPr/>
        </p:nvSpPr>
        <p:spPr>
          <a:xfrm>
            <a:off x="411480" y="4242816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11480" y="4242816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2" name="Text 119"/>
          <p:cNvSpPr txBox="1"/>
          <p:nvPr/>
        </p:nvSpPr>
        <p:spPr>
          <a:xfrm>
            <a:off x="457200" y="4242816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123" name="Shape 120"/>
          <p:cNvSpPr/>
          <p:nvPr/>
        </p:nvSpPr>
        <p:spPr>
          <a:xfrm>
            <a:off x="731520" y="4242816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777240" y="42428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al., pyKT, NeurIPS 2022; ASSISTments 2009, our runs</a:t>
            </a:r>
            <a:endParaRPr lang="en-US" sz="950" dirty="0"/>
          </a:p>
        </p:txBody>
      </p:sp>
      <p:sp>
        <p:nvSpPr>
          <p:cNvPr id="125" name="Shape 122"/>
          <p:cNvSpPr/>
          <p:nvPr/>
        </p:nvSpPr>
        <p:spPr>
          <a:xfrm>
            <a:off x="4480560" y="4242816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6" name="Text 123"/>
          <p:cNvSpPr txBox="1"/>
          <p:nvPr/>
        </p:nvSpPr>
        <p:spPr>
          <a:xfrm>
            <a:off x="4526280" y="42428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DKT 0.754, SAKT 0.725, AKT 0.785; ours 0.763</a:t>
            </a:r>
            <a:endParaRPr lang="en-US" sz="950" dirty="0"/>
          </a:p>
        </p:txBody>
      </p:sp>
      <p:sp>
        <p:nvSpPr>
          <p:cNvPr id="127" name="Shape 124"/>
          <p:cNvSpPr/>
          <p:nvPr/>
        </p:nvSpPr>
        <p:spPr>
          <a:xfrm>
            <a:off x="8686800" y="4242816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8" name="Text 125"/>
          <p:cNvSpPr txBox="1"/>
          <p:nvPr/>
        </p:nvSpPr>
        <p:spPr>
          <a:xfrm>
            <a:off x="8732520" y="42428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50" dirty="0"/>
          </a:p>
        </p:txBody>
      </p:sp>
      <p:sp>
        <p:nvSpPr>
          <p:cNvPr id="129" name="Shape 126"/>
          <p:cNvSpPr/>
          <p:nvPr/>
        </p:nvSpPr>
        <p:spPr>
          <a:xfrm>
            <a:off x="10515600" y="4242816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0" name="Text 127"/>
          <p:cNvSpPr txBox="1"/>
          <p:nvPr/>
        </p:nvSpPr>
        <p:spPr>
          <a:xfrm>
            <a:off x="10561320" y="4242816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1, 7</a:t>
            </a:r>
            <a:endParaRPr lang="en-US" sz="950" dirty="0"/>
          </a:p>
        </p:txBody>
      </p:sp>
      <p:sp>
        <p:nvSpPr>
          <p:cNvPr id="131" name="Shape 128"/>
          <p:cNvSpPr/>
          <p:nvPr/>
        </p:nvSpPr>
        <p:spPr>
          <a:xfrm>
            <a:off x="411480" y="4590288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11480" y="4590288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3" name="Text 130"/>
          <p:cNvSpPr txBox="1"/>
          <p:nvPr/>
        </p:nvSpPr>
        <p:spPr>
          <a:xfrm>
            <a:off x="457200" y="459028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134" name="Shape 131"/>
          <p:cNvSpPr/>
          <p:nvPr/>
        </p:nvSpPr>
        <p:spPr>
          <a:xfrm>
            <a:off x="731520" y="4590288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5" name="Text 132"/>
          <p:cNvSpPr txBox="1"/>
          <p:nvPr/>
        </p:nvSpPr>
        <p:spPr>
          <a:xfrm>
            <a:off x="777240" y="45902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 s.9; DPDP Rules 2025</a:t>
            </a:r>
            <a:endParaRPr lang="en-US" sz="950" dirty="0"/>
          </a:p>
        </p:txBody>
      </p:sp>
      <p:sp>
        <p:nvSpPr>
          <p:cNvPr id="136" name="Shape 133"/>
          <p:cNvSpPr/>
          <p:nvPr/>
        </p:nvSpPr>
        <p:spPr>
          <a:xfrm>
            <a:off x="4480560" y="4590288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7" name="Text 134"/>
          <p:cNvSpPr txBox="1"/>
          <p:nvPr/>
        </p:nvSpPr>
        <p:spPr>
          <a:xfrm>
            <a:off x="4526280" y="45902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consent, no tracking of children</a:t>
            </a:r>
            <a:endParaRPr lang="en-US" sz="950" dirty="0"/>
          </a:p>
        </p:txBody>
      </p:sp>
      <p:sp>
        <p:nvSpPr>
          <p:cNvPr id="138" name="Shape 135"/>
          <p:cNvSpPr/>
          <p:nvPr/>
        </p:nvSpPr>
        <p:spPr>
          <a:xfrm>
            <a:off x="8686800" y="4590288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9" name="Text 136"/>
          <p:cNvSpPr txBox="1"/>
          <p:nvPr/>
        </p:nvSpPr>
        <p:spPr>
          <a:xfrm>
            <a:off x="8732520" y="45902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(primary)</a:t>
            </a:r>
            <a:endParaRPr lang="en-US" sz="950" dirty="0"/>
          </a:p>
        </p:txBody>
      </p:sp>
      <p:sp>
        <p:nvSpPr>
          <p:cNvPr id="140" name="Shape 137"/>
          <p:cNvSpPr/>
          <p:nvPr/>
        </p:nvSpPr>
        <p:spPr>
          <a:xfrm>
            <a:off x="10515600" y="4590288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1" name="Text 138"/>
          <p:cNvSpPr txBox="1"/>
          <p:nvPr/>
        </p:nvSpPr>
        <p:spPr>
          <a:xfrm>
            <a:off x="10561320" y="4590288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4, 8, 10</a:t>
            </a:r>
            <a:endParaRPr lang="en-US" sz="950" dirty="0"/>
          </a:p>
        </p:txBody>
      </p:sp>
      <p:sp>
        <p:nvSpPr>
          <p:cNvPr id="142" name="Shape 139"/>
          <p:cNvSpPr/>
          <p:nvPr/>
        </p:nvSpPr>
        <p:spPr>
          <a:xfrm>
            <a:off x="411480" y="4937760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411480" y="4937760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4" name="Text 141"/>
          <p:cNvSpPr txBox="1"/>
          <p:nvPr/>
        </p:nvSpPr>
        <p:spPr>
          <a:xfrm>
            <a:off x="457200" y="493776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145" name="Shape 142"/>
          <p:cNvSpPr/>
          <p:nvPr/>
        </p:nvSpPr>
        <p:spPr>
          <a:xfrm>
            <a:off x="731520" y="4937760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6" name="Text 143"/>
          <p:cNvSpPr txBox="1"/>
          <p:nvPr/>
        </p:nvSpPr>
        <p:spPr>
          <a:xfrm>
            <a:off x="777240" y="4937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Guidelines for Coaching Centres 2024; Rajasthan Act 2025</a:t>
            </a:r>
            <a:endParaRPr lang="en-US" sz="950" dirty="0"/>
          </a:p>
        </p:txBody>
      </p:sp>
      <p:sp>
        <p:nvSpPr>
          <p:cNvPr id="147" name="Shape 144"/>
          <p:cNvSpPr/>
          <p:nvPr/>
        </p:nvSpPr>
        <p:spPr>
          <a:xfrm>
            <a:off x="4480560" y="4937760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8" name="Text 145"/>
          <p:cNvSpPr txBox="1"/>
          <p:nvPr/>
        </p:nvSpPr>
        <p:spPr>
          <a:xfrm>
            <a:off x="4526280" y="4937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cl. 10.2(xi), 12(vii), 10.1, 8(iv); s.6(2)(d)</a:t>
            </a:r>
            <a:endParaRPr lang="en-US" sz="950" dirty="0"/>
          </a:p>
        </p:txBody>
      </p:sp>
      <p:sp>
        <p:nvSpPr>
          <p:cNvPr id="149" name="Shape 146"/>
          <p:cNvSpPr/>
          <p:nvPr/>
        </p:nvSpPr>
        <p:spPr>
          <a:xfrm>
            <a:off x="8686800" y="4937760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0" name="Text 147"/>
          <p:cNvSpPr txBox="1"/>
          <p:nvPr/>
        </p:nvSpPr>
        <p:spPr>
          <a:xfrm>
            <a:off x="8732520" y="49377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(primary)</a:t>
            </a:r>
            <a:endParaRPr lang="en-US" sz="950" dirty="0"/>
          </a:p>
        </p:txBody>
      </p:sp>
      <p:sp>
        <p:nvSpPr>
          <p:cNvPr id="151" name="Shape 148"/>
          <p:cNvSpPr/>
          <p:nvPr/>
        </p:nvSpPr>
        <p:spPr>
          <a:xfrm>
            <a:off x="10515600" y="4937760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2" name="Text 149"/>
          <p:cNvSpPr txBox="1"/>
          <p:nvPr/>
        </p:nvSpPr>
        <p:spPr>
          <a:xfrm>
            <a:off x="10561320" y="4937760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 A4</a:t>
            </a:r>
            <a:endParaRPr lang="en-US" sz="950" dirty="0"/>
          </a:p>
        </p:txBody>
      </p:sp>
      <p:sp>
        <p:nvSpPr>
          <p:cNvPr id="153" name="Shape 150"/>
          <p:cNvSpPr/>
          <p:nvPr/>
        </p:nvSpPr>
        <p:spPr>
          <a:xfrm>
            <a:off x="411480" y="5285232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411480" y="5285232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5" name="Text 152"/>
          <p:cNvSpPr txBox="1"/>
          <p:nvPr/>
        </p:nvSpPr>
        <p:spPr>
          <a:xfrm>
            <a:off x="457200" y="528523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156" name="Shape 153"/>
          <p:cNvSpPr/>
          <p:nvPr/>
        </p:nvSpPr>
        <p:spPr>
          <a:xfrm>
            <a:off x="731520" y="5285232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7" name="Text 154"/>
          <p:cNvSpPr txBox="1"/>
          <p:nvPr/>
        </p:nvSpPr>
        <p:spPr>
          <a:xfrm>
            <a:off x="777240" y="52852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and LLM price pages; Patna pay data (research R5, R6)</a:t>
            </a:r>
            <a:endParaRPr lang="en-US" sz="950" dirty="0"/>
          </a:p>
        </p:txBody>
      </p:sp>
      <p:sp>
        <p:nvSpPr>
          <p:cNvPr id="158" name="Shape 155"/>
          <p:cNvSpPr/>
          <p:nvPr/>
        </p:nvSpPr>
        <p:spPr>
          <a:xfrm>
            <a:off x="4480560" y="5285232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9" name="Text 156"/>
          <p:cNvSpPr txBox="1"/>
          <p:nvPr/>
        </p:nvSpPr>
        <p:spPr>
          <a:xfrm>
            <a:off x="4526280" y="52852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student, staff hour ₹100</a:t>
            </a:r>
            <a:endParaRPr lang="en-US" sz="950" dirty="0"/>
          </a:p>
        </p:txBody>
      </p:sp>
      <p:sp>
        <p:nvSpPr>
          <p:cNvPr id="160" name="Shape 157"/>
          <p:cNvSpPr/>
          <p:nvPr/>
        </p:nvSpPr>
        <p:spPr>
          <a:xfrm>
            <a:off x="8686800" y="5285232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1" name="Text 158"/>
          <p:cNvSpPr txBox="1"/>
          <p:nvPr/>
        </p:nvSpPr>
        <p:spPr>
          <a:xfrm>
            <a:off x="8732520" y="5285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to high</a:t>
            </a:r>
            <a:endParaRPr lang="en-US" sz="950" dirty="0"/>
          </a:p>
        </p:txBody>
      </p:sp>
      <p:sp>
        <p:nvSpPr>
          <p:cNvPr id="162" name="Shape 159"/>
          <p:cNvSpPr/>
          <p:nvPr/>
        </p:nvSpPr>
        <p:spPr>
          <a:xfrm>
            <a:off x="10515600" y="5285232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3" name="Text 160"/>
          <p:cNvSpPr txBox="1"/>
          <p:nvPr/>
        </p:nvSpPr>
        <p:spPr>
          <a:xfrm>
            <a:off x="10561320" y="5285232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5, 11</a:t>
            </a:r>
            <a:endParaRPr lang="en-US" sz="950" dirty="0"/>
          </a:p>
        </p:txBody>
      </p:sp>
      <p:sp>
        <p:nvSpPr>
          <p:cNvPr id="164" name="Shape 161"/>
          <p:cNvSpPr/>
          <p:nvPr/>
        </p:nvSpPr>
        <p:spPr>
          <a:xfrm>
            <a:off x="411480" y="5632704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411480" y="5632704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66" name="Text 163"/>
          <p:cNvSpPr txBox="1"/>
          <p:nvPr/>
        </p:nvSpPr>
        <p:spPr>
          <a:xfrm>
            <a:off x="457200" y="5632704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167" name="Shape 164"/>
          <p:cNvSpPr/>
          <p:nvPr/>
        </p:nvSpPr>
        <p:spPr>
          <a:xfrm>
            <a:off x="731520" y="5632704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68" name="Text 165"/>
          <p:cNvSpPr txBox="1"/>
          <p:nvPr/>
        </p:nvSpPr>
        <p:spPr>
          <a:xfrm>
            <a:off x="777240" y="56327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 v1.1 (CFO audit, 22 Oct 2026)</a:t>
            </a:r>
            <a:endParaRPr lang="en-US" sz="950" dirty="0"/>
          </a:p>
        </p:txBody>
      </p:sp>
      <p:sp>
        <p:nvSpPr>
          <p:cNvPr id="169" name="Shape 166"/>
          <p:cNvSpPr/>
          <p:nvPr/>
        </p:nvSpPr>
        <p:spPr>
          <a:xfrm>
            <a:off x="4480560" y="5632704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70" name="Text 167"/>
          <p:cNvSpPr txBox="1"/>
          <p:nvPr/>
        </p:nvSpPr>
        <p:spPr>
          <a:xfrm>
            <a:off x="4526280" y="56327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LTV/CAC, payback, margin, 3-year plan, scenarios</a:t>
            </a:r>
            <a:endParaRPr lang="en-US" sz="950" dirty="0"/>
          </a:p>
        </p:txBody>
      </p:sp>
      <p:sp>
        <p:nvSpPr>
          <p:cNvPr id="171" name="Shape 168"/>
          <p:cNvSpPr/>
          <p:nvPr/>
        </p:nvSpPr>
        <p:spPr>
          <a:xfrm>
            <a:off x="8686800" y="5632704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72" name="Text 169"/>
          <p:cNvSpPr txBox="1"/>
          <p:nvPr/>
        </p:nvSpPr>
        <p:spPr>
          <a:xfrm>
            <a:off x="8732520" y="56327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950" dirty="0"/>
          </a:p>
        </p:txBody>
      </p:sp>
      <p:sp>
        <p:nvSpPr>
          <p:cNvPr id="173" name="Shape 170"/>
          <p:cNvSpPr/>
          <p:nvPr/>
        </p:nvSpPr>
        <p:spPr>
          <a:xfrm>
            <a:off x="10515600" y="5632704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74" name="Text 171"/>
          <p:cNvSpPr txBox="1"/>
          <p:nvPr/>
        </p:nvSpPr>
        <p:spPr>
          <a:xfrm>
            <a:off x="10561320" y="5632704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 4, 11–13, A1–A2</a:t>
            </a:r>
            <a:endParaRPr lang="en-US" sz="950" dirty="0"/>
          </a:p>
        </p:txBody>
      </p:sp>
      <p:sp>
        <p:nvSpPr>
          <p:cNvPr id="175" name="Shape 172"/>
          <p:cNvSpPr/>
          <p:nvPr/>
        </p:nvSpPr>
        <p:spPr>
          <a:xfrm>
            <a:off x="411480" y="5980176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76" name="Text 173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citations with URLs and licences: technical/docs/CITATIONS.md and financial/research. Every model number traces to the financial workbook or a metrics.json file.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11480" y="274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used AI, and what we cited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554480"/>
            <a:ext cx="5547208" cy="4206240"/>
          </a:xfrm>
          <a:prstGeom prst="roundRect">
            <a:avLst>
              <a:gd name="adj" fmla="val 435"/>
            </a:avLst>
          </a:prstGeom>
          <a:solidFill>
            <a:srgbClr val="E3ECF7"/>
          </a:solidFill>
          <a:ln w="19050">
            <a:solidFill>
              <a:srgbClr val="1F4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737360"/>
            <a:ext cx="2560320" cy="411480"/>
          </a:xfrm>
          <a:prstGeom prst="roundRect">
            <a:avLst>
              <a:gd name="adj" fmla="val 4444"/>
            </a:avLst>
          </a:prstGeom>
          <a:solidFill>
            <a:srgbClr val="1F4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49985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planning, code review, documentation.</a:t>
            </a:r>
            <a:endParaRPr lang="en-US" sz="17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Antigravity agents: code generation.</a:t>
            </a:r>
            <a:endParaRPr lang="en-US" sz="17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and Gemini Deep Research: literature and regulation research.</a:t>
            </a:r>
            <a:endParaRPr lang="en-US" sz="17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was reviewed and tested by the team; research claims were checked against primary sources where possible.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33008" y="1554480"/>
            <a:ext cx="5547208" cy="4206240"/>
          </a:xfrm>
          <a:prstGeom prst="roundRect">
            <a:avLst>
              <a:gd name="adj" fmla="val 435"/>
            </a:avLst>
          </a:prstGeom>
          <a:solidFill>
            <a:srgbClr val="E3ECF7"/>
          </a:solidFill>
          <a:ln w="19050">
            <a:solidFill>
              <a:srgbClr val="1F4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07328" y="1737360"/>
            <a:ext cx="2560320" cy="411480"/>
          </a:xfrm>
          <a:prstGeom prst="roundRect">
            <a:avLst>
              <a:gd name="adj" fmla="val 4444"/>
            </a:avLst>
          </a:prstGeom>
          <a:solidFill>
            <a:srgbClr val="1F4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07328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 and libraries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377440"/>
            <a:ext cx="49985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OULAD (CC BY 4.0), ASSISTments 2009, the pyKT benchmark, JEEBench.</a:t>
            </a:r>
            <a:endParaRPr lang="en-US" sz="17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Noto Sans Devanagari (SIL OFL), LightGBM, Ollama, FastAPI, PostgreSQL.</a:t>
            </a:r>
            <a:endParaRPr lang="en-US" sz="17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 with licences: technical/docs/CITATIONS.md in the repository.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6126480"/>
            <a:ext cx="7205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github.com/AdityaKuranjekar/institute-intelligence-platform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AlphaQ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AlphaQ: Case B, The Data Moat (Round 1, version 2)</dc:title>
  <dc:subject>PptxGenJS Presentation</dc:subject>
  <dc:creator>AlphaQ</dc:creator>
  <cp:lastModifiedBy>AlphaQ</cp:lastModifiedBy>
  <cp:revision>1</cp:revision>
  <dcterms:created xsi:type="dcterms:W3CDTF">2026-10-22T13:50:21Z</dcterms:created>
  <dcterms:modified xsi:type="dcterms:W3CDTF">2026-10-22T13:50:21Z</dcterms:modified>
</cp:coreProperties>
</file>