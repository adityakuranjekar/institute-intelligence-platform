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c5d5ec7-5e6f-8540-211d-4bb5eb1e90d8}">
          <p14:sldIdLst>
            <p14:sldId id="256"/>
          </p14:sldIdLst>
        </p14:section>
        <p14:section name="Summary" id="{57374cf7-5526-beb2-48ba-bc6271f7016f}">
          <p14:sldIdLst>
            <p14:sldId id="257"/>
          </p14:sldIdLst>
        </p14:section>
        <p14:section name="Problem" id="{6e8c2809-ac92-868c-b190-c54b77a3b5f3}">
          <p14:sldIdLst>
            <p14:sldId id="258"/>
            <p14:sldId id="259"/>
          </p14:sldIdLst>
        </p14:section>
        <p14:section name="Product" id="{1bc636e9-9f7d-e053-c72d-981732667a69}">
          <p14:sldIdLst>
            <p14:sldId id="260"/>
          </p14:sldIdLst>
        </p14:section>
        <p14:section name="Technology" id="{c037375f-b195-1dd6-dad9-231003c2c42b}">
          <p14:sldIdLst>
            <p14:sldId id="261"/>
            <p14:sldId id="262"/>
            <p14:sldId id="263"/>
            <p14:sldId id="264"/>
          </p14:sldIdLst>
        </p14:section>
        <p14:section name="Trust" id="{4f5d27b2-5713-20f4-c30f-cb1022462020}">
          <p14:sldIdLst>
            <p14:sldId id="265"/>
          </p14:sldIdLst>
        </p14:section>
        <p14:section name="Business" id="{8ffa4820-7fcc-2b6b-9290-0c411bc52b01}">
          <p14:sldIdLst>
            <p14:sldId id="266"/>
            <p14:sldId id="267"/>
          </p14:sldIdLst>
        </p14:section>
        <p14:section name="The Ask" id="{0380292f-8fff-b5ce-5d23-2f27aa24f3c3}">
          <p14:sldIdLst>
            <p14:sldId id="268"/>
          </p14:sldIdLst>
        </p14:section>
        <p14:section name="Appendix" id="{cd4921f1-dbbb-17bb-0f63-ea08117c80b7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losing" id="{632ad086-4ccf-aadb-e0d0-6619fdaa8909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INTENT: Aha moment first: the topic grid is the product in one picture. Benchmarking against a published rival (0.76 vs 0.75) anchors credibility. | Title. 0.76 is the next-answer AUC on ASSISTments 2009 (published DKT 0.754). Two public datasets: ASSISTments 2009 and OULAD. 3.6 rupees is the all-in cost per student per month (financial model v1.1, Base).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All criteriaDESIGN INTENT: Primacy and chunking: situation, complication, resolution, then the rubric. One block, one colour. | Executive summary in situation, complication, resolution form. Public-data figures are measured. 1.7x owner return counts fees kept, staff time and a 1 % admissions uplift; 0.55x counts only fees kept and staff time. LTV/CAC 3.6x is discounted (4.8x undiscounted). All from financial model v1.1.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Problem framingDESIGN INTENT: Loss aversion: the lost rupees are the one red number on the slide. Framing: the buyer's loss, not our features. | The 8-15 percent dropout, 36,000 rupee loss per leaver and 17.3 lakh total are the guide's illustrative baselines (400 x 12 % x 36,000). Market numbers: financial/research/R7_market_check.md.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Feasibility · business realismDESIGN INTENT: Pratfall effect and anchoring: we cut the guide's numbers ourselves, which earns belief in the numbers we keep. | This slide shows judges we tested the guide's illustrative numbers instead of copying them. Every 'what we do' value is a workbook output or a measured public-data result. Mentor capacity of eight per batch per week is the cap used in the mock-ups and the early-warning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Architecture · productDESIGN INTENT: Jobs to be done: a mentor wants eight names, not 400. Show the work: both surfaces, one flow. | Product slide. Web console for the office, phone screens for scanning, mentors and parents. Who-sees-what follows the routing policy: risk lists only for mentors and owners; students and parents never see risk scores or ranks.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Architecture and engineeringDESIGN INTENT: Mental model: three layers and four stages map to how judges score (architecture, ML, privacy). Status chips show honest progress. | Layers on the left, build status on the right. Keywords in brackets are the technical names: IRT, LightGBM, conformal prediction, row-level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science, ML and AI rigourDESIGN INTENT: Labor perception: show how the estimate is made, then show it admits doubt. Zeigarnik: pending gates are open loops to close in Round 2. | Plain-English headline with technical names as secondary labels. The three pending gates come from Agent B and must be filled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science, ML and AI rigour; privacyDESIGN INTENT: Framing: supportive, never punitive. Authority: the locks make the legal walls visible. | Journey on top; evidence in the middle; compliance matrix on the right (locks are data walls). Our OULAD AUC is lower than the published 0.794 because the split is strictly by student; say so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science, ML and AI rigour; GenAI guardrailsDESIGN INTENT: Show the work: the eight checks make safety visible instead of claimed. | Range mock-up is schematic until coverage results arrive. The report image uses real template output. Do not quote a verifier catch rate until the independent adversarial test passes after the E2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Feasibility, privacy and safetyDESIGN INTENT: Authority and trust: law cited by section; the lockbox is the single most important promise. | Lockbox: raw data stays in the institute's own environment; only item difficulty statistics reach a shared bank. A lawyer's check on the in-person ID flow is still recommended.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Revenue model and unit economicsDESIGN INTENT: Anchoring: the guide's 10.7x sits beside our 3.6x. We choose to look worse and be believed. | v1.1 numbers. Return 1.7x counts fees kept, staff time and a 1 % admissions uplift; 0.55x counts fees and staff time only; 0.35x fees only. LTV/CAC 3.6x discounted, 4.8x undiscounted; payback 5.7 months simple. Cost stack from COGS at Base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Market and go-to-market; moatDESIGN INTENT: Goal-gradient and chunking: Now, Next, Later makes the path feel short. | Small institutes: channel partners give LTV/CAC 3.4x against 1.5x by field sales. Year 3 Base: 58 paying institutes, revenue 65.3 lakh, EBITDA 11.9 lakh, funding need 45 lakh, break-even month 16. One field rep at 8 percent of the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Feasibility; honest limitsDESIGN INTENT: Peak-end: finish on a small, low-risk, falsifiable ask (two free pilots; we stop if it fails). | State limits first. The ask is concrete and falsifiable. Bear needs 1 crore funding and does not break even within 36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Revenue model and unit economics: sensitivity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Revenue model; three-year projection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Legal basis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Validation plan and model card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Problem statement coverage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Product tourProduct tour: upload, topic map, support list, profile, owner dashboard, parent report. All images are illustrative mock-ups (HTML rendered by headless Edge) using synthetic data and real report text from the report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Source register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Mandatory disclosure (Problem Statement, rule 2). Keep this as the last slide of the submitted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_SOF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6510528"/>
            <a:ext cx="530352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OF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6510528"/>
            <a:ext cx="530352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6510528"/>
            <a:ext cx="530352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105156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4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8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5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4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2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slideLayout" Target="../slideLayouts/slideLayout4.xml"/><Relationship Id="rId2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2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0"/>
            <a:ext cx="4937760" cy="4937760"/>
          </a:xfrm>
          <a:prstGeom prst="ellipse">
            <a:avLst/>
          </a:prstGeom>
          <a:solidFill>
            <a:srgbClr val="EAF1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 ·  NEXTUTE × FINANCE CLUB, IIT PATNA</a:t>
            </a:r>
            <a:endParaRPr lang="en-US" sz="11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11480" y="10515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Moat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2606040"/>
            <a:ext cx="1097280" cy="457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2743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student's weak topics, found before the exam.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 flipV="1">
            <a:off x="920462" y="3571907"/>
            <a:ext cx="192836" cy="13802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650827" y="3709932"/>
            <a:ext cx="269634" cy="302719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682988" y="3667017"/>
            <a:ext cx="237474" cy="42916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0462" y="3709932"/>
            <a:ext cx="206696" cy="54042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0462" y="3709932"/>
            <a:ext cx="483006" cy="25065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0462" y="3709932"/>
            <a:ext cx="264249" cy="13892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723238" y="3709932"/>
            <a:ext cx="197224" cy="31307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20462" y="3606410"/>
            <a:ext cx="110255" cy="103522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650827" y="3571907"/>
            <a:ext cx="462470" cy="440744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682988" y="3571907"/>
            <a:ext cx="430310" cy="9511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3298" y="3571907"/>
            <a:ext cx="13860" cy="19206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3298" y="3571907"/>
            <a:ext cx="290170" cy="38867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3298" y="3571907"/>
            <a:ext cx="71413" cy="27694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3298" y="3571907"/>
            <a:ext cx="550952" cy="22235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723238" y="3571907"/>
            <a:ext cx="390060" cy="45110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1030717" y="3571907"/>
            <a:ext cx="82581" cy="3450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745491" y="3705949"/>
            <a:ext cx="125961" cy="39510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 flipV="1">
            <a:off x="1403468" y="3960585"/>
            <a:ext cx="342023" cy="140472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1184711" y="3848855"/>
            <a:ext cx="560780" cy="252202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1664249" y="3794257"/>
            <a:ext cx="81241" cy="30680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745491" y="3545112"/>
            <a:ext cx="100186" cy="55594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650827" y="3667017"/>
            <a:ext cx="32161" cy="345634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650827" y="3763974"/>
            <a:ext cx="476331" cy="24867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50827" y="3848855"/>
            <a:ext cx="533884" cy="163796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0827" y="4012651"/>
            <a:ext cx="72411" cy="10359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650827" y="3606410"/>
            <a:ext cx="379889" cy="406241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2988" y="3667017"/>
            <a:ext cx="444170" cy="9695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2988" y="3667017"/>
            <a:ext cx="501723" cy="18183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2988" y="3667017"/>
            <a:ext cx="40250" cy="35599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682988" y="3606410"/>
            <a:ext cx="347729" cy="6060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1403468" y="3705949"/>
            <a:ext cx="467984" cy="25463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1664249" y="3705949"/>
            <a:ext cx="207202" cy="8830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1845677" y="3545112"/>
            <a:ext cx="25775" cy="16083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27158" y="3763974"/>
            <a:ext cx="276310" cy="196611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27158" y="3763974"/>
            <a:ext cx="57553" cy="84881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27158" y="3763974"/>
            <a:ext cx="537091" cy="3028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>
            <a:off x="723238" y="3763974"/>
            <a:ext cx="403920" cy="25903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 flipV="1">
            <a:off x="1030717" y="3606410"/>
            <a:ext cx="96441" cy="157564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 flipV="1">
            <a:off x="1184711" y="3848855"/>
            <a:ext cx="218757" cy="11173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403468" y="3794257"/>
            <a:ext cx="260781" cy="16632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>
            <a:off x="723238" y="3960585"/>
            <a:ext cx="680230" cy="6242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1403468" y="3545112"/>
            <a:ext cx="442209" cy="415474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 flipV="1">
            <a:off x="1030717" y="3606410"/>
            <a:ext cx="372751" cy="35417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1184711" y="3794257"/>
            <a:ext cx="479539" cy="5459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>
            <a:off x="723238" y="3848855"/>
            <a:ext cx="461473" cy="17415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 flipV="1">
            <a:off x="1030717" y="3606410"/>
            <a:ext cx="153994" cy="24244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664249" y="3545112"/>
            <a:ext cx="181428" cy="24914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1030717" y="3606410"/>
            <a:ext cx="633533" cy="18784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723238" y="3606410"/>
            <a:ext cx="307479" cy="41660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4742" y="3664212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58" name="Shape 56"/>
          <p:cNvSpPr/>
          <p:nvPr/>
        </p:nvSpPr>
        <p:spPr>
          <a:xfrm>
            <a:off x="1067578" y="3526187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59" name="Shape 57"/>
          <p:cNvSpPr/>
          <p:nvPr/>
        </p:nvSpPr>
        <p:spPr>
          <a:xfrm>
            <a:off x="1699771" y="4055337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0" name="Shape 58"/>
          <p:cNvSpPr/>
          <p:nvPr/>
        </p:nvSpPr>
        <p:spPr>
          <a:xfrm>
            <a:off x="605107" y="3966931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61" name="Shape 59"/>
          <p:cNvSpPr/>
          <p:nvPr/>
        </p:nvSpPr>
        <p:spPr>
          <a:xfrm>
            <a:off x="637268" y="3621297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2" name="Shape 60"/>
          <p:cNvSpPr/>
          <p:nvPr/>
        </p:nvSpPr>
        <p:spPr>
          <a:xfrm>
            <a:off x="1825732" y="3660229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3" name="Shape 61"/>
          <p:cNvSpPr/>
          <p:nvPr/>
        </p:nvSpPr>
        <p:spPr>
          <a:xfrm>
            <a:off x="1081438" y="3718254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64" name="Shape 62"/>
          <p:cNvSpPr/>
          <p:nvPr/>
        </p:nvSpPr>
        <p:spPr>
          <a:xfrm>
            <a:off x="1357748" y="3914865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5" name="Shape 63"/>
          <p:cNvSpPr/>
          <p:nvPr/>
        </p:nvSpPr>
        <p:spPr>
          <a:xfrm>
            <a:off x="1138991" y="3803135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6" name="Shape 64"/>
          <p:cNvSpPr/>
          <p:nvPr/>
        </p:nvSpPr>
        <p:spPr>
          <a:xfrm>
            <a:off x="1618529" y="3748537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67" name="Shape 65"/>
          <p:cNvSpPr/>
          <p:nvPr/>
        </p:nvSpPr>
        <p:spPr>
          <a:xfrm>
            <a:off x="677518" y="3977290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8" name="Shape 66"/>
          <p:cNvSpPr/>
          <p:nvPr/>
        </p:nvSpPr>
        <p:spPr>
          <a:xfrm>
            <a:off x="1799957" y="3499392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9" name="Shape 67"/>
          <p:cNvSpPr/>
          <p:nvPr/>
        </p:nvSpPr>
        <p:spPr>
          <a:xfrm>
            <a:off x="984997" y="3560690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70" name="Shape 68"/>
          <p:cNvSpPr/>
          <p:nvPr/>
        </p:nvSpPr>
        <p:spPr>
          <a:xfrm>
            <a:off x="2331720" y="3858768"/>
            <a:ext cx="502920" cy="0"/>
          </a:xfrm>
          <a:prstGeom prst="line">
            <a:avLst/>
          </a:prstGeom>
          <a:noFill/>
          <a:ln w="3175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2971800" y="3520440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72" name="Shape 70"/>
          <p:cNvSpPr/>
          <p:nvPr/>
        </p:nvSpPr>
        <p:spPr>
          <a:xfrm>
            <a:off x="3383280" y="3520440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3" name="Shape 71"/>
          <p:cNvSpPr/>
          <p:nvPr/>
        </p:nvSpPr>
        <p:spPr>
          <a:xfrm>
            <a:off x="3794760" y="3520440"/>
            <a:ext cx="384048" cy="22860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4" name="Shape 72"/>
          <p:cNvSpPr/>
          <p:nvPr/>
        </p:nvSpPr>
        <p:spPr>
          <a:xfrm>
            <a:off x="4206240" y="3520440"/>
            <a:ext cx="384048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Shape 73"/>
          <p:cNvSpPr/>
          <p:nvPr/>
        </p:nvSpPr>
        <p:spPr>
          <a:xfrm>
            <a:off x="4617720" y="3520440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6" name="Shape 74"/>
          <p:cNvSpPr/>
          <p:nvPr/>
        </p:nvSpPr>
        <p:spPr>
          <a:xfrm>
            <a:off x="5029200" y="3520440"/>
            <a:ext cx="384048" cy="22860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7" name="Shape 75"/>
          <p:cNvSpPr/>
          <p:nvPr/>
        </p:nvSpPr>
        <p:spPr>
          <a:xfrm>
            <a:off x="2971800" y="3767328"/>
            <a:ext cx="384048" cy="22860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8" name="Shape 76"/>
          <p:cNvSpPr/>
          <p:nvPr/>
        </p:nvSpPr>
        <p:spPr>
          <a:xfrm>
            <a:off x="3383280" y="3767328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79" name="Shape 77"/>
          <p:cNvSpPr/>
          <p:nvPr/>
        </p:nvSpPr>
        <p:spPr>
          <a:xfrm>
            <a:off x="3794760" y="3767328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0" name="Shape 78"/>
          <p:cNvSpPr/>
          <p:nvPr/>
        </p:nvSpPr>
        <p:spPr>
          <a:xfrm>
            <a:off x="4206240" y="3767328"/>
            <a:ext cx="384048" cy="22860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81" name="Shape 79"/>
          <p:cNvSpPr/>
          <p:nvPr/>
        </p:nvSpPr>
        <p:spPr>
          <a:xfrm>
            <a:off x="4617720" y="3767328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2" name="Shape 80"/>
          <p:cNvSpPr/>
          <p:nvPr/>
        </p:nvSpPr>
        <p:spPr>
          <a:xfrm>
            <a:off x="5029200" y="3767328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3" name="Shape 81"/>
          <p:cNvSpPr/>
          <p:nvPr/>
        </p:nvSpPr>
        <p:spPr>
          <a:xfrm>
            <a:off x="2971800" y="4014216"/>
            <a:ext cx="384048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4" name="Shape 82"/>
          <p:cNvSpPr/>
          <p:nvPr/>
        </p:nvSpPr>
        <p:spPr>
          <a:xfrm>
            <a:off x="3383280" y="4014216"/>
            <a:ext cx="384048" cy="22860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5" name="Shape 83"/>
          <p:cNvSpPr/>
          <p:nvPr/>
        </p:nvSpPr>
        <p:spPr>
          <a:xfrm>
            <a:off x="3794760" y="4014216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6" name="Shape 84"/>
          <p:cNvSpPr/>
          <p:nvPr/>
        </p:nvSpPr>
        <p:spPr>
          <a:xfrm>
            <a:off x="4206240" y="4014216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7" name="Shape 85"/>
          <p:cNvSpPr/>
          <p:nvPr/>
        </p:nvSpPr>
        <p:spPr>
          <a:xfrm>
            <a:off x="4617720" y="4014216"/>
            <a:ext cx="384048" cy="22860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8" name="Shape 86"/>
          <p:cNvSpPr/>
          <p:nvPr/>
        </p:nvSpPr>
        <p:spPr>
          <a:xfrm>
            <a:off x="5029200" y="4014216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411480" y="4224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OMR · WhatsApp</a:t>
            </a:r>
            <a:endParaRPr lang="en-US" sz="850" dirty="0"/>
          </a:p>
        </p:txBody>
      </p:sp>
      <p:sp>
        <p:nvSpPr>
          <p:cNvPr id="90" name="Text 88"/>
          <p:cNvSpPr txBox="1"/>
          <p:nvPr/>
        </p:nvSpPr>
        <p:spPr>
          <a:xfrm>
            <a:off x="2971800" y="4279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topic map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11480" y="4709160"/>
            <a:ext cx="1719072" cy="4572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411480" y="47091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2200" dirty="0"/>
          </a:p>
        </p:txBody>
      </p:sp>
      <p:sp>
        <p:nvSpPr>
          <p:cNvPr id="93" name="Shape 91"/>
          <p:cNvSpPr/>
          <p:nvPr/>
        </p:nvSpPr>
        <p:spPr>
          <a:xfrm>
            <a:off x="411480" y="5166360"/>
            <a:ext cx="1719072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66344" y="51663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 score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data; rival 0.75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2221992" y="4709160"/>
            <a:ext cx="1719072" cy="4572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2221992" y="47091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7" name="Shape 95"/>
          <p:cNvSpPr/>
          <p:nvPr/>
        </p:nvSpPr>
        <p:spPr>
          <a:xfrm>
            <a:off x="2221992" y="5166360"/>
            <a:ext cx="1719072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2276856" y="51663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datasets, not just ours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Univ. and ASSISTments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4032504" y="4709160"/>
            <a:ext cx="1719072" cy="4572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4032504" y="47091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</a:t>
            </a:r>
            <a:endParaRPr lang="en-US" sz="2200" dirty="0"/>
          </a:p>
        </p:txBody>
      </p:sp>
      <p:sp>
        <p:nvSpPr>
          <p:cNvPr id="101" name="Shape 99"/>
          <p:cNvSpPr/>
          <p:nvPr/>
        </p:nvSpPr>
        <p:spPr>
          <a:xfrm>
            <a:off x="4032504" y="5166360"/>
            <a:ext cx="1719072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087368" y="51663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 per month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all-in, one laptop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411480" y="45079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RIBBON</a:t>
            </a:r>
            <a:endParaRPr lang="en-US" sz="800" dirty="0"/>
          </a:p>
        </p:txBody>
      </p:sp>
      <p:sp>
        <p:nvSpPr>
          <p:cNvPr id="104" name="Text 102"/>
          <p:cNvSpPr txBox="1"/>
          <p:nvPr/>
        </p:nvSpPr>
        <p:spPr>
          <a:xfrm>
            <a:off x="411480" y="6126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AlphaQ  ·  Round 1  ·  Version 4</a:t>
            </a:r>
            <a:endParaRPr lang="en-US" sz="1100" dirty="0"/>
          </a:p>
        </p:txBody>
      </p:sp>
      <p:pic>
        <p:nvPicPr>
          <p:cNvPr id="105" name="Image 0" descr="Pragati web console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685800"/>
            <a:ext cx="5760720" cy="3236976"/>
          </a:xfrm>
          <a:prstGeom prst="rect">
            <a:avLst/>
          </a:prstGeom>
        </p:spPr>
      </p:pic>
      <p:pic>
        <p:nvPicPr>
          <p:cNvPr id="106" name="Image 1" descr="Pragati scan screen on a phone (illustrativ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08960"/>
            <a:ext cx="1600200" cy="3200400"/>
          </a:xfrm>
          <a:prstGeom prst="rect">
            <a:avLst/>
          </a:prstGeom>
        </p:spPr>
      </p:pic>
      <p:pic>
        <p:nvPicPr>
          <p:cNvPr id="107" name="Image 2" descr="Pragati mentor app (illustrative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880360"/>
            <a:ext cx="1600200" cy="3200400"/>
          </a:xfrm>
          <a:prstGeom prst="rect">
            <a:avLst/>
          </a:prstGeom>
        </p:spPr>
      </p:pic>
      <p:pic>
        <p:nvPicPr>
          <p:cNvPr id="108" name="Image 3" descr="Pragati parent app (illustrative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3108960"/>
            <a:ext cx="1600200" cy="3200400"/>
          </a:xfrm>
          <a:prstGeom prst="rect">
            <a:avLst/>
          </a:prstGeom>
        </p:spPr>
      </p:pic>
      <p:sp>
        <p:nvSpPr>
          <p:cNvPr id="109" name="Text 103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 (ASSISTments 2009, pyKT protocol; OULAD); financial model v1.1, Base. Screens are illustrative mock-ups with synthetic students.</a:t>
            </a:r>
            <a:endParaRPr lang="en-US" sz="850" dirty="0"/>
          </a:p>
        </p:txBody>
      </p:sp>
      <p:pic>
        <p:nvPicPr>
          <p:cNvPr id="110" name="Image 4" descr="hand-drawn ul_swoos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847088"/>
            <a:ext cx="3200400" cy="237744"/>
          </a:xfrm>
          <a:prstGeom prst="rect">
            <a:avLst/>
          </a:prstGeom>
        </p:spPr>
      </p:pic>
      <p:pic>
        <p:nvPicPr>
          <p:cNvPr id="111" name="Image 5" descr="hand-drawn hl_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4520" y="2770632"/>
            <a:ext cx="1207008" cy="274320"/>
          </a:xfrm>
          <a:prstGeom prst="rect">
            <a:avLst/>
          </a:prstGeom>
        </p:spPr>
      </p:pic>
      <p:sp>
        <p:nvSpPr>
          <p:cNvPr id="112" name="Shape 104"/>
          <p:cNvSpPr/>
          <p:nvPr/>
        </p:nvSpPr>
        <p:spPr>
          <a:xfrm rot="-240000">
            <a:off x="4206240" y="1014984"/>
            <a:ext cx="1417320" cy="713232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13" name="Shape 105"/>
          <p:cNvSpPr/>
          <p:nvPr/>
        </p:nvSpPr>
        <p:spPr>
          <a:xfrm rot="-240000">
            <a:off x="4160520" y="960120"/>
            <a:ext cx="1417320" cy="713232"/>
          </a:xfrm>
          <a:prstGeom prst="rect">
            <a:avLst/>
          </a:prstGeom>
          <a:solidFill>
            <a:srgbClr val="FBE9A0"/>
          </a:solidFill>
          <a:ln/>
        </p:spPr>
      </p:sp>
      <p:sp>
        <p:nvSpPr>
          <p:cNvPr id="114" name="Text 106"/>
          <p:cNvSpPr txBox="1"/>
          <p:nvPr/>
        </p:nvSpPr>
        <p:spPr>
          <a:xfrm rot="-240000">
            <a:off x="4215384" y="996696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6D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Your Excel in. A weekly list out.</a:t>
            </a:r>
            <a:endParaRPr lang="en-US" sz="850" dirty="0"/>
          </a:p>
        </p:txBody>
      </p:sp>
      <p:pic>
        <p:nvPicPr>
          <p:cNvPr id="115" name="Image 6" descr="D:\Professional Work\Business\FC_Case_Dhruvi\presentation\source\assets\doodle_tap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144000">
            <a:off x="4594860" y="868680"/>
            <a:ext cx="548640" cy="173736"/>
          </a:xfrm>
          <a:prstGeom prst="rect">
            <a:avLst/>
          </a:prstGeom>
        </p:spPr>
      </p:pic>
      <p:pic>
        <p:nvPicPr>
          <p:cNvPr id="116" name="Image 7" descr="hand-drawn arrow_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600000">
            <a:off x="5577840" y="1508760"/>
            <a:ext cx="640080" cy="182880"/>
          </a:xfrm>
          <a:prstGeom prst="rect">
            <a:avLst/>
          </a:prstGeom>
        </p:spPr>
      </p:pic>
      <p:pic>
        <p:nvPicPr>
          <p:cNvPr id="117" name="Image 8" descr="mentor curso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0" y="3566160"/>
            <a:ext cx="777240" cy="329184"/>
          </a:xfrm>
          <a:prstGeom prst="rect">
            <a:avLst/>
          </a:prstGeom>
        </p:spPr>
      </p:pic>
      <p:pic>
        <p:nvPicPr>
          <p:cNvPr id="118" name="Image 9" descr="parent curso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4200" y="4754880"/>
            <a:ext cx="77724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institutes already hold the data. Pragati turns it into a weekly to-do list for mentors, at a price owners can say yes to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1143000" cy="89611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15568"/>
            <a:ext cx="1143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554480" y="1115568"/>
            <a:ext cx="4434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673352" y="1152144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and Tier-3 JEE/NEET institutes (150 to 1,200 students) run on </a:t>
            </a:r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OMR sheets, Excel and WhatsApp.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22.8 lakh NEET and about 15.4 lakh JEE Main candidates registered in 2025.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11480" y="2103120"/>
            <a:ext cx="1143000" cy="89611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11480" y="2103120"/>
            <a:ext cx="1143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554480" y="2103120"/>
            <a:ext cx="4434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673352" y="2139696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400-student institute loses about </a:t>
            </a:r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 lakh a year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mid-session dropouts, noticed only after students leave. Generic apps store marks but give no topic view or warning, and </a:t>
            </a:r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s.9(3) bars behavioural tracking of minors.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11480" y="3090672"/>
            <a:ext cx="1143000" cy="89611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11480" y="3090672"/>
            <a:ext cx="1143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1554480" y="3090672"/>
            <a:ext cx="4434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673352" y="3127248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Pragati: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photo or Excel in; topic mastery, a weekly support list with plain reasons and checked Hindi and English parent reports out. Runs offline on one laptop for </a:t>
            </a:r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 per student per month.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11480" y="4114800"/>
            <a:ext cx="55778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84632" y="4114800"/>
            <a:ext cx="5431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 ON THE RUBRIC (70 % TECHNOLOGY · 30 % BUSINESS)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11480" y="4462272"/>
            <a:ext cx="2761488" cy="859536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02920" y="4553712"/>
            <a:ext cx="329184" cy="329184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39" name="Image 0" descr="FaSitema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40" y="4626132"/>
            <a:ext cx="184343" cy="184343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905256" y="4526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25</a:t>
            </a:r>
            <a:endParaRPr 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905256" y="479145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Local-first, 31 tables with row-level security tested on PostgreSQL 16; 116 automated tests.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3227832" y="4462272"/>
            <a:ext cx="2761488" cy="859536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3319272" y="4553712"/>
            <a:ext cx="329184" cy="329184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44" name="Image 1" descr="FaChartLin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692" y="4626132"/>
            <a:ext cx="184343" cy="184343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3721608" y="4526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rigour 25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3721608" y="479145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public data against baselines: 0.763 AUC (DKT 0.754); precision 0.46 vs 0.24 to 0.31 for rules.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411480" y="5394960"/>
            <a:ext cx="2761488" cy="859536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502920" y="5486400"/>
            <a:ext cx="329184" cy="329184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49" name="Image 2" descr="FaUserShiel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40" y="5558820"/>
            <a:ext cx="184343" cy="184343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905256" y="5458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safety 20</a:t>
            </a:r>
            <a:endParaRPr lang="en-US" sz="1100" dirty="0"/>
          </a:p>
        </p:txBody>
      </p:sp>
      <p:sp>
        <p:nvSpPr>
          <p:cNvPr id="51" name="Text 45"/>
          <p:cNvSpPr txBox="1"/>
          <p:nvPr/>
        </p:nvSpPr>
        <p:spPr>
          <a:xfrm>
            <a:off x="905256" y="572414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 and purpose-aware routing; academic-only features cost just 0.008 AUC; every report checked.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3227832" y="5394960"/>
            <a:ext cx="2761488" cy="859536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3319272" y="5486400"/>
            <a:ext cx="329184" cy="329184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54" name="Image 3" descr="FaIndianRupeeSig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1692" y="5558820"/>
            <a:ext cx="184343" cy="184343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3721608" y="5458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30</a:t>
            </a:r>
            <a:endParaRPr lang="en-US" sz="1100" dirty="0"/>
          </a:p>
        </p:txBody>
      </p:sp>
      <p:sp>
        <p:nvSpPr>
          <p:cNvPr id="56" name="Text 49"/>
          <p:cNvSpPr txBox="1"/>
          <p:nvPr/>
        </p:nvSpPr>
        <p:spPr>
          <a:xfrm>
            <a:off x="3721608" y="572414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 owner return with admissions, 0.55x on hard benefits; LTV/CAC 3.6x; bear case shown.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6172200" y="1115568"/>
            <a:ext cx="1333424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6172200" y="1115568"/>
            <a:ext cx="1333424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9" name="Text 52"/>
          <p:cNvSpPr txBox="1"/>
          <p:nvPr/>
        </p:nvSpPr>
        <p:spPr>
          <a:xfrm>
            <a:off x="6172200" y="1188720"/>
            <a:ext cx="1333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</a:t>
            </a:r>
            <a:endParaRPr lang="en-US" sz="2400" dirty="0"/>
          </a:p>
        </p:txBody>
      </p:sp>
      <p:sp>
        <p:nvSpPr>
          <p:cNvPr id="60" name="Text 53"/>
          <p:cNvSpPr txBox="1"/>
          <p:nvPr/>
        </p:nvSpPr>
        <p:spPr>
          <a:xfrm>
            <a:off x="6227064" y="1618488"/>
            <a:ext cx="1223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next-answer AUC on ASSISTments</a:t>
            </a:r>
            <a:endParaRPr lang="en-US" sz="900" dirty="0"/>
          </a:p>
        </p:txBody>
      </p:sp>
      <p:sp>
        <p:nvSpPr>
          <p:cNvPr id="61" name="Text 54"/>
          <p:cNvSpPr txBox="1"/>
          <p:nvPr/>
        </p:nvSpPr>
        <p:spPr>
          <a:xfrm>
            <a:off x="6172200" y="1984248"/>
            <a:ext cx="1333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750" dirty="0"/>
          </a:p>
        </p:txBody>
      </p:sp>
      <p:sp>
        <p:nvSpPr>
          <p:cNvPr id="62" name="Shape 55"/>
          <p:cNvSpPr/>
          <p:nvPr/>
        </p:nvSpPr>
        <p:spPr>
          <a:xfrm>
            <a:off x="7597064" y="1115568"/>
            <a:ext cx="1333424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7597064" y="1115568"/>
            <a:ext cx="1333424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4" name="Text 57"/>
          <p:cNvSpPr txBox="1"/>
          <p:nvPr/>
        </p:nvSpPr>
        <p:spPr>
          <a:xfrm>
            <a:off x="7597064" y="1188720"/>
            <a:ext cx="1333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2400" dirty="0"/>
          </a:p>
        </p:txBody>
      </p:sp>
      <p:sp>
        <p:nvSpPr>
          <p:cNvPr id="65" name="Text 58"/>
          <p:cNvSpPr txBox="1"/>
          <p:nvPr/>
        </p:nvSpPr>
        <p:spPr>
          <a:xfrm>
            <a:off x="7651928" y="1618488"/>
            <a:ext cx="1223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top 10 % (rules 0.24 to 0.31)</a:t>
            </a:r>
            <a:endParaRPr lang="en-US" sz="900" dirty="0"/>
          </a:p>
        </p:txBody>
      </p:sp>
      <p:sp>
        <p:nvSpPr>
          <p:cNvPr id="66" name="Text 59"/>
          <p:cNvSpPr txBox="1"/>
          <p:nvPr/>
        </p:nvSpPr>
        <p:spPr>
          <a:xfrm>
            <a:off x="7597064" y="1984248"/>
            <a:ext cx="1333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750" dirty="0"/>
          </a:p>
        </p:txBody>
      </p:sp>
      <p:sp>
        <p:nvSpPr>
          <p:cNvPr id="67" name="Shape 60"/>
          <p:cNvSpPr/>
          <p:nvPr/>
        </p:nvSpPr>
        <p:spPr>
          <a:xfrm>
            <a:off x="9021928" y="1115568"/>
            <a:ext cx="1333424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9021928" y="1115568"/>
            <a:ext cx="1333424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9" name="Text 62"/>
          <p:cNvSpPr txBox="1"/>
          <p:nvPr/>
        </p:nvSpPr>
        <p:spPr>
          <a:xfrm>
            <a:off x="9021928" y="1188720"/>
            <a:ext cx="1333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2400" dirty="0"/>
          </a:p>
        </p:txBody>
      </p:sp>
      <p:sp>
        <p:nvSpPr>
          <p:cNvPr id="70" name="Text 63"/>
          <p:cNvSpPr txBox="1"/>
          <p:nvPr/>
        </p:nvSpPr>
        <p:spPr>
          <a:xfrm>
            <a:off x="9076792" y="1618488"/>
            <a:ext cx="1223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return, base (0.55x hard benefits)</a:t>
            </a:r>
            <a:endParaRPr lang="en-US" sz="900" dirty="0"/>
          </a:p>
        </p:txBody>
      </p:sp>
      <p:sp>
        <p:nvSpPr>
          <p:cNvPr id="71" name="Text 64"/>
          <p:cNvSpPr txBox="1"/>
          <p:nvPr/>
        </p:nvSpPr>
        <p:spPr>
          <a:xfrm>
            <a:off x="9021928" y="1984248"/>
            <a:ext cx="1333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750" dirty="0"/>
          </a:p>
        </p:txBody>
      </p:sp>
      <p:sp>
        <p:nvSpPr>
          <p:cNvPr id="72" name="Shape 65"/>
          <p:cNvSpPr/>
          <p:nvPr/>
        </p:nvSpPr>
        <p:spPr>
          <a:xfrm>
            <a:off x="10446791" y="1115568"/>
            <a:ext cx="1333424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10446791" y="1115568"/>
            <a:ext cx="1333424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4" name="Text 67"/>
          <p:cNvSpPr txBox="1"/>
          <p:nvPr/>
        </p:nvSpPr>
        <p:spPr>
          <a:xfrm>
            <a:off x="10446791" y="1188720"/>
            <a:ext cx="1333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2400" dirty="0"/>
          </a:p>
        </p:txBody>
      </p:sp>
      <p:sp>
        <p:nvSpPr>
          <p:cNvPr id="75" name="Text 68"/>
          <p:cNvSpPr txBox="1"/>
          <p:nvPr/>
        </p:nvSpPr>
        <p:spPr>
          <a:xfrm>
            <a:off x="10501655" y="1618488"/>
            <a:ext cx="1223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base (4.8x undiscounted)</a:t>
            </a:r>
            <a:endParaRPr lang="en-US" sz="900" dirty="0"/>
          </a:p>
        </p:txBody>
      </p:sp>
      <p:sp>
        <p:nvSpPr>
          <p:cNvPr id="76" name="Text 69"/>
          <p:cNvSpPr txBox="1"/>
          <p:nvPr/>
        </p:nvSpPr>
        <p:spPr>
          <a:xfrm>
            <a:off x="10446791" y="1984248"/>
            <a:ext cx="1333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750" dirty="0"/>
          </a:p>
        </p:txBody>
      </p:sp>
      <p:sp>
        <p:nvSpPr>
          <p:cNvPr id="77" name="Shape 70"/>
          <p:cNvSpPr/>
          <p:nvPr/>
        </p:nvSpPr>
        <p:spPr>
          <a:xfrm>
            <a:off x="6172200" y="2304288"/>
            <a:ext cx="5608015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8" name="Text 71"/>
          <p:cNvSpPr txBox="1"/>
          <p:nvPr/>
        </p:nvSpPr>
        <p:spPr>
          <a:xfrm>
            <a:off x="6245352" y="2304288"/>
            <a:ext cx="54617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PRAGATI LOOP: CAPTURE → STRUCTURE → ESTIMATE → FLAG → ACT → REPORT</a:t>
            </a:r>
            <a:endParaRPr lang="en-US" sz="1000" dirty="0"/>
          </a:p>
        </p:txBody>
      </p:sp>
      <p:sp>
        <p:nvSpPr>
          <p:cNvPr id="79" name="Shape 72"/>
          <p:cNvSpPr/>
          <p:nvPr/>
        </p:nvSpPr>
        <p:spPr>
          <a:xfrm>
            <a:off x="6913855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80" name="Shape 73"/>
          <p:cNvSpPr/>
          <p:nvPr/>
        </p:nvSpPr>
        <p:spPr>
          <a:xfrm>
            <a:off x="6392647" y="2633472"/>
            <a:ext cx="493776" cy="49377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81" name="Image 4" descr="FaCamera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277" y="2742103"/>
            <a:ext cx="276515" cy="276515"/>
          </a:xfrm>
          <a:prstGeom prst="rect">
            <a:avLst/>
          </a:prstGeom>
        </p:spPr>
      </p:pic>
      <p:sp>
        <p:nvSpPr>
          <p:cNvPr id="82" name="Text 74"/>
          <p:cNvSpPr txBox="1"/>
          <p:nvPr/>
        </p:nvSpPr>
        <p:spPr>
          <a:xfrm>
            <a:off x="6172200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00" dirty="0"/>
          </a:p>
        </p:txBody>
      </p:sp>
      <p:sp>
        <p:nvSpPr>
          <p:cNvPr id="83" name="Text 75"/>
          <p:cNvSpPr txBox="1"/>
          <p:nvPr/>
        </p:nvSpPr>
        <p:spPr>
          <a:xfrm>
            <a:off x="6199632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photo, Excel</a:t>
            </a:r>
            <a:endParaRPr lang="en-US" sz="850" dirty="0"/>
          </a:p>
        </p:txBody>
      </p:sp>
      <p:sp>
        <p:nvSpPr>
          <p:cNvPr id="84" name="Shape 76"/>
          <p:cNvSpPr/>
          <p:nvPr/>
        </p:nvSpPr>
        <p:spPr>
          <a:xfrm>
            <a:off x="7848524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85" name="Shape 77"/>
          <p:cNvSpPr/>
          <p:nvPr/>
        </p:nvSpPr>
        <p:spPr>
          <a:xfrm>
            <a:off x="7327316" y="2633472"/>
            <a:ext cx="493776" cy="493776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86" name="Image 5" descr="FaDiagramProjec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5947" y="2742103"/>
            <a:ext cx="276515" cy="276515"/>
          </a:xfrm>
          <a:prstGeom prst="rect">
            <a:avLst/>
          </a:prstGeom>
        </p:spPr>
      </p:pic>
      <p:sp>
        <p:nvSpPr>
          <p:cNvPr id="87" name="Text 78"/>
          <p:cNvSpPr txBox="1"/>
          <p:nvPr/>
        </p:nvSpPr>
        <p:spPr>
          <a:xfrm>
            <a:off x="7106869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88" name="Text 79"/>
          <p:cNvSpPr txBox="1"/>
          <p:nvPr/>
        </p:nvSpPr>
        <p:spPr>
          <a:xfrm>
            <a:off x="7134301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380-topic map</a:t>
            </a:r>
            <a:endParaRPr lang="en-US" sz="850" dirty="0"/>
          </a:p>
        </p:txBody>
      </p:sp>
      <p:sp>
        <p:nvSpPr>
          <p:cNvPr id="89" name="Shape 80"/>
          <p:cNvSpPr/>
          <p:nvPr/>
        </p:nvSpPr>
        <p:spPr>
          <a:xfrm>
            <a:off x="8783193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90" name="Shape 81"/>
          <p:cNvSpPr/>
          <p:nvPr/>
        </p:nvSpPr>
        <p:spPr>
          <a:xfrm>
            <a:off x="8261985" y="2633472"/>
            <a:ext cx="493776" cy="49377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91" name="Image 6" descr="FaBrain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0616" y="2742103"/>
            <a:ext cx="276515" cy="276515"/>
          </a:xfrm>
          <a:prstGeom prst="rect">
            <a:avLst/>
          </a:prstGeom>
        </p:spPr>
      </p:pic>
      <p:sp>
        <p:nvSpPr>
          <p:cNvPr id="92" name="Text 82"/>
          <p:cNvSpPr txBox="1"/>
          <p:nvPr/>
        </p:nvSpPr>
        <p:spPr>
          <a:xfrm>
            <a:off x="8041538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000" dirty="0"/>
          </a:p>
        </p:txBody>
      </p:sp>
      <p:sp>
        <p:nvSpPr>
          <p:cNvPr id="93" name="Text 83"/>
          <p:cNvSpPr txBox="1"/>
          <p:nvPr/>
        </p:nvSpPr>
        <p:spPr>
          <a:xfrm>
            <a:off x="8068970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per topic</a:t>
            </a:r>
            <a:endParaRPr lang="en-US" sz="850" dirty="0"/>
          </a:p>
        </p:txBody>
      </p:sp>
      <p:sp>
        <p:nvSpPr>
          <p:cNvPr id="94" name="Shape 84"/>
          <p:cNvSpPr/>
          <p:nvPr/>
        </p:nvSpPr>
        <p:spPr>
          <a:xfrm>
            <a:off x="9717862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95" name="Shape 85"/>
          <p:cNvSpPr/>
          <p:nvPr/>
        </p:nvSpPr>
        <p:spPr>
          <a:xfrm>
            <a:off x="9196654" y="2633472"/>
            <a:ext cx="493776" cy="493776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96" name="Image 7" descr="FaFlag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5285" y="2742103"/>
            <a:ext cx="276515" cy="276515"/>
          </a:xfrm>
          <a:prstGeom prst="rect">
            <a:avLst/>
          </a:prstGeom>
        </p:spPr>
      </p:pic>
      <p:sp>
        <p:nvSpPr>
          <p:cNvPr id="97" name="Text 86"/>
          <p:cNvSpPr txBox="1"/>
          <p:nvPr/>
        </p:nvSpPr>
        <p:spPr>
          <a:xfrm>
            <a:off x="8976208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000" dirty="0"/>
          </a:p>
        </p:txBody>
      </p:sp>
      <p:sp>
        <p:nvSpPr>
          <p:cNvPr id="98" name="Text 87"/>
          <p:cNvSpPr txBox="1"/>
          <p:nvPr/>
        </p:nvSpPr>
        <p:spPr>
          <a:xfrm>
            <a:off x="9003640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list, reasons</a:t>
            </a:r>
            <a:endParaRPr lang="en-US" sz="850" dirty="0"/>
          </a:p>
        </p:txBody>
      </p:sp>
      <p:sp>
        <p:nvSpPr>
          <p:cNvPr id="99" name="Shape 88"/>
          <p:cNvSpPr/>
          <p:nvPr/>
        </p:nvSpPr>
        <p:spPr>
          <a:xfrm>
            <a:off x="10652531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100" name="Shape 89"/>
          <p:cNvSpPr/>
          <p:nvPr/>
        </p:nvSpPr>
        <p:spPr>
          <a:xfrm>
            <a:off x="10131323" y="2633472"/>
            <a:ext cx="493776" cy="49377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101" name="Image 8" descr="FaHandshak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9954" y="2742103"/>
            <a:ext cx="276515" cy="276515"/>
          </a:xfrm>
          <a:prstGeom prst="rect">
            <a:avLst/>
          </a:prstGeom>
        </p:spPr>
      </p:pic>
      <p:sp>
        <p:nvSpPr>
          <p:cNvPr id="102" name="Text 90"/>
          <p:cNvSpPr txBox="1"/>
          <p:nvPr/>
        </p:nvSpPr>
        <p:spPr>
          <a:xfrm>
            <a:off x="9910877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103" name="Text 91"/>
          <p:cNvSpPr txBox="1"/>
          <p:nvPr/>
        </p:nvSpPr>
        <p:spPr>
          <a:xfrm>
            <a:off x="9938309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Call, session, log</a:t>
            </a:r>
            <a:endParaRPr lang="en-US" sz="850" dirty="0"/>
          </a:p>
        </p:txBody>
      </p:sp>
      <p:sp>
        <p:nvSpPr>
          <p:cNvPr id="104" name="Shape 92"/>
          <p:cNvSpPr/>
          <p:nvPr/>
        </p:nvSpPr>
        <p:spPr>
          <a:xfrm>
            <a:off x="11065993" y="2633472"/>
            <a:ext cx="493776" cy="493776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105" name="Image 9" descr="FaFileLines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4623" y="2742103"/>
            <a:ext cx="276515" cy="276515"/>
          </a:xfrm>
          <a:prstGeom prst="rect">
            <a:avLst/>
          </a:prstGeom>
        </p:spPr>
      </p:pic>
      <p:sp>
        <p:nvSpPr>
          <p:cNvPr id="106" name="Text 93"/>
          <p:cNvSpPr txBox="1"/>
          <p:nvPr/>
        </p:nvSpPr>
        <p:spPr>
          <a:xfrm>
            <a:off x="10845546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107" name="Text 94"/>
          <p:cNvSpPr txBox="1"/>
          <p:nvPr/>
        </p:nvSpPr>
        <p:spPr>
          <a:xfrm>
            <a:off x="10872978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Hindi / English</a:t>
            </a:r>
            <a:endParaRPr lang="en-US" sz="850" dirty="0"/>
          </a:p>
        </p:txBody>
      </p:sp>
      <p:sp>
        <p:nvSpPr>
          <p:cNvPr id="108" name="Shape 95"/>
          <p:cNvSpPr/>
          <p:nvPr/>
        </p:nvSpPr>
        <p:spPr>
          <a:xfrm>
            <a:off x="6172200" y="3749040"/>
            <a:ext cx="105156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9" name="Text 96"/>
          <p:cNvSpPr txBox="1"/>
          <p:nvPr/>
        </p:nvSpPr>
        <p:spPr>
          <a:xfrm>
            <a:off x="6217920" y="374904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choice</a:t>
            </a:r>
            <a:endParaRPr lang="en-US" sz="900" dirty="0"/>
          </a:p>
        </p:txBody>
      </p:sp>
      <p:sp>
        <p:nvSpPr>
          <p:cNvPr id="110" name="Shape 97"/>
          <p:cNvSpPr/>
          <p:nvPr/>
        </p:nvSpPr>
        <p:spPr>
          <a:xfrm>
            <a:off x="7223760" y="3749040"/>
            <a:ext cx="292608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1" name="Text 98"/>
          <p:cNvSpPr txBox="1"/>
          <p:nvPr/>
        </p:nvSpPr>
        <p:spPr>
          <a:xfrm>
            <a:off x="7269480" y="3749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use</a:t>
            </a:r>
            <a:endParaRPr lang="en-US" sz="900" dirty="0"/>
          </a:p>
        </p:txBody>
      </p:sp>
      <p:sp>
        <p:nvSpPr>
          <p:cNvPr id="112" name="Shape 99"/>
          <p:cNvSpPr/>
          <p:nvPr/>
        </p:nvSpPr>
        <p:spPr>
          <a:xfrm>
            <a:off x="10149840" y="3749040"/>
            <a:ext cx="1630375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3" name="Text 100"/>
          <p:cNvSpPr txBox="1"/>
          <p:nvPr/>
        </p:nvSpPr>
        <p:spPr>
          <a:xfrm>
            <a:off x="10195560" y="3749040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14" name="Shape 101"/>
          <p:cNvSpPr/>
          <p:nvPr/>
        </p:nvSpPr>
        <p:spPr>
          <a:xfrm>
            <a:off x="6172200" y="3995928"/>
            <a:ext cx="105156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5" name="Text 102"/>
          <p:cNvSpPr txBox="1"/>
          <p:nvPr/>
        </p:nvSpPr>
        <p:spPr>
          <a:xfrm>
            <a:off x="6217920" y="3995928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capture</a:t>
            </a:r>
            <a:endParaRPr lang="en-US" sz="900" dirty="0"/>
          </a:p>
        </p:txBody>
      </p:sp>
      <p:sp>
        <p:nvSpPr>
          <p:cNvPr id="116" name="Shape 103"/>
          <p:cNvSpPr/>
          <p:nvPr/>
        </p:nvSpPr>
        <p:spPr>
          <a:xfrm>
            <a:off x="7223760" y="3995928"/>
            <a:ext cx="292608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7" name="Text 104"/>
          <p:cNvSpPr txBox="1"/>
          <p:nvPr/>
        </p:nvSpPr>
        <p:spPr>
          <a:xfrm>
            <a:off x="7269480" y="399592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marks and QR; unclear bubbles sent back</a:t>
            </a:r>
            <a:endParaRPr lang="en-US" sz="900" dirty="0"/>
          </a:p>
        </p:txBody>
      </p:sp>
      <p:sp>
        <p:nvSpPr>
          <p:cNvPr id="118" name="Shape 105"/>
          <p:cNvSpPr/>
          <p:nvPr/>
        </p:nvSpPr>
        <p:spPr>
          <a:xfrm>
            <a:off x="10149840" y="3995928"/>
            <a:ext cx="1630375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9" name="Text 106"/>
          <p:cNvSpPr txBox="1"/>
          <p:nvPr/>
        </p:nvSpPr>
        <p:spPr>
          <a:xfrm>
            <a:off x="10195560" y="3995928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scanner, works offline</a:t>
            </a:r>
            <a:endParaRPr lang="en-US" sz="900" dirty="0"/>
          </a:p>
        </p:txBody>
      </p:sp>
      <p:sp>
        <p:nvSpPr>
          <p:cNvPr id="120" name="Shape 107"/>
          <p:cNvSpPr/>
          <p:nvPr/>
        </p:nvSpPr>
        <p:spPr>
          <a:xfrm>
            <a:off x="6172200" y="4242816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1" name="Shape 108"/>
          <p:cNvSpPr/>
          <p:nvPr/>
        </p:nvSpPr>
        <p:spPr>
          <a:xfrm>
            <a:off x="6172200" y="4242816"/>
            <a:ext cx="105156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2" name="Text 109"/>
          <p:cNvSpPr txBox="1"/>
          <p:nvPr/>
        </p:nvSpPr>
        <p:spPr>
          <a:xfrm>
            <a:off x="6217920" y="4242816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mastery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223760" y="4242816"/>
            <a:ext cx="29260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11"/>
          <p:cNvSpPr txBox="1"/>
          <p:nvPr/>
        </p:nvSpPr>
        <p:spPr>
          <a:xfrm>
            <a:off x="7269480" y="424281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2-parameter IRT, guessing prior; Rasch if small</a:t>
            </a:r>
            <a:endParaRPr lang="en-US" sz="900" dirty="0"/>
          </a:p>
        </p:txBody>
      </p:sp>
      <p:sp>
        <p:nvSpPr>
          <p:cNvPr id="125" name="Shape 112"/>
          <p:cNvSpPr/>
          <p:nvPr/>
        </p:nvSpPr>
        <p:spPr>
          <a:xfrm>
            <a:off x="10149840" y="4242816"/>
            <a:ext cx="1630375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Text 113"/>
          <p:cNvSpPr txBox="1"/>
          <p:nvPr/>
        </p:nvSpPr>
        <p:spPr>
          <a:xfrm>
            <a:off x="10195560" y="4242816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itself on sparse tests</a:t>
            </a:r>
            <a:endParaRPr lang="en-US" sz="900" dirty="0"/>
          </a:p>
        </p:txBody>
      </p:sp>
      <p:sp>
        <p:nvSpPr>
          <p:cNvPr id="127" name="Shape 114"/>
          <p:cNvSpPr/>
          <p:nvPr/>
        </p:nvSpPr>
        <p:spPr>
          <a:xfrm>
            <a:off x="6172200" y="4489704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8" name="Shape 115"/>
          <p:cNvSpPr/>
          <p:nvPr/>
        </p:nvSpPr>
        <p:spPr>
          <a:xfrm>
            <a:off x="6172200" y="4489704"/>
            <a:ext cx="105156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9" name="Text 116"/>
          <p:cNvSpPr txBox="1"/>
          <p:nvPr/>
        </p:nvSpPr>
        <p:spPr>
          <a:xfrm>
            <a:off x="6217920" y="448970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00" dirty="0"/>
          </a:p>
        </p:txBody>
      </p:sp>
      <p:sp>
        <p:nvSpPr>
          <p:cNvPr id="130" name="Shape 117"/>
          <p:cNvSpPr/>
          <p:nvPr/>
        </p:nvSpPr>
        <p:spPr>
          <a:xfrm>
            <a:off x="7223760" y="4489704"/>
            <a:ext cx="292608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1" name="Text 118"/>
          <p:cNvSpPr txBox="1"/>
          <p:nvPr/>
        </p:nvSpPr>
        <p:spPr>
          <a:xfrm>
            <a:off x="7269480" y="4489704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LightGBM; rules for minors' dropout</a:t>
            </a:r>
            <a:endParaRPr lang="en-US" sz="900" dirty="0"/>
          </a:p>
        </p:txBody>
      </p:sp>
      <p:sp>
        <p:nvSpPr>
          <p:cNvPr id="132" name="Shape 119"/>
          <p:cNvSpPr/>
          <p:nvPr/>
        </p:nvSpPr>
        <p:spPr>
          <a:xfrm>
            <a:off x="10149840" y="4489704"/>
            <a:ext cx="1630375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3" name="Text 120"/>
          <p:cNvSpPr txBox="1"/>
          <p:nvPr/>
        </p:nvSpPr>
        <p:spPr>
          <a:xfrm>
            <a:off x="10195560" y="4489704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for under-18s</a:t>
            </a:r>
            <a:endParaRPr lang="en-US" sz="900" dirty="0"/>
          </a:p>
        </p:txBody>
      </p:sp>
      <p:sp>
        <p:nvSpPr>
          <p:cNvPr id="134" name="Shape 121"/>
          <p:cNvSpPr/>
          <p:nvPr/>
        </p:nvSpPr>
        <p:spPr>
          <a:xfrm>
            <a:off x="6172200" y="4736592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6172200" y="4736592"/>
            <a:ext cx="105156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6" name="Text 123"/>
          <p:cNvSpPr txBox="1"/>
          <p:nvPr/>
        </p:nvSpPr>
        <p:spPr>
          <a:xfrm>
            <a:off x="6217920" y="473659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</a:t>
            </a:r>
            <a:endParaRPr lang="en-US" sz="900" dirty="0"/>
          </a:p>
        </p:txBody>
      </p:sp>
      <p:sp>
        <p:nvSpPr>
          <p:cNvPr id="137" name="Shape 124"/>
          <p:cNvSpPr/>
          <p:nvPr/>
        </p:nvSpPr>
        <p:spPr>
          <a:xfrm>
            <a:off x="7223760" y="4736592"/>
            <a:ext cx="29260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25"/>
          <p:cNvSpPr txBox="1"/>
          <p:nvPr/>
        </p:nvSpPr>
        <p:spPr>
          <a:xfrm>
            <a:off x="7269480" y="473659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model, conformal band, NTA table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10149840" y="4736592"/>
            <a:ext cx="1630375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27"/>
          <p:cNvSpPr txBox="1"/>
          <p:nvPr/>
        </p:nvSpPr>
        <p:spPr>
          <a:xfrm>
            <a:off x="10195560" y="4736592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range, never a rank promise</a:t>
            </a:r>
            <a:endParaRPr lang="en-US" sz="900" dirty="0"/>
          </a:p>
        </p:txBody>
      </p:sp>
      <p:sp>
        <p:nvSpPr>
          <p:cNvPr id="141" name="Shape 128"/>
          <p:cNvSpPr/>
          <p:nvPr/>
        </p:nvSpPr>
        <p:spPr>
          <a:xfrm>
            <a:off x="6172200" y="4983480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2" name="Shape 129"/>
          <p:cNvSpPr/>
          <p:nvPr/>
        </p:nvSpPr>
        <p:spPr>
          <a:xfrm>
            <a:off x="6172200" y="4983480"/>
            <a:ext cx="105156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3" name="Text 130"/>
          <p:cNvSpPr txBox="1"/>
          <p:nvPr/>
        </p:nvSpPr>
        <p:spPr>
          <a:xfrm>
            <a:off x="6217920" y="498348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</a:t>
            </a:r>
            <a:endParaRPr lang="en-US" sz="900" dirty="0"/>
          </a:p>
        </p:txBody>
      </p:sp>
      <p:sp>
        <p:nvSpPr>
          <p:cNvPr id="144" name="Shape 131"/>
          <p:cNvSpPr/>
          <p:nvPr/>
        </p:nvSpPr>
        <p:spPr>
          <a:xfrm>
            <a:off x="7223760" y="4983480"/>
            <a:ext cx="292608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5" name="Text 132"/>
          <p:cNvSpPr txBox="1"/>
          <p:nvPr/>
        </p:nvSpPr>
        <p:spPr>
          <a:xfrm>
            <a:off x="7269480" y="498348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local model, 8 checks, template fallback</a:t>
            </a:r>
            <a:endParaRPr lang="en-US" sz="900" dirty="0"/>
          </a:p>
        </p:txBody>
      </p:sp>
      <p:sp>
        <p:nvSpPr>
          <p:cNvPr id="146" name="Shape 133"/>
          <p:cNvSpPr/>
          <p:nvPr/>
        </p:nvSpPr>
        <p:spPr>
          <a:xfrm>
            <a:off x="10149840" y="4983480"/>
            <a:ext cx="1630375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7" name="Text 134"/>
          <p:cNvSpPr txBox="1"/>
          <p:nvPr/>
        </p:nvSpPr>
        <p:spPr>
          <a:xfrm>
            <a:off x="10195560" y="4983480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numbers</a:t>
            </a:r>
            <a:endParaRPr lang="en-US" sz="900" dirty="0"/>
          </a:p>
        </p:txBody>
      </p:sp>
      <p:sp>
        <p:nvSpPr>
          <p:cNvPr id="148" name="Shape 135"/>
          <p:cNvSpPr/>
          <p:nvPr/>
        </p:nvSpPr>
        <p:spPr>
          <a:xfrm>
            <a:off x="6172200" y="5230368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9" name="Shape 136"/>
          <p:cNvSpPr/>
          <p:nvPr/>
        </p:nvSpPr>
        <p:spPr>
          <a:xfrm>
            <a:off x="6172200" y="5321808"/>
            <a:ext cx="5608015" cy="100584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50" name="Image 10" descr="FaLayerGroup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5577840"/>
            <a:ext cx="457200" cy="457200"/>
          </a:xfrm>
          <a:prstGeom prst="rect">
            <a:avLst/>
          </a:prstGeom>
        </p:spPr>
      </p:pic>
      <p:sp>
        <p:nvSpPr>
          <p:cNvPr id="151" name="Text 137"/>
          <p:cNvSpPr txBox="1"/>
          <p:nvPr/>
        </p:nvSpPr>
        <p:spPr>
          <a:xfrm>
            <a:off x="6995160" y="5376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1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200" dirty="0"/>
          </a:p>
        </p:txBody>
      </p:sp>
      <p:sp>
        <p:nvSpPr>
          <p:cNvPr id="152" name="Text 138"/>
          <p:cNvSpPr txBox="1"/>
          <p:nvPr/>
        </p:nvSpPr>
        <p:spPr>
          <a:xfrm>
            <a:off x="6995160" y="5623560"/>
            <a:ext cx="46478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institute adds answers that sharpen question difficulty for all (pooled item statistics, no raw child records shared), and every logged call teaches which actions work. A new rival starts with an uncalibrated question bank and no outcome history.</a:t>
            </a:r>
            <a:endParaRPr lang="en-US" sz="950" dirty="0"/>
          </a:p>
        </p:txBody>
      </p:sp>
      <p:sp>
        <p:nvSpPr>
          <p:cNvPr id="153" name="Shape 139"/>
          <p:cNvSpPr/>
          <p:nvPr/>
        </p:nvSpPr>
        <p:spPr>
          <a:xfrm rot="-120000">
            <a:off x="10104120" y="694944"/>
            <a:ext cx="1691640" cy="38404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54" name="Shape 140"/>
          <p:cNvSpPr/>
          <p:nvPr/>
        </p:nvSpPr>
        <p:spPr>
          <a:xfrm rot="-120000">
            <a:off x="10058400" y="640080"/>
            <a:ext cx="1691640" cy="384048"/>
          </a:xfrm>
          <a:prstGeom prst="rect">
            <a:avLst/>
          </a:prstGeom>
          <a:solidFill>
            <a:srgbClr val="FBE9A0"/>
          </a:solidFill>
          <a:ln/>
        </p:spPr>
      </p:sp>
      <p:sp>
        <p:nvSpPr>
          <p:cNvPr id="155" name="Text 141"/>
          <p:cNvSpPr txBox="1"/>
          <p:nvPr/>
        </p:nvSpPr>
        <p:spPr>
          <a:xfrm rot="-120000">
            <a:off x="10113264" y="67665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6D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start with the weekly list</a:t>
            </a:r>
            <a:endParaRPr lang="en-US" sz="850" dirty="0"/>
          </a:p>
        </p:txBody>
      </p:sp>
      <p:pic>
        <p:nvPicPr>
          <p:cNvPr id="156" name="Image 11" descr="D:\Professional Work\Business\FC_Case_Dhruvi\presentation\source\assets\doodle_tap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-72000">
            <a:off x="10629900" y="548640"/>
            <a:ext cx="548640" cy="173736"/>
          </a:xfrm>
          <a:prstGeom prst="rect">
            <a:avLst/>
          </a:prstGeom>
        </p:spPr>
      </p:pic>
      <p:sp>
        <p:nvSpPr>
          <p:cNvPr id="157" name="Text 142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NTA NEET UG 2025 result data; JEE Main 2025 unique registrations as reported (secondary); case guide baselines; public validation results; financial model v1.1 (Base). Full register: Appendix 8.</a:t>
            </a:r>
            <a:endParaRPr lang="en-US" sz="850" dirty="0"/>
          </a:p>
        </p:txBody>
      </p:sp>
      <p:pic>
        <p:nvPicPr>
          <p:cNvPr id="158" name="Image 12" descr="owner cursor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72800" y="5943600"/>
            <a:ext cx="777240" cy="329184"/>
          </a:xfrm>
          <a:prstGeom prst="rect">
            <a:avLst/>
          </a:prstGeom>
        </p:spPr>
      </p:pic>
      <p:sp>
        <p:nvSpPr>
          <p:cNvPr id="159" name="Shape 143"/>
          <p:cNvSpPr/>
          <p:nvPr/>
        </p:nvSpPr>
        <p:spPr>
          <a:xfrm>
            <a:off x="1536192" y="1024128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E0584A"/>
          </a:solidFill>
          <a:ln/>
        </p:spPr>
      </p:sp>
      <p:sp>
        <p:nvSpPr>
          <p:cNvPr id="160" name="Text 144"/>
          <p:cNvSpPr txBox="1"/>
          <p:nvPr/>
        </p:nvSpPr>
        <p:spPr>
          <a:xfrm>
            <a:off x="1536192" y="1024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750" dirty="0"/>
          </a:p>
        </p:txBody>
      </p:sp>
      <p:sp>
        <p:nvSpPr>
          <p:cNvPr id="161" name="Shape 145"/>
          <p:cNvSpPr/>
          <p:nvPr/>
        </p:nvSpPr>
        <p:spPr>
          <a:xfrm>
            <a:off x="1536192" y="2011680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2E6DB4"/>
          </a:solidFill>
          <a:ln/>
        </p:spPr>
      </p:sp>
      <p:sp>
        <p:nvSpPr>
          <p:cNvPr id="162" name="Text 146"/>
          <p:cNvSpPr txBox="1"/>
          <p:nvPr/>
        </p:nvSpPr>
        <p:spPr>
          <a:xfrm>
            <a:off x="1536192" y="2011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50" dirty="0"/>
          </a:p>
        </p:txBody>
      </p:sp>
      <p:sp>
        <p:nvSpPr>
          <p:cNvPr id="163" name="Shape 147"/>
          <p:cNvSpPr/>
          <p:nvPr/>
        </p:nvSpPr>
        <p:spPr>
          <a:xfrm>
            <a:off x="1536192" y="299923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3C9664"/>
          </a:solidFill>
          <a:ln/>
        </p:spPr>
      </p:sp>
      <p:sp>
        <p:nvSpPr>
          <p:cNvPr id="164" name="Text 148"/>
          <p:cNvSpPr txBox="1"/>
          <p:nvPr/>
        </p:nvSpPr>
        <p:spPr>
          <a:xfrm>
            <a:off x="1536192" y="299923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67612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LEAKY REVENUE, MESSY DATA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have the marks, but notice a struggling student only after that student has already left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434340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15568"/>
            <a:ext cx="4123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LOSES TODAY: THE FRICTION MATRIX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09744" y="1115568"/>
            <a:ext cx="0" cy="26517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502920" y="1517904"/>
            <a:ext cx="202996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2920" y="1517904"/>
            <a:ext cx="2029968" cy="246888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28" name="Image 0" descr="FaChalkboardUs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173736" cy="173736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95528" y="151790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557784" y="179222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OMR sheets by hand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weak topics after exams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for each student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2606040" y="1517904"/>
            <a:ext cx="2029968" cy="1042416"/>
          </a:xfrm>
          <a:prstGeom prst="rect">
            <a:avLst/>
          </a:prstGeom>
          <a:solidFill>
            <a:srgbClr val="F4F7FB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606040" y="1517904"/>
            <a:ext cx="2029968" cy="246888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33" name="Image 1" descr="FaBuildin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554480"/>
            <a:ext cx="173736" cy="17373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2898648" y="151790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2660904" y="179222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compare batches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of dropouts too late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store marks, no insight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502920" y="2615184"/>
            <a:ext cx="2029968" cy="1042416"/>
          </a:xfrm>
          <a:prstGeom prst="rect">
            <a:avLst/>
          </a:prstGeom>
          <a:solidFill>
            <a:srgbClr val="F4F7FB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502920" y="2615184"/>
            <a:ext cx="2029968" cy="246888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38" name="Image 2" descr="FaUse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51760"/>
            <a:ext cx="173736" cy="173736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95528" y="261518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050" dirty="0"/>
          </a:p>
        </p:txBody>
      </p:sp>
      <p:sp>
        <p:nvSpPr>
          <p:cNvPr id="40" name="Text 34"/>
          <p:cNvSpPr txBox="1"/>
          <p:nvPr/>
        </p:nvSpPr>
        <p:spPr>
          <a:xfrm>
            <a:off x="557784" y="288950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marks list, nothing more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if child improves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slips, fee questions grow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2606040" y="2615184"/>
            <a:ext cx="202996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2606040" y="2615184"/>
            <a:ext cx="2029968" cy="246888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43" name="Image 3" descr="FaChildReachin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2651760"/>
            <a:ext cx="173736" cy="173736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2898648" y="261518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50" dirty="0"/>
          </a:p>
        </p:txBody>
      </p:sp>
      <p:sp>
        <p:nvSpPr>
          <p:cNvPr id="45" name="Text 38"/>
          <p:cNvSpPr txBox="1"/>
          <p:nvPr/>
        </p:nvSpPr>
        <p:spPr>
          <a:xfrm>
            <a:off x="2660904" y="288950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quietly for weeks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plan as whole batch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Noticed when they stop coming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4846320" y="1115568"/>
            <a:ext cx="397764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47" name="Text 40"/>
          <p:cNvSpPr txBox="1"/>
          <p:nvPr/>
        </p:nvSpPr>
        <p:spPr>
          <a:xfrm>
            <a:off x="4956048" y="1115568"/>
            <a:ext cx="37581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LIVES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8878824" y="1115568"/>
            <a:ext cx="0" cy="26517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49" name="Shape 42"/>
          <p:cNvSpPr/>
          <p:nvPr/>
        </p:nvSpPr>
        <p:spPr>
          <a:xfrm>
            <a:off x="4937760" y="1517904"/>
            <a:ext cx="1234440" cy="365760"/>
          </a:xfrm>
          <a:prstGeom prst="rect">
            <a:avLst/>
          </a:prstGeom>
          <a:solidFill>
            <a:srgbClr val="EEF2F7"/>
          </a:solidFill>
          <a:ln w="12700">
            <a:solidFill>
              <a:srgbClr val="9AA6B5"/>
            </a:solidFill>
            <a:prstDash val="dash"/>
          </a:ln>
        </p:spPr>
      </p:sp>
      <p:pic>
        <p:nvPicPr>
          <p:cNvPr id="50" name="Image 4" descr="FaFileExce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1591056"/>
            <a:ext cx="219456" cy="219456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5266944" y="1517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6236208" y="1517904"/>
            <a:ext cx="1234440" cy="365760"/>
          </a:xfrm>
          <a:prstGeom prst="rect">
            <a:avLst/>
          </a:prstGeom>
          <a:solidFill>
            <a:srgbClr val="EEF2F7"/>
          </a:solidFill>
          <a:ln w="12700">
            <a:solidFill>
              <a:srgbClr val="9AA6B5"/>
            </a:solidFill>
            <a:prstDash val="dash"/>
          </a:ln>
        </p:spPr>
      </p:sp>
      <p:pic>
        <p:nvPicPr>
          <p:cNvPr id="53" name="Image 5" descr="FaFileLine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1591056"/>
            <a:ext cx="219456" cy="219456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6565392" y="1517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sheets</a:t>
            </a:r>
            <a:endParaRPr lang="en-US" sz="900" dirty="0"/>
          </a:p>
        </p:txBody>
      </p:sp>
      <p:sp>
        <p:nvSpPr>
          <p:cNvPr id="55" name="Shape 46"/>
          <p:cNvSpPr/>
          <p:nvPr/>
        </p:nvSpPr>
        <p:spPr>
          <a:xfrm>
            <a:off x="7534656" y="1517904"/>
            <a:ext cx="1234440" cy="365760"/>
          </a:xfrm>
          <a:prstGeom prst="rect">
            <a:avLst/>
          </a:prstGeom>
          <a:solidFill>
            <a:srgbClr val="EEF2F7"/>
          </a:solidFill>
          <a:ln w="12700">
            <a:solidFill>
              <a:srgbClr val="9AA6B5"/>
            </a:solidFill>
            <a:prstDash val="dash"/>
          </a:ln>
        </p:spPr>
      </p:sp>
      <p:pic>
        <p:nvPicPr>
          <p:cNvPr id="56" name="Image 6" descr="FaWhatsapp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8664" y="1591056"/>
            <a:ext cx="219456" cy="219456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7863840" y="1517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 flipV="1">
            <a:off x="4960620" y="2011680"/>
            <a:ext cx="3749040" cy="512064"/>
          </a:xfrm>
          <a:prstGeom prst="trapezoid">
            <a:avLst/>
          </a:prstGeom>
          <a:solidFill>
            <a:srgbClr val="9AA6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5189220" y="201168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Messy, unconnected data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topic view. No early warning.</a:t>
            </a:r>
            <a:endParaRPr lang="en-US" sz="1400" dirty="0"/>
          </a:p>
        </p:txBody>
      </p:sp>
      <p:sp>
        <p:nvSpPr>
          <p:cNvPr id="60" name="Shape 50"/>
          <p:cNvSpPr/>
          <p:nvPr/>
        </p:nvSpPr>
        <p:spPr>
          <a:xfrm flipV="1">
            <a:off x="5463540" y="2578608"/>
            <a:ext cx="2743200" cy="512064"/>
          </a:xfrm>
          <a:prstGeom prst="trapezoid">
            <a:avLst/>
          </a:prstGeom>
          <a:solidFill>
            <a:srgbClr val="5B8D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1"/>
          <p:cNvSpPr txBox="1"/>
          <p:nvPr/>
        </p:nvSpPr>
        <p:spPr>
          <a:xfrm>
            <a:off x="5692140" y="257860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time, no analysis</a:t>
            </a:r>
            <a:endParaRPr lang="en-US" sz="1400" dirty="0"/>
          </a:p>
        </p:txBody>
      </p:sp>
      <p:sp>
        <p:nvSpPr>
          <p:cNvPr id="62" name="Shape 52"/>
          <p:cNvSpPr/>
          <p:nvPr/>
        </p:nvSpPr>
        <p:spPr>
          <a:xfrm flipV="1">
            <a:off x="5920740" y="3145536"/>
            <a:ext cx="1828800" cy="512064"/>
          </a:xfrm>
          <a:prstGeom prst="trapezoid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Text 53"/>
          <p:cNvSpPr txBox="1"/>
          <p:nvPr/>
        </p:nvSpPr>
        <p:spPr>
          <a:xfrm>
            <a:off x="6149340" y="314553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map + weekly list</a:t>
            </a:r>
            <a:endParaRPr lang="en-US" sz="1400" dirty="0"/>
          </a:p>
        </p:txBody>
      </p:sp>
      <p:sp>
        <p:nvSpPr>
          <p:cNvPr id="64" name="Shape 54"/>
          <p:cNvSpPr/>
          <p:nvPr/>
        </p:nvSpPr>
        <p:spPr>
          <a:xfrm>
            <a:off x="8915400" y="1115568"/>
            <a:ext cx="2862072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5" name="Text 55"/>
          <p:cNvSpPr txBox="1"/>
          <p:nvPr/>
        </p:nvSpPr>
        <p:spPr>
          <a:xfrm>
            <a:off x="9025128" y="1115568"/>
            <a:ext cx="2642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REVENUE</a:t>
            </a:r>
            <a:endParaRPr lang="en-US" sz="1200" dirty="0"/>
          </a:p>
        </p:txBody>
      </p:sp>
      <p:sp>
        <p:nvSpPr>
          <p:cNvPr id="66" name="Shape 56"/>
          <p:cNvSpPr/>
          <p:nvPr/>
        </p:nvSpPr>
        <p:spPr>
          <a:xfrm>
            <a:off x="9006840" y="1499616"/>
            <a:ext cx="2679192" cy="58521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67" name="Text 57"/>
          <p:cNvSpPr txBox="1"/>
          <p:nvPr/>
        </p:nvSpPr>
        <p:spPr>
          <a:xfrm>
            <a:off x="9070848" y="1499616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8-15 %</a:t>
            </a:r>
            <a:endParaRPr lang="en-US" sz="1600" dirty="0"/>
          </a:p>
        </p:txBody>
      </p:sp>
      <p:sp>
        <p:nvSpPr>
          <p:cNvPr id="68" name="Text 58"/>
          <p:cNvSpPr txBox="1"/>
          <p:nvPr/>
        </p:nvSpPr>
        <p:spPr>
          <a:xfrm>
            <a:off x="10241280" y="149961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drop out or default mid-session</a:t>
            </a:r>
            <a:endParaRPr lang="en-US" sz="850" dirty="0"/>
          </a:p>
        </p:txBody>
      </p:sp>
      <p:sp>
        <p:nvSpPr>
          <p:cNvPr id="69" name="Shape 59"/>
          <p:cNvSpPr/>
          <p:nvPr/>
        </p:nvSpPr>
        <p:spPr>
          <a:xfrm>
            <a:off x="9006840" y="2139696"/>
            <a:ext cx="2679192" cy="58521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70" name="Text 60"/>
          <p:cNvSpPr txBox="1"/>
          <p:nvPr/>
        </p:nvSpPr>
        <p:spPr>
          <a:xfrm>
            <a:off x="9070848" y="2139696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₹36,000</a:t>
            </a:r>
            <a:endParaRPr lang="en-US" sz="1600" dirty="0"/>
          </a:p>
        </p:txBody>
      </p:sp>
      <p:sp>
        <p:nvSpPr>
          <p:cNvPr id="71" name="Text 61"/>
          <p:cNvSpPr txBox="1"/>
          <p:nvPr/>
        </p:nvSpPr>
        <p:spPr>
          <a:xfrm>
            <a:off x="10241280" y="213969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lost per dropout at month 4</a:t>
            </a:r>
            <a:endParaRPr lang="en-US" sz="850" dirty="0"/>
          </a:p>
        </p:txBody>
      </p:sp>
      <p:sp>
        <p:nvSpPr>
          <p:cNvPr id="72" name="Shape 62"/>
          <p:cNvSpPr/>
          <p:nvPr/>
        </p:nvSpPr>
        <p:spPr>
          <a:xfrm>
            <a:off x="9006840" y="2779776"/>
            <a:ext cx="2679192" cy="58521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73" name="Text 63"/>
          <p:cNvSpPr txBox="1"/>
          <p:nvPr/>
        </p:nvSpPr>
        <p:spPr>
          <a:xfrm>
            <a:off x="9070848" y="2779776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₹17.3 lakh</a:t>
            </a:r>
            <a:endParaRPr lang="en-US" sz="1600" dirty="0"/>
          </a:p>
        </p:txBody>
      </p:sp>
      <p:sp>
        <p:nvSpPr>
          <p:cNvPr id="74" name="Text 64"/>
          <p:cNvSpPr txBox="1"/>
          <p:nvPr/>
        </p:nvSpPr>
        <p:spPr>
          <a:xfrm>
            <a:off x="10241280" y="277977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at risk a year (400 students, 12 %)</a:t>
            </a:r>
            <a:endParaRPr lang="en-US" sz="850" dirty="0"/>
          </a:p>
        </p:txBody>
      </p:sp>
      <p:sp>
        <p:nvSpPr>
          <p:cNvPr id="75" name="Shape 65"/>
          <p:cNvSpPr/>
          <p:nvPr/>
        </p:nvSpPr>
        <p:spPr>
          <a:xfrm>
            <a:off x="9006840" y="3456432"/>
            <a:ext cx="109118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76" name="Text 66"/>
          <p:cNvSpPr txBox="1"/>
          <p:nvPr/>
        </p:nvSpPr>
        <p:spPr>
          <a:xfrm>
            <a:off x="9006840" y="3456432"/>
            <a:ext cx="1091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BASELINE</a:t>
            </a:r>
            <a:endParaRPr lang="en-US" sz="800" dirty="0"/>
          </a:p>
        </p:txBody>
      </p:sp>
      <p:sp>
        <p:nvSpPr>
          <p:cNvPr id="77" name="Shape 67"/>
          <p:cNvSpPr/>
          <p:nvPr/>
        </p:nvSpPr>
        <p:spPr>
          <a:xfrm rot="180000">
            <a:off x="10332720" y="3456432"/>
            <a:ext cx="1417320" cy="29260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78" name="Shape 68"/>
          <p:cNvSpPr/>
          <p:nvPr/>
        </p:nvSpPr>
        <p:spPr>
          <a:xfrm rot="180000">
            <a:off x="10287000" y="3401568"/>
            <a:ext cx="1417320" cy="292608"/>
          </a:xfrm>
          <a:prstGeom prst="rect">
            <a:avLst/>
          </a:prstGeom>
          <a:solidFill>
            <a:srgbClr val="FDCB9A"/>
          </a:solidFill>
          <a:ln/>
        </p:spPr>
      </p:sp>
      <p:sp>
        <p:nvSpPr>
          <p:cNvPr id="79" name="Text 69"/>
          <p:cNvSpPr txBox="1"/>
          <p:nvPr/>
        </p:nvSpPr>
        <p:spPr>
          <a:xfrm rot="180000">
            <a:off x="10341864" y="3438144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4B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this is real cash</a:t>
            </a:r>
            <a:endParaRPr lang="en-US" sz="850" dirty="0"/>
          </a:p>
        </p:txBody>
      </p:sp>
      <p:pic>
        <p:nvPicPr>
          <p:cNvPr id="80" name="Image 7" descr="D:\Professional Work\Business\FC_Case_Dhruvi\presentation\source\assets\doodle_tap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">
            <a:off x="10721340" y="3310128"/>
            <a:ext cx="548640" cy="173736"/>
          </a:xfrm>
          <a:prstGeom prst="rect">
            <a:avLst/>
          </a:prstGeom>
        </p:spPr>
      </p:pic>
      <p:sp>
        <p:nvSpPr>
          <p:cNvPr id="81" name="Text 70"/>
          <p:cNvSpPr txBox="1"/>
          <p:nvPr/>
        </p:nvSpPr>
        <p:spPr>
          <a:xfrm>
            <a:off x="448056" y="39044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250" dirty="0"/>
          </a:p>
        </p:txBody>
      </p:sp>
      <p:sp>
        <p:nvSpPr>
          <p:cNvPr id="82" name="Shape 71"/>
          <p:cNvSpPr/>
          <p:nvPr/>
        </p:nvSpPr>
        <p:spPr>
          <a:xfrm>
            <a:off x="448056" y="4197096"/>
            <a:ext cx="425196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83" name="Shape 72"/>
          <p:cNvSpPr/>
          <p:nvPr/>
        </p:nvSpPr>
        <p:spPr>
          <a:xfrm>
            <a:off x="448056" y="41879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4" name="Shape 73"/>
          <p:cNvSpPr/>
          <p:nvPr/>
        </p:nvSpPr>
        <p:spPr>
          <a:xfrm>
            <a:off x="4809744" y="3931920"/>
            <a:ext cx="0" cy="24231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85" name="Text 74"/>
          <p:cNvSpPr txBox="1"/>
          <p:nvPr/>
        </p:nvSpPr>
        <p:spPr>
          <a:xfrm>
            <a:off x="502920" y="42793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 L</a:t>
            </a:r>
            <a:endParaRPr lang="en-US" sz="1700" dirty="0"/>
          </a:p>
        </p:txBody>
      </p:sp>
      <p:sp>
        <p:nvSpPr>
          <p:cNvPr id="86" name="Text 75"/>
          <p:cNvSpPr txBox="1"/>
          <p:nvPr/>
        </p:nvSpPr>
        <p:spPr>
          <a:xfrm>
            <a:off x="1554480" y="42793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 UG 2025 registered candidates</a:t>
            </a:r>
            <a:endParaRPr lang="en-US" sz="95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 result data</a:t>
            </a:r>
            <a:endParaRPr lang="en-US" sz="950" dirty="0"/>
          </a:p>
        </p:txBody>
      </p:sp>
      <p:sp>
        <p:nvSpPr>
          <p:cNvPr id="87" name="Text 76"/>
          <p:cNvSpPr txBox="1"/>
          <p:nvPr/>
        </p:nvSpPr>
        <p:spPr>
          <a:xfrm>
            <a:off x="502920" y="4709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 L</a:t>
            </a:r>
            <a:endParaRPr lang="en-US" sz="1700" dirty="0"/>
          </a:p>
        </p:txBody>
      </p:sp>
      <p:sp>
        <p:nvSpPr>
          <p:cNvPr id="88" name="Text 77"/>
          <p:cNvSpPr txBox="1"/>
          <p:nvPr/>
        </p:nvSpPr>
        <p:spPr>
          <a:xfrm>
            <a:off x="1554480" y="4709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Main 2025 unique registrations</a:t>
            </a:r>
            <a:endParaRPr lang="en-US" sz="95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reported, secondary</a:t>
            </a:r>
            <a:endParaRPr lang="en-US" sz="950" dirty="0"/>
          </a:p>
        </p:txBody>
      </p:sp>
      <p:sp>
        <p:nvSpPr>
          <p:cNvPr id="89" name="Text 78"/>
          <p:cNvSpPr txBox="1"/>
          <p:nvPr/>
        </p:nvSpPr>
        <p:spPr>
          <a:xfrm>
            <a:off x="502920" y="51389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27 %</a:t>
            </a:r>
            <a:endParaRPr lang="en-US" sz="1700" dirty="0"/>
          </a:p>
        </p:txBody>
      </p:sp>
      <p:sp>
        <p:nvSpPr>
          <p:cNvPr id="90" name="Text 79"/>
          <p:cNvSpPr txBox="1"/>
          <p:nvPr/>
        </p:nvSpPr>
        <p:spPr>
          <a:xfrm>
            <a:off x="1554480" y="51389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school students take private coaching</a:t>
            </a:r>
            <a:endParaRPr lang="en-US" sz="95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NSO survey 2025</a:t>
            </a:r>
            <a:endParaRPr lang="en-US" sz="950" dirty="0"/>
          </a:p>
        </p:txBody>
      </p:sp>
      <p:sp>
        <p:nvSpPr>
          <p:cNvPr id="91" name="Shape 80"/>
          <p:cNvSpPr/>
          <p:nvPr/>
        </p:nvSpPr>
        <p:spPr>
          <a:xfrm>
            <a:off x="502920" y="5614416"/>
            <a:ext cx="4160520" cy="64008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92" name="Text 81"/>
          <p:cNvSpPr txBox="1"/>
          <p:nvPr/>
        </p:nvSpPr>
        <p:spPr>
          <a:xfrm>
            <a:off x="576072" y="561441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Ceiling, not a forecast: </a:t>
            </a:r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JEE and NEET aspirant's institute paid ₹30 a month, the pool is about ₹137 crore a year (38 lakh x ₹360).</a:t>
            </a:r>
            <a:endParaRPr lang="en-US" sz="850" dirty="0"/>
          </a:p>
        </p:txBody>
      </p:sp>
      <p:sp>
        <p:nvSpPr>
          <p:cNvPr id="93" name="Text 82"/>
          <p:cNvSpPr txBox="1"/>
          <p:nvPr/>
        </p:nvSpPr>
        <p:spPr>
          <a:xfrm>
            <a:off x="4882896" y="39044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BUYER'S CONSTRAINTS</a:t>
            </a:r>
            <a:endParaRPr lang="en-US" sz="1250" dirty="0"/>
          </a:p>
        </p:txBody>
      </p:sp>
      <p:sp>
        <p:nvSpPr>
          <p:cNvPr id="94" name="Shape 83"/>
          <p:cNvSpPr/>
          <p:nvPr/>
        </p:nvSpPr>
        <p:spPr>
          <a:xfrm>
            <a:off x="4882896" y="4197096"/>
            <a:ext cx="388620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95" name="Shape 84"/>
          <p:cNvSpPr/>
          <p:nvPr/>
        </p:nvSpPr>
        <p:spPr>
          <a:xfrm>
            <a:off x="4882896" y="41879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6" name="Shape 85"/>
          <p:cNvSpPr/>
          <p:nvPr/>
        </p:nvSpPr>
        <p:spPr>
          <a:xfrm>
            <a:off x="8878824" y="3931920"/>
            <a:ext cx="0" cy="24231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97" name="Shape 86"/>
          <p:cNvSpPr/>
          <p:nvPr/>
        </p:nvSpPr>
        <p:spPr>
          <a:xfrm>
            <a:off x="4937760" y="4279392"/>
            <a:ext cx="1828800" cy="95097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98" name="Shape 87"/>
          <p:cNvSpPr/>
          <p:nvPr/>
        </p:nvSpPr>
        <p:spPr>
          <a:xfrm>
            <a:off x="5010912" y="4352544"/>
            <a:ext cx="310896" cy="31089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99" name="Image 8" descr="FaIndianRupeeSign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9309" y="4420941"/>
            <a:ext cx="174102" cy="174102"/>
          </a:xfrm>
          <a:prstGeom prst="rect">
            <a:avLst/>
          </a:prstGeom>
        </p:spPr>
      </p:pic>
      <p:sp>
        <p:nvSpPr>
          <p:cNvPr id="100" name="Text 88"/>
          <p:cNvSpPr txBox="1"/>
          <p:nvPr/>
        </p:nvSpPr>
        <p:spPr>
          <a:xfrm>
            <a:off x="5394960" y="43251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</a:t>
            </a:r>
            <a:endParaRPr lang="en-US" sz="1050" dirty="0"/>
          </a:p>
        </p:txBody>
      </p:sp>
      <p:sp>
        <p:nvSpPr>
          <p:cNvPr id="101" name="Text 89"/>
          <p:cNvSpPr txBox="1"/>
          <p:nvPr/>
        </p:nvSpPr>
        <p:spPr>
          <a:xfrm>
            <a:off x="5010912" y="471830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Rivals list ₹4 to ₹21 a student a month.</a:t>
            </a:r>
            <a:endParaRPr lang="en-US" sz="900" dirty="0"/>
          </a:p>
        </p:txBody>
      </p:sp>
      <p:sp>
        <p:nvSpPr>
          <p:cNvPr id="102" name="Shape 90"/>
          <p:cNvSpPr/>
          <p:nvPr/>
        </p:nvSpPr>
        <p:spPr>
          <a:xfrm>
            <a:off x="6858000" y="4279392"/>
            <a:ext cx="1828800" cy="95097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103" name="Shape 91"/>
          <p:cNvSpPr/>
          <p:nvPr/>
        </p:nvSpPr>
        <p:spPr>
          <a:xfrm>
            <a:off x="6931152" y="4352544"/>
            <a:ext cx="310896" cy="310896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104" name="Image 9" descr="FaTable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9549" y="4420941"/>
            <a:ext cx="174102" cy="174102"/>
          </a:xfrm>
          <a:prstGeom prst="rect">
            <a:avLst/>
          </a:prstGeom>
        </p:spPr>
      </p:pic>
      <p:sp>
        <p:nvSpPr>
          <p:cNvPr id="105" name="Text 92"/>
          <p:cNvSpPr txBox="1"/>
          <p:nvPr/>
        </p:nvSpPr>
        <p:spPr>
          <a:xfrm>
            <a:off x="7315200" y="43251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Low-tech staff</a:t>
            </a:r>
            <a:endParaRPr lang="en-US" sz="1050" dirty="0"/>
          </a:p>
        </p:txBody>
      </p:sp>
      <p:sp>
        <p:nvSpPr>
          <p:cNvPr id="106" name="Text 93"/>
          <p:cNvSpPr txBox="1"/>
          <p:nvPr/>
        </p:nvSpPr>
        <p:spPr>
          <a:xfrm>
            <a:off x="6931152" y="471830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registers and a phone camera.</a:t>
            </a:r>
            <a:endParaRPr lang="en-US" sz="900" dirty="0"/>
          </a:p>
        </p:txBody>
      </p:sp>
      <p:sp>
        <p:nvSpPr>
          <p:cNvPr id="107" name="Shape 94"/>
          <p:cNvSpPr/>
          <p:nvPr/>
        </p:nvSpPr>
        <p:spPr>
          <a:xfrm>
            <a:off x="4937760" y="5303520"/>
            <a:ext cx="1828800" cy="95097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108" name="Shape 95"/>
          <p:cNvSpPr/>
          <p:nvPr/>
        </p:nvSpPr>
        <p:spPr>
          <a:xfrm>
            <a:off x="5010912" y="5376672"/>
            <a:ext cx="310896" cy="31089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109" name="Image 10" descr="FaWifi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9309" y="5445069"/>
            <a:ext cx="174102" cy="174102"/>
          </a:xfrm>
          <a:prstGeom prst="rect">
            <a:avLst/>
          </a:prstGeom>
        </p:spPr>
      </p:pic>
      <p:sp>
        <p:nvSpPr>
          <p:cNvPr id="110" name="Text 96"/>
          <p:cNvSpPr txBox="1"/>
          <p:nvPr/>
        </p:nvSpPr>
        <p:spPr>
          <a:xfrm>
            <a:off x="5394960" y="5349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Patchy internet</a:t>
            </a:r>
            <a:endParaRPr lang="en-US" sz="1050" dirty="0"/>
          </a:p>
        </p:txBody>
      </p:sp>
      <p:sp>
        <p:nvSpPr>
          <p:cNvPr id="111" name="Text 97"/>
          <p:cNvSpPr txBox="1"/>
          <p:nvPr/>
        </p:nvSpPr>
        <p:spPr>
          <a:xfrm>
            <a:off x="5010912" y="57424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must work offline, on one laptop.</a:t>
            </a:r>
            <a:endParaRPr lang="en-US" sz="900" dirty="0"/>
          </a:p>
        </p:txBody>
      </p:sp>
      <p:sp>
        <p:nvSpPr>
          <p:cNvPr id="112" name="Shape 98"/>
          <p:cNvSpPr/>
          <p:nvPr/>
        </p:nvSpPr>
        <p:spPr>
          <a:xfrm>
            <a:off x="6858000" y="5303520"/>
            <a:ext cx="1828800" cy="95097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113" name="Shape 99"/>
          <p:cNvSpPr/>
          <p:nvPr/>
        </p:nvSpPr>
        <p:spPr>
          <a:xfrm>
            <a:off x="6931152" y="5376672"/>
            <a:ext cx="310896" cy="310896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114" name="Image 11" descr="FaUserShield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99549" y="5445069"/>
            <a:ext cx="174102" cy="174102"/>
          </a:xfrm>
          <a:prstGeom prst="rect">
            <a:avLst/>
          </a:prstGeom>
        </p:spPr>
      </p:pic>
      <p:sp>
        <p:nvSpPr>
          <p:cNvPr id="115" name="Text 100"/>
          <p:cNvSpPr txBox="1"/>
          <p:nvPr/>
        </p:nvSpPr>
        <p:spPr>
          <a:xfrm>
            <a:off x="7315200" y="5349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Minors' data</a:t>
            </a:r>
            <a:endParaRPr lang="en-US" sz="1050" dirty="0"/>
          </a:p>
        </p:txBody>
      </p:sp>
      <p:sp>
        <p:nvSpPr>
          <p:cNvPr id="116" name="Text 101"/>
          <p:cNvSpPr txBox="1"/>
          <p:nvPr/>
        </p:nvSpPr>
        <p:spPr>
          <a:xfrm>
            <a:off x="6931152" y="57424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and MoE rules apply.</a:t>
            </a:r>
            <a:endParaRPr lang="en-US" sz="900" dirty="0"/>
          </a:p>
        </p:txBody>
      </p:sp>
      <p:sp>
        <p:nvSpPr>
          <p:cNvPr id="117" name="Text 102"/>
          <p:cNvSpPr txBox="1"/>
          <p:nvPr/>
        </p:nvSpPr>
        <p:spPr>
          <a:xfrm>
            <a:off x="8951976" y="390448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PRAGATI DOES</a:t>
            </a:r>
            <a:endParaRPr lang="en-US" sz="1250" dirty="0"/>
          </a:p>
        </p:txBody>
      </p:sp>
      <p:sp>
        <p:nvSpPr>
          <p:cNvPr id="118" name="Shape 103"/>
          <p:cNvSpPr/>
          <p:nvPr/>
        </p:nvSpPr>
        <p:spPr>
          <a:xfrm>
            <a:off x="8951976" y="4197096"/>
            <a:ext cx="277063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19" name="Shape 104"/>
          <p:cNvSpPr/>
          <p:nvPr/>
        </p:nvSpPr>
        <p:spPr>
          <a:xfrm>
            <a:off x="8951976" y="41879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20" name="Image 12" descr="FaCircleCheck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34272" y="4297680"/>
            <a:ext cx="182880" cy="182880"/>
          </a:xfrm>
          <a:prstGeom prst="rect">
            <a:avLst/>
          </a:prstGeom>
        </p:spPr>
      </p:pic>
      <p:sp>
        <p:nvSpPr>
          <p:cNvPr id="121" name="Text 105"/>
          <p:cNvSpPr txBox="1"/>
          <p:nvPr/>
        </p:nvSpPr>
        <p:spPr>
          <a:xfrm>
            <a:off x="9281160" y="42428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Topic-level view of every student</a:t>
            </a:r>
            <a:endParaRPr lang="en-US" sz="950" dirty="0"/>
          </a:p>
        </p:txBody>
      </p:sp>
      <p:pic>
        <p:nvPicPr>
          <p:cNvPr id="122" name="Image 13" descr="FaCircleCheck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34272" y="4636008"/>
            <a:ext cx="182880" cy="182880"/>
          </a:xfrm>
          <a:prstGeom prst="rect">
            <a:avLst/>
          </a:prstGeom>
        </p:spPr>
      </p:pic>
      <p:sp>
        <p:nvSpPr>
          <p:cNvPr id="123" name="Text 106"/>
          <p:cNvSpPr txBox="1"/>
          <p:nvPr/>
        </p:nvSpPr>
        <p:spPr>
          <a:xfrm>
            <a:off x="9281160" y="45811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supportive list each week</a:t>
            </a:r>
            <a:endParaRPr lang="en-US" sz="950" dirty="0"/>
          </a:p>
        </p:txBody>
      </p:sp>
      <p:pic>
        <p:nvPicPr>
          <p:cNvPr id="124" name="Image 14" descr="FaCircleCheck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34272" y="4974336"/>
            <a:ext cx="182880" cy="182880"/>
          </a:xfrm>
          <a:prstGeom prst="rect">
            <a:avLst/>
          </a:prstGeom>
        </p:spPr>
      </p:pic>
      <p:sp>
        <p:nvSpPr>
          <p:cNvPr id="125" name="Text 107"/>
          <p:cNvSpPr txBox="1"/>
          <p:nvPr/>
        </p:nvSpPr>
        <p:spPr>
          <a:xfrm>
            <a:off x="9281160" y="49194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percentile range</a:t>
            </a:r>
            <a:endParaRPr lang="en-US" sz="950" dirty="0"/>
          </a:p>
        </p:txBody>
      </p:sp>
      <p:pic>
        <p:nvPicPr>
          <p:cNvPr id="126" name="Image 15" descr="FaCircleCheck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34272" y="5312664"/>
            <a:ext cx="182880" cy="182880"/>
          </a:xfrm>
          <a:prstGeom prst="rect">
            <a:avLst/>
          </a:prstGeom>
        </p:spPr>
      </p:pic>
      <p:sp>
        <p:nvSpPr>
          <p:cNvPr id="127" name="Text 108"/>
          <p:cNvSpPr txBox="1"/>
          <p:nvPr/>
        </p:nvSpPr>
        <p:spPr>
          <a:xfrm>
            <a:off x="9281160" y="52578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Hindi and English reports</a:t>
            </a:r>
            <a:endParaRPr lang="en-US" sz="950" dirty="0"/>
          </a:p>
        </p:txBody>
      </p:sp>
      <p:pic>
        <p:nvPicPr>
          <p:cNvPr id="128" name="Image 16" descr="FaCircleCheck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34272" y="5650992"/>
            <a:ext cx="182880" cy="182880"/>
          </a:xfrm>
          <a:prstGeom prst="rect">
            <a:avLst/>
          </a:prstGeom>
        </p:spPr>
      </p:pic>
      <p:sp>
        <p:nvSpPr>
          <p:cNvPr id="129" name="Text 109"/>
          <p:cNvSpPr txBox="1"/>
          <p:nvPr/>
        </p:nvSpPr>
        <p:spPr>
          <a:xfrm>
            <a:off x="9281160" y="55961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offline, free to run</a:t>
            </a:r>
            <a:endParaRPr lang="en-US" sz="950" dirty="0"/>
          </a:p>
        </p:txBody>
      </p:sp>
      <p:sp>
        <p:nvSpPr>
          <p:cNvPr id="130" name="Shape 110"/>
          <p:cNvSpPr/>
          <p:nvPr/>
        </p:nvSpPr>
        <p:spPr>
          <a:xfrm>
            <a:off x="9006840" y="6016752"/>
            <a:ext cx="2679192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31" name="Text 111"/>
          <p:cNvSpPr txBox="1"/>
          <p:nvPr/>
        </p:nvSpPr>
        <p:spPr>
          <a:xfrm>
            <a:off x="9144000" y="6016752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how it works</a:t>
            </a:r>
            <a:endParaRPr lang="en-US" sz="1000" dirty="0"/>
          </a:p>
        </p:txBody>
      </p:sp>
      <p:sp>
        <p:nvSpPr>
          <p:cNvPr id="132" name="Text 112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Participant Guide §2, §6, §7 (illustrative baselines); NTA NEET UG 2025 result data; JEE Main 2025 statistics (secondary); NSO CMS Education 2025; vendor listings (research R1).</a:t>
            </a:r>
            <a:endParaRPr lang="en-US" sz="850" dirty="0"/>
          </a:p>
        </p:txBody>
      </p:sp>
      <p:pic>
        <p:nvPicPr>
          <p:cNvPr id="133" name="Image 17" descr="hand-drawn ul_wave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34272" y="3108960"/>
            <a:ext cx="1280160" cy="128016"/>
          </a:xfrm>
          <a:prstGeom prst="rect">
            <a:avLst/>
          </a:prstGeom>
        </p:spPr>
      </p:pic>
      <p:sp>
        <p:nvSpPr>
          <p:cNvPr id="134" name="Shape 113"/>
          <p:cNvSpPr/>
          <p:nvPr/>
        </p:nvSpPr>
        <p:spPr>
          <a:xfrm rot="-180000">
            <a:off x="2743200" y="3419856"/>
            <a:ext cx="1417320" cy="365760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35" name="Shape 114"/>
          <p:cNvSpPr/>
          <p:nvPr/>
        </p:nvSpPr>
        <p:spPr>
          <a:xfrm rot="-180000">
            <a:off x="2697480" y="3364992"/>
            <a:ext cx="1417320" cy="365760"/>
          </a:xfrm>
          <a:prstGeom prst="rect">
            <a:avLst/>
          </a:prstGeom>
          <a:solidFill>
            <a:srgbClr val="CDEBC5"/>
          </a:solidFill>
          <a:ln/>
        </p:spPr>
      </p:sp>
      <p:sp>
        <p:nvSpPr>
          <p:cNvPr id="136" name="Text 115"/>
          <p:cNvSpPr txBox="1"/>
          <p:nvPr/>
        </p:nvSpPr>
        <p:spPr>
          <a:xfrm rot="-180000">
            <a:off x="2752344" y="3401568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6B2A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HMW tell mentors who to call?</a:t>
            </a:r>
            <a:endParaRPr lang="en-US" sz="850" dirty="0"/>
          </a:p>
        </p:txBody>
      </p:sp>
      <p:pic>
        <p:nvPicPr>
          <p:cNvPr id="137" name="Image 18" descr="D:\Professional Work\Business\FC_Case_Dhruvi\presentation\source\assets\doodle_tap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-108000">
            <a:off x="3131820" y="3273552"/>
            <a:ext cx="548640" cy="173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67612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STRESS-TESTING THE GUIDE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guide's example looks great on paper. Here is where each number breaks, and what we build instead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1556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ASSUMPTIONS, TESTED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44752"/>
            <a:ext cx="160020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14447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(the guide)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011680" y="1444752"/>
            <a:ext cx="292608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057400" y="1444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937760" y="1444752"/>
            <a:ext cx="292608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983480" y="1444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(what we do)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11480" y="1719072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57200" y="17190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 per student per month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2011680" y="171907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2057400" y="17190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institute apps list at ₹4 to ₹21 per student per month. ₹40 x 400 students = ₹1.92 lakh a year.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937760" y="171907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4983480" y="17190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₹30, tested from ₹20 to ₹40. Willingness to pay goes to owner interviews first.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11480" y="226771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11480" y="2267712"/>
            <a:ext cx="160020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57200" y="226771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 of dropouts prevented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2011680" y="226771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2057400" y="22677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trials in comparable settings average 15.8 % among students who get outreach; month-1 leavers cannot be flagged.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937760" y="226771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983480" y="22677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4.0 % effective reduction. Prove it with comparison batches in a pilot.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11480" y="281635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2816352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57200" y="28163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fees pay for the product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2011680" y="281635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2057400" y="28163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kept alone return 0.35x of the cost.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937760" y="281635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4983480" y="28163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staff time and parent reports: fees plus time reach 0.55x; admissions close the gap.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411480" y="336499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11480" y="3364992"/>
            <a:ext cx="160020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57200" y="33649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 of 10.7x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2011680" y="336499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2057400" y="33649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billing, 20 % post-exam non-renewal and pilots that do not convert.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937760" y="336499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4983480" y="33649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 in base; small institutes use channel partners (3.4x, not 1.5x).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11480" y="391363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11480" y="3913632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57200" y="39136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AUC of 0.794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2011680" y="391363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2057400" y="3913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honest student-grouped estimate on OULAD is 0.706; leakage inflates many reported numbers.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4937760" y="391363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4983480" y="3913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on precision at mentor capacity: 0.46 vs 0.24 to 0.31 for rules.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411480" y="446227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11480" y="4462272"/>
            <a:ext cx="160020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457200" y="44622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 activity for everyone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2011680" y="446227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2057400" y="44622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s.9(3) bans behavioural monitoring of children, even with consent.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4937760" y="446227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4983480" y="44622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data only for under-18s; it costs 0.008 AUC on OULAD.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411480" y="501091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001000" y="1115568"/>
            <a:ext cx="3779215" cy="3950208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8001000" y="1115568"/>
            <a:ext cx="3779215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8074152" y="1115568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REFRAME</a:t>
            </a:r>
            <a:endParaRPr lang="en-US" sz="1100" dirty="0"/>
          </a:p>
        </p:txBody>
      </p:sp>
      <p:sp>
        <p:nvSpPr>
          <p:cNvPr id="77" name="Text 74"/>
          <p:cNvSpPr txBox="1"/>
          <p:nvPr/>
        </p:nvSpPr>
        <p:spPr>
          <a:xfrm>
            <a:off x="8183880" y="1517904"/>
            <a:ext cx="3413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question</a:t>
            </a:r>
            <a:endParaRPr lang="en-US" sz="950" dirty="0"/>
          </a:p>
        </p:txBody>
      </p:sp>
      <p:sp>
        <p:nvSpPr>
          <p:cNvPr id="78" name="Text 75"/>
          <p:cNvSpPr txBox="1"/>
          <p:nvPr/>
        </p:nvSpPr>
        <p:spPr>
          <a:xfrm>
            <a:off x="8183880" y="1737360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trike="sngStrike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a model predict who drops out?"</a:t>
            </a:r>
            <a:endParaRPr lang="en-US" sz="1300" dirty="0"/>
          </a:p>
        </p:txBody>
      </p:sp>
      <p:sp>
        <p:nvSpPr>
          <p:cNvPr id="79" name="Text 76"/>
          <p:cNvSpPr txBox="1"/>
          <p:nvPr/>
        </p:nvSpPr>
        <p:spPr>
          <a:xfrm>
            <a:off x="8183880" y="2121408"/>
            <a:ext cx="3413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question</a:t>
            </a:r>
            <a:endParaRPr lang="en-US" sz="950" dirty="0"/>
          </a:p>
        </p:txBody>
      </p:sp>
      <p:sp>
        <p:nvSpPr>
          <p:cNvPr id="80" name="Text 77"/>
          <p:cNvSpPr txBox="1"/>
          <p:nvPr/>
        </p:nvSpPr>
        <p:spPr>
          <a:xfrm>
            <a:off x="8183880" y="2340864"/>
            <a:ext cx="3413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"Of the eight students a mentor can call this week, are they the right eight, and does the call help?"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8138160" y="3310128"/>
            <a:ext cx="966201" cy="384048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266176" y="3310128"/>
            <a:ext cx="6735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83" name="Shape 80"/>
          <p:cNvSpPr/>
          <p:nvPr/>
        </p:nvSpPr>
        <p:spPr>
          <a:xfrm>
            <a:off x="8984391" y="3310128"/>
            <a:ext cx="966201" cy="384048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9167271" y="3310128"/>
            <a:ext cx="6187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9830623" y="3310128"/>
            <a:ext cx="966201" cy="384048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10013503" y="3310128"/>
            <a:ext cx="6187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10676854" y="3310128"/>
            <a:ext cx="966201" cy="384048"/>
          </a:xfrm>
          <a:prstGeom prst="chevron">
            <a:avLst/>
          </a:prstGeom>
          <a:solidFill>
            <a:srgbClr val="5B8D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10859734" y="3310128"/>
            <a:ext cx="6187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000" dirty="0"/>
          </a:p>
        </p:txBody>
      </p:sp>
      <p:sp>
        <p:nvSpPr>
          <p:cNvPr id="89" name="Text 86"/>
          <p:cNvSpPr txBox="1"/>
          <p:nvPr/>
        </p:nvSpPr>
        <p:spPr>
          <a:xfrm>
            <a:off x="8183880" y="3767328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with a high AUC that produces a list nobody calls is worth nothing. We cap the list at mentor capacity and judge the system on students retained and actions taken, not on AUC.</a:t>
            </a:r>
            <a:endParaRPr lang="en-US" sz="1000" dirty="0"/>
          </a:p>
        </p:txBody>
      </p:sp>
      <p:sp>
        <p:nvSpPr>
          <p:cNvPr id="90" name="Text 87"/>
          <p:cNvSpPr txBox="1"/>
          <p:nvPr/>
        </p:nvSpPr>
        <p:spPr>
          <a:xfrm>
            <a:off x="8183880" y="44805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91" name="Text 88"/>
          <p:cNvSpPr txBox="1"/>
          <p:nvPr/>
        </p:nvSpPr>
        <p:spPr>
          <a:xfrm>
            <a:off x="8549640" y="4480560"/>
            <a:ext cx="3047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per batch per week: the list cap</a:t>
            </a:r>
            <a:endParaRPr lang="en-US" sz="900" dirty="0"/>
          </a:p>
        </p:txBody>
      </p:sp>
      <p:sp>
        <p:nvSpPr>
          <p:cNvPr id="92" name="Text 89"/>
          <p:cNvSpPr txBox="1"/>
          <p:nvPr/>
        </p:nvSpPr>
        <p:spPr>
          <a:xfrm>
            <a:off x="8183880" y="4663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050" dirty="0"/>
          </a:p>
        </p:txBody>
      </p:sp>
      <p:sp>
        <p:nvSpPr>
          <p:cNvPr id="93" name="Text 90"/>
          <p:cNvSpPr txBox="1"/>
          <p:nvPr/>
        </p:nvSpPr>
        <p:spPr>
          <a:xfrm>
            <a:off x="8549640" y="4663440"/>
            <a:ext cx="3047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workload as the institute's own rule</a:t>
            </a:r>
            <a:endParaRPr lang="en-US" sz="900" dirty="0"/>
          </a:p>
        </p:txBody>
      </p:sp>
      <p:sp>
        <p:nvSpPr>
          <p:cNvPr id="94" name="Text 91"/>
          <p:cNvSpPr txBox="1"/>
          <p:nvPr/>
        </p:nvSpPr>
        <p:spPr>
          <a:xfrm>
            <a:off x="818388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5" name="Text 92"/>
          <p:cNvSpPr txBox="1"/>
          <p:nvPr/>
        </p:nvSpPr>
        <p:spPr>
          <a:xfrm>
            <a:off x="8549640" y="4846320"/>
            <a:ext cx="3047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outcome for every flag</a:t>
            </a:r>
            <a:endParaRPr lang="en-US" sz="900" dirty="0"/>
          </a:p>
        </p:txBody>
      </p:sp>
      <p:sp>
        <p:nvSpPr>
          <p:cNvPr id="96" name="Shape 93"/>
          <p:cNvSpPr/>
          <p:nvPr/>
        </p:nvSpPr>
        <p:spPr>
          <a:xfrm>
            <a:off x="411480" y="519379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411480" y="5193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98" name="Text 95"/>
          <p:cNvSpPr txBox="1"/>
          <p:nvPr/>
        </p:nvSpPr>
        <p:spPr>
          <a:xfrm>
            <a:off x="740664" y="5193792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DESIGN PRINCIPLES THAT FOLLOW</a:t>
            </a:r>
            <a:endParaRPr lang="en-US" sz="1200" dirty="0"/>
          </a:p>
        </p:txBody>
      </p:sp>
      <p:sp>
        <p:nvSpPr>
          <p:cNvPr id="99" name="Shape 96"/>
          <p:cNvSpPr/>
          <p:nvPr/>
        </p:nvSpPr>
        <p:spPr>
          <a:xfrm>
            <a:off x="411480" y="5504688"/>
            <a:ext cx="277977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11480" y="5504688"/>
            <a:ext cx="457200" cy="80467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01" name="Image 0" descr="FaUser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5742432"/>
            <a:ext cx="256032" cy="256032"/>
          </a:xfrm>
          <a:prstGeom prst="rect">
            <a:avLst/>
          </a:prstGeom>
        </p:spPr>
      </p:pic>
      <p:sp>
        <p:nvSpPr>
          <p:cNvPr id="102" name="Text 98"/>
          <p:cNvSpPr txBox="1"/>
          <p:nvPr/>
        </p:nvSpPr>
        <p:spPr>
          <a:xfrm>
            <a:off x="960120" y="55321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never surveillance</a:t>
            </a:r>
            <a:endParaRPr lang="en-US" sz="1050" dirty="0"/>
          </a:p>
        </p:txBody>
      </p:sp>
      <p:sp>
        <p:nvSpPr>
          <p:cNvPr id="103" name="Text 99"/>
          <p:cNvSpPr txBox="1"/>
          <p:nvPr/>
        </p:nvSpPr>
        <p:spPr>
          <a:xfrm>
            <a:off x="960120" y="5769864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lists go to mentors only; no ranks for students or parents.</a:t>
            </a:r>
            <a:endParaRPr lang="en-US" sz="900" dirty="0"/>
          </a:p>
        </p:txBody>
      </p:sp>
      <p:sp>
        <p:nvSpPr>
          <p:cNvPr id="104" name="Shape 100"/>
          <p:cNvSpPr/>
          <p:nvPr/>
        </p:nvSpPr>
        <p:spPr>
          <a:xfrm>
            <a:off x="3273552" y="5504688"/>
            <a:ext cx="277977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3273552" y="5504688"/>
            <a:ext cx="457200" cy="80467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06" name="Image 1" descr="FaUse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5742432"/>
            <a:ext cx="256032" cy="256032"/>
          </a:xfrm>
          <a:prstGeom prst="rect">
            <a:avLst/>
          </a:prstGeom>
        </p:spPr>
      </p:pic>
      <p:sp>
        <p:nvSpPr>
          <p:cNvPr id="107" name="Text 102"/>
          <p:cNvSpPr txBox="1"/>
          <p:nvPr/>
        </p:nvSpPr>
        <p:spPr>
          <a:xfrm>
            <a:off x="3822192" y="55321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to mentor capacity</a:t>
            </a:r>
            <a:endParaRPr lang="en-US" sz="1050" dirty="0"/>
          </a:p>
        </p:txBody>
      </p:sp>
      <p:sp>
        <p:nvSpPr>
          <p:cNvPr id="108" name="Text 103"/>
          <p:cNvSpPr txBox="1"/>
          <p:nvPr/>
        </p:nvSpPr>
        <p:spPr>
          <a:xfrm>
            <a:off x="3822192" y="5769864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weekly list, compared with the institute's own rule at equal workload.</a:t>
            </a:r>
            <a:endParaRPr lang="en-US" sz="900" dirty="0"/>
          </a:p>
        </p:txBody>
      </p:sp>
      <p:sp>
        <p:nvSpPr>
          <p:cNvPr id="109" name="Shape 104"/>
          <p:cNvSpPr/>
          <p:nvPr/>
        </p:nvSpPr>
        <p:spPr>
          <a:xfrm>
            <a:off x="6135624" y="5504688"/>
            <a:ext cx="277977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6135624" y="5504688"/>
            <a:ext cx="457200" cy="80467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11" name="Image 2" descr="FaList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5742432"/>
            <a:ext cx="256032" cy="256032"/>
          </a:xfrm>
          <a:prstGeom prst="rect">
            <a:avLst/>
          </a:prstGeom>
        </p:spPr>
      </p:pic>
      <p:sp>
        <p:nvSpPr>
          <p:cNvPr id="112" name="Text 106"/>
          <p:cNvSpPr txBox="1"/>
          <p:nvPr/>
        </p:nvSpPr>
        <p:spPr>
          <a:xfrm>
            <a:off x="6684264" y="55321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checked</a:t>
            </a:r>
            <a:endParaRPr lang="en-US" sz="1050" dirty="0"/>
          </a:p>
        </p:txBody>
      </p:sp>
      <p:sp>
        <p:nvSpPr>
          <p:cNvPr id="113" name="Text 107"/>
          <p:cNvSpPr txBox="1"/>
          <p:nvPr/>
        </p:nvSpPr>
        <p:spPr>
          <a:xfrm>
            <a:off x="6684264" y="5769864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verified in code; a template goes out if any check fails.</a:t>
            </a:r>
            <a:endParaRPr lang="en-US" sz="900" dirty="0"/>
          </a:p>
        </p:txBody>
      </p:sp>
      <p:sp>
        <p:nvSpPr>
          <p:cNvPr id="114" name="Shape 108"/>
          <p:cNvSpPr/>
          <p:nvPr/>
        </p:nvSpPr>
        <p:spPr>
          <a:xfrm>
            <a:off x="8997696" y="5504688"/>
            <a:ext cx="277977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15" name="Shape 109"/>
          <p:cNvSpPr/>
          <p:nvPr/>
        </p:nvSpPr>
        <p:spPr>
          <a:xfrm>
            <a:off x="8997696" y="5504688"/>
            <a:ext cx="457200" cy="80467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16" name="Image 3" descr="FaLapto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5742432"/>
            <a:ext cx="256032" cy="256032"/>
          </a:xfrm>
          <a:prstGeom prst="rect">
            <a:avLst/>
          </a:prstGeom>
        </p:spPr>
      </p:pic>
      <p:sp>
        <p:nvSpPr>
          <p:cNvPr id="117" name="Text 110"/>
          <p:cNvSpPr txBox="1"/>
          <p:nvPr/>
        </p:nvSpPr>
        <p:spPr>
          <a:xfrm>
            <a:off x="9546336" y="55321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offline first</a:t>
            </a:r>
            <a:endParaRPr lang="en-US" sz="1050" dirty="0"/>
          </a:p>
        </p:txBody>
      </p:sp>
      <p:sp>
        <p:nvSpPr>
          <p:cNvPr id="118" name="Text 111"/>
          <p:cNvSpPr txBox="1"/>
          <p:nvPr/>
        </p:nvSpPr>
        <p:spPr>
          <a:xfrm>
            <a:off x="9546336" y="5769864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laptop, local models, no paid services; syncs when the network returns.</a:t>
            </a:r>
            <a:endParaRPr lang="en-US" sz="900" dirty="0"/>
          </a:p>
        </p:txBody>
      </p:sp>
      <p:sp>
        <p:nvSpPr>
          <p:cNvPr id="119" name="Shape 112"/>
          <p:cNvSpPr/>
          <p:nvPr/>
        </p:nvSpPr>
        <p:spPr>
          <a:xfrm rot="120000">
            <a:off x="10104120" y="694944"/>
            <a:ext cx="1691640" cy="38404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20" name="Shape 113"/>
          <p:cNvSpPr/>
          <p:nvPr/>
        </p:nvSpPr>
        <p:spPr>
          <a:xfrm rot="120000">
            <a:off x="10058400" y="640080"/>
            <a:ext cx="1691640" cy="384048"/>
          </a:xfrm>
          <a:prstGeom prst="rect">
            <a:avLst/>
          </a:prstGeom>
          <a:solidFill>
            <a:srgbClr val="F7BFD0"/>
          </a:solidFill>
          <a:ln/>
        </p:spPr>
      </p:sp>
      <p:sp>
        <p:nvSpPr>
          <p:cNvPr id="121" name="Text 114"/>
          <p:cNvSpPr txBox="1"/>
          <p:nvPr/>
        </p:nvSpPr>
        <p:spPr>
          <a:xfrm rot="120000">
            <a:off x="10113264" y="67665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2C4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we cut our own numbers first</a:t>
            </a:r>
            <a:endParaRPr lang="en-US" sz="850" dirty="0"/>
          </a:p>
        </p:txBody>
      </p:sp>
      <p:pic>
        <p:nvPicPr>
          <p:cNvPr id="122" name="Image 4" descr="D:\Professional Work\Business\FC_Case_Dhruvi\presentation\source\assets\doodle_tap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2000">
            <a:off x="10629900" y="548640"/>
            <a:ext cx="548640" cy="173736"/>
          </a:xfrm>
          <a:prstGeom prst="rect">
            <a:avLst/>
          </a:prstGeom>
        </p:spPr>
      </p:pic>
      <p:sp>
        <p:nvSpPr>
          <p:cNvPr id="123" name="Text 115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case guide; financial/research (vendor listings R1, outreach trials R4); financial workbook (Base: 4.0 % reduction, 0.35x fees only); OULAD results in ml/public_validation; PLOS ONE 2026; DPDP Act 2023 s.9(3).</a:t>
            </a:r>
            <a:endParaRPr lang="en-US" sz="850" dirty="0"/>
          </a:p>
        </p:txBody>
      </p:sp>
      <p:pic>
        <p:nvPicPr>
          <p:cNvPr id="124" name="Image 5" descr="hand-drawn hl_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2359152"/>
            <a:ext cx="338328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23744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product, two surfaces: a web console for the office and a phone app for mentors and parents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585216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pic>
        <p:nvPicPr>
          <p:cNvPr id="24" name="Image 0" descr="Pragati web console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133856"/>
            <a:ext cx="5815584" cy="325526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11480" y="4443984"/>
            <a:ext cx="585216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84632" y="4443984"/>
            <a:ext cx="5705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 · owner, teacher and compliance views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382512" y="1115568"/>
            <a:ext cx="5397703" cy="3291840"/>
          </a:xfrm>
          <a:prstGeom prst="rect">
            <a:avLst/>
          </a:prstGeom>
          <a:solidFill>
            <a:srgbClr val="EAF1FA"/>
          </a:solidFill>
          <a:ln/>
        </p:spPr>
      </p:sp>
      <p:pic>
        <p:nvPicPr>
          <p:cNvPr id="28" name="Image 1" descr="Scan an OMR sheet (illustrativ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161288"/>
            <a:ext cx="1600200" cy="3200400"/>
          </a:xfrm>
          <a:prstGeom prst="rect">
            <a:avLst/>
          </a:prstGeom>
        </p:spPr>
      </p:pic>
      <p:pic>
        <p:nvPicPr>
          <p:cNvPr id="29" name="Image 2" descr="Mentor: this week's list (illustrative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1161288"/>
            <a:ext cx="1600200" cy="3200400"/>
          </a:xfrm>
          <a:prstGeom prst="rect">
            <a:avLst/>
          </a:prstGeom>
        </p:spPr>
      </p:pic>
      <p:pic>
        <p:nvPicPr>
          <p:cNvPr id="30" name="Image 3" descr="Parent: Hindi or English (illustrative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824" y="1161288"/>
            <a:ext cx="1600200" cy="320040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382512" y="4443984"/>
            <a:ext cx="5397703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6455664" y="4443984"/>
            <a:ext cx="5251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APP · scan sheets, weekly list, parent view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7726680" y="393192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72668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2103120" y="283464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210312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9006840" y="224028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900684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10789920" y="306324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107899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 rot="-120000">
            <a:off x="10104120" y="694944"/>
            <a:ext cx="1691640" cy="38404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42" name="Shape 35"/>
          <p:cNvSpPr/>
          <p:nvPr/>
        </p:nvSpPr>
        <p:spPr>
          <a:xfrm rot="-120000">
            <a:off x="10058400" y="640080"/>
            <a:ext cx="1691640" cy="384048"/>
          </a:xfrm>
          <a:prstGeom prst="rect">
            <a:avLst/>
          </a:prstGeom>
          <a:solidFill>
            <a:srgbClr val="BFE0F7"/>
          </a:solidFill>
          <a:ln/>
        </p:spPr>
      </p:sp>
      <p:sp>
        <p:nvSpPr>
          <p:cNvPr id="43" name="Text 36"/>
          <p:cNvSpPr txBox="1"/>
          <p:nvPr/>
        </p:nvSpPr>
        <p:spPr>
          <a:xfrm rot="-120000">
            <a:off x="10113264" y="67665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4A82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tap, fix, done</a:t>
            </a:r>
            <a:endParaRPr lang="en-US" sz="850" dirty="0"/>
          </a:p>
        </p:txBody>
      </p:sp>
      <p:pic>
        <p:nvPicPr>
          <p:cNvPr id="44" name="Image 4" descr="D:\Professional Work\Business\FC_Case_Dhruvi\presentation\source\assets\doodle_tap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72000">
            <a:off x="10629900" y="548640"/>
            <a:ext cx="548640" cy="173736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411480" y="480060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411480" y="4800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47" name="Text 39"/>
          <p:cNvSpPr txBox="1"/>
          <p:nvPr/>
        </p:nvSpPr>
        <p:spPr>
          <a:xfrm>
            <a:off x="740664" y="4800600"/>
            <a:ext cx="689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SEES WHAT</a:t>
            </a:r>
            <a:endParaRPr lang="en-US" sz="1200" dirty="0"/>
          </a:p>
        </p:txBody>
      </p:sp>
      <p:sp>
        <p:nvSpPr>
          <p:cNvPr id="48" name="Shape 40"/>
          <p:cNvSpPr/>
          <p:nvPr/>
        </p:nvSpPr>
        <p:spPr>
          <a:xfrm>
            <a:off x="411480" y="5120640"/>
            <a:ext cx="1737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411480" y="5120640"/>
            <a:ext cx="1737360" cy="27432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50" name="Image 5" descr="FaBuilding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5166360"/>
            <a:ext cx="182880" cy="182880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722376" y="5120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52" name="Text 43"/>
          <p:cNvSpPr txBox="1"/>
          <p:nvPr/>
        </p:nvSpPr>
        <p:spPr>
          <a:xfrm>
            <a:off x="484632" y="54132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</a:t>
            </a:r>
            <a:endParaRPr lang="en-US" sz="850" dirty="0"/>
          </a:p>
        </p:txBody>
      </p:sp>
      <p:sp>
        <p:nvSpPr>
          <p:cNvPr id="53" name="Text 44"/>
          <p:cNvSpPr txBox="1"/>
          <p:nvPr/>
        </p:nvSpPr>
        <p:spPr>
          <a:xfrm>
            <a:off x="457200" y="5614416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comparison, retention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done, outcomes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exports</a:t>
            </a:r>
            <a:endParaRPr lang="en-US" sz="850" dirty="0"/>
          </a:p>
        </p:txBody>
      </p:sp>
      <p:sp>
        <p:nvSpPr>
          <p:cNvPr id="54" name="Shape 45"/>
          <p:cNvSpPr/>
          <p:nvPr/>
        </p:nvSpPr>
        <p:spPr>
          <a:xfrm>
            <a:off x="2221992" y="5120640"/>
            <a:ext cx="1737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2221992" y="5120640"/>
            <a:ext cx="1737360" cy="27432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56" name="Image 6" descr="FaChalkboardUser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5144" y="5166360"/>
            <a:ext cx="182880" cy="182880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2532888" y="5120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and mentor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2295144" y="54132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phone</a:t>
            </a:r>
            <a:endParaRPr lang="en-US" sz="850" dirty="0"/>
          </a:p>
        </p:txBody>
      </p:sp>
      <p:sp>
        <p:nvSpPr>
          <p:cNvPr id="59" name="Text 49"/>
          <p:cNvSpPr txBox="1"/>
          <p:nvPr/>
        </p:nvSpPr>
        <p:spPr>
          <a:xfrm>
            <a:off x="2267712" y="5614416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heatmap, wrong keys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list with reasons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what was done</a:t>
            </a:r>
            <a:endParaRPr lang="en-US" sz="850" dirty="0"/>
          </a:p>
        </p:txBody>
      </p:sp>
      <p:sp>
        <p:nvSpPr>
          <p:cNvPr id="60" name="Shape 50"/>
          <p:cNvSpPr/>
          <p:nvPr/>
        </p:nvSpPr>
        <p:spPr>
          <a:xfrm>
            <a:off x="4032504" y="5120640"/>
            <a:ext cx="1737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4032504" y="5120640"/>
            <a:ext cx="1737360" cy="27432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62" name="Image 7" descr="FaUserGraduat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5656" y="5166360"/>
            <a:ext cx="182880" cy="182880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4343400" y="5120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64" name="Text 53"/>
          <p:cNvSpPr txBox="1"/>
          <p:nvPr/>
        </p:nvSpPr>
        <p:spPr>
          <a:xfrm>
            <a:off x="4105656" y="54132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(web app)</a:t>
            </a:r>
            <a:endParaRPr lang="en-US" sz="850" dirty="0"/>
          </a:p>
        </p:txBody>
      </p:sp>
      <p:sp>
        <p:nvSpPr>
          <p:cNvPr id="65" name="Text 54"/>
          <p:cNvSpPr txBox="1"/>
          <p:nvPr/>
        </p:nvSpPr>
        <p:spPr>
          <a:xfrm>
            <a:off x="4078224" y="5614416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topic mastery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on weak topics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risk score</a:t>
            </a:r>
            <a:endParaRPr lang="en-US" sz="850" dirty="0"/>
          </a:p>
        </p:txBody>
      </p:sp>
      <p:sp>
        <p:nvSpPr>
          <p:cNvPr id="66" name="Shape 55"/>
          <p:cNvSpPr/>
          <p:nvPr/>
        </p:nvSpPr>
        <p:spPr>
          <a:xfrm>
            <a:off x="5843016" y="5120640"/>
            <a:ext cx="1737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67" name="Shape 56"/>
          <p:cNvSpPr/>
          <p:nvPr/>
        </p:nvSpPr>
        <p:spPr>
          <a:xfrm>
            <a:off x="5843016" y="5120640"/>
            <a:ext cx="1737360" cy="27432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68" name="Image 8" descr="FaUsers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6168" y="5166360"/>
            <a:ext cx="182880" cy="182880"/>
          </a:xfrm>
          <a:prstGeom prst="rect">
            <a:avLst/>
          </a:prstGeom>
        </p:spPr>
      </p:pic>
      <p:sp>
        <p:nvSpPr>
          <p:cNvPr id="69" name="Text 57"/>
          <p:cNvSpPr txBox="1"/>
          <p:nvPr/>
        </p:nvSpPr>
        <p:spPr>
          <a:xfrm>
            <a:off x="6153912" y="5120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000" dirty="0"/>
          </a:p>
        </p:txBody>
      </p:sp>
      <p:sp>
        <p:nvSpPr>
          <p:cNvPr id="70" name="Text 58"/>
          <p:cNvSpPr txBox="1"/>
          <p:nvPr/>
        </p:nvSpPr>
        <p:spPr>
          <a:xfrm>
            <a:off x="5916168" y="54132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or WhatsApp</a:t>
            </a:r>
            <a:endParaRPr lang="en-US" sz="850" dirty="0"/>
          </a:p>
        </p:txBody>
      </p:sp>
      <p:sp>
        <p:nvSpPr>
          <p:cNvPr id="71" name="Text 59"/>
          <p:cNvSpPr txBox="1"/>
          <p:nvPr/>
        </p:nvSpPr>
        <p:spPr>
          <a:xfrm>
            <a:off x="5888736" y="5614416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Hindi / English note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improved, what next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peer ranks</a:t>
            </a:r>
            <a:endParaRPr lang="en-US" sz="850" dirty="0"/>
          </a:p>
        </p:txBody>
      </p:sp>
      <p:sp>
        <p:nvSpPr>
          <p:cNvPr id="72" name="Shape 60"/>
          <p:cNvSpPr/>
          <p:nvPr/>
        </p:nvSpPr>
        <p:spPr>
          <a:xfrm>
            <a:off x="7772400" y="480060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3" name="Text 61"/>
          <p:cNvSpPr txBox="1"/>
          <p:nvPr/>
        </p:nvSpPr>
        <p:spPr>
          <a:xfrm>
            <a:off x="7772400" y="4800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74" name="Text 62"/>
          <p:cNvSpPr txBox="1"/>
          <p:nvPr/>
        </p:nvSpPr>
        <p:spPr>
          <a:xfrm>
            <a:off x="8101584" y="4800600"/>
            <a:ext cx="36786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WITH PRAGATI</a:t>
            </a:r>
            <a:endParaRPr lang="en-US" sz="1200" dirty="0"/>
          </a:p>
        </p:txBody>
      </p:sp>
      <p:sp>
        <p:nvSpPr>
          <p:cNvPr id="75" name="Shape 63"/>
          <p:cNvSpPr/>
          <p:nvPr/>
        </p:nvSpPr>
        <p:spPr>
          <a:xfrm>
            <a:off x="7772400" y="5129784"/>
            <a:ext cx="65836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6" name="Text 64"/>
          <p:cNvSpPr txBox="1"/>
          <p:nvPr/>
        </p:nvSpPr>
        <p:spPr>
          <a:xfrm>
            <a:off x="7772400" y="51297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850" dirty="0"/>
          </a:p>
        </p:txBody>
      </p:sp>
      <p:sp>
        <p:nvSpPr>
          <p:cNvPr id="77" name="Text 65"/>
          <p:cNvSpPr txBox="1"/>
          <p:nvPr/>
        </p:nvSpPr>
        <p:spPr>
          <a:xfrm>
            <a:off x="8503920" y="5120640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test on OMR; sheets scanned on a phone</a:t>
            </a:r>
            <a:endParaRPr lang="en-US" sz="900" dirty="0"/>
          </a:p>
        </p:txBody>
      </p:sp>
      <p:sp>
        <p:nvSpPr>
          <p:cNvPr id="78" name="Shape 66"/>
          <p:cNvSpPr/>
          <p:nvPr/>
        </p:nvSpPr>
        <p:spPr>
          <a:xfrm>
            <a:off x="7772400" y="5330952"/>
            <a:ext cx="658368" cy="18288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9" name="Text 67"/>
          <p:cNvSpPr txBox="1"/>
          <p:nvPr/>
        </p:nvSpPr>
        <p:spPr>
          <a:xfrm>
            <a:off x="7772400" y="53309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pm</a:t>
            </a:r>
            <a:endParaRPr lang="en-US" sz="850" dirty="0"/>
          </a:p>
        </p:txBody>
      </p:sp>
      <p:sp>
        <p:nvSpPr>
          <p:cNvPr id="80" name="Text 68"/>
          <p:cNvSpPr txBox="1"/>
          <p:nvPr/>
        </p:nvSpPr>
        <p:spPr>
          <a:xfrm>
            <a:off x="8503920" y="5321808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map and wrong-key flags for the teacher</a:t>
            </a:r>
            <a:endParaRPr lang="en-US" sz="900" dirty="0"/>
          </a:p>
        </p:txBody>
      </p:sp>
      <p:sp>
        <p:nvSpPr>
          <p:cNvPr id="81" name="Shape 69"/>
          <p:cNvSpPr/>
          <p:nvPr/>
        </p:nvSpPr>
        <p:spPr>
          <a:xfrm>
            <a:off x="7772400" y="5532120"/>
            <a:ext cx="65836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2" name="Text 70"/>
          <p:cNvSpPr txBox="1"/>
          <p:nvPr/>
        </p:nvSpPr>
        <p:spPr>
          <a:xfrm>
            <a:off x="7772400" y="55321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850" dirty="0"/>
          </a:p>
        </p:txBody>
      </p:sp>
      <p:sp>
        <p:nvSpPr>
          <p:cNvPr id="83" name="Text 71"/>
          <p:cNvSpPr txBox="1"/>
          <p:nvPr/>
        </p:nvSpPr>
        <p:spPr>
          <a:xfrm>
            <a:off x="8503920" y="5522976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list of up to 8, each with reasons</a:t>
            </a:r>
            <a:endParaRPr lang="en-US" sz="900" dirty="0"/>
          </a:p>
        </p:txBody>
      </p:sp>
      <p:sp>
        <p:nvSpPr>
          <p:cNvPr id="84" name="Shape 72"/>
          <p:cNvSpPr/>
          <p:nvPr/>
        </p:nvSpPr>
        <p:spPr>
          <a:xfrm>
            <a:off x="7772400" y="5733288"/>
            <a:ext cx="658368" cy="18288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5" name="Text 73"/>
          <p:cNvSpPr txBox="1"/>
          <p:nvPr/>
        </p:nvSpPr>
        <p:spPr>
          <a:xfrm>
            <a:off x="7772400" y="5733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850" dirty="0"/>
          </a:p>
        </p:txBody>
      </p:sp>
      <p:sp>
        <p:nvSpPr>
          <p:cNvPr id="86" name="Text 74"/>
          <p:cNvSpPr txBox="1"/>
          <p:nvPr/>
        </p:nvSpPr>
        <p:spPr>
          <a:xfrm>
            <a:off x="8503920" y="5724144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Remedial session for the weakest topic</a:t>
            </a:r>
            <a:endParaRPr lang="en-US" sz="900" dirty="0"/>
          </a:p>
        </p:txBody>
      </p:sp>
      <p:sp>
        <p:nvSpPr>
          <p:cNvPr id="87" name="Shape 75"/>
          <p:cNvSpPr/>
          <p:nvPr/>
        </p:nvSpPr>
        <p:spPr>
          <a:xfrm>
            <a:off x="7772400" y="5934456"/>
            <a:ext cx="65836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8" name="Text 76"/>
          <p:cNvSpPr txBox="1"/>
          <p:nvPr/>
        </p:nvSpPr>
        <p:spPr>
          <a:xfrm>
            <a:off x="7772400" y="593445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850" dirty="0"/>
          </a:p>
        </p:txBody>
      </p:sp>
      <p:sp>
        <p:nvSpPr>
          <p:cNvPr id="89" name="Text 77"/>
          <p:cNvSpPr txBox="1"/>
          <p:nvPr/>
        </p:nvSpPr>
        <p:spPr>
          <a:xfrm>
            <a:off x="8503920" y="5925312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Hindi / English note to parents</a:t>
            </a:r>
            <a:endParaRPr lang="en-US" sz="900" dirty="0"/>
          </a:p>
        </p:txBody>
      </p:sp>
      <p:sp>
        <p:nvSpPr>
          <p:cNvPr id="90" name="Shape 78"/>
          <p:cNvSpPr/>
          <p:nvPr/>
        </p:nvSpPr>
        <p:spPr>
          <a:xfrm>
            <a:off x="7772400" y="6135624"/>
            <a:ext cx="658368" cy="18288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91" name="Text 79"/>
          <p:cNvSpPr txBox="1"/>
          <p:nvPr/>
        </p:nvSpPr>
        <p:spPr>
          <a:xfrm>
            <a:off x="7772400" y="61356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850" dirty="0"/>
          </a:p>
        </p:txBody>
      </p:sp>
      <p:sp>
        <p:nvSpPr>
          <p:cNvPr id="92" name="Text 80"/>
          <p:cNvSpPr txBox="1"/>
          <p:nvPr/>
        </p:nvSpPr>
        <p:spPr>
          <a:xfrm>
            <a:off x="8503920" y="6126480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sees actions taken and outcomes</a:t>
            </a:r>
            <a:endParaRPr lang="en-US" sz="900" dirty="0"/>
          </a:p>
        </p:txBody>
      </p:sp>
      <p:sp>
        <p:nvSpPr>
          <p:cNvPr id="93" name="Text 81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mock-ups with synthetic students. Both surfaces use one API; the phone app is a progressive web app installed from the browser (no app-store fee).</a:t>
            </a:r>
            <a:endParaRPr lang="en-US" sz="850" dirty="0"/>
          </a:p>
        </p:txBody>
      </p:sp>
      <p:pic>
        <p:nvPicPr>
          <p:cNvPr id="94" name="Image 9" descr="owner curso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6160" y="2743200"/>
            <a:ext cx="777240" cy="329184"/>
          </a:xfrm>
          <a:prstGeom prst="rect">
            <a:avLst/>
          </a:prstGeom>
        </p:spPr>
      </p:pic>
      <p:pic>
        <p:nvPicPr>
          <p:cNvPr id="95" name="Image 10" descr="mentor curso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69680" y="3383280"/>
            <a:ext cx="777240" cy="329184"/>
          </a:xfrm>
          <a:prstGeom prst="rect">
            <a:avLst/>
          </a:prstGeom>
        </p:spPr>
      </p:pic>
      <p:pic>
        <p:nvPicPr>
          <p:cNvPr id="96" name="Image 11" descr="parent cursor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44200" y="2011680"/>
            <a:ext cx="777240" cy="329184"/>
          </a:xfrm>
          <a:prstGeom prst="rect">
            <a:avLst/>
          </a:prstGeom>
        </p:spPr>
      </p:pic>
      <p:sp>
        <p:nvSpPr>
          <p:cNvPr id="97" name="Shape 82"/>
          <p:cNvSpPr/>
          <p:nvPr/>
        </p:nvSpPr>
        <p:spPr>
          <a:xfrm rot="-180000">
            <a:off x="4206240" y="3575304"/>
            <a:ext cx="1783080" cy="731520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98" name="Shape 83"/>
          <p:cNvSpPr/>
          <p:nvPr/>
        </p:nvSpPr>
        <p:spPr>
          <a:xfrm rot="-180000">
            <a:off x="4160520" y="3520440"/>
            <a:ext cx="1783080" cy="731520"/>
          </a:xfrm>
          <a:prstGeom prst="rect">
            <a:avLst/>
          </a:prstGeom>
          <a:solidFill>
            <a:srgbClr val="FBE9A0"/>
          </a:solidFill>
          <a:ln/>
        </p:spPr>
      </p:sp>
      <p:sp>
        <p:nvSpPr>
          <p:cNvPr id="99" name="Text 84"/>
          <p:cNvSpPr txBox="1"/>
          <p:nvPr/>
        </p:nvSpPr>
        <p:spPr>
          <a:xfrm rot="-180000">
            <a:off x="4215384" y="3557016"/>
            <a:ext cx="1673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6D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Job to be done: when a test ends, who do I call?</a:t>
            </a:r>
            <a:endParaRPr lang="en-US" sz="850" dirty="0"/>
          </a:p>
        </p:txBody>
      </p:sp>
      <p:pic>
        <p:nvPicPr>
          <p:cNvPr id="100" name="Image 12" descr="D:\Professional Work\Business\FC_Case_Dhruvi\presentation\source\assets\doodle_tap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108000">
            <a:off x="4777740" y="3429000"/>
            <a:ext cx="548640" cy="173736"/>
          </a:xfrm>
          <a:prstGeom prst="rect">
            <a:avLst/>
          </a:prstGeom>
        </p:spPr>
      </p:pic>
      <p:pic>
        <p:nvPicPr>
          <p:cNvPr id="101" name="Image 13" descr="hand-drawn arrow_a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7920" y="3566160"/>
            <a:ext cx="54864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THREE LAYERS, FOUR STAGES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one rule: each institute's data stays its own. Four stages move paper to a parent message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1097280" y="1207008"/>
            <a:ext cx="5303520" cy="1097280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24" name="Shape 21"/>
          <p:cNvSpPr/>
          <p:nvPr/>
        </p:nvSpPr>
        <p:spPr>
          <a:xfrm>
            <a:off x="1051560" y="1143000"/>
            <a:ext cx="5303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51560" y="1143000"/>
            <a:ext cx="1325880" cy="109728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26" name="Image 0" descr="FaDispla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271016"/>
            <a:ext cx="411480" cy="41148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051560" y="17373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1051560" y="19659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use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2441448" y="1271016"/>
            <a:ext cx="89382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478024" y="1271016"/>
            <a:ext cx="8206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teacher views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3390138" y="1271016"/>
            <a:ext cx="89382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3426714" y="1271016"/>
            <a:ext cx="8206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app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list, parent view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4338828" y="1271016"/>
            <a:ext cx="89382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375404" y="1271016"/>
            <a:ext cx="8206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English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both languages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5287518" y="1271016"/>
            <a:ext cx="89382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324094" y="1271016"/>
            <a:ext cx="8206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export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and API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777240" y="2395728"/>
            <a:ext cx="5943600" cy="1097280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38" name="Shape 34"/>
          <p:cNvSpPr/>
          <p:nvPr/>
        </p:nvSpPr>
        <p:spPr>
          <a:xfrm>
            <a:off x="731520" y="2331720"/>
            <a:ext cx="5943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B4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731520" y="2331720"/>
            <a:ext cx="1325880" cy="1097280"/>
          </a:xfrm>
          <a:prstGeom prst="rect">
            <a:avLst/>
          </a:prstGeom>
          <a:solidFill>
            <a:srgbClr val="2E6DB4"/>
          </a:solidFill>
          <a:ln/>
        </p:spPr>
      </p:sp>
      <p:pic>
        <p:nvPicPr>
          <p:cNvPr id="40" name="Image 1" descr="FaBrai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459736"/>
            <a:ext cx="411480" cy="411480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731520" y="2926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731520" y="31546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out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2121408" y="2459736"/>
            <a:ext cx="105384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2157984" y="2459736"/>
            <a:ext cx="980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mastery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topics (IRT)</a:t>
            </a:r>
            <a:endParaRPr lang="en-US" sz="1400" dirty="0"/>
          </a:p>
        </p:txBody>
      </p:sp>
      <p:sp>
        <p:nvSpPr>
          <p:cNvPr id="45" name="Shape 40"/>
          <p:cNvSpPr/>
          <p:nvPr/>
        </p:nvSpPr>
        <p:spPr>
          <a:xfrm>
            <a:off x="3230118" y="2459736"/>
            <a:ext cx="105384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266694" y="2459736"/>
            <a:ext cx="980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help (LightGBM)</a:t>
            </a:r>
            <a:endParaRPr lang="en-US" sz="1400" dirty="0"/>
          </a:p>
        </p:txBody>
      </p:sp>
      <p:sp>
        <p:nvSpPr>
          <p:cNvPr id="47" name="Shape 42"/>
          <p:cNvSpPr/>
          <p:nvPr/>
        </p:nvSpPr>
        <p:spPr>
          <a:xfrm>
            <a:off x="4338828" y="2459736"/>
            <a:ext cx="105384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4375404" y="2459736"/>
            <a:ext cx="980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ranges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bands (conformal)</a:t>
            </a:r>
            <a:endParaRPr lang="en-US" sz="1400" dirty="0"/>
          </a:p>
        </p:txBody>
      </p:sp>
      <p:sp>
        <p:nvSpPr>
          <p:cNvPr id="49" name="Shape 44"/>
          <p:cNvSpPr/>
          <p:nvPr/>
        </p:nvSpPr>
        <p:spPr>
          <a:xfrm>
            <a:off x="5447538" y="2459736"/>
            <a:ext cx="105384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5484114" y="2459736"/>
            <a:ext cx="980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reports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numbers</a:t>
            </a:r>
            <a:endParaRPr lang="en-US" sz="1400" dirty="0"/>
          </a:p>
        </p:txBody>
      </p:sp>
      <p:sp>
        <p:nvSpPr>
          <p:cNvPr id="51" name="Shape 46"/>
          <p:cNvSpPr/>
          <p:nvPr/>
        </p:nvSpPr>
        <p:spPr>
          <a:xfrm>
            <a:off x="457200" y="3584448"/>
            <a:ext cx="6583680" cy="1097280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52" name="Shape 47"/>
          <p:cNvSpPr/>
          <p:nvPr/>
        </p:nvSpPr>
        <p:spPr>
          <a:xfrm>
            <a:off x="411480" y="3520440"/>
            <a:ext cx="65836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25C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411480" y="3520440"/>
            <a:ext cx="1325880" cy="1097280"/>
          </a:xfrm>
          <a:prstGeom prst="rect">
            <a:avLst/>
          </a:prstGeom>
          <a:solidFill>
            <a:srgbClr val="17325C"/>
          </a:solidFill>
          <a:ln/>
        </p:spPr>
      </p:sp>
      <p:pic>
        <p:nvPicPr>
          <p:cNvPr id="54" name="Image 2" descr="FaShieldHalve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48456"/>
            <a:ext cx="411480" cy="411480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411480" y="4114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DATA</a:t>
            </a:r>
            <a:endParaRPr lang="en-US" sz="1050" dirty="0"/>
          </a:p>
        </p:txBody>
      </p:sp>
      <p:sp>
        <p:nvSpPr>
          <p:cNvPr id="56" name="Text 50"/>
          <p:cNvSpPr txBox="1"/>
          <p:nvPr/>
        </p:nvSpPr>
        <p:spPr>
          <a:xfrm>
            <a:off x="411480" y="43434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it safe</a:t>
            </a:r>
            <a:endParaRPr lang="en-US" sz="800" dirty="0"/>
          </a:p>
        </p:txBody>
      </p:sp>
      <p:sp>
        <p:nvSpPr>
          <p:cNvPr id="57" name="Shape 51"/>
          <p:cNvSpPr/>
          <p:nvPr/>
        </p:nvSpPr>
        <p:spPr>
          <a:xfrm>
            <a:off x="1801368" y="3648456"/>
            <a:ext cx="121386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1837944" y="3648456"/>
            <a:ext cx="1140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never mix</a:t>
            </a:r>
            <a:endParaRPr lang="en-US" sz="1400" dirty="0"/>
          </a:p>
        </p:txBody>
      </p:sp>
      <p:sp>
        <p:nvSpPr>
          <p:cNvPr id="59" name="Shape 53"/>
          <p:cNvSpPr/>
          <p:nvPr/>
        </p:nvSpPr>
        <p:spPr>
          <a:xfrm>
            <a:off x="3070098" y="3648456"/>
            <a:ext cx="121386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3106674" y="3648456"/>
            <a:ext cx="1140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gate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consent, no model</a:t>
            </a:r>
            <a:endParaRPr lang="en-US" sz="1400" dirty="0"/>
          </a:p>
        </p:txBody>
      </p:sp>
      <p:sp>
        <p:nvSpPr>
          <p:cNvPr id="61" name="Shape 55"/>
          <p:cNvSpPr/>
          <p:nvPr/>
        </p:nvSpPr>
        <p:spPr>
          <a:xfrm>
            <a:off x="4338828" y="3648456"/>
            <a:ext cx="121386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4375404" y="3648456"/>
            <a:ext cx="1140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internet</a:t>
            </a:r>
            <a:endParaRPr lang="en-US" sz="1400" dirty="0"/>
          </a:p>
        </p:txBody>
      </p:sp>
      <p:sp>
        <p:nvSpPr>
          <p:cNvPr id="63" name="Shape 57"/>
          <p:cNvSpPr/>
          <p:nvPr/>
        </p:nvSpPr>
        <p:spPr>
          <a:xfrm>
            <a:off x="5607558" y="3648456"/>
            <a:ext cx="121386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5644134" y="3648456"/>
            <a:ext cx="1140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saw what</a:t>
            </a:r>
            <a:endParaRPr lang="en-US" sz="1400" dirty="0"/>
          </a:p>
        </p:txBody>
      </p:sp>
      <p:sp>
        <p:nvSpPr>
          <p:cNvPr id="65" name="Shape 59"/>
          <p:cNvSpPr/>
          <p:nvPr/>
        </p:nvSpPr>
        <p:spPr>
          <a:xfrm rot="180000">
            <a:off x="5897880" y="4736592"/>
            <a:ext cx="1280160" cy="365760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66" name="Shape 60"/>
          <p:cNvSpPr/>
          <p:nvPr/>
        </p:nvSpPr>
        <p:spPr>
          <a:xfrm rot="180000">
            <a:off x="5852160" y="4681728"/>
            <a:ext cx="1280160" cy="365760"/>
          </a:xfrm>
          <a:prstGeom prst="rect">
            <a:avLst/>
          </a:prstGeom>
          <a:solidFill>
            <a:srgbClr val="CDEBC5"/>
          </a:solidFill>
          <a:ln/>
        </p:spPr>
      </p:sp>
      <p:sp>
        <p:nvSpPr>
          <p:cNvPr id="67" name="Text 61"/>
          <p:cNvSpPr txBox="1"/>
          <p:nvPr/>
        </p:nvSpPr>
        <p:spPr>
          <a:xfrm rot="180000">
            <a:off x="5907024" y="47183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6B2A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one laptop, no cloud bill</a:t>
            </a:r>
            <a:endParaRPr lang="en-US" sz="850" dirty="0"/>
          </a:p>
        </p:txBody>
      </p:sp>
      <p:pic>
        <p:nvPicPr>
          <p:cNvPr id="68" name="Image 3" descr="D:\Professional Work\Business\FC_Case_Dhruvi\presentation\source\assets\doodle_ta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">
            <a:off x="6217920" y="4590288"/>
            <a:ext cx="548640" cy="173736"/>
          </a:xfrm>
          <a:prstGeom prst="rect">
            <a:avLst/>
          </a:prstGeom>
        </p:spPr>
      </p:pic>
      <p:sp>
        <p:nvSpPr>
          <p:cNvPr id="69" name="Text 62"/>
          <p:cNvSpPr txBox="1"/>
          <p:nvPr/>
        </p:nvSpPr>
        <p:spPr>
          <a:xfrm>
            <a:off x="411480" y="5047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WE CAN SHOW</a:t>
            </a:r>
            <a:endParaRPr lang="en-US" sz="800" dirty="0"/>
          </a:p>
        </p:txBody>
      </p:sp>
      <p:sp>
        <p:nvSpPr>
          <p:cNvPr id="70" name="Shape 63"/>
          <p:cNvSpPr/>
          <p:nvPr/>
        </p:nvSpPr>
        <p:spPr>
          <a:xfrm>
            <a:off x="411480" y="5248656"/>
            <a:ext cx="1609344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1" name="Text 64"/>
          <p:cNvSpPr txBox="1"/>
          <p:nvPr/>
        </p:nvSpPr>
        <p:spPr>
          <a:xfrm>
            <a:off x="411480" y="524865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+ 210</a:t>
            </a:r>
            <a:endParaRPr lang="en-US" sz="1200" dirty="0"/>
          </a:p>
        </p:txBody>
      </p:sp>
      <p:sp>
        <p:nvSpPr>
          <p:cNvPr id="72" name="Text 65"/>
          <p:cNvSpPr txBox="1"/>
          <p:nvPr/>
        </p:nvSpPr>
        <p:spPr>
          <a:xfrm>
            <a:off x="411480" y="55961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files, synthetic OMR photos</a:t>
            </a:r>
            <a:endParaRPr lang="en-US" sz="750" dirty="0"/>
          </a:p>
        </p:txBody>
      </p:sp>
      <p:sp>
        <p:nvSpPr>
          <p:cNvPr id="73" name="Shape 66"/>
          <p:cNvSpPr/>
          <p:nvPr/>
        </p:nvSpPr>
        <p:spPr>
          <a:xfrm>
            <a:off x="2084832" y="5248656"/>
            <a:ext cx="1609344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4" name="Text 67"/>
          <p:cNvSpPr txBox="1"/>
          <p:nvPr/>
        </p:nvSpPr>
        <p:spPr>
          <a:xfrm>
            <a:off x="2084832" y="524865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tables</a:t>
            </a:r>
            <a:endParaRPr lang="en-US" sz="1200" dirty="0"/>
          </a:p>
        </p:txBody>
      </p:sp>
      <p:sp>
        <p:nvSpPr>
          <p:cNvPr id="75" name="Text 68"/>
          <p:cNvSpPr txBox="1"/>
          <p:nvPr/>
        </p:nvSpPr>
        <p:spPr>
          <a:xfrm>
            <a:off x="2084832" y="55961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tested on PostgreSQL 16</a:t>
            </a:r>
            <a:endParaRPr lang="en-US" sz="750" dirty="0"/>
          </a:p>
        </p:txBody>
      </p:sp>
      <p:sp>
        <p:nvSpPr>
          <p:cNvPr id="76" name="Shape 69"/>
          <p:cNvSpPr/>
          <p:nvPr/>
        </p:nvSpPr>
        <p:spPr>
          <a:xfrm>
            <a:off x="3758184" y="5248656"/>
            <a:ext cx="1609344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7" name="Text 70"/>
          <p:cNvSpPr txBox="1"/>
          <p:nvPr/>
        </p:nvSpPr>
        <p:spPr>
          <a:xfrm>
            <a:off x="3758184" y="524865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 / 0.763</a:t>
            </a:r>
            <a:endParaRPr lang="en-US" sz="1200" dirty="0"/>
          </a:p>
        </p:txBody>
      </p:sp>
      <p:sp>
        <p:nvSpPr>
          <p:cNvPr id="78" name="Text 71"/>
          <p:cNvSpPr txBox="1"/>
          <p:nvPr/>
        </p:nvSpPr>
        <p:spPr>
          <a:xfrm>
            <a:off x="3758184" y="55961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public-data AUC: OULAD, ASSISTments</a:t>
            </a:r>
            <a:endParaRPr lang="en-US" sz="750" dirty="0"/>
          </a:p>
        </p:txBody>
      </p:sp>
      <p:sp>
        <p:nvSpPr>
          <p:cNvPr id="79" name="Shape 72"/>
          <p:cNvSpPr/>
          <p:nvPr/>
        </p:nvSpPr>
        <p:spPr>
          <a:xfrm>
            <a:off x="5431536" y="5248656"/>
            <a:ext cx="1609344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0" name="Text 73"/>
          <p:cNvSpPr txBox="1"/>
          <p:nvPr/>
        </p:nvSpPr>
        <p:spPr>
          <a:xfrm>
            <a:off x="5431536" y="524865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+ 8</a:t>
            </a:r>
            <a:endParaRPr lang="en-US" sz="1200" dirty="0"/>
          </a:p>
        </p:txBody>
      </p:sp>
      <p:sp>
        <p:nvSpPr>
          <p:cNvPr id="81" name="Text 74"/>
          <p:cNvSpPr txBox="1"/>
          <p:nvPr/>
        </p:nvSpPr>
        <p:spPr>
          <a:xfrm>
            <a:off x="5431536" y="55961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templates and automatic checks</a:t>
            </a:r>
            <a:endParaRPr lang="en-US" sz="750" dirty="0"/>
          </a:p>
        </p:txBody>
      </p:sp>
      <p:sp>
        <p:nvSpPr>
          <p:cNvPr id="82" name="Shape 75"/>
          <p:cNvSpPr/>
          <p:nvPr/>
        </p:nvSpPr>
        <p:spPr>
          <a:xfrm>
            <a:off x="7178040" y="1143000"/>
            <a:ext cx="4602175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3" name="Text 76"/>
          <p:cNvSpPr txBox="1"/>
          <p:nvPr/>
        </p:nvSpPr>
        <p:spPr>
          <a:xfrm>
            <a:off x="7251192" y="1143000"/>
            <a:ext cx="4455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STAGES: WHAT IS BUILT, IN BUILD, DESIGNED</a:t>
            </a:r>
            <a:endParaRPr lang="en-US" sz="1000" dirty="0"/>
          </a:p>
        </p:txBody>
      </p:sp>
      <p:sp>
        <p:nvSpPr>
          <p:cNvPr id="84" name="Shape 77"/>
          <p:cNvSpPr/>
          <p:nvPr/>
        </p:nvSpPr>
        <p:spPr>
          <a:xfrm>
            <a:off x="7178040" y="1463040"/>
            <a:ext cx="960120" cy="9326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5" name="Text 78"/>
          <p:cNvSpPr txBox="1"/>
          <p:nvPr/>
        </p:nvSpPr>
        <p:spPr>
          <a:xfrm>
            <a:off x="7178040" y="1463040"/>
            <a:ext cx="960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CAPTURE</a:t>
            </a:r>
            <a:endParaRPr lang="en-US" sz="850" dirty="0"/>
          </a:p>
        </p:txBody>
      </p:sp>
      <p:sp>
        <p:nvSpPr>
          <p:cNvPr id="86" name="Shape 79"/>
          <p:cNvSpPr/>
          <p:nvPr/>
        </p:nvSpPr>
        <p:spPr>
          <a:xfrm>
            <a:off x="8138160" y="1463040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87" name="Text 80"/>
          <p:cNvSpPr txBox="1"/>
          <p:nvPr/>
        </p:nvSpPr>
        <p:spPr>
          <a:xfrm>
            <a:off x="8202168" y="1463040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and CSV mapper</a:t>
            </a:r>
            <a:endParaRPr lang="en-US" sz="900" dirty="0"/>
          </a:p>
        </p:txBody>
      </p:sp>
      <p:sp>
        <p:nvSpPr>
          <p:cNvPr id="88" name="Shape 81"/>
          <p:cNvSpPr/>
          <p:nvPr/>
        </p:nvSpPr>
        <p:spPr>
          <a:xfrm>
            <a:off x="11002975" y="1487729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89" name="Text 82"/>
          <p:cNvSpPr txBox="1"/>
          <p:nvPr/>
        </p:nvSpPr>
        <p:spPr>
          <a:xfrm>
            <a:off x="11002975" y="1487729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90" name="Shape 83"/>
          <p:cNvSpPr/>
          <p:nvPr/>
        </p:nvSpPr>
        <p:spPr>
          <a:xfrm>
            <a:off x="8138160" y="1696212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91" name="Text 84"/>
          <p:cNvSpPr txBox="1"/>
          <p:nvPr/>
        </p:nvSpPr>
        <p:spPr>
          <a:xfrm>
            <a:off x="8202168" y="1696212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photo reader</a:t>
            </a:r>
            <a:endParaRPr lang="en-US" sz="900" dirty="0"/>
          </a:p>
        </p:txBody>
      </p:sp>
      <p:sp>
        <p:nvSpPr>
          <p:cNvPr id="92" name="Shape 85"/>
          <p:cNvSpPr/>
          <p:nvPr/>
        </p:nvSpPr>
        <p:spPr>
          <a:xfrm>
            <a:off x="11002975" y="1720901"/>
            <a:ext cx="7315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6B5"/>
            </a:solidFill>
            <a:prstDash val="solid"/>
          </a:ln>
        </p:spPr>
      </p:sp>
      <p:sp>
        <p:nvSpPr>
          <p:cNvPr id="93" name="Text 86"/>
          <p:cNvSpPr txBox="1"/>
          <p:nvPr/>
        </p:nvSpPr>
        <p:spPr>
          <a:xfrm>
            <a:off x="11002975" y="1720901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750" dirty="0"/>
          </a:p>
        </p:txBody>
      </p:sp>
      <p:sp>
        <p:nvSpPr>
          <p:cNvPr id="94" name="Shape 87"/>
          <p:cNvSpPr/>
          <p:nvPr/>
        </p:nvSpPr>
        <p:spPr>
          <a:xfrm>
            <a:off x="8138160" y="1929384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95" name="Text 88"/>
          <p:cNvSpPr txBox="1"/>
          <p:nvPr/>
        </p:nvSpPr>
        <p:spPr>
          <a:xfrm>
            <a:off x="8202168" y="1929384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and WhatsApp import</a:t>
            </a:r>
            <a:endParaRPr lang="en-US" sz="900" dirty="0"/>
          </a:p>
        </p:txBody>
      </p:sp>
      <p:sp>
        <p:nvSpPr>
          <p:cNvPr id="96" name="Shape 89"/>
          <p:cNvSpPr/>
          <p:nvPr/>
        </p:nvSpPr>
        <p:spPr>
          <a:xfrm>
            <a:off x="11002975" y="1954073"/>
            <a:ext cx="7315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6B5"/>
            </a:solidFill>
            <a:prstDash val="solid"/>
          </a:ln>
        </p:spPr>
      </p:sp>
      <p:sp>
        <p:nvSpPr>
          <p:cNvPr id="97" name="Text 90"/>
          <p:cNvSpPr txBox="1"/>
          <p:nvPr/>
        </p:nvSpPr>
        <p:spPr>
          <a:xfrm>
            <a:off x="11002975" y="1954073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750" dirty="0"/>
          </a:p>
        </p:txBody>
      </p:sp>
      <p:sp>
        <p:nvSpPr>
          <p:cNvPr id="98" name="Shape 91"/>
          <p:cNvSpPr/>
          <p:nvPr/>
        </p:nvSpPr>
        <p:spPr>
          <a:xfrm>
            <a:off x="8138160" y="2162556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99" name="Text 92"/>
          <p:cNvSpPr txBox="1"/>
          <p:nvPr/>
        </p:nvSpPr>
        <p:spPr>
          <a:xfrm>
            <a:off x="8202168" y="2162556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queue</a:t>
            </a:r>
            <a:endParaRPr lang="en-US" sz="900" dirty="0"/>
          </a:p>
        </p:txBody>
      </p:sp>
      <p:sp>
        <p:nvSpPr>
          <p:cNvPr id="100" name="Shape 93"/>
          <p:cNvSpPr/>
          <p:nvPr/>
        </p:nvSpPr>
        <p:spPr>
          <a:xfrm>
            <a:off x="11002975" y="2187245"/>
            <a:ext cx="7315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6B5"/>
            </a:solidFill>
            <a:prstDash val="solid"/>
          </a:ln>
        </p:spPr>
      </p:sp>
      <p:sp>
        <p:nvSpPr>
          <p:cNvPr id="101" name="Text 94"/>
          <p:cNvSpPr txBox="1"/>
          <p:nvPr/>
        </p:nvSpPr>
        <p:spPr>
          <a:xfrm>
            <a:off x="11002975" y="218724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750" dirty="0"/>
          </a:p>
        </p:txBody>
      </p:sp>
      <p:sp>
        <p:nvSpPr>
          <p:cNvPr id="102" name="Shape 95"/>
          <p:cNvSpPr/>
          <p:nvPr/>
        </p:nvSpPr>
        <p:spPr>
          <a:xfrm>
            <a:off x="7178040" y="2432304"/>
            <a:ext cx="960120" cy="69951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03" name="Text 96"/>
          <p:cNvSpPr txBox="1"/>
          <p:nvPr/>
        </p:nvSpPr>
        <p:spPr>
          <a:xfrm>
            <a:off x="7178040" y="2432304"/>
            <a:ext cx="96012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STRUCTURE</a:t>
            </a:r>
            <a:endParaRPr lang="en-US" sz="850" dirty="0"/>
          </a:p>
        </p:txBody>
      </p:sp>
      <p:sp>
        <p:nvSpPr>
          <p:cNvPr id="104" name="Shape 97"/>
          <p:cNvSpPr/>
          <p:nvPr/>
        </p:nvSpPr>
        <p:spPr>
          <a:xfrm>
            <a:off x="8138160" y="2432304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05" name="Text 98"/>
          <p:cNvSpPr txBox="1"/>
          <p:nvPr/>
        </p:nvSpPr>
        <p:spPr>
          <a:xfrm>
            <a:off x="8202168" y="2432304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answer keys</a:t>
            </a:r>
            <a:endParaRPr lang="en-US" sz="900" dirty="0"/>
          </a:p>
        </p:txBody>
      </p:sp>
      <p:sp>
        <p:nvSpPr>
          <p:cNvPr id="106" name="Shape 99"/>
          <p:cNvSpPr/>
          <p:nvPr/>
        </p:nvSpPr>
        <p:spPr>
          <a:xfrm>
            <a:off x="11002975" y="2456993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07" name="Text 100"/>
          <p:cNvSpPr txBox="1"/>
          <p:nvPr/>
        </p:nvSpPr>
        <p:spPr>
          <a:xfrm>
            <a:off x="11002975" y="2456993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08" name="Shape 101"/>
          <p:cNvSpPr/>
          <p:nvPr/>
        </p:nvSpPr>
        <p:spPr>
          <a:xfrm>
            <a:off x="8138160" y="2665476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09" name="Text 102"/>
          <p:cNvSpPr txBox="1"/>
          <p:nvPr/>
        </p:nvSpPr>
        <p:spPr>
          <a:xfrm>
            <a:off x="8202168" y="2665476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to topic tagging</a:t>
            </a:r>
            <a:endParaRPr lang="en-US" sz="900" dirty="0"/>
          </a:p>
        </p:txBody>
      </p:sp>
      <p:sp>
        <p:nvSpPr>
          <p:cNvPr id="110" name="Shape 103"/>
          <p:cNvSpPr/>
          <p:nvPr/>
        </p:nvSpPr>
        <p:spPr>
          <a:xfrm>
            <a:off x="11002975" y="2690165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11" name="Text 104"/>
          <p:cNvSpPr txBox="1"/>
          <p:nvPr/>
        </p:nvSpPr>
        <p:spPr>
          <a:xfrm>
            <a:off x="11002975" y="269016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12" name="Shape 105"/>
          <p:cNvSpPr/>
          <p:nvPr/>
        </p:nvSpPr>
        <p:spPr>
          <a:xfrm>
            <a:off x="8138160" y="2898648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13" name="Text 106"/>
          <p:cNvSpPr txBox="1"/>
          <p:nvPr/>
        </p:nvSpPr>
        <p:spPr>
          <a:xfrm>
            <a:off x="8202168" y="2898648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graph, 380 topics</a:t>
            </a:r>
            <a:endParaRPr lang="en-US" sz="900" dirty="0"/>
          </a:p>
        </p:txBody>
      </p:sp>
      <p:sp>
        <p:nvSpPr>
          <p:cNvPr id="114" name="Shape 107"/>
          <p:cNvSpPr/>
          <p:nvPr/>
        </p:nvSpPr>
        <p:spPr>
          <a:xfrm>
            <a:off x="11002975" y="2923337"/>
            <a:ext cx="73152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5" name="Text 108"/>
          <p:cNvSpPr txBox="1"/>
          <p:nvPr/>
        </p:nvSpPr>
        <p:spPr>
          <a:xfrm>
            <a:off x="11002975" y="2923337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750" dirty="0"/>
          </a:p>
        </p:txBody>
      </p:sp>
      <p:sp>
        <p:nvSpPr>
          <p:cNvPr id="116" name="Shape 109"/>
          <p:cNvSpPr/>
          <p:nvPr/>
        </p:nvSpPr>
        <p:spPr>
          <a:xfrm>
            <a:off x="7178040" y="3168396"/>
            <a:ext cx="960120" cy="9326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7" name="Text 110"/>
          <p:cNvSpPr txBox="1"/>
          <p:nvPr/>
        </p:nvSpPr>
        <p:spPr>
          <a:xfrm>
            <a:off x="7178040" y="3168396"/>
            <a:ext cx="960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INTELLIGENCE</a:t>
            </a:r>
            <a:endParaRPr lang="en-US" sz="850" dirty="0"/>
          </a:p>
        </p:txBody>
      </p:sp>
      <p:sp>
        <p:nvSpPr>
          <p:cNvPr id="118" name="Shape 111"/>
          <p:cNvSpPr/>
          <p:nvPr/>
        </p:nvSpPr>
        <p:spPr>
          <a:xfrm>
            <a:off x="8138160" y="3168396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19" name="Text 112"/>
          <p:cNvSpPr txBox="1"/>
          <p:nvPr/>
        </p:nvSpPr>
        <p:spPr>
          <a:xfrm>
            <a:off x="8202168" y="3168396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and wrong keys</a:t>
            </a:r>
            <a:endParaRPr lang="en-US" sz="900" dirty="0"/>
          </a:p>
        </p:txBody>
      </p:sp>
      <p:sp>
        <p:nvSpPr>
          <p:cNvPr id="120" name="Shape 113"/>
          <p:cNvSpPr/>
          <p:nvPr/>
        </p:nvSpPr>
        <p:spPr>
          <a:xfrm>
            <a:off x="11002975" y="3193085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21" name="Text 114"/>
          <p:cNvSpPr txBox="1"/>
          <p:nvPr/>
        </p:nvSpPr>
        <p:spPr>
          <a:xfrm>
            <a:off x="11002975" y="319308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22" name="Shape 115"/>
          <p:cNvSpPr/>
          <p:nvPr/>
        </p:nvSpPr>
        <p:spPr>
          <a:xfrm>
            <a:off x="8138160" y="3401568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23" name="Text 116"/>
          <p:cNvSpPr txBox="1"/>
          <p:nvPr/>
        </p:nvSpPr>
        <p:spPr>
          <a:xfrm>
            <a:off x="8202168" y="3401568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with doubt</a:t>
            </a:r>
            <a:endParaRPr lang="en-US" sz="900" dirty="0"/>
          </a:p>
        </p:txBody>
      </p:sp>
      <p:sp>
        <p:nvSpPr>
          <p:cNvPr id="124" name="Shape 117"/>
          <p:cNvSpPr/>
          <p:nvPr/>
        </p:nvSpPr>
        <p:spPr>
          <a:xfrm>
            <a:off x="11002975" y="3426257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25" name="Text 118"/>
          <p:cNvSpPr txBox="1"/>
          <p:nvPr/>
        </p:nvSpPr>
        <p:spPr>
          <a:xfrm>
            <a:off x="11002975" y="3426257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26" name="Shape 119"/>
          <p:cNvSpPr/>
          <p:nvPr/>
        </p:nvSpPr>
        <p:spPr>
          <a:xfrm>
            <a:off x="8138160" y="3634740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27" name="Text 120"/>
          <p:cNvSpPr txBox="1"/>
          <p:nvPr/>
        </p:nvSpPr>
        <p:spPr>
          <a:xfrm>
            <a:off x="8202168" y="3634740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warning, routed by age</a:t>
            </a:r>
            <a:endParaRPr lang="en-US" sz="900" dirty="0"/>
          </a:p>
        </p:txBody>
      </p:sp>
      <p:sp>
        <p:nvSpPr>
          <p:cNvPr id="128" name="Shape 121"/>
          <p:cNvSpPr/>
          <p:nvPr/>
        </p:nvSpPr>
        <p:spPr>
          <a:xfrm>
            <a:off x="11002975" y="3659429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29" name="Text 122"/>
          <p:cNvSpPr txBox="1"/>
          <p:nvPr/>
        </p:nvSpPr>
        <p:spPr>
          <a:xfrm>
            <a:off x="11002975" y="3659429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30" name="Shape 123"/>
          <p:cNvSpPr/>
          <p:nvPr/>
        </p:nvSpPr>
        <p:spPr>
          <a:xfrm>
            <a:off x="8138160" y="3867912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31" name="Text 124"/>
          <p:cNvSpPr txBox="1"/>
          <p:nvPr/>
        </p:nvSpPr>
        <p:spPr>
          <a:xfrm>
            <a:off x="8202168" y="3867912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</a:t>
            </a:r>
            <a:endParaRPr lang="en-US" sz="900" dirty="0"/>
          </a:p>
        </p:txBody>
      </p:sp>
      <p:sp>
        <p:nvSpPr>
          <p:cNvPr id="132" name="Shape 125"/>
          <p:cNvSpPr/>
          <p:nvPr/>
        </p:nvSpPr>
        <p:spPr>
          <a:xfrm>
            <a:off x="11002975" y="3892601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33" name="Text 126"/>
          <p:cNvSpPr txBox="1"/>
          <p:nvPr/>
        </p:nvSpPr>
        <p:spPr>
          <a:xfrm>
            <a:off x="11002975" y="3892601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34" name="Shape 127"/>
          <p:cNvSpPr/>
          <p:nvPr/>
        </p:nvSpPr>
        <p:spPr>
          <a:xfrm>
            <a:off x="7178040" y="4137660"/>
            <a:ext cx="960120" cy="9326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35" name="Text 128"/>
          <p:cNvSpPr txBox="1"/>
          <p:nvPr/>
        </p:nvSpPr>
        <p:spPr>
          <a:xfrm>
            <a:off x="7178040" y="4137660"/>
            <a:ext cx="960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DELIVER</a:t>
            </a:r>
            <a:endParaRPr lang="en-US" sz="850" dirty="0"/>
          </a:p>
        </p:txBody>
      </p:sp>
      <p:sp>
        <p:nvSpPr>
          <p:cNvPr id="136" name="Shape 129"/>
          <p:cNvSpPr/>
          <p:nvPr/>
        </p:nvSpPr>
        <p:spPr>
          <a:xfrm>
            <a:off x="8138160" y="4137660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37" name="Text 130"/>
          <p:cNvSpPr txBox="1"/>
          <p:nvPr/>
        </p:nvSpPr>
        <p:spPr>
          <a:xfrm>
            <a:off x="8202168" y="4137660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parent report</a:t>
            </a:r>
            <a:endParaRPr lang="en-US" sz="900" dirty="0"/>
          </a:p>
        </p:txBody>
      </p:sp>
      <p:sp>
        <p:nvSpPr>
          <p:cNvPr id="138" name="Shape 131"/>
          <p:cNvSpPr/>
          <p:nvPr/>
        </p:nvSpPr>
        <p:spPr>
          <a:xfrm>
            <a:off x="11002975" y="4162349"/>
            <a:ext cx="73152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39" name="Text 132"/>
          <p:cNvSpPr txBox="1"/>
          <p:nvPr/>
        </p:nvSpPr>
        <p:spPr>
          <a:xfrm>
            <a:off x="11002975" y="4162349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750" dirty="0"/>
          </a:p>
        </p:txBody>
      </p:sp>
      <p:sp>
        <p:nvSpPr>
          <p:cNvPr id="140" name="Shape 133"/>
          <p:cNvSpPr/>
          <p:nvPr/>
        </p:nvSpPr>
        <p:spPr>
          <a:xfrm>
            <a:off x="8138160" y="4370832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41" name="Text 134"/>
          <p:cNvSpPr txBox="1"/>
          <p:nvPr/>
        </p:nvSpPr>
        <p:spPr>
          <a:xfrm>
            <a:off x="8202168" y="4370832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and mentor views</a:t>
            </a:r>
            <a:endParaRPr lang="en-US" sz="900" dirty="0"/>
          </a:p>
        </p:txBody>
      </p:sp>
      <p:sp>
        <p:nvSpPr>
          <p:cNvPr id="142" name="Shape 135"/>
          <p:cNvSpPr/>
          <p:nvPr/>
        </p:nvSpPr>
        <p:spPr>
          <a:xfrm>
            <a:off x="11002975" y="4395521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43" name="Text 136"/>
          <p:cNvSpPr txBox="1"/>
          <p:nvPr/>
        </p:nvSpPr>
        <p:spPr>
          <a:xfrm>
            <a:off x="11002975" y="4395521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44" name="Shape 137"/>
          <p:cNvSpPr/>
          <p:nvPr/>
        </p:nvSpPr>
        <p:spPr>
          <a:xfrm>
            <a:off x="8138160" y="4604004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45" name="Text 138"/>
          <p:cNvSpPr txBox="1"/>
          <p:nvPr/>
        </p:nvSpPr>
        <p:spPr>
          <a:xfrm>
            <a:off x="8202168" y="4604004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</a:t>
            </a:r>
            <a:endParaRPr lang="en-US" sz="900" dirty="0"/>
          </a:p>
        </p:txBody>
      </p:sp>
      <p:sp>
        <p:nvSpPr>
          <p:cNvPr id="146" name="Shape 139"/>
          <p:cNvSpPr/>
          <p:nvPr/>
        </p:nvSpPr>
        <p:spPr>
          <a:xfrm>
            <a:off x="11002975" y="4628693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47" name="Text 140"/>
          <p:cNvSpPr txBox="1"/>
          <p:nvPr/>
        </p:nvSpPr>
        <p:spPr>
          <a:xfrm>
            <a:off x="11002975" y="4628693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48" name="Shape 141"/>
          <p:cNvSpPr/>
          <p:nvPr/>
        </p:nvSpPr>
        <p:spPr>
          <a:xfrm>
            <a:off x="8138160" y="4837176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49" name="Text 142"/>
          <p:cNvSpPr txBox="1"/>
          <p:nvPr/>
        </p:nvSpPr>
        <p:spPr>
          <a:xfrm>
            <a:off x="8202168" y="4837176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English</a:t>
            </a:r>
            <a:endParaRPr lang="en-US" sz="900" dirty="0"/>
          </a:p>
        </p:txBody>
      </p:sp>
      <p:sp>
        <p:nvSpPr>
          <p:cNvPr id="150" name="Shape 143"/>
          <p:cNvSpPr/>
          <p:nvPr/>
        </p:nvSpPr>
        <p:spPr>
          <a:xfrm>
            <a:off x="11002975" y="4861865"/>
            <a:ext cx="73152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1" name="Text 144"/>
          <p:cNvSpPr txBox="1"/>
          <p:nvPr/>
        </p:nvSpPr>
        <p:spPr>
          <a:xfrm>
            <a:off x="11002975" y="486186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750" dirty="0"/>
          </a:p>
        </p:txBody>
      </p:sp>
      <p:sp>
        <p:nvSpPr>
          <p:cNvPr id="152" name="Shape 145"/>
          <p:cNvSpPr/>
          <p:nvPr/>
        </p:nvSpPr>
        <p:spPr>
          <a:xfrm>
            <a:off x="7178040" y="5120640"/>
            <a:ext cx="4602175" cy="749808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53" name="Text 146"/>
          <p:cNvSpPr txBox="1"/>
          <p:nvPr/>
        </p:nvSpPr>
        <p:spPr>
          <a:xfrm>
            <a:off x="7269480" y="5157216"/>
            <a:ext cx="44192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Local-first: laptop, local database, small local models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always send: a template covers any AI failure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 read on the phone; 2 KB of answers uploaded</a:t>
            </a:r>
            <a:endParaRPr lang="en-US" sz="850" dirty="0"/>
          </a:p>
        </p:txBody>
      </p:sp>
      <p:sp>
        <p:nvSpPr>
          <p:cNvPr id="154" name="Shape 147"/>
          <p:cNvSpPr/>
          <p:nvPr/>
        </p:nvSpPr>
        <p:spPr>
          <a:xfrm>
            <a:off x="411480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5" name="Text 148"/>
          <p:cNvSpPr txBox="1"/>
          <p:nvPr/>
        </p:nvSpPr>
        <p:spPr>
          <a:xfrm>
            <a:off x="411480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all isolated</a:t>
            </a:r>
            <a:endParaRPr lang="en-US" sz="1400" dirty="0"/>
          </a:p>
        </p:txBody>
      </p:sp>
      <p:sp>
        <p:nvSpPr>
          <p:cNvPr id="156" name="Shape 149"/>
          <p:cNvSpPr/>
          <p:nvPr/>
        </p:nvSpPr>
        <p:spPr>
          <a:xfrm>
            <a:off x="2703515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7" name="Text 150"/>
          <p:cNvSpPr txBox="1"/>
          <p:nvPr/>
        </p:nvSpPr>
        <p:spPr>
          <a:xfrm>
            <a:off x="2703515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400" dirty="0"/>
          </a:p>
        </p:txBody>
      </p:sp>
      <p:sp>
        <p:nvSpPr>
          <p:cNvPr id="158" name="Shape 151"/>
          <p:cNvSpPr/>
          <p:nvPr/>
        </p:nvSpPr>
        <p:spPr>
          <a:xfrm>
            <a:off x="4995550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9" name="Text 152"/>
          <p:cNvSpPr txBox="1"/>
          <p:nvPr/>
        </p:nvSpPr>
        <p:spPr>
          <a:xfrm>
            <a:off x="4995550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topics</a:t>
            </a:r>
            <a:endParaRPr lang="en-US" sz="1400" dirty="0"/>
          </a:p>
        </p:txBody>
      </p:sp>
      <p:sp>
        <p:nvSpPr>
          <p:cNvPr id="160" name="Shape 153"/>
          <p:cNvSpPr/>
          <p:nvPr/>
        </p:nvSpPr>
        <p:spPr>
          <a:xfrm>
            <a:off x="7287585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1" name="Text 154"/>
          <p:cNvSpPr txBox="1"/>
          <p:nvPr/>
        </p:nvSpPr>
        <p:spPr>
          <a:xfrm>
            <a:off x="7287585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400" dirty="0"/>
          </a:p>
        </p:txBody>
      </p:sp>
      <p:sp>
        <p:nvSpPr>
          <p:cNvPr id="162" name="Shape 155"/>
          <p:cNvSpPr/>
          <p:nvPr/>
        </p:nvSpPr>
        <p:spPr>
          <a:xfrm>
            <a:off x="9579620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3" name="Text 156"/>
          <p:cNvSpPr txBox="1"/>
          <p:nvPr/>
        </p:nvSpPr>
        <p:spPr>
          <a:xfrm>
            <a:off x="9579620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 a month</a:t>
            </a:r>
            <a:endParaRPr lang="en-US" sz="1400" dirty="0"/>
          </a:p>
        </p:txBody>
      </p:sp>
      <p:sp>
        <p:nvSpPr>
          <p:cNvPr id="164" name="Text 157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technical/contracts (31 tables, 23 endpoints, 380 topics); tenant isolation tested on PostgreSQL 16; test suites; financial model v1.1 (₹3.6 all-in, Base). Status: BUILT has working code and tests.</a:t>
            </a:r>
            <a:endParaRPr lang="en-US" sz="850" dirty="0"/>
          </a:p>
        </p:txBody>
      </p:sp>
      <p:pic>
        <p:nvPicPr>
          <p:cNvPr id="165" name="Image 4" descr="hand-drawn circle_c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0784" y="3547872"/>
            <a:ext cx="1554480" cy="1024128"/>
          </a:xfrm>
          <a:prstGeom prst="rect">
            <a:avLst/>
          </a:prstGeom>
        </p:spPr>
      </p:pic>
      <p:sp>
        <p:nvSpPr>
          <p:cNvPr id="166" name="Shape 158"/>
          <p:cNvSpPr/>
          <p:nvPr/>
        </p:nvSpPr>
        <p:spPr>
          <a:xfrm rot="-120000">
            <a:off x="1874520" y="4718304"/>
            <a:ext cx="1371600" cy="310896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67" name="Shape 159"/>
          <p:cNvSpPr/>
          <p:nvPr/>
        </p:nvSpPr>
        <p:spPr>
          <a:xfrm rot="-120000">
            <a:off x="1828800" y="4663440"/>
            <a:ext cx="1371600" cy="310896"/>
          </a:xfrm>
          <a:prstGeom prst="rect">
            <a:avLst/>
          </a:prstGeom>
          <a:solidFill>
            <a:srgbClr val="F7BFD0"/>
          </a:solidFill>
          <a:ln/>
        </p:spPr>
      </p:sp>
      <p:sp>
        <p:nvSpPr>
          <p:cNvPr id="168" name="Text 160"/>
          <p:cNvSpPr txBox="1"/>
          <p:nvPr/>
        </p:nvSpPr>
        <p:spPr>
          <a:xfrm rot="-120000">
            <a:off x="1883664" y="470001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2C4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trust is the moat</a:t>
            </a:r>
            <a:endParaRPr lang="en-US" sz="850" dirty="0"/>
          </a:p>
        </p:txBody>
      </p:sp>
      <p:pic>
        <p:nvPicPr>
          <p:cNvPr id="169" name="Image 5" descr="D:\Professional Work\Business\FC_Case_Dhruvi\presentation\source\assets\doodle_tap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72000">
            <a:off x="2240280" y="4572000"/>
            <a:ext cx="548640" cy="173736"/>
          </a:xfrm>
          <a:prstGeom prst="rect">
            <a:avLst/>
          </a:prstGeom>
        </p:spPr>
      </p:pic>
      <p:pic>
        <p:nvPicPr>
          <p:cNvPr id="170" name="Image 6" descr="owner curso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1360" y="5486400"/>
            <a:ext cx="777240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EVERY STUDENT'S WEAK TOPICS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 knows each student's weak topics, topic by topic, and tells the teacher how sure it 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521208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15568"/>
            <a:ext cx="4992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TEACHER SEES: STUDENT x TOPIC MASTERY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678424" y="1115568"/>
            <a:ext cx="0" cy="33832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502920" y="1481328"/>
            <a:ext cx="50292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4300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69164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motion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224028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and energy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278892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333756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388620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443484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498348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" y="20482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S-101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16128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37" name="Shape 34"/>
          <p:cNvSpPr/>
          <p:nvPr/>
        </p:nvSpPr>
        <p:spPr>
          <a:xfrm>
            <a:off x="170992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38" name="Shape 35"/>
          <p:cNvSpPr/>
          <p:nvPr/>
        </p:nvSpPr>
        <p:spPr>
          <a:xfrm>
            <a:off x="2258568" y="206654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39" name="Shape 36"/>
          <p:cNvSpPr/>
          <p:nvPr/>
        </p:nvSpPr>
        <p:spPr>
          <a:xfrm>
            <a:off x="2807208" y="206654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0" name="Shape 37"/>
          <p:cNvSpPr/>
          <p:nvPr/>
        </p:nvSpPr>
        <p:spPr>
          <a:xfrm>
            <a:off x="335584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41" name="Shape 38"/>
          <p:cNvSpPr/>
          <p:nvPr/>
        </p:nvSpPr>
        <p:spPr>
          <a:xfrm>
            <a:off x="390448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42" name="Shape 39"/>
          <p:cNvSpPr/>
          <p:nvPr/>
        </p:nvSpPr>
        <p:spPr>
          <a:xfrm>
            <a:off x="4453128" y="206654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3" name="Shape 40"/>
          <p:cNvSpPr/>
          <p:nvPr/>
        </p:nvSpPr>
        <p:spPr>
          <a:xfrm>
            <a:off x="500176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94360" y="22677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S-108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1161288" y="228600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6" name="Shape 43"/>
          <p:cNvSpPr/>
          <p:nvPr/>
        </p:nvSpPr>
        <p:spPr>
          <a:xfrm>
            <a:off x="1709928" y="2286000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7" name="Shape 44"/>
          <p:cNvSpPr/>
          <p:nvPr/>
        </p:nvSpPr>
        <p:spPr>
          <a:xfrm>
            <a:off x="2258568" y="228600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8" name="Shape 45"/>
          <p:cNvSpPr/>
          <p:nvPr/>
        </p:nvSpPr>
        <p:spPr>
          <a:xfrm>
            <a:off x="2807208" y="228600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9" name="Shape 46"/>
          <p:cNvSpPr/>
          <p:nvPr/>
        </p:nvSpPr>
        <p:spPr>
          <a:xfrm>
            <a:off x="3355848" y="2286000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0" name="Shape 47"/>
          <p:cNvSpPr/>
          <p:nvPr/>
        </p:nvSpPr>
        <p:spPr>
          <a:xfrm>
            <a:off x="3904488" y="2286000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1" name="Shape 48"/>
          <p:cNvSpPr/>
          <p:nvPr/>
        </p:nvSpPr>
        <p:spPr>
          <a:xfrm>
            <a:off x="4453128" y="2286000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2" name="Shape 49"/>
          <p:cNvSpPr/>
          <p:nvPr/>
        </p:nvSpPr>
        <p:spPr>
          <a:xfrm>
            <a:off x="5001768" y="228600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594360" y="24871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S-115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116128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5" name="Shape 52"/>
          <p:cNvSpPr/>
          <p:nvPr/>
        </p:nvSpPr>
        <p:spPr>
          <a:xfrm>
            <a:off x="170992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6" name="Shape 53"/>
          <p:cNvSpPr/>
          <p:nvPr/>
        </p:nvSpPr>
        <p:spPr>
          <a:xfrm>
            <a:off x="2258568" y="250545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57" name="Shape 54"/>
          <p:cNvSpPr/>
          <p:nvPr/>
        </p:nvSpPr>
        <p:spPr>
          <a:xfrm>
            <a:off x="2807208" y="250545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58" name="Shape 55"/>
          <p:cNvSpPr/>
          <p:nvPr/>
        </p:nvSpPr>
        <p:spPr>
          <a:xfrm>
            <a:off x="335584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9" name="Shape 56"/>
          <p:cNvSpPr/>
          <p:nvPr/>
        </p:nvSpPr>
        <p:spPr>
          <a:xfrm>
            <a:off x="390448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60" name="Shape 57"/>
          <p:cNvSpPr/>
          <p:nvPr/>
        </p:nvSpPr>
        <p:spPr>
          <a:xfrm>
            <a:off x="445312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61" name="Shape 58"/>
          <p:cNvSpPr/>
          <p:nvPr/>
        </p:nvSpPr>
        <p:spPr>
          <a:xfrm>
            <a:off x="5001768" y="2505456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594360" y="27066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S-122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1161288" y="2724912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4" name="Shape 61"/>
          <p:cNvSpPr/>
          <p:nvPr/>
        </p:nvSpPr>
        <p:spPr>
          <a:xfrm>
            <a:off x="1709928" y="2724912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5" name="Shape 62"/>
          <p:cNvSpPr/>
          <p:nvPr/>
        </p:nvSpPr>
        <p:spPr>
          <a:xfrm>
            <a:off x="2258568" y="2724912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6" name="Shape 63"/>
          <p:cNvSpPr/>
          <p:nvPr/>
        </p:nvSpPr>
        <p:spPr>
          <a:xfrm>
            <a:off x="2807208" y="2724912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7" name="Shape 64"/>
          <p:cNvSpPr/>
          <p:nvPr/>
        </p:nvSpPr>
        <p:spPr>
          <a:xfrm>
            <a:off x="3355848" y="2724912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68" name="Shape 65"/>
          <p:cNvSpPr/>
          <p:nvPr/>
        </p:nvSpPr>
        <p:spPr>
          <a:xfrm>
            <a:off x="3904488" y="272491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69" name="Shape 66"/>
          <p:cNvSpPr/>
          <p:nvPr/>
        </p:nvSpPr>
        <p:spPr>
          <a:xfrm>
            <a:off x="4453128" y="2724912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0" name="Shape 67"/>
          <p:cNvSpPr/>
          <p:nvPr/>
        </p:nvSpPr>
        <p:spPr>
          <a:xfrm>
            <a:off x="5001768" y="272491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594360" y="29260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S-129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1161288" y="2944368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3" name="Shape 70"/>
          <p:cNvSpPr/>
          <p:nvPr/>
        </p:nvSpPr>
        <p:spPr>
          <a:xfrm>
            <a:off x="1709928" y="2944368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4" name="Shape 71"/>
          <p:cNvSpPr/>
          <p:nvPr/>
        </p:nvSpPr>
        <p:spPr>
          <a:xfrm>
            <a:off x="2258568" y="2944368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5" name="Shape 72"/>
          <p:cNvSpPr/>
          <p:nvPr/>
        </p:nvSpPr>
        <p:spPr>
          <a:xfrm>
            <a:off x="2807208" y="2944368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6" name="Shape 73"/>
          <p:cNvSpPr/>
          <p:nvPr/>
        </p:nvSpPr>
        <p:spPr>
          <a:xfrm>
            <a:off x="3355848" y="2944368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7" name="Shape 74"/>
          <p:cNvSpPr/>
          <p:nvPr/>
        </p:nvSpPr>
        <p:spPr>
          <a:xfrm>
            <a:off x="3904488" y="2944368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8" name="Shape 75"/>
          <p:cNvSpPr/>
          <p:nvPr/>
        </p:nvSpPr>
        <p:spPr>
          <a:xfrm>
            <a:off x="4453128" y="2944368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9" name="Shape 76"/>
          <p:cNvSpPr/>
          <p:nvPr/>
        </p:nvSpPr>
        <p:spPr>
          <a:xfrm>
            <a:off x="5001768" y="2944368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594360" y="31455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S-136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116128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2" name="Shape 79"/>
          <p:cNvSpPr/>
          <p:nvPr/>
        </p:nvSpPr>
        <p:spPr>
          <a:xfrm>
            <a:off x="170992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3" name="Shape 80"/>
          <p:cNvSpPr/>
          <p:nvPr/>
        </p:nvSpPr>
        <p:spPr>
          <a:xfrm>
            <a:off x="225856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4" name="Shape 81"/>
          <p:cNvSpPr/>
          <p:nvPr/>
        </p:nvSpPr>
        <p:spPr>
          <a:xfrm>
            <a:off x="2807208" y="3163824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5" name="Shape 82"/>
          <p:cNvSpPr/>
          <p:nvPr/>
        </p:nvSpPr>
        <p:spPr>
          <a:xfrm>
            <a:off x="3355848" y="316382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86" name="Shape 83"/>
          <p:cNvSpPr/>
          <p:nvPr/>
        </p:nvSpPr>
        <p:spPr>
          <a:xfrm>
            <a:off x="390448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7" name="Shape 84"/>
          <p:cNvSpPr/>
          <p:nvPr/>
        </p:nvSpPr>
        <p:spPr>
          <a:xfrm>
            <a:off x="445312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8" name="Shape 85"/>
          <p:cNvSpPr/>
          <p:nvPr/>
        </p:nvSpPr>
        <p:spPr>
          <a:xfrm>
            <a:off x="500176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594360" y="33649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S-143</a:t>
            </a:r>
            <a:endParaRPr lang="en-US" sz="900" dirty="0"/>
          </a:p>
        </p:txBody>
      </p:sp>
      <p:sp>
        <p:nvSpPr>
          <p:cNvPr id="90" name="Shape 87"/>
          <p:cNvSpPr/>
          <p:nvPr/>
        </p:nvSpPr>
        <p:spPr>
          <a:xfrm>
            <a:off x="1161288" y="338328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1" name="Shape 88"/>
          <p:cNvSpPr/>
          <p:nvPr/>
        </p:nvSpPr>
        <p:spPr>
          <a:xfrm>
            <a:off x="1709928" y="338328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2" name="Shape 89"/>
          <p:cNvSpPr/>
          <p:nvPr/>
        </p:nvSpPr>
        <p:spPr>
          <a:xfrm>
            <a:off x="2258568" y="3383280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3" name="Shape 90"/>
          <p:cNvSpPr/>
          <p:nvPr/>
        </p:nvSpPr>
        <p:spPr>
          <a:xfrm>
            <a:off x="2807208" y="338328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4" name="Shape 91"/>
          <p:cNvSpPr/>
          <p:nvPr/>
        </p:nvSpPr>
        <p:spPr>
          <a:xfrm>
            <a:off x="3355848" y="3383280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5" name="Shape 92"/>
          <p:cNvSpPr/>
          <p:nvPr/>
        </p:nvSpPr>
        <p:spPr>
          <a:xfrm>
            <a:off x="3904488" y="3383280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96" name="Shape 93"/>
          <p:cNvSpPr/>
          <p:nvPr/>
        </p:nvSpPr>
        <p:spPr>
          <a:xfrm>
            <a:off x="4453128" y="3383280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7" name="Shape 94"/>
          <p:cNvSpPr/>
          <p:nvPr/>
        </p:nvSpPr>
        <p:spPr>
          <a:xfrm>
            <a:off x="5001768" y="338328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8" name="Text 95"/>
          <p:cNvSpPr txBox="1"/>
          <p:nvPr/>
        </p:nvSpPr>
        <p:spPr>
          <a:xfrm>
            <a:off x="594360" y="35844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S-150</a:t>
            </a:r>
            <a:endParaRPr lang="en-US" sz="900" dirty="0"/>
          </a:p>
        </p:txBody>
      </p:sp>
      <p:sp>
        <p:nvSpPr>
          <p:cNvPr id="99" name="Shape 96"/>
          <p:cNvSpPr/>
          <p:nvPr/>
        </p:nvSpPr>
        <p:spPr>
          <a:xfrm>
            <a:off x="116128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0" name="Shape 97"/>
          <p:cNvSpPr/>
          <p:nvPr/>
        </p:nvSpPr>
        <p:spPr>
          <a:xfrm>
            <a:off x="170992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1" name="Shape 98"/>
          <p:cNvSpPr/>
          <p:nvPr/>
        </p:nvSpPr>
        <p:spPr>
          <a:xfrm>
            <a:off x="225856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2" name="Shape 99"/>
          <p:cNvSpPr/>
          <p:nvPr/>
        </p:nvSpPr>
        <p:spPr>
          <a:xfrm>
            <a:off x="2807208" y="360273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03" name="Shape 100"/>
          <p:cNvSpPr/>
          <p:nvPr/>
        </p:nvSpPr>
        <p:spPr>
          <a:xfrm>
            <a:off x="3355848" y="360273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04" name="Shape 101"/>
          <p:cNvSpPr/>
          <p:nvPr/>
        </p:nvSpPr>
        <p:spPr>
          <a:xfrm>
            <a:off x="390448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5" name="Shape 102"/>
          <p:cNvSpPr/>
          <p:nvPr/>
        </p:nvSpPr>
        <p:spPr>
          <a:xfrm>
            <a:off x="445312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6" name="Shape 103"/>
          <p:cNvSpPr/>
          <p:nvPr/>
        </p:nvSpPr>
        <p:spPr>
          <a:xfrm>
            <a:off x="500176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7" name="Text 104"/>
          <p:cNvSpPr txBox="1"/>
          <p:nvPr/>
        </p:nvSpPr>
        <p:spPr>
          <a:xfrm>
            <a:off x="594360" y="38039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S-157</a:t>
            </a:r>
            <a:endParaRPr lang="en-US" sz="900" dirty="0"/>
          </a:p>
        </p:txBody>
      </p:sp>
      <p:sp>
        <p:nvSpPr>
          <p:cNvPr id="108" name="Shape 105"/>
          <p:cNvSpPr/>
          <p:nvPr/>
        </p:nvSpPr>
        <p:spPr>
          <a:xfrm>
            <a:off x="116128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9" name="Shape 106"/>
          <p:cNvSpPr/>
          <p:nvPr/>
        </p:nvSpPr>
        <p:spPr>
          <a:xfrm>
            <a:off x="170992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0" name="Shape 107"/>
          <p:cNvSpPr/>
          <p:nvPr/>
        </p:nvSpPr>
        <p:spPr>
          <a:xfrm>
            <a:off x="225856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1" name="Shape 108"/>
          <p:cNvSpPr/>
          <p:nvPr/>
        </p:nvSpPr>
        <p:spPr>
          <a:xfrm>
            <a:off x="280720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2" name="Shape 109"/>
          <p:cNvSpPr/>
          <p:nvPr/>
        </p:nvSpPr>
        <p:spPr>
          <a:xfrm>
            <a:off x="3355848" y="3822192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13" name="Shape 110"/>
          <p:cNvSpPr/>
          <p:nvPr/>
        </p:nvSpPr>
        <p:spPr>
          <a:xfrm>
            <a:off x="390448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4" name="Shape 111"/>
          <p:cNvSpPr/>
          <p:nvPr/>
        </p:nvSpPr>
        <p:spPr>
          <a:xfrm>
            <a:off x="445312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5" name="Shape 112"/>
          <p:cNvSpPr/>
          <p:nvPr/>
        </p:nvSpPr>
        <p:spPr>
          <a:xfrm>
            <a:off x="500176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6" name="Shape 113"/>
          <p:cNvSpPr/>
          <p:nvPr/>
        </p:nvSpPr>
        <p:spPr>
          <a:xfrm>
            <a:off x="3342132" y="2029968"/>
            <a:ext cx="539496" cy="2011680"/>
          </a:xfrm>
          <a:prstGeom prst="roundRect">
            <a:avLst>
              <a:gd name="adj" fmla="val 10169"/>
            </a:avLst>
          </a:prstGeom>
          <a:ln w="25400">
            <a:solidFill>
              <a:srgbClr val="17325C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612648" y="4160520"/>
            <a:ext cx="182880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8" name="Text 115"/>
          <p:cNvSpPr txBox="1"/>
          <p:nvPr/>
        </p:nvSpPr>
        <p:spPr>
          <a:xfrm>
            <a:off x="868680" y="4096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data</a:t>
            </a:r>
            <a:endParaRPr lang="en-US" sz="1100" dirty="0"/>
          </a:p>
        </p:txBody>
      </p:sp>
      <p:sp>
        <p:nvSpPr>
          <p:cNvPr id="119" name="Shape 116"/>
          <p:cNvSpPr/>
          <p:nvPr/>
        </p:nvSpPr>
        <p:spPr>
          <a:xfrm>
            <a:off x="2263140" y="4160520"/>
            <a:ext cx="182880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2519172" y="4096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100" dirty="0"/>
          </a:p>
        </p:txBody>
      </p:sp>
      <p:sp>
        <p:nvSpPr>
          <p:cNvPr id="121" name="Shape 118"/>
          <p:cNvSpPr/>
          <p:nvPr/>
        </p:nvSpPr>
        <p:spPr>
          <a:xfrm>
            <a:off x="3369564" y="4160520"/>
            <a:ext cx="182880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3625596" y="4096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</a:t>
            </a:r>
            <a:endParaRPr lang="en-US" sz="1100" dirty="0"/>
          </a:p>
        </p:txBody>
      </p:sp>
      <p:sp>
        <p:nvSpPr>
          <p:cNvPr id="123" name="Shape 120"/>
          <p:cNvSpPr/>
          <p:nvPr/>
        </p:nvSpPr>
        <p:spPr>
          <a:xfrm>
            <a:off x="4320540" y="4160520"/>
            <a:ext cx="18288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4576572" y="4096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125" name="Shape 122"/>
          <p:cNvSpPr/>
          <p:nvPr/>
        </p:nvSpPr>
        <p:spPr>
          <a:xfrm>
            <a:off x="3657600" y="1426464"/>
            <a:ext cx="256032" cy="256032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6" name="Text 123"/>
          <p:cNvSpPr txBox="1"/>
          <p:nvPr/>
        </p:nvSpPr>
        <p:spPr>
          <a:xfrm>
            <a:off x="3657600" y="1426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7" name="Shape 124"/>
          <p:cNvSpPr/>
          <p:nvPr/>
        </p:nvSpPr>
        <p:spPr>
          <a:xfrm>
            <a:off x="5074920" y="4069080"/>
            <a:ext cx="256032" cy="256032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8" name="Text 125"/>
          <p:cNvSpPr txBox="1"/>
          <p:nvPr/>
        </p:nvSpPr>
        <p:spPr>
          <a:xfrm>
            <a:off x="507492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9" name="Shape 126"/>
          <p:cNvSpPr/>
          <p:nvPr/>
        </p:nvSpPr>
        <p:spPr>
          <a:xfrm>
            <a:off x="411480" y="4617720"/>
            <a:ext cx="219456" cy="219456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0" name="Text 127"/>
          <p:cNvSpPr txBox="1"/>
          <p:nvPr/>
        </p:nvSpPr>
        <p:spPr>
          <a:xfrm>
            <a:off x="411480" y="4617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1" name="Text 128"/>
          <p:cNvSpPr txBox="1"/>
          <p:nvPr/>
        </p:nvSpPr>
        <p:spPr>
          <a:xfrm>
            <a:off x="722376" y="45720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low for the whole batch: probably not taught yet, not weak students.</a:t>
            </a:r>
            <a:endParaRPr lang="en-US" sz="900" dirty="0"/>
          </a:p>
        </p:txBody>
      </p:sp>
      <p:sp>
        <p:nvSpPr>
          <p:cNvPr id="132" name="Shape 129"/>
          <p:cNvSpPr/>
          <p:nvPr/>
        </p:nvSpPr>
        <p:spPr>
          <a:xfrm>
            <a:off x="411480" y="4946904"/>
            <a:ext cx="219456" cy="219456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3" name="Text 130"/>
          <p:cNvSpPr txBox="1"/>
          <p:nvPr/>
        </p:nvSpPr>
        <p:spPr>
          <a:xfrm>
            <a:off x="411480" y="49469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4" name="Text 131"/>
          <p:cNvSpPr txBox="1"/>
          <p:nvPr/>
        </p:nvSpPr>
        <p:spPr>
          <a:xfrm>
            <a:off x="722376" y="49011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Bands, not scores: building, steady, strong, or “not enough data”.</a:t>
            </a:r>
            <a:endParaRPr lang="en-US" sz="900" dirty="0"/>
          </a:p>
        </p:txBody>
      </p:sp>
      <p:sp>
        <p:nvSpPr>
          <p:cNvPr id="135" name="Shape 132"/>
          <p:cNvSpPr/>
          <p:nvPr/>
        </p:nvSpPr>
        <p:spPr>
          <a:xfrm>
            <a:off x="411480" y="5276088"/>
            <a:ext cx="219456" cy="219456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6" name="Text 133"/>
          <p:cNvSpPr txBox="1"/>
          <p:nvPr/>
        </p:nvSpPr>
        <p:spPr>
          <a:xfrm>
            <a:off x="411480" y="5276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7" name="Text 134"/>
          <p:cNvSpPr txBox="1"/>
          <p:nvPr/>
        </p:nvSpPr>
        <p:spPr>
          <a:xfrm>
            <a:off x="722376" y="52303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the best students miss is flagged as a likely wrong key.</a:t>
            </a:r>
            <a:endParaRPr lang="en-US" sz="900" dirty="0"/>
          </a:p>
        </p:txBody>
      </p:sp>
      <p:sp>
        <p:nvSpPr>
          <p:cNvPr id="138" name="Text 135"/>
          <p:cNvSpPr txBox="1"/>
          <p:nvPr/>
        </p:nvSpPr>
        <p:spPr>
          <a:xfrm>
            <a:off x="411480" y="5650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60-STUDENT BATCH IS ENOUGH</a:t>
            </a:r>
            <a:endParaRPr lang="en-US" sz="850" dirty="0"/>
          </a:p>
        </p:txBody>
      </p:sp>
      <p:sp>
        <p:nvSpPr>
          <p:cNvPr id="139" name="Shape 136"/>
          <p:cNvSpPr/>
          <p:nvPr/>
        </p:nvSpPr>
        <p:spPr>
          <a:xfrm>
            <a:off x="411480" y="589788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140" name="Text 137"/>
          <p:cNvSpPr txBox="1"/>
          <p:nvPr/>
        </p:nvSpPr>
        <p:spPr>
          <a:xfrm>
            <a:off x="411480" y="58978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A</a:t>
            </a:r>
            <a:endParaRPr lang="en-US" sz="850" dirty="0"/>
          </a:p>
        </p:txBody>
      </p:sp>
      <p:sp>
        <p:nvSpPr>
          <p:cNvPr id="141" name="Shape 138"/>
          <p:cNvSpPr/>
          <p:nvPr/>
        </p:nvSpPr>
        <p:spPr>
          <a:xfrm>
            <a:off x="1325880" y="589788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1325880" y="58978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B</a:t>
            </a:r>
            <a:endParaRPr lang="en-US" sz="850" dirty="0"/>
          </a:p>
        </p:txBody>
      </p:sp>
      <p:sp>
        <p:nvSpPr>
          <p:cNvPr id="143" name="Shape 140"/>
          <p:cNvSpPr/>
          <p:nvPr/>
        </p:nvSpPr>
        <p:spPr>
          <a:xfrm>
            <a:off x="2240280" y="589788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2240280" y="58978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C</a:t>
            </a:r>
            <a:endParaRPr lang="en-US" sz="850" dirty="0"/>
          </a:p>
        </p:txBody>
      </p:sp>
      <p:sp>
        <p:nvSpPr>
          <p:cNvPr id="145" name="Shape 142"/>
          <p:cNvSpPr/>
          <p:nvPr/>
        </p:nvSpPr>
        <p:spPr>
          <a:xfrm>
            <a:off x="3154680" y="6007608"/>
            <a:ext cx="457200" cy="0"/>
          </a:xfrm>
          <a:prstGeom prst="line">
            <a:avLst/>
          </a:prstGeom>
          <a:noFill/>
          <a:ln w="2540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146" name="Shape 143"/>
          <p:cNvSpPr/>
          <p:nvPr/>
        </p:nvSpPr>
        <p:spPr>
          <a:xfrm>
            <a:off x="3657600" y="589788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1F4A82"/>
          </a:solidFill>
          <a:ln/>
        </p:spPr>
      </p:sp>
      <p:sp>
        <p:nvSpPr>
          <p:cNvPr id="147" name="Text 144"/>
          <p:cNvSpPr txBox="1"/>
          <p:nvPr/>
        </p:nvSpPr>
        <p:spPr>
          <a:xfrm>
            <a:off x="3657600" y="58978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item bank</a:t>
            </a:r>
            <a:endParaRPr lang="en-US" sz="850" dirty="0"/>
          </a:p>
        </p:txBody>
      </p:sp>
      <p:sp>
        <p:nvSpPr>
          <p:cNvPr id="148" name="Shape 145"/>
          <p:cNvSpPr/>
          <p:nvPr/>
        </p:nvSpPr>
        <p:spPr>
          <a:xfrm>
            <a:off x="4846320" y="5907024"/>
            <a:ext cx="63779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49" name="Text 146"/>
          <p:cNvSpPr txBox="1"/>
          <p:nvPr/>
        </p:nvSpPr>
        <p:spPr>
          <a:xfrm>
            <a:off x="4846320" y="5907024"/>
            <a:ext cx="63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150" name="Shape 147"/>
          <p:cNvSpPr/>
          <p:nvPr/>
        </p:nvSpPr>
        <p:spPr>
          <a:xfrm>
            <a:off x="5760720" y="1115568"/>
            <a:ext cx="324612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5870448" y="1115568"/>
            <a:ext cx="3026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IN PLAIN ENGLISH</a:t>
            </a:r>
            <a:endParaRPr lang="en-US" sz="1200" dirty="0"/>
          </a:p>
        </p:txBody>
      </p:sp>
      <p:sp>
        <p:nvSpPr>
          <p:cNvPr id="152" name="Shape 149"/>
          <p:cNvSpPr/>
          <p:nvPr/>
        </p:nvSpPr>
        <p:spPr>
          <a:xfrm>
            <a:off x="9061704" y="1115568"/>
            <a:ext cx="0" cy="52120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153" name="Shape 150"/>
          <p:cNvSpPr/>
          <p:nvPr/>
        </p:nvSpPr>
        <p:spPr>
          <a:xfrm>
            <a:off x="5852160" y="1517904"/>
            <a:ext cx="3063240" cy="1115568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52160" y="1517904"/>
            <a:ext cx="365760" cy="11155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5852160" y="151790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6" name="Text 153"/>
          <p:cNvSpPr txBox="1"/>
          <p:nvPr/>
        </p:nvSpPr>
        <p:spPr>
          <a:xfrm>
            <a:off x="6291072" y="1545336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how hard every question is</a:t>
            </a:r>
            <a:endParaRPr lang="en-US" sz="14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2-parameter IRT, guessing prior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counts as wrong; dropped and multi-correct items follow NTA rules; fixing a key re-scores everything.</a:t>
            </a:r>
            <a:endParaRPr lang="en-US" sz="1400" dirty="0"/>
          </a:p>
        </p:txBody>
      </p:sp>
      <p:sp>
        <p:nvSpPr>
          <p:cNvPr id="157" name="Shape 154"/>
          <p:cNvSpPr/>
          <p:nvPr/>
        </p:nvSpPr>
        <p:spPr>
          <a:xfrm>
            <a:off x="5852160" y="2706624"/>
            <a:ext cx="30632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52160" y="2706624"/>
            <a:ext cx="365760" cy="11155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9" name="Text 156"/>
          <p:cNvSpPr txBox="1"/>
          <p:nvPr/>
        </p:nvSpPr>
        <p:spPr>
          <a:xfrm>
            <a:off x="5852160" y="270662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0" name="Text 157"/>
          <p:cNvSpPr txBox="1"/>
          <p:nvPr/>
        </p:nvSpPr>
        <p:spPr>
          <a:xfrm>
            <a:off x="6291072" y="2734056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mastery per topic, with doubt</a:t>
            </a:r>
            <a:endParaRPr lang="en-US" sz="14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Shrunk toward student and batch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tests count more; the estimate is pulled toward the student's overall level.</a:t>
            </a:r>
            <a:endParaRPr lang="en-US" sz="1400" dirty="0"/>
          </a:p>
        </p:txBody>
      </p:sp>
      <p:sp>
        <p:nvSpPr>
          <p:cNvPr id="161" name="Shape 158"/>
          <p:cNvSpPr/>
          <p:nvPr/>
        </p:nvSpPr>
        <p:spPr>
          <a:xfrm>
            <a:off x="5852160" y="3895344"/>
            <a:ext cx="3063240" cy="1115568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52160" y="3895344"/>
            <a:ext cx="365760" cy="11155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3" name="Text 160"/>
          <p:cNvSpPr txBox="1"/>
          <p:nvPr/>
        </p:nvSpPr>
        <p:spPr>
          <a:xfrm>
            <a:off x="5852160" y="389534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4" name="Text 161"/>
          <p:cNvSpPr txBox="1"/>
          <p:nvPr/>
        </p:nvSpPr>
        <p:spPr>
          <a:xfrm>
            <a:off x="6291072" y="3922776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“not enough data” when unsure</a:t>
            </a:r>
            <a:endParaRPr lang="en-US" sz="14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gate on every band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band appears only when the standard error is small.</a:t>
            </a:r>
            <a:endParaRPr lang="en-US" sz="1400" dirty="0"/>
          </a:p>
        </p:txBody>
      </p:sp>
      <p:sp>
        <p:nvSpPr>
          <p:cNvPr id="165" name="Shape 162"/>
          <p:cNvSpPr/>
          <p:nvPr/>
        </p:nvSpPr>
        <p:spPr>
          <a:xfrm>
            <a:off x="5852160" y="5084064"/>
            <a:ext cx="30632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52160" y="5084064"/>
            <a:ext cx="365760" cy="11155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7" name="Text 164"/>
          <p:cNvSpPr txBox="1"/>
          <p:nvPr/>
        </p:nvSpPr>
        <p:spPr>
          <a:xfrm>
            <a:off x="5852160" y="508406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8" name="Text 165"/>
          <p:cNvSpPr txBox="1"/>
          <p:nvPr/>
        </p:nvSpPr>
        <p:spPr>
          <a:xfrm>
            <a:off x="6291072" y="5111496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 likely wrong answer key</a:t>
            </a:r>
            <a:endParaRPr lang="en-US" sz="14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Negative-discrimination detector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get a suggested correction and a one-click re-score.</a:t>
            </a:r>
            <a:endParaRPr lang="en-US" sz="1400" dirty="0"/>
          </a:p>
        </p:txBody>
      </p:sp>
      <p:sp>
        <p:nvSpPr>
          <p:cNvPr id="169" name="Shape 166"/>
          <p:cNvSpPr/>
          <p:nvPr/>
        </p:nvSpPr>
        <p:spPr>
          <a:xfrm>
            <a:off x="9098280" y="1115568"/>
            <a:ext cx="2679192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9208008" y="1115568"/>
            <a:ext cx="24597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ON PUBLIC DATA</a:t>
            </a:r>
            <a:endParaRPr lang="en-US" sz="1200" dirty="0"/>
          </a:p>
        </p:txBody>
      </p:sp>
      <p:pic>
        <p:nvPicPr>
          <p:cNvPr id="171" name="Image 0" descr="Next-answer AUC: ours vs publish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2288" y="1481328"/>
            <a:ext cx="2560320" cy="1591056"/>
          </a:xfrm>
          <a:prstGeom prst="rect">
            <a:avLst/>
          </a:prstGeom>
        </p:spPr>
      </p:pic>
      <p:sp>
        <p:nvSpPr>
          <p:cNvPr id="172" name="Shape 168"/>
          <p:cNvSpPr/>
          <p:nvPr/>
        </p:nvSpPr>
        <p:spPr>
          <a:xfrm>
            <a:off x="9189720" y="3108960"/>
            <a:ext cx="99212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73" name="Text 169"/>
          <p:cNvSpPr txBox="1"/>
          <p:nvPr/>
        </p:nvSpPr>
        <p:spPr>
          <a:xfrm>
            <a:off x="9189720" y="3108960"/>
            <a:ext cx="992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900" dirty="0"/>
          </a:p>
        </p:txBody>
      </p:sp>
      <p:sp>
        <p:nvSpPr>
          <p:cNvPr id="174" name="Text 170"/>
          <p:cNvSpPr txBox="1"/>
          <p:nvPr/>
        </p:nvSpPr>
        <p:spPr>
          <a:xfrm>
            <a:off x="9189720" y="338328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 vs 0.75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770 unseen students, 55,755 predictions. Our 95 % interval 0.756 to 0.779. The published AKT scores higher (0.785); we say so.</a:t>
            </a:r>
            <a:endParaRPr lang="en-US" sz="1400" dirty="0"/>
          </a:p>
        </p:txBody>
      </p:sp>
      <p:sp>
        <p:nvSpPr>
          <p:cNvPr id="175" name="Text 171"/>
          <p:cNvSpPr txBox="1"/>
          <p:nvPr/>
        </p:nvSpPr>
        <p:spPr>
          <a:xfrm>
            <a:off x="9189720" y="46177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SYNTHETIC-DATA GATES</a:t>
            </a:r>
            <a:endParaRPr lang="en-US" sz="850" dirty="0"/>
          </a:p>
        </p:txBody>
      </p:sp>
      <p:sp>
        <p:nvSpPr>
          <p:cNvPr id="176" name="Text 172"/>
          <p:cNvSpPr txBox="1"/>
          <p:nvPr/>
        </p:nvSpPr>
        <p:spPr>
          <a:xfrm>
            <a:off x="9189720" y="48737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recovered</a:t>
            </a:r>
            <a:endParaRPr lang="en-US" sz="950" dirty="0"/>
          </a:p>
        </p:txBody>
      </p:sp>
      <p:sp>
        <p:nvSpPr>
          <p:cNvPr id="177" name="Shape 173"/>
          <p:cNvSpPr/>
          <p:nvPr/>
        </p:nvSpPr>
        <p:spPr>
          <a:xfrm>
            <a:off x="10835640" y="4937760"/>
            <a:ext cx="63779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78" name="Text 174"/>
          <p:cNvSpPr txBox="1"/>
          <p:nvPr/>
        </p:nvSpPr>
        <p:spPr>
          <a:xfrm>
            <a:off x="10835640" y="4937760"/>
            <a:ext cx="63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179" name="Text 175"/>
          <p:cNvSpPr txBox="1"/>
          <p:nvPr/>
        </p:nvSpPr>
        <p:spPr>
          <a:xfrm>
            <a:off x="9189720" y="52395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keys caught</a:t>
            </a:r>
            <a:endParaRPr lang="en-US" sz="950" dirty="0"/>
          </a:p>
        </p:txBody>
      </p:sp>
      <p:sp>
        <p:nvSpPr>
          <p:cNvPr id="180" name="Shape 176"/>
          <p:cNvSpPr/>
          <p:nvPr/>
        </p:nvSpPr>
        <p:spPr>
          <a:xfrm>
            <a:off x="10835640" y="5303520"/>
            <a:ext cx="63779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81" name="Text 177"/>
          <p:cNvSpPr txBox="1"/>
          <p:nvPr/>
        </p:nvSpPr>
        <p:spPr>
          <a:xfrm>
            <a:off x="10835640" y="5303520"/>
            <a:ext cx="63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182" name="Text 178"/>
          <p:cNvSpPr txBox="1"/>
          <p:nvPr/>
        </p:nvSpPr>
        <p:spPr>
          <a:xfrm>
            <a:off x="9189720" y="56052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beats raw %</a:t>
            </a:r>
            <a:endParaRPr lang="en-US" sz="950" dirty="0"/>
          </a:p>
        </p:txBody>
      </p:sp>
      <p:sp>
        <p:nvSpPr>
          <p:cNvPr id="183" name="Shape 179"/>
          <p:cNvSpPr/>
          <p:nvPr/>
        </p:nvSpPr>
        <p:spPr>
          <a:xfrm>
            <a:off x="10835640" y="5669280"/>
            <a:ext cx="63779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84" name="Text 180"/>
          <p:cNvSpPr txBox="1"/>
          <p:nvPr/>
        </p:nvSpPr>
        <p:spPr>
          <a:xfrm>
            <a:off x="10835640" y="5669280"/>
            <a:ext cx="63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185" name="Shape 181"/>
          <p:cNvSpPr/>
          <p:nvPr/>
        </p:nvSpPr>
        <p:spPr>
          <a:xfrm rot="-120000">
            <a:off x="9372600" y="6044184"/>
            <a:ext cx="2194560" cy="29260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86" name="Shape 182"/>
          <p:cNvSpPr/>
          <p:nvPr/>
        </p:nvSpPr>
        <p:spPr>
          <a:xfrm rot="-120000">
            <a:off x="9326880" y="5989320"/>
            <a:ext cx="2194560" cy="292608"/>
          </a:xfrm>
          <a:prstGeom prst="rect">
            <a:avLst/>
          </a:prstGeom>
          <a:solidFill>
            <a:srgbClr val="D9C9F2"/>
          </a:solidFill>
          <a:ln/>
        </p:spPr>
      </p:sp>
      <p:sp>
        <p:nvSpPr>
          <p:cNvPr id="187" name="Text 183"/>
          <p:cNvSpPr txBox="1"/>
          <p:nvPr/>
        </p:nvSpPr>
        <p:spPr>
          <a:xfrm rot="-120000">
            <a:off x="9381744" y="602589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F8A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gates come from Agent B</a:t>
            </a:r>
            <a:endParaRPr lang="en-US" sz="850" dirty="0"/>
          </a:p>
        </p:txBody>
      </p:sp>
      <p:pic>
        <p:nvPicPr>
          <p:cNvPr id="188" name="Image 1" descr="D:\Professional Work\Business\FC_Case_Dhruvi\presentation\source\assets\doodle_ta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72000">
            <a:off x="10149840" y="5897880"/>
            <a:ext cx="548640" cy="173736"/>
          </a:xfrm>
          <a:prstGeom prst="rect">
            <a:avLst/>
          </a:prstGeom>
        </p:spPr>
      </p:pic>
      <p:sp>
        <p:nvSpPr>
          <p:cNvPr id="189" name="Text 184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 (ASSISTments 2009, pyKT protocol; published DKT 0.754, SAKT 0.725, AKT 0.785); heat map is an illustrative mock-up. Gates pending Agent B.</a:t>
            </a:r>
            <a:endParaRPr lang="en-US" sz="850" dirty="0"/>
          </a:p>
        </p:txBody>
      </p:sp>
      <p:pic>
        <p:nvPicPr>
          <p:cNvPr id="190" name="Image 2" descr="hand-drawn hl_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590288"/>
            <a:ext cx="4023360" cy="274320"/>
          </a:xfrm>
          <a:prstGeom prst="rect">
            <a:avLst/>
          </a:prstGeom>
        </p:spPr>
      </p:pic>
      <p:pic>
        <p:nvPicPr>
          <p:cNvPr id="191" name="Image 3" descr="mentor curs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331720"/>
            <a:ext cx="777240" cy="329184"/>
          </a:xfrm>
          <a:prstGeom prst="rect">
            <a:avLst/>
          </a:prstGeom>
        </p:spPr>
      </p:pic>
      <p:pic>
        <p:nvPicPr>
          <p:cNvPr id="192" name="Image 4" descr="hand-drawn arrow_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097280"/>
            <a:ext cx="731520" cy="365760"/>
          </a:xfrm>
          <a:prstGeom prst="rect">
            <a:avLst/>
          </a:prstGeom>
        </p:spPr>
      </p:pic>
      <p:sp>
        <p:nvSpPr>
          <p:cNvPr id="193" name="Shape 185"/>
          <p:cNvSpPr/>
          <p:nvPr/>
        </p:nvSpPr>
        <p:spPr>
          <a:xfrm rot="120000">
            <a:off x="4160520" y="5541264"/>
            <a:ext cx="1600200" cy="38404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94" name="Shape 186"/>
          <p:cNvSpPr/>
          <p:nvPr/>
        </p:nvSpPr>
        <p:spPr>
          <a:xfrm rot="120000">
            <a:off x="4114800" y="5486400"/>
            <a:ext cx="1600200" cy="384048"/>
          </a:xfrm>
          <a:prstGeom prst="rect">
            <a:avLst/>
          </a:prstGeom>
          <a:solidFill>
            <a:srgbClr val="FDCB9A"/>
          </a:solidFill>
          <a:ln/>
        </p:spPr>
      </p:sp>
      <p:sp>
        <p:nvSpPr>
          <p:cNvPr id="195" name="Text 187"/>
          <p:cNvSpPr txBox="1"/>
          <p:nvPr/>
        </p:nvSpPr>
        <p:spPr>
          <a:xfrm rot="120000">
            <a:off x="4169664" y="5522976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4B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open loops: closed in Round 2</a:t>
            </a:r>
            <a:endParaRPr lang="en-US" sz="850" dirty="0"/>
          </a:p>
        </p:txBody>
      </p:sp>
      <p:pic>
        <p:nvPicPr>
          <p:cNvPr id="196" name="Image 5" descr="D:\Professional Work\Business\FC_Case_Dhruvi\presentation\source\assets\doodle_tap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2000">
            <a:off x="4640580" y="5394960"/>
            <a:ext cx="548640" cy="173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WARNING: THE INTERVENTION JOURNEY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 a mentor gets a short list: who to call, why, and what to offer. Under-18s get plain rules where the law asks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822960" y="1371600"/>
            <a:ext cx="10515600" cy="0"/>
          </a:xfrm>
          <a:prstGeom prst="line">
            <a:avLst/>
          </a:prstGeom>
          <a:noFill/>
          <a:ln w="38100">
            <a:solidFill>
              <a:srgbClr val="C9D6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1115568"/>
            <a:ext cx="548640" cy="548640"/>
          </a:xfrm>
          <a:prstGeom prst="ellipse">
            <a:avLst/>
          </a:prstGeom>
          <a:solidFill>
            <a:srgbClr val="C0392B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5" name="Image 0" descr="FaArrowTrendDow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243584"/>
            <a:ext cx="292608" cy="29260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1014984" y="1097280"/>
            <a:ext cx="21031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1051560" y="10972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drops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absences in ten classes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3264408" y="1115568"/>
            <a:ext cx="548640" cy="548640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9" name="Image 1" descr="FaFla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1243584"/>
            <a:ext cx="292608" cy="292608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3867912" y="1097280"/>
            <a:ext cx="21031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3904488" y="10972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flags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on the weekly list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6117336" y="1115568"/>
            <a:ext cx="548640" cy="548640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3" name="Image 2" descr="FaPho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243584"/>
            <a:ext cx="292608" cy="292608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720840" y="1097280"/>
            <a:ext cx="21031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6757416" y="10972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calls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supportive, not a warning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8970264" y="1115568"/>
            <a:ext cx="548640" cy="548640"/>
          </a:xfrm>
          <a:prstGeom prst="ellipse">
            <a:avLst/>
          </a:prstGeom>
          <a:solidFill>
            <a:srgbClr val="1B8F55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7" name="Image 3" descr="FaUser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1243584"/>
            <a:ext cx="292608" cy="292608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9573768" y="1097280"/>
            <a:ext cx="21031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9610344" y="10972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retained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logged, list updates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448056" y="1847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MENTOR SEES</a:t>
            </a:r>
            <a:endParaRPr lang="en-US" sz="1250" dirty="0"/>
          </a:p>
        </p:txBody>
      </p:sp>
      <p:sp>
        <p:nvSpPr>
          <p:cNvPr id="41" name="Shape 34"/>
          <p:cNvSpPr/>
          <p:nvPr/>
        </p:nvSpPr>
        <p:spPr>
          <a:xfrm>
            <a:off x="448056" y="2139696"/>
            <a:ext cx="347472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2" name="Shape 35"/>
          <p:cNvSpPr/>
          <p:nvPr/>
        </p:nvSpPr>
        <p:spPr>
          <a:xfrm>
            <a:off x="448056" y="21305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3" name="Shape 36"/>
          <p:cNvSpPr/>
          <p:nvPr/>
        </p:nvSpPr>
        <p:spPr>
          <a:xfrm>
            <a:off x="4032504" y="1874520"/>
            <a:ext cx="0" cy="44805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44" name="Image 4" descr="Weekly support list (illustrative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194560"/>
            <a:ext cx="3474720" cy="1956816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2880360" y="274320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2880360" y="2743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39"/>
          <p:cNvSpPr/>
          <p:nvPr/>
        </p:nvSpPr>
        <p:spPr>
          <a:xfrm>
            <a:off x="1783080" y="301752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1783080" y="3017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Shape 41"/>
          <p:cNvSpPr/>
          <p:nvPr/>
        </p:nvSpPr>
        <p:spPr>
          <a:xfrm>
            <a:off x="457200" y="4187952"/>
            <a:ext cx="138074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457200" y="4187952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</a:t>
            </a:r>
            <a:endParaRPr lang="en-US" sz="750" dirty="0"/>
          </a:p>
        </p:txBody>
      </p:sp>
      <p:sp>
        <p:nvSpPr>
          <p:cNvPr id="51" name="Text 43"/>
          <p:cNvSpPr txBox="1"/>
          <p:nvPr/>
        </p:nvSpPr>
        <p:spPr>
          <a:xfrm>
            <a:off x="457200" y="44439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FLAG IS MADE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484632" y="4690872"/>
            <a:ext cx="256032" cy="256032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53" name="Image 5" descr="FaClo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959" y="4747199"/>
            <a:ext cx="143378" cy="143378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822960" y="4681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data up to that date</a:t>
            </a:r>
            <a:endParaRPr lang="en-US" sz="900" dirty="0"/>
          </a:p>
        </p:txBody>
      </p:sp>
      <p:sp>
        <p:nvSpPr>
          <p:cNvPr id="55" name="Shape 46"/>
          <p:cNvSpPr/>
          <p:nvPr/>
        </p:nvSpPr>
        <p:spPr>
          <a:xfrm>
            <a:off x="484632" y="5010912"/>
            <a:ext cx="256032" cy="256032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56" name="Image 6" descr="FaScaleBalanced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959" y="5067239"/>
            <a:ext cx="143378" cy="143378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822960" y="5001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by age and purpose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484632" y="5330952"/>
            <a:ext cx="256032" cy="256032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59" name="Image 7" descr="FaChartLin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959" y="5387279"/>
            <a:ext cx="143378" cy="143378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822960" y="5321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or applies a plain rule</a:t>
            </a:r>
            <a:endParaRPr lang="en-US" sz="900" dirty="0"/>
          </a:p>
        </p:txBody>
      </p:sp>
      <p:sp>
        <p:nvSpPr>
          <p:cNvPr id="61" name="Shape 50"/>
          <p:cNvSpPr/>
          <p:nvPr/>
        </p:nvSpPr>
        <p:spPr>
          <a:xfrm>
            <a:off x="484632" y="5650992"/>
            <a:ext cx="256032" cy="256032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62" name="Image 8" descr="FaClipboardCheck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959" y="5707319"/>
            <a:ext cx="143378" cy="143378"/>
          </a:xfrm>
          <a:prstGeom prst="rect">
            <a:avLst/>
          </a:prstGeom>
        </p:spPr>
      </p:pic>
      <p:sp>
        <p:nvSpPr>
          <p:cNvPr id="63" name="Text 51"/>
          <p:cNvSpPr txBox="1"/>
          <p:nvPr/>
        </p:nvSpPr>
        <p:spPr>
          <a:xfrm>
            <a:off x="822960" y="5641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reasons and a supportive action</a:t>
            </a:r>
            <a:endParaRPr lang="en-US" sz="900" dirty="0"/>
          </a:p>
        </p:txBody>
      </p:sp>
      <p:sp>
        <p:nvSpPr>
          <p:cNvPr id="64" name="Shape 52"/>
          <p:cNvSpPr/>
          <p:nvPr/>
        </p:nvSpPr>
        <p:spPr>
          <a:xfrm>
            <a:off x="484632" y="5971032"/>
            <a:ext cx="256032" cy="256032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65" name="Image 9" descr="FaHandshake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959" y="6027359"/>
            <a:ext cx="143378" cy="143378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822960" y="5961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decides; outcome is logged</a:t>
            </a:r>
            <a:endParaRPr lang="en-US" sz="900" dirty="0"/>
          </a:p>
        </p:txBody>
      </p:sp>
      <p:sp>
        <p:nvSpPr>
          <p:cNvPr id="67" name="Text 54"/>
          <p:cNvSpPr txBox="1"/>
          <p:nvPr/>
        </p:nvSpPr>
        <p:spPr>
          <a:xfrm>
            <a:off x="4197096" y="1847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CHECK ON OULAD (WITHDRAWAL)</a:t>
            </a:r>
            <a:endParaRPr lang="en-US" sz="1250" dirty="0"/>
          </a:p>
        </p:txBody>
      </p:sp>
      <p:sp>
        <p:nvSpPr>
          <p:cNvPr id="68" name="Shape 55"/>
          <p:cNvSpPr/>
          <p:nvPr/>
        </p:nvSpPr>
        <p:spPr>
          <a:xfrm>
            <a:off x="4197096" y="2139696"/>
            <a:ext cx="356616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69" name="Shape 56"/>
          <p:cNvSpPr/>
          <p:nvPr/>
        </p:nvSpPr>
        <p:spPr>
          <a:xfrm>
            <a:off x="4197096" y="21305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0" name="Shape 57"/>
          <p:cNvSpPr/>
          <p:nvPr/>
        </p:nvSpPr>
        <p:spPr>
          <a:xfrm>
            <a:off x="7872984" y="1874520"/>
            <a:ext cx="0" cy="44805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71" name="Image 10" descr="Withdrawal prediction accuracy by observation window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4528" y="2194560"/>
            <a:ext cx="3529584" cy="2450592"/>
          </a:xfrm>
          <a:prstGeom prst="rect">
            <a:avLst/>
          </a:prstGeom>
        </p:spPr>
      </p:pic>
      <p:sp>
        <p:nvSpPr>
          <p:cNvPr id="72" name="Shape 58"/>
          <p:cNvSpPr/>
          <p:nvPr/>
        </p:nvSpPr>
        <p:spPr>
          <a:xfrm>
            <a:off x="4251960" y="4663440"/>
            <a:ext cx="99212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3" name="Text 59"/>
          <p:cNvSpPr txBox="1"/>
          <p:nvPr/>
        </p:nvSpPr>
        <p:spPr>
          <a:xfrm>
            <a:off x="4251960" y="4663440"/>
            <a:ext cx="992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900" dirty="0"/>
          </a:p>
        </p:txBody>
      </p:sp>
      <p:sp>
        <p:nvSpPr>
          <p:cNvPr id="74" name="Shape 60"/>
          <p:cNvSpPr/>
          <p:nvPr/>
        </p:nvSpPr>
        <p:spPr>
          <a:xfrm>
            <a:off x="4224528" y="4919472"/>
            <a:ext cx="1828800" cy="21945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Text 61"/>
          <p:cNvSpPr txBox="1"/>
          <p:nvPr/>
        </p:nvSpPr>
        <p:spPr>
          <a:xfrm>
            <a:off x="4270248" y="49194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28, 5-fold by student</a:t>
            </a:r>
            <a:endParaRPr lang="en-US" sz="850" dirty="0"/>
          </a:p>
        </p:txBody>
      </p:sp>
      <p:sp>
        <p:nvSpPr>
          <p:cNvPr id="76" name="Shape 62"/>
          <p:cNvSpPr/>
          <p:nvPr/>
        </p:nvSpPr>
        <p:spPr>
          <a:xfrm>
            <a:off x="6053328" y="4919472"/>
            <a:ext cx="822960" cy="21945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7" name="Text 63"/>
          <p:cNvSpPr txBox="1"/>
          <p:nvPr/>
        </p:nvSpPr>
        <p:spPr>
          <a:xfrm>
            <a:off x="6099048" y="49194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850" dirty="0"/>
          </a:p>
        </p:txBody>
      </p:sp>
      <p:sp>
        <p:nvSpPr>
          <p:cNvPr id="78" name="Shape 64"/>
          <p:cNvSpPr/>
          <p:nvPr/>
        </p:nvSpPr>
        <p:spPr>
          <a:xfrm>
            <a:off x="6876288" y="4919472"/>
            <a:ext cx="877824" cy="21945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9" name="Text 65"/>
          <p:cNvSpPr txBox="1"/>
          <p:nvPr/>
        </p:nvSpPr>
        <p:spPr>
          <a:xfrm>
            <a:off x="6922008" y="49194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P@10 %</a:t>
            </a:r>
            <a:endParaRPr lang="en-US" sz="850" dirty="0"/>
          </a:p>
        </p:txBody>
      </p:sp>
      <p:sp>
        <p:nvSpPr>
          <p:cNvPr id="80" name="Shape 66"/>
          <p:cNvSpPr/>
          <p:nvPr/>
        </p:nvSpPr>
        <p:spPr>
          <a:xfrm>
            <a:off x="4224528" y="5138928"/>
            <a:ext cx="1828800" cy="219456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81" name="Text 67"/>
          <p:cNvSpPr txBox="1"/>
          <p:nvPr/>
        </p:nvSpPr>
        <p:spPr>
          <a:xfrm>
            <a:off x="4270248" y="51389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LightGBM, academic + clicks</a:t>
            </a:r>
            <a:endParaRPr lang="en-US" sz="850" dirty="0"/>
          </a:p>
        </p:txBody>
      </p:sp>
      <p:sp>
        <p:nvSpPr>
          <p:cNvPr id="82" name="Shape 68"/>
          <p:cNvSpPr/>
          <p:nvPr/>
        </p:nvSpPr>
        <p:spPr>
          <a:xfrm>
            <a:off x="6053328" y="5138928"/>
            <a:ext cx="822960" cy="219456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83" name="Text 69"/>
          <p:cNvSpPr txBox="1"/>
          <p:nvPr/>
        </p:nvSpPr>
        <p:spPr>
          <a:xfrm>
            <a:off x="6099048" y="51389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</a:t>
            </a:r>
            <a:endParaRPr lang="en-US" sz="850" dirty="0"/>
          </a:p>
        </p:txBody>
      </p:sp>
      <p:sp>
        <p:nvSpPr>
          <p:cNvPr id="84" name="Shape 70"/>
          <p:cNvSpPr/>
          <p:nvPr/>
        </p:nvSpPr>
        <p:spPr>
          <a:xfrm>
            <a:off x="6876288" y="5138928"/>
            <a:ext cx="877824" cy="219456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85" name="Text 71"/>
          <p:cNvSpPr txBox="1"/>
          <p:nvPr/>
        </p:nvSpPr>
        <p:spPr>
          <a:xfrm>
            <a:off x="6922008" y="513892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850" dirty="0"/>
          </a:p>
        </p:txBody>
      </p:sp>
      <p:sp>
        <p:nvSpPr>
          <p:cNvPr id="86" name="Shape 72"/>
          <p:cNvSpPr/>
          <p:nvPr/>
        </p:nvSpPr>
        <p:spPr>
          <a:xfrm>
            <a:off x="4224528" y="5358384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7" name="Shape 73"/>
          <p:cNvSpPr/>
          <p:nvPr/>
        </p:nvSpPr>
        <p:spPr>
          <a:xfrm>
            <a:off x="4224528" y="5358384"/>
            <a:ext cx="1828800" cy="219456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8" name="Text 74"/>
          <p:cNvSpPr txBox="1"/>
          <p:nvPr/>
        </p:nvSpPr>
        <p:spPr>
          <a:xfrm>
            <a:off x="4270248" y="53583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LightGBM, academic only</a:t>
            </a:r>
            <a:endParaRPr lang="en-US" sz="850" dirty="0"/>
          </a:p>
        </p:txBody>
      </p:sp>
      <p:sp>
        <p:nvSpPr>
          <p:cNvPr id="89" name="Shape 75"/>
          <p:cNvSpPr/>
          <p:nvPr/>
        </p:nvSpPr>
        <p:spPr>
          <a:xfrm>
            <a:off x="6053328" y="5358384"/>
            <a:ext cx="822960" cy="219456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0" name="Text 76"/>
          <p:cNvSpPr txBox="1"/>
          <p:nvPr/>
        </p:nvSpPr>
        <p:spPr>
          <a:xfrm>
            <a:off x="6099048" y="53583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0.698</a:t>
            </a:r>
            <a:endParaRPr lang="en-US" sz="850" dirty="0"/>
          </a:p>
        </p:txBody>
      </p:sp>
      <p:sp>
        <p:nvSpPr>
          <p:cNvPr id="91" name="Shape 77"/>
          <p:cNvSpPr/>
          <p:nvPr/>
        </p:nvSpPr>
        <p:spPr>
          <a:xfrm>
            <a:off x="6876288" y="5358384"/>
            <a:ext cx="877824" cy="219456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2" name="Text 78"/>
          <p:cNvSpPr txBox="1"/>
          <p:nvPr/>
        </p:nvSpPr>
        <p:spPr>
          <a:xfrm>
            <a:off x="6922008" y="535838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850" dirty="0"/>
          </a:p>
        </p:txBody>
      </p:sp>
      <p:sp>
        <p:nvSpPr>
          <p:cNvPr id="93" name="Shape 79"/>
          <p:cNvSpPr/>
          <p:nvPr/>
        </p:nvSpPr>
        <p:spPr>
          <a:xfrm>
            <a:off x="4224528" y="5577840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4" name="Shape 80"/>
          <p:cNvSpPr/>
          <p:nvPr/>
        </p:nvSpPr>
        <p:spPr>
          <a:xfrm>
            <a:off x="4224528" y="5577840"/>
            <a:ext cx="182880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81"/>
          <p:cNvSpPr txBox="1"/>
          <p:nvPr/>
        </p:nvSpPr>
        <p:spPr>
          <a:xfrm>
            <a:off x="4270248" y="55778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Logistic, academic only</a:t>
            </a:r>
            <a:endParaRPr lang="en-US" sz="850" dirty="0"/>
          </a:p>
        </p:txBody>
      </p:sp>
      <p:sp>
        <p:nvSpPr>
          <p:cNvPr id="96" name="Shape 82"/>
          <p:cNvSpPr/>
          <p:nvPr/>
        </p:nvSpPr>
        <p:spPr>
          <a:xfrm>
            <a:off x="6053328" y="5577840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83"/>
          <p:cNvSpPr txBox="1"/>
          <p:nvPr/>
        </p:nvSpPr>
        <p:spPr>
          <a:xfrm>
            <a:off x="6099048" y="55778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</a:t>
            </a:r>
            <a:endParaRPr lang="en-US" sz="850" dirty="0"/>
          </a:p>
        </p:txBody>
      </p:sp>
      <p:sp>
        <p:nvSpPr>
          <p:cNvPr id="98" name="Shape 84"/>
          <p:cNvSpPr/>
          <p:nvPr/>
        </p:nvSpPr>
        <p:spPr>
          <a:xfrm>
            <a:off x="6876288" y="5577840"/>
            <a:ext cx="87782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85"/>
          <p:cNvSpPr txBox="1"/>
          <p:nvPr/>
        </p:nvSpPr>
        <p:spPr>
          <a:xfrm>
            <a:off x="6922008" y="557784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850" dirty="0"/>
          </a:p>
        </p:txBody>
      </p:sp>
      <p:sp>
        <p:nvSpPr>
          <p:cNvPr id="100" name="Shape 86"/>
          <p:cNvSpPr/>
          <p:nvPr/>
        </p:nvSpPr>
        <p:spPr>
          <a:xfrm>
            <a:off x="4224528" y="5797296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1" name="Shape 87"/>
          <p:cNvSpPr/>
          <p:nvPr/>
        </p:nvSpPr>
        <p:spPr>
          <a:xfrm>
            <a:off x="4224528" y="5797296"/>
            <a:ext cx="1828800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02" name="Text 88"/>
          <p:cNvSpPr txBox="1"/>
          <p:nvPr/>
        </p:nvSpPr>
        <p:spPr>
          <a:xfrm>
            <a:off x="4270248" y="57972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no assessment</a:t>
            </a:r>
            <a:endParaRPr lang="en-US" sz="850" dirty="0"/>
          </a:p>
        </p:txBody>
      </p:sp>
      <p:sp>
        <p:nvSpPr>
          <p:cNvPr id="103" name="Shape 89"/>
          <p:cNvSpPr/>
          <p:nvPr/>
        </p:nvSpPr>
        <p:spPr>
          <a:xfrm>
            <a:off x="6053328" y="5797296"/>
            <a:ext cx="822960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04" name="Text 90"/>
          <p:cNvSpPr txBox="1"/>
          <p:nvPr/>
        </p:nvSpPr>
        <p:spPr>
          <a:xfrm>
            <a:off x="6099048" y="57972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0.521</a:t>
            </a:r>
            <a:endParaRPr lang="en-US" sz="850" dirty="0"/>
          </a:p>
        </p:txBody>
      </p:sp>
      <p:sp>
        <p:nvSpPr>
          <p:cNvPr id="105" name="Shape 91"/>
          <p:cNvSpPr/>
          <p:nvPr/>
        </p:nvSpPr>
        <p:spPr>
          <a:xfrm>
            <a:off x="6876288" y="5797296"/>
            <a:ext cx="877824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06" name="Text 92"/>
          <p:cNvSpPr txBox="1"/>
          <p:nvPr/>
        </p:nvSpPr>
        <p:spPr>
          <a:xfrm>
            <a:off x="6922008" y="579729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850" dirty="0"/>
          </a:p>
        </p:txBody>
      </p:sp>
      <p:sp>
        <p:nvSpPr>
          <p:cNvPr id="107" name="Shape 93"/>
          <p:cNvSpPr/>
          <p:nvPr/>
        </p:nvSpPr>
        <p:spPr>
          <a:xfrm>
            <a:off x="4224528" y="6016752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8" name="Shape 94"/>
          <p:cNvSpPr/>
          <p:nvPr/>
        </p:nvSpPr>
        <p:spPr>
          <a:xfrm>
            <a:off x="4224528" y="6016752"/>
            <a:ext cx="1828800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09" name="Text 95"/>
          <p:cNvSpPr txBox="1"/>
          <p:nvPr/>
        </p:nvSpPr>
        <p:spPr>
          <a:xfrm>
            <a:off x="4270248" y="60167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zero clicks, 7 days</a:t>
            </a:r>
            <a:endParaRPr lang="en-US" sz="850" dirty="0"/>
          </a:p>
        </p:txBody>
      </p:sp>
      <p:sp>
        <p:nvSpPr>
          <p:cNvPr id="110" name="Shape 96"/>
          <p:cNvSpPr/>
          <p:nvPr/>
        </p:nvSpPr>
        <p:spPr>
          <a:xfrm>
            <a:off x="6053328" y="6016752"/>
            <a:ext cx="822960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1" name="Text 97"/>
          <p:cNvSpPr txBox="1"/>
          <p:nvPr/>
        </p:nvSpPr>
        <p:spPr>
          <a:xfrm>
            <a:off x="6099048" y="60167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0.532</a:t>
            </a:r>
            <a:endParaRPr lang="en-US" sz="850" dirty="0"/>
          </a:p>
        </p:txBody>
      </p:sp>
      <p:sp>
        <p:nvSpPr>
          <p:cNvPr id="112" name="Shape 98"/>
          <p:cNvSpPr/>
          <p:nvPr/>
        </p:nvSpPr>
        <p:spPr>
          <a:xfrm>
            <a:off x="6876288" y="6016752"/>
            <a:ext cx="877824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3" name="Text 99"/>
          <p:cNvSpPr txBox="1"/>
          <p:nvPr/>
        </p:nvSpPr>
        <p:spPr>
          <a:xfrm>
            <a:off x="6922008" y="601675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850" dirty="0"/>
          </a:p>
        </p:txBody>
      </p:sp>
      <p:sp>
        <p:nvSpPr>
          <p:cNvPr id="114" name="Shape 100"/>
          <p:cNvSpPr/>
          <p:nvPr/>
        </p:nvSpPr>
        <p:spPr>
          <a:xfrm>
            <a:off x="4224528" y="6236208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5" name="Text 101"/>
          <p:cNvSpPr txBox="1"/>
          <p:nvPr/>
        </p:nvSpPr>
        <p:spPr>
          <a:xfrm>
            <a:off x="7991856" y="184708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MATRIX: WHAT THE LAW LETS US USE</a:t>
            </a:r>
            <a:endParaRPr lang="en-US" sz="1250" dirty="0"/>
          </a:p>
        </p:txBody>
      </p:sp>
      <p:sp>
        <p:nvSpPr>
          <p:cNvPr id="116" name="Shape 102"/>
          <p:cNvSpPr/>
          <p:nvPr/>
        </p:nvSpPr>
        <p:spPr>
          <a:xfrm>
            <a:off x="7991856" y="2139696"/>
            <a:ext cx="373075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17" name="Shape 103"/>
          <p:cNvSpPr/>
          <p:nvPr/>
        </p:nvSpPr>
        <p:spPr>
          <a:xfrm>
            <a:off x="7991856" y="21305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8" name="Text 104"/>
          <p:cNvSpPr txBox="1"/>
          <p:nvPr/>
        </p:nvSpPr>
        <p:spPr>
          <a:xfrm>
            <a:off x="9189720" y="2194560"/>
            <a:ext cx="635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support</a:t>
            </a:r>
            <a:endParaRPr lang="en-US" sz="850" dirty="0"/>
          </a:p>
        </p:txBody>
      </p:sp>
      <p:sp>
        <p:nvSpPr>
          <p:cNvPr id="119" name="Text 105"/>
          <p:cNvSpPr txBox="1"/>
          <p:nvPr/>
        </p:nvSpPr>
        <p:spPr>
          <a:xfrm>
            <a:off x="9825228" y="2194560"/>
            <a:ext cx="635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risk</a:t>
            </a:r>
            <a:endParaRPr lang="en-US" sz="850" dirty="0"/>
          </a:p>
        </p:txBody>
      </p:sp>
      <p:sp>
        <p:nvSpPr>
          <p:cNvPr id="120" name="Text 106"/>
          <p:cNvSpPr txBox="1"/>
          <p:nvPr/>
        </p:nvSpPr>
        <p:spPr>
          <a:xfrm>
            <a:off x="10460736" y="2194560"/>
            <a:ext cx="635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risk</a:t>
            </a:r>
            <a:endParaRPr lang="en-US" sz="850" dirty="0"/>
          </a:p>
        </p:txBody>
      </p:sp>
      <p:sp>
        <p:nvSpPr>
          <p:cNvPr id="121" name="Text 107"/>
          <p:cNvSpPr txBox="1"/>
          <p:nvPr/>
        </p:nvSpPr>
        <p:spPr>
          <a:xfrm>
            <a:off x="11096244" y="2194560"/>
            <a:ext cx="635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activity</a:t>
            </a:r>
            <a:endParaRPr lang="en-US" sz="850" dirty="0"/>
          </a:p>
        </p:txBody>
      </p:sp>
      <p:sp>
        <p:nvSpPr>
          <p:cNvPr id="122" name="Shape 108"/>
          <p:cNvSpPr/>
          <p:nvPr/>
        </p:nvSpPr>
        <p:spPr>
          <a:xfrm>
            <a:off x="8001000" y="2606040"/>
            <a:ext cx="1143000" cy="7680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23" name="Text 109"/>
          <p:cNvSpPr txBox="1"/>
          <p:nvPr/>
        </p:nvSpPr>
        <p:spPr>
          <a:xfrm>
            <a:off x="8046720" y="2606040"/>
            <a:ext cx="10789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18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consent</a:t>
            </a:r>
            <a:endParaRPr lang="en-US" sz="1400" dirty="0"/>
          </a:p>
        </p:txBody>
      </p:sp>
      <p:sp>
        <p:nvSpPr>
          <p:cNvPr id="124" name="Shape 110"/>
          <p:cNvSpPr/>
          <p:nvPr/>
        </p:nvSpPr>
        <p:spPr>
          <a:xfrm>
            <a:off x="9208008" y="260604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25" name="Image 11" descr="FaCircleCheck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79458" y="2697480"/>
            <a:ext cx="256032" cy="256032"/>
          </a:xfrm>
          <a:prstGeom prst="rect">
            <a:avLst/>
          </a:prstGeom>
        </p:spPr>
      </p:pic>
      <p:sp>
        <p:nvSpPr>
          <p:cNvPr id="126" name="Text 111"/>
          <p:cNvSpPr txBox="1"/>
          <p:nvPr/>
        </p:nvSpPr>
        <p:spPr>
          <a:xfrm>
            <a:off x="9208008" y="306324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27" name="Shape 112"/>
          <p:cNvSpPr/>
          <p:nvPr/>
        </p:nvSpPr>
        <p:spPr>
          <a:xfrm>
            <a:off x="9843516" y="2606040"/>
            <a:ext cx="598932" cy="768096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128" name="Image 12" descr="FaLock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14966" y="2697480"/>
            <a:ext cx="256032" cy="256032"/>
          </a:xfrm>
          <a:prstGeom prst="rect">
            <a:avLst/>
          </a:prstGeom>
        </p:spPr>
      </p:pic>
      <p:sp>
        <p:nvSpPr>
          <p:cNvPr id="129" name="Text 113"/>
          <p:cNvSpPr txBox="1"/>
          <p:nvPr/>
        </p:nvSpPr>
        <p:spPr>
          <a:xfrm>
            <a:off x="9843516" y="306324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</a:t>
            </a:r>
            <a:endParaRPr lang="en-US" sz="800" dirty="0"/>
          </a:p>
        </p:txBody>
      </p:sp>
      <p:sp>
        <p:nvSpPr>
          <p:cNvPr id="130" name="Shape 114"/>
          <p:cNvSpPr/>
          <p:nvPr/>
        </p:nvSpPr>
        <p:spPr>
          <a:xfrm>
            <a:off x="10479024" y="2606040"/>
            <a:ext cx="598932" cy="768096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131" name="Image 13" descr="FaLock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50474" y="2697480"/>
            <a:ext cx="256032" cy="256032"/>
          </a:xfrm>
          <a:prstGeom prst="rect">
            <a:avLst/>
          </a:prstGeom>
        </p:spPr>
      </p:pic>
      <p:sp>
        <p:nvSpPr>
          <p:cNvPr id="132" name="Text 115"/>
          <p:cNvSpPr txBox="1"/>
          <p:nvPr/>
        </p:nvSpPr>
        <p:spPr>
          <a:xfrm>
            <a:off x="10479024" y="306324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</a:t>
            </a:r>
            <a:endParaRPr lang="en-US" sz="800" dirty="0"/>
          </a:p>
        </p:txBody>
      </p:sp>
      <p:sp>
        <p:nvSpPr>
          <p:cNvPr id="133" name="Shape 116"/>
          <p:cNvSpPr/>
          <p:nvPr/>
        </p:nvSpPr>
        <p:spPr>
          <a:xfrm>
            <a:off x="11114532" y="2606040"/>
            <a:ext cx="598932" cy="768096"/>
          </a:xfrm>
          <a:prstGeom prst="rect">
            <a:avLst/>
          </a:prstGeom>
          <a:solidFill>
            <a:srgbClr val="F6E0DD"/>
          </a:solidFill>
          <a:ln/>
        </p:spPr>
      </p:sp>
      <p:pic>
        <p:nvPicPr>
          <p:cNvPr id="134" name="Image 14" descr="FaBan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85982" y="2697480"/>
            <a:ext cx="256032" cy="256032"/>
          </a:xfrm>
          <a:prstGeom prst="rect">
            <a:avLst/>
          </a:prstGeom>
        </p:spPr>
      </p:pic>
      <p:sp>
        <p:nvSpPr>
          <p:cNvPr id="135" name="Text 117"/>
          <p:cNvSpPr txBox="1"/>
          <p:nvPr/>
        </p:nvSpPr>
        <p:spPr>
          <a:xfrm>
            <a:off x="11114532" y="306324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800" dirty="0"/>
          </a:p>
        </p:txBody>
      </p:sp>
      <p:sp>
        <p:nvSpPr>
          <p:cNvPr id="136" name="Shape 118"/>
          <p:cNvSpPr/>
          <p:nvPr/>
        </p:nvSpPr>
        <p:spPr>
          <a:xfrm>
            <a:off x="8001000" y="3429000"/>
            <a:ext cx="1143000" cy="7680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37" name="Text 119"/>
          <p:cNvSpPr txBox="1"/>
          <p:nvPr/>
        </p:nvSpPr>
        <p:spPr>
          <a:xfrm>
            <a:off x="8046720" y="3429000"/>
            <a:ext cx="10789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and over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consent</a:t>
            </a:r>
            <a:endParaRPr lang="en-US" sz="1400" dirty="0"/>
          </a:p>
        </p:txBody>
      </p:sp>
      <p:sp>
        <p:nvSpPr>
          <p:cNvPr id="138" name="Shape 120"/>
          <p:cNvSpPr/>
          <p:nvPr/>
        </p:nvSpPr>
        <p:spPr>
          <a:xfrm>
            <a:off x="9208008" y="342900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39" name="Image 15" descr="FaCircleCheck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9458" y="3520440"/>
            <a:ext cx="256032" cy="256032"/>
          </a:xfrm>
          <a:prstGeom prst="rect">
            <a:avLst/>
          </a:prstGeom>
        </p:spPr>
      </p:pic>
      <p:sp>
        <p:nvSpPr>
          <p:cNvPr id="140" name="Text 121"/>
          <p:cNvSpPr txBox="1"/>
          <p:nvPr/>
        </p:nvSpPr>
        <p:spPr>
          <a:xfrm>
            <a:off x="9208008" y="388620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41" name="Shape 122"/>
          <p:cNvSpPr/>
          <p:nvPr/>
        </p:nvSpPr>
        <p:spPr>
          <a:xfrm>
            <a:off x="9843516" y="342900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42" name="Image 16" descr="FaCircleCheck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14966" y="3520440"/>
            <a:ext cx="256032" cy="256032"/>
          </a:xfrm>
          <a:prstGeom prst="rect">
            <a:avLst/>
          </a:prstGeom>
        </p:spPr>
      </p:pic>
      <p:sp>
        <p:nvSpPr>
          <p:cNvPr id="143" name="Text 123"/>
          <p:cNvSpPr txBox="1"/>
          <p:nvPr/>
        </p:nvSpPr>
        <p:spPr>
          <a:xfrm>
            <a:off x="9843516" y="388620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44" name="Shape 124"/>
          <p:cNvSpPr/>
          <p:nvPr/>
        </p:nvSpPr>
        <p:spPr>
          <a:xfrm>
            <a:off x="10479024" y="342900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45" name="Image 17" descr="FaCircleCheck ico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50474" y="3520440"/>
            <a:ext cx="256032" cy="256032"/>
          </a:xfrm>
          <a:prstGeom prst="rect">
            <a:avLst/>
          </a:prstGeom>
        </p:spPr>
      </p:pic>
      <p:sp>
        <p:nvSpPr>
          <p:cNvPr id="146" name="Text 125"/>
          <p:cNvSpPr txBox="1"/>
          <p:nvPr/>
        </p:nvSpPr>
        <p:spPr>
          <a:xfrm>
            <a:off x="10479024" y="388620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47" name="Shape 126"/>
          <p:cNvSpPr/>
          <p:nvPr/>
        </p:nvSpPr>
        <p:spPr>
          <a:xfrm>
            <a:off x="11114532" y="342900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48" name="Image 18" descr="FaLockOpen icon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85982" y="3520440"/>
            <a:ext cx="256032" cy="256032"/>
          </a:xfrm>
          <a:prstGeom prst="rect">
            <a:avLst/>
          </a:prstGeom>
        </p:spPr>
      </p:pic>
      <p:sp>
        <p:nvSpPr>
          <p:cNvPr id="149" name="Text 127"/>
          <p:cNvSpPr txBox="1"/>
          <p:nvPr/>
        </p:nvSpPr>
        <p:spPr>
          <a:xfrm>
            <a:off x="11114532" y="388620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</a:t>
            </a:r>
            <a:endParaRPr lang="en-US" sz="800" dirty="0"/>
          </a:p>
        </p:txBody>
      </p:sp>
      <p:sp>
        <p:nvSpPr>
          <p:cNvPr id="150" name="Shape 128"/>
          <p:cNvSpPr/>
          <p:nvPr/>
        </p:nvSpPr>
        <p:spPr>
          <a:xfrm>
            <a:off x="8001000" y="4251960"/>
            <a:ext cx="1143000" cy="7680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8046720" y="4251960"/>
            <a:ext cx="10789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18, if counsel agrees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opinion pending</a:t>
            </a:r>
            <a:endParaRPr lang="en-US" sz="1400" dirty="0"/>
          </a:p>
        </p:txBody>
      </p:sp>
      <p:sp>
        <p:nvSpPr>
          <p:cNvPr id="152" name="Shape 130"/>
          <p:cNvSpPr/>
          <p:nvPr/>
        </p:nvSpPr>
        <p:spPr>
          <a:xfrm>
            <a:off x="9208008" y="425196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53" name="Image 19" descr="FaCircleCheck icon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79458" y="4343400"/>
            <a:ext cx="256032" cy="256032"/>
          </a:xfrm>
          <a:prstGeom prst="rect">
            <a:avLst/>
          </a:prstGeom>
        </p:spPr>
      </p:pic>
      <p:sp>
        <p:nvSpPr>
          <p:cNvPr id="154" name="Text 131"/>
          <p:cNvSpPr txBox="1"/>
          <p:nvPr/>
        </p:nvSpPr>
        <p:spPr>
          <a:xfrm>
            <a:off x="9208008" y="470916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55" name="Shape 132"/>
          <p:cNvSpPr/>
          <p:nvPr/>
        </p:nvSpPr>
        <p:spPr>
          <a:xfrm>
            <a:off x="9843516" y="425196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56" name="Image 20" descr="FaCircleCheck icon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14966" y="4343400"/>
            <a:ext cx="256032" cy="256032"/>
          </a:xfrm>
          <a:prstGeom prst="rect">
            <a:avLst/>
          </a:prstGeom>
        </p:spPr>
      </p:pic>
      <p:sp>
        <p:nvSpPr>
          <p:cNvPr id="157" name="Text 133"/>
          <p:cNvSpPr txBox="1"/>
          <p:nvPr/>
        </p:nvSpPr>
        <p:spPr>
          <a:xfrm>
            <a:off x="9843516" y="470916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58" name="Shape 134"/>
          <p:cNvSpPr/>
          <p:nvPr/>
        </p:nvSpPr>
        <p:spPr>
          <a:xfrm>
            <a:off x="10479024" y="4251960"/>
            <a:ext cx="598932" cy="768096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159" name="Image 21" descr="FaLock icon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50474" y="4343400"/>
            <a:ext cx="256032" cy="256032"/>
          </a:xfrm>
          <a:prstGeom prst="rect">
            <a:avLst/>
          </a:prstGeom>
        </p:spPr>
      </p:pic>
      <p:sp>
        <p:nvSpPr>
          <p:cNvPr id="160" name="Text 135"/>
          <p:cNvSpPr txBox="1"/>
          <p:nvPr/>
        </p:nvSpPr>
        <p:spPr>
          <a:xfrm>
            <a:off x="10479024" y="470916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</a:t>
            </a:r>
            <a:endParaRPr lang="en-US" sz="800" dirty="0"/>
          </a:p>
        </p:txBody>
      </p:sp>
      <p:sp>
        <p:nvSpPr>
          <p:cNvPr id="161" name="Shape 136"/>
          <p:cNvSpPr/>
          <p:nvPr/>
        </p:nvSpPr>
        <p:spPr>
          <a:xfrm>
            <a:off x="11114532" y="4251960"/>
            <a:ext cx="598932" cy="768096"/>
          </a:xfrm>
          <a:prstGeom prst="rect">
            <a:avLst/>
          </a:prstGeom>
          <a:solidFill>
            <a:srgbClr val="F6E0DD"/>
          </a:solidFill>
          <a:ln/>
        </p:spPr>
      </p:sp>
      <p:pic>
        <p:nvPicPr>
          <p:cNvPr id="162" name="Image 22" descr="FaBan icon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85982" y="4343400"/>
            <a:ext cx="256032" cy="256032"/>
          </a:xfrm>
          <a:prstGeom prst="rect">
            <a:avLst/>
          </a:prstGeom>
        </p:spPr>
      </p:pic>
      <p:sp>
        <p:nvSpPr>
          <p:cNvPr id="163" name="Text 137"/>
          <p:cNvSpPr txBox="1"/>
          <p:nvPr/>
        </p:nvSpPr>
        <p:spPr>
          <a:xfrm>
            <a:off x="11114532" y="470916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800" dirty="0"/>
          </a:p>
        </p:txBody>
      </p:sp>
      <p:sp>
        <p:nvSpPr>
          <p:cNvPr id="164" name="Shape 138"/>
          <p:cNvSpPr/>
          <p:nvPr/>
        </p:nvSpPr>
        <p:spPr>
          <a:xfrm>
            <a:off x="8001000" y="5102352"/>
            <a:ext cx="3730752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5" name="Text 139"/>
          <p:cNvSpPr txBox="1"/>
          <p:nvPr/>
        </p:nvSpPr>
        <p:spPr>
          <a:xfrm>
            <a:off x="8046720" y="5102352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s.9(3): no tracking of children, even with consent</a:t>
            </a:r>
            <a:endParaRPr lang="en-US" sz="900" dirty="0"/>
          </a:p>
        </p:txBody>
      </p:sp>
      <p:pic>
        <p:nvPicPr>
          <p:cNvPr id="166" name="Image 23" descr="Calibration curve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46720" y="5486400"/>
            <a:ext cx="822960" cy="777240"/>
          </a:xfrm>
          <a:prstGeom prst="rect">
            <a:avLst/>
          </a:prstGeom>
        </p:spPr>
      </p:pic>
      <p:sp>
        <p:nvSpPr>
          <p:cNvPr id="167" name="Text 140"/>
          <p:cNvSpPr txBox="1"/>
          <p:nvPr/>
        </p:nvSpPr>
        <p:spPr>
          <a:xfrm>
            <a:off x="8915400" y="54681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 </a:t>
            </a:r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error: “30 % risk” means 30 %. About a quarter of dropouts are sudden and cannot be predicted from academic data.</a:t>
            </a:r>
            <a:endParaRPr lang="en-US" sz="1400" dirty="0"/>
          </a:p>
        </p:txBody>
      </p:sp>
      <p:sp>
        <p:nvSpPr>
          <p:cNvPr id="168" name="Text 141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 (OULAD, CC BY 4.0; day 28, student-grouped 5-fold; P@10 = precision at top 10 %); contracts/routing_policy.yaml; DPDP Act 2023 s.9. Early-warning lift on synthetic institutes is pending.</a:t>
            </a:r>
            <a:endParaRPr lang="en-US" sz="850" dirty="0"/>
          </a:p>
        </p:txBody>
      </p:sp>
      <p:pic>
        <p:nvPicPr>
          <p:cNvPr id="169" name="Image 24" descr="mentor cursor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011680" y="2926080"/>
            <a:ext cx="777240" cy="329184"/>
          </a:xfrm>
          <a:prstGeom prst="rect">
            <a:avLst/>
          </a:prstGeom>
        </p:spPr>
      </p:pic>
      <p:sp>
        <p:nvSpPr>
          <p:cNvPr id="170" name="Shape 142"/>
          <p:cNvSpPr/>
          <p:nvPr/>
        </p:nvSpPr>
        <p:spPr>
          <a:xfrm rot="120000">
            <a:off x="10104120" y="694944"/>
            <a:ext cx="1691640" cy="38404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71" name="Shape 143"/>
          <p:cNvSpPr/>
          <p:nvPr/>
        </p:nvSpPr>
        <p:spPr>
          <a:xfrm rot="120000">
            <a:off x="10058400" y="640080"/>
            <a:ext cx="1691640" cy="384048"/>
          </a:xfrm>
          <a:prstGeom prst="rect">
            <a:avLst/>
          </a:prstGeom>
          <a:solidFill>
            <a:srgbClr val="F7BFD0"/>
          </a:solidFill>
          <a:ln/>
        </p:spPr>
      </p:sp>
      <p:sp>
        <p:nvSpPr>
          <p:cNvPr id="172" name="Text 144"/>
          <p:cNvSpPr txBox="1"/>
          <p:nvPr/>
        </p:nvSpPr>
        <p:spPr>
          <a:xfrm rot="120000">
            <a:off x="10113264" y="67665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2C4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a quarter of dropouts are sudden</a:t>
            </a:r>
            <a:endParaRPr lang="en-US" sz="850" dirty="0"/>
          </a:p>
        </p:txBody>
      </p:sp>
      <p:pic>
        <p:nvPicPr>
          <p:cNvPr id="173" name="Image 25" descr="D:\Professional Work\Business\FC_Case_Dhruvi\presentation\source\assets\doodle_tap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72000">
            <a:off x="10629900" y="548640"/>
            <a:ext cx="548640" cy="173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RANGES AND SAFE PARENT REPORTS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range instead of a single rank, and parent messages where every number is checked before sending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356616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15568"/>
            <a:ext cx="3346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RANGE, NOT A RANK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032504" y="1115568"/>
            <a:ext cx="0" cy="320040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484632" y="1481328"/>
            <a:ext cx="341985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70432" y="2852928"/>
            <a:ext cx="2505456" cy="9144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67512" y="274320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170432" y="2563368"/>
            <a:ext cx="2505456" cy="9144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67512" y="24536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170432" y="2273808"/>
            <a:ext cx="2505456" cy="9144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67512" y="21640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170432" y="1984248"/>
            <a:ext cx="2505456" cy="9144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67512" y="18745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67512" y="157276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percentile range, one student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310738" y="2071116"/>
            <a:ext cx="220480" cy="608076"/>
          </a:xfrm>
          <a:prstGeom prst="roundRect">
            <a:avLst>
              <a:gd name="adj" fmla="val 20737"/>
            </a:avLst>
          </a:prstGeom>
          <a:solidFill>
            <a:srgbClr val="B9CFE8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170432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1811829" y="2114550"/>
            <a:ext cx="220480" cy="477774"/>
          </a:xfrm>
          <a:prstGeom prst="roundRect">
            <a:avLst>
              <a:gd name="adj" fmla="val 20737"/>
            </a:avLst>
          </a:prstGeom>
          <a:solidFill>
            <a:srgbClr val="B9CFE8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1671523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2312920" y="2157984"/>
            <a:ext cx="220480" cy="361950"/>
          </a:xfrm>
          <a:prstGeom prst="roundRect">
            <a:avLst>
              <a:gd name="adj" fmla="val 20737"/>
            </a:avLst>
          </a:prstGeom>
          <a:solidFill>
            <a:srgbClr val="B9CFE8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2172614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2814011" y="2201418"/>
            <a:ext cx="220480" cy="246126"/>
          </a:xfrm>
          <a:prstGeom prst="roundRect">
            <a:avLst>
              <a:gd name="adj" fmla="val 20737"/>
            </a:avLst>
          </a:prstGeom>
          <a:solidFill>
            <a:srgbClr val="B9CFE8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2673706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315102" y="2230374"/>
            <a:ext cx="220480" cy="159258"/>
          </a:xfrm>
          <a:prstGeom prst="roundRect">
            <a:avLst>
              <a:gd name="adj" fmla="val 28708"/>
            </a:avLst>
          </a:prstGeom>
          <a:solidFill>
            <a:srgbClr val="2E6DB4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3174797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667512" y="323697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 narrows as more tests come in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3520440" y="155448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520440" y="1554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36758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quantile model plus a conformal band, 80 % target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the exam scale by an editable table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with a disclaimer, never a promise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160520" y="1115568"/>
            <a:ext cx="457200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4270248" y="1115568"/>
            <a:ext cx="4352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REPORT: HINDI AND ENGLISH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8787384" y="1115568"/>
            <a:ext cx="0" cy="320040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53" name="Image 0" descr="Parent report in Hindi and English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1481328"/>
            <a:ext cx="4443984" cy="2670048"/>
          </a:xfrm>
          <a:prstGeom prst="rect">
            <a:avLst/>
          </a:prstGeom>
        </p:spPr>
      </p:pic>
      <p:sp>
        <p:nvSpPr>
          <p:cNvPr id="54" name="Shape 50"/>
          <p:cNvSpPr/>
          <p:nvPr/>
        </p:nvSpPr>
        <p:spPr>
          <a:xfrm>
            <a:off x="4343400" y="361188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4343400" y="36118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6" name="Shape 52"/>
          <p:cNvSpPr/>
          <p:nvPr/>
        </p:nvSpPr>
        <p:spPr>
          <a:xfrm rot="120000">
            <a:off x="7269480" y="4032504"/>
            <a:ext cx="1371600" cy="274320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57" name="Shape 53"/>
          <p:cNvSpPr/>
          <p:nvPr/>
        </p:nvSpPr>
        <p:spPr>
          <a:xfrm rot="120000">
            <a:off x="7223760" y="3977640"/>
            <a:ext cx="1371600" cy="274320"/>
          </a:xfrm>
          <a:prstGeom prst="rect">
            <a:avLst/>
          </a:prstGeom>
          <a:solidFill>
            <a:srgbClr val="FBE9A0"/>
          </a:solidFill>
          <a:ln/>
        </p:spPr>
      </p:sp>
      <p:sp>
        <p:nvSpPr>
          <p:cNvPr id="58" name="Text 54"/>
          <p:cNvSpPr txBox="1"/>
          <p:nvPr/>
        </p:nvSpPr>
        <p:spPr>
          <a:xfrm rot="120000">
            <a:off x="7278624" y="401421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6D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no AI needed to send</a:t>
            </a:r>
            <a:endParaRPr lang="en-US" sz="850" dirty="0"/>
          </a:p>
        </p:txBody>
      </p:sp>
      <p:pic>
        <p:nvPicPr>
          <p:cNvPr id="59" name="Image 1" descr="D:\Professional Work\Business\FC_Case_Dhruvi\presentation\source\assets\doodle_ta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2000">
            <a:off x="7635240" y="3886200"/>
            <a:ext cx="548640" cy="173736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8869680" y="1115568"/>
            <a:ext cx="2907792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1" name="Text 56"/>
          <p:cNvSpPr txBox="1"/>
          <p:nvPr/>
        </p:nvSpPr>
        <p:spPr>
          <a:xfrm>
            <a:off x="8979408" y="1115568"/>
            <a:ext cx="2688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CHECKING PIPELINE</a:t>
            </a:r>
            <a:endParaRPr lang="en-US" sz="1200" dirty="0"/>
          </a:p>
        </p:txBody>
      </p:sp>
      <p:sp>
        <p:nvSpPr>
          <p:cNvPr id="62" name="Shape 57"/>
          <p:cNvSpPr/>
          <p:nvPr/>
        </p:nvSpPr>
        <p:spPr>
          <a:xfrm>
            <a:off x="8942832" y="1499616"/>
            <a:ext cx="329184" cy="329184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63" name="Image 2" descr="FaDatabas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252" y="1572036"/>
            <a:ext cx="184343" cy="184343"/>
          </a:xfrm>
          <a:prstGeom prst="rect">
            <a:avLst/>
          </a:prstGeom>
        </p:spPr>
      </p:pic>
      <p:sp>
        <p:nvSpPr>
          <p:cNvPr id="64" name="Text 58"/>
          <p:cNvSpPr txBox="1"/>
          <p:nvPr/>
        </p:nvSpPr>
        <p:spPr>
          <a:xfrm>
            <a:off x="9345168" y="1463040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from data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tests, topics, trend.</a:t>
            </a:r>
            <a:endParaRPr lang="en-US" sz="1400" dirty="0"/>
          </a:p>
        </p:txBody>
      </p:sp>
      <p:sp>
        <p:nvSpPr>
          <p:cNvPr id="65" name="Shape 59"/>
          <p:cNvSpPr/>
          <p:nvPr/>
        </p:nvSpPr>
        <p:spPr>
          <a:xfrm>
            <a:off x="8942832" y="2203704"/>
            <a:ext cx="329184" cy="329184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66" name="Image 3" descr="FaRobo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5252" y="2276124"/>
            <a:ext cx="184343" cy="184343"/>
          </a:xfrm>
          <a:prstGeom prst="rect">
            <a:avLst/>
          </a:prstGeom>
        </p:spPr>
      </p:pic>
      <p:sp>
        <p:nvSpPr>
          <p:cNvPr id="67" name="Text 60"/>
          <p:cNvSpPr txBox="1"/>
          <p:nvPr/>
        </p:nvSpPr>
        <p:spPr>
          <a:xfrm>
            <a:off x="9345168" y="2167128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local AI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rewords; never adds a number.</a:t>
            </a:r>
            <a:endParaRPr lang="en-US" sz="1400" dirty="0"/>
          </a:p>
        </p:txBody>
      </p:sp>
      <p:sp>
        <p:nvSpPr>
          <p:cNvPr id="68" name="Shape 61"/>
          <p:cNvSpPr/>
          <p:nvPr/>
        </p:nvSpPr>
        <p:spPr>
          <a:xfrm>
            <a:off x="8942832" y="2907792"/>
            <a:ext cx="329184" cy="329184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69" name="Image 4" descr="FaList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252" y="2980212"/>
            <a:ext cx="184343" cy="184343"/>
          </a:xfrm>
          <a:prstGeom prst="rect">
            <a:avLst/>
          </a:prstGeom>
        </p:spPr>
      </p:pic>
      <p:sp>
        <p:nvSpPr>
          <p:cNvPr id="70" name="Text 62"/>
          <p:cNvSpPr txBox="1"/>
          <p:nvPr/>
        </p:nvSpPr>
        <p:spPr>
          <a:xfrm>
            <a:off x="9345168" y="2871216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checks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topics, names, words, length, trend, tips, format.</a:t>
            </a:r>
            <a:endParaRPr lang="en-US" sz="1400" dirty="0"/>
          </a:p>
        </p:txBody>
      </p:sp>
      <p:sp>
        <p:nvSpPr>
          <p:cNvPr id="71" name="Shape 63"/>
          <p:cNvSpPr/>
          <p:nvPr/>
        </p:nvSpPr>
        <p:spPr>
          <a:xfrm>
            <a:off x="8942832" y="3611880"/>
            <a:ext cx="329184" cy="329184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72" name="Image 5" descr="FaFilePdf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252" y="3684300"/>
            <a:ext cx="184343" cy="184343"/>
          </a:xfrm>
          <a:prstGeom prst="rect">
            <a:avLst/>
          </a:prstGeom>
        </p:spPr>
      </p:pic>
      <p:sp>
        <p:nvSpPr>
          <p:cNvPr id="73" name="Text 64"/>
          <p:cNvSpPr txBox="1"/>
          <p:nvPr/>
        </p:nvSpPr>
        <p:spPr>
          <a:xfrm>
            <a:off x="9345168" y="3575304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fallback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human-written text if any check fails.</a:t>
            </a:r>
            <a:endParaRPr lang="en-US" sz="1400" dirty="0"/>
          </a:p>
        </p:txBody>
      </p:sp>
      <p:sp>
        <p:nvSpPr>
          <p:cNvPr id="74" name="Text 65"/>
          <p:cNvSpPr txBox="1"/>
          <p:nvPr/>
        </p:nvSpPr>
        <p:spPr>
          <a:xfrm>
            <a:off x="448056" y="4453128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AUTOMATIC SAFETY CHECKS BEFORE ANY MESSAGE</a:t>
            </a:r>
            <a:endParaRPr lang="en-US" sz="1250" dirty="0"/>
          </a:p>
        </p:txBody>
      </p:sp>
      <p:sp>
        <p:nvSpPr>
          <p:cNvPr id="75" name="Shape 66"/>
          <p:cNvSpPr/>
          <p:nvPr/>
        </p:nvSpPr>
        <p:spPr>
          <a:xfrm>
            <a:off x="448056" y="4745736"/>
            <a:ext cx="662940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76" name="Shape 67"/>
          <p:cNvSpPr/>
          <p:nvPr/>
        </p:nvSpPr>
        <p:spPr>
          <a:xfrm>
            <a:off x="448056" y="4736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7" name="Shape 68"/>
          <p:cNvSpPr/>
          <p:nvPr/>
        </p:nvSpPr>
        <p:spPr>
          <a:xfrm>
            <a:off x="7187184" y="4480560"/>
            <a:ext cx="0" cy="18745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78" name="Shape 69"/>
          <p:cNvSpPr/>
          <p:nvPr/>
        </p:nvSpPr>
        <p:spPr>
          <a:xfrm>
            <a:off x="457200" y="4846320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9" name="Text 70"/>
          <p:cNvSpPr txBox="1"/>
          <p:nvPr/>
        </p:nvSpPr>
        <p:spPr>
          <a:xfrm>
            <a:off x="457200" y="4846320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0" name="Shape 71"/>
          <p:cNvSpPr/>
          <p:nvPr/>
        </p:nvSpPr>
        <p:spPr>
          <a:xfrm>
            <a:off x="768096" y="4846320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1" name="Text 72"/>
          <p:cNvSpPr txBox="1"/>
          <p:nvPr/>
        </p:nvSpPr>
        <p:spPr>
          <a:xfrm>
            <a:off x="822960" y="4846320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match the data</a:t>
            </a:r>
            <a:endParaRPr lang="en-US" sz="900" dirty="0"/>
          </a:p>
        </p:txBody>
      </p:sp>
      <p:sp>
        <p:nvSpPr>
          <p:cNvPr id="82" name="Shape 73"/>
          <p:cNvSpPr/>
          <p:nvPr/>
        </p:nvSpPr>
        <p:spPr>
          <a:xfrm>
            <a:off x="2121408" y="4846320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3" name="Text 74"/>
          <p:cNvSpPr txBox="1"/>
          <p:nvPr/>
        </p:nvSpPr>
        <p:spPr>
          <a:xfrm>
            <a:off x="2121408" y="4846320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4" name="Shape 75"/>
          <p:cNvSpPr/>
          <p:nvPr/>
        </p:nvSpPr>
        <p:spPr>
          <a:xfrm>
            <a:off x="2432304" y="4846320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5" name="Text 76"/>
          <p:cNvSpPr txBox="1"/>
          <p:nvPr/>
        </p:nvSpPr>
        <p:spPr>
          <a:xfrm>
            <a:off x="2487168" y="4846320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are real</a:t>
            </a:r>
            <a:endParaRPr lang="en-US" sz="900" dirty="0"/>
          </a:p>
        </p:txBody>
      </p:sp>
      <p:sp>
        <p:nvSpPr>
          <p:cNvPr id="86" name="Shape 77"/>
          <p:cNvSpPr/>
          <p:nvPr/>
        </p:nvSpPr>
        <p:spPr>
          <a:xfrm>
            <a:off x="3785616" y="4846320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7" name="Text 78"/>
          <p:cNvSpPr txBox="1"/>
          <p:nvPr/>
        </p:nvSpPr>
        <p:spPr>
          <a:xfrm>
            <a:off x="3785616" y="4846320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8" name="Shape 79"/>
          <p:cNvSpPr/>
          <p:nvPr/>
        </p:nvSpPr>
        <p:spPr>
          <a:xfrm>
            <a:off x="4096512" y="4846320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9" name="Text 80"/>
          <p:cNvSpPr txBox="1"/>
          <p:nvPr/>
        </p:nvSpPr>
        <p:spPr>
          <a:xfrm>
            <a:off x="4151376" y="4846320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added last</a:t>
            </a:r>
            <a:endParaRPr lang="en-US" sz="900" dirty="0"/>
          </a:p>
        </p:txBody>
      </p:sp>
      <p:sp>
        <p:nvSpPr>
          <p:cNvPr id="90" name="Shape 81"/>
          <p:cNvSpPr/>
          <p:nvPr/>
        </p:nvSpPr>
        <p:spPr>
          <a:xfrm>
            <a:off x="5449824" y="4846320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1" name="Text 82"/>
          <p:cNvSpPr txBox="1"/>
          <p:nvPr/>
        </p:nvSpPr>
        <p:spPr>
          <a:xfrm>
            <a:off x="5449824" y="4846320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2" name="Shape 83"/>
          <p:cNvSpPr/>
          <p:nvPr/>
        </p:nvSpPr>
        <p:spPr>
          <a:xfrm>
            <a:off x="5760720" y="4846320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93" name="Text 84"/>
          <p:cNvSpPr txBox="1"/>
          <p:nvPr/>
        </p:nvSpPr>
        <p:spPr>
          <a:xfrm>
            <a:off x="5815584" y="4846320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banned words</a:t>
            </a:r>
            <a:endParaRPr lang="en-US" sz="900" dirty="0"/>
          </a:p>
        </p:txBody>
      </p:sp>
      <p:sp>
        <p:nvSpPr>
          <p:cNvPr id="94" name="Shape 85"/>
          <p:cNvSpPr/>
          <p:nvPr/>
        </p:nvSpPr>
        <p:spPr>
          <a:xfrm>
            <a:off x="457200" y="5413248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5" name="Text 86"/>
          <p:cNvSpPr txBox="1"/>
          <p:nvPr/>
        </p:nvSpPr>
        <p:spPr>
          <a:xfrm>
            <a:off x="457200" y="5413248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6" name="Shape 87"/>
          <p:cNvSpPr/>
          <p:nvPr/>
        </p:nvSpPr>
        <p:spPr>
          <a:xfrm>
            <a:off x="768096" y="5413248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97" name="Text 88"/>
          <p:cNvSpPr txBox="1"/>
          <p:nvPr/>
        </p:nvSpPr>
        <p:spPr>
          <a:xfrm>
            <a:off x="822960" y="541324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length</a:t>
            </a:r>
            <a:endParaRPr lang="en-US" sz="900" dirty="0"/>
          </a:p>
        </p:txBody>
      </p:sp>
      <p:sp>
        <p:nvSpPr>
          <p:cNvPr id="98" name="Shape 89"/>
          <p:cNvSpPr/>
          <p:nvPr/>
        </p:nvSpPr>
        <p:spPr>
          <a:xfrm>
            <a:off x="2121408" y="5413248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9" name="Text 90"/>
          <p:cNvSpPr txBox="1"/>
          <p:nvPr/>
        </p:nvSpPr>
        <p:spPr>
          <a:xfrm>
            <a:off x="2121408" y="5413248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00" name="Shape 91"/>
          <p:cNvSpPr/>
          <p:nvPr/>
        </p:nvSpPr>
        <p:spPr>
          <a:xfrm>
            <a:off x="2432304" y="5413248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101" name="Text 92"/>
          <p:cNvSpPr txBox="1"/>
          <p:nvPr/>
        </p:nvSpPr>
        <p:spPr>
          <a:xfrm>
            <a:off x="2487168" y="541324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is correct</a:t>
            </a:r>
            <a:endParaRPr lang="en-US" sz="900" dirty="0"/>
          </a:p>
        </p:txBody>
      </p:sp>
      <p:sp>
        <p:nvSpPr>
          <p:cNvPr id="102" name="Shape 93"/>
          <p:cNvSpPr/>
          <p:nvPr/>
        </p:nvSpPr>
        <p:spPr>
          <a:xfrm>
            <a:off x="3785616" y="5413248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3" name="Text 94"/>
          <p:cNvSpPr txBox="1"/>
          <p:nvPr/>
        </p:nvSpPr>
        <p:spPr>
          <a:xfrm>
            <a:off x="3785616" y="5413248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04" name="Shape 95"/>
          <p:cNvSpPr/>
          <p:nvPr/>
        </p:nvSpPr>
        <p:spPr>
          <a:xfrm>
            <a:off x="4096512" y="5413248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105" name="Text 96"/>
          <p:cNvSpPr txBox="1"/>
          <p:nvPr/>
        </p:nvSpPr>
        <p:spPr>
          <a:xfrm>
            <a:off x="4151376" y="541324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are approved</a:t>
            </a:r>
            <a:endParaRPr lang="en-US" sz="900" dirty="0"/>
          </a:p>
        </p:txBody>
      </p:sp>
      <p:sp>
        <p:nvSpPr>
          <p:cNvPr id="106" name="Shape 97"/>
          <p:cNvSpPr/>
          <p:nvPr/>
        </p:nvSpPr>
        <p:spPr>
          <a:xfrm>
            <a:off x="5449824" y="5413248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7" name="Text 98"/>
          <p:cNvSpPr txBox="1"/>
          <p:nvPr/>
        </p:nvSpPr>
        <p:spPr>
          <a:xfrm>
            <a:off x="5449824" y="5413248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08" name="Shape 99"/>
          <p:cNvSpPr/>
          <p:nvPr/>
        </p:nvSpPr>
        <p:spPr>
          <a:xfrm>
            <a:off x="5760720" y="5413248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109" name="Text 100"/>
          <p:cNvSpPr txBox="1"/>
          <p:nvPr/>
        </p:nvSpPr>
        <p:spPr>
          <a:xfrm>
            <a:off x="5815584" y="541324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is valid</a:t>
            </a:r>
            <a:endParaRPr lang="en-US" sz="900" dirty="0"/>
          </a:p>
        </p:txBody>
      </p:sp>
      <p:sp>
        <p:nvSpPr>
          <p:cNvPr id="110" name="Text 101"/>
          <p:cNvSpPr txBox="1"/>
          <p:nvPr/>
        </p:nvSpPr>
        <p:spPr>
          <a:xfrm>
            <a:off x="7351776" y="4453128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CHECK FAILS</a:t>
            </a:r>
            <a:endParaRPr lang="en-US" sz="1250" dirty="0"/>
          </a:p>
        </p:txBody>
      </p:sp>
      <p:sp>
        <p:nvSpPr>
          <p:cNvPr id="111" name="Shape 102"/>
          <p:cNvSpPr/>
          <p:nvPr/>
        </p:nvSpPr>
        <p:spPr>
          <a:xfrm>
            <a:off x="7351776" y="4745736"/>
            <a:ext cx="437083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12" name="Shape 103"/>
          <p:cNvSpPr/>
          <p:nvPr/>
        </p:nvSpPr>
        <p:spPr>
          <a:xfrm>
            <a:off x="7351776" y="4736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3" name="Shape 104"/>
          <p:cNvSpPr/>
          <p:nvPr/>
        </p:nvSpPr>
        <p:spPr>
          <a:xfrm>
            <a:off x="7406640" y="4846320"/>
            <a:ext cx="1501445" cy="365760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4" name="Text 105"/>
          <p:cNvSpPr txBox="1"/>
          <p:nvPr/>
        </p:nvSpPr>
        <p:spPr>
          <a:xfrm>
            <a:off x="7534656" y="4846320"/>
            <a:ext cx="1217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</a:t>
            </a:r>
            <a:endParaRPr lang="en-US" sz="1000" dirty="0"/>
          </a:p>
        </p:txBody>
      </p:sp>
      <p:sp>
        <p:nvSpPr>
          <p:cNvPr id="115" name="Shape 106"/>
          <p:cNvSpPr/>
          <p:nvPr/>
        </p:nvSpPr>
        <p:spPr>
          <a:xfrm>
            <a:off x="8795614" y="4846320"/>
            <a:ext cx="1501445" cy="365760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6" name="Text 107"/>
          <p:cNvSpPr txBox="1"/>
          <p:nvPr/>
        </p:nvSpPr>
        <p:spPr>
          <a:xfrm>
            <a:off x="8969350" y="4846320"/>
            <a:ext cx="1172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checks</a:t>
            </a:r>
            <a:endParaRPr lang="en-US" sz="1000" dirty="0"/>
          </a:p>
        </p:txBody>
      </p:sp>
      <p:sp>
        <p:nvSpPr>
          <p:cNvPr id="117" name="Shape 108"/>
          <p:cNvSpPr/>
          <p:nvPr/>
        </p:nvSpPr>
        <p:spPr>
          <a:xfrm>
            <a:off x="10184587" y="4846320"/>
            <a:ext cx="1501445" cy="36576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8" name="Text 109"/>
          <p:cNvSpPr txBox="1"/>
          <p:nvPr/>
        </p:nvSpPr>
        <p:spPr>
          <a:xfrm>
            <a:off x="10358323" y="4846320"/>
            <a:ext cx="1172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000" dirty="0"/>
          </a:p>
        </p:txBody>
      </p:sp>
      <p:sp>
        <p:nvSpPr>
          <p:cNvPr id="119" name="Shape 110"/>
          <p:cNvSpPr/>
          <p:nvPr/>
        </p:nvSpPr>
        <p:spPr>
          <a:xfrm>
            <a:off x="7406640" y="5321808"/>
            <a:ext cx="4279392" cy="402336"/>
          </a:xfrm>
          <a:prstGeom prst="rect">
            <a:avLst/>
          </a:prstGeom>
          <a:solidFill>
            <a:srgbClr val="F1E8D3"/>
          </a:solidFill>
          <a:ln w="15875">
            <a:solidFill>
              <a:srgbClr val="D4A24C"/>
            </a:solidFill>
            <a:prstDash val="dash"/>
          </a:ln>
        </p:spPr>
      </p:sp>
      <p:pic>
        <p:nvPicPr>
          <p:cNvPr id="120" name="Image 6" descr="FaShieldHalved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5394960"/>
            <a:ext cx="256032" cy="256032"/>
          </a:xfrm>
          <a:prstGeom prst="rect">
            <a:avLst/>
          </a:prstGeom>
        </p:spPr>
      </p:pic>
      <p:sp>
        <p:nvSpPr>
          <p:cNvPr id="121" name="Text 111"/>
          <p:cNvSpPr txBox="1"/>
          <p:nvPr/>
        </p:nvSpPr>
        <p:spPr>
          <a:xfrm>
            <a:off x="7845552" y="532180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failure: a safe human-written template goes out instead</a:t>
            </a:r>
            <a:endParaRPr lang="en-US" sz="900" dirty="0"/>
          </a:p>
        </p:txBody>
      </p:sp>
      <p:sp>
        <p:nvSpPr>
          <p:cNvPr id="122" name="Text 112"/>
          <p:cNvSpPr txBox="1"/>
          <p:nvPr/>
        </p:nvSpPr>
        <p:spPr>
          <a:xfrm>
            <a:off x="7406640" y="5788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on the same rails: </a:t>
            </a:r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study plans and doubt answers from retrieved notes (designed).</a:t>
            </a:r>
            <a:endParaRPr lang="en-US" sz="850" dirty="0"/>
          </a:p>
        </p:txBody>
      </p:sp>
      <p:sp>
        <p:nvSpPr>
          <p:cNvPr id="123" name="Shape 113"/>
          <p:cNvSpPr/>
          <p:nvPr/>
        </p:nvSpPr>
        <p:spPr>
          <a:xfrm>
            <a:off x="10332720" y="5852160"/>
            <a:ext cx="542544" cy="182880"/>
          </a:xfrm>
          <a:prstGeom prst="roundRect">
            <a:avLst>
              <a:gd name="adj" fmla="val 50000"/>
            </a:avLst>
          </a:prstGeom>
          <a:solidFill>
            <a:srgbClr val="1F4A82"/>
          </a:solidFill>
          <a:ln/>
        </p:spPr>
      </p:sp>
      <p:sp>
        <p:nvSpPr>
          <p:cNvPr id="124" name="Text 114"/>
          <p:cNvSpPr txBox="1"/>
          <p:nvPr/>
        </p:nvSpPr>
        <p:spPr>
          <a:xfrm>
            <a:off x="10332720" y="5852160"/>
            <a:ext cx="54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125" name="Text 115"/>
          <p:cNvSpPr txBox="1"/>
          <p:nvPr/>
        </p:nvSpPr>
        <p:spPr>
          <a:xfrm>
            <a:off x="10927080" y="58338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tests</a:t>
            </a:r>
            <a:endParaRPr lang="en-US" sz="850" dirty="0"/>
          </a:p>
        </p:txBody>
      </p:sp>
      <p:sp>
        <p:nvSpPr>
          <p:cNvPr id="126" name="Text 116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backend/app/genai (20 templates, 16 tests); contracts/report_numbers.schema.json. An independent attack on the checker found gaps; fixes in progress, so no catch rate is claimed. Mock-ups illustrative.</a:t>
            </a:r>
            <a:endParaRPr lang="en-US" sz="850" dirty="0"/>
          </a:p>
        </p:txBody>
      </p:sp>
      <p:pic>
        <p:nvPicPr>
          <p:cNvPr id="127" name="Image 7" descr="parent curso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291840"/>
            <a:ext cx="777240" cy="329184"/>
          </a:xfrm>
          <a:prstGeom prst="rect">
            <a:avLst/>
          </a:prstGeom>
        </p:spPr>
      </p:pic>
      <p:pic>
        <p:nvPicPr>
          <p:cNvPr id="128" name="Image 8" descr="hand-drawn arrow_d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5230368"/>
            <a:ext cx="777240" cy="228600"/>
          </a:xfrm>
          <a:prstGeom prst="rect">
            <a:avLst/>
          </a:prstGeom>
        </p:spPr>
      </p:pic>
      <p:pic>
        <p:nvPicPr>
          <p:cNvPr id="129" name="Image 9" descr="hand-drawn ul_swoosh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0" y="3840480"/>
            <a:ext cx="1463040" cy="128016"/>
          </a:xfrm>
          <a:prstGeom prst="rect">
            <a:avLst/>
          </a:prstGeom>
        </p:spPr>
      </p:pic>
      <p:sp>
        <p:nvSpPr>
          <p:cNvPr id="130" name="Shape 117"/>
          <p:cNvSpPr/>
          <p:nvPr/>
        </p:nvSpPr>
        <p:spPr>
          <a:xfrm rot="120000">
            <a:off x="10104120" y="694944"/>
            <a:ext cx="1691640" cy="38404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31" name="Shape 118"/>
          <p:cNvSpPr/>
          <p:nvPr/>
        </p:nvSpPr>
        <p:spPr>
          <a:xfrm rot="120000">
            <a:off x="10058400" y="640080"/>
            <a:ext cx="1691640" cy="384048"/>
          </a:xfrm>
          <a:prstGeom prst="rect">
            <a:avLst/>
          </a:prstGeom>
          <a:solidFill>
            <a:srgbClr val="BFE0F7"/>
          </a:solidFill>
          <a:ln/>
        </p:spPr>
      </p:sp>
      <p:sp>
        <p:nvSpPr>
          <p:cNvPr id="132" name="Text 119"/>
          <p:cNvSpPr txBox="1"/>
          <p:nvPr/>
        </p:nvSpPr>
        <p:spPr>
          <a:xfrm rot="120000">
            <a:off x="10113264" y="67665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4A82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the range narrows as tests come in</a:t>
            </a:r>
            <a:endParaRPr lang="en-US" sz="850" dirty="0"/>
          </a:p>
        </p:txBody>
      </p:sp>
      <p:pic>
        <p:nvPicPr>
          <p:cNvPr id="133" name="Image 10" descr="D:\Professional Work\Business\FC_Case_Dhruvi\presentation\source\assets\doodle_tap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72000">
            <a:off x="10629900" y="548640"/>
            <a:ext cx="548640" cy="173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69180" y="91440"/>
            <a:ext cx="71780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SAFETY AND DPDP COMPLIANCE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law and for children: consent first, supportive actions only, no rankings, raw data stays at the institute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320040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15568"/>
            <a:ext cx="2980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PARENTAL CONSENT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66744" y="1115568"/>
            <a:ext cx="0" cy="32918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26" name="Image 0" descr="Consent notice with purpose switches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2743200" cy="274320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02920" y="187452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02920" y="1874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02920" y="292608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02920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02920" y="379476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02920" y="3794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45720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ID checked at the desk (Rule 10)   2 One switch per purpose   3 Withdraw in one tap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3749040" y="1115568"/>
            <a:ext cx="416052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3858768" y="1115568"/>
            <a:ext cx="3941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LOCKBOX: RAW DATA NEVER LEAVES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7964424" y="1115568"/>
            <a:ext cx="0" cy="32918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37" name="Shape 33"/>
          <p:cNvSpPr/>
          <p:nvPr/>
        </p:nvSpPr>
        <p:spPr>
          <a:xfrm>
            <a:off x="3858768" y="1508760"/>
            <a:ext cx="3941064" cy="2286000"/>
          </a:xfrm>
          <a:prstGeom prst="roundRect">
            <a:avLst>
              <a:gd name="adj" fmla="val 4000"/>
            </a:avLst>
          </a:prstGeom>
          <a:solidFill>
            <a:srgbClr val="E3ECF7"/>
          </a:solidFill>
          <a:ln w="25400">
            <a:solidFill>
              <a:srgbClr val="1F4A82"/>
            </a:solidFill>
            <a:prstDash val="dash"/>
          </a:ln>
        </p:spPr>
      </p:sp>
      <p:sp>
        <p:nvSpPr>
          <p:cNvPr id="38" name="Shape 34"/>
          <p:cNvSpPr/>
          <p:nvPr/>
        </p:nvSpPr>
        <p:spPr>
          <a:xfrm>
            <a:off x="5554980" y="1417320"/>
            <a:ext cx="548640" cy="548640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39" name="Image 1" descr="FaLo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428" y="1536192"/>
            <a:ext cx="237744" cy="237744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3886200" y="20116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INSTITUTE'S OWN SPACE: ONE LAPTOP OR PRIVATE SERVER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3977640" y="2286000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42" name="Image 2" descr="FaUserGraduat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2450592"/>
            <a:ext cx="274320" cy="274320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4389120" y="22860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5852160" y="2286000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45" name="Image 3" descr="FaFileCircle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450592"/>
            <a:ext cx="274320" cy="274320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6263640" y="22860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and answers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3977640" y="2999232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48" name="Image 4" descr="FaSignatur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0792" y="3163824"/>
            <a:ext cx="274320" cy="27432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4389120" y="2999232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ledger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5852160" y="2999232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51" name="Image 5" descr="FaList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2" y="3163824"/>
            <a:ext cx="274320" cy="274320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6263640" y="2999232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lists: mentors only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5829300" y="3794760"/>
            <a:ext cx="0" cy="210312"/>
          </a:xfrm>
          <a:prstGeom prst="line">
            <a:avLst/>
          </a:prstGeom>
          <a:noFill/>
          <a:ln w="3175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54" name="Text 45"/>
          <p:cNvSpPr txBox="1"/>
          <p:nvPr/>
        </p:nvSpPr>
        <p:spPr>
          <a:xfrm>
            <a:off x="3840480" y="40050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question difficulty numbers only, to the shared bank. Parents see progress, never ranks.</a:t>
            </a:r>
            <a:endParaRPr lang="en-US" sz="850" dirty="0"/>
          </a:p>
        </p:txBody>
      </p:sp>
      <p:sp>
        <p:nvSpPr>
          <p:cNvPr id="55" name="Shape 46"/>
          <p:cNvSpPr/>
          <p:nvPr/>
        </p:nvSpPr>
        <p:spPr>
          <a:xfrm>
            <a:off x="8046720" y="1115568"/>
            <a:ext cx="3730752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6" name="Text 47"/>
          <p:cNvSpPr txBox="1"/>
          <p:nvPr/>
        </p:nvSpPr>
        <p:spPr>
          <a:xfrm>
            <a:off x="8156448" y="1115568"/>
            <a:ext cx="3511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PRIVACY, ON REAL DATA</a:t>
            </a:r>
            <a:endParaRPr lang="en-US" sz="1200" dirty="0"/>
          </a:p>
        </p:txBody>
      </p:sp>
      <p:pic>
        <p:nvPicPr>
          <p:cNvPr id="57" name="Image 6" descr="Academic-only vs academic plus click behaviour, OULA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1481328"/>
            <a:ext cx="3566160" cy="2706624"/>
          </a:xfrm>
          <a:prstGeom prst="rect">
            <a:avLst/>
          </a:prstGeom>
        </p:spPr>
      </p:pic>
      <p:sp>
        <p:nvSpPr>
          <p:cNvPr id="58" name="Shape 48"/>
          <p:cNvSpPr/>
          <p:nvPr/>
        </p:nvSpPr>
        <p:spPr>
          <a:xfrm>
            <a:off x="8138160" y="4160520"/>
            <a:ext cx="86639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8138160" y="4160520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750" dirty="0"/>
          </a:p>
        </p:txBody>
      </p:sp>
      <p:sp>
        <p:nvSpPr>
          <p:cNvPr id="60" name="Text 50"/>
          <p:cNvSpPr txBox="1"/>
          <p:nvPr/>
        </p:nvSpPr>
        <p:spPr>
          <a:xfrm>
            <a:off x="9509760" y="4114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Academic-only costs 0.008 AUC at day 28</a:t>
            </a:r>
            <a:endParaRPr lang="en-US" sz="850" dirty="0"/>
          </a:p>
        </p:txBody>
      </p:sp>
      <p:sp>
        <p:nvSpPr>
          <p:cNvPr id="61" name="Text 51"/>
          <p:cNvSpPr txBox="1"/>
          <p:nvPr/>
        </p:nvSpPr>
        <p:spPr>
          <a:xfrm>
            <a:off x="448056" y="45445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</a:t>
            </a:r>
            <a:endParaRPr lang="en-US" sz="1250" dirty="0"/>
          </a:p>
        </p:txBody>
      </p:sp>
      <p:sp>
        <p:nvSpPr>
          <p:cNvPr id="62" name="Shape 52"/>
          <p:cNvSpPr/>
          <p:nvPr/>
        </p:nvSpPr>
        <p:spPr>
          <a:xfrm>
            <a:off x="448056" y="4837176"/>
            <a:ext cx="713232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63" name="Shape 53"/>
          <p:cNvSpPr/>
          <p:nvPr/>
        </p:nvSpPr>
        <p:spPr>
          <a:xfrm>
            <a:off x="448056" y="482803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4" name="Shape 54"/>
          <p:cNvSpPr/>
          <p:nvPr/>
        </p:nvSpPr>
        <p:spPr>
          <a:xfrm>
            <a:off x="7690104" y="4572000"/>
            <a:ext cx="0" cy="17830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65" name="Shape 55"/>
          <p:cNvSpPr/>
          <p:nvPr/>
        </p:nvSpPr>
        <p:spPr>
          <a:xfrm>
            <a:off x="484632" y="4983480"/>
            <a:ext cx="1188720" cy="1188720"/>
          </a:xfrm>
          <a:prstGeom prst="ellipse">
            <a:avLst/>
          </a:prstGeom>
          <a:solidFill>
            <a:srgbClr val="1F4A82"/>
          </a:solidFill>
          <a:ln w="63500">
            <a:solidFill>
              <a:srgbClr val="E3ECF7"/>
            </a:solidFill>
            <a:prstDash val="solid"/>
          </a:ln>
        </p:spPr>
      </p:sp>
      <p:pic>
        <p:nvPicPr>
          <p:cNvPr id="66" name="Image 7" descr="FaShieldHalved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248656"/>
            <a:ext cx="658368" cy="658368"/>
          </a:xfrm>
          <a:prstGeom prst="rect">
            <a:avLst/>
          </a:prstGeom>
        </p:spPr>
      </p:pic>
      <p:sp>
        <p:nvSpPr>
          <p:cNvPr id="67" name="Shape 56"/>
          <p:cNvSpPr/>
          <p:nvPr/>
        </p:nvSpPr>
        <p:spPr>
          <a:xfrm>
            <a:off x="1828800" y="49194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68" name="Shape 57"/>
          <p:cNvSpPr/>
          <p:nvPr/>
        </p:nvSpPr>
        <p:spPr>
          <a:xfrm>
            <a:off x="1828800" y="49194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9" name="Text 58"/>
          <p:cNvSpPr txBox="1"/>
          <p:nvPr/>
        </p:nvSpPr>
        <p:spPr>
          <a:xfrm>
            <a:off x="1956816" y="49194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leaderboards or public ranks</a:t>
            </a:r>
            <a:endParaRPr lang="en-US" sz="900" dirty="0"/>
          </a:p>
        </p:txBody>
      </p:sp>
      <p:sp>
        <p:nvSpPr>
          <p:cNvPr id="70" name="Shape 59"/>
          <p:cNvSpPr/>
          <p:nvPr/>
        </p:nvSpPr>
        <p:spPr>
          <a:xfrm>
            <a:off x="4754880" y="49194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4754880" y="49194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2" name="Text 61"/>
          <p:cNvSpPr txBox="1"/>
          <p:nvPr/>
        </p:nvSpPr>
        <p:spPr>
          <a:xfrm>
            <a:off x="4882896" y="49194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 moves based on scores</a:t>
            </a:r>
            <a:endParaRPr lang="en-US" sz="900" dirty="0"/>
          </a:p>
        </p:txBody>
      </p:sp>
      <p:sp>
        <p:nvSpPr>
          <p:cNvPr id="73" name="Shape 62"/>
          <p:cNvSpPr/>
          <p:nvPr/>
        </p:nvSpPr>
        <p:spPr>
          <a:xfrm>
            <a:off x="1828800" y="53766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1828800" y="53766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Text 64"/>
          <p:cNvSpPr txBox="1"/>
          <p:nvPr/>
        </p:nvSpPr>
        <p:spPr>
          <a:xfrm>
            <a:off x="1956816" y="53766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Banned-words check on every message</a:t>
            </a:r>
            <a:endParaRPr lang="en-US" sz="900" dirty="0"/>
          </a:p>
        </p:txBody>
      </p:sp>
      <p:sp>
        <p:nvSpPr>
          <p:cNvPr id="76" name="Shape 65"/>
          <p:cNvSpPr/>
          <p:nvPr/>
        </p:nvSpPr>
        <p:spPr>
          <a:xfrm>
            <a:off x="4754880" y="53766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7" name="Shape 66"/>
          <p:cNvSpPr/>
          <p:nvPr/>
        </p:nvSpPr>
        <p:spPr>
          <a:xfrm>
            <a:off x="4754880" y="53766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8" name="Text 67"/>
          <p:cNvSpPr txBox="1"/>
          <p:nvPr/>
        </p:nvSpPr>
        <p:spPr>
          <a:xfrm>
            <a:off x="4882896" y="53766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contact for each institute</a:t>
            </a:r>
            <a:endParaRPr lang="en-US" sz="900" dirty="0"/>
          </a:p>
        </p:txBody>
      </p:sp>
      <p:sp>
        <p:nvSpPr>
          <p:cNvPr id="79" name="Shape 68"/>
          <p:cNvSpPr/>
          <p:nvPr/>
        </p:nvSpPr>
        <p:spPr>
          <a:xfrm>
            <a:off x="1828800" y="58338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80" name="Shape 69"/>
          <p:cNvSpPr/>
          <p:nvPr/>
        </p:nvSpPr>
        <p:spPr>
          <a:xfrm>
            <a:off x="1828800" y="58338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1" name="Text 70"/>
          <p:cNvSpPr txBox="1"/>
          <p:nvPr/>
        </p:nvSpPr>
        <p:spPr>
          <a:xfrm>
            <a:off x="1956816" y="58338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lists: mentors and owner only</a:t>
            </a:r>
            <a:endParaRPr lang="en-US" sz="900" dirty="0"/>
          </a:p>
        </p:txBody>
      </p:sp>
      <p:sp>
        <p:nvSpPr>
          <p:cNvPr id="82" name="Shape 71"/>
          <p:cNvSpPr/>
          <p:nvPr/>
        </p:nvSpPr>
        <p:spPr>
          <a:xfrm>
            <a:off x="4754880" y="58338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83" name="Shape 72"/>
          <p:cNvSpPr/>
          <p:nvPr/>
        </p:nvSpPr>
        <p:spPr>
          <a:xfrm>
            <a:off x="4754880" y="58338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4" name="Text 73"/>
          <p:cNvSpPr txBox="1"/>
          <p:nvPr/>
        </p:nvSpPr>
        <p:spPr>
          <a:xfrm>
            <a:off x="4882896" y="58338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never see a risk label</a:t>
            </a:r>
            <a:endParaRPr lang="en-US" sz="900" dirty="0"/>
          </a:p>
        </p:txBody>
      </p:sp>
      <p:sp>
        <p:nvSpPr>
          <p:cNvPr id="85" name="Text 74"/>
          <p:cNvSpPr txBox="1"/>
          <p:nvPr/>
        </p:nvSpPr>
        <p:spPr>
          <a:xfrm>
            <a:off x="7854696" y="4544568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LAW, IN ONE LINE EACH</a:t>
            </a:r>
            <a:endParaRPr lang="en-US" sz="1250" dirty="0"/>
          </a:p>
        </p:txBody>
      </p:sp>
      <p:sp>
        <p:nvSpPr>
          <p:cNvPr id="86" name="Shape 75"/>
          <p:cNvSpPr/>
          <p:nvPr/>
        </p:nvSpPr>
        <p:spPr>
          <a:xfrm>
            <a:off x="7854696" y="4837176"/>
            <a:ext cx="386791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87" name="Shape 76"/>
          <p:cNvSpPr/>
          <p:nvPr/>
        </p:nvSpPr>
        <p:spPr>
          <a:xfrm>
            <a:off x="7854696" y="482803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8" name="Text 77"/>
          <p:cNvSpPr txBox="1"/>
          <p:nvPr/>
        </p:nvSpPr>
        <p:spPr>
          <a:xfrm>
            <a:off x="7909560" y="49194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s.9(1), Rule 10: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parental consent before processing</a:t>
            </a:r>
            <a:endParaRPr lang="en-US" sz="900" dirty="0"/>
          </a:p>
        </p:txBody>
      </p:sp>
      <p:sp>
        <p:nvSpPr>
          <p:cNvPr id="89" name="Text 78"/>
          <p:cNvSpPr txBox="1"/>
          <p:nvPr/>
        </p:nvSpPr>
        <p:spPr>
          <a:xfrm>
            <a:off x="7909560" y="52578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s.9(3):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of children, even with consent</a:t>
            </a:r>
            <a:endParaRPr lang="en-US" sz="900" dirty="0"/>
          </a:p>
        </p:txBody>
      </p:sp>
      <p:sp>
        <p:nvSpPr>
          <p:cNvPr id="90" name="Text 79"/>
          <p:cNvSpPr txBox="1"/>
          <p:nvPr/>
        </p:nvSpPr>
        <p:spPr>
          <a:xfrm>
            <a:off x="7909560" y="55961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2024 cl. 10.2(xi):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for counselling, never public</a:t>
            </a:r>
            <a:endParaRPr lang="en-US" sz="900" dirty="0"/>
          </a:p>
        </p:txBody>
      </p:sp>
      <p:sp>
        <p:nvSpPr>
          <p:cNvPr id="91" name="Text 80"/>
          <p:cNvSpPr txBox="1"/>
          <p:nvPr/>
        </p:nvSpPr>
        <p:spPr>
          <a:xfrm>
            <a:off x="7909560" y="593445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role: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processor; the institute is the fiduciary</a:t>
            </a:r>
            <a:endParaRPr lang="en-US" sz="900" dirty="0"/>
          </a:p>
        </p:txBody>
      </p:sp>
      <p:sp>
        <p:nvSpPr>
          <p:cNvPr id="92" name="Shape 81"/>
          <p:cNvSpPr/>
          <p:nvPr/>
        </p:nvSpPr>
        <p:spPr>
          <a:xfrm rot="120000">
            <a:off x="10104120" y="694944"/>
            <a:ext cx="1691640" cy="38404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93" name="Shape 82"/>
          <p:cNvSpPr/>
          <p:nvPr/>
        </p:nvSpPr>
        <p:spPr>
          <a:xfrm rot="120000">
            <a:off x="10058400" y="640080"/>
            <a:ext cx="1691640" cy="384048"/>
          </a:xfrm>
          <a:prstGeom prst="rect">
            <a:avLst/>
          </a:prstGeom>
          <a:solidFill>
            <a:srgbClr val="FDCB9A"/>
          </a:solidFill>
          <a:ln/>
        </p:spPr>
      </p:sp>
      <p:sp>
        <p:nvSpPr>
          <p:cNvPr id="94" name="Text 83"/>
          <p:cNvSpPr txBox="1"/>
          <p:nvPr/>
        </p:nvSpPr>
        <p:spPr>
          <a:xfrm rot="120000">
            <a:off x="10113264" y="67665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4B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built in, not bolted on</a:t>
            </a:r>
            <a:endParaRPr lang="en-US" sz="850" dirty="0"/>
          </a:p>
        </p:txBody>
      </p:sp>
      <p:pic>
        <p:nvPicPr>
          <p:cNvPr id="95" name="Image 8" descr="D:\Professional Work\Business\FC_Case_Dhruvi\presentation\source\assets\doodle_tap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72000">
            <a:off x="10629900" y="548640"/>
            <a:ext cx="548640" cy="173736"/>
          </a:xfrm>
          <a:prstGeom prst="rect">
            <a:avLst/>
          </a:prstGeom>
        </p:spPr>
      </p:pic>
      <p:sp>
        <p:nvSpPr>
          <p:cNvPr id="96" name="Text 84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DPDP Act 2023 s.9, Rules 2025 (Rule 10); MoE Guidelines 2024; contracts/routing_policy.yaml; OULAD results (ml/public_validation); isolation tested on PostgreSQL 16. Not legal advice.</a:t>
            </a:r>
            <a:endParaRPr lang="en-US" sz="850" dirty="0"/>
          </a:p>
        </p:txBody>
      </p:sp>
      <p:pic>
        <p:nvPicPr>
          <p:cNvPr id="97" name="Image 9" descr="hand-drawn ul_swoosh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1920" y="2194560"/>
            <a:ext cx="3657600" cy="109728"/>
          </a:xfrm>
          <a:prstGeom prst="rect">
            <a:avLst/>
          </a:prstGeom>
        </p:spPr>
      </p:pic>
      <p:pic>
        <p:nvPicPr>
          <p:cNvPr id="98" name="Image 10" descr="parent curso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7280" y="3291840"/>
            <a:ext cx="777240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9864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AND UNIT ECONOMICS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₹30 a student, fees kept and staff time saved already cover about half the cost; every admission it wins is a bonus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2773604" cy="9144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02920" y="11338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874520" y="1170432"/>
            <a:ext cx="1264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170078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4.8x undiscounted; guide 10.7x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276524" y="1115568"/>
            <a:ext cx="2773604" cy="9144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367964" y="11338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mo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4739564" y="1170432"/>
            <a:ext cx="1264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3367964" y="170078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simple; guide 3.1 months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141568" y="1115568"/>
            <a:ext cx="2773604" cy="9144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233008" y="11338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78 %</a:t>
            </a:r>
            <a:endParaRPr lang="en-US" sz="3000" dirty="0"/>
          </a:p>
        </p:txBody>
      </p:sp>
      <p:sp>
        <p:nvSpPr>
          <p:cNvPr id="33" name="Text 30"/>
          <p:cNvSpPr txBox="1"/>
          <p:nvPr/>
        </p:nvSpPr>
        <p:spPr>
          <a:xfrm>
            <a:off x="7604608" y="1170432"/>
            <a:ext cx="1264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233008" y="170078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₹6,740 a month per institute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9006611" y="1115568"/>
            <a:ext cx="2773604" cy="9144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098051" y="11338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3000" dirty="0"/>
          </a:p>
        </p:txBody>
      </p:sp>
      <p:sp>
        <p:nvSpPr>
          <p:cNvPr id="37" name="Text 34"/>
          <p:cNvSpPr txBox="1"/>
          <p:nvPr/>
        </p:nvSpPr>
        <p:spPr>
          <a:xfrm>
            <a:off x="10469651" y="1170432"/>
            <a:ext cx="1264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return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9098051" y="170078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0.55x on fees + staff time only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448056" y="21671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 (MID, BASE)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448056" y="2459736"/>
            <a:ext cx="342900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1" name="Shape 38"/>
          <p:cNvSpPr/>
          <p:nvPr/>
        </p:nvSpPr>
        <p:spPr>
          <a:xfrm>
            <a:off x="448056" y="2450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2" name="Shape 39"/>
          <p:cNvSpPr/>
          <p:nvPr/>
        </p:nvSpPr>
        <p:spPr>
          <a:xfrm>
            <a:off x="3986784" y="2194560"/>
            <a:ext cx="0" cy="36118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43" name="Shape 40"/>
          <p:cNvSpPr/>
          <p:nvPr/>
        </p:nvSpPr>
        <p:spPr>
          <a:xfrm>
            <a:off x="448056" y="2523744"/>
            <a:ext cx="1481328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93776" y="25237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1929384" y="2523744"/>
            <a:ext cx="713232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1975104" y="25237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2642616" y="2523744"/>
            <a:ext cx="9144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2688336" y="25237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3557016" y="2523744"/>
            <a:ext cx="338328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3602736" y="25237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448056" y="27523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493776" y="27523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1929384" y="27523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1975104" y="27523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2642616" y="27523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2688336" y="2752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to 1,200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3557016" y="27523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3602736" y="27523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448056" y="29809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48056" y="29809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93776" y="29809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1929384" y="29809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1975104" y="29809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₹75,000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642616" y="29809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2688336" y="2980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 to 95k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3557016" y="29809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3602736" y="29809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448056" y="32095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448056" y="32095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493776" y="32095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rate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1929384" y="32095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1975104" y="32095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12 %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2642616" y="32095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2688336" y="32095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 18 %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3557016" y="32095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3602736" y="32095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448056" y="34381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448056" y="34381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493776" y="34381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effect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1929384" y="34381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1975104" y="34381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2642616" y="34381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2688336" y="34381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 30 %</a:t>
            </a:r>
            <a:endParaRPr lang="en-US" sz="850" dirty="0"/>
          </a:p>
        </p:txBody>
      </p:sp>
      <p:sp>
        <p:nvSpPr>
          <p:cNvPr id="84" name="Shape 81"/>
          <p:cNvSpPr/>
          <p:nvPr/>
        </p:nvSpPr>
        <p:spPr>
          <a:xfrm>
            <a:off x="3557016" y="34381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3602736" y="34381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86" name="Shape 83"/>
          <p:cNvSpPr/>
          <p:nvPr/>
        </p:nvSpPr>
        <p:spPr>
          <a:xfrm>
            <a:off x="448056" y="36667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448056" y="36667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493776" y="36667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preventable</a:t>
            </a: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1929384" y="36667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1975104" y="36667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55 %</a:t>
            </a:r>
            <a:endParaRPr lang="en-US" sz="850" dirty="0"/>
          </a:p>
        </p:txBody>
      </p:sp>
      <p:sp>
        <p:nvSpPr>
          <p:cNvPr id="91" name="Shape 88"/>
          <p:cNvSpPr/>
          <p:nvPr/>
        </p:nvSpPr>
        <p:spPr>
          <a:xfrm>
            <a:off x="2642616" y="36667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2688336" y="36667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to 65 %</a:t>
            </a:r>
            <a:endParaRPr lang="en-US" sz="850" dirty="0"/>
          </a:p>
        </p:txBody>
      </p:sp>
      <p:sp>
        <p:nvSpPr>
          <p:cNvPr id="93" name="Shape 90"/>
          <p:cNvSpPr/>
          <p:nvPr/>
        </p:nvSpPr>
        <p:spPr>
          <a:xfrm>
            <a:off x="3557016" y="36667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3602736" y="36667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95" name="Shape 92"/>
          <p:cNvSpPr/>
          <p:nvPr/>
        </p:nvSpPr>
        <p:spPr>
          <a:xfrm>
            <a:off x="448056" y="38953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48056" y="38953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493776" y="38953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under 18</a:t>
            </a:r>
            <a:endParaRPr lang="en-US" sz="850" dirty="0"/>
          </a:p>
        </p:txBody>
      </p:sp>
      <p:sp>
        <p:nvSpPr>
          <p:cNvPr id="98" name="Shape 95"/>
          <p:cNvSpPr/>
          <p:nvPr/>
        </p:nvSpPr>
        <p:spPr>
          <a:xfrm>
            <a:off x="1929384" y="38953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1975104" y="38953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32 %</a:t>
            </a:r>
            <a:endParaRPr lang="en-US" sz="850" dirty="0"/>
          </a:p>
        </p:txBody>
      </p:sp>
      <p:sp>
        <p:nvSpPr>
          <p:cNvPr id="100" name="Shape 97"/>
          <p:cNvSpPr/>
          <p:nvPr/>
        </p:nvSpPr>
        <p:spPr>
          <a:xfrm>
            <a:off x="2642616" y="38953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2688336" y="3895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to 45 %</a:t>
            </a:r>
            <a:endParaRPr lang="en-US" sz="850" dirty="0"/>
          </a:p>
        </p:txBody>
      </p:sp>
      <p:sp>
        <p:nvSpPr>
          <p:cNvPr id="102" name="Shape 99"/>
          <p:cNvSpPr/>
          <p:nvPr/>
        </p:nvSpPr>
        <p:spPr>
          <a:xfrm>
            <a:off x="3557016" y="38953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Text 100"/>
          <p:cNvSpPr txBox="1"/>
          <p:nvPr/>
        </p:nvSpPr>
        <p:spPr>
          <a:xfrm>
            <a:off x="3602736" y="38953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04" name="Shape 101"/>
          <p:cNvSpPr/>
          <p:nvPr/>
        </p:nvSpPr>
        <p:spPr>
          <a:xfrm>
            <a:off x="448056" y="41239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48056" y="41239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493776" y="41239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18+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1929384" y="41239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1975104" y="41239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42 %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2642616" y="41239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2688336" y="4123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to 60 %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3557016" y="41239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3602736" y="41239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448056" y="43525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48056" y="43525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493776" y="43525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precision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1929384" y="43525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1975104" y="43525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850" dirty="0"/>
          </a:p>
        </p:txBody>
      </p:sp>
      <p:sp>
        <p:nvSpPr>
          <p:cNvPr id="118" name="Shape 115"/>
          <p:cNvSpPr/>
          <p:nvPr/>
        </p:nvSpPr>
        <p:spPr>
          <a:xfrm>
            <a:off x="2642616" y="43525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2688336" y="43525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 25 %</a:t>
            </a:r>
            <a:endParaRPr lang="en-US" sz="850" dirty="0"/>
          </a:p>
        </p:txBody>
      </p:sp>
      <p:sp>
        <p:nvSpPr>
          <p:cNvPr id="120" name="Shape 117"/>
          <p:cNvSpPr/>
          <p:nvPr/>
        </p:nvSpPr>
        <p:spPr>
          <a:xfrm>
            <a:off x="3557016" y="43525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3602736" y="43525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122" name="Shape 119"/>
          <p:cNvSpPr/>
          <p:nvPr/>
        </p:nvSpPr>
        <p:spPr>
          <a:xfrm>
            <a:off x="448056" y="45811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48056" y="45811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493776" y="45811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uplift</a:t>
            </a:r>
            <a:endParaRPr lang="en-US" sz="850" dirty="0"/>
          </a:p>
        </p:txBody>
      </p:sp>
      <p:sp>
        <p:nvSpPr>
          <p:cNvPr id="125" name="Shape 122"/>
          <p:cNvSpPr/>
          <p:nvPr/>
        </p:nvSpPr>
        <p:spPr>
          <a:xfrm>
            <a:off x="1929384" y="45811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1975104" y="45811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1 %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2642616" y="45811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8" name="Text 125"/>
          <p:cNvSpPr txBox="1"/>
          <p:nvPr/>
        </p:nvSpPr>
        <p:spPr>
          <a:xfrm>
            <a:off x="2688336" y="45811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3 %</a:t>
            </a:r>
            <a:endParaRPr lang="en-US" sz="850" dirty="0"/>
          </a:p>
        </p:txBody>
      </p:sp>
      <p:sp>
        <p:nvSpPr>
          <p:cNvPr id="129" name="Shape 126"/>
          <p:cNvSpPr/>
          <p:nvPr/>
        </p:nvSpPr>
        <p:spPr>
          <a:xfrm>
            <a:off x="3557016" y="45811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3602736" y="45811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31" name="Shape 128"/>
          <p:cNvSpPr/>
          <p:nvPr/>
        </p:nvSpPr>
        <p:spPr>
          <a:xfrm>
            <a:off x="448056" y="48097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48056" y="48097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493776" y="48097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hours saved</a:t>
            </a:r>
            <a:endParaRPr lang="en-US" sz="850" dirty="0"/>
          </a:p>
        </p:txBody>
      </p:sp>
      <p:sp>
        <p:nvSpPr>
          <p:cNvPr id="134" name="Shape 131"/>
          <p:cNvSpPr/>
          <p:nvPr/>
        </p:nvSpPr>
        <p:spPr>
          <a:xfrm>
            <a:off x="1929384" y="48097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1975104" y="48097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 month</a:t>
            </a:r>
            <a:endParaRPr lang="en-US" sz="850" dirty="0"/>
          </a:p>
        </p:txBody>
      </p:sp>
      <p:sp>
        <p:nvSpPr>
          <p:cNvPr id="136" name="Shape 133"/>
          <p:cNvSpPr/>
          <p:nvPr/>
        </p:nvSpPr>
        <p:spPr>
          <a:xfrm>
            <a:off x="2642616" y="48097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4"/>
          <p:cNvSpPr txBox="1"/>
          <p:nvPr/>
        </p:nvSpPr>
        <p:spPr>
          <a:xfrm>
            <a:off x="2688336" y="48097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 50</a:t>
            </a:r>
            <a:endParaRPr lang="en-US" sz="850" dirty="0"/>
          </a:p>
        </p:txBody>
      </p:sp>
      <p:sp>
        <p:nvSpPr>
          <p:cNvPr id="138" name="Shape 135"/>
          <p:cNvSpPr/>
          <p:nvPr/>
        </p:nvSpPr>
        <p:spPr>
          <a:xfrm>
            <a:off x="3557016" y="48097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3602736" y="48097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50" dirty="0"/>
          </a:p>
        </p:txBody>
      </p:sp>
      <p:sp>
        <p:nvSpPr>
          <p:cNvPr id="140" name="Shape 137"/>
          <p:cNvSpPr/>
          <p:nvPr/>
        </p:nvSpPr>
        <p:spPr>
          <a:xfrm>
            <a:off x="448056" y="50383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448056" y="50383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493776" y="50383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min. a call</a:t>
            </a:r>
            <a:endParaRPr lang="en-US" sz="850" dirty="0"/>
          </a:p>
        </p:txBody>
      </p:sp>
      <p:sp>
        <p:nvSpPr>
          <p:cNvPr id="143" name="Shape 140"/>
          <p:cNvSpPr/>
          <p:nvPr/>
        </p:nvSpPr>
        <p:spPr>
          <a:xfrm>
            <a:off x="1929384" y="50383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1975104" y="50383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850" dirty="0"/>
          </a:p>
        </p:txBody>
      </p:sp>
      <p:sp>
        <p:nvSpPr>
          <p:cNvPr id="145" name="Shape 142"/>
          <p:cNvSpPr/>
          <p:nvPr/>
        </p:nvSpPr>
        <p:spPr>
          <a:xfrm>
            <a:off x="2642616" y="50383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6" name="Text 143"/>
          <p:cNvSpPr txBox="1"/>
          <p:nvPr/>
        </p:nvSpPr>
        <p:spPr>
          <a:xfrm>
            <a:off x="2688336" y="5038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to 60</a:t>
            </a:r>
            <a:endParaRPr lang="en-US" sz="850" dirty="0"/>
          </a:p>
        </p:txBody>
      </p:sp>
      <p:sp>
        <p:nvSpPr>
          <p:cNvPr id="147" name="Shape 144"/>
          <p:cNvSpPr/>
          <p:nvPr/>
        </p:nvSpPr>
        <p:spPr>
          <a:xfrm>
            <a:off x="3557016" y="50383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3602736" y="50383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49" name="Shape 146"/>
          <p:cNvSpPr/>
          <p:nvPr/>
        </p:nvSpPr>
        <p:spPr>
          <a:xfrm>
            <a:off x="448056" y="52669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448056" y="52669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493776" y="52669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price</a:t>
            </a:r>
            <a:endParaRPr lang="en-US" sz="850" dirty="0"/>
          </a:p>
        </p:txBody>
      </p:sp>
      <p:sp>
        <p:nvSpPr>
          <p:cNvPr id="152" name="Shape 149"/>
          <p:cNvSpPr/>
          <p:nvPr/>
        </p:nvSpPr>
        <p:spPr>
          <a:xfrm>
            <a:off x="1929384" y="52669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1975104" y="52669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</a:t>
            </a:r>
            <a:endParaRPr lang="en-US" sz="850" dirty="0"/>
          </a:p>
        </p:txBody>
      </p:sp>
      <p:sp>
        <p:nvSpPr>
          <p:cNvPr id="154" name="Shape 151"/>
          <p:cNvSpPr/>
          <p:nvPr/>
        </p:nvSpPr>
        <p:spPr>
          <a:xfrm>
            <a:off x="2642616" y="52669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2688336" y="5266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 to 40</a:t>
            </a:r>
            <a:endParaRPr lang="en-US" sz="850" dirty="0"/>
          </a:p>
        </p:txBody>
      </p:sp>
      <p:sp>
        <p:nvSpPr>
          <p:cNvPr id="156" name="Shape 153"/>
          <p:cNvSpPr/>
          <p:nvPr/>
        </p:nvSpPr>
        <p:spPr>
          <a:xfrm>
            <a:off x="3557016" y="52669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3602736" y="52669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58" name="Shape 155"/>
          <p:cNvSpPr/>
          <p:nvPr/>
        </p:nvSpPr>
        <p:spPr>
          <a:xfrm>
            <a:off x="448056" y="54955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9" name="Text 156"/>
          <p:cNvSpPr txBox="1"/>
          <p:nvPr/>
        </p:nvSpPr>
        <p:spPr>
          <a:xfrm>
            <a:off x="466344" y="55961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guide · R researched · A assumption to test in interviews</a:t>
            </a:r>
            <a:endParaRPr lang="en-US" sz="750" dirty="0"/>
          </a:p>
        </p:txBody>
      </p:sp>
      <p:sp>
        <p:nvSpPr>
          <p:cNvPr id="160" name="Text 157"/>
          <p:cNvSpPr txBox="1"/>
          <p:nvPr/>
        </p:nvSpPr>
        <p:spPr>
          <a:xfrm>
            <a:off x="4105656" y="2167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TEST: BEAR, BASE, BULL</a:t>
            </a:r>
            <a:endParaRPr lang="en-US" sz="1250" dirty="0"/>
          </a:p>
        </p:txBody>
      </p:sp>
      <p:sp>
        <p:nvSpPr>
          <p:cNvPr id="161" name="Shape 158"/>
          <p:cNvSpPr/>
          <p:nvPr/>
        </p:nvSpPr>
        <p:spPr>
          <a:xfrm>
            <a:off x="4105656" y="2459736"/>
            <a:ext cx="393192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62" name="Shape 159"/>
          <p:cNvSpPr/>
          <p:nvPr/>
        </p:nvSpPr>
        <p:spPr>
          <a:xfrm>
            <a:off x="4105656" y="2450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3" name="Shape 160"/>
          <p:cNvSpPr/>
          <p:nvPr/>
        </p:nvSpPr>
        <p:spPr>
          <a:xfrm>
            <a:off x="8147304" y="2194560"/>
            <a:ext cx="0" cy="36118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164" name="Image 0" descr="Gauge of owner's return: bear, base, bu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514600"/>
            <a:ext cx="3931920" cy="1965960"/>
          </a:xfrm>
          <a:prstGeom prst="rect">
            <a:avLst/>
          </a:prstGeom>
        </p:spPr>
      </p:pic>
      <p:sp>
        <p:nvSpPr>
          <p:cNvPr id="165" name="Shape 161"/>
          <p:cNvSpPr/>
          <p:nvPr/>
        </p:nvSpPr>
        <p:spPr>
          <a:xfrm>
            <a:off x="4133088" y="4553712"/>
            <a:ext cx="1261872" cy="23774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66" name="Text 162"/>
          <p:cNvSpPr txBox="1"/>
          <p:nvPr/>
        </p:nvSpPr>
        <p:spPr>
          <a:xfrm>
            <a:off x="4133088" y="45537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900" dirty="0"/>
          </a:p>
        </p:txBody>
      </p:sp>
      <p:sp>
        <p:nvSpPr>
          <p:cNvPr id="167" name="Text 163"/>
          <p:cNvSpPr txBox="1"/>
          <p:nvPr/>
        </p:nvSpPr>
        <p:spPr>
          <a:xfrm>
            <a:off x="4133088" y="481888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0.37x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0.75x</a:t>
            </a:r>
            <a:endParaRPr lang="en-US" sz="1400" dirty="0"/>
          </a:p>
        </p:txBody>
      </p:sp>
      <p:sp>
        <p:nvSpPr>
          <p:cNvPr id="168" name="Shape 164"/>
          <p:cNvSpPr/>
          <p:nvPr/>
        </p:nvSpPr>
        <p:spPr>
          <a:xfrm>
            <a:off x="5449824" y="4553712"/>
            <a:ext cx="1261872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9" name="Text 165"/>
          <p:cNvSpPr txBox="1"/>
          <p:nvPr/>
        </p:nvSpPr>
        <p:spPr>
          <a:xfrm>
            <a:off x="5449824" y="45537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00" dirty="0"/>
          </a:p>
        </p:txBody>
      </p:sp>
      <p:sp>
        <p:nvSpPr>
          <p:cNvPr id="170" name="Text 166"/>
          <p:cNvSpPr txBox="1"/>
          <p:nvPr/>
        </p:nvSpPr>
        <p:spPr>
          <a:xfrm>
            <a:off x="5449824" y="481888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3.6x</a:t>
            </a:r>
            <a:endParaRPr lang="en-US" sz="1400" dirty="0"/>
          </a:p>
        </p:txBody>
      </p:sp>
      <p:sp>
        <p:nvSpPr>
          <p:cNvPr id="171" name="Shape 167"/>
          <p:cNvSpPr/>
          <p:nvPr/>
        </p:nvSpPr>
        <p:spPr>
          <a:xfrm>
            <a:off x="6766560" y="4553712"/>
            <a:ext cx="1261872" cy="23774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2" name="Text 168"/>
          <p:cNvSpPr txBox="1"/>
          <p:nvPr/>
        </p:nvSpPr>
        <p:spPr>
          <a:xfrm>
            <a:off x="6766560" y="45537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900" dirty="0"/>
          </a:p>
        </p:txBody>
      </p:sp>
      <p:sp>
        <p:nvSpPr>
          <p:cNvPr id="173" name="Text 169"/>
          <p:cNvSpPr txBox="1"/>
          <p:nvPr/>
        </p:nvSpPr>
        <p:spPr>
          <a:xfrm>
            <a:off x="6766560" y="481888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3.9x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10x</a:t>
            </a:r>
            <a:endParaRPr lang="en-US" sz="1400" dirty="0"/>
          </a:p>
        </p:txBody>
      </p:sp>
      <p:sp>
        <p:nvSpPr>
          <p:cNvPr id="174" name="Text 170"/>
          <p:cNvSpPr txBox="1"/>
          <p:nvPr/>
        </p:nvSpPr>
        <p:spPr>
          <a:xfrm>
            <a:off x="4160520" y="53492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and Bull move 13 inputs. Every input at its worst gives 0.09x: a survival test, not a forecast.</a:t>
            </a:r>
            <a:endParaRPr lang="en-US" sz="850" dirty="0"/>
          </a:p>
        </p:txBody>
      </p:sp>
      <p:sp>
        <p:nvSpPr>
          <p:cNvPr id="175" name="Shape 171"/>
          <p:cNvSpPr/>
          <p:nvPr/>
        </p:nvSpPr>
        <p:spPr>
          <a:xfrm rot="120000">
            <a:off x="10104120" y="694944"/>
            <a:ext cx="1691640" cy="38404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76" name="Shape 172"/>
          <p:cNvSpPr/>
          <p:nvPr/>
        </p:nvSpPr>
        <p:spPr>
          <a:xfrm rot="120000">
            <a:off x="10058400" y="640080"/>
            <a:ext cx="1691640" cy="384048"/>
          </a:xfrm>
          <a:prstGeom prst="rect">
            <a:avLst/>
          </a:prstGeom>
          <a:solidFill>
            <a:srgbClr val="F7BFD0"/>
          </a:solidFill>
          <a:ln/>
        </p:spPr>
      </p:sp>
      <p:sp>
        <p:nvSpPr>
          <p:cNvPr id="177" name="Text 173"/>
          <p:cNvSpPr txBox="1"/>
          <p:nvPr/>
        </p:nvSpPr>
        <p:spPr>
          <a:xfrm rot="120000">
            <a:off x="10113264" y="67665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2C4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value = fees + time + admissions</a:t>
            </a:r>
            <a:endParaRPr lang="en-US" sz="850" dirty="0"/>
          </a:p>
        </p:txBody>
      </p:sp>
      <p:pic>
        <p:nvPicPr>
          <p:cNvPr id="178" name="Image 1" descr="D:\Professional Work\Business\FC_Case_Dhruvi\presentation\source\assets\doodle_ta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2000">
            <a:off x="10629900" y="548640"/>
            <a:ext cx="548640" cy="173736"/>
          </a:xfrm>
          <a:prstGeom prst="rect">
            <a:avLst/>
          </a:prstGeom>
        </p:spPr>
      </p:pic>
      <p:sp>
        <p:nvSpPr>
          <p:cNvPr id="179" name="Text 174"/>
          <p:cNvSpPr txBox="1"/>
          <p:nvPr/>
        </p:nvSpPr>
        <p:spPr>
          <a:xfrm>
            <a:off x="8266176" y="216712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₹3.6 A STUDENT GOES</a:t>
            </a:r>
            <a:endParaRPr lang="en-US" sz="1250" dirty="0"/>
          </a:p>
        </p:txBody>
      </p:sp>
      <p:sp>
        <p:nvSpPr>
          <p:cNvPr id="180" name="Shape 175"/>
          <p:cNvSpPr/>
          <p:nvPr/>
        </p:nvSpPr>
        <p:spPr>
          <a:xfrm>
            <a:off x="8266176" y="2459736"/>
            <a:ext cx="345643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81" name="Shape 176"/>
          <p:cNvSpPr/>
          <p:nvPr/>
        </p:nvSpPr>
        <p:spPr>
          <a:xfrm>
            <a:off x="8266176" y="2450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82" name="Shape 177"/>
          <p:cNvSpPr/>
          <p:nvPr/>
        </p:nvSpPr>
        <p:spPr>
          <a:xfrm>
            <a:off x="8321040" y="2542032"/>
            <a:ext cx="502920" cy="4953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83" name="Shape 178"/>
          <p:cNvSpPr/>
          <p:nvPr/>
        </p:nvSpPr>
        <p:spPr>
          <a:xfrm>
            <a:off x="8321040" y="3037332"/>
            <a:ext cx="502920" cy="39624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84" name="Shape 179"/>
          <p:cNvSpPr/>
          <p:nvPr/>
        </p:nvSpPr>
        <p:spPr>
          <a:xfrm>
            <a:off x="8321040" y="3433572"/>
            <a:ext cx="502920" cy="346710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185" name="Shape 180"/>
          <p:cNvSpPr/>
          <p:nvPr/>
        </p:nvSpPr>
        <p:spPr>
          <a:xfrm>
            <a:off x="8321040" y="3780282"/>
            <a:ext cx="502920" cy="24765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186" name="Shape 181"/>
          <p:cNvSpPr/>
          <p:nvPr/>
        </p:nvSpPr>
        <p:spPr>
          <a:xfrm>
            <a:off x="8321040" y="4027932"/>
            <a:ext cx="502920" cy="247650"/>
          </a:xfrm>
          <a:prstGeom prst="rect">
            <a:avLst/>
          </a:prstGeom>
          <a:solidFill>
            <a:srgbClr val="B9CFE8"/>
          </a:solidFill>
          <a:ln/>
        </p:spPr>
      </p:sp>
      <p:sp>
        <p:nvSpPr>
          <p:cNvPr id="187" name="Shape 182"/>
          <p:cNvSpPr/>
          <p:nvPr/>
        </p:nvSpPr>
        <p:spPr>
          <a:xfrm>
            <a:off x="8321040" y="4275582"/>
            <a:ext cx="502920" cy="49530"/>
          </a:xfrm>
          <a:prstGeom prst="rect">
            <a:avLst/>
          </a:prstGeom>
          <a:solidFill>
            <a:srgbClr val="DDE7F4"/>
          </a:solidFill>
          <a:ln/>
        </p:spPr>
      </p:sp>
      <p:sp>
        <p:nvSpPr>
          <p:cNvPr id="188" name="Shape 183"/>
          <p:cNvSpPr/>
          <p:nvPr/>
        </p:nvSpPr>
        <p:spPr>
          <a:xfrm>
            <a:off x="8961120" y="2587752"/>
            <a:ext cx="146304" cy="14630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89" name="Text 184"/>
          <p:cNvSpPr txBox="1"/>
          <p:nvPr/>
        </p:nvSpPr>
        <p:spPr>
          <a:xfrm>
            <a:off x="9162288" y="2523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messages</a:t>
            </a:r>
            <a:endParaRPr lang="en-US" sz="900" dirty="0"/>
          </a:p>
        </p:txBody>
      </p:sp>
      <p:sp>
        <p:nvSpPr>
          <p:cNvPr id="190" name="Shape 185"/>
          <p:cNvSpPr/>
          <p:nvPr/>
        </p:nvSpPr>
        <p:spPr>
          <a:xfrm>
            <a:off x="8961120" y="2889504"/>
            <a:ext cx="146304" cy="14630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91" name="Text 186"/>
          <p:cNvSpPr txBox="1"/>
          <p:nvPr/>
        </p:nvSpPr>
        <p:spPr>
          <a:xfrm>
            <a:off x="9162288" y="2825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storage</a:t>
            </a:r>
            <a:endParaRPr lang="en-US" sz="900" dirty="0"/>
          </a:p>
        </p:txBody>
      </p:sp>
      <p:sp>
        <p:nvSpPr>
          <p:cNvPr id="192" name="Shape 187"/>
          <p:cNvSpPr/>
          <p:nvPr/>
        </p:nvSpPr>
        <p:spPr>
          <a:xfrm>
            <a:off x="8961120" y="3191256"/>
            <a:ext cx="146304" cy="146304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193" name="Text 188"/>
          <p:cNvSpPr txBox="1"/>
          <p:nvPr/>
        </p:nvSpPr>
        <p:spPr>
          <a:xfrm>
            <a:off x="9162288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₹0.7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reports</a:t>
            </a:r>
            <a:endParaRPr lang="en-US" sz="900" dirty="0"/>
          </a:p>
        </p:txBody>
      </p:sp>
      <p:sp>
        <p:nvSpPr>
          <p:cNvPr id="194" name="Shape 189"/>
          <p:cNvSpPr/>
          <p:nvPr/>
        </p:nvSpPr>
        <p:spPr>
          <a:xfrm>
            <a:off x="8961120" y="3493008"/>
            <a:ext cx="146304" cy="146304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195" name="Text 190"/>
          <p:cNvSpPr txBox="1"/>
          <p:nvPr/>
        </p:nvSpPr>
        <p:spPr>
          <a:xfrm>
            <a:off x="9162288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and database</a:t>
            </a:r>
            <a:endParaRPr lang="en-US" sz="900" dirty="0"/>
          </a:p>
        </p:txBody>
      </p:sp>
      <p:sp>
        <p:nvSpPr>
          <p:cNvPr id="196" name="Shape 191"/>
          <p:cNvSpPr/>
          <p:nvPr/>
        </p:nvSpPr>
        <p:spPr>
          <a:xfrm>
            <a:off x="8961120" y="3794760"/>
            <a:ext cx="146304" cy="146304"/>
          </a:xfrm>
          <a:prstGeom prst="rect">
            <a:avLst/>
          </a:prstGeom>
          <a:solidFill>
            <a:srgbClr val="B9CFE8"/>
          </a:solidFill>
          <a:ln/>
        </p:spPr>
      </p:sp>
      <p:sp>
        <p:nvSpPr>
          <p:cNvPr id="197" name="Text 192"/>
          <p:cNvSpPr txBox="1"/>
          <p:nvPr/>
        </p:nvSpPr>
        <p:spPr>
          <a:xfrm>
            <a:off x="9162288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and compliance</a:t>
            </a:r>
            <a:endParaRPr lang="en-US" sz="900" dirty="0"/>
          </a:p>
        </p:txBody>
      </p:sp>
      <p:sp>
        <p:nvSpPr>
          <p:cNvPr id="198" name="Shape 193"/>
          <p:cNvSpPr/>
          <p:nvPr/>
        </p:nvSpPr>
        <p:spPr>
          <a:xfrm>
            <a:off x="8961120" y="4096512"/>
            <a:ext cx="146304" cy="146304"/>
          </a:xfrm>
          <a:prstGeom prst="rect">
            <a:avLst/>
          </a:prstGeom>
          <a:solidFill>
            <a:srgbClr val="DDE7F4"/>
          </a:solidFill>
          <a:ln/>
        </p:spPr>
      </p:sp>
      <p:sp>
        <p:nvSpPr>
          <p:cNvPr id="199" name="Text 194"/>
          <p:cNvSpPr txBox="1"/>
          <p:nvPr/>
        </p:nvSpPr>
        <p:spPr>
          <a:xfrm>
            <a:off x="9162288" y="4032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checks</a:t>
            </a:r>
            <a:endParaRPr lang="en-US" sz="900" dirty="0"/>
          </a:p>
        </p:txBody>
      </p:sp>
      <p:sp>
        <p:nvSpPr>
          <p:cNvPr id="200" name="Shape 195"/>
          <p:cNvSpPr/>
          <p:nvPr/>
        </p:nvSpPr>
        <p:spPr>
          <a:xfrm>
            <a:off x="8266176" y="4434840"/>
            <a:ext cx="1325880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01" name="Text 196"/>
          <p:cNvSpPr txBox="1"/>
          <p:nvPr/>
        </p:nvSpPr>
        <p:spPr>
          <a:xfrm>
            <a:off x="8311896" y="44348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institute</a:t>
            </a:r>
            <a:endParaRPr lang="en-US" sz="850" dirty="0"/>
          </a:p>
        </p:txBody>
      </p:sp>
      <p:sp>
        <p:nvSpPr>
          <p:cNvPr id="202" name="Shape 197"/>
          <p:cNvSpPr/>
          <p:nvPr/>
        </p:nvSpPr>
        <p:spPr>
          <a:xfrm>
            <a:off x="9592056" y="4434840"/>
            <a:ext cx="731520" cy="237744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203" name="Text 198"/>
          <p:cNvSpPr txBox="1"/>
          <p:nvPr/>
        </p:nvSpPr>
        <p:spPr>
          <a:xfrm>
            <a:off x="9637776" y="44348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850" dirty="0"/>
          </a:p>
        </p:txBody>
      </p:sp>
      <p:sp>
        <p:nvSpPr>
          <p:cNvPr id="204" name="Shape 199"/>
          <p:cNvSpPr/>
          <p:nvPr/>
        </p:nvSpPr>
        <p:spPr>
          <a:xfrm>
            <a:off x="10323576" y="4434840"/>
            <a:ext cx="1399032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05" name="Text 200"/>
          <p:cNvSpPr txBox="1"/>
          <p:nvPr/>
        </p:nvSpPr>
        <p:spPr>
          <a:xfrm>
            <a:off x="10369296" y="4434840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850" dirty="0"/>
          </a:p>
        </p:txBody>
      </p:sp>
      <p:sp>
        <p:nvSpPr>
          <p:cNvPr id="206" name="Shape 201"/>
          <p:cNvSpPr/>
          <p:nvPr/>
        </p:nvSpPr>
        <p:spPr>
          <a:xfrm>
            <a:off x="8266176" y="4672584"/>
            <a:ext cx="132588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7" name="Text 202"/>
          <p:cNvSpPr txBox="1"/>
          <p:nvPr/>
        </p:nvSpPr>
        <p:spPr>
          <a:xfrm>
            <a:off x="8311896" y="467258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</a:t>
            </a:r>
            <a:endParaRPr lang="en-US" sz="850" dirty="0"/>
          </a:p>
        </p:txBody>
      </p:sp>
      <p:sp>
        <p:nvSpPr>
          <p:cNvPr id="208" name="Shape 203"/>
          <p:cNvSpPr/>
          <p:nvPr/>
        </p:nvSpPr>
        <p:spPr>
          <a:xfrm>
            <a:off x="9592056" y="4672584"/>
            <a:ext cx="73152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9" name="Text 204"/>
          <p:cNvSpPr txBox="1"/>
          <p:nvPr/>
        </p:nvSpPr>
        <p:spPr>
          <a:xfrm>
            <a:off x="9637776" y="467258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10.7x</a:t>
            </a:r>
            <a:endParaRPr lang="en-US" sz="850" dirty="0"/>
          </a:p>
        </p:txBody>
      </p:sp>
      <p:sp>
        <p:nvSpPr>
          <p:cNvPr id="210" name="Shape 205"/>
          <p:cNvSpPr/>
          <p:nvPr/>
        </p:nvSpPr>
        <p:spPr>
          <a:xfrm>
            <a:off x="10323576" y="4672584"/>
            <a:ext cx="139903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11" name="Text 206"/>
          <p:cNvSpPr txBox="1"/>
          <p:nvPr/>
        </p:nvSpPr>
        <p:spPr>
          <a:xfrm>
            <a:off x="10369296" y="4672584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850" dirty="0"/>
          </a:p>
        </p:txBody>
      </p:sp>
      <p:sp>
        <p:nvSpPr>
          <p:cNvPr id="212" name="Shape 207"/>
          <p:cNvSpPr/>
          <p:nvPr/>
        </p:nvSpPr>
        <p:spPr>
          <a:xfrm>
            <a:off x="8266176" y="4910328"/>
            <a:ext cx="345643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13" name="Shape 208"/>
          <p:cNvSpPr/>
          <p:nvPr/>
        </p:nvSpPr>
        <p:spPr>
          <a:xfrm>
            <a:off x="8266176" y="4910328"/>
            <a:ext cx="132588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4" name="Text 209"/>
          <p:cNvSpPr txBox="1"/>
          <p:nvPr/>
        </p:nvSpPr>
        <p:spPr>
          <a:xfrm>
            <a:off x="8311896" y="49103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850" dirty="0"/>
          </a:p>
        </p:txBody>
      </p:sp>
      <p:sp>
        <p:nvSpPr>
          <p:cNvPr id="215" name="Shape 210"/>
          <p:cNvSpPr/>
          <p:nvPr/>
        </p:nvSpPr>
        <p:spPr>
          <a:xfrm>
            <a:off x="9592056" y="4910328"/>
            <a:ext cx="7315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6" name="Text 211"/>
          <p:cNvSpPr txBox="1"/>
          <p:nvPr/>
        </p:nvSpPr>
        <p:spPr>
          <a:xfrm>
            <a:off x="9637776" y="49103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mo</a:t>
            </a:r>
            <a:endParaRPr lang="en-US" sz="850" dirty="0"/>
          </a:p>
        </p:txBody>
      </p:sp>
      <p:sp>
        <p:nvSpPr>
          <p:cNvPr id="217" name="Shape 212"/>
          <p:cNvSpPr/>
          <p:nvPr/>
        </p:nvSpPr>
        <p:spPr>
          <a:xfrm>
            <a:off x="10323576" y="4910328"/>
            <a:ext cx="139903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8" name="Text 213"/>
          <p:cNvSpPr txBox="1"/>
          <p:nvPr/>
        </p:nvSpPr>
        <p:spPr>
          <a:xfrm>
            <a:off x="10369296" y="4910328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mo</a:t>
            </a:r>
            <a:endParaRPr lang="en-US" sz="850" dirty="0"/>
          </a:p>
        </p:txBody>
      </p:sp>
      <p:sp>
        <p:nvSpPr>
          <p:cNvPr id="219" name="Shape 214"/>
          <p:cNvSpPr/>
          <p:nvPr/>
        </p:nvSpPr>
        <p:spPr>
          <a:xfrm>
            <a:off x="8266176" y="5148072"/>
            <a:ext cx="345643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20" name="Shape 215"/>
          <p:cNvSpPr/>
          <p:nvPr/>
        </p:nvSpPr>
        <p:spPr>
          <a:xfrm>
            <a:off x="8266176" y="5148072"/>
            <a:ext cx="132588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21" name="Text 216"/>
          <p:cNvSpPr txBox="1"/>
          <p:nvPr/>
        </p:nvSpPr>
        <p:spPr>
          <a:xfrm>
            <a:off x="8311896" y="51480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CAC, sales</a:t>
            </a:r>
            <a:endParaRPr lang="en-US" sz="850" dirty="0"/>
          </a:p>
        </p:txBody>
      </p:sp>
      <p:sp>
        <p:nvSpPr>
          <p:cNvPr id="222" name="Shape 217"/>
          <p:cNvSpPr/>
          <p:nvPr/>
        </p:nvSpPr>
        <p:spPr>
          <a:xfrm>
            <a:off x="9592056" y="5148072"/>
            <a:ext cx="73152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23" name="Text 218"/>
          <p:cNvSpPr txBox="1"/>
          <p:nvPr/>
        </p:nvSpPr>
        <p:spPr>
          <a:xfrm>
            <a:off x="9637776" y="51480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₹25,000</a:t>
            </a:r>
            <a:endParaRPr lang="en-US" sz="850" dirty="0"/>
          </a:p>
        </p:txBody>
      </p:sp>
      <p:sp>
        <p:nvSpPr>
          <p:cNvPr id="224" name="Shape 219"/>
          <p:cNvSpPr/>
          <p:nvPr/>
        </p:nvSpPr>
        <p:spPr>
          <a:xfrm>
            <a:off x="10323576" y="5148072"/>
            <a:ext cx="139903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25" name="Text 220"/>
          <p:cNvSpPr txBox="1"/>
          <p:nvPr/>
        </p:nvSpPr>
        <p:spPr>
          <a:xfrm>
            <a:off x="10369296" y="5148072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₹15,567</a:t>
            </a:r>
            <a:endParaRPr lang="en-US" sz="850" dirty="0"/>
          </a:p>
        </p:txBody>
      </p:sp>
      <p:sp>
        <p:nvSpPr>
          <p:cNvPr id="226" name="Shape 221"/>
          <p:cNvSpPr/>
          <p:nvPr/>
        </p:nvSpPr>
        <p:spPr>
          <a:xfrm>
            <a:off x="8266176" y="5385816"/>
            <a:ext cx="345643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27" name="Shape 222"/>
          <p:cNvSpPr/>
          <p:nvPr/>
        </p:nvSpPr>
        <p:spPr>
          <a:xfrm>
            <a:off x="8266176" y="5385816"/>
            <a:ext cx="132588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8" name="Text 223"/>
          <p:cNvSpPr txBox="1"/>
          <p:nvPr/>
        </p:nvSpPr>
        <p:spPr>
          <a:xfrm>
            <a:off x="8311896" y="53858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retention</a:t>
            </a:r>
            <a:endParaRPr lang="en-US" sz="850" dirty="0"/>
          </a:p>
        </p:txBody>
      </p:sp>
      <p:sp>
        <p:nvSpPr>
          <p:cNvPr id="229" name="Shape 224"/>
          <p:cNvSpPr/>
          <p:nvPr/>
        </p:nvSpPr>
        <p:spPr>
          <a:xfrm>
            <a:off x="9592056" y="5385816"/>
            <a:ext cx="7315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0" name="Text 225"/>
          <p:cNvSpPr txBox="1"/>
          <p:nvPr/>
        </p:nvSpPr>
        <p:spPr>
          <a:xfrm>
            <a:off x="9637776" y="538581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69 %</a:t>
            </a:r>
            <a:endParaRPr lang="en-US" sz="850" dirty="0"/>
          </a:p>
        </p:txBody>
      </p:sp>
      <p:sp>
        <p:nvSpPr>
          <p:cNvPr id="231" name="Shape 226"/>
          <p:cNvSpPr/>
          <p:nvPr/>
        </p:nvSpPr>
        <p:spPr>
          <a:xfrm>
            <a:off x="10323576" y="5385816"/>
            <a:ext cx="139903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2" name="Text 227"/>
          <p:cNvSpPr txBox="1"/>
          <p:nvPr/>
        </p:nvSpPr>
        <p:spPr>
          <a:xfrm>
            <a:off x="10369296" y="5385816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64 %</a:t>
            </a:r>
            <a:endParaRPr lang="en-US" sz="850" dirty="0"/>
          </a:p>
        </p:txBody>
      </p:sp>
      <p:sp>
        <p:nvSpPr>
          <p:cNvPr id="233" name="Shape 228"/>
          <p:cNvSpPr/>
          <p:nvPr/>
        </p:nvSpPr>
        <p:spPr>
          <a:xfrm>
            <a:off x="8266176" y="5623560"/>
            <a:ext cx="345643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34" name="Shape 229"/>
          <p:cNvSpPr/>
          <p:nvPr/>
        </p:nvSpPr>
        <p:spPr>
          <a:xfrm>
            <a:off x="8284464" y="5596128"/>
            <a:ext cx="87782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235" name="Text 230"/>
          <p:cNvSpPr txBox="1"/>
          <p:nvPr/>
        </p:nvSpPr>
        <p:spPr>
          <a:xfrm>
            <a:off x="8284464" y="559612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700" dirty="0"/>
          </a:p>
        </p:txBody>
      </p:sp>
      <p:sp>
        <p:nvSpPr>
          <p:cNvPr id="236" name="Shape 231"/>
          <p:cNvSpPr/>
          <p:nvPr/>
        </p:nvSpPr>
        <p:spPr>
          <a:xfrm>
            <a:off x="411480" y="5916168"/>
            <a:ext cx="11368735" cy="4572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7" name="Text 232"/>
          <p:cNvSpPr txBox="1"/>
          <p:nvPr/>
        </p:nvSpPr>
        <p:spPr>
          <a:xfrm>
            <a:off x="548640" y="59161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 case is deliberately below the guide's: </a:t>
            </a:r>
            <a:pPr algn="ctr" indent="0" marL="0">
              <a:buNone/>
            </a:pPr>
            <a:r>
              <a:rPr lang="en-US" sz="1100" b="1" dirty="0">
                <a:solidFill>
                  <a:srgbClr val="F1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4.0 % not 25 %, ₹30 not ₹40, 3.6x not 10.7x.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breaks even if it keeps 5.5 students a year or wins 1.5 extra admissions.</a:t>
            </a:r>
            <a:endParaRPr lang="en-US" sz="1100" dirty="0"/>
          </a:p>
        </p:txBody>
      </p:sp>
      <p:sp>
        <p:nvSpPr>
          <p:cNvPr id="238" name="Text 233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financial model v1.1 (Mid institute, 400 students, Base; CFO audit 22 Oct 2026). Model output from sourced and assumed inputs, not measured; willingness to pay is untested. ₹3.6 = all-in cost to serve.</a:t>
            </a:r>
            <a:endParaRPr lang="en-US" sz="850" dirty="0"/>
          </a:p>
        </p:txBody>
      </p:sp>
      <p:pic>
        <p:nvPicPr>
          <p:cNvPr id="239" name="Image 2" descr="hand-drawn circle_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78992"/>
            <a:ext cx="1554480" cy="713232"/>
          </a:xfrm>
          <a:prstGeom prst="rect">
            <a:avLst/>
          </a:prstGeom>
        </p:spPr>
      </p:pic>
      <p:pic>
        <p:nvPicPr>
          <p:cNvPr id="240" name="Image 3" descr="owner curs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463040"/>
            <a:ext cx="777240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9864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GO-TO-MARKET, MOAT AND ROADMAP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Patna with a free trial on last year's Excel, then grow city by city; the shared question bank is the moat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2468880" y="1115568"/>
            <a:ext cx="3102864" cy="182880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468880" y="1115568"/>
            <a:ext cx="3102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571744" y="1115568"/>
            <a:ext cx="620572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571744" y="1115568"/>
            <a:ext cx="620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FY28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468880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468880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26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020312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020312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27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571744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571744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 27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23176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123176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 27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8674608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674608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27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10226040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0226040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28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11480" y="1545336"/>
            <a:ext cx="11368735" cy="24231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57200" y="15544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1143000" y="15544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public data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468880" y="1581912"/>
            <a:ext cx="1514856" cy="16459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57200" y="17967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1143000" y="17967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and phone app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934310" y="1824228"/>
            <a:ext cx="2600858" cy="16459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46" name="Shape 43"/>
          <p:cNvSpPr/>
          <p:nvPr/>
        </p:nvSpPr>
        <p:spPr>
          <a:xfrm>
            <a:off x="411480" y="2029968"/>
            <a:ext cx="11368735" cy="24231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57200" y="20391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</a:t>
            </a:r>
            <a:endParaRPr lang="en-US" sz="750" dirty="0"/>
          </a:p>
        </p:txBody>
      </p:sp>
      <p:sp>
        <p:nvSpPr>
          <p:cNvPr id="48" name="Text 45"/>
          <p:cNvSpPr txBox="1"/>
          <p:nvPr/>
        </p:nvSpPr>
        <p:spPr>
          <a:xfrm>
            <a:off x="1143000" y="20391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retro-pilots (2)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020312" y="2066544"/>
            <a:ext cx="1514856" cy="16459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457200" y="22814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</a:t>
            </a:r>
            <a:endParaRPr lang="en-US" sz="750" dirty="0"/>
          </a:p>
        </p:txBody>
      </p:sp>
      <p:sp>
        <p:nvSpPr>
          <p:cNvPr id="51" name="Text 48"/>
          <p:cNvSpPr txBox="1"/>
          <p:nvPr/>
        </p:nvSpPr>
        <p:spPr>
          <a:xfrm>
            <a:off x="1143000" y="22814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pilots + controls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5571744" y="2308860"/>
            <a:ext cx="1514856" cy="16459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53" name="Shape 50"/>
          <p:cNvSpPr/>
          <p:nvPr/>
        </p:nvSpPr>
        <p:spPr>
          <a:xfrm>
            <a:off x="411480" y="2514600"/>
            <a:ext cx="11368735" cy="24231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57200" y="252374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50" dirty="0"/>
          </a:p>
        </p:txBody>
      </p:sp>
      <p:sp>
        <p:nvSpPr>
          <p:cNvPr id="55" name="Text 52"/>
          <p:cNvSpPr txBox="1"/>
          <p:nvPr/>
        </p:nvSpPr>
        <p:spPr>
          <a:xfrm>
            <a:off x="1143000" y="2523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before admissions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4485742" y="2551176"/>
            <a:ext cx="1980286" cy="164592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57200" y="27660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50" dirty="0"/>
          </a:p>
        </p:txBody>
      </p:sp>
      <p:sp>
        <p:nvSpPr>
          <p:cNvPr id="58" name="Text 55"/>
          <p:cNvSpPr txBox="1"/>
          <p:nvPr/>
        </p:nvSpPr>
        <p:spPr>
          <a:xfrm>
            <a:off x="1143000" y="27660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institutes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6347460" y="2793492"/>
            <a:ext cx="2290572" cy="16459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0" name="Shape 57"/>
          <p:cNvSpPr/>
          <p:nvPr/>
        </p:nvSpPr>
        <p:spPr>
          <a:xfrm>
            <a:off x="411480" y="2999232"/>
            <a:ext cx="11368735" cy="24231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57200" y="30083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1143000" y="30083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Bihar, UP, Jharkhand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7898892" y="3035808"/>
            <a:ext cx="3842004" cy="16459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457200" y="32506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143000" y="32506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₹45 L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4796028" y="3278124"/>
            <a:ext cx="1204570" cy="16459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67" name="Shape 64"/>
          <p:cNvSpPr/>
          <p:nvPr/>
        </p:nvSpPr>
        <p:spPr>
          <a:xfrm>
            <a:off x="4011168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562600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114032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665464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0216896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448056" y="36576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ACQUISITION ENGINE</a:t>
            </a:r>
            <a:endParaRPr lang="en-US" sz="1250" dirty="0"/>
          </a:p>
        </p:txBody>
      </p:sp>
      <p:sp>
        <p:nvSpPr>
          <p:cNvPr id="73" name="Shape 70"/>
          <p:cNvSpPr/>
          <p:nvPr/>
        </p:nvSpPr>
        <p:spPr>
          <a:xfrm>
            <a:off x="448056" y="3950208"/>
            <a:ext cx="388620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74" name="Shape 71"/>
          <p:cNvSpPr/>
          <p:nvPr/>
        </p:nvSpPr>
        <p:spPr>
          <a:xfrm>
            <a:off x="448056" y="3941064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Shape 72"/>
          <p:cNvSpPr/>
          <p:nvPr/>
        </p:nvSpPr>
        <p:spPr>
          <a:xfrm>
            <a:off x="4443984" y="3685032"/>
            <a:ext cx="0" cy="2670048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76" name="Shape 73"/>
          <p:cNvSpPr/>
          <p:nvPr/>
        </p:nvSpPr>
        <p:spPr>
          <a:xfrm flipV="1">
            <a:off x="2377440" y="4297680"/>
            <a:ext cx="0" cy="731520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 flipH="1">
            <a:off x="868680" y="5029200"/>
            <a:ext cx="1508760" cy="0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2377440" y="5029200"/>
            <a:ext cx="1508760" cy="0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377440" y="5029200"/>
            <a:ext cx="0" cy="731520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993392" y="4645152"/>
            <a:ext cx="768096" cy="768096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1993392" y="46451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2148840" y="4069080"/>
            <a:ext cx="457200" cy="457200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3" name="Image 0" descr="FaGi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12" y="4187952"/>
            <a:ext cx="219456" cy="219456"/>
          </a:xfrm>
          <a:prstGeom prst="rect">
            <a:avLst/>
          </a:prstGeom>
        </p:spPr>
      </p:pic>
      <p:sp>
        <p:nvSpPr>
          <p:cNvPr id="84" name="Text 80"/>
          <p:cNvSpPr txBox="1"/>
          <p:nvPr/>
        </p:nvSpPr>
        <p:spPr>
          <a:xfrm>
            <a:off x="2651760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retro-pilot</a:t>
            </a:r>
            <a:endParaRPr lang="en-US" sz="14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Excel file, no install</a:t>
            </a:r>
            <a:endParaRPr lang="en-US" sz="1400" dirty="0"/>
          </a:p>
        </p:txBody>
      </p:sp>
      <p:sp>
        <p:nvSpPr>
          <p:cNvPr id="85" name="Shape 81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6" name="Image 1" descr="FaPersonChalkboar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919472"/>
            <a:ext cx="219456" cy="219456"/>
          </a:xfrm>
          <a:prstGeom prst="rect">
            <a:avLst/>
          </a:prstGeom>
        </p:spPr>
      </p:pic>
      <p:sp>
        <p:nvSpPr>
          <p:cNvPr id="87" name="Text 82"/>
          <p:cNvSpPr txBox="1"/>
          <p:nvPr/>
        </p:nvSpPr>
        <p:spPr>
          <a:xfrm>
            <a:off x="228600" y="52669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demos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to Mar</a:t>
            </a:r>
            <a:endParaRPr lang="en-US" sz="1400" dirty="0"/>
          </a:p>
        </p:txBody>
      </p:sp>
      <p:sp>
        <p:nvSpPr>
          <p:cNvPr id="88" name="Shape 83"/>
          <p:cNvSpPr/>
          <p:nvPr/>
        </p:nvSpPr>
        <p:spPr>
          <a:xfrm>
            <a:off x="3657600" y="4800600"/>
            <a:ext cx="457200" cy="457200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9" name="Image 2" descr="FaHandshak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4919472"/>
            <a:ext cx="219456" cy="219456"/>
          </a:xfrm>
          <a:prstGeom prst="rect">
            <a:avLst/>
          </a:prstGeom>
        </p:spPr>
      </p:pic>
      <p:sp>
        <p:nvSpPr>
          <p:cNvPr id="90" name="Text 84"/>
          <p:cNvSpPr txBox="1"/>
          <p:nvPr/>
        </p:nvSpPr>
        <p:spPr>
          <a:xfrm>
            <a:off x="3246120" y="52669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Nextute network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referral, to agree</a:t>
            </a:r>
            <a:endParaRPr lang="en-US" sz="1400" dirty="0"/>
          </a:p>
        </p:txBody>
      </p:sp>
      <p:sp>
        <p:nvSpPr>
          <p:cNvPr id="91" name="Shape 85"/>
          <p:cNvSpPr/>
          <p:nvPr/>
        </p:nvSpPr>
        <p:spPr>
          <a:xfrm>
            <a:off x="2148840" y="5532120"/>
            <a:ext cx="457200" cy="457200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92" name="Image 3" descr="FaPrin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12" y="5650992"/>
            <a:ext cx="219456" cy="219456"/>
          </a:xfrm>
          <a:prstGeom prst="rect">
            <a:avLst/>
          </a:prstGeom>
        </p:spPr>
      </p:pic>
      <p:sp>
        <p:nvSpPr>
          <p:cNvPr id="93" name="Text 86"/>
          <p:cNvSpPr txBox="1"/>
          <p:nvPr/>
        </p:nvSpPr>
        <p:spPr>
          <a:xfrm>
            <a:off x="2651760" y="55778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partners</a:t>
            </a:r>
            <a:endParaRPr lang="en-US" sz="14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and test-series vendors</a:t>
            </a:r>
            <a:endParaRPr lang="en-US" sz="1400" dirty="0"/>
          </a:p>
        </p:txBody>
      </p:sp>
      <p:sp>
        <p:nvSpPr>
          <p:cNvPr id="94" name="Text 87"/>
          <p:cNvSpPr txBox="1"/>
          <p:nvPr/>
        </p:nvSpPr>
        <p:spPr>
          <a:xfrm>
            <a:off x="4562856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AND MOAT</a:t>
            </a:r>
            <a:endParaRPr lang="en-US" sz="1250" dirty="0"/>
          </a:p>
        </p:txBody>
      </p:sp>
      <p:sp>
        <p:nvSpPr>
          <p:cNvPr id="95" name="Shape 88"/>
          <p:cNvSpPr/>
          <p:nvPr/>
        </p:nvSpPr>
        <p:spPr>
          <a:xfrm>
            <a:off x="4562856" y="3950208"/>
            <a:ext cx="374904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96" name="Shape 89"/>
          <p:cNvSpPr/>
          <p:nvPr/>
        </p:nvSpPr>
        <p:spPr>
          <a:xfrm>
            <a:off x="4562856" y="3941064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7" name="Shape 90"/>
          <p:cNvSpPr/>
          <p:nvPr/>
        </p:nvSpPr>
        <p:spPr>
          <a:xfrm>
            <a:off x="8421624" y="3685032"/>
            <a:ext cx="0" cy="2670048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98" name="Shape 91"/>
          <p:cNvSpPr/>
          <p:nvPr/>
        </p:nvSpPr>
        <p:spPr>
          <a:xfrm>
            <a:off x="4572000" y="4005072"/>
            <a:ext cx="9144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9" name="Text 92"/>
          <p:cNvSpPr txBox="1"/>
          <p:nvPr/>
        </p:nvSpPr>
        <p:spPr>
          <a:xfrm>
            <a:off x="4617720" y="40050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00" name="Shape 93"/>
          <p:cNvSpPr/>
          <p:nvPr/>
        </p:nvSpPr>
        <p:spPr>
          <a:xfrm>
            <a:off x="5486400" y="4005072"/>
            <a:ext cx="64008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1" name="Text 94"/>
          <p:cNvSpPr txBox="1"/>
          <p:nvPr/>
        </p:nvSpPr>
        <p:spPr>
          <a:xfrm>
            <a:off x="5532120" y="40050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₹/mo</a:t>
            </a:r>
            <a:endParaRPr lang="en-US" sz="800" dirty="0"/>
          </a:p>
        </p:txBody>
      </p:sp>
      <p:sp>
        <p:nvSpPr>
          <p:cNvPr id="102" name="Shape 95"/>
          <p:cNvSpPr/>
          <p:nvPr/>
        </p:nvSpPr>
        <p:spPr>
          <a:xfrm>
            <a:off x="6126480" y="4005072"/>
            <a:ext cx="4572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3" name="Text 96"/>
          <p:cNvSpPr txBox="1"/>
          <p:nvPr/>
        </p:nvSpPr>
        <p:spPr>
          <a:xfrm>
            <a:off x="6172200" y="4005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</a:t>
            </a:r>
            <a:endParaRPr lang="en-US" sz="800" dirty="0"/>
          </a:p>
        </p:txBody>
      </p:sp>
      <p:sp>
        <p:nvSpPr>
          <p:cNvPr id="104" name="Shape 97"/>
          <p:cNvSpPr/>
          <p:nvPr/>
        </p:nvSpPr>
        <p:spPr>
          <a:xfrm>
            <a:off x="6583680" y="4005072"/>
            <a:ext cx="59436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5" name="Text 98"/>
          <p:cNvSpPr txBox="1"/>
          <p:nvPr/>
        </p:nvSpPr>
        <p:spPr>
          <a:xfrm>
            <a:off x="6629400" y="40050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800" dirty="0"/>
          </a:p>
        </p:txBody>
      </p:sp>
      <p:sp>
        <p:nvSpPr>
          <p:cNvPr id="106" name="Shape 99"/>
          <p:cNvSpPr/>
          <p:nvPr/>
        </p:nvSpPr>
        <p:spPr>
          <a:xfrm>
            <a:off x="7178040" y="4005072"/>
            <a:ext cx="59436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7" name="Text 100"/>
          <p:cNvSpPr txBox="1"/>
          <p:nvPr/>
        </p:nvSpPr>
        <p:spPr>
          <a:xfrm>
            <a:off x="7223760" y="40050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00" dirty="0"/>
          </a:p>
        </p:txBody>
      </p:sp>
      <p:sp>
        <p:nvSpPr>
          <p:cNvPr id="108" name="Shape 101"/>
          <p:cNvSpPr/>
          <p:nvPr/>
        </p:nvSpPr>
        <p:spPr>
          <a:xfrm>
            <a:off x="7772400" y="4005072"/>
            <a:ext cx="54864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9" name="Text 102"/>
          <p:cNvSpPr txBox="1"/>
          <p:nvPr/>
        </p:nvSpPr>
        <p:spPr>
          <a:xfrm>
            <a:off x="7818120" y="40050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800" dirty="0"/>
          </a:p>
        </p:txBody>
      </p:sp>
      <p:sp>
        <p:nvSpPr>
          <p:cNvPr id="110" name="Shape 103"/>
          <p:cNvSpPr/>
          <p:nvPr/>
        </p:nvSpPr>
        <p:spPr>
          <a:xfrm>
            <a:off x="4572000" y="4233672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4"/>
          <p:cNvSpPr txBox="1"/>
          <p:nvPr/>
        </p:nvSpPr>
        <p:spPr>
          <a:xfrm>
            <a:off x="4617720" y="42336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Classplus</a:t>
            </a:r>
            <a:endParaRPr lang="en-US" sz="850" dirty="0"/>
          </a:p>
        </p:txBody>
      </p:sp>
      <p:sp>
        <p:nvSpPr>
          <p:cNvPr id="112" name="Shape 105"/>
          <p:cNvSpPr/>
          <p:nvPr/>
        </p:nvSpPr>
        <p:spPr>
          <a:xfrm>
            <a:off x="5486400" y="4233672"/>
            <a:ext cx="64008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06"/>
          <p:cNvSpPr txBox="1"/>
          <p:nvPr/>
        </p:nvSpPr>
        <p:spPr>
          <a:xfrm>
            <a:off x="5532120" y="4233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</a:t>
            </a:r>
            <a:endParaRPr lang="en-US" sz="850" dirty="0"/>
          </a:p>
        </p:txBody>
      </p:sp>
      <p:sp>
        <p:nvSpPr>
          <p:cNvPr id="114" name="Shape 107"/>
          <p:cNvSpPr/>
          <p:nvPr/>
        </p:nvSpPr>
        <p:spPr>
          <a:xfrm>
            <a:off x="6126480" y="4233672"/>
            <a:ext cx="45720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5" name="Text 108"/>
          <p:cNvSpPr txBox="1"/>
          <p:nvPr/>
        </p:nvSpPr>
        <p:spPr>
          <a:xfrm>
            <a:off x="6172200" y="42336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16" name="Shape 109"/>
          <p:cNvSpPr/>
          <p:nvPr/>
        </p:nvSpPr>
        <p:spPr>
          <a:xfrm>
            <a:off x="6583680" y="4233672"/>
            <a:ext cx="59436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7" name="Text 110"/>
          <p:cNvSpPr txBox="1"/>
          <p:nvPr/>
        </p:nvSpPr>
        <p:spPr>
          <a:xfrm>
            <a:off x="6629400" y="4233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18" name="Shape 111"/>
          <p:cNvSpPr/>
          <p:nvPr/>
        </p:nvSpPr>
        <p:spPr>
          <a:xfrm>
            <a:off x="7178040" y="4233672"/>
            <a:ext cx="59436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9" name="Text 112"/>
          <p:cNvSpPr txBox="1"/>
          <p:nvPr/>
        </p:nvSpPr>
        <p:spPr>
          <a:xfrm>
            <a:off x="7223760" y="4233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20" name="Shape 113"/>
          <p:cNvSpPr/>
          <p:nvPr/>
        </p:nvSpPr>
        <p:spPr>
          <a:xfrm>
            <a:off x="7772400" y="4233672"/>
            <a:ext cx="54864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21" name="Text 114"/>
          <p:cNvSpPr txBox="1"/>
          <p:nvPr/>
        </p:nvSpPr>
        <p:spPr>
          <a:xfrm>
            <a:off x="7818120" y="4233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22" name="Shape 115"/>
          <p:cNvSpPr/>
          <p:nvPr/>
        </p:nvSpPr>
        <p:spPr>
          <a:xfrm>
            <a:off x="4572000" y="4462272"/>
            <a:ext cx="37490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3" name="Shape 116"/>
          <p:cNvSpPr/>
          <p:nvPr/>
        </p:nvSpPr>
        <p:spPr>
          <a:xfrm>
            <a:off x="4572000" y="4462272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17"/>
          <p:cNvSpPr txBox="1"/>
          <p:nvPr/>
        </p:nvSpPr>
        <p:spPr>
          <a:xfrm>
            <a:off x="4617720" y="44622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Fedena</a:t>
            </a:r>
            <a:endParaRPr lang="en-US" sz="850" dirty="0"/>
          </a:p>
        </p:txBody>
      </p:sp>
      <p:sp>
        <p:nvSpPr>
          <p:cNvPr id="125" name="Shape 118"/>
          <p:cNvSpPr/>
          <p:nvPr/>
        </p:nvSpPr>
        <p:spPr>
          <a:xfrm>
            <a:off x="5486400" y="4462272"/>
            <a:ext cx="64008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Text 119"/>
          <p:cNvSpPr txBox="1"/>
          <p:nvPr/>
        </p:nvSpPr>
        <p:spPr>
          <a:xfrm>
            <a:off x="5532120" y="44622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10–21</a:t>
            </a:r>
            <a:endParaRPr lang="en-US" sz="850" dirty="0"/>
          </a:p>
        </p:txBody>
      </p:sp>
      <p:sp>
        <p:nvSpPr>
          <p:cNvPr id="127" name="Shape 120"/>
          <p:cNvSpPr/>
          <p:nvPr/>
        </p:nvSpPr>
        <p:spPr>
          <a:xfrm>
            <a:off x="6126480" y="4462272"/>
            <a:ext cx="457200" cy="2286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28" name="Text 121"/>
          <p:cNvSpPr txBox="1"/>
          <p:nvPr/>
        </p:nvSpPr>
        <p:spPr>
          <a:xfrm>
            <a:off x="6172200" y="44622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29" name="Shape 122"/>
          <p:cNvSpPr/>
          <p:nvPr/>
        </p:nvSpPr>
        <p:spPr>
          <a:xfrm>
            <a:off x="6583680" y="4462272"/>
            <a:ext cx="59436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30" name="Text 123"/>
          <p:cNvSpPr txBox="1"/>
          <p:nvPr/>
        </p:nvSpPr>
        <p:spPr>
          <a:xfrm>
            <a:off x="6629400" y="44622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31" name="Shape 124"/>
          <p:cNvSpPr/>
          <p:nvPr/>
        </p:nvSpPr>
        <p:spPr>
          <a:xfrm>
            <a:off x="7178040" y="4462272"/>
            <a:ext cx="594360" cy="22860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32" name="Text 125"/>
          <p:cNvSpPr txBox="1"/>
          <p:nvPr/>
        </p:nvSpPr>
        <p:spPr>
          <a:xfrm>
            <a:off x="7223760" y="44622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33" name="Shape 126"/>
          <p:cNvSpPr/>
          <p:nvPr/>
        </p:nvSpPr>
        <p:spPr>
          <a:xfrm>
            <a:off x="7772400" y="4462272"/>
            <a:ext cx="54864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34" name="Text 127"/>
          <p:cNvSpPr txBox="1"/>
          <p:nvPr/>
        </p:nvSpPr>
        <p:spPr>
          <a:xfrm>
            <a:off x="7818120" y="4462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35" name="Shape 128"/>
          <p:cNvSpPr/>
          <p:nvPr/>
        </p:nvSpPr>
        <p:spPr>
          <a:xfrm>
            <a:off x="4572000" y="4690872"/>
            <a:ext cx="37490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6" name="Shape 129"/>
          <p:cNvSpPr/>
          <p:nvPr/>
        </p:nvSpPr>
        <p:spPr>
          <a:xfrm>
            <a:off x="4572000" y="4690872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0"/>
          <p:cNvSpPr txBox="1"/>
          <p:nvPr/>
        </p:nvSpPr>
        <p:spPr>
          <a:xfrm>
            <a:off x="4617720" y="4690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Teachmint</a:t>
            </a:r>
            <a:endParaRPr lang="en-US" sz="850" dirty="0"/>
          </a:p>
        </p:txBody>
      </p:sp>
      <p:sp>
        <p:nvSpPr>
          <p:cNvPr id="138" name="Shape 131"/>
          <p:cNvSpPr/>
          <p:nvPr/>
        </p:nvSpPr>
        <p:spPr>
          <a:xfrm>
            <a:off x="5486400" y="4690872"/>
            <a:ext cx="64008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2"/>
          <p:cNvSpPr txBox="1"/>
          <p:nvPr/>
        </p:nvSpPr>
        <p:spPr>
          <a:xfrm>
            <a:off x="5532120" y="46908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</a:t>
            </a:r>
            <a:endParaRPr lang="en-US" sz="850" dirty="0"/>
          </a:p>
        </p:txBody>
      </p:sp>
      <p:sp>
        <p:nvSpPr>
          <p:cNvPr id="140" name="Shape 133"/>
          <p:cNvSpPr/>
          <p:nvPr/>
        </p:nvSpPr>
        <p:spPr>
          <a:xfrm>
            <a:off x="6126480" y="4690872"/>
            <a:ext cx="45720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41" name="Text 134"/>
          <p:cNvSpPr txBox="1"/>
          <p:nvPr/>
        </p:nvSpPr>
        <p:spPr>
          <a:xfrm>
            <a:off x="6172200" y="46908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42" name="Shape 135"/>
          <p:cNvSpPr/>
          <p:nvPr/>
        </p:nvSpPr>
        <p:spPr>
          <a:xfrm>
            <a:off x="6583680" y="4690872"/>
            <a:ext cx="59436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43" name="Text 136"/>
          <p:cNvSpPr txBox="1"/>
          <p:nvPr/>
        </p:nvSpPr>
        <p:spPr>
          <a:xfrm>
            <a:off x="6629400" y="46908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44" name="Shape 137"/>
          <p:cNvSpPr/>
          <p:nvPr/>
        </p:nvSpPr>
        <p:spPr>
          <a:xfrm>
            <a:off x="7178040" y="4690872"/>
            <a:ext cx="594360" cy="22860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5" name="Text 138"/>
          <p:cNvSpPr txBox="1"/>
          <p:nvPr/>
        </p:nvSpPr>
        <p:spPr>
          <a:xfrm>
            <a:off x="7223760" y="46908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46" name="Shape 139"/>
          <p:cNvSpPr/>
          <p:nvPr/>
        </p:nvSpPr>
        <p:spPr>
          <a:xfrm>
            <a:off x="7772400" y="4690872"/>
            <a:ext cx="548640" cy="22860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7" name="Text 140"/>
          <p:cNvSpPr txBox="1"/>
          <p:nvPr/>
        </p:nvSpPr>
        <p:spPr>
          <a:xfrm>
            <a:off x="7818120" y="46908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48" name="Shape 141"/>
          <p:cNvSpPr/>
          <p:nvPr/>
        </p:nvSpPr>
        <p:spPr>
          <a:xfrm>
            <a:off x="4572000" y="4919472"/>
            <a:ext cx="37490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9" name="Shape 142"/>
          <p:cNvSpPr/>
          <p:nvPr/>
        </p:nvSpPr>
        <p:spPr>
          <a:xfrm>
            <a:off x="4572000" y="4919472"/>
            <a:ext cx="9144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0" name="Text 143"/>
          <p:cNvSpPr txBox="1"/>
          <p:nvPr/>
        </p:nvSpPr>
        <p:spPr>
          <a:xfrm>
            <a:off x="4617720" y="49194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850" dirty="0"/>
          </a:p>
        </p:txBody>
      </p:sp>
      <p:sp>
        <p:nvSpPr>
          <p:cNvPr id="151" name="Shape 144"/>
          <p:cNvSpPr/>
          <p:nvPr/>
        </p:nvSpPr>
        <p:spPr>
          <a:xfrm>
            <a:off x="5486400" y="4919472"/>
            <a:ext cx="64008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2" name="Text 145"/>
          <p:cNvSpPr txBox="1"/>
          <p:nvPr/>
        </p:nvSpPr>
        <p:spPr>
          <a:xfrm>
            <a:off x="5532120" y="4919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sp>
        <p:nvSpPr>
          <p:cNvPr id="153" name="Shape 146"/>
          <p:cNvSpPr/>
          <p:nvPr/>
        </p:nvSpPr>
        <p:spPr>
          <a:xfrm>
            <a:off x="6126480" y="4919472"/>
            <a:ext cx="4572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4" name="Text 147"/>
          <p:cNvSpPr txBox="1"/>
          <p:nvPr/>
        </p:nvSpPr>
        <p:spPr>
          <a:xfrm>
            <a:off x="6172200" y="49194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55" name="Shape 148"/>
          <p:cNvSpPr/>
          <p:nvPr/>
        </p:nvSpPr>
        <p:spPr>
          <a:xfrm>
            <a:off x="6583680" y="4919472"/>
            <a:ext cx="59436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6" name="Text 149"/>
          <p:cNvSpPr txBox="1"/>
          <p:nvPr/>
        </p:nvSpPr>
        <p:spPr>
          <a:xfrm>
            <a:off x="6629400" y="4919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57" name="Shape 150"/>
          <p:cNvSpPr/>
          <p:nvPr/>
        </p:nvSpPr>
        <p:spPr>
          <a:xfrm>
            <a:off x="7178040" y="4919472"/>
            <a:ext cx="59436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8" name="Text 151"/>
          <p:cNvSpPr txBox="1"/>
          <p:nvPr/>
        </p:nvSpPr>
        <p:spPr>
          <a:xfrm>
            <a:off x="7223760" y="4919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59" name="Shape 152"/>
          <p:cNvSpPr/>
          <p:nvPr/>
        </p:nvSpPr>
        <p:spPr>
          <a:xfrm>
            <a:off x="7772400" y="4919472"/>
            <a:ext cx="54864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0" name="Text 153"/>
          <p:cNvSpPr txBox="1"/>
          <p:nvPr/>
        </p:nvSpPr>
        <p:spPr>
          <a:xfrm>
            <a:off x="7818120" y="49194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61" name="Shape 154"/>
          <p:cNvSpPr/>
          <p:nvPr/>
        </p:nvSpPr>
        <p:spPr>
          <a:xfrm>
            <a:off x="4572000" y="5148072"/>
            <a:ext cx="37490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2" name="Text 155"/>
          <p:cNvSpPr txBox="1"/>
          <p:nvPr/>
        </p:nvSpPr>
        <p:spPr>
          <a:xfrm>
            <a:off x="4572000" y="52303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in listing · no: not shown · ?: not verifiable</a:t>
            </a:r>
            <a:endParaRPr lang="en-US" sz="750" dirty="0"/>
          </a:p>
        </p:txBody>
      </p:sp>
      <p:sp>
        <p:nvSpPr>
          <p:cNvPr id="163" name="Shape 156"/>
          <p:cNvSpPr/>
          <p:nvPr/>
        </p:nvSpPr>
        <p:spPr>
          <a:xfrm>
            <a:off x="4572000" y="5440680"/>
            <a:ext cx="1015990" cy="402336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4" name="Text 157"/>
          <p:cNvSpPr txBox="1"/>
          <p:nvPr/>
        </p:nvSpPr>
        <p:spPr>
          <a:xfrm>
            <a:off x="4700016" y="5440680"/>
            <a:ext cx="74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institutes</a:t>
            </a:r>
            <a:endParaRPr lang="en-US" sz="800" dirty="0"/>
          </a:p>
        </p:txBody>
      </p:sp>
      <p:sp>
        <p:nvSpPr>
          <p:cNvPr id="165" name="Shape 158"/>
          <p:cNvSpPr/>
          <p:nvPr/>
        </p:nvSpPr>
        <p:spPr>
          <a:xfrm>
            <a:off x="5483017" y="5440680"/>
            <a:ext cx="1015990" cy="402336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6" name="Text 159"/>
          <p:cNvSpPr txBox="1"/>
          <p:nvPr/>
        </p:nvSpPr>
        <p:spPr>
          <a:xfrm>
            <a:off x="5647609" y="5440680"/>
            <a:ext cx="705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answers</a:t>
            </a:r>
            <a:endParaRPr lang="en-US" sz="800" dirty="0"/>
          </a:p>
        </p:txBody>
      </p:sp>
      <p:sp>
        <p:nvSpPr>
          <p:cNvPr id="167" name="Shape 160"/>
          <p:cNvSpPr/>
          <p:nvPr/>
        </p:nvSpPr>
        <p:spPr>
          <a:xfrm>
            <a:off x="6394033" y="5440680"/>
            <a:ext cx="1015990" cy="402336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8" name="Text 161"/>
          <p:cNvSpPr txBox="1"/>
          <p:nvPr/>
        </p:nvSpPr>
        <p:spPr>
          <a:xfrm>
            <a:off x="6558625" y="5440680"/>
            <a:ext cx="705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difficulty</a:t>
            </a:r>
            <a:endParaRPr lang="en-US" sz="800" dirty="0"/>
          </a:p>
        </p:txBody>
      </p:sp>
      <p:sp>
        <p:nvSpPr>
          <p:cNvPr id="169" name="Shape 162"/>
          <p:cNvSpPr/>
          <p:nvPr/>
        </p:nvSpPr>
        <p:spPr>
          <a:xfrm>
            <a:off x="7305050" y="5440680"/>
            <a:ext cx="1015990" cy="402336"/>
          </a:xfrm>
          <a:prstGeom prst="chevron">
            <a:avLst/>
          </a:prstGeom>
          <a:solidFill>
            <a:srgbClr val="5B8D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0" name="Text 163"/>
          <p:cNvSpPr txBox="1"/>
          <p:nvPr/>
        </p:nvSpPr>
        <p:spPr>
          <a:xfrm>
            <a:off x="7469642" y="5440680"/>
            <a:ext cx="705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lists</a:t>
            </a:r>
            <a:endParaRPr lang="en-US" sz="800" dirty="0"/>
          </a:p>
        </p:txBody>
      </p:sp>
      <p:sp>
        <p:nvSpPr>
          <p:cNvPr id="171" name="Text 164"/>
          <p:cNvSpPr txBox="1"/>
          <p:nvPr/>
        </p:nvSpPr>
        <p:spPr>
          <a:xfrm>
            <a:off x="4572000" y="5897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below about 200 institutes: early wins come from time saved.</a:t>
            </a:r>
            <a:endParaRPr lang="en-US" sz="850" dirty="0"/>
          </a:p>
        </p:txBody>
      </p:sp>
      <p:sp>
        <p:nvSpPr>
          <p:cNvPr id="172" name="Text 165"/>
          <p:cNvSpPr txBox="1"/>
          <p:nvPr/>
        </p:nvSpPr>
        <p:spPr>
          <a:xfrm>
            <a:off x="8540496" y="365760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INSTITUTE SIZE, AND YEAR 3</a:t>
            </a:r>
            <a:endParaRPr lang="en-US" sz="1250" dirty="0"/>
          </a:p>
        </p:txBody>
      </p:sp>
      <p:sp>
        <p:nvSpPr>
          <p:cNvPr id="173" name="Shape 166"/>
          <p:cNvSpPr/>
          <p:nvPr/>
        </p:nvSpPr>
        <p:spPr>
          <a:xfrm>
            <a:off x="8540496" y="3950208"/>
            <a:ext cx="318211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74" name="Shape 167"/>
          <p:cNvSpPr/>
          <p:nvPr/>
        </p:nvSpPr>
        <p:spPr>
          <a:xfrm>
            <a:off x="8540496" y="3941064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75" name="Shape 168"/>
          <p:cNvSpPr/>
          <p:nvPr/>
        </p:nvSpPr>
        <p:spPr>
          <a:xfrm>
            <a:off x="8540496" y="4005072"/>
            <a:ext cx="1280160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76" name="Text 169"/>
          <p:cNvSpPr txBox="1"/>
          <p:nvPr/>
        </p:nvSpPr>
        <p:spPr>
          <a:xfrm>
            <a:off x="8586216" y="4005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50" dirty="0"/>
          </a:p>
        </p:txBody>
      </p:sp>
      <p:sp>
        <p:nvSpPr>
          <p:cNvPr id="177" name="Shape 170"/>
          <p:cNvSpPr/>
          <p:nvPr/>
        </p:nvSpPr>
        <p:spPr>
          <a:xfrm>
            <a:off x="9820656" y="4005072"/>
            <a:ext cx="621792" cy="237744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78" name="Text 171"/>
          <p:cNvSpPr txBox="1"/>
          <p:nvPr/>
        </p:nvSpPr>
        <p:spPr>
          <a:xfrm>
            <a:off x="9866376" y="400507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79" name="Shape 172"/>
          <p:cNvSpPr/>
          <p:nvPr/>
        </p:nvSpPr>
        <p:spPr>
          <a:xfrm>
            <a:off x="10442448" y="4005072"/>
            <a:ext cx="621792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80" name="Text 173"/>
          <p:cNvSpPr txBox="1"/>
          <p:nvPr/>
        </p:nvSpPr>
        <p:spPr>
          <a:xfrm>
            <a:off x="10488168" y="400507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850" dirty="0"/>
          </a:p>
        </p:txBody>
      </p:sp>
      <p:sp>
        <p:nvSpPr>
          <p:cNvPr id="181" name="Shape 174"/>
          <p:cNvSpPr/>
          <p:nvPr/>
        </p:nvSpPr>
        <p:spPr>
          <a:xfrm>
            <a:off x="11064240" y="4005072"/>
            <a:ext cx="658368" cy="237744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82" name="Text 175"/>
          <p:cNvSpPr txBox="1"/>
          <p:nvPr/>
        </p:nvSpPr>
        <p:spPr>
          <a:xfrm>
            <a:off x="11109960" y="40050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850" dirty="0"/>
          </a:p>
        </p:txBody>
      </p:sp>
      <p:sp>
        <p:nvSpPr>
          <p:cNvPr id="183" name="Shape 176"/>
          <p:cNvSpPr/>
          <p:nvPr/>
        </p:nvSpPr>
        <p:spPr>
          <a:xfrm>
            <a:off x="8540496" y="4242816"/>
            <a:ext cx="128016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84" name="Text 177"/>
          <p:cNvSpPr txBox="1"/>
          <p:nvPr/>
        </p:nvSpPr>
        <p:spPr>
          <a:xfrm>
            <a:off x="8586216" y="42428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850" dirty="0"/>
          </a:p>
        </p:txBody>
      </p:sp>
      <p:sp>
        <p:nvSpPr>
          <p:cNvPr id="185" name="Shape 178"/>
          <p:cNvSpPr/>
          <p:nvPr/>
        </p:nvSpPr>
        <p:spPr>
          <a:xfrm>
            <a:off x="9820656" y="4242816"/>
            <a:ext cx="62179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86" name="Text 179"/>
          <p:cNvSpPr txBox="1"/>
          <p:nvPr/>
        </p:nvSpPr>
        <p:spPr>
          <a:xfrm>
            <a:off x="9866376" y="424281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850" dirty="0"/>
          </a:p>
        </p:txBody>
      </p:sp>
      <p:sp>
        <p:nvSpPr>
          <p:cNvPr id="187" name="Shape 180"/>
          <p:cNvSpPr/>
          <p:nvPr/>
        </p:nvSpPr>
        <p:spPr>
          <a:xfrm>
            <a:off x="10442448" y="4242816"/>
            <a:ext cx="62179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88" name="Text 181"/>
          <p:cNvSpPr txBox="1"/>
          <p:nvPr/>
        </p:nvSpPr>
        <p:spPr>
          <a:xfrm>
            <a:off x="10488168" y="424281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189" name="Shape 182"/>
          <p:cNvSpPr/>
          <p:nvPr/>
        </p:nvSpPr>
        <p:spPr>
          <a:xfrm>
            <a:off x="11064240" y="4242816"/>
            <a:ext cx="658368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90" name="Text 183"/>
          <p:cNvSpPr txBox="1"/>
          <p:nvPr/>
        </p:nvSpPr>
        <p:spPr>
          <a:xfrm>
            <a:off x="11109960" y="424281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850" dirty="0"/>
          </a:p>
        </p:txBody>
      </p:sp>
      <p:sp>
        <p:nvSpPr>
          <p:cNvPr id="191" name="Shape 184"/>
          <p:cNvSpPr/>
          <p:nvPr/>
        </p:nvSpPr>
        <p:spPr>
          <a:xfrm>
            <a:off x="8540496" y="4480560"/>
            <a:ext cx="31821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92" name="Shape 185"/>
          <p:cNvSpPr/>
          <p:nvPr/>
        </p:nvSpPr>
        <p:spPr>
          <a:xfrm>
            <a:off x="8540496" y="4480560"/>
            <a:ext cx="12801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3" name="Text 186"/>
          <p:cNvSpPr txBox="1"/>
          <p:nvPr/>
        </p:nvSpPr>
        <p:spPr>
          <a:xfrm>
            <a:off x="8586216" y="44805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return</a:t>
            </a:r>
            <a:endParaRPr lang="en-US" sz="850" dirty="0"/>
          </a:p>
        </p:txBody>
      </p:sp>
      <p:sp>
        <p:nvSpPr>
          <p:cNvPr id="194" name="Shape 187"/>
          <p:cNvSpPr/>
          <p:nvPr/>
        </p:nvSpPr>
        <p:spPr>
          <a:xfrm>
            <a:off x="9820656" y="4480560"/>
            <a:ext cx="62179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5" name="Text 188"/>
          <p:cNvSpPr txBox="1"/>
          <p:nvPr/>
        </p:nvSpPr>
        <p:spPr>
          <a:xfrm>
            <a:off x="9866376" y="44805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850" dirty="0"/>
          </a:p>
        </p:txBody>
      </p:sp>
      <p:sp>
        <p:nvSpPr>
          <p:cNvPr id="196" name="Shape 189"/>
          <p:cNvSpPr/>
          <p:nvPr/>
        </p:nvSpPr>
        <p:spPr>
          <a:xfrm>
            <a:off x="10442448" y="4480560"/>
            <a:ext cx="621792" cy="237744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97" name="Text 190"/>
          <p:cNvSpPr txBox="1"/>
          <p:nvPr/>
        </p:nvSpPr>
        <p:spPr>
          <a:xfrm>
            <a:off x="10488168" y="44805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850" dirty="0"/>
          </a:p>
        </p:txBody>
      </p:sp>
      <p:sp>
        <p:nvSpPr>
          <p:cNvPr id="198" name="Shape 191"/>
          <p:cNvSpPr/>
          <p:nvPr/>
        </p:nvSpPr>
        <p:spPr>
          <a:xfrm>
            <a:off x="11064240" y="4480560"/>
            <a:ext cx="65836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9" name="Text 192"/>
          <p:cNvSpPr txBox="1"/>
          <p:nvPr/>
        </p:nvSpPr>
        <p:spPr>
          <a:xfrm>
            <a:off x="11109960" y="44805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850" dirty="0"/>
          </a:p>
        </p:txBody>
      </p:sp>
      <p:sp>
        <p:nvSpPr>
          <p:cNvPr id="200" name="Shape 193"/>
          <p:cNvSpPr/>
          <p:nvPr/>
        </p:nvSpPr>
        <p:spPr>
          <a:xfrm>
            <a:off x="8540496" y="4718304"/>
            <a:ext cx="31821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01" name="Shape 194"/>
          <p:cNvSpPr/>
          <p:nvPr/>
        </p:nvSpPr>
        <p:spPr>
          <a:xfrm>
            <a:off x="8540496" y="4718304"/>
            <a:ext cx="128016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2" name="Text 195"/>
          <p:cNvSpPr txBox="1"/>
          <p:nvPr/>
        </p:nvSpPr>
        <p:spPr>
          <a:xfrm>
            <a:off x="8586216" y="47183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LTV÷CAC, field</a:t>
            </a:r>
            <a:endParaRPr lang="en-US" sz="850" dirty="0"/>
          </a:p>
        </p:txBody>
      </p:sp>
      <p:sp>
        <p:nvSpPr>
          <p:cNvPr id="203" name="Shape 196"/>
          <p:cNvSpPr/>
          <p:nvPr/>
        </p:nvSpPr>
        <p:spPr>
          <a:xfrm>
            <a:off x="9820656" y="4718304"/>
            <a:ext cx="62179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4" name="Text 197"/>
          <p:cNvSpPr txBox="1"/>
          <p:nvPr/>
        </p:nvSpPr>
        <p:spPr>
          <a:xfrm>
            <a:off x="9866376" y="471830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850" dirty="0"/>
          </a:p>
        </p:txBody>
      </p:sp>
      <p:sp>
        <p:nvSpPr>
          <p:cNvPr id="205" name="Shape 198"/>
          <p:cNvSpPr/>
          <p:nvPr/>
        </p:nvSpPr>
        <p:spPr>
          <a:xfrm>
            <a:off x="10442448" y="4718304"/>
            <a:ext cx="621792" cy="237744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206" name="Text 199"/>
          <p:cNvSpPr txBox="1"/>
          <p:nvPr/>
        </p:nvSpPr>
        <p:spPr>
          <a:xfrm>
            <a:off x="10488168" y="471830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850" dirty="0"/>
          </a:p>
        </p:txBody>
      </p:sp>
      <p:sp>
        <p:nvSpPr>
          <p:cNvPr id="207" name="Shape 200"/>
          <p:cNvSpPr/>
          <p:nvPr/>
        </p:nvSpPr>
        <p:spPr>
          <a:xfrm>
            <a:off x="11064240" y="4718304"/>
            <a:ext cx="658368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8" name="Text 201"/>
          <p:cNvSpPr txBox="1"/>
          <p:nvPr/>
        </p:nvSpPr>
        <p:spPr>
          <a:xfrm>
            <a:off x="11109960" y="471830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9.2x</a:t>
            </a:r>
            <a:endParaRPr lang="en-US" sz="850" dirty="0"/>
          </a:p>
        </p:txBody>
      </p:sp>
      <p:sp>
        <p:nvSpPr>
          <p:cNvPr id="209" name="Shape 202"/>
          <p:cNvSpPr/>
          <p:nvPr/>
        </p:nvSpPr>
        <p:spPr>
          <a:xfrm>
            <a:off x="8540496" y="4956048"/>
            <a:ext cx="31821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10" name="Shape 203"/>
          <p:cNvSpPr/>
          <p:nvPr/>
        </p:nvSpPr>
        <p:spPr>
          <a:xfrm>
            <a:off x="8540496" y="4956048"/>
            <a:ext cx="12801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1" name="Text 204"/>
          <p:cNvSpPr txBox="1"/>
          <p:nvPr/>
        </p:nvSpPr>
        <p:spPr>
          <a:xfrm>
            <a:off x="8586216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LTV÷CAC, partner</a:t>
            </a:r>
            <a:endParaRPr lang="en-US" sz="850" dirty="0"/>
          </a:p>
        </p:txBody>
      </p:sp>
      <p:sp>
        <p:nvSpPr>
          <p:cNvPr id="212" name="Shape 205"/>
          <p:cNvSpPr/>
          <p:nvPr/>
        </p:nvSpPr>
        <p:spPr>
          <a:xfrm>
            <a:off x="9820656" y="4956048"/>
            <a:ext cx="62179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3" name="Text 206"/>
          <p:cNvSpPr txBox="1"/>
          <p:nvPr/>
        </p:nvSpPr>
        <p:spPr>
          <a:xfrm>
            <a:off x="9866376" y="495604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3.4x</a:t>
            </a:r>
            <a:endParaRPr lang="en-US" sz="850" dirty="0"/>
          </a:p>
        </p:txBody>
      </p:sp>
      <p:sp>
        <p:nvSpPr>
          <p:cNvPr id="214" name="Shape 207"/>
          <p:cNvSpPr/>
          <p:nvPr/>
        </p:nvSpPr>
        <p:spPr>
          <a:xfrm>
            <a:off x="10442448" y="4956048"/>
            <a:ext cx="62179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5" name="Text 208"/>
          <p:cNvSpPr txBox="1"/>
          <p:nvPr/>
        </p:nvSpPr>
        <p:spPr>
          <a:xfrm>
            <a:off x="10488168" y="495604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4.9x</a:t>
            </a:r>
            <a:endParaRPr lang="en-US" sz="850" dirty="0"/>
          </a:p>
        </p:txBody>
      </p:sp>
      <p:sp>
        <p:nvSpPr>
          <p:cNvPr id="216" name="Shape 209"/>
          <p:cNvSpPr/>
          <p:nvPr/>
        </p:nvSpPr>
        <p:spPr>
          <a:xfrm>
            <a:off x="11064240" y="4956048"/>
            <a:ext cx="65836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7" name="Text 210"/>
          <p:cNvSpPr txBox="1"/>
          <p:nvPr/>
        </p:nvSpPr>
        <p:spPr>
          <a:xfrm>
            <a:off x="11109960" y="49560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6.1x</a:t>
            </a:r>
            <a:endParaRPr lang="en-US" sz="850" dirty="0"/>
          </a:p>
        </p:txBody>
      </p:sp>
      <p:sp>
        <p:nvSpPr>
          <p:cNvPr id="218" name="Shape 211"/>
          <p:cNvSpPr/>
          <p:nvPr/>
        </p:nvSpPr>
        <p:spPr>
          <a:xfrm>
            <a:off x="8540496" y="5193792"/>
            <a:ext cx="31821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19" name="Shape 212"/>
          <p:cNvSpPr/>
          <p:nvPr/>
        </p:nvSpPr>
        <p:spPr>
          <a:xfrm>
            <a:off x="8540496" y="5285232"/>
            <a:ext cx="1024128" cy="56692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20" name="Text 213"/>
          <p:cNvSpPr txBox="1"/>
          <p:nvPr/>
        </p:nvSpPr>
        <p:spPr>
          <a:xfrm>
            <a:off x="8540496" y="5285232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institutes</a:t>
            </a:r>
            <a:endParaRPr lang="en-US" sz="1400" dirty="0"/>
          </a:p>
        </p:txBody>
      </p:sp>
      <p:sp>
        <p:nvSpPr>
          <p:cNvPr id="221" name="Shape 214"/>
          <p:cNvSpPr/>
          <p:nvPr/>
        </p:nvSpPr>
        <p:spPr>
          <a:xfrm>
            <a:off x="9619488" y="5285232"/>
            <a:ext cx="1024128" cy="56692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22" name="Text 215"/>
          <p:cNvSpPr txBox="1"/>
          <p:nvPr/>
        </p:nvSpPr>
        <p:spPr>
          <a:xfrm>
            <a:off x="9619488" y="5285232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 L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year 3</a:t>
            </a:r>
            <a:endParaRPr lang="en-US" sz="1400" dirty="0"/>
          </a:p>
        </p:txBody>
      </p:sp>
      <p:sp>
        <p:nvSpPr>
          <p:cNvPr id="223" name="Shape 216"/>
          <p:cNvSpPr/>
          <p:nvPr/>
        </p:nvSpPr>
        <p:spPr>
          <a:xfrm>
            <a:off x="10698480" y="5285232"/>
            <a:ext cx="1024128" cy="56692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24" name="Text 217"/>
          <p:cNvSpPr txBox="1"/>
          <p:nvPr/>
        </p:nvSpPr>
        <p:spPr>
          <a:xfrm>
            <a:off x="10698480" y="5285232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16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400" dirty="0"/>
          </a:p>
        </p:txBody>
      </p:sp>
      <p:sp>
        <p:nvSpPr>
          <p:cNvPr id="225" name="Text 218"/>
          <p:cNvSpPr txBox="1"/>
          <p:nvPr/>
        </p:nvSpPr>
        <p:spPr>
          <a:xfrm>
            <a:off x="8540496" y="58978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3, Base case. Needs ₹45 L.</a:t>
            </a:r>
            <a:endParaRPr lang="en-US" sz="800" dirty="0"/>
          </a:p>
        </p:txBody>
      </p:sp>
      <p:sp>
        <p:nvSpPr>
          <p:cNvPr id="226" name="Text 219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vendor listings (financial/research R1; ? means not verifiable, not absent); financial model v1.1 (field vs channel economics; 3-year projection); roadmap dates are our plan.</a:t>
            </a:r>
            <a:endParaRPr lang="en-US" sz="850" dirty="0"/>
          </a:p>
        </p:txBody>
      </p:sp>
      <p:pic>
        <p:nvPicPr>
          <p:cNvPr id="227" name="Image 4" descr="owner curs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4754880"/>
            <a:ext cx="777240" cy="329184"/>
          </a:xfrm>
          <a:prstGeom prst="rect">
            <a:avLst/>
          </a:prstGeom>
        </p:spPr>
      </p:pic>
      <p:sp>
        <p:nvSpPr>
          <p:cNvPr id="228" name="Shape 220"/>
          <p:cNvSpPr/>
          <p:nvPr/>
        </p:nvSpPr>
        <p:spPr>
          <a:xfrm>
            <a:off x="2514600" y="3511296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E0584A"/>
          </a:solidFill>
          <a:ln/>
        </p:spPr>
      </p:sp>
      <p:sp>
        <p:nvSpPr>
          <p:cNvPr id="229" name="Text 221"/>
          <p:cNvSpPr txBox="1"/>
          <p:nvPr/>
        </p:nvSpPr>
        <p:spPr>
          <a:xfrm>
            <a:off x="2514600" y="35112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sp>
        <p:nvSpPr>
          <p:cNvPr id="230" name="Shape 222"/>
          <p:cNvSpPr/>
          <p:nvPr/>
        </p:nvSpPr>
        <p:spPr>
          <a:xfrm>
            <a:off x="4023360" y="3511296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2E6DB4"/>
          </a:solidFill>
          <a:ln/>
        </p:spPr>
      </p:sp>
      <p:sp>
        <p:nvSpPr>
          <p:cNvPr id="231" name="Text 223"/>
          <p:cNvSpPr txBox="1"/>
          <p:nvPr/>
        </p:nvSpPr>
        <p:spPr>
          <a:xfrm>
            <a:off x="4023360" y="35112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750" dirty="0"/>
          </a:p>
        </p:txBody>
      </p:sp>
      <p:sp>
        <p:nvSpPr>
          <p:cNvPr id="232" name="Shape 224"/>
          <p:cNvSpPr/>
          <p:nvPr/>
        </p:nvSpPr>
        <p:spPr>
          <a:xfrm>
            <a:off x="7315200" y="351129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233" name="Text 225"/>
          <p:cNvSpPr txBox="1"/>
          <p:nvPr/>
        </p:nvSpPr>
        <p:spPr>
          <a:xfrm>
            <a:off x="7315200" y="3511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RISKS AND THE ASK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proved, what we have not, the risks that could sink us, and the one pilot that settles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1188720"/>
            <a:ext cx="3520440" cy="237744"/>
          </a:xfrm>
          <a:prstGeom prst="roundRect">
            <a:avLst>
              <a:gd name="adj" fmla="val 50000"/>
            </a:avLst>
          </a:prstGeom>
          <a:solidFill>
            <a:srgbClr val="1F4A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02920" y="11887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ON PUBLIC DATA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02920" y="1481328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57784" y="14813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Next-answer AUC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2286000" y="14813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 (DKT 0.754)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02920" y="1819656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57784" y="18196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AUC, day 28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2286000" y="18196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 (published 0.794)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02920" y="2157984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57784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2286000" y="21579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02920" y="2496312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57784" y="24963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Academic-only cost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2286000" y="24963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 AUC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02920" y="2834640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57784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top 10 %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2286000" y="28346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 vs 0.24 to 0.31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242816" y="1115568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334256" y="1188720"/>
            <a:ext cx="3520440" cy="237744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334256" y="11887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SYNTHETIC DATA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334256" y="1481328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389120" y="14813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end to end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6117336" y="14813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tests pass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4334256" y="1819656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4389120" y="18196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6117336" y="18196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rows across institutes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334256" y="2157984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4389120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checker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6117336" y="21579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checks, template fallback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4334256" y="2496312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389120" y="24963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recovery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6117336" y="24963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4334256" y="2834640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389120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lift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6117336" y="28346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8074152" y="1115568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165592" y="1188720"/>
            <a:ext cx="35204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165592" y="11887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PROVEN YET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8165592" y="1481328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8220456" y="14813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at real institutes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9948672" y="14813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pilot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8165592" y="1819656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8220456" y="18196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pay</a:t>
            </a:r>
            <a:endParaRPr lang="en-US" sz="900" dirty="0"/>
          </a:p>
        </p:txBody>
      </p:sp>
      <p:sp>
        <p:nvSpPr>
          <p:cNvPr id="67" name="Text 64"/>
          <p:cNvSpPr txBox="1"/>
          <p:nvPr/>
        </p:nvSpPr>
        <p:spPr>
          <a:xfrm>
            <a:off x="9948672" y="18196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interviews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8165592" y="2157984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8220456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dropout reduction</a:t>
            </a:r>
            <a:endParaRPr lang="en-US" sz="900" dirty="0"/>
          </a:p>
        </p:txBody>
      </p:sp>
      <p:sp>
        <p:nvSpPr>
          <p:cNvPr id="70" name="Text 67"/>
          <p:cNvSpPr txBox="1"/>
          <p:nvPr/>
        </p:nvSpPr>
        <p:spPr>
          <a:xfrm>
            <a:off x="9948672" y="21579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from trials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8165592" y="2496312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8220456" y="24963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quality at scale</a:t>
            </a:r>
            <a:endParaRPr lang="en-US" sz="900" dirty="0"/>
          </a:p>
        </p:txBody>
      </p:sp>
      <p:sp>
        <p:nvSpPr>
          <p:cNvPr id="73" name="Text 70"/>
          <p:cNvSpPr txBox="1"/>
          <p:nvPr/>
        </p:nvSpPr>
        <p:spPr>
          <a:xfrm>
            <a:off x="9948672" y="24963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review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8165592" y="2834640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8220456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OMR layouts</a:t>
            </a:r>
            <a:endParaRPr lang="en-US" sz="900" dirty="0"/>
          </a:p>
        </p:txBody>
      </p:sp>
      <p:sp>
        <p:nvSpPr>
          <p:cNvPr id="76" name="Text 73"/>
          <p:cNvSpPr txBox="1"/>
          <p:nvPr/>
        </p:nvSpPr>
        <p:spPr>
          <a:xfrm>
            <a:off x="9948672" y="28346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onboarding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448056" y="33558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1250" dirty="0"/>
          </a:p>
        </p:txBody>
      </p:sp>
      <p:sp>
        <p:nvSpPr>
          <p:cNvPr id="78" name="Shape 75"/>
          <p:cNvSpPr/>
          <p:nvPr/>
        </p:nvSpPr>
        <p:spPr>
          <a:xfrm>
            <a:off x="448056" y="3648456"/>
            <a:ext cx="352044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79" name="Shape 76"/>
          <p:cNvSpPr/>
          <p:nvPr/>
        </p:nvSpPr>
        <p:spPr>
          <a:xfrm>
            <a:off x="448056" y="363931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0" name="Shape 77"/>
          <p:cNvSpPr/>
          <p:nvPr/>
        </p:nvSpPr>
        <p:spPr>
          <a:xfrm>
            <a:off x="4078224" y="3383280"/>
            <a:ext cx="0" cy="21031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81" name="Shape 78"/>
          <p:cNvSpPr/>
          <p:nvPr/>
        </p:nvSpPr>
        <p:spPr>
          <a:xfrm>
            <a:off x="822960" y="4457700"/>
            <a:ext cx="1504188" cy="72694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82" name="Shape 79"/>
          <p:cNvSpPr/>
          <p:nvPr/>
        </p:nvSpPr>
        <p:spPr>
          <a:xfrm>
            <a:off x="2354580" y="4457700"/>
            <a:ext cx="1504188" cy="726948"/>
          </a:xfrm>
          <a:prstGeom prst="rect">
            <a:avLst/>
          </a:prstGeom>
          <a:solidFill>
            <a:srgbClr val="FBEFD8"/>
          </a:solidFill>
          <a:ln/>
        </p:spPr>
      </p:sp>
      <p:sp>
        <p:nvSpPr>
          <p:cNvPr id="83" name="Shape 80"/>
          <p:cNvSpPr/>
          <p:nvPr/>
        </p:nvSpPr>
        <p:spPr>
          <a:xfrm>
            <a:off x="822960" y="3703320"/>
            <a:ext cx="1504188" cy="726948"/>
          </a:xfrm>
          <a:prstGeom prst="rect">
            <a:avLst/>
          </a:prstGeom>
          <a:solidFill>
            <a:srgbClr val="FBEFD8"/>
          </a:solidFill>
          <a:ln/>
        </p:spPr>
      </p:sp>
      <p:sp>
        <p:nvSpPr>
          <p:cNvPr id="84" name="Shape 81"/>
          <p:cNvSpPr/>
          <p:nvPr/>
        </p:nvSpPr>
        <p:spPr>
          <a:xfrm>
            <a:off x="2354580" y="3703320"/>
            <a:ext cx="1504188" cy="726948"/>
          </a:xfrm>
          <a:prstGeom prst="rect">
            <a:avLst/>
          </a:prstGeom>
          <a:solidFill>
            <a:srgbClr val="F6E0DD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822960" y="523036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 rot="16200000">
            <a:off x="137160" y="43479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573"/>
                </a:solidFill>
              </a:rPr>
              <a:t>IMPACT →</a:t>
            </a:r>
            <a:endParaRPr lang="en-US" sz="800" dirty="0"/>
          </a:p>
        </p:txBody>
      </p:sp>
      <p:sp>
        <p:nvSpPr>
          <p:cNvPr id="87" name="Shape 84"/>
          <p:cNvSpPr/>
          <p:nvPr/>
        </p:nvSpPr>
        <p:spPr>
          <a:xfrm>
            <a:off x="2199132" y="3819449"/>
            <a:ext cx="310896" cy="310896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2199132" y="38194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9" name="Shape 86"/>
          <p:cNvSpPr/>
          <p:nvPr/>
        </p:nvSpPr>
        <p:spPr>
          <a:xfrm>
            <a:off x="2689250" y="4030675"/>
            <a:ext cx="310896" cy="310896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2689250" y="40306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1" name="Shape 88"/>
          <p:cNvSpPr/>
          <p:nvPr/>
        </p:nvSpPr>
        <p:spPr>
          <a:xfrm>
            <a:off x="3179369" y="4422953"/>
            <a:ext cx="310896" cy="310896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3179369" y="44229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1402690" y="4604004"/>
            <a:ext cx="310896" cy="310896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1402690" y="46040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5" name="Text 92"/>
          <p:cNvSpPr txBox="1"/>
          <p:nvPr/>
        </p:nvSpPr>
        <p:spPr>
          <a:xfrm>
            <a:off x="4197096" y="33558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AND HOW WE CONTAIN THEM</a:t>
            </a:r>
            <a:endParaRPr lang="en-US" sz="1250" dirty="0"/>
          </a:p>
        </p:txBody>
      </p:sp>
      <p:sp>
        <p:nvSpPr>
          <p:cNvPr id="96" name="Shape 93"/>
          <p:cNvSpPr/>
          <p:nvPr/>
        </p:nvSpPr>
        <p:spPr>
          <a:xfrm>
            <a:off x="4197096" y="3648456"/>
            <a:ext cx="448056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97" name="Shape 94"/>
          <p:cNvSpPr/>
          <p:nvPr/>
        </p:nvSpPr>
        <p:spPr>
          <a:xfrm>
            <a:off x="4197096" y="363931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8" name="Shape 95"/>
          <p:cNvSpPr/>
          <p:nvPr/>
        </p:nvSpPr>
        <p:spPr>
          <a:xfrm>
            <a:off x="8787384" y="3383280"/>
            <a:ext cx="0" cy="21031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99" name="Shape 96"/>
          <p:cNvSpPr/>
          <p:nvPr/>
        </p:nvSpPr>
        <p:spPr>
          <a:xfrm>
            <a:off x="4206240" y="3703320"/>
            <a:ext cx="27432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4251960" y="37033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101" name="Shape 98"/>
          <p:cNvSpPr/>
          <p:nvPr/>
        </p:nvSpPr>
        <p:spPr>
          <a:xfrm>
            <a:off x="4480560" y="3703320"/>
            <a:ext cx="16002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4526280" y="3703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103" name="Shape 100"/>
          <p:cNvSpPr/>
          <p:nvPr/>
        </p:nvSpPr>
        <p:spPr>
          <a:xfrm>
            <a:off x="6080760" y="3703320"/>
            <a:ext cx="260604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6126480" y="37033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50" dirty="0"/>
          </a:p>
        </p:txBody>
      </p:sp>
      <p:sp>
        <p:nvSpPr>
          <p:cNvPr id="105" name="Shape 102"/>
          <p:cNvSpPr/>
          <p:nvPr/>
        </p:nvSpPr>
        <p:spPr>
          <a:xfrm>
            <a:off x="4206240" y="3931920"/>
            <a:ext cx="27432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4251960" y="3931920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4480560" y="3931920"/>
            <a:ext cx="160020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4526280" y="39319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below public-data results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6080760" y="3931920"/>
            <a:ext cx="260604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6126480" y="39319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Retro-pilot before any sale; compare with the institute's rule at equal workload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4206240" y="4261104"/>
            <a:ext cx="44805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206240" y="4261104"/>
            <a:ext cx="2743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4251960" y="4261104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4480560" y="4261104"/>
            <a:ext cx="16002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4526280" y="426110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will not pay ₹30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6080760" y="4261104"/>
            <a:ext cx="26060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6126480" y="426110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survey; lead with staff time and parent reports</a:t>
            </a:r>
            <a:endParaRPr lang="en-US" sz="850" dirty="0"/>
          </a:p>
        </p:txBody>
      </p:sp>
      <p:sp>
        <p:nvSpPr>
          <p:cNvPr id="118" name="Shape 115"/>
          <p:cNvSpPr/>
          <p:nvPr/>
        </p:nvSpPr>
        <p:spPr>
          <a:xfrm>
            <a:off x="4206240" y="4590288"/>
            <a:ext cx="44805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206240" y="4590288"/>
            <a:ext cx="27432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4251960" y="459028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21" name="Shape 118"/>
          <p:cNvSpPr/>
          <p:nvPr/>
        </p:nvSpPr>
        <p:spPr>
          <a:xfrm>
            <a:off x="4480560" y="4590288"/>
            <a:ext cx="160020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4526280" y="45902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ignore the list</a:t>
            </a:r>
            <a:endParaRPr lang="en-US" sz="850" dirty="0"/>
          </a:p>
        </p:txBody>
      </p:sp>
      <p:sp>
        <p:nvSpPr>
          <p:cNvPr id="123" name="Shape 120"/>
          <p:cNvSpPr/>
          <p:nvPr/>
        </p:nvSpPr>
        <p:spPr>
          <a:xfrm>
            <a:off x="6080760" y="4590288"/>
            <a:ext cx="260604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6126480" y="45902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capped at capacity; every flag needs a logged outcome</a:t>
            </a:r>
            <a:endParaRPr lang="en-US" sz="850" dirty="0"/>
          </a:p>
        </p:txBody>
      </p:sp>
      <p:sp>
        <p:nvSpPr>
          <p:cNvPr id="125" name="Shape 122"/>
          <p:cNvSpPr/>
          <p:nvPr/>
        </p:nvSpPr>
        <p:spPr>
          <a:xfrm>
            <a:off x="4206240" y="4919472"/>
            <a:ext cx="44805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206240" y="4919472"/>
            <a:ext cx="2743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7" name="Text 124"/>
          <p:cNvSpPr txBox="1"/>
          <p:nvPr/>
        </p:nvSpPr>
        <p:spPr>
          <a:xfrm>
            <a:off x="4251960" y="4919472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28" name="Shape 125"/>
          <p:cNvSpPr/>
          <p:nvPr/>
        </p:nvSpPr>
        <p:spPr>
          <a:xfrm>
            <a:off x="4480560" y="4919472"/>
            <a:ext cx="16002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9" name="Text 126"/>
          <p:cNvSpPr txBox="1"/>
          <p:nvPr/>
        </p:nvSpPr>
        <p:spPr>
          <a:xfrm>
            <a:off x="4526280" y="49194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quality</a:t>
            </a:r>
            <a:endParaRPr lang="en-US" sz="850" dirty="0"/>
          </a:p>
        </p:txBody>
      </p:sp>
      <p:sp>
        <p:nvSpPr>
          <p:cNvPr id="130" name="Shape 127"/>
          <p:cNvSpPr/>
          <p:nvPr/>
        </p:nvSpPr>
        <p:spPr>
          <a:xfrm>
            <a:off x="6080760" y="4919472"/>
            <a:ext cx="26060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1" name="Text 128"/>
          <p:cNvSpPr txBox="1"/>
          <p:nvPr/>
        </p:nvSpPr>
        <p:spPr>
          <a:xfrm>
            <a:off x="6126480" y="49194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reviewer; template fallback when a check fails</a:t>
            </a:r>
            <a:endParaRPr lang="en-US" sz="850" dirty="0"/>
          </a:p>
        </p:txBody>
      </p:sp>
      <p:sp>
        <p:nvSpPr>
          <p:cNvPr id="132" name="Shape 129"/>
          <p:cNvSpPr/>
          <p:nvPr/>
        </p:nvSpPr>
        <p:spPr>
          <a:xfrm>
            <a:off x="4206240" y="5248656"/>
            <a:ext cx="44805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3" name="Text 130"/>
          <p:cNvSpPr txBox="1"/>
          <p:nvPr/>
        </p:nvSpPr>
        <p:spPr>
          <a:xfrm>
            <a:off x="8906256" y="335584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THAT SETTLES IT</a:t>
            </a:r>
            <a:endParaRPr lang="en-US" sz="1250" dirty="0"/>
          </a:p>
        </p:txBody>
      </p:sp>
      <p:sp>
        <p:nvSpPr>
          <p:cNvPr id="134" name="Shape 131"/>
          <p:cNvSpPr/>
          <p:nvPr/>
        </p:nvSpPr>
        <p:spPr>
          <a:xfrm>
            <a:off x="8906256" y="3648456"/>
            <a:ext cx="281635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35" name="Shape 132"/>
          <p:cNvSpPr/>
          <p:nvPr/>
        </p:nvSpPr>
        <p:spPr>
          <a:xfrm>
            <a:off x="8906256" y="363931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36" name="Shape 133"/>
          <p:cNvSpPr/>
          <p:nvPr/>
        </p:nvSpPr>
        <p:spPr>
          <a:xfrm>
            <a:off x="8942832" y="3730752"/>
            <a:ext cx="985479" cy="329184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7" name="Text 134"/>
          <p:cNvSpPr txBox="1"/>
          <p:nvPr/>
        </p:nvSpPr>
        <p:spPr>
          <a:xfrm>
            <a:off x="9070848" y="3730752"/>
            <a:ext cx="7203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0–4</a:t>
            </a:r>
            <a:endParaRPr lang="en-US" sz="850" dirty="0"/>
          </a:p>
        </p:txBody>
      </p:sp>
      <p:sp>
        <p:nvSpPr>
          <p:cNvPr id="138" name="Shape 135"/>
          <p:cNvSpPr/>
          <p:nvPr/>
        </p:nvSpPr>
        <p:spPr>
          <a:xfrm>
            <a:off x="9830836" y="3730752"/>
            <a:ext cx="985479" cy="329184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9" name="Text 136"/>
          <p:cNvSpPr txBox="1"/>
          <p:nvPr/>
        </p:nvSpPr>
        <p:spPr>
          <a:xfrm>
            <a:off x="9986284" y="3730752"/>
            <a:ext cx="6928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term</a:t>
            </a:r>
            <a:endParaRPr lang="en-US" sz="850" dirty="0"/>
          </a:p>
        </p:txBody>
      </p:sp>
      <p:sp>
        <p:nvSpPr>
          <p:cNvPr id="140" name="Shape 137"/>
          <p:cNvSpPr/>
          <p:nvPr/>
        </p:nvSpPr>
        <p:spPr>
          <a:xfrm>
            <a:off x="10718841" y="3730752"/>
            <a:ext cx="985479" cy="329184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1" name="Text 138"/>
          <p:cNvSpPr txBox="1"/>
          <p:nvPr/>
        </p:nvSpPr>
        <p:spPr>
          <a:xfrm>
            <a:off x="10874289" y="3730752"/>
            <a:ext cx="6928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42" name="Text 139"/>
          <p:cNvSpPr txBox="1"/>
          <p:nvPr/>
        </p:nvSpPr>
        <p:spPr>
          <a:xfrm>
            <a:off x="8961120" y="4133088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Retro-pilot at 2 institutes: last year's Excel, who left, who we would have flagged.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paid pilot: half the batches first; measures written down in advance.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fix the percentile table with real exam results; publish all of it.</a:t>
            </a:r>
            <a:endParaRPr lang="en-US" sz="850" dirty="0"/>
          </a:p>
        </p:txBody>
      </p:sp>
      <p:sp>
        <p:nvSpPr>
          <p:cNvPr id="143" name="Shape 140"/>
          <p:cNvSpPr/>
          <p:nvPr/>
        </p:nvSpPr>
        <p:spPr>
          <a:xfrm>
            <a:off x="411480" y="5596128"/>
            <a:ext cx="11368735" cy="7772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594360" y="56327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145" name="Text 142"/>
          <p:cNvSpPr txBox="1"/>
          <p:nvPr/>
        </p:nvSpPr>
        <p:spPr>
          <a:xfrm>
            <a:off x="594360" y="583387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free retro-pilots in Patna this winter.</a:t>
            </a:r>
            <a:endParaRPr lang="en-US" sz="2100" dirty="0"/>
          </a:p>
        </p:txBody>
      </p:sp>
      <p:sp>
        <p:nvSpPr>
          <p:cNvPr id="146" name="Text 143"/>
          <p:cNvSpPr txBox="1"/>
          <p:nvPr/>
        </p:nvSpPr>
        <p:spPr>
          <a:xfrm>
            <a:off x="594360" y="6181344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flag fewer of the students who left than your attendance rule, at the same workload, we stop.</a:t>
            </a:r>
            <a:endParaRPr lang="en-US" sz="850" dirty="0"/>
          </a:p>
        </p:txBody>
      </p:sp>
      <p:sp>
        <p:nvSpPr>
          <p:cNvPr id="147" name="Shape 144"/>
          <p:cNvSpPr/>
          <p:nvPr/>
        </p:nvSpPr>
        <p:spPr>
          <a:xfrm>
            <a:off x="6858000" y="5669280"/>
            <a:ext cx="1554480" cy="640080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6858000" y="5669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 L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funding, Base</a:t>
            </a:r>
            <a:endParaRPr lang="en-US" sz="1400" dirty="0"/>
          </a:p>
        </p:txBody>
      </p:sp>
      <p:sp>
        <p:nvSpPr>
          <p:cNvPr id="149" name="Shape 146"/>
          <p:cNvSpPr/>
          <p:nvPr/>
        </p:nvSpPr>
        <p:spPr>
          <a:xfrm>
            <a:off x="8503920" y="5669280"/>
            <a:ext cx="1554480" cy="640080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150" name="Text 147"/>
          <p:cNvSpPr txBox="1"/>
          <p:nvPr/>
        </p:nvSpPr>
        <p:spPr>
          <a:xfrm>
            <a:off x="8503920" y="5669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16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400" dirty="0"/>
          </a:p>
        </p:txBody>
      </p:sp>
      <p:sp>
        <p:nvSpPr>
          <p:cNvPr id="151" name="Shape 148"/>
          <p:cNvSpPr/>
          <p:nvPr/>
        </p:nvSpPr>
        <p:spPr>
          <a:xfrm>
            <a:off x="10149840" y="5669280"/>
            <a:ext cx="1554480" cy="640080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152" name="Text 149"/>
          <p:cNvSpPr txBox="1"/>
          <p:nvPr/>
        </p:nvSpPr>
        <p:spPr>
          <a:xfrm>
            <a:off x="10149840" y="5669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 L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revenue</a:t>
            </a:r>
            <a:endParaRPr lang="en-US" sz="1400" dirty="0"/>
          </a:p>
        </p:txBody>
      </p:sp>
      <p:sp>
        <p:nvSpPr>
          <p:cNvPr id="153" name="Shape 150"/>
          <p:cNvSpPr/>
          <p:nvPr/>
        </p:nvSpPr>
        <p:spPr>
          <a:xfrm rot="180000">
            <a:off x="10104120" y="694944"/>
            <a:ext cx="1691640" cy="38404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54" name="Shape 151"/>
          <p:cNvSpPr/>
          <p:nvPr/>
        </p:nvSpPr>
        <p:spPr>
          <a:xfrm rot="180000">
            <a:off x="10058400" y="640080"/>
            <a:ext cx="1691640" cy="384048"/>
          </a:xfrm>
          <a:prstGeom prst="rect">
            <a:avLst/>
          </a:prstGeom>
          <a:solidFill>
            <a:srgbClr val="BFE0F7"/>
          </a:solidFill>
          <a:ln/>
        </p:spPr>
      </p:sp>
      <p:sp>
        <p:nvSpPr>
          <p:cNvPr id="155" name="Text 152"/>
          <p:cNvSpPr txBox="1"/>
          <p:nvPr/>
        </p:nvSpPr>
        <p:spPr>
          <a:xfrm rot="180000">
            <a:off x="10113264" y="67665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4A82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we stop if it fails</a:t>
            </a:r>
            <a:endParaRPr lang="en-US" sz="850" dirty="0"/>
          </a:p>
        </p:txBody>
      </p:sp>
      <p:pic>
        <p:nvPicPr>
          <p:cNvPr id="156" name="Image 0" descr="D:\Professional Work\Business\FC_Case_Dhruvi\presentation\source\assets\doodle_t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">
            <a:off x="10629900" y="548640"/>
            <a:ext cx="548640" cy="173736"/>
          </a:xfrm>
          <a:prstGeom prst="rect">
            <a:avLst/>
          </a:prstGeom>
        </p:spPr>
      </p:pic>
      <p:sp>
        <p:nvSpPr>
          <p:cNvPr id="157" name="Text 153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ml/public_validation; technical/docs/FEASIBILITY_CHECK.md; financial model v1.1 (Base: ₹45 L funding, break-even month 16, year-3 revenue ₹65.3 L). Pending items get measured values before submission.</a:t>
            </a:r>
            <a:endParaRPr lang="en-US" sz="850" dirty="0"/>
          </a:p>
        </p:txBody>
      </p:sp>
      <p:pic>
        <p:nvPicPr>
          <p:cNvPr id="158" name="Image 1" descr="hand-drawn circle_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5596128"/>
            <a:ext cx="1737360" cy="749808"/>
          </a:xfrm>
          <a:prstGeom prst="rect">
            <a:avLst/>
          </a:prstGeom>
        </p:spPr>
      </p:pic>
      <p:pic>
        <p:nvPicPr>
          <p:cNvPr id="159" name="Image 2" descr="hand-drawn arrow_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663440"/>
            <a:ext cx="640080" cy="411480"/>
          </a:xfrm>
          <a:prstGeom prst="rect">
            <a:avLst/>
          </a:prstGeom>
        </p:spPr>
      </p:pic>
      <p:sp>
        <p:nvSpPr>
          <p:cNvPr id="160" name="Shape 154"/>
          <p:cNvSpPr/>
          <p:nvPr/>
        </p:nvSpPr>
        <p:spPr>
          <a:xfrm rot="-180000">
            <a:off x="2697480" y="3364992"/>
            <a:ext cx="1371600" cy="274320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61" name="Shape 155"/>
          <p:cNvSpPr/>
          <p:nvPr/>
        </p:nvSpPr>
        <p:spPr>
          <a:xfrm rot="-180000">
            <a:off x="2651760" y="3310128"/>
            <a:ext cx="1371600" cy="274320"/>
          </a:xfrm>
          <a:prstGeom prst="rect">
            <a:avLst/>
          </a:prstGeom>
          <a:solidFill>
            <a:srgbClr val="FBE9A0"/>
          </a:solidFill>
          <a:ln/>
        </p:spPr>
      </p:sp>
      <p:sp>
        <p:nvSpPr>
          <p:cNvPr id="162" name="Text 156"/>
          <p:cNvSpPr txBox="1"/>
          <p:nvPr/>
        </p:nvSpPr>
        <p:spPr>
          <a:xfrm rot="-180000">
            <a:off x="2706624" y="334670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6D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test the red ones first</a:t>
            </a:r>
            <a:endParaRPr lang="en-US" sz="850" dirty="0"/>
          </a:p>
        </p:txBody>
      </p:sp>
      <p:pic>
        <p:nvPicPr>
          <p:cNvPr id="163" name="Image 3" descr="D:\Professional Work\Business\FC_Case_Dhruvi\presentation\source\assets\doodle_ta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08000">
            <a:off x="3063240" y="3218688"/>
            <a:ext cx="548640" cy="173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1: SCENARIOS AND SENSITIVITY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and sensitivity: what the model says when inputs move (Mid institute, 400 students)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7043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(BEAR AND BULL MOVE 13 DRIVERS; STRESS MOVES ALL)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81328"/>
            <a:ext cx="2331720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14813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743200" y="1481328"/>
            <a:ext cx="713232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788920" y="148132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456432" y="1481328"/>
            <a:ext cx="685800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502152" y="1481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142232" y="1481328"/>
            <a:ext cx="777240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187952" y="14813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919472" y="1481328"/>
            <a:ext cx="685800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965192" y="1481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605272" y="1481328"/>
            <a:ext cx="731520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650992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11480" y="173736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45720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reduction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2743200" y="173736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2788920" y="17373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3456432" y="173736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3502152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1.0 %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142232" y="173736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187952" y="17373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4.0 %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919472" y="173736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965192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11.3 %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5605272" y="173736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650992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0.6 %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11480" y="201168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11480" y="201168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45720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kept a year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2743200" y="201168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2788920" y="20116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3456432" y="201168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3502152" y="2011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142232" y="201168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4187952" y="2011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919472" y="201168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4965192" y="2011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5605272" y="201168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5650992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411480" y="228600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11480" y="228600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45720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all benefits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2743200" y="228600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2788920" y="22860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2.25x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3456432" y="228600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3502152" y="22860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0.37x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4142232" y="228600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187952" y="22860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4919472" y="228600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4965192" y="22860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3.9x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5605272" y="228600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5650992" y="2286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0.09x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411480" y="256032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11480" y="256032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457200" y="2560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fees + staff time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2743200" y="256032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2788920" y="25603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2.25x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3456432" y="256032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502152" y="2560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0.37x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4142232" y="256032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4187952" y="25603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0.55x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4919472" y="256032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4965192" y="2560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5605272" y="256032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5650992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0.09x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411480" y="283464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411480" y="283464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45720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to keep to break even</a:t>
            </a:r>
            <a:endParaRPr lang="en-US" sz="950" dirty="0"/>
          </a:p>
        </p:txBody>
      </p:sp>
      <p:sp>
        <p:nvSpPr>
          <p:cNvPr id="92" name="Shape 89"/>
          <p:cNvSpPr/>
          <p:nvPr/>
        </p:nvSpPr>
        <p:spPr>
          <a:xfrm>
            <a:off x="2743200" y="283464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2788920" y="28346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3456432" y="283464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3502152" y="2834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4142232" y="283464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4187952" y="2834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4919472" y="283464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4965192" y="2834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5605272" y="283464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5650992" y="2834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</a:t>
            </a:r>
            <a:endParaRPr lang="en-US" sz="950" dirty="0"/>
          </a:p>
        </p:txBody>
      </p:sp>
      <p:sp>
        <p:nvSpPr>
          <p:cNvPr id="102" name="Shape 99"/>
          <p:cNvSpPr/>
          <p:nvPr/>
        </p:nvSpPr>
        <p:spPr>
          <a:xfrm>
            <a:off x="411480" y="310896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11480" y="310896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45720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CAC, sales and marketing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2743200" y="310896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2788920" y="31089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₹25,000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3456432" y="310896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3502152" y="31089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₹44,889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4142232" y="310896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4187952" y="31089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₹15,567</a:t>
            </a:r>
            <a:endParaRPr lang="en-US" sz="950" dirty="0"/>
          </a:p>
        </p:txBody>
      </p:sp>
      <p:sp>
        <p:nvSpPr>
          <p:cNvPr id="111" name="Shape 108"/>
          <p:cNvSpPr/>
          <p:nvPr/>
        </p:nvSpPr>
        <p:spPr>
          <a:xfrm>
            <a:off x="4919472" y="310896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4965192" y="31089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₹8,386</a:t>
            </a:r>
            <a:endParaRPr lang="en-US" sz="950" dirty="0"/>
          </a:p>
        </p:txBody>
      </p:sp>
      <p:sp>
        <p:nvSpPr>
          <p:cNvPr id="113" name="Shape 110"/>
          <p:cNvSpPr/>
          <p:nvPr/>
        </p:nvSpPr>
        <p:spPr>
          <a:xfrm>
            <a:off x="5605272" y="310896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Text 111"/>
          <p:cNvSpPr txBox="1"/>
          <p:nvPr/>
        </p:nvSpPr>
        <p:spPr>
          <a:xfrm>
            <a:off x="5650992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₹65,111</a:t>
            </a:r>
            <a:endParaRPr lang="en-US" sz="950" dirty="0"/>
          </a:p>
        </p:txBody>
      </p:sp>
      <p:sp>
        <p:nvSpPr>
          <p:cNvPr id="115" name="Shape 112"/>
          <p:cNvSpPr/>
          <p:nvPr/>
        </p:nvSpPr>
        <p:spPr>
          <a:xfrm>
            <a:off x="411480" y="338328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11480" y="338328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457200" y="3383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discounted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2743200" y="338328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2788920" y="33832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10.7x</a:t>
            </a:r>
            <a:endParaRPr lang="en-US" sz="950" dirty="0"/>
          </a:p>
        </p:txBody>
      </p:sp>
      <p:sp>
        <p:nvSpPr>
          <p:cNvPr id="120" name="Shape 117"/>
          <p:cNvSpPr/>
          <p:nvPr/>
        </p:nvSpPr>
        <p:spPr>
          <a:xfrm>
            <a:off x="3456432" y="338328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3502152" y="33832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0.75x</a:t>
            </a:r>
            <a:endParaRPr lang="en-US" sz="950" dirty="0"/>
          </a:p>
        </p:txBody>
      </p:sp>
      <p:sp>
        <p:nvSpPr>
          <p:cNvPr id="122" name="Shape 119"/>
          <p:cNvSpPr/>
          <p:nvPr/>
        </p:nvSpPr>
        <p:spPr>
          <a:xfrm>
            <a:off x="4142232" y="338328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23" name="Text 120"/>
          <p:cNvSpPr txBox="1"/>
          <p:nvPr/>
        </p:nvSpPr>
        <p:spPr>
          <a:xfrm>
            <a:off x="4187952" y="33832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50" dirty="0"/>
          </a:p>
        </p:txBody>
      </p:sp>
      <p:sp>
        <p:nvSpPr>
          <p:cNvPr id="124" name="Shape 121"/>
          <p:cNvSpPr/>
          <p:nvPr/>
        </p:nvSpPr>
        <p:spPr>
          <a:xfrm>
            <a:off x="4919472" y="338328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5" name="Text 122"/>
          <p:cNvSpPr txBox="1"/>
          <p:nvPr/>
        </p:nvSpPr>
        <p:spPr>
          <a:xfrm>
            <a:off x="4965192" y="33832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950" dirty="0"/>
          </a:p>
        </p:txBody>
      </p:sp>
      <p:sp>
        <p:nvSpPr>
          <p:cNvPr id="126" name="Shape 123"/>
          <p:cNvSpPr/>
          <p:nvPr/>
        </p:nvSpPr>
        <p:spPr>
          <a:xfrm>
            <a:off x="5605272" y="338328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7" name="Text 124"/>
          <p:cNvSpPr txBox="1"/>
          <p:nvPr/>
        </p:nvSpPr>
        <p:spPr>
          <a:xfrm>
            <a:off x="5650992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-0.11x</a:t>
            </a:r>
            <a:endParaRPr lang="en-US" sz="950" dirty="0"/>
          </a:p>
        </p:txBody>
      </p:sp>
      <p:sp>
        <p:nvSpPr>
          <p:cNvPr id="128" name="Shape 125"/>
          <p:cNvSpPr/>
          <p:nvPr/>
        </p:nvSpPr>
        <p:spPr>
          <a:xfrm>
            <a:off x="411480" y="365760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11480" y="365760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457200" y="3657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undiscounted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2743200" y="365760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2" name="Text 129"/>
          <p:cNvSpPr txBox="1"/>
          <p:nvPr/>
        </p:nvSpPr>
        <p:spPr>
          <a:xfrm>
            <a:off x="2788920" y="36576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10.7x</a:t>
            </a:r>
            <a:endParaRPr lang="en-US" sz="950" dirty="0"/>
          </a:p>
        </p:txBody>
      </p:sp>
      <p:sp>
        <p:nvSpPr>
          <p:cNvPr id="133" name="Shape 130"/>
          <p:cNvSpPr/>
          <p:nvPr/>
        </p:nvSpPr>
        <p:spPr>
          <a:xfrm>
            <a:off x="3456432" y="365760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4" name="Text 131"/>
          <p:cNvSpPr txBox="1"/>
          <p:nvPr/>
        </p:nvSpPr>
        <p:spPr>
          <a:xfrm>
            <a:off x="3502152" y="3657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0.93x</a:t>
            </a:r>
            <a:endParaRPr lang="en-US" sz="950" dirty="0"/>
          </a:p>
        </p:txBody>
      </p:sp>
      <p:sp>
        <p:nvSpPr>
          <p:cNvPr id="135" name="Shape 132"/>
          <p:cNvSpPr/>
          <p:nvPr/>
        </p:nvSpPr>
        <p:spPr>
          <a:xfrm>
            <a:off x="4142232" y="365760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36" name="Text 133"/>
          <p:cNvSpPr txBox="1"/>
          <p:nvPr/>
        </p:nvSpPr>
        <p:spPr>
          <a:xfrm>
            <a:off x="4187952" y="36576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4.8x</a:t>
            </a:r>
            <a:endParaRPr lang="en-US" sz="950" dirty="0"/>
          </a:p>
        </p:txBody>
      </p:sp>
      <p:sp>
        <p:nvSpPr>
          <p:cNvPr id="137" name="Shape 134"/>
          <p:cNvSpPr/>
          <p:nvPr/>
        </p:nvSpPr>
        <p:spPr>
          <a:xfrm>
            <a:off x="4919472" y="365760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35"/>
          <p:cNvSpPr txBox="1"/>
          <p:nvPr/>
        </p:nvSpPr>
        <p:spPr>
          <a:xfrm>
            <a:off x="4965192" y="3657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15x</a:t>
            </a:r>
            <a:endParaRPr lang="en-US" sz="950" dirty="0"/>
          </a:p>
        </p:txBody>
      </p:sp>
      <p:sp>
        <p:nvSpPr>
          <p:cNvPr id="139" name="Shape 136"/>
          <p:cNvSpPr/>
          <p:nvPr/>
        </p:nvSpPr>
        <p:spPr>
          <a:xfrm>
            <a:off x="5605272" y="365760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37"/>
          <p:cNvSpPr txBox="1"/>
          <p:nvPr/>
        </p:nvSpPr>
        <p:spPr>
          <a:xfrm>
            <a:off x="5650992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-0.13x</a:t>
            </a:r>
            <a:endParaRPr lang="en-US" sz="950" dirty="0"/>
          </a:p>
        </p:txBody>
      </p:sp>
      <p:sp>
        <p:nvSpPr>
          <p:cNvPr id="141" name="Shape 138"/>
          <p:cNvSpPr/>
          <p:nvPr/>
        </p:nvSpPr>
        <p:spPr>
          <a:xfrm>
            <a:off x="411480" y="393192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411480" y="393192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3" name="Text 140"/>
          <p:cNvSpPr txBox="1"/>
          <p:nvPr/>
        </p:nvSpPr>
        <p:spPr>
          <a:xfrm>
            <a:off x="457200" y="3931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Payback, simple (months)</a:t>
            </a:r>
            <a:endParaRPr lang="en-US" sz="950" dirty="0"/>
          </a:p>
        </p:txBody>
      </p:sp>
      <p:sp>
        <p:nvSpPr>
          <p:cNvPr id="144" name="Shape 141"/>
          <p:cNvSpPr/>
          <p:nvPr/>
        </p:nvSpPr>
        <p:spPr>
          <a:xfrm>
            <a:off x="2743200" y="393192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5" name="Text 142"/>
          <p:cNvSpPr txBox="1"/>
          <p:nvPr/>
        </p:nvSpPr>
        <p:spPr>
          <a:xfrm>
            <a:off x="2788920" y="39319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950" dirty="0"/>
          </a:p>
        </p:txBody>
      </p:sp>
      <p:sp>
        <p:nvSpPr>
          <p:cNvPr id="146" name="Shape 143"/>
          <p:cNvSpPr/>
          <p:nvPr/>
        </p:nvSpPr>
        <p:spPr>
          <a:xfrm>
            <a:off x="3456432" y="393192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7" name="Text 144"/>
          <p:cNvSpPr txBox="1"/>
          <p:nvPr/>
        </p:nvSpPr>
        <p:spPr>
          <a:xfrm>
            <a:off x="3502152" y="39319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21.1</a:t>
            </a:r>
            <a:endParaRPr lang="en-US" sz="950" dirty="0"/>
          </a:p>
        </p:txBody>
      </p:sp>
      <p:sp>
        <p:nvSpPr>
          <p:cNvPr id="148" name="Shape 145"/>
          <p:cNvSpPr/>
          <p:nvPr/>
        </p:nvSpPr>
        <p:spPr>
          <a:xfrm>
            <a:off x="4142232" y="393192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9" name="Text 146"/>
          <p:cNvSpPr txBox="1"/>
          <p:nvPr/>
        </p:nvSpPr>
        <p:spPr>
          <a:xfrm>
            <a:off x="4187952" y="3931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</a:t>
            </a:r>
            <a:endParaRPr lang="en-US" sz="950" dirty="0"/>
          </a:p>
        </p:txBody>
      </p:sp>
      <p:sp>
        <p:nvSpPr>
          <p:cNvPr id="150" name="Shape 147"/>
          <p:cNvSpPr/>
          <p:nvPr/>
        </p:nvSpPr>
        <p:spPr>
          <a:xfrm>
            <a:off x="4919472" y="393192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4965192" y="39319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950" dirty="0"/>
          </a:p>
        </p:txBody>
      </p:sp>
      <p:sp>
        <p:nvSpPr>
          <p:cNvPr id="152" name="Shape 149"/>
          <p:cNvSpPr/>
          <p:nvPr/>
        </p:nvSpPr>
        <p:spPr>
          <a:xfrm>
            <a:off x="5605272" y="393192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5650992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950" dirty="0"/>
          </a:p>
        </p:txBody>
      </p:sp>
      <p:sp>
        <p:nvSpPr>
          <p:cNvPr id="154" name="Shape 151"/>
          <p:cNvSpPr/>
          <p:nvPr/>
        </p:nvSpPr>
        <p:spPr>
          <a:xfrm>
            <a:off x="411480" y="420624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411480" y="43708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6" name="Text 153"/>
          <p:cNvSpPr txBox="1"/>
          <p:nvPr/>
        </p:nvSpPr>
        <p:spPr>
          <a:xfrm>
            <a:off x="41148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157" name="Text 154"/>
          <p:cNvSpPr txBox="1"/>
          <p:nvPr/>
        </p:nvSpPr>
        <p:spPr>
          <a:xfrm>
            <a:off x="740664" y="437083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RETURN BY PRICE AND DROPOUT REDUCTION</a:t>
            </a:r>
            <a:endParaRPr lang="en-US" sz="1200" dirty="0"/>
          </a:p>
        </p:txBody>
      </p:sp>
      <p:sp>
        <p:nvSpPr>
          <p:cNvPr id="158" name="Text 155"/>
          <p:cNvSpPr txBox="1"/>
          <p:nvPr/>
        </p:nvSpPr>
        <p:spPr>
          <a:xfrm>
            <a:off x="868680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</a:t>
            </a:r>
            <a:endParaRPr lang="en-US" sz="900" dirty="0"/>
          </a:p>
        </p:txBody>
      </p:sp>
      <p:sp>
        <p:nvSpPr>
          <p:cNvPr id="159" name="Text 156"/>
          <p:cNvSpPr txBox="1"/>
          <p:nvPr/>
        </p:nvSpPr>
        <p:spPr>
          <a:xfrm>
            <a:off x="1581912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</a:t>
            </a:r>
            <a:endParaRPr lang="en-US" sz="900" dirty="0"/>
          </a:p>
        </p:txBody>
      </p:sp>
      <p:sp>
        <p:nvSpPr>
          <p:cNvPr id="160" name="Text 157"/>
          <p:cNvSpPr txBox="1"/>
          <p:nvPr/>
        </p:nvSpPr>
        <p:spPr>
          <a:xfrm>
            <a:off x="2295144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</a:t>
            </a:r>
            <a:endParaRPr lang="en-US" sz="900" dirty="0"/>
          </a:p>
        </p:txBody>
      </p:sp>
      <p:sp>
        <p:nvSpPr>
          <p:cNvPr id="161" name="Text 158"/>
          <p:cNvSpPr txBox="1"/>
          <p:nvPr/>
        </p:nvSpPr>
        <p:spPr>
          <a:xfrm>
            <a:off x="3008376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</a:t>
            </a:r>
            <a:endParaRPr lang="en-US" sz="900" dirty="0"/>
          </a:p>
        </p:txBody>
      </p:sp>
      <p:sp>
        <p:nvSpPr>
          <p:cNvPr id="162" name="Text 159"/>
          <p:cNvSpPr txBox="1"/>
          <p:nvPr/>
        </p:nvSpPr>
        <p:spPr>
          <a:xfrm>
            <a:off x="3721608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</a:t>
            </a:r>
            <a:endParaRPr lang="en-US" sz="900" dirty="0"/>
          </a:p>
        </p:txBody>
      </p:sp>
      <p:sp>
        <p:nvSpPr>
          <p:cNvPr id="163" name="Text 160"/>
          <p:cNvSpPr txBox="1"/>
          <p:nvPr/>
        </p:nvSpPr>
        <p:spPr>
          <a:xfrm>
            <a:off x="4434840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</a:t>
            </a:r>
            <a:endParaRPr lang="en-US" sz="900" dirty="0"/>
          </a:p>
        </p:txBody>
      </p:sp>
      <p:sp>
        <p:nvSpPr>
          <p:cNvPr id="164" name="Text 161"/>
          <p:cNvSpPr txBox="1"/>
          <p:nvPr/>
        </p:nvSpPr>
        <p:spPr>
          <a:xfrm>
            <a:off x="41148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900" dirty="0"/>
          </a:p>
        </p:txBody>
      </p:sp>
      <p:sp>
        <p:nvSpPr>
          <p:cNvPr id="165" name="Shape 162"/>
          <p:cNvSpPr/>
          <p:nvPr/>
        </p:nvSpPr>
        <p:spPr>
          <a:xfrm>
            <a:off x="882396" y="4878324"/>
            <a:ext cx="685800" cy="201168"/>
          </a:xfrm>
          <a:prstGeom prst="rect">
            <a:avLst/>
          </a:prstGeom>
          <a:solidFill>
            <a:srgbClr val="80A7D6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868680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2.4x</a:t>
            </a:r>
            <a:endParaRPr lang="en-US" sz="900" dirty="0"/>
          </a:p>
        </p:txBody>
      </p:sp>
      <p:sp>
        <p:nvSpPr>
          <p:cNvPr id="167" name="Shape 164"/>
          <p:cNvSpPr/>
          <p:nvPr/>
        </p:nvSpPr>
        <p:spPr>
          <a:xfrm>
            <a:off x="1595628" y="4878324"/>
            <a:ext cx="685800" cy="201168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168" name="Text 165"/>
          <p:cNvSpPr txBox="1"/>
          <p:nvPr/>
        </p:nvSpPr>
        <p:spPr>
          <a:xfrm>
            <a:off x="1581912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900" dirty="0"/>
          </a:p>
        </p:txBody>
      </p:sp>
      <p:sp>
        <p:nvSpPr>
          <p:cNvPr id="169" name="Shape 166"/>
          <p:cNvSpPr/>
          <p:nvPr/>
        </p:nvSpPr>
        <p:spPr>
          <a:xfrm>
            <a:off x="2308860" y="4878324"/>
            <a:ext cx="685800" cy="201168"/>
          </a:xfrm>
          <a:prstGeom prst="rect">
            <a:avLst/>
          </a:prstGeom>
          <a:solidFill>
            <a:srgbClr val="C4D6EC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2295144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900" dirty="0"/>
          </a:p>
        </p:txBody>
      </p:sp>
      <p:sp>
        <p:nvSpPr>
          <p:cNvPr id="171" name="Shape 168"/>
          <p:cNvSpPr/>
          <p:nvPr/>
        </p:nvSpPr>
        <p:spPr>
          <a:xfrm>
            <a:off x="3022092" y="4878324"/>
            <a:ext cx="685800" cy="201168"/>
          </a:xfrm>
          <a:prstGeom prst="rect">
            <a:avLst/>
          </a:prstGeom>
          <a:solidFill>
            <a:srgbClr val="D2E0F1"/>
          </a:solidFill>
          <a:ln/>
        </p:spPr>
      </p:sp>
      <p:sp>
        <p:nvSpPr>
          <p:cNvPr id="172" name="Text 169"/>
          <p:cNvSpPr txBox="1"/>
          <p:nvPr/>
        </p:nvSpPr>
        <p:spPr>
          <a:xfrm>
            <a:off x="3008376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900" dirty="0"/>
          </a:p>
        </p:txBody>
      </p:sp>
      <p:sp>
        <p:nvSpPr>
          <p:cNvPr id="173" name="Shape 170"/>
          <p:cNvSpPr/>
          <p:nvPr/>
        </p:nvSpPr>
        <p:spPr>
          <a:xfrm>
            <a:off x="3735324" y="4878324"/>
            <a:ext cx="685800" cy="201168"/>
          </a:xfrm>
          <a:prstGeom prst="rect">
            <a:avLst/>
          </a:prstGeom>
          <a:solidFill>
            <a:srgbClr val="DFE9F6"/>
          </a:solidFill>
          <a:ln/>
        </p:spPr>
      </p:sp>
      <p:sp>
        <p:nvSpPr>
          <p:cNvPr id="174" name="Text 171"/>
          <p:cNvSpPr txBox="1"/>
          <p:nvPr/>
        </p:nvSpPr>
        <p:spPr>
          <a:xfrm>
            <a:off x="3721608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</a:t>
            </a:r>
            <a:endParaRPr lang="en-US" sz="900" dirty="0"/>
          </a:p>
        </p:txBody>
      </p:sp>
      <p:sp>
        <p:nvSpPr>
          <p:cNvPr id="175" name="Shape 172"/>
          <p:cNvSpPr/>
          <p:nvPr/>
        </p:nvSpPr>
        <p:spPr>
          <a:xfrm>
            <a:off x="4448556" y="4878324"/>
            <a:ext cx="685800" cy="201168"/>
          </a:xfrm>
          <a:prstGeom prst="rect">
            <a:avLst/>
          </a:prstGeom>
          <a:solidFill>
            <a:srgbClr val="ECF2FA"/>
          </a:solidFill>
          <a:ln/>
        </p:spPr>
      </p:sp>
      <p:sp>
        <p:nvSpPr>
          <p:cNvPr id="176" name="Text 173"/>
          <p:cNvSpPr txBox="1"/>
          <p:nvPr/>
        </p:nvSpPr>
        <p:spPr>
          <a:xfrm>
            <a:off x="4434840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0.8x</a:t>
            </a:r>
            <a:endParaRPr lang="en-US" sz="900" dirty="0"/>
          </a:p>
        </p:txBody>
      </p:sp>
      <p:sp>
        <p:nvSpPr>
          <p:cNvPr id="177" name="Text 174"/>
          <p:cNvSpPr txBox="1"/>
          <p:nvPr/>
        </p:nvSpPr>
        <p:spPr>
          <a:xfrm>
            <a:off x="411480" y="5093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</a:t>
            </a:r>
            <a:endParaRPr lang="en-US" sz="900" dirty="0"/>
          </a:p>
        </p:txBody>
      </p:sp>
      <p:sp>
        <p:nvSpPr>
          <p:cNvPr id="178" name="Shape 175"/>
          <p:cNvSpPr/>
          <p:nvPr/>
        </p:nvSpPr>
        <p:spPr>
          <a:xfrm>
            <a:off x="882396" y="5106924"/>
            <a:ext cx="685800" cy="201168"/>
          </a:xfrm>
          <a:prstGeom prst="rect">
            <a:avLst/>
          </a:prstGeom>
          <a:solidFill>
            <a:srgbClr val="6C99CF"/>
          </a:solidFill>
          <a:ln/>
        </p:spPr>
      </p:sp>
      <p:sp>
        <p:nvSpPr>
          <p:cNvPr id="179" name="Text 176"/>
          <p:cNvSpPr txBox="1"/>
          <p:nvPr/>
        </p:nvSpPr>
        <p:spPr>
          <a:xfrm>
            <a:off x="868680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2.7x</a:t>
            </a:r>
            <a:endParaRPr lang="en-US" sz="900" dirty="0"/>
          </a:p>
        </p:txBody>
      </p:sp>
      <p:sp>
        <p:nvSpPr>
          <p:cNvPr id="180" name="Shape 177"/>
          <p:cNvSpPr/>
          <p:nvPr/>
        </p:nvSpPr>
        <p:spPr>
          <a:xfrm>
            <a:off x="1595628" y="5106924"/>
            <a:ext cx="685800" cy="201168"/>
          </a:xfrm>
          <a:prstGeom prst="rect">
            <a:avLst/>
          </a:prstGeom>
          <a:solidFill>
            <a:srgbClr val="95B5DC"/>
          </a:solidFill>
          <a:ln/>
        </p:spPr>
      </p:sp>
      <p:sp>
        <p:nvSpPr>
          <p:cNvPr id="181" name="Text 178"/>
          <p:cNvSpPr txBox="1"/>
          <p:nvPr/>
        </p:nvSpPr>
        <p:spPr>
          <a:xfrm>
            <a:off x="1581912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182" name="Shape 179"/>
          <p:cNvSpPr/>
          <p:nvPr/>
        </p:nvSpPr>
        <p:spPr>
          <a:xfrm>
            <a:off x="2308860" y="5106924"/>
            <a:ext cx="685800" cy="201168"/>
          </a:xfrm>
          <a:prstGeom prst="rect">
            <a:avLst/>
          </a:prstGeom>
          <a:solidFill>
            <a:srgbClr val="B0C8E6"/>
          </a:solidFill>
          <a:ln/>
        </p:spPr>
      </p:sp>
      <p:sp>
        <p:nvSpPr>
          <p:cNvPr id="183" name="Text 180"/>
          <p:cNvSpPr txBox="1"/>
          <p:nvPr/>
        </p:nvSpPr>
        <p:spPr>
          <a:xfrm>
            <a:off x="2295144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900" dirty="0"/>
          </a:p>
        </p:txBody>
      </p:sp>
      <p:sp>
        <p:nvSpPr>
          <p:cNvPr id="184" name="Shape 181"/>
          <p:cNvSpPr/>
          <p:nvPr/>
        </p:nvSpPr>
        <p:spPr>
          <a:xfrm>
            <a:off x="3022092" y="5106924"/>
            <a:ext cx="685800" cy="201168"/>
          </a:xfrm>
          <a:prstGeom prst="rect">
            <a:avLst/>
          </a:prstGeom>
          <a:solidFill>
            <a:srgbClr val="C4D6EC"/>
          </a:solidFill>
          <a:ln/>
        </p:spPr>
      </p:sp>
      <p:sp>
        <p:nvSpPr>
          <p:cNvPr id="185" name="Text 182"/>
          <p:cNvSpPr txBox="1"/>
          <p:nvPr/>
        </p:nvSpPr>
        <p:spPr>
          <a:xfrm>
            <a:off x="3008376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900" dirty="0"/>
          </a:p>
        </p:txBody>
      </p:sp>
      <p:sp>
        <p:nvSpPr>
          <p:cNvPr id="186" name="Shape 183"/>
          <p:cNvSpPr/>
          <p:nvPr/>
        </p:nvSpPr>
        <p:spPr>
          <a:xfrm>
            <a:off x="3735324" y="5106924"/>
            <a:ext cx="685800" cy="201168"/>
          </a:xfrm>
          <a:prstGeom prst="rect">
            <a:avLst/>
          </a:prstGeom>
          <a:solidFill>
            <a:srgbClr val="D2E0F1"/>
          </a:solidFill>
          <a:ln/>
        </p:spPr>
      </p:sp>
      <p:sp>
        <p:nvSpPr>
          <p:cNvPr id="187" name="Text 184"/>
          <p:cNvSpPr txBox="1"/>
          <p:nvPr/>
        </p:nvSpPr>
        <p:spPr>
          <a:xfrm>
            <a:off x="3721608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900" dirty="0"/>
          </a:p>
        </p:txBody>
      </p:sp>
      <p:sp>
        <p:nvSpPr>
          <p:cNvPr id="188" name="Shape 185"/>
          <p:cNvSpPr/>
          <p:nvPr/>
        </p:nvSpPr>
        <p:spPr>
          <a:xfrm>
            <a:off x="4448556" y="5106924"/>
            <a:ext cx="685800" cy="201168"/>
          </a:xfrm>
          <a:prstGeom prst="rect">
            <a:avLst/>
          </a:prstGeom>
          <a:solidFill>
            <a:srgbClr val="E5EDF7"/>
          </a:solidFill>
          <a:ln/>
        </p:spPr>
      </p:sp>
      <p:sp>
        <p:nvSpPr>
          <p:cNvPr id="189" name="Text 186"/>
          <p:cNvSpPr txBox="1"/>
          <p:nvPr/>
        </p:nvSpPr>
        <p:spPr>
          <a:xfrm>
            <a:off x="4434840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0.9x</a:t>
            </a:r>
            <a:endParaRPr lang="en-US" sz="900" dirty="0"/>
          </a:p>
        </p:txBody>
      </p:sp>
      <p:sp>
        <p:nvSpPr>
          <p:cNvPr id="190" name="Text 187"/>
          <p:cNvSpPr txBox="1"/>
          <p:nvPr/>
        </p:nvSpPr>
        <p:spPr>
          <a:xfrm>
            <a:off x="411480" y="5321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11 %</a:t>
            </a:r>
            <a:endParaRPr lang="en-US" sz="900" dirty="0"/>
          </a:p>
        </p:txBody>
      </p:sp>
      <p:sp>
        <p:nvSpPr>
          <p:cNvPr id="191" name="Shape 188"/>
          <p:cNvSpPr/>
          <p:nvPr/>
        </p:nvSpPr>
        <p:spPr>
          <a:xfrm>
            <a:off x="882396" y="5335524"/>
            <a:ext cx="685800" cy="201168"/>
          </a:xfrm>
          <a:prstGeom prst="rect">
            <a:avLst/>
          </a:prstGeom>
          <a:solidFill>
            <a:srgbClr val="5585C0"/>
          </a:solidFill>
          <a:ln/>
        </p:spPr>
      </p:sp>
      <p:sp>
        <p:nvSpPr>
          <p:cNvPr id="192" name="Text 189"/>
          <p:cNvSpPr txBox="1"/>
          <p:nvPr/>
        </p:nvSpPr>
        <p:spPr>
          <a:xfrm>
            <a:off x="868680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900" dirty="0"/>
          </a:p>
        </p:txBody>
      </p:sp>
      <p:sp>
        <p:nvSpPr>
          <p:cNvPr id="193" name="Shape 190"/>
          <p:cNvSpPr/>
          <p:nvPr/>
        </p:nvSpPr>
        <p:spPr>
          <a:xfrm>
            <a:off x="1595628" y="5335524"/>
            <a:ext cx="685800" cy="201168"/>
          </a:xfrm>
          <a:prstGeom prst="rect">
            <a:avLst/>
          </a:prstGeom>
          <a:solidFill>
            <a:srgbClr val="87ACD8"/>
          </a:solidFill>
          <a:ln/>
        </p:spPr>
      </p:sp>
      <p:sp>
        <p:nvSpPr>
          <p:cNvPr id="194" name="Text 191"/>
          <p:cNvSpPr txBox="1"/>
          <p:nvPr/>
        </p:nvSpPr>
        <p:spPr>
          <a:xfrm>
            <a:off x="1581912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900" dirty="0"/>
          </a:p>
        </p:txBody>
      </p:sp>
      <p:sp>
        <p:nvSpPr>
          <p:cNvPr id="195" name="Shape 192"/>
          <p:cNvSpPr/>
          <p:nvPr/>
        </p:nvSpPr>
        <p:spPr>
          <a:xfrm>
            <a:off x="2308860" y="5335524"/>
            <a:ext cx="685800" cy="201168"/>
          </a:xfrm>
          <a:prstGeom prst="rect">
            <a:avLst/>
          </a:prstGeom>
          <a:solidFill>
            <a:srgbClr val="A2BFE1"/>
          </a:solidFill>
          <a:ln/>
        </p:spPr>
      </p:sp>
      <p:sp>
        <p:nvSpPr>
          <p:cNvPr id="196" name="Text 193"/>
          <p:cNvSpPr txBox="1"/>
          <p:nvPr/>
        </p:nvSpPr>
        <p:spPr>
          <a:xfrm>
            <a:off x="2295144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900" dirty="0"/>
          </a:p>
        </p:txBody>
      </p:sp>
      <p:sp>
        <p:nvSpPr>
          <p:cNvPr id="197" name="Shape 194"/>
          <p:cNvSpPr/>
          <p:nvPr/>
        </p:nvSpPr>
        <p:spPr>
          <a:xfrm>
            <a:off x="3022092" y="5335524"/>
            <a:ext cx="685800" cy="201168"/>
          </a:xfrm>
          <a:prstGeom prst="rect">
            <a:avLst/>
          </a:prstGeom>
          <a:solidFill>
            <a:srgbClr val="B6CDE8"/>
          </a:solidFill>
          <a:ln/>
        </p:spPr>
      </p:sp>
      <p:sp>
        <p:nvSpPr>
          <p:cNvPr id="198" name="Text 195"/>
          <p:cNvSpPr txBox="1"/>
          <p:nvPr/>
        </p:nvSpPr>
        <p:spPr>
          <a:xfrm>
            <a:off x="3008376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900" dirty="0"/>
          </a:p>
        </p:txBody>
      </p:sp>
      <p:sp>
        <p:nvSpPr>
          <p:cNvPr id="199" name="Shape 196"/>
          <p:cNvSpPr/>
          <p:nvPr/>
        </p:nvSpPr>
        <p:spPr>
          <a:xfrm>
            <a:off x="3735324" y="5335524"/>
            <a:ext cx="685800" cy="201168"/>
          </a:xfrm>
          <a:prstGeom prst="rect">
            <a:avLst/>
          </a:prstGeom>
          <a:solidFill>
            <a:srgbClr val="CBDBEF"/>
          </a:solidFill>
          <a:ln/>
        </p:spPr>
      </p:sp>
      <p:sp>
        <p:nvSpPr>
          <p:cNvPr id="200" name="Text 197"/>
          <p:cNvSpPr txBox="1"/>
          <p:nvPr/>
        </p:nvSpPr>
        <p:spPr>
          <a:xfrm>
            <a:off x="3721608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900" dirty="0"/>
          </a:p>
        </p:txBody>
      </p:sp>
      <p:sp>
        <p:nvSpPr>
          <p:cNvPr id="201" name="Shape 198"/>
          <p:cNvSpPr/>
          <p:nvPr/>
        </p:nvSpPr>
        <p:spPr>
          <a:xfrm>
            <a:off x="4448556" y="5335524"/>
            <a:ext cx="685800" cy="201168"/>
          </a:xfrm>
          <a:prstGeom prst="rect">
            <a:avLst/>
          </a:prstGeom>
          <a:solidFill>
            <a:srgbClr val="DFE9F6"/>
          </a:solidFill>
          <a:ln/>
        </p:spPr>
      </p:sp>
      <p:sp>
        <p:nvSpPr>
          <p:cNvPr id="202" name="Text 199"/>
          <p:cNvSpPr txBox="1"/>
          <p:nvPr/>
        </p:nvSpPr>
        <p:spPr>
          <a:xfrm>
            <a:off x="4434840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</a:t>
            </a:r>
            <a:endParaRPr lang="en-US" sz="900" dirty="0"/>
          </a:p>
        </p:txBody>
      </p:sp>
      <p:sp>
        <p:nvSpPr>
          <p:cNvPr id="203" name="Text 200"/>
          <p:cNvSpPr txBox="1"/>
          <p:nvPr/>
        </p:nvSpPr>
        <p:spPr>
          <a:xfrm>
            <a:off x="411480" y="55504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900" dirty="0"/>
          </a:p>
        </p:txBody>
      </p:sp>
      <p:sp>
        <p:nvSpPr>
          <p:cNvPr id="204" name="Shape 201"/>
          <p:cNvSpPr/>
          <p:nvPr/>
        </p:nvSpPr>
        <p:spPr>
          <a:xfrm>
            <a:off x="882396" y="5564124"/>
            <a:ext cx="685800" cy="201168"/>
          </a:xfrm>
          <a:prstGeom prst="rect">
            <a:avLst/>
          </a:prstGeom>
          <a:solidFill>
            <a:srgbClr val="426BA0"/>
          </a:solidFill>
          <a:ln/>
        </p:spPr>
      </p:sp>
      <p:sp>
        <p:nvSpPr>
          <p:cNvPr id="205" name="Text 202"/>
          <p:cNvSpPr txBox="1"/>
          <p:nvPr/>
        </p:nvSpPr>
        <p:spPr>
          <a:xfrm>
            <a:off x="868680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00" dirty="0"/>
          </a:p>
        </p:txBody>
      </p:sp>
      <p:sp>
        <p:nvSpPr>
          <p:cNvPr id="206" name="Shape 203"/>
          <p:cNvSpPr/>
          <p:nvPr/>
        </p:nvSpPr>
        <p:spPr>
          <a:xfrm>
            <a:off x="1595628" y="5564124"/>
            <a:ext cx="685800" cy="201168"/>
          </a:xfrm>
          <a:prstGeom prst="rect">
            <a:avLst/>
          </a:prstGeom>
          <a:solidFill>
            <a:srgbClr val="6C99CF"/>
          </a:solidFill>
          <a:ln/>
        </p:spPr>
      </p:sp>
      <p:sp>
        <p:nvSpPr>
          <p:cNvPr id="207" name="Text 204"/>
          <p:cNvSpPr txBox="1"/>
          <p:nvPr/>
        </p:nvSpPr>
        <p:spPr>
          <a:xfrm>
            <a:off x="1581912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2.7x</a:t>
            </a:r>
            <a:endParaRPr lang="en-US" sz="900" dirty="0"/>
          </a:p>
        </p:txBody>
      </p:sp>
      <p:sp>
        <p:nvSpPr>
          <p:cNvPr id="208" name="Shape 205"/>
          <p:cNvSpPr/>
          <p:nvPr/>
        </p:nvSpPr>
        <p:spPr>
          <a:xfrm>
            <a:off x="2308860" y="5564124"/>
            <a:ext cx="685800" cy="201168"/>
          </a:xfrm>
          <a:prstGeom prst="rect">
            <a:avLst/>
          </a:prstGeom>
          <a:solidFill>
            <a:srgbClr val="95B5DC"/>
          </a:solidFill>
          <a:ln/>
        </p:spPr>
      </p:sp>
      <p:sp>
        <p:nvSpPr>
          <p:cNvPr id="209" name="Text 206"/>
          <p:cNvSpPr txBox="1"/>
          <p:nvPr/>
        </p:nvSpPr>
        <p:spPr>
          <a:xfrm>
            <a:off x="2295144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210" name="Shape 207"/>
          <p:cNvSpPr/>
          <p:nvPr/>
        </p:nvSpPr>
        <p:spPr>
          <a:xfrm>
            <a:off x="3022092" y="5564124"/>
            <a:ext cx="685800" cy="201168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211" name="Text 208"/>
          <p:cNvSpPr txBox="1"/>
          <p:nvPr/>
        </p:nvSpPr>
        <p:spPr>
          <a:xfrm>
            <a:off x="3008376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900" dirty="0"/>
          </a:p>
        </p:txBody>
      </p:sp>
      <p:sp>
        <p:nvSpPr>
          <p:cNvPr id="212" name="Shape 209"/>
          <p:cNvSpPr/>
          <p:nvPr/>
        </p:nvSpPr>
        <p:spPr>
          <a:xfrm>
            <a:off x="3735324" y="5564124"/>
            <a:ext cx="685800" cy="201168"/>
          </a:xfrm>
          <a:prstGeom prst="rect">
            <a:avLst/>
          </a:prstGeom>
          <a:solidFill>
            <a:srgbClr val="BDD1EA"/>
          </a:solidFill>
          <a:ln/>
        </p:spPr>
      </p:sp>
      <p:sp>
        <p:nvSpPr>
          <p:cNvPr id="213" name="Text 210"/>
          <p:cNvSpPr txBox="1"/>
          <p:nvPr/>
        </p:nvSpPr>
        <p:spPr>
          <a:xfrm>
            <a:off x="3721608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900" dirty="0"/>
          </a:p>
        </p:txBody>
      </p:sp>
      <p:sp>
        <p:nvSpPr>
          <p:cNvPr id="214" name="Shape 211"/>
          <p:cNvSpPr/>
          <p:nvPr/>
        </p:nvSpPr>
        <p:spPr>
          <a:xfrm>
            <a:off x="4448556" y="5564124"/>
            <a:ext cx="685800" cy="201168"/>
          </a:xfrm>
          <a:prstGeom prst="rect">
            <a:avLst/>
          </a:prstGeom>
          <a:solidFill>
            <a:srgbClr val="D2E0F1"/>
          </a:solidFill>
          <a:ln/>
        </p:spPr>
      </p:sp>
      <p:sp>
        <p:nvSpPr>
          <p:cNvPr id="215" name="Text 212"/>
          <p:cNvSpPr txBox="1"/>
          <p:nvPr/>
        </p:nvSpPr>
        <p:spPr>
          <a:xfrm>
            <a:off x="4434840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900" dirty="0"/>
          </a:p>
        </p:txBody>
      </p:sp>
      <p:sp>
        <p:nvSpPr>
          <p:cNvPr id="216" name="Text 213"/>
          <p:cNvSpPr txBox="1"/>
          <p:nvPr/>
        </p:nvSpPr>
        <p:spPr>
          <a:xfrm>
            <a:off x="411480" y="57790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900" dirty="0"/>
          </a:p>
        </p:txBody>
      </p:sp>
      <p:sp>
        <p:nvSpPr>
          <p:cNvPr id="217" name="Shape 214"/>
          <p:cNvSpPr/>
          <p:nvPr/>
        </p:nvSpPr>
        <p:spPr>
          <a:xfrm>
            <a:off x="882396" y="5792724"/>
            <a:ext cx="685800" cy="201168"/>
          </a:xfrm>
          <a:prstGeom prst="rect">
            <a:avLst/>
          </a:prstGeom>
          <a:solidFill>
            <a:srgbClr val="2E5181"/>
          </a:solidFill>
          <a:ln/>
        </p:spPr>
      </p:sp>
      <p:sp>
        <p:nvSpPr>
          <p:cNvPr id="218" name="Text 215"/>
          <p:cNvSpPr txBox="1"/>
          <p:nvPr/>
        </p:nvSpPr>
        <p:spPr>
          <a:xfrm>
            <a:off x="868680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4.1x</a:t>
            </a:r>
            <a:endParaRPr lang="en-US" sz="900" dirty="0"/>
          </a:p>
        </p:txBody>
      </p:sp>
      <p:sp>
        <p:nvSpPr>
          <p:cNvPr id="219" name="Shape 216"/>
          <p:cNvSpPr/>
          <p:nvPr/>
        </p:nvSpPr>
        <p:spPr>
          <a:xfrm>
            <a:off x="1595628" y="5792724"/>
            <a:ext cx="685800" cy="201168"/>
          </a:xfrm>
          <a:prstGeom prst="rect">
            <a:avLst/>
          </a:prstGeom>
          <a:solidFill>
            <a:srgbClr val="5585C0"/>
          </a:solidFill>
          <a:ln/>
        </p:spPr>
      </p:sp>
      <p:sp>
        <p:nvSpPr>
          <p:cNvPr id="220" name="Text 217"/>
          <p:cNvSpPr txBox="1"/>
          <p:nvPr/>
        </p:nvSpPr>
        <p:spPr>
          <a:xfrm>
            <a:off x="1581912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900" dirty="0"/>
          </a:p>
        </p:txBody>
      </p:sp>
      <p:sp>
        <p:nvSpPr>
          <p:cNvPr id="221" name="Shape 218"/>
          <p:cNvSpPr/>
          <p:nvPr/>
        </p:nvSpPr>
        <p:spPr>
          <a:xfrm>
            <a:off x="2308860" y="5792724"/>
            <a:ext cx="685800" cy="201168"/>
          </a:xfrm>
          <a:prstGeom prst="rect">
            <a:avLst/>
          </a:prstGeom>
          <a:solidFill>
            <a:srgbClr val="79A2D3"/>
          </a:solidFill>
          <a:ln/>
        </p:spPr>
      </p:sp>
      <p:sp>
        <p:nvSpPr>
          <p:cNvPr id="222" name="Text 219"/>
          <p:cNvSpPr txBox="1"/>
          <p:nvPr/>
        </p:nvSpPr>
        <p:spPr>
          <a:xfrm>
            <a:off x="2295144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900" dirty="0"/>
          </a:p>
        </p:txBody>
      </p:sp>
      <p:sp>
        <p:nvSpPr>
          <p:cNvPr id="223" name="Shape 220"/>
          <p:cNvSpPr/>
          <p:nvPr/>
        </p:nvSpPr>
        <p:spPr>
          <a:xfrm>
            <a:off x="3022092" y="5792724"/>
            <a:ext cx="685800" cy="201168"/>
          </a:xfrm>
          <a:prstGeom prst="rect">
            <a:avLst/>
          </a:prstGeom>
          <a:solidFill>
            <a:srgbClr val="95B5DC"/>
          </a:solidFill>
          <a:ln/>
        </p:spPr>
      </p:sp>
      <p:sp>
        <p:nvSpPr>
          <p:cNvPr id="224" name="Text 221"/>
          <p:cNvSpPr txBox="1"/>
          <p:nvPr/>
        </p:nvSpPr>
        <p:spPr>
          <a:xfrm>
            <a:off x="3008376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225" name="Shape 222"/>
          <p:cNvSpPr/>
          <p:nvPr/>
        </p:nvSpPr>
        <p:spPr>
          <a:xfrm>
            <a:off x="3735324" y="5792724"/>
            <a:ext cx="685800" cy="201168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226" name="Text 223"/>
          <p:cNvSpPr txBox="1"/>
          <p:nvPr/>
        </p:nvSpPr>
        <p:spPr>
          <a:xfrm>
            <a:off x="3721608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900" dirty="0"/>
          </a:p>
        </p:txBody>
      </p:sp>
      <p:sp>
        <p:nvSpPr>
          <p:cNvPr id="227" name="Shape 224"/>
          <p:cNvSpPr/>
          <p:nvPr/>
        </p:nvSpPr>
        <p:spPr>
          <a:xfrm>
            <a:off x="4448556" y="5792724"/>
            <a:ext cx="685800" cy="201168"/>
          </a:xfrm>
          <a:prstGeom prst="rect">
            <a:avLst/>
          </a:prstGeom>
          <a:solidFill>
            <a:srgbClr val="C4D6EC"/>
          </a:solidFill>
          <a:ln/>
        </p:spPr>
      </p:sp>
      <p:sp>
        <p:nvSpPr>
          <p:cNvPr id="228" name="Text 225"/>
          <p:cNvSpPr txBox="1"/>
          <p:nvPr/>
        </p:nvSpPr>
        <p:spPr>
          <a:xfrm>
            <a:off x="4434840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900" dirty="0"/>
          </a:p>
        </p:txBody>
      </p:sp>
      <p:sp>
        <p:nvSpPr>
          <p:cNvPr id="229" name="Text 226"/>
          <p:cNvSpPr txBox="1"/>
          <p:nvPr/>
        </p:nvSpPr>
        <p:spPr>
          <a:xfrm>
            <a:off x="411480" y="6007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900" dirty="0"/>
          </a:p>
        </p:txBody>
      </p:sp>
      <p:sp>
        <p:nvSpPr>
          <p:cNvPr id="230" name="Shape 227"/>
          <p:cNvSpPr/>
          <p:nvPr/>
        </p:nvSpPr>
        <p:spPr>
          <a:xfrm>
            <a:off x="882396" y="6021324"/>
            <a:ext cx="685800" cy="201168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31" name="Text 228"/>
          <p:cNvSpPr txBox="1"/>
          <p:nvPr/>
        </p:nvSpPr>
        <p:spPr>
          <a:xfrm>
            <a:off x="868680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4.7x</a:t>
            </a:r>
            <a:endParaRPr lang="en-US" sz="900" dirty="0"/>
          </a:p>
        </p:txBody>
      </p:sp>
      <p:sp>
        <p:nvSpPr>
          <p:cNvPr id="232" name="Shape 229"/>
          <p:cNvSpPr/>
          <p:nvPr/>
        </p:nvSpPr>
        <p:spPr>
          <a:xfrm>
            <a:off x="1595628" y="6021324"/>
            <a:ext cx="685800" cy="201168"/>
          </a:xfrm>
          <a:prstGeom prst="rect">
            <a:avLst/>
          </a:prstGeom>
          <a:solidFill>
            <a:srgbClr val="426BA0"/>
          </a:solidFill>
          <a:ln/>
        </p:spPr>
      </p:sp>
      <p:sp>
        <p:nvSpPr>
          <p:cNvPr id="233" name="Text 230"/>
          <p:cNvSpPr txBox="1"/>
          <p:nvPr/>
        </p:nvSpPr>
        <p:spPr>
          <a:xfrm>
            <a:off x="1581912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00" dirty="0"/>
          </a:p>
        </p:txBody>
      </p:sp>
      <p:sp>
        <p:nvSpPr>
          <p:cNvPr id="234" name="Shape 231"/>
          <p:cNvSpPr/>
          <p:nvPr/>
        </p:nvSpPr>
        <p:spPr>
          <a:xfrm>
            <a:off x="2308860" y="6021324"/>
            <a:ext cx="685800" cy="201168"/>
          </a:xfrm>
          <a:prstGeom prst="rect">
            <a:avLst/>
          </a:prstGeom>
          <a:solidFill>
            <a:srgbClr val="6594CC"/>
          </a:solidFill>
          <a:ln/>
        </p:spPr>
      </p:sp>
      <p:sp>
        <p:nvSpPr>
          <p:cNvPr id="235" name="Text 232"/>
          <p:cNvSpPr txBox="1"/>
          <p:nvPr/>
        </p:nvSpPr>
        <p:spPr>
          <a:xfrm>
            <a:off x="2295144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900" dirty="0"/>
          </a:p>
        </p:txBody>
      </p:sp>
      <p:sp>
        <p:nvSpPr>
          <p:cNvPr id="236" name="Shape 233"/>
          <p:cNvSpPr/>
          <p:nvPr/>
        </p:nvSpPr>
        <p:spPr>
          <a:xfrm>
            <a:off x="3022092" y="6021324"/>
            <a:ext cx="685800" cy="201168"/>
          </a:xfrm>
          <a:prstGeom prst="rect">
            <a:avLst/>
          </a:prstGeom>
          <a:solidFill>
            <a:srgbClr val="80A7D6"/>
          </a:solidFill>
          <a:ln/>
        </p:spPr>
      </p:sp>
      <p:sp>
        <p:nvSpPr>
          <p:cNvPr id="237" name="Text 234"/>
          <p:cNvSpPr txBox="1"/>
          <p:nvPr/>
        </p:nvSpPr>
        <p:spPr>
          <a:xfrm>
            <a:off x="3008376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2.4x</a:t>
            </a:r>
            <a:endParaRPr lang="en-US" sz="900" dirty="0"/>
          </a:p>
        </p:txBody>
      </p:sp>
      <p:sp>
        <p:nvSpPr>
          <p:cNvPr id="238" name="Shape 235"/>
          <p:cNvSpPr/>
          <p:nvPr/>
        </p:nvSpPr>
        <p:spPr>
          <a:xfrm>
            <a:off x="3735324" y="6021324"/>
            <a:ext cx="685800" cy="201168"/>
          </a:xfrm>
          <a:prstGeom prst="rect">
            <a:avLst/>
          </a:prstGeom>
          <a:solidFill>
            <a:srgbClr val="9BBADF"/>
          </a:solidFill>
          <a:ln/>
        </p:spPr>
      </p:sp>
      <p:sp>
        <p:nvSpPr>
          <p:cNvPr id="239" name="Text 236"/>
          <p:cNvSpPr txBox="1"/>
          <p:nvPr/>
        </p:nvSpPr>
        <p:spPr>
          <a:xfrm>
            <a:off x="3721608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2.0x</a:t>
            </a:r>
            <a:endParaRPr lang="en-US" sz="900" dirty="0"/>
          </a:p>
        </p:txBody>
      </p:sp>
      <p:sp>
        <p:nvSpPr>
          <p:cNvPr id="240" name="Shape 237"/>
          <p:cNvSpPr/>
          <p:nvPr/>
        </p:nvSpPr>
        <p:spPr>
          <a:xfrm>
            <a:off x="4448556" y="6021324"/>
            <a:ext cx="685800" cy="201168"/>
          </a:xfrm>
          <a:prstGeom prst="rect">
            <a:avLst/>
          </a:prstGeom>
          <a:solidFill>
            <a:srgbClr val="B6CDE8"/>
          </a:solidFill>
          <a:ln/>
        </p:spPr>
      </p:sp>
      <p:sp>
        <p:nvSpPr>
          <p:cNvPr id="241" name="Text 238"/>
          <p:cNvSpPr txBox="1"/>
          <p:nvPr/>
        </p:nvSpPr>
        <p:spPr>
          <a:xfrm>
            <a:off x="4434840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900" dirty="0"/>
          </a:p>
        </p:txBody>
      </p:sp>
      <p:sp>
        <p:nvSpPr>
          <p:cNvPr id="242" name="Shape 239"/>
          <p:cNvSpPr/>
          <p:nvPr/>
        </p:nvSpPr>
        <p:spPr>
          <a:xfrm>
            <a:off x="731520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3" name="Text 240"/>
          <p:cNvSpPr txBox="1"/>
          <p:nvPr/>
        </p:nvSpPr>
        <p:spPr>
          <a:xfrm>
            <a:off x="731520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244" name="Text 241"/>
          <p:cNvSpPr txBox="1"/>
          <p:nvPr/>
        </p:nvSpPr>
        <p:spPr>
          <a:xfrm>
            <a:off x="7644384" y="1170432"/>
            <a:ext cx="4135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THE OWNER'S RETURN (BASE 1.7x)</a:t>
            </a:r>
            <a:endParaRPr lang="en-US" sz="1200" dirty="0"/>
          </a:p>
        </p:txBody>
      </p:sp>
      <p:sp>
        <p:nvSpPr>
          <p:cNvPr id="245" name="Text 242"/>
          <p:cNvSpPr txBox="1"/>
          <p:nvPr/>
        </p:nvSpPr>
        <p:spPr>
          <a:xfrm>
            <a:off x="7315200" y="1517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uplift 0–3 %</a:t>
            </a:r>
            <a:endParaRPr lang="en-US" sz="900" dirty="0"/>
          </a:p>
        </p:txBody>
      </p:sp>
      <p:sp>
        <p:nvSpPr>
          <p:cNvPr id="246" name="Shape 243"/>
          <p:cNvSpPr/>
          <p:nvPr/>
        </p:nvSpPr>
        <p:spPr>
          <a:xfrm>
            <a:off x="9146919" y="1563624"/>
            <a:ext cx="723419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47" name="Shape 244"/>
          <p:cNvSpPr/>
          <p:nvPr/>
        </p:nvSpPr>
        <p:spPr>
          <a:xfrm>
            <a:off x="9870338" y="1563624"/>
            <a:ext cx="1509745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8" name="Text 245"/>
          <p:cNvSpPr txBox="1"/>
          <p:nvPr/>
        </p:nvSpPr>
        <p:spPr>
          <a:xfrm>
            <a:off x="8762871" y="15179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0.55x</a:t>
            </a:r>
            <a:endParaRPr lang="en-US" sz="800" dirty="0"/>
          </a:p>
        </p:txBody>
      </p:sp>
      <p:sp>
        <p:nvSpPr>
          <p:cNvPr id="249" name="Text 246"/>
          <p:cNvSpPr txBox="1"/>
          <p:nvPr/>
        </p:nvSpPr>
        <p:spPr>
          <a:xfrm>
            <a:off x="11407515" y="15179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4.1x</a:t>
            </a:r>
            <a:endParaRPr lang="en-US" sz="800" dirty="0"/>
          </a:p>
        </p:txBody>
      </p:sp>
      <p:sp>
        <p:nvSpPr>
          <p:cNvPr id="250" name="Text 247"/>
          <p:cNvSpPr txBox="1"/>
          <p:nvPr/>
        </p:nvSpPr>
        <p:spPr>
          <a:xfrm>
            <a:off x="7315200" y="1847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₹40 to ₹20</a:t>
            </a:r>
            <a:endParaRPr lang="en-US" sz="900" dirty="0"/>
          </a:p>
        </p:txBody>
      </p:sp>
      <p:sp>
        <p:nvSpPr>
          <p:cNvPr id="251" name="Shape 248"/>
          <p:cNvSpPr/>
          <p:nvPr/>
        </p:nvSpPr>
        <p:spPr>
          <a:xfrm>
            <a:off x="9681620" y="1892808"/>
            <a:ext cx="188718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52" name="Shape 249"/>
          <p:cNvSpPr/>
          <p:nvPr/>
        </p:nvSpPr>
        <p:spPr>
          <a:xfrm>
            <a:off x="9870338" y="1892808"/>
            <a:ext cx="377436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53" name="Text 250"/>
          <p:cNvSpPr txBox="1"/>
          <p:nvPr/>
        </p:nvSpPr>
        <p:spPr>
          <a:xfrm>
            <a:off x="9297572" y="1847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800" dirty="0"/>
          </a:p>
        </p:txBody>
      </p:sp>
      <p:sp>
        <p:nvSpPr>
          <p:cNvPr id="254" name="Text 251"/>
          <p:cNvSpPr txBox="1"/>
          <p:nvPr/>
        </p:nvSpPr>
        <p:spPr>
          <a:xfrm>
            <a:off x="10275207" y="1847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800" dirty="0"/>
          </a:p>
        </p:txBody>
      </p:sp>
      <p:sp>
        <p:nvSpPr>
          <p:cNvPr id="255" name="Text 252"/>
          <p:cNvSpPr txBox="1"/>
          <p:nvPr/>
        </p:nvSpPr>
        <p:spPr>
          <a:xfrm>
            <a:off x="7315200" y="2176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 ₹70k to ₹1.2 L</a:t>
            </a:r>
            <a:endParaRPr lang="en-US" sz="900" dirty="0"/>
          </a:p>
        </p:txBody>
      </p:sp>
      <p:sp>
        <p:nvSpPr>
          <p:cNvPr id="256" name="Shape 253"/>
          <p:cNvSpPr/>
          <p:nvPr/>
        </p:nvSpPr>
        <p:spPr>
          <a:xfrm>
            <a:off x="9681620" y="2221992"/>
            <a:ext cx="188718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57" name="Shape 254"/>
          <p:cNvSpPr/>
          <p:nvPr/>
        </p:nvSpPr>
        <p:spPr>
          <a:xfrm>
            <a:off x="9870338" y="2221992"/>
            <a:ext cx="25162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58" name="Text 255"/>
          <p:cNvSpPr txBox="1"/>
          <p:nvPr/>
        </p:nvSpPr>
        <p:spPr>
          <a:xfrm>
            <a:off x="9297572" y="2176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800" dirty="0"/>
          </a:p>
        </p:txBody>
      </p:sp>
      <p:sp>
        <p:nvSpPr>
          <p:cNvPr id="259" name="Text 256"/>
          <p:cNvSpPr txBox="1"/>
          <p:nvPr/>
        </p:nvSpPr>
        <p:spPr>
          <a:xfrm>
            <a:off x="10149395" y="2176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800" dirty="0"/>
          </a:p>
        </p:txBody>
      </p:sp>
      <p:sp>
        <p:nvSpPr>
          <p:cNvPr id="260" name="Text 257"/>
          <p:cNvSpPr txBox="1"/>
          <p:nvPr/>
        </p:nvSpPr>
        <p:spPr>
          <a:xfrm>
            <a:off x="7315200" y="25054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minutes per call</a:t>
            </a:r>
            <a:endParaRPr lang="en-US" sz="900" dirty="0"/>
          </a:p>
        </p:txBody>
      </p:sp>
      <p:sp>
        <p:nvSpPr>
          <p:cNvPr id="261" name="Shape 258"/>
          <p:cNvSpPr/>
          <p:nvPr/>
        </p:nvSpPr>
        <p:spPr>
          <a:xfrm>
            <a:off x="9681620" y="2551176"/>
            <a:ext cx="188718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62" name="Shape 259"/>
          <p:cNvSpPr/>
          <p:nvPr/>
        </p:nvSpPr>
        <p:spPr>
          <a:xfrm>
            <a:off x="9870338" y="2551176"/>
            <a:ext cx="18871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3" name="Text 260"/>
          <p:cNvSpPr txBox="1"/>
          <p:nvPr/>
        </p:nvSpPr>
        <p:spPr>
          <a:xfrm>
            <a:off x="9297572" y="2505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800" dirty="0"/>
          </a:p>
        </p:txBody>
      </p:sp>
      <p:sp>
        <p:nvSpPr>
          <p:cNvPr id="264" name="Text 261"/>
          <p:cNvSpPr txBox="1"/>
          <p:nvPr/>
        </p:nvSpPr>
        <p:spPr>
          <a:xfrm>
            <a:off x="10086488" y="2505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800" dirty="0"/>
          </a:p>
        </p:txBody>
      </p:sp>
      <p:sp>
        <p:nvSpPr>
          <p:cNvPr id="265" name="Text 262"/>
          <p:cNvSpPr txBox="1"/>
          <p:nvPr/>
        </p:nvSpPr>
        <p:spPr>
          <a:xfrm>
            <a:off x="731520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effect 5–30 %</a:t>
            </a:r>
            <a:endParaRPr lang="en-US" sz="900" dirty="0"/>
          </a:p>
        </p:txBody>
      </p:sp>
      <p:sp>
        <p:nvSpPr>
          <p:cNvPr id="266" name="Shape 263"/>
          <p:cNvSpPr/>
          <p:nvPr/>
        </p:nvSpPr>
        <p:spPr>
          <a:xfrm>
            <a:off x="9744526" y="2880360"/>
            <a:ext cx="125812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67" name="Shape 264"/>
          <p:cNvSpPr/>
          <p:nvPr/>
        </p:nvSpPr>
        <p:spPr>
          <a:xfrm>
            <a:off x="9870338" y="2880360"/>
            <a:ext cx="25162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8" name="Text 265"/>
          <p:cNvSpPr txBox="1"/>
          <p:nvPr/>
        </p:nvSpPr>
        <p:spPr>
          <a:xfrm>
            <a:off x="9360478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800" dirty="0"/>
          </a:p>
        </p:txBody>
      </p:sp>
      <p:sp>
        <p:nvSpPr>
          <p:cNvPr id="269" name="Text 266"/>
          <p:cNvSpPr txBox="1"/>
          <p:nvPr/>
        </p:nvSpPr>
        <p:spPr>
          <a:xfrm>
            <a:off x="10149395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800" dirty="0"/>
          </a:p>
        </p:txBody>
      </p:sp>
      <p:sp>
        <p:nvSpPr>
          <p:cNvPr id="270" name="Text 267"/>
          <p:cNvSpPr txBox="1"/>
          <p:nvPr/>
        </p:nvSpPr>
        <p:spPr>
          <a:xfrm>
            <a:off x="7315200" y="31638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of the flag</a:t>
            </a:r>
            <a:endParaRPr lang="en-US" sz="900" dirty="0"/>
          </a:p>
        </p:txBody>
      </p:sp>
      <p:sp>
        <p:nvSpPr>
          <p:cNvPr id="271" name="Shape 268"/>
          <p:cNvSpPr/>
          <p:nvPr/>
        </p:nvSpPr>
        <p:spPr>
          <a:xfrm>
            <a:off x="9744526" y="3209544"/>
            <a:ext cx="125812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72" name="Shape 269"/>
          <p:cNvSpPr/>
          <p:nvPr/>
        </p:nvSpPr>
        <p:spPr>
          <a:xfrm>
            <a:off x="9870338" y="3209544"/>
            <a:ext cx="125812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3" name="Text 270"/>
          <p:cNvSpPr txBox="1"/>
          <p:nvPr/>
        </p:nvSpPr>
        <p:spPr>
          <a:xfrm>
            <a:off x="9360478" y="31638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800" dirty="0"/>
          </a:p>
        </p:txBody>
      </p:sp>
      <p:sp>
        <p:nvSpPr>
          <p:cNvPr id="274" name="Text 271"/>
          <p:cNvSpPr txBox="1"/>
          <p:nvPr/>
        </p:nvSpPr>
        <p:spPr>
          <a:xfrm>
            <a:off x="10023582" y="31638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800" dirty="0"/>
          </a:p>
        </p:txBody>
      </p:sp>
      <p:sp>
        <p:nvSpPr>
          <p:cNvPr id="275" name="Text 272"/>
          <p:cNvSpPr txBox="1"/>
          <p:nvPr/>
        </p:nvSpPr>
        <p:spPr>
          <a:xfrm>
            <a:off x="7315200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before first flag</a:t>
            </a:r>
            <a:endParaRPr lang="en-US" sz="900" dirty="0"/>
          </a:p>
        </p:txBody>
      </p:sp>
      <p:sp>
        <p:nvSpPr>
          <p:cNvPr id="276" name="Shape 273"/>
          <p:cNvSpPr/>
          <p:nvPr/>
        </p:nvSpPr>
        <p:spPr>
          <a:xfrm>
            <a:off x="9807432" y="3538728"/>
            <a:ext cx="62906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77" name="Shape 274"/>
          <p:cNvSpPr/>
          <p:nvPr/>
        </p:nvSpPr>
        <p:spPr>
          <a:xfrm>
            <a:off x="9870338" y="3538728"/>
            <a:ext cx="62906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8" name="Text 275"/>
          <p:cNvSpPr txBox="1"/>
          <p:nvPr/>
        </p:nvSpPr>
        <p:spPr>
          <a:xfrm>
            <a:off x="9423384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800" dirty="0"/>
          </a:p>
        </p:txBody>
      </p:sp>
      <p:sp>
        <p:nvSpPr>
          <p:cNvPr id="279" name="Text 276"/>
          <p:cNvSpPr txBox="1"/>
          <p:nvPr/>
        </p:nvSpPr>
        <p:spPr>
          <a:xfrm>
            <a:off x="9960676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800" dirty="0"/>
          </a:p>
        </p:txBody>
      </p:sp>
      <p:sp>
        <p:nvSpPr>
          <p:cNvPr id="280" name="Shape 277"/>
          <p:cNvSpPr/>
          <p:nvPr/>
        </p:nvSpPr>
        <p:spPr>
          <a:xfrm>
            <a:off x="9861194" y="1481328"/>
            <a:ext cx="18288" cy="2331720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81" name="Shape 278"/>
          <p:cNvSpPr/>
          <p:nvPr/>
        </p:nvSpPr>
        <p:spPr>
          <a:xfrm>
            <a:off x="7315200" y="39136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2" name="Text 279"/>
          <p:cNvSpPr txBox="1"/>
          <p:nvPr/>
        </p:nvSpPr>
        <p:spPr>
          <a:xfrm>
            <a:off x="7315200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283" name="Text 280"/>
          <p:cNvSpPr txBox="1"/>
          <p:nvPr/>
        </p:nvSpPr>
        <p:spPr>
          <a:xfrm>
            <a:off x="7644384" y="3913632"/>
            <a:ext cx="4135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LTV ÷ CAC BY CHURN AND ACQUISITION COST</a:t>
            </a:r>
            <a:endParaRPr lang="en-US" sz="1200" dirty="0"/>
          </a:p>
        </p:txBody>
      </p:sp>
      <p:sp>
        <p:nvSpPr>
          <p:cNvPr id="284" name="Text 281"/>
          <p:cNvSpPr txBox="1"/>
          <p:nvPr/>
        </p:nvSpPr>
        <p:spPr>
          <a:xfrm>
            <a:off x="7772400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1 %</a:t>
            </a:r>
            <a:endParaRPr lang="en-US" sz="900" dirty="0"/>
          </a:p>
        </p:txBody>
      </p:sp>
      <p:sp>
        <p:nvSpPr>
          <p:cNvPr id="285" name="Text 282"/>
          <p:cNvSpPr txBox="1"/>
          <p:nvPr/>
        </p:nvSpPr>
        <p:spPr>
          <a:xfrm>
            <a:off x="8485632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2 %</a:t>
            </a:r>
            <a:endParaRPr lang="en-US" sz="900" dirty="0"/>
          </a:p>
        </p:txBody>
      </p:sp>
      <p:sp>
        <p:nvSpPr>
          <p:cNvPr id="286" name="Text 283"/>
          <p:cNvSpPr txBox="1"/>
          <p:nvPr/>
        </p:nvSpPr>
        <p:spPr>
          <a:xfrm>
            <a:off x="9198864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3 %</a:t>
            </a:r>
            <a:endParaRPr lang="en-US" sz="900" dirty="0"/>
          </a:p>
        </p:txBody>
      </p:sp>
      <p:sp>
        <p:nvSpPr>
          <p:cNvPr id="287" name="Text 284"/>
          <p:cNvSpPr txBox="1"/>
          <p:nvPr/>
        </p:nvSpPr>
        <p:spPr>
          <a:xfrm>
            <a:off x="9912096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4 %</a:t>
            </a:r>
            <a:endParaRPr lang="en-US" sz="900" dirty="0"/>
          </a:p>
        </p:txBody>
      </p:sp>
      <p:sp>
        <p:nvSpPr>
          <p:cNvPr id="288" name="Text 285"/>
          <p:cNvSpPr txBox="1"/>
          <p:nvPr/>
        </p:nvSpPr>
        <p:spPr>
          <a:xfrm>
            <a:off x="10625328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900" dirty="0"/>
          </a:p>
        </p:txBody>
      </p:sp>
      <p:sp>
        <p:nvSpPr>
          <p:cNvPr id="289" name="Text 286"/>
          <p:cNvSpPr txBox="1"/>
          <p:nvPr/>
        </p:nvSpPr>
        <p:spPr>
          <a:xfrm>
            <a:off x="7315200" y="440740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₹15k</a:t>
            </a:r>
            <a:endParaRPr lang="en-US" sz="900" dirty="0"/>
          </a:p>
        </p:txBody>
      </p:sp>
      <p:sp>
        <p:nvSpPr>
          <p:cNvPr id="290" name="Shape 287"/>
          <p:cNvSpPr/>
          <p:nvPr/>
        </p:nvSpPr>
        <p:spPr>
          <a:xfrm>
            <a:off x="7786116" y="4421124"/>
            <a:ext cx="685800" cy="219456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91" name="Text 288"/>
          <p:cNvSpPr txBox="1"/>
          <p:nvPr/>
        </p:nvSpPr>
        <p:spPr>
          <a:xfrm>
            <a:off x="7772400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11.0x</a:t>
            </a:r>
            <a:endParaRPr lang="en-US" sz="900" dirty="0"/>
          </a:p>
        </p:txBody>
      </p:sp>
      <p:sp>
        <p:nvSpPr>
          <p:cNvPr id="292" name="Shape 289"/>
          <p:cNvSpPr/>
          <p:nvPr/>
        </p:nvSpPr>
        <p:spPr>
          <a:xfrm>
            <a:off x="8499348" y="4421124"/>
            <a:ext cx="685800" cy="219456"/>
          </a:xfrm>
          <a:prstGeom prst="rect">
            <a:avLst/>
          </a:prstGeom>
          <a:solidFill>
            <a:srgbClr val="274876"/>
          </a:solidFill>
          <a:ln/>
        </p:spPr>
      </p:sp>
      <p:sp>
        <p:nvSpPr>
          <p:cNvPr id="293" name="Text 290"/>
          <p:cNvSpPr txBox="1"/>
          <p:nvPr/>
        </p:nvSpPr>
        <p:spPr>
          <a:xfrm>
            <a:off x="8485632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10.0x</a:t>
            </a:r>
            <a:endParaRPr lang="en-US" sz="900" dirty="0"/>
          </a:p>
        </p:txBody>
      </p:sp>
      <p:sp>
        <p:nvSpPr>
          <p:cNvPr id="294" name="Shape 291"/>
          <p:cNvSpPr/>
          <p:nvPr/>
        </p:nvSpPr>
        <p:spPr>
          <a:xfrm>
            <a:off x="9212580" y="4421124"/>
            <a:ext cx="685800" cy="219456"/>
          </a:xfrm>
          <a:prstGeom prst="rect">
            <a:avLst/>
          </a:prstGeom>
          <a:solidFill>
            <a:srgbClr val="325788"/>
          </a:solidFill>
          <a:ln/>
        </p:spPr>
      </p:sp>
      <p:sp>
        <p:nvSpPr>
          <p:cNvPr id="295" name="Text 292"/>
          <p:cNvSpPr txBox="1"/>
          <p:nvPr/>
        </p:nvSpPr>
        <p:spPr>
          <a:xfrm>
            <a:off x="9198864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9.3x</a:t>
            </a:r>
            <a:endParaRPr lang="en-US" sz="900" dirty="0"/>
          </a:p>
        </p:txBody>
      </p:sp>
      <p:sp>
        <p:nvSpPr>
          <p:cNvPr id="296" name="Shape 293"/>
          <p:cNvSpPr/>
          <p:nvPr/>
        </p:nvSpPr>
        <p:spPr>
          <a:xfrm>
            <a:off x="9925812" y="4421124"/>
            <a:ext cx="685800" cy="219456"/>
          </a:xfrm>
          <a:prstGeom prst="rect">
            <a:avLst/>
          </a:prstGeom>
          <a:solidFill>
            <a:srgbClr val="3F689C"/>
          </a:solidFill>
          <a:ln/>
        </p:spPr>
      </p:sp>
      <p:sp>
        <p:nvSpPr>
          <p:cNvPr id="297" name="Text 294"/>
          <p:cNvSpPr txBox="1"/>
          <p:nvPr/>
        </p:nvSpPr>
        <p:spPr>
          <a:xfrm>
            <a:off x="9912096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8.5x</a:t>
            </a:r>
            <a:endParaRPr lang="en-US" sz="900" dirty="0"/>
          </a:p>
        </p:txBody>
      </p:sp>
      <p:sp>
        <p:nvSpPr>
          <p:cNvPr id="298" name="Shape 295"/>
          <p:cNvSpPr/>
          <p:nvPr/>
        </p:nvSpPr>
        <p:spPr>
          <a:xfrm>
            <a:off x="10639044" y="4421124"/>
            <a:ext cx="685800" cy="219456"/>
          </a:xfrm>
          <a:prstGeom prst="rect">
            <a:avLst/>
          </a:prstGeom>
          <a:solidFill>
            <a:srgbClr val="4A77AE"/>
          </a:solidFill>
          <a:ln/>
        </p:spPr>
      </p:sp>
      <p:sp>
        <p:nvSpPr>
          <p:cNvPr id="299" name="Text 296"/>
          <p:cNvSpPr txBox="1"/>
          <p:nvPr/>
        </p:nvSpPr>
        <p:spPr>
          <a:xfrm>
            <a:off x="10625328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7.8x</a:t>
            </a:r>
            <a:endParaRPr lang="en-US" sz="900" dirty="0"/>
          </a:p>
        </p:txBody>
      </p:sp>
      <p:sp>
        <p:nvSpPr>
          <p:cNvPr id="300" name="Text 297"/>
          <p:cNvSpPr txBox="1"/>
          <p:nvPr/>
        </p:nvSpPr>
        <p:spPr>
          <a:xfrm>
            <a:off x="7315200" y="465429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₹25k</a:t>
            </a:r>
            <a:endParaRPr lang="en-US" sz="900" dirty="0"/>
          </a:p>
        </p:txBody>
      </p:sp>
      <p:sp>
        <p:nvSpPr>
          <p:cNvPr id="301" name="Shape 298"/>
          <p:cNvSpPr/>
          <p:nvPr/>
        </p:nvSpPr>
        <p:spPr>
          <a:xfrm>
            <a:off x="7786116" y="4668012"/>
            <a:ext cx="685800" cy="219456"/>
          </a:xfrm>
          <a:prstGeom prst="rect">
            <a:avLst/>
          </a:prstGeom>
          <a:solidFill>
            <a:srgbClr val="598AC6"/>
          </a:solidFill>
          <a:ln/>
        </p:spPr>
      </p:sp>
      <p:sp>
        <p:nvSpPr>
          <p:cNvPr id="302" name="Text 299"/>
          <p:cNvSpPr txBox="1"/>
          <p:nvPr/>
        </p:nvSpPr>
        <p:spPr>
          <a:xfrm>
            <a:off x="7772400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6.9x</a:t>
            </a:r>
            <a:endParaRPr lang="en-US" sz="900" dirty="0"/>
          </a:p>
        </p:txBody>
      </p:sp>
      <p:sp>
        <p:nvSpPr>
          <p:cNvPr id="303" name="Shape 300"/>
          <p:cNvSpPr/>
          <p:nvPr/>
        </p:nvSpPr>
        <p:spPr>
          <a:xfrm>
            <a:off x="8499348" y="4668012"/>
            <a:ext cx="685800" cy="219456"/>
          </a:xfrm>
          <a:prstGeom prst="rect">
            <a:avLst/>
          </a:prstGeom>
          <a:solidFill>
            <a:srgbClr val="6B98CE"/>
          </a:solidFill>
          <a:ln/>
        </p:spPr>
      </p:sp>
      <p:sp>
        <p:nvSpPr>
          <p:cNvPr id="304" name="Text 301"/>
          <p:cNvSpPr txBox="1"/>
          <p:nvPr/>
        </p:nvSpPr>
        <p:spPr>
          <a:xfrm>
            <a:off x="8485632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6.2x</a:t>
            </a:r>
            <a:endParaRPr lang="en-US" sz="900" dirty="0"/>
          </a:p>
        </p:txBody>
      </p:sp>
      <p:sp>
        <p:nvSpPr>
          <p:cNvPr id="305" name="Shape 302"/>
          <p:cNvSpPr/>
          <p:nvPr/>
        </p:nvSpPr>
        <p:spPr>
          <a:xfrm>
            <a:off x="9212580" y="4668012"/>
            <a:ext cx="685800" cy="219456"/>
          </a:xfrm>
          <a:prstGeom prst="rect">
            <a:avLst/>
          </a:prstGeom>
          <a:solidFill>
            <a:srgbClr val="7CA4D4"/>
          </a:solidFill>
          <a:ln/>
        </p:spPr>
      </p:sp>
      <p:sp>
        <p:nvSpPr>
          <p:cNvPr id="306" name="Text 303"/>
          <p:cNvSpPr txBox="1"/>
          <p:nvPr/>
        </p:nvSpPr>
        <p:spPr>
          <a:xfrm>
            <a:off x="9198864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5.6x</a:t>
            </a:r>
            <a:endParaRPr lang="en-US" sz="900" dirty="0"/>
          </a:p>
        </p:txBody>
      </p:sp>
      <p:sp>
        <p:nvSpPr>
          <p:cNvPr id="307" name="Shape 304"/>
          <p:cNvSpPr/>
          <p:nvPr/>
        </p:nvSpPr>
        <p:spPr>
          <a:xfrm>
            <a:off x="9925812" y="4668012"/>
            <a:ext cx="685800" cy="219456"/>
          </a:xfrm>
          <a:prstGeom prst="rect">
            <a:avLst/>
          </a:prstGeom>
          <a:solidFill>
            <a:srgbClr val="8AAED9"/>
          </a:solidFill>
          <a:ln/>
        </p:spPr>
      </p:sp>
      <p:sp>
        <p:nvSpPr>
          <p:cNvPr id="308" name="Text 305"/>
          <p:cNvSpPr txBox="1"/>
          <p:nvPr/>
        </p:nvSpPr>
        <p:spPr>
          <a:xfrm>
            <a:off x="9912096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5.1x</a:t>
            </a:r>
            <a:endParaRPr lang="en-US" sz="900" dirty="0"/>
          </a:p>
        </p:txBody>
      </p:sp>
      <p:sp>
        <p:nvSpPr>
          <p:cNvPr id="309" name="Shape 306"/>
          <p:cNvSpPr/>
          <p:nvPr/>
        </p:nvSpPr>
        <p:spPr>
          <a:xfrm>
            <a:off x="10639044" y="4668012"/>
            <a:ext cx="685800" cy="219456"/>
          </a:xfrm>
          <a:prstGeom prst="rect">
            <a:avLst/>
          </a:prstGeom>
          <a:solidFill>
            <a:srgbClr val="95B5DD"/>
          </a:solidFill>
          <a:ln/>
        </p:spPr>
      </p:sp>
      <p:sp>
        <p:nvSpPr>
          <p:cNvPr id="310" name="Text 307"/>
          <p:cNvSpPr txBox="1"/>
          <p:nvPr/>
        </p:nvSpPr>
        <p:spPr>
          <a:xfrm>
            <a:off x="10625328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4.7x</a:t>
            </a:r>
            <a:endParaRPr lang="en-US" sz="900" dirty="0"/>
          </a:p>
        </p:txBody>
      </p:sp>
      <p:sp>
        <p:nvSpPr>
          <p:cNvPr id="311" name="Text 308"/>
          <p:cNvSpPr txBox="1"/>
          <p:nvPr/>
        </p:nvSpPr>
        <p:spPr>
          <a:xfrm>
            <a:off x="7315200" y="490118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₹35k</a:t>
            </a:r>
            <a:endParaRPr lang="en-US" sz="900" dirty="0"/>
          </a:p>
        </p:txBody>
      </p:sp>
      <p:sp>
        <p:nvSpPr>
          <p:cNvPr id="312" name="Shape 309"/>
          <p:cNvSpPr/>
          <p:nvPr/>
        </p:nvSpPr>
        <p:spPr>
          <a:xfrm>
            <a:off x="7786116" y="4914900"/>
            <a:ext cx="685800" cy="219456"/>
          </a:xfrm>
          <a:prstGeom prst="rect">
            <a:avLst/>
          </a:prstGeom>
          <a:solidFill>
            <a:srgbClr val="8FB2DB"/>
          </a:solidFill>
          <a:ln/>
        </p:spPr>
      </p:sp>
      <p:sp>
        <p:nvSpPr>
          <p:cNvPr id="313" name="Text 310"/>
          <p:cNvSpPr txBox="1"/>
          <p:nvPr/>
        </p:nvSpPr>
        <p:spPr>
          <a:xfrm>
            <a:off x="7772400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4.9x</a:t>
            </a:r>
            <a:endParaRPr lang="en-US" sz="900" dirty="0"/>
          </a:p>
        </p:txBody>
      </p:sp>
      <p:sp>
        <p:nvSpPr>
          <p:cNvPr id="314" name="Shape 311"/>
          <p:cNvSpPr/>
          <p:nvPr/>
        </p:nvSpPr>
        <p:spPr>
          <a:xfrm>
            <a:off x="8499348" y="4914900"/>
            <a:ext cx="685800" cy="219456"/>
          </a:xfrm>
          <a:prstGeom prst="rect">
            <a:avLst/>
          </a:prstGeom>
          <a:solidFill>
            <a:srgbClr val="9DBBDF"/>
          </a:solidFill>
          <a:ln/>
        </p:spPr>
      </p:sp>
      <p:sp>
        <p:nvSpPr>
          <p:cNvPr id="315" name="Text 312"/>
          <p:cNvSpPr txBox="1"/>
          <p:nvPr/>
        </p:nvSpPr>
        <p:spPr>
          <a:xfrm>
            <a:off x="8485632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4.4x</a:t>
            </a:r>
            <a:endParaRPr lang="en-US" sz="900" dirty="0"/>
          </a:p>
        </p:txBody>
      </p:sp>
      <p:sp>
        <p:nvSpPr>
          <p:cNvPr id="316" name="Shape 313"/>
          <p:cNvSpPr/>
          <p:nvPr/>
        </p:nvSpPr>
        <p:spPr>
          <a:xfrm>
            <a:off x="9212580" y="4914900"/>
            <a:ext cx="685800" cy="219456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317" name="Text 314"/>
          <p:cNvSpPr txBox="1"/>
          <p:nvPr/>
        </p:nvSpPr>
        <p:spPr>
          <a:xfrm>
            <a:off x="9198864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4.0x</a:t>
            </a:r>
            <a:endParaRPr lang="en-US" sz="900" dirty="0"/>
          </a:p>
        </p:txBody>
      </p:sp>
      <p:sp>
        <p:nvSpPr>
          <p:cNvPr id="318" name="Shape 315"/>
          <p:cNvSpPr/>
          <p:nvPr/>
        </p:nvSpPr>
        <p:spPr>
          <a:xfrm>
            <a:off x="9925812" y="4914900"/>
            <a:ext cx="685800" cy="219456"/>
          </a:xfrm>
          <a:prstGeom prst="rect">
            <a:avLst/>
          </a:prstGeom>
          <a:solidFill>
            <a:srgbClr val="B4CBE7"/>
          </a:solidFill>
          <a:ln/>
        </p:spPr>
      </p:sp>
      <p:sp>
        <p:nvSpPr>
          <p:cNvPr id="319" name="Text 316"/>
          <p:cNvSpPr txBox="1"/>
          <p:nvPr/>
        </p:nvSpPr>
        <p:spPr>
          <a:xfrm>
            <a:off x="9912096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00" dirty="0"/>
          </a:p>
        </p:txBody>
      </p:sp>
      <p:sp>
        <p:nvSpPr>
          <p:cNvPr id="320" name="Shape 317"/>
          <p:cNvSpPr/>
          <p:nvPr/>
        </p:nvSpPr>
        <p:spPr>
          <a:xfrm>
            <a:off x="10639044" y="4914900"/>
            <a:ext cx="685800" cy="219456"/>
          </a:xfrm>
          <a:prstGeom prst="rect">
            <a:avLst/>
          </a:prstGeom>
          <a:solidFill>
            <a:srgbClr val="BCD1EA"/>
          </a:solidFill>
          <a:ln/>
        </p:spPr>
      </p:sp>
      <p:sp>
        <p:nvSpPr>
          <p:cNvPr id="321" name="Text 318"/>
          <p:cNvSpPr txBox="1"/>
          <p:nvPr/>
        </p:nvSpPr>
        <p:spPr>
          <a:xfrm>
            <a:off x="10625328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3.3x</a:t>
            </a:r>
            <a:endParaRPr lang="en-US" sz="900" dirty="0"/>
          </a:p>
        </p:txBody>
      </p:sp>
      <p:sp>
        <p:nvSpPr>
          <p:cNvPr id="322" name="Text 319"/>
          <p:cNvSpPr txBox="1"/>
          <p:nvPr/>
        </p:nvSpPr>
        <p:spPr>
          <a:xfrm>
            <a:off x="7315200" y="514807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</a:t>
            </a:r>
            <a:endParaRPr lang="en-US" sz="900" dirty="0"/>
          </a:p>
        </p:txBody>
      </p:sp>
      <p:sp>
        <p:nvSpPr>
          <p:cNvPr id="323" name="Shape 320"/>
          <p:cNvSpPr/>
          <p:nvPr/>
        </p:nvSpPr>
        <p:spPr>
          <a:xfrm>
            <a:off x="7786116" y="5161788"/>
            <a:ext cx="685800" cy="219456"/>
          </a:xfrm>
          <a:prstGeom prst="rect">
            <a:avLst/>
          </a:prstGeom>
          <a:solidFill>
            <a:srgbClr val="BACFE9"/>
          </a:solidFill>
          <a:ln/>
        </p:spPr>
      </p:sp>
      <p:sp>
        <p:nvSpPr>
          <p:cNvPr id="324" name="Text 321"/>
          <p:cNvSpPr txBox="1"/>
          <p:nvPr/>
        </p:nvSpPr>
        <p:spPr>
          <a:xfrm>
            <a:off x="7772400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3.4x</a:t>
            </a:r>
            <a:endParaRPr lang="en-US" sz="900" dirty="0"/>
          </a:p>
        </p:txBody>
      </p:sp>
      <p:sp>
        <p:nvSpPr>
          <p:cNvPr id="325" name="Shape 322"/>
          <p:cNvSpPr/>
          <p:nvPr/>
        </p:nvSpPr>
        <p:spPr>
          <a:xfrm>
            <a:off x="8499348" y="5161788"/>
            <a:ext cx="685800" cy="219456"/>
          </a:xfrm>
          <a:prstGeom prst="rect">
            <a:avLst/>
          </a:prstGeom>
          <a:solidFill>
            <a:srgbClr val="C2D5EC"/>
          </a:solidFill>
          <a:ln/>
        </p:spPr>
      </p:sp>
      <p:sp>
        <p:nvSpPr>
          <p:cNvPr id="326" name="Text 323"/>
          <p:cNvSpPr txBox="1"/>
          <p:nvPr/>
        </p:nvSpPr>
        <p:spPr>
          <a:xfrm>
            <a:off x="8485632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900" dirty="0"/>
          </a:p>
        </p:txBody>
      </p:sp>
      <p:sp>
        <p:nvSpPr>
          <p:cNvPr id="327" name="Shape 324"/>
          <p:cNvSpPr/>
          <p:nvPr/>
        </p:nvSpPr>
        <p:spPr>
          <a:xfrm>
            <a:off x="9212580" y="5161788"/>
            <a:ext cx="685800" cy="219456"/>
          </a:xfrm>
          <a:prstGeom prst="rect">
            <a:avLst/>
          </a:prstGeom>
          <a:solidFill>
            <a:srgbClr val="CADBEF"/>
          </a:solidFill>
          <a:ln/>
        </p:spPr>
      </p:sp>
      <p:sp>
        <p:nvSpPr>
          <p:cNvPr id="328" name="Text 325"/>
          <p:cNvSpPr txBox="1"/>
          <p:nvPr/>
        </p:nvSpPr>
        <p:spPr>
          <a:xfrm>
            <a:off x="9198864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900" dirty="0"/>
          </a:p>
        </p:txBody>
      </p:sp>
      <p:sp>
        <p:nvSpPr>
          <p:cNvPr id="329" name="Shape 326"/>
          <p:cNvSpPr/>
          <p:nvPr/>
        </p:nvSpPr>
        <p:spPr>
          <a:xfrm>
            <a:off x="9925812" y="5161788"/>
            <a:ext cx="685800" cy="219456"/>
          </a:xfrm>
          <a:prstGeom prst="rect">
            <a:avLst/>
          </a:prstGeom>
          <a:solidFill>
            <a:srgbClr val="D3E0F1"/>
          </a:solidFill>
          <a:ln/>
        </p:spPr>
      </p:sp>
      <p:sp>
        <p:nvSpPr>
          <p:cNvPr id="330" name="Text 327"/>
          <p:cNvSpPr txBox="1"/>
          <p:nvPr/>
        </p:nvSpPr>
        <p:spPr>
          <a:xfrm>
            <a:off x="9912096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900" dirty="0"/>
          </a:p>
        </p:txBody>
      </p:sp>
      <p:sp>
        <p:nvSpPr>
          <p:cNvPr id="331" name="Shape 328"/>
          <p:cNvSpPr/>
          <p:nvPr/>
        </p:nvSpPr>
        <p:spPr>
          <a:xfrm>
            <a:off x="10639044" y="5161788"/>
            <a:ext cx="685800" cy="219456"/>
          </a:xfrm>
          <a:prstGeom prst="rect">
            <a:avLst/>
          </a:prstGeom>
          <a:solidFill>
            <a:srgbClr val="D8E4F3"/>
          </a:solidFill>
          <a:ln/>
        </p:spPr>
      </p:sp>
      <p:sp>
        <p:nvSpPr>
          <p:cNvPr id="332" name="Text 329"/>
          <p:cNvSpPr txBox="1"/>
          <p:nvPr/>
        </p:nvSpPr>
        <p:spPr>
          <a:xfrm>
            <a:off x="10625328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900" dirty="0"/>
          </a:p>
        </p:txBody>
      </p:sp>
      <p:sp>
        <p:nvSpPr>
          <p:cNvPr id="333" name="Text 330"/>
          <p:cNvSpPr txBox="1"/>
          <p:nvPr/>
        </p:nvSpPr>
        <p:spPr>
          <a:xfrm>
            <a:off x="7315200" y="539496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₹75k</a:t>
            </a:r>
            <a:endParaRPr lang="en-US" sz="900" dirty="0"/>
          </a:p>
        </p:txBody>
      </p:sp>
      <p:sp>
        <p:nvSpPr>
          <p:cNvPr id="334" name="Shape 331"/>
          <p:cNvSpPr/>
          <p:nvPr/>
        </p:nvSpPr>
        <p:spPr>
          <a:xfrm>
            <a:off x="7786116" y="5408676"/>
            <a:ext cx="685800" cy="219456"/>
          </a:xfrm>
          <a:prstGeom prst="rect">
            <a:avLst/>
          </a:prstGeom>
          <a:solidFill>
            <a:srgbClr val="D8E4F3"/>
          </a:solidFill>
          <a:ln/>
        </p:spPr>
      </p:sp>
      <p:sp>
        <p:nvSpPr>
          <p:cNvPr id="335" name="Text 332"/>
          <p:cNvSpPr txBox="1"/>
          <p:nvPr/>
        </p:nvSpPr>
        <p:spPr>
          <a:xfrm>
            <a:off x="7772400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900" dirty="0"/>
          </a:p>
        </p:txBody>
      </p:sp>
      <p:sp>
        <p:nvSpPr>
          <p:cNvPr id="336" name="Shape 333"/>
          <p:cNvSpPr/>
          <p:nvPr/>
        </p:nvSpPr>
        <p:spPr>
          <a:xfrm>
            <a:off x="8499348" y="5408676"/>
            <a:ext cx="685800" cy="219456"/>
          </a:xfrm>
          <a:prstGeom prst="rect">
            <a:avLst/>
          </a:prstGeom>
          <a:solidFill>
            <a:srgbClr val="DEE8F5"/>
          </a:solidFill>
          <a:ln/>
        </p:spPr>
      </p:sp>
      <p:sp>
        <p:nvSpPr>
          <p:cNvPr id="337" name="Text 334"/>
          <p:cNvSpPr txBox="1"/>
          <p:nvPr/>
        </p:nvSpPr>
        <p:spPr>
          <a:xfrm>
            <a:off x="8485632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338" name="Shape 335"/>
          <p:cNvSpPr/>
          <p:nvPr/>
        </p:nvSpPr>
        <p:spPr>
          <a:xfrm>
            <a:off x="9212580" y="5408676"/>
            <a:ext cx="685800" cy="219456"/>
          </a:xfrm>
          <a:prstGeom prst="rect">
            <a:avLst/>
          </a:prstGeom>
          <a:solidFill>
            <a:srgbClr val="E4ECF7"/>
          </a:solidFill>
          <a:ln/>
        </p:spPr>
      </p:sp>
      <p:sp>
        <p:nvSpPr>
          <p:cNvPr id="339" name="Text 336"/>
          <p:cNvSpPr txBox="1"/>
          <p:nvPr/>
        </p:nvSpPr>
        <p:spPr>
          <a:xfrm>
            <a:off x="9198864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900" dirty="0"/>
          </a:p>
        </p:txBody>
      </p:sp>
      <p:sp>
        <p:nvSpPr>
          <p:cNvPr id="340" name="Shape 337"/>
          <p:cNvSpPr/>
          <p:nvPr/>
        </p:nvSpPr>
        <p:spPr>
          <a:xfrm>
            <a:off x="9925812" y="5408676"/>
            <a:ext cx="685800" cy="219456"/>
          </a:xfrm>
          <a:prstGeom prst="rect">
            <a:avLst/>
          </a:prstGeom>
          <a:solidFill>
            <a:srgbClr val="E9F0F9"/>
          </a:solidFill>
          <a:ln/>
        </p:spPr>
      </p:sp>
      <p:sp>
        <p:nvSpPr>
          <p:cNvPr id="341" name="Text 338"/>
          <p:cNvSpPr txBox="1"/>
          <p:nvPr/>
        </p:nvSpPr>
        <p:spPr>
          <a:xfrm>
            <a:off x="9912096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900" dirty="0"/>
          </a:p>
        </p:txBody>
      </p:sp>
      <p:sp>
        <p:nvSpPr>
          <p:cNvPr id="342" name="Shape 339"/>
          <p:cNvSpPr/>
          <p:nvPr/>
        </p:nvSpPr>
        <p:spPr>
          <a:xfrm>
            <a:off x="10639044" y="5408676"/>
            <a:ext cx="685800" cy="219456"/>
          </a:xfrm>
          <a:prstGeom prst="rect">
            <a:avLst/>
          </a:prstGeom>
          <a:solidFill>
            <a:srgbClr val="ECF2FA"/>
          </a:solidFill>
          <a:ln/>
        </p:spPr>
      </p:sp>
      <p:sp>
        <p:nvSpPr>
          <p:cNvPr id="343" name="Text 340"/>
          <p:cNvSpPr txBox="1"/>
          <p:nvPr/>
        </p:nvSpPr>
        <p:spPr>
          <a:xfrm>
            <a:off x="10625328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900" dirty="0"/>
          </a:p>
        </p:txBody>
      </p:sp>
      <p:sp>
        <p:nvSpPr>
          <p:cNvPr id="344" name="Text 341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financial model v1.1 (Scenarios, Sensitivity). Model output from sourced and assumed inputs, not measured. Base marker on the churn grid is about ₹38k acquisition cost at 3 % churn.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2: THREE-YEAR PLAN AND SEGMENTS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three-year plan capped by the market, and how size changes the economics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7043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PROJECTION (₹)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81328"/>
            <a:ext cx="23774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88920" y="1481328"/>
            <a:ext cx="1097280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834640" y="1481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886200" y="1481328"/>
            <a:ext cx="11887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931920" y="1481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74920" y="1481328"/>
            <a:ext cx="1097280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120640" y="1481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11480" y="1755648"/>
            <a:ext cx="23774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57200" y="17556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 year 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788920" y="1755648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2834640" y="17556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₹11.0 L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886200" y="1755648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3931920" y="1755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₹65.3 L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074920" y="1755648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120640" y="17556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₹2.50 Cr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11480" y="2103120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11480" y="2103120"/>
            <a:ext cx="2377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57200" y="2103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in year 3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2788920" y="2103120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2834640" y="2103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-₹30.2 L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3886200" y="2103120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3931920" y="2103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₹11.9 L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074920" y="2103120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120640" y="2103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₹1.26 Cr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11480" y="2450592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11480" y="2450592"/>
            <a:ext cx="23774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457200" y="2450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institutes, end of year 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2788920" y="2450592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2834640" y="2450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3886200" y="2450592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3931920" y="24505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5074920" y="2450592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120640" y="2450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411480" y="2798064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11480" y="2798064"/>
            <a:ext cx="2377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457200" y="2798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the model needs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2788920" y="2798064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2834640" y="27980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₹1.00 Cr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3886200" y="2798064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931920" y="27980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₹45.0 L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5074920" y="2798064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5120640" y="27980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₹30.0 L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11480" y="3145536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411480" y="3145536"/>
            <a:ext cx="23774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57200" y="31455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month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2788920" y="3145536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2834640" y="31455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36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3886200" y="3145536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3931920" y="31455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5074920" y="3145536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5120640" y="31455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11480" y="3493008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1480" y="3566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cap: 1,180 addressable institutes in five states x 8 % penetration (derived, mostly assumption). Bear funding assumes no cost response.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411480" y="397764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41148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82" name="Text 79"/>
          <p:cNvSpPr txBox="1"/>
          <p:nvPr/>
        </p:nvSpPr>
        <p:spPr>
          <a:xfrm>
            <a:off x="740664" y="3977640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CASE, YEAR BY YEAR (₹ LAKH)</a:t>
            </a:r>
            <a:endParaRPr lang="en-US" sz="1200" dirty="0"/>
          </a:p>
        </p:txBody>
      </p:sp>
      <p:sp>
        <p:nvSpPr>
          <p:cNvPr id="83" name="Shape 80"/>
          <p:cNvSpPr/>
          <p:nvPr/>
        </p:nvSpPr>
        <p:spPr>
          <a:xfrm>
            <a:off x="777240" y="5254508"/>
            <a:ext cx="640080" cy="4147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685800" y="50167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₹18.9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1490472" y="5669280"/>
            <a:ext cx="502920" cy="3533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1399032" y="60317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-16.1</a:t>
            </a:r>
            <a:endParaRPr lang="en-US" sz="900" dirty="0"/>
          </a:p>
        </p:txBody>
      </p:sp>
      <p:sp>
        <p:nvSpPr>
          <p:cNvPr id="87" name="Text 84"/>
          <p:cNvSpPr txBox="1"/>
          <p:nvPr/>
        </p:nvSpPr>
        <p:spPr>
          <a:xfrm>
            <a:off x="548640" y="6108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 ·  28 institutes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2651760" y="4615891"/>
            <a:ext cx="640080" cy="1053389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2560320" y="4378147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₹48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3364992" y="5669280"/>
            <a:ext cx="502920" cy="19751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3273552" y="5698175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-0.9</a:t>
            </a:r>
            <a:endParaRPr lang="en-US" sz="900" dirty="0"/>
          </a:p>
        </p:txBody>
      </p:sp>
      <p:sp>
        <p:nvSpPr>
          <p:cNvPr id="92" name="Text 89"/>
          <p:cNvSpPr txBox="1"/>
          <p:nvPr/>
        </p:nvSpPr>
        <p:spPr>
          <a:xfrm>
            <a:off x="2423160" y="6108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 ·  51 institutes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4526280" y="4236232"/>
            <a:ext cx="640080" cy="1433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4434840" y="39984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₹65.3</a:t>
            </a:r>
            <a:endParaRPr lang="en-US" sz="1000" dirty="0"/>
          </a:p>
        </p:txBody>
      </p:sp>
      <p:sp>
        <p:nvSpPr>
          <p:cNvPr id="95" name="Shape 92"/>
          <p:cNvSpPr/>
          <p:nvPr/>
        </p:nvSpPr>
        <p:spPr>
          <a:xfrm>
            <a:off x="5239512" y="5408127"/>
            <a:ext cx="502920" cy="261153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96" name="Text 93"/>
          <p:cNvSpPr txBox="1"/>
          <p:nvPr/>
        </p:nvSpPr>
        <p:spPr>
          <a:xfrm>
            <a:off x="5148072" y="5170383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+11.9</a:t>
            </a:r>
            <a:endParaRPr lang="en-US" sz="900" dirty="0"/>
          </a:p>
        </p:txBody>
      </p:sp>
      <p:sp>
        <p:nvSpPr>
          <p:cNvPr id="97" name="Text 94"/>
          <p:cNvSpPr txBox="1"/>
          <p:nvPr/>
        </p:nvSpPr>
        <p:spPr>
          <a:xfrm>
            <a:off x="4297680" y="6108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 ·  58 institutes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411480" y="5669280"/>
            <a:ext cx="5760720" cy="13716"/>
          </a:xfrm>
          <a:prstGeom prst="rect">
            <a:avLst/>
          </a:prstGeom>
          <a:solidFill>
            <a:srgbClr val="9AA6B5"/>
          </a:solidFill>
          <a:ln/>
        </p:spPr>
      </p:sp>
      <p:sp>
        <p:nvSpPr>
          <p:cNvPr id="99" name="Shape 96"/>
          <p:cNvSpPr/>
          <p:nvPr/>
        </p:nvSpPr>
        <p:spPr>
          <a:xfrm>
            <a:off x="502920" y="6291072"/>
            <a:ext cx="128016" cy="12801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667512" y="62453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1600200" y="6291072"/>
            <a:ext cx="128016" cy="128016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1764792" y="62453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653796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653796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105" name="Text 102"/>
          <p:cNvSpPr txBox="1"/>
          <p:nvPr/>
        </p:nvSpPr>
        <p:spPr>
          <a:xfrm>
            <a:off x="6867144" y="1170432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INSTITUTE SIZE (BASE)</a:t>
            </a:r>
            <a:endParaRPr lang="en-US" sz="1200" dirty="0"/>
          </a:p>
        </p:txBody>
      </p:sp>
      <p:sp>
        <p:nvSpPr>
          <p:cNvPr id="106" name="Shape 103"/>
          <p:cNvSpPr/>
          <p:nvPr/>
        </p:nvSpPr>
        <p:spPr>
          <a:xfrm>
            <a:off x="6537960" y="1481328"/>
            <a:ext cx="219456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7" name="Text 104"/>
          <p:cNvSpPr txBox="1"/>
          <p:nvPr/>
        </p:nvSpPr>
        <p:spPr>
          <a:xfrm>
            <a:off x="6583680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8732520" y="1481328"/>
            <a:ext cx="1005840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09" name="Text 106"/>
          <p:cNvSpPr txBox="1"/>
          <p:nvPr/>
        </p:nvSpPr>
        <p:spPr>
          <a:xfrm>
            <a:off x="877824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9738360" y="1481328"/>
            <a:ext cx="10058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978408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10744200" y="1481328"/>
            <a:ext cx="987552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10789920" y="148132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6537960" y="1755648"/>
            <a:ext cx="219456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6583680" y="175564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8732520" y="1755648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8778240" y="175564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9738360" y="1755648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9784080" y="175564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10744200" y="1755648"/>
            <a:ext cx="987552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10789920" y="1755648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6537960" y="2093976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6537960" y="2093976"/>
            <a:ext cx="21945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6583680" y="2093976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 per student</a:t>
            </a:r>
            <a:endParaRPr lang="en-US" sz="1000" dirty="0"/>
          </a:p>
        </p:txBody>
      </p:sp>
      <p:sp>
        <p:nvSpPr>
          <p:cNvPr id="125" name="Shape 122"/>
          <p:cNvSpPr/>
          <p:nvPr/>
        </p:nvSpPr>
        <p:spPr>
          <a:xfrm>
            <a:off x="8732520" y="2093976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8778240" y="20939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₹60,000</a:t>
            </a:r>
            <a:endParaRPr lang="en-US" sz="1000" dirty="0"/>
          </a:p>
        </p:txBody>
      </p:sp>
      <p:sp>
        <p:nvSpPr>
          <p:cNvPr id="127" name="Shape 124"/>
          <p:cNvSpPr/>
          <p:nvPr/>
        </p:nvSpPr>
        <p:spPr>
          <a:xfrm>
            <a:off x="9738360" y="2093976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8" name="Text 125"/>
          <p:cNvSpPr txBox="1"/>
          <p:nvPr/>
        </p:nvSpPr>
        <p:spPr>
          <a:xfrm>
            <a:off x="9784080" y="20939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₹75,000</a:t>
            </a:r>
            <a:endParaRPr lang="en-US" sz="1000" dirty="0"/>
          </a:p>
        </p:txBody>
      </p:sp>
      <p:sp>
        <p:nvSpPr>
          <p:cNvPr id="129" name="Shape 126"/>
          <p:cNvSpPr/>
          <p:nvPr/>
        </p:nvSpPr>
        <p:spPr>
          <a:xfrm>
            <a:off x="10744200" y="2093976"/>
            <a:ext cx="98755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10789920" y="2093976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₹1,00,000</a:t>
            </a:r>
            <a:endParaRPr lang="en-US" sz="1000" dirty="0"/>
          </a:p>
        </p:txBody>
      </p:sp>
      <p:sp>
        <p:nvSpPr>
          <p:cNvPr id="131" name="Shape 128"/>
          <p:cNvSpPr/>
          <p:nvPr/>
        </p:nvSpPr>
        <p:spPr>
          <a:xfrm>
            <a:off x="6537960" y="2432304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6537960" y="2432304"/>
            <a:ext cx="219456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6583680" y="2432304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all benefits</a:t>
            </a:r>
            <a:endParaRPr lang="en-US" sz="1000" dirty="0"/>
          </a:p>
        </p:txBody>
      </p:sp>
      <p:sp>
        <p:nvSpPr>
          <p:cNvPr id="134" name="Shape 131"/>
          <p:cNvSpPr/>
          <p:nvPr/>
        </p:nvSpPr>
        <p:spPr>
          <a:xfrm>
            <a:off x="8732520" y="2432304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8778240" y="243230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9738360" y="2432304"/>
            <a:ext cx="1005840" cy="33832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37" name="Text 134"/>
          <p:cNvSpPr txBox="1"/>
          <p:nvPr/>
        </p:nvSpPr>
        <p:spPr>
          <a:xfrm>
            <a:off x="9784080" y="243230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1000" dirty="0"/>
          </a:p>
        </p:txBody>
      </p:sp>
      <p:sp>
        <p:nvSpPr>
          <p:cNvPr id="138" name="Shape 135"/>
          <p:cNvSpPr/>
          <p:nvPr/>
        </p:nvSpPr>
        <p:spPr>
          <a:xfrm>
            <a:off x="10744200" y="2432304"/>
            <a:ext cx="987552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10789920" y="2432304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1000" dirty="0"/>
          </a:p>
        </p:txBody>
      </p:sp>
      <p:sp>
        <p:nvSpPr>
          <p:cNvPr id="140" name="Shape 137"/>
          <p:cNvSpPr/>
          <p:nvPr/>
        </p:nvSpPr>
        <p:spPr>
          <a:xfrm>
            <a:off x="6537960" y="2770632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6537960" y="2770632"/>
            <a:ext cx="21945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6583680" y="2770632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field sales</a:t>
            </a:r>
            <a:endParaRPr lang="en-US" sz="1000" dirty="0"/>
          </a:p>
        </p:txBody>
      </p:sp>
      <p:sp>
        <p:nvSpPr>
          <p:cNvPr id="143" name="Shape 140"/>
          <p:cNvSpPr/>
          <p:nvPr/>
        </p:nvSpPr>
        <p:spPr>
          <a:xfrm>
            <a:off x="8732520" y="2770632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8778240" y="277063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1000" dirty="0"/>
          </a:p>
        </p:txBody>
      </p:sp>
      <p:sp>
        <p:nvSpPr>
          <p:cNvPr id="145" name="Shape 142"/>
          <p:cNvSpPr/>
          <p:nvPr/>
        </p:nvSpPr>
        <p:spPr>
          <a:xfrm>
            <a:off x="9738360" y="2770632"/>
            <a:ext cx="1005840" cy="33832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6" name="Text 143"/>
          <p:cNvSpPr txBox="1"/>
          <p:nvPr/>
        </p:nvSpPr>
        <p:spPr>
          <a:xfrm>
            <a:off x="9784080" y="277063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1000" dirty="0"/>
          </a:p>
        </p:txBody>
      </p:sp>
      <p:sp>
        <p:nvSpPr>
          <p:cNvPr id="147" name="Shape 144"/>
          <p:cNvSpPr/>
          <p:nvPr/>
        </p:nvSpPr>
        <p:spPr>
          <a:xfrm>
            <a:off x="10744200" y="2770632"/>
            <a:ext cx="98755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10789920" y="2770632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9.2x</a:t>
            </a:r>
            <a:endParaRPr lang="en-US" sz="1000" dirty="0"/>
          </a:p>
        </p:txBody>
      </p:sp>
      <p:sp>
        <p:nvSpPr>
          <p:cNvPr id="149" name="Shape 146"/>
          <p:cNvSpPr/>
          <p:nvPr/>
        </p:nvSpPr>
        <p:spPr>
          <a:xfrm>
            <a:off x="6537960" y="3108960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6537960" y="3108960"/>
            <a:ext cx="219456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6583680" y="3108960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channel partner</a:t>
            </a:r>
            <a:endParaRPr lang="en-US" sz="1000" dirty="0"/>
          </a:p>
        </p:txBody>
      </p:sp>
      <p:sp>
        <p:nvSpPr>
          <p:cNvPr id="152" name="Shape 149"/>
          <p:cNvSpPr/>
          <p:nvPr/>
        </p:nvSpPr>
        <p:spPr>
          <a:xfrm>
            <a:off x="8732520" y="3108960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8778240" y="31089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3.4x</a:t>
            </a:r>
            <a:endParaRPr lang="en-US" sz="1000" dirty="0"/>
          </a:p>
        </p:txBody>
      </p:sp>
      <p:sp>
        <p:nvSpPr>
          <p:cNvPr id="154" name="Shape 151"/>
          <p:cNvSpPr/>
          <p:nvPr/>
        </p:nvSpPr>
        <p:spPr>
          <a:xfrm>
            <a:off x="9738360" y="3108960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9784080" y="31089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4.9x</a:t>
            </a:r>
            <a:endParaRPr lang="en-US" sz="1000" dirty="0"/>
          </a:p>
        </p:txBody>
      </p:sp>
      <p:sp>
        <p:nvSpPr>
          <p:cNvPr id="156" name="Shape 153"/>
          <p:cNvSpPr/>
          <p:nvPr/>
        </p:nvSpPr>
        <p:spPr>
          <a:xfrm>
            <a:off x="10744200" y="3108960"/>
            <a:ext cx="987552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10789920" y="3108960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6.1x</a:t>
            </a:r>
            <a:endParaRPr lang="en-US" sz="1000" dirty="0"/>
          </a:p>
        </p:txBody>
      </p:sp>
      <p:sp>
        <p:nvSpPr>
          <p:cNvPr id="158" name="Shape 155"/>
          <p:cNvSpPr/>
          <p:nvPr/>
        </p:nvSpPr>
        <p:spPr>
          <a:xfrm>
            <a:off x="6537960" y="3447288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6537960" y="3447288"/>
            <a:ext cx="21945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0" name="Text 157"/>
          <p:cNvSpPr txBox="1"/>
          <p:nvPr/>
        </p:nvSpPr>
        <p:spPr>
          <a:xfrm>
            <a:off x="6583680" y="344728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Payback, months</a:t>
            </a:r>
            <a:endParaRPr lang="en-US" sz="1000" dirty="0"/>
          </a:p>
        </p:txBody>
      </p:sp>
      <p:sp>
        <p:nvSpPr>
          <p:cNvPr id="161" name="Shape 158"/>
          <p:cNvSpPr/>
          <p:nvPr/>
        </p:nvSpPr>
        <p:spPr>
          <a:xfrm>
            <a:off x="8732520" y="3447288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2" name="Text 159"/>
          <p:cNvSpPr txBox="1"/>
          <p:nvPr/>
        </p:nvSpPr>
        <p:spPr>
          <a:xfrm>
            <a:off x="8778240" y="34472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63" name="Shape 160"/>
          <p:cNvSpPr/>
          <p:nvPr/>
        </p:nvSpPr>
        <p:spPr>
          <a:xfrm>
            <a:off x="9738360" y="3447288"/>
            <a:ext cx="1005840" cy="33832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64" name="Text 161"/>
          <p:cNvSpPr txBox="1"/>
          <p:nvPr/>
        </p:nvSpPr>
        <p:spPr>
          <a:xfrm>
            <a:off x="9784080" y="34472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65" name="Shape 162"/>
          <p:cNvSpPr/>
          <p:nvPr/>
        </p:nvSpPr>
        <p:spPr>
          <a:xfrm>
            <a:off x="10744200" y="3447288"/>
            <a:ext cx="98755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10789920" y="3447288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7" name="Shape 164"/>
          <p:cNvSpPr/>
          <p:nvPr/>
        </p:nvSpPr>
        <p:spPr>
          <a:xfrm>
            <a:off x="6537960" y="3785616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6537960" y="3977640"/>
            <a:ext cx="5239512" cy="21945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69" name="Text 166"/>
          <p:cNvSpPr txBox="1"/>
          <p:nvPr/>
        </p:nvSpPr>
        <p:spPr>
          <a:xfrm>
            <a:off x="6675120" y="40416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GO-TO-MARKET</a:t>
            </a:r>
            <a:endParaRPr lang="en-US" sz="1050" dirty="0"/>
          </a:p>
        </p:txBody>
      </p:sp>
      <p:sp>
        <p:nvSpPr>
          <p:cNvPr id="170" name="Text 167"/>
          <p:cNvSpPr txBox="1"/>
          <p:nvPr/>
        </p:nvSpPr>
        <p:spPr>
          <a:xfrm>
            <a:off x="6675120" y="4370832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and large institutes: field sales pays.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institutes: channel partners, not reps.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field rep at 8 % of the market.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₹45 L, break even in month 16.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case needs ₹1 Cr: we stop if pilots fail.</a:t>
            </a:r>
            <a:endParaRPr lang="en-US" sz="1050" dirty="0"/>
          </a:p>
        </p:txBody>
      </p:sp>
      <p:sp>
        <p:nvSpPr>
          <p:cNvPr id="171" name="Text 168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financial model v1.1 (Projection, Scenarios; Bear, Base, Bull). Model output from sourced and assumed inputs; willingness to pay is untested. 1 Cr = 100 lakh (L).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3: DATA MODEL AND QUESTION TAGGING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tables in five groups, all isolated per institute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70332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88720"/>
            <a:ext cx="3483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69664" y="1188720"/>
            <a:ext cx="0" cy="19202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548640" y="1645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institutes, users, students, guardians, batches, batch_changes, consents, legal_settings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233672" y="1188720"/>
            <a:ext cx="370332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343400" y="1188720"/>
            <a:ext cx="3483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991856" y="1188720"/>
            <a:ext cx="0" cy="19202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4370832" y="1645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topic_prereqs, questions, question_topics, item_params, tests, test_questions, answer_keys, marking_schemes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055864" y="1188720"/>
            <a:ext cx="370332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165592" y="1188720"/>
            <a:ext cx="3483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193024" y="1645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responses, test_totals, attendance, fees, engagement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48056" y="3264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48056" y="3557016"/>
            <a:ext cx="361188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36" name="Shape 33"/>
          <p:cNvSpPr/>
          <p:nvPr/>
        </p:nvSpPr>
        <p:spPr>
          <a:xfrm>
            <a:off x="448056" y="354787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7" name="Shape 34"/>
          <p:cNvSpPr/>
          <p:nvPr/>
        </p:nvSpPr>
        <p:spPr>
          <a:xfrm>
            <a:off x="4169664" y="3291840"/>
            <a:ext cx="0" cy="18745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38" name="Text 35"/>
          <p:cNvSpPr txBox="1"/>
          <p:nvPr/>
        </p:nvSpPr>
        <p:spPr>
          <a:xfrm>
            <a:off x="548640" y="3703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mastery_snapshots, risk_scores, predictions, interventions, reports, model_registry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4270248" y="3264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4270248" y="3557016"/>
            <a:ext cx="361188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1" name="Shape 38"/>
          <p:cNvSpPr/>
          <p:nvPr/>
        </p:nvSpPr>
        <p:spPr>
          <a:xfrm>
            <a:off x="4270248" y="354787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2" name="Shape 39"/>
          <p:cNvSpPr/>
          <p:nvPr/>
        </p:nvSpPr>
        <p:spPr>
          <a:xfrm>
            <a:off x="7991856" y="3291840"/>
            <a:ext cx="0" cy="18745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43" name="Text 40"/>
          <p:cNvSpPr txBox="1"/>
          <p:nvPr/>
        </p:nvSpPr>
        <p:spPr>
          <a:xfrm>
            <a:off x="4370832" y="3703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ingest_jobs, omr_templates, audit_log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8092440" y="34930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STORED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8092440" y="3785616"/>
            <a:ext cx="361188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6" name="Shape 43"/>
          <p:cNvSpPr/>
          <p:nvPr/>
        </p:nvSpPr>
        <p:spPr>
          <a:xfrm>
            <a:off x="8092440" y="377647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8238744" y="3840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notes or mental-health information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document images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photographs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public rank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411480" y="50749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QUESTION GETS ITS TOPIC (SO TAGGING COSTS FALL AS WE GROW)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11480" y="5330952"/>
            <a:ext cx="1559015" cy="457200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39496" y="5330952"/>
            <a:ext cx="1266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text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850526" y="5330952"/>
            <a:ext cx="1559015" cy="457200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033406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4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3289572" y="5330952"/>
            <a:ext cx="1559015" cy="45720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472452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picks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4728618" y="5330952"/>
            <a:ext cx="1559015" cy="457200"/>
          </a:xfrm>
          <a:prstGeom prst="chevron">
            <a:avLst/>
          </a:prstGeom>
          <a:solidFill>
            <a:srgbClr val="5B8D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911498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1-tap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167665" y="5330952"/>
            <a:ext cx="1559015" cy="45720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350545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bank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411480" y="5852160"/>
            <a:ext cx="11368735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548640" y="585216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on every tenant table; another institute sees 0 rows (tested on PostgreSQL 16)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technical/contracts/schema.sql. Synthetic data: 4 institutes, 3 academic years, known ground truth.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4: LEGAL BASIS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we design against, and what we do about each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1136873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1234440"/>
            <a:ext cx="3017520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48640" y="1234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520440" y="1234440"/>
            <a:ext cx="8138160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566160" y="1234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2920" y="1545336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48640" y="15453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s.9(1), Rule 10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520440" y="1545336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566160" y="154533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parental consent before processing a minor's data: ID checked at the admission desk, consent recorded per purpose.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02920" y="2112264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2920" y="2112264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48640" y="21122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s.9(3)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520440" y="2112264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566160" y="211226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or behavioural monitoring of children: under 18, academic support uses a model; dropout and fee signals use plain rules.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02920" y="2679192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02920" y="2679192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48640" y="26791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Schedule, educational institutions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520440" y="2679192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3566160" y="26791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and purpose-limited, so we do not rely on it for consent.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02920" y="3246120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2920" y="3246120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48640" y="32461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Rules, Rules 6 and 7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3520440" y="3246120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3566160" y="32461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access control, logs kept one year, breach notice to the institute within hours.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02920" y="3813048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02920" y="3813048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48640" y="38130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2024, cl. 10.2(xi)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3520440" y="3813048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3566160" y="3813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stay private; early warning leads to counselling, never public ranks.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02920" y="4379976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02920" y="4379976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548640" y="43799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2024, cl. 12(vii)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3520440" y="4379976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3566160" y="43799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 moves based on performance; remedial help is an extra session.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502920" y="4946904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02920" y="4946904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48640" y="494690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2024, cl. 8(iv), 10.1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3520440" y="4946904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3566160" y="49469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Pro-rata refund within 10 days; no test the day after the weekly off.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502920" y="5513832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02920" y="5513832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548640" y="55138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Act 2025, s.6(2)(d)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3520440" y="5513832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566160" y="55138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plans support four or more equal instalments.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502920" y="6080760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DPDP Act 2023, DPDP Rules 2025, MoE Guidelines 2024, Rajasthan Coaching Centres Act 2025 (technical/docs/TECH_PLAN.md, section 24). Not legal advice.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5: MODEL CARD AND GO-LIVE GATES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know each model works before an institute relies on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1556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SPLIT AND COMPARE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63040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76072" y="14630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student and by year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76072" y="16824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 only data before the as-of date; never split by row.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11480" y="2066544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76072" y="20665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at equal workload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76072" y="22860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sits beside the institute's own rule at the same weekly list size.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11480" y="2670048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76072" y="26700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576072" y="28895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intervals over students; three generator seeds; event counts shown.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11480" y="3273552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76072" y="32735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76072" y="34930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Misspecified generators, a held-out institute, an independent attack on the report checker.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11480" y="3877056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76072" y="3877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misses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576072" y="40965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gate is reported with its cause; gates are never moved to pass.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55371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11480" y="4553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740664" y="455371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LIMITATIONS, STATED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411480" y="486460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proves the pipeline, not real-world accuracy.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is a UK online university; ASSISTments is US school maths.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percentile mapping is an editable assumption table until real mock-vs-exam pairs exist.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343400" y="1115568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34340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4672584" y="1115568"/>
            <a:ext cx="71076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AND GATES (FROM contracts/metrics_bars.yaml)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343400" y="1444752"/>
            <a:ext cx="1417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4389120" y="14447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760720" y="1444752"/>
            <a:ext cx="32918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580644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9052560" y="1444752"/>
            <a:ext cx="105156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9098280" y="1444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10104120" y="1444752"/>
            <a:ext cx="1676095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10149840" y="1444752"/>
            <a:ext cx="1584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4343400" y="1719072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389120" y="17190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(IRT)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5760720" y="1719072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806440" y="1719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r(b̂, b) at 60 answers per item; at 30 answers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9052560" y="1719072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9098280" y="171907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0.90; ≥ 0.85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10104120" y="1719072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10149840" y="171907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4343400" y="2103120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343400" y="2103120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4389120" y="21031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Wrong-key detector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5760720" y="2103120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5806440" y="2103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planted wrong keys; false flags per 300 items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9052560" y="2103120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9098280" y="21031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0.80; ≤ 2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10104120" y="2103120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10149840" y="2103120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4343400" y="2487168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4343400" y="2487168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4389120" y="24871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mastery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5760720" y="2487168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5806440" y="2487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recovery r; next-test AUC vs raw % and BKT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9052560" y="2487168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9098280" y="24871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0.80; better</a:t>
            </a:r>
            <a:endParaRPr lang="en-US" sz="950" dirty="0"/>
          </a:p>
        </p:txBody>
      </p:sp>
      <p:sp>
        <p:nvSpPr>
          <p:cNvPr id="80" name="Shape 77"/>
          <p:cNvSpPr/>
          <p:nvPr/>
        </p:nvSpPr>
        <p:spPr>
          <a:xfrm>
            <a:off x="10104120" y="2487168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10149840" y="2487168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4343400" y="2871216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4343400" y="2871216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4389120" y="28712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tracing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5760720" y="2871216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5806440" y="28712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Next-answer AUC, ASSISTments 2009 (public)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9052560" y="2871216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9098280" y="28712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10104120" y="2871216"/>
            <a:ext cx="1676095" cy="38404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10149840" y="2871216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4343400" y="3255264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4343400" y="3255264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4389120" y="32552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5760720" y="3255264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5806440" y="32552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 vs institute rule; precision at capacity vs rule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9052560" y="3255264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9098280" y="325526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+30 %; +25 %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10104120" y="3255264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10149840" y="3255264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4343400" y="3639312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343400" y="3639312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4389120" y="36393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50" dirty="0"/>
          </a:p>
        </p:txBody>
      </p:sp>
      <p:sp>
        <p:nvSpPr>
          <p:cNvPr id="103" name="Shape 100"/>
          <p:cNvSpPr/>
          <p:nvPr/>
        </p:nvSpPr>
        <p:spPr>
          <a:xfrm>
            <a:off x="5760720" y="3639312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5806440" y="3639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 (public: OULAD day 28)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9052560" y="3639312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9098280" y="363931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0.05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10104120" y="3639312"/>
            <a:ext cx="1676095" cy="38404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10149840" y="363931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4343400" y="4023360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343400" y="4023360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4389120" y="40233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50" dirty="0"/>
          </a:p>
        </p:txBody>
      </p:sp>
      <p:sp>
        <p:nvSpPr>
          <p:cNvPr id="112" name="Shape 109"/>
          <p:cNvSpPr/>
          <p:nvPr/>
        </p:nvSpPr>
        <p:spPr>
          <a:xfrm>
            <a:off x="5760720" y="4023360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5806440" y="4023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lead time before a student leaves</a:t>
            </a:r>
            <a:endParaRPr lang="en-US" sz="950" dirty="0"/>
          </a:p>
        </p:txBody>
      </p:sp>
      <p:sp>
        <p:nvSpPr>
          <p:cNvPr id="114" name="Shape 111"/>
          <p:cNvSpPr/>
          <p:nvPr/>
        </p:nvSpPr>
        <p:spPr>
          <a:xfrm>
            <a:off x="9052560" y="4023360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9098280" y="40233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21 days</a:t>
            </a:r>
            <a:endParaRPr lang="en-US" sz="950" dirty="0"/>
          </a:p>
        </p:txBody>
      </p:sp>
      <p:sp>
        <p:nvSpPr>
          <p:cNvPr id="116" name="Shape 113"/>
          <p:cNvSpPr/>
          <p:nvPr/>
        </p:nvSpPr>
        <p:spPr>
          <a:xfrm>
            <a:off x="10104120" y="4023360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10149840" y="4023360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4343400" y="4407408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343400" y="4407408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4389120" y="44074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Withdrawal, public</a:t>
            </a:r>
            <a:endParaRPr lang="en-US" sz="950" dirty="0"/>
          </a:p>
        </p:txBody>
      </p:sp>
      <p:sp>
        <p:nvSpPr>
          <p:cNvPr id="121" name="Shape 118"/>
          <p:cNvSpPr/>
          <p:nvPr/>
        </p:nvSpPr>
        <p:spPr>
          <a:xfrm>
            <a:off x="5760720" y="4407408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5806440" y="44074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day-28 AUC, student-grouped 5-fold</a:t>
            </a:r>
            <a:endParaRPr lang="en-US" sz="950" dirty="0"/>
          </a:p>
        </p:txBody>
      </p:sp>
      <p:sp>
        <p:nvSpPr>
          <p:cNvPr id="123" name="Shape 120"/>
          <p:cNvSpPr/>
          <p:nvPr/>
        </p:nvSpPr>
        <p:spPr>
          <a:xfrm>
            <a:off x="9052560" y="4407408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9098280" y="44074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125" name="Shape 122"/>
          <p:cNvSpPr/>
          <p:nvPr/>
        </p:nvSpPr>
        <p:spPr>
          <a:xfrm>
            <a:off x="10104120" y="4407408"/>
            <a:ext cx="1676095" cy="38404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10149840" y="4407408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</a:t>
            </a:r>
            <a:endParaRPr lang="en-US" sz="950" dirty="0"/>
          </a:p>
        </p:txBody>
      </p:sp>
      <p:sp>
        <p:nvSpPr>
          <p:cNvPr id="127" name="Shape 124"/>
          <p:cNvSpPr/>
          <p:nvPr/>
        </p:nvSpPr>
        <p:spPr>
          <a:xfrm>
            <a:off x="4343400" y="4791456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343400" y="4791456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9" name="Text 126"/>
          <p:cNvSpPr txBox="1"/>
          <p:nvPr/>
        </p:nvSpPr>
        <p:spPr>
          <a:xfrm>
            <a:off x="4389120" y="4791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950" dirty="0"/>
          </a:p>
        </p:txBody>
      </p:sp>
      <p:sp>
        <p:nvSpPr>
          <p:cNvPr id="130" name="Shape 127"/>
          <p:cNvSpPr/>
          <p:nvPr/>
        </p:nvSpPr>
        <p:spPr>
          <a:xfrm>
            <a:off x="5760720" y="4791456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1" name="Text 128"/>
          <p:cNvSpPr txBox="1"/>
          <p:nvPr/>
        </p:nvSpPr>
        <p:spPr>
          <a:xfrm>
            <a:off x="5806440" y="47914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recall gap across slices (gender, city tier)</a:t>
            </a:r>
            <a:endParaRPr lang="en-US" sz="950" dirty="0"/>
          </a:p>
        </p:txBody>
      </p:sp>
      <p:sp>
        <p:nvSpPr>
          <p:cNvPr id="132" name="Shape 129"/>
          <p:cNvSpPr/>
          <p:nvPr/>
        </p:nvSpPr>
        <p:spPr>
          <a:xfrm>
            <a:off x="9052560" y="4791456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9098280" y="479145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0.10</a:t>
            </a:r>
            <a:endParaRPr lang="en-US" sz="950" dirty="0"/>
          </a:p>
        </p:txBody>
      </p:sp>
      <p:sp>
        <p:nvSpPr>
          <p:cNvPr id="134" name="Shape 131"/>
          <p:cNvSpPr/>
          <p:nvPr/>
        </p:nvSpPr>
        <p:spPr>
          <a:xfrm>
            <a:off x="10104120" y="4791456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10149840" y="4791456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36" name="Shape 133"/>
          <p:cNvSpPr/>
          <p:nvPr/>
        </p:nvSpPr>
        <p:spPr>
          <a:xfrm>
            <a:off x="4343400" y="5175504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343400" y="5175504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35"/>
          <p:cNvSpPr txBox="1"/>
          <p:nvPr/>
        </p:nvSpPr>
        <p:spPr>
          <a:xfrm>
            <a:off x="4389120" y="517550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</a:t>
            </a:r>
            <a:endParaRPr lang="en-US" sz="950" dirty="0"/>
          </a:p>
        </p:txBody>
      </p:sp>
      <p:sp>
        <p:nvSpPr>
          <p:cNvPr id="139" name="Shape 136"/>
          <p:cNvSpPr/>
          <p:nvPr/>
        </p:nvSpPr>
        <p:spPr>
          <a:xfrm>
            <a:off x="5760720" y="5175504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37"/>
          <p:cNvSpPr txBox="1"/>
          <p:nvPr/>
        </p:nvSpPr>
        <p:spPr>
          <a:xfrm>
            <a:off x="5806440" y="51755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the 80 % band</a:t>
            </a:r>
            <a:endParaRPr lang="en-US" sz="950" dirty="0"/>
          </a:p>
        </p:txBody>
      </p:sp>
      <p:sp>
        <p:nvSpPr>
          <p:cNvPr id="141" name="Shape 138"/>
          <p:cNvSpPr/>
          <p:nvPr/>
        </p:nvSpPr>
        <p:spPr>
          <a:xfrm>
            <a:off x="9052560" y="5175504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9098280" y="51755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to 83 %</a:t>
            </a:r>
            <a:endParaRPr lang="en-US" sz="950" dirty="0"/>
          </a:p>
        </p:txBody>
      </p:sp>
      <p:sp>
        <p:nvSpPr>
          <p:cNvPr id="143" name="Shape 140"/>
          <p:cNvSpPr/>
          <p:nvPr/>
        </p:nvSpPr>
        <p:spPr>
          <a:xfrm>
            <a:off x="10104120" y="5175504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10149840" y="5175504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45" name="Shape 142"/>
          <p:cNvSpPr/>
          <p:nvPr/>
        </p:nvSpPr>
        <p:spPr>
          <a:xfrm>
            <a:off x="4343400" y="5559552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4343400" y="5559552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7" name="Text 144"/>
          <p:cNvSpPr txBox="1"/>
          <p:nvPr/>
        </p:nvSpPr>
        <p:spPr>
          <a:xfrm>
            <a:off x="4389120" y="55595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reports</a:t>
            </a:r>
            <a:endParaRPr lang="en-US" sz="950" dirty="0"/>
          </a:p>
        </p:txBody>
      </p:sp>
      <p:sp>
        <p:nvSpPr>
          <p:cNvPr id="148" name="Shape 145"/>
          <p:cNvSpPr/>
          <p:nvPr/>
        </p:nvSpPr>
        <p:spPr>
          <a:xfrm>
            <a:off x="5760720" y="5559552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9" name="Text 146"/>
          <p:cNvSpPr txBox="1"/>
          <p:nvPr/>
        </p:nvSpPr>
        <p:spPr>
          <a:xfrm>
            <a:off x="5806440" y="55595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matching the facts; independent attack passes</a:t>
            </a:r>
            <a:endParaRPr lang="en-US" sz="950" dirty="0"/>
          </a:p>
        </p:txBody>
      </p:sp>
      <p:sp>
        <p:nvSpPr>
          <p:cNvPr id="150" name="Shape 147"/>
          <p:cNvSpPr/>
          <p:nvPr/>
        </p:nvSpPr>
        <p:spPr>
          <a:xfrm>
            <a:off x="9052560" y="5559552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9098280" y="55595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950" dirty="0"/>
          </a:p>
        </p:txBody>
      </p:sp>
      <p:sp>
        <p:nvSpPr>
          <p:cNvPr id="152" name="Shape 149"/>
          <p:cNvSpPr/>
          <p:nvPr/>
        </p:nvSpPr>
        <p:spPr>
          <a:xfrm>
            <a:off x="10104120" y="5559552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10149840" y="555955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54" name="Shape 151"/>
          <p:cNvSpPr/>
          <p:nvPr/>
        </p:nvSpPr>
        <p:spPr>
          <a:xfrm>
            <a:off x="4343400" y="5943600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5" name="Text 152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technical/contracts/metrics_bars.yaml, technical/docs/agent_prompts/R1_00_COMMON.md, ml/public_validation. Pending gates are filled from metrics.json by technical/scripts/deck_numbers.py.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6: CASE QUESTIONS, ANSWERED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case's twelve questions are answered, and how strong the evidence 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4114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7200" y="11887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22960" y="1188720"/>
            <a:ext cx="29260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68680" y="11887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(70 %)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749040" y="1188720"/>
            <a:ext cx="160020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794760" y="1188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349240" y="1188720"/>
            <a:ext cx="77724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394960" y="11887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11480" y="1481328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57200" y="148132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22960" y="1481328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68680" y="14813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capture, offline, low effort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749040" y="1481328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794760" y="148132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5, 6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349240" y="1481328"/>
            <a:ext cx="777240" cy="4754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394960" y="148132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11480" y="195681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1956816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457200" y="195681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22960" y="1956816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68680" y="19568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model; tagging questions to topics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749040" y="1956816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3794760" y="195681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3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5349240" y="1956816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5394960" y="195681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11480" y="2432304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11480" y="2432304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457200" y="243230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822960" y="2432304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868680" y="243230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and question difficulty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749040" y="2432304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3794760" y="243230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5349240" y="2432304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5394960" y="243230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11480" y="2907792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11480" y="2907792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457200" y="2907792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822960" y="2907792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868680" y="29077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warning: dropout, behind, fees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3749040" y="2907792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3794760" y="290779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5349240" y="2907792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5394960" y="290779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411480" y="3383280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11480" y="3383280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457200" y="33832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822960" y="3383280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868680" y="33832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range, honest uncertainty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3749040" y="3383280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794760" y="33832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5349240" y="3383280"/>
            <a:ext cx="777240" cy="4754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5394960" y="338328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411480" y="3858768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11480" y="3858768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457200" y="385876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822960" y="3858768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868680" y="38587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GenAI: reports, plans, doubts</a:t>
            </a:r>
            <a:endParaRPr lang="en-US" sz="950" dirty="0"/>
          </a:p>
        </p:txBody>
      </p:sp>
      <p:sp>
        <p:nvSpPr>
          <p:cNvPr id="80" name="Shape 77"/>
          <p:cNvSpPr/>
          <p:nvPr/>
        </p:nvSpPr>
        <p:spPr>
          <a:xfrm>
            <a:off x="3749040" y="3858768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3794760" y="38587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5349240" y="3858768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5394960" y="385876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84" name="Shape 81"/>
          <p:cNvSpPr/>
          <p:nvPr/>
        </p:nvSpPr>
        <p:spPr>
          <a:xfrm>
            <a:off x="411480" y="433425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411480" y="4334256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457200" y="433425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822960" y="4334256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868680" y="43342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secure, low-cost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3749040" y="4334256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3794760" y="433425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5, 11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5349240" y="4334256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5394960" y="433425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93" name="Shape 90"/>
          <p:cNvSpPr/>
          <p:nvPr/>
        </p:nvSpPr>
        <p:spPr>
          <a:xfrm>
            <a:off x="411480" y="4809744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11480" y="4809744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457200" y="480974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822960" y="4809744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868680" y="48097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safety for minors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3749040" y="4809744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3794760" y="480974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10, App. 4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5349240" y="4809744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5394960" y="480974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102" name="Shape 99"/>
          <p:cNvSpPr/>
          <p:nvPr/>
        </p:nvSpPr>
        <p:spPr>
          <a:xfrm>
            <a:off x="411480" y="5285232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6355080" y="1188720"/>
            <a:ext cx="4114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6400800" y="11887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6766560" y="1188720"/>
            <a:ext cx="274320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6812280" y="1188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(30 %) and deliverables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9509760" y="1188720"/>
            <a:ext cx="169164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9555480" y="1188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11201400" y="1188720"/>
            <a:ext cx="8686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11247120" y="1188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11" name="Shape 108"/>
          <p:cNvSpPr/>
          <p:nvPr/>
        </p:nvSpPr>
        <p:spPr>
          <a:xfrm>
            <a:off x="6355080" y="1481328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6400800" y="148132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950" dirty="0"/>
          </a:p>
        </p:txBody>
      </p:sp>
      <p:sp>
        <p:nvSpPr>
          <p:cNvPr id="113" name="Shape 110"/>
          <p:cNvSpPr/>
          <p:nvPr/>
        </p:nvSpPr>
        <p:spPr>
          <a:xfrm>
            <a:off x="6766560" y="1481328"/>
            <a:ext cx="2743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4" name="Text 111"/>
          <p:cNvSpPr txBox="1"/>
          <p:nvPr/>
        </p:nvSpPr>
        <p:spPr>
          <a:xfrm>
            <a:off x="6812280" y="14813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and measurable return</a:t>
            </a:r>
            <a:endParaRPr lang="en-US" sz="950" dirty="0"/>
          </a:p>
        </p:txBody>
      </p:sp>
      <p:sp>
        <p:nvSpPr>
          <p:cNvPr id="115" name="Shape 112"/>
          <p:cNvSpPr/>
          <p:nvPr/>
        </p:nvSpPr>
        <p:spPr>
          <a:xfrm>
            <a:off x="9509760" y="1481328"/>
            <a:ext cx="169164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6" name="Text 113"/>
          <p:cNvSpPr txBox="1"/>
          <p:nvPr/>
        </p:nvSpPr>
        <p:spPr>
          <a:xfrm>
            <a:off x="9555480" y="14813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11, App. 1</a:t>
            </a:r>
            <a:endParaRPr lang="en-US" sz="950" dirty="0"/>
          </a:p>
        </p:txBody>
      </p:sp>
      <p:sp>
        <p:nvSpPr>
          <p:cNvPr id="117" name="Shape 114"/>
          <p:cNvSpPr/>
          <p:nvPr/>
        </p:nvSpPr>
        <p:spPr>
          <a:xfrm>
            <a:off x="11201400" y="1481328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18" name="Text 115"/>
          <p:cNvSpPr txBox="1"/>
          <p:nvPr/>
        </p:nvSpPr>
        <p:spPr>
          <a:xfrm>
            <a:off x="11247120" y="148132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19" name="Shape 116"/>
          <p:cNvSpPr/>
          <p:nvPr/>
        </p:nvSpPr>
        <p:spPr>
          <a:xfrm>
            <a:off x="6355080" y="195681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6355080" y="1956816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6400800" y="195681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950" dirty="0"/>
          </a:p>
        </p:txBody>
      </p:sp>
      <p:sp>
        <p:nvSpPr>
          <p:cNvPr id="122" name="Shape 119"/>
          <p:cNvSpPr/>
          <p:nvPr/>
        </p:nvSpPr>
        <p:spPr>
          <a:xfrm>
            <a:off x="6766560" y="1956816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3" name="Text 120"/>
          <p:cNvSpPr txBox="1"/>
          <p:nvPr/>
        </p:nvSpPr>
        <p:spPr>
          <a:xfrm>
            <a:off x="6812280" y="19568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CAC, payback, churn, LTV</a:t>
            </a:r>
            <a:endParaRPr lang="en-US" sz="950" dirty="0"/>
          </a:p>
        </p:txBody>
      </p:sp>
      <p:sp>
        <p:nvSpPr>
          <p:cNvPr id="124" name="Shape 121"/>
          <p:cNvSpPr/>
          <p:nvPr/>
        </p:nvSpPr>
        <p:spPr>
          <a:xfrm>
            <a:off x="9509760" y="1956816"/>
            <a:ext cx="1691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5" name="Text 122"/>
          <p:cNvSpPr txBox="1"/>
          <p:nvPr/>
        </p:nvSpPr>
        <p:spPr>
          <a:xfrm>
            <a:off x="9555480" y="195681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11, App. 1–2</a:t>
            </a:r>
            <a:endParaRPr lang="en-US" sz="950" dirty="0"/>
          </a:p>
        </p:txBody>
      </p:sp>
      <p:sp>
        <p:nvSpPr>
          <p:cNvPr id="126" name="Shape 123"/>
          <p:cNvSpPr/>
          <p:nvPr/>
        </p:nvSpPr>
        <p:spPr>
          <a:xfrm>
            <a:off x="11201400" y="1956816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27" name="Text 124"/>
          <p:cNvSpPr txBox="1"/>
          <p:nvPr/>
        </p:nvSpPr>
        <p:spPr>
          <a:xfrm>
            <a:off x="11247120" y="195681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28" name="Shape 125"/>
          <p:cNvSpPr/>
          <p:nvPr/>
        </p:nvSpPr>
        <p:spPr>
          <a:xfrm>
            <a:off x="6355080" y="2432304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6355080" y="2432304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6400800" y="243230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6766560" y="2432304"/>
            <a:ext cx="2743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2" name="Text 129"/>
          <p:cNvSpPr txBox="1"/>
          <p:nvPr/>
        </p:nvSpPr>
        <p:spPr>
          <a:xfrm>
            <a:off x="6812280" y="243230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Cities, sizes, channels</a:t>
            </a:r>
            <a:endParaRPr lang="en-US" sz="950" dirty="0"/>
          </a:p>
        </p:txBody>
      </p:sp>
      <p:sp>
        <p:nvSpPr>
          <p:cNvPr id="133" name="Shape 130"/>
          <p:cNvSpPr/>
          <p:nvPr/>
        </p:nvSpPr>
        <p:spPr>
          <a:xfrm>
            <a:off x="9509760" y="2432304"/>
            <a:ext cx="169164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4" name="Text 131"/>
          <p:cNvSpPr txBox="1"/>
          <p:nvPr/>
        </p:nvSpPr>
        <p:spPr>
          <a:xfrm>
            <a:off x="9555480" y="243230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50" dirty="0"/>
          </a:p>
        </p:txBody>
      </p:sp>
      <p:sp>
        <p:nvSpPr>
          <p:cNvPr id="135" name="Shape 132"/>
          <p:cNvSpPr/>
          <p:nvPr/>
        </p:nvSpPr>
        <p:spPr>
          <a:xfrm>
            <a:off x="11201400" y="2432304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36" name="Text 133"/>
          <p:cNvSpPr txBox="1"/>
          <p:nvPr/>
        </p:nvSpPr>
        <p:spPr>
          <a:xfrm>
            <a:off x="11247120" y="243230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37" name="Shape 134"/>
          <p:cNvSpPr/>
          <p:nvPr/>
        </p:nvSpPr>
        <p:spPr>
          <a:xfrm>
            <a:off x="6355080" y="2907792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6355080" y="2907792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6400800" y="2907792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950" dirty="0"/>
          </a:p>
        </p:txBody>
      </p:sp>
      <p:sp>
        <p:nvSpPr>
          <p:cNvPr id="140" name="Shape 137"/>
          <p:cNvSpPr/>
          <p:nvPr/>
        </p:nvSpPr>
        <p:spPr>
          <a:xfrm>
            <a:off x="6766560" y="2907792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1" name="Text 138"/>
          <p:cNvSpPr txBox="1"/>
          <p:nvPr/>
        </p:nvSpPr>
        <p:spPr>
          <a:xfrm>
            <a:off x="6812280" y="290779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and a growing moat</a:t>
            </a:r>
            <a:endParaRPr lang="en-US" sz="950" dirty="0"/>
          </a:p>
        </p:txBody>
      </p:sp>
      <p:sp>
        <p:nvSpPr>
          <p:cNvPr id="142" name="Shape 139"/>
          <p:cNvSpPr/>
          <p:nvPr/>
        </p:nvSpPr>
        <p:spPr>
          <a:xfrm>
            <a:off x="9509760" y="2907792"/>
            <a:ext cx="1691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3" name="Text 140"/>
          <p:cNvSpPr txBox="1"/>
          <p:nvPr/>
        </p:nvSpPr>
        <p:spPr>
          <a:xfrm>
            <a:off x="9555480" y="29077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50" dirty="0"/>
          </a:p>
        </p:txBody>
      </p:sp>
      <p:sp>
        <p:nvSpPr>
          <p:cNvPr id="144" name="Shape 141"/>
          <p:cNvSpPr/>
          <p:nvPr/>
        </p:nvSpPr>
        <p:spPr>
          <a:xfrm>
            <a:off x="11201400" y="2907792"/>
            <a:ext cx="868680" cy="4754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45" name="Text 142"/>
          <p:cNvSpPr txBox="1"/>
          <p:nvPr/>
        </p:nvSpPr>
        <p:spPr>
          <a:xfrm>
            <a:off x="11247120" y="290779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50" dirty="0"/>
          </a:p>
        </p:txBody>
      </p:sp>
      <p:sp>
        <p:nvSpPr>
          <p:cNvPr id="146" name="Shape 143"/>
          <p:cNvSpPr/>
          <p:nvPr/>
        </p:nvSpPr>
        <p:spPr>
          <a:xfrm>
            <a:off x="6355080" y="3383280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6355080" y="3383280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6400800" y="33832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149" name="Shape 146"/>
          <p:cNvSpPr/>
          <p:nvPr/>
        </p:nvSpPr>
        <p:spPr>
          <a:xfrm>
            <a:off x="6766560" y="3383280"/>
            <a:ext cx="2743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0" name="Text 147"/>
          <p:cNvSpPr txBox="1"/>
          <p:nvPr/>
        </p:nvSpPr>
        <p:spPr>
          <a:xfrm>
            <a:off x="6812280" y="33832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 with sensitivity</a:t>
            </a:r>
            <a:endParaRPr lang="en-US" sz="950" dirty="0"/>
          </a:p>
        </p:txBody>
      </p:sp>
      <p:sp>
        <p:nvSpPr>
          <p:cNvPr id="151" name="Shape 148"/>
          <p:cNvSpPr/>
          <p:nvPr/>
        </p:nvSpPr>
        <p:spPr>
          <a:xfrm>
            <a:off x="9509760" y="3383280"/>
            <a:ext cx="169164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2" name="Text 149"/>
          <p:cNvSpPr txBox="1"/>
          <p:nvPr/>
        </p:nvSpPr>
        <p:spPr>
          <a:xfrm>
            <a:off x="9555480" y="338328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 1–2</a:t>
            </a:r>
            <a:endParaRPr lang="en-US" sz="950" dirty="0"/>
          </a:p>
        </p:txBody>
      </p:sp>
      <p:sp>
        <p:nvSpPr>
          <p:cNvPr id="153" name="Shape 150"/>
          <p:cNvSpPr/>
          <p:nvPr/>
        </p:nvSpPr>
        <p:spPr>
          <a:xfrm>
            <a:off x="11201400" y="3383280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54" name="Text 151"/>
          <p:cNvSpPr txBox="1"/>
          <p:nvPr/>
        </p:nvSpPr>
        <p:spPr>
          <a:xfrm>
            <a:off x="11247120" y="338328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55" name="Shape 152"/>
          <p:cNvSpPr/>
          <p:nvPr/>
        </p:nvSpPr>
        <p:spPr>
          <a:xfrm>
            <a:off x="6355080" y="3858768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6355080" y="3858768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6400800" y="385876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50" dirty="0"/>
          </a:p>
        </p:txBody>
      </p:sp>
      <p:sp>
        <p:nvSpPr>
          <p:cNvPr id="158" name="Shape 155"/>
          <p:cNvSpPr/>
          <p:nvPr/>
        </p:nvSpPr>
        <p:spPr>
          <a:xfrm>
            <a:off x="6766560" y="3858768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9" name="Text 156"/>
          <p:cNvSpPr txBox="1"/>
          <p:nvPr/>
        </p:nvSpPr>
        <p:spPr>
          <a:xfrm>
            <a:off x="6812280" y="38587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what we did not prove</a:t>
            </a:r>
            <a:endParaRPr lang="en-US" sz="950" dirty="0"/>
          </a:p>
        </p:txBody>
      </p:sp>
      <p:sp>
        <p:nvSpPr>
          <p:cNvPr id="160" name="Shape 157"/>
          <p:cNvSpPr/>
          <p:nvPr/>
        </p:nvSpPr>
        <p:spPr>
          <a:xfrm>
            <a:off x="9509760" y="3858768"/>
            <a:ext cx="1691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1" name="Text 158"/>
          <p:cNvSpPr txBox="1"/>
          <p:nvPr/>
        </p:nvSpPr>
        <p:spPr>
          <a:xfrm>
            <a:off x="9555480" y="38587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13, App. 5</a:t>
            </a:r>
            <a:endParaRPr lang="en-US" sz="950" dirty="0"/>
          </a:p>
        </p:txBody>
      </p:sp>
      <p:sp>
        <p:nvSpPr>
          <p:cNvPr id="162" name="Shape 159"/>
          <p:cNvSpPr/>
          <p:nvPr/>
        </p:nvSpPr>
        <p:spPr>
          <a:xfrm>
            <a:off x="11201400" y="3858768"/>
            <a:ext cx="86868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3" name="Text 160"/>
          <p:cNvSpPr txBox="1"/>
          <p:nvPr/>
        </p:nvSpPr>
        <p:spPr>
          <a:xfrm>
            <a:off x="11247120" y="385876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64" name="Shape 161"/>
          <p:cNvSpPr/>
          <p:nvPr/>
        </p:nvSpPr>
        <p:spPr>
          <a:xfrm>
            <a:off x="6355080" y="433425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6355080" y="434340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635508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50" dirty="0"/>
          </a:p>
        </p:txBody>
      </p:sp>
      <p:sp>
        <p:nvSpPr>
          <p:cNvPr id="167" name="Text 164"/>
          <p:cNvSpPr txBox="1"/>
          <p:nvPr/>
        </p:nvSpPr>
        <p:spPr>
          <a:xfrm>
            <a:off x="6684264" y="434340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EVIDENCE COLUMN</a:t>
            </a:r>
            <a:endParaRPr lang="en-US" sz="1200" dirty="0"/>
          </a:p>
        </p:txBody>
      </p:sp>
      <p:sp>
        <p:nvSpPr>
          <p:cNvPr id="168" name="Text 165"/>
          <p:cNvSpPr txBox="1"/>
          <p:nvPr/>
        </p:nvSpPr>
        <p:spPr>
          <a:xfrm>
            <a:off x="6355080" y="46634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our own run on public data or the test suite.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working code with tests, on synthetic data.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Designed: specified in the contracts, not coded yet.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a model input with a range, tested in pilots.</a:t>
            </a:r>
            <a:endParaRPr lang="en-US" sz="1000" dirty="0"/>
          </a:p>
        </p:txBody>
      </p:sp>
      <p:sp>
        <p:nvSpPr>
          <p:cNvPr id="169" name="Shape 166"/>
          <p:cNvSpPr/>
          <p:nvPr/>
        </p:nvSpPr>
        <p:spPr>
          <a:xfrm>
            <a:off x="411480" y="5120640"/>
            <a:ext cx="5669280" cy="1143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548640" y="512064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states its limits.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an honest 4 % rather than a hopeful 25 %, and mark a gate pending rather than quote a number we have not measured. The case says teams that state limits score higher.</a:t>
            </a:r>
            <a:endParaRPr lang="en-US" sz="1050" dirty="0"/>
          </a:p>
        </p:txBody>
      </p:sp>
      <p:sp>
        <p:nvSpPr>
          <p:cNvPr id="171" name="Text 168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Participant Guide sections 4, 8 and 10 (questions and rubric). T = technology question, B = business question, R = round-1 deliverable or limit.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7: PRODUCT TOUR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screens of the same flow, from upload to parent report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374904" y="107899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24" name="Image 0" descr="Upload and map: the system fixes the m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15568"/>
            <a:ext cx="3703320" cy="205740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11480" y="328269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1148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777240" y="3236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map: the system fixes the mess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206240" y="107899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29" name="Image 1" descr="Topic map: strengths, gaps, untaught topic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1115568"/>
            <a:ext cx="3703320" cy="205740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242816" y="328269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4242816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4608576" y="3236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map: strengths, gaps, untaught topics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037576" y="107899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34" name="Image 2" descr="Weekly support list: reasons and act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115568"/>
            <a:ext cx="3703320" cy="205740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8074152" y="328269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8074152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8439912" y="3236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support list: reasons and actions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374904" y="368503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39" name="Image 3" descr="Student profile: mastery with doubt, honest ran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721608"/>
            <a:ext cx="3703320" cy="205740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411480" y="588873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411480" y="5888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777240" y="5843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profile: mastery with doubt, honest range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4206240" y="368503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44" name="Image 4" descr="Owner dashboard: retention, coverage, complian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16" y="3721608"/>
            <a:ext cx="3703320" cy="2057400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4242816" y="588873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4242816" y="5888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4608576" y="5843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dashboard: retention, coverage, compliance</a:t>
            </a:r>
            <a:endParaRPr lang="en-US" sz="1150" dirty="0"/>
          </a:p>
        </p:txBody>
      </p:sp>
      <p:sp>
        <p:nvSpPr>
          <p:cNvPr id="48" name="Shape 40"/>
          <p:cNvSpPr/>
          <p:nvPr/>
        </p:nvSpPr>
        <p:spPr>
          <a:xfrm>
            <a:off x="8174736" y="3685032"/>
            <a:ext cx="350215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49" name="Image 5" descr="Parent report in Hindi and Englis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3721608"/>
            <a:ext cx="3429000" cy="2057400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8074152" y="588873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1" name="Text 42"/>
          <p:cNvSpPr txBox="1"/>
          <p:nvPr/>
        </p:nvSpPr>
        <p:spPr>
          <a:xfrm>
            <a:off x="8074152" y="5888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2" name="Text 43"/>
          <p:cNvSpPr txBox="1"/>
          <p:nvPr/>
        </p:nvSpPr>
        <p:spPr>
          <a:xfrm>
            <a:off x="8439912" y="5843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 in Hindi and English</a:t>
            </a:r>
            <a:endParaRPr lang="en-US" sz="1150" dirty="0"/>
          </a:p>
        </p:txBody>
      </p:sp>
      <p:sp>
        <p:nvSpPr>
          <p:cNvPr id="53" name="Text 44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mock-ups rendered from HTML with synthetic values; they become real screenshots once the web app is wired to the models.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8: SOURCE REGISTER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number in the deck, where it came from, and where we used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200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7200" y="1188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31520" y="1188720"/>
            <a:ext cx="37490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772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480560" y="1188720"/>
            <a:ext cx="42062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52628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686800" y="1188720"/>
            <a:ext cx="182880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73252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0515600" y="1188720"/>
            <a:ext cx="1264615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61320" y="1188720"/>
            <a:ext cx="1173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11480" y="1463040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57200" y="146304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31520" y="1463040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7724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 NEET UG 2025 result data (via Careers360, ALLEN)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480560" y="1463040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526280" y="1463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22.76 lakh registered candidates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8686800" y="1463040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732520" y="1463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(official)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10515600" y="1463040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10561320" y="1463040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1810512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1810512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57200" y="181051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731520" y="1810512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777240" y="1810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Main 2025 statistics (Vedantu; NTA total not found)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480560" y="1810512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4526280" y="18105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15.4 lakh unique registrations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8686800" y="1810512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8732520" y="18105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(secondary)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10515600" y="1810512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10561320" y="1810512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11480" y="2157984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11480" y="2157984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457200" y="215798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731520" y="2157984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777240" y="21579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NSO Comprehensive Modular Survey: Education 2025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480560" y="2157984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4526280" y="21579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27 % of school students in private coaching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8686800" y="2157984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8732520" y="21579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(official)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10515600" y="2157984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10561320" y="2157984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411480" y="2505456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11480" y="2505456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457200" y="250545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731520" y="2505456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777240" y="25054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participant guide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4480560" y="2505456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526280" y="25054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 15 % dropout, ₹36,000 per leaver, ₹17.3 lakh, ₹40, 25 %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8686800" y="2505456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8732520" y="25054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10515600" y="2505456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10561320" y="2505456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3, 4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411480" y="2852928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11480" y="2852928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457200" y="285292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731520" y="2852928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777240" y="28529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listings: Classplus, Fedena, Edmingle, Teachmint (research R1)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4480560" y="2852928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4526280" y="28529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 to ₹40 per student per month anchors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8686800" y="2852928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8732520" y="2852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10515600" y="2852928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10561320" y="2852928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4, 12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411480" y="3200400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411480" y="3200400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457200" y="320040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90" name="Shape 87"/>
          <p:cNvSpPr/>
          <p:nvPr/>
        </p:nvSpPr>
        <p:spPr>
          <a:xfrm>
            <a:off x="731520" y="3200400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777240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trials in comparable settings (research R4)</a:t>
            </a:r>
            <a:endParaRPr lang="en-US" sz="950" dirty="0"/>
          </a:p>
        </p:txBody>
      </p:sp>
      <p:sp>
        <p:nvSpPr>
          <p:cNvPr id="92" name="Shape 89"/>
          <p:cNvSpPr/>
          <p:nvPr/>
        </p:nvSpPr>
        <p:spPr>
          <a:xfrm>
            <a:off x="4480560" y="3200400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4526280" y="3200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outreach on dropout, 5 to 30 %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8686800" y="3200400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873252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10515600" y="3200400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10561320" y="3200400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411480" y="3547872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11480" y="3547872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457200" y="354787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01" name="Shape 98"/>
          <p:cNvSpPr/>
          <p:nvPr/>
        </p:nvSpPr>
        <p:spPr>
          <a:xfrm>
            <a:off x="731520" y="3547872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777240" y="3547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(Open University, CC BY 4.0), our runs</a:t>
            </a:r>
            <a:endParaRPr lang="en-US" sz="950" dirty="0"/>
          </a:p>
        </p:txBody>
      </p:sp>
      <p:sp>
        <p:nvSpPr>
          <p:cNvPr id="103" name="Shape 100"/>
          <p:cNvSpPr/>
          <p:nvPr/>
        </p:nvSpPr>
        <p:spPr>
          <a:xfrm>
            <a:off x="4480560" y="3547872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4526280" y="35478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 AUC, 0.009 calibration, 0.46 precision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8686800" y="3547872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8732520" y="35478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10515600" y="3547872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10561320" y="3547872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1, 4, 8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411480" y="3895344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11480" y="3895344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457200" y="389534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12" name="Shape 109"/>
          <p:cNvSpPr/>
          <p:nvPr/>
        </p:nvSpPr>
        <p:spPr>
          <a:xfrm>
            <a:off x="731520" y="3895344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777240" y="38953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PLOS ONE 2026, OULAD withdrawal study</a:t>
            </a:r>
            <a:endParaRPr lang="en-US" sz="950" dirty="0"/>
          </a:p>
        </p:txBody>
      </p:sp>
      <p:sp>
        <p:nvSpPr>
          <p:cNvPr id="114" name="Shape 111"/>
          <p:cNvSpPr/>
          <p:nvPr/>
        </p:nvSpPr>
        <p:spPr>
          <a:xfrm>
            <a:off x="4480560" y="3895344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4526280" y="38953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0.727 / 0.794 / 0.804 anchors</a:t>
            </a:r>
            <a:endParaRPr lang="en-US" sz="950" dirty="0"/>
          </a:p>
        </p:txBody>
      </p:sp>
      <p:sp>
        <p:nvSpPr>
          <p:cNvPr id="116" name="Shape 113"/>
          <p:cNvSpPr/>
          <p:nvPr/>
        </p:nvSpPr>
        <p:spPr>
          <a:xfrm>
            <a:off x="8686800" y="3895344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8732520" y="3895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10515600" y="3895344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10561320" y="3895344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4, 8</a:t>
            </a:r>
            <a:endParaRPr lang="en-US" sz="950" dirty="0"/>
          </a:p>
        </p:txBody>
      </p:sp>
      <p:sp>
        <p:nvSpPr>
          <p:cNvPr id="120" name="Shape 117"/>
          <p:cNvSpPr/>
          <p:nvPr/>
        </p:nvSpPr>
        <p:spPr>
          <a:xfrm>
            <a:off x="411480" y="4242816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11480" y="4242816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457200" y="424281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123" name="Shape 120"/>
          <p:cNvSpPr/>
          <p:nvPr/>
        </p:nvSpPr>
        <p:spPr>
          <a:xfrm>
            <a:off x="731520" y="4242816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777240" y="4242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al., pyKT, NeurIPS 2022; ASSISTments 2009, our runs</a:t>
            </a:r>
            <a:endParaRPr lang="en-US" sz="950" dirty="0"/>
          </a:p>
        </p:txBody>
      </p:sp>
      <p:sp>
        <p:nvSpPr>
          <p:cNvPr id="125" name="Shape 122"/>
          <p:cNvSpPr/>
          <p:nvPr/>
        </p:nvSpPr>
        <p:spPr>
          <a:xfrm>
            <a:off x="4480560" y="4242816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4526280" y="42428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DKT 0.754, SAKT 0.725, AKT 0.785; ours 0.763</a:t>
            </a:r>
            <a:endParaRPr lang="en-US" sz="950" dirty="0"/>
          </a:p>
        </p:txBody>
      </p:sp>
      <p:sp>
        <p:nvSpPr>
          <p:cNvPr id="127" name="Shape 124"/>
          <p:cNvSpPr/>
          <p:nvPr/>
        </p:nvSpPr>
        <p:spPr>
          <a:xfrm>
            <a:off x="8686800" y="4242816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8" name="Text 125"/>
          <p:cNvSpPr txBox="1"/>
          <p:nvPr/>
        </p:nvSpPr>
        <p:spPr>
          <a:xfrm>
            <a:off x="8732520" y="42428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29" name="Shape 126"/>
          <p:cNvSpPr/>
          <p:nvPr/>
        </p:nvSpPr>
        <p:spPr>
          <a:xfrm>
            <a:off x="10515600" y="4242816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10561320" y="4242816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1, 7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411480" y="4590288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11480" y="4590288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457200" y="459028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34" name="Shape 131"/>
          <p:cNvSpPr/>
          <p:nvPr/>
        </p:nvSpPr>
        <p:spPr>
          <a:xfrm>
            <a:off x="731520" y="4590288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777240" y="4590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s.9; DPDP Rules 2025</a:t>
            </a:r>
            <a:endParaRPr lang="en-US" sz="950" dirty="0"/>
          </a:p>
        </p:txBody>
      </p:sp>
      <p:sp>
        <p:nvSpPr>
          <p:cNvPr id="136" name="Shape 133"/>
          <p:cNvSpPr/>
          <p:nvPr/>
        </p:nvSpPr>
        <p:spPr>
          <a:xfrm>
            <a:off x="4480560" y="4590288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4"/>
          <p:cNvSpPr txBox="1"/>
          <p:nvPr/>
        </p:nvSpPr>
        <p:spPr>
          <a:xfrm>
            <a:off x="4526280" y="45902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consent, no tracking of children</a:t>
            </a:r>
            <a:endParaRPr lang="en-US" sz="950" dirty="0"/>
          </a:p>
        </p:txBody>
      </p:sp>
      <p:sp>
        <p:nvSpPr>
          <p:cNvPr id="138" name="Shape 135"/>
          <p:cNvSpPr/>
          <p:nvPr/>
        </p:nvSpPr>
        <p:spPr>
          <a:xfrm>
            <a:off x="8686800" y="4590288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8732520" y="45902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(primary)</a:t>
            </a:r>
            <a:endParaRPr lang="en-US" sz="950" dirty="0"/>
          </a:p>
        </p:txBody>
      </p:sp>
      <p:sp>
        <p:nvSpPr>
          <p:cNvPr id="140" name="Shape 137"/>
          <p:cNvSpPr/>
          <p:nvPr/>
        </p:nvSpPr>
        <p:spPr>
          <a:xfrm>
            <a:off x="10515600" y="4590288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1" name="Text 138"/>
          <p:cNvSpPr txBox="1"/>
          <p:nvPr/>
        </p:nvSpPr>
        <p:spPr>
          <a:xfrm>
            <a:off x="10561320" y="4590288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4, 8, 10</a:t>
            </a:r>
            <a:endParaRPr lang="en-US" sz="950" dirty="0"/>
          </a:p>
        </p:txBody>
      </p:sp>
      <p:sp>
        <p:nvSpPr>
          <p:cNvPr id="142" name="Shape 139"/>
          <p:cNvSpPr/>
          <p:nvPr/>
        </p:nvSpPr>
        <p:spPr>
          <a:xfrm>
            <a:off x="411480" y="4937760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411480" y="4937760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457200" y="493776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145" name="Shape 142"/>
          <p:cNvSpPr/>
          <p:nvPr/>
        </p:nvSpPr>
        <p:spPr>
          <a:xfrm>
            <a:off x="731520" y="4937760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6" name="Text 143"/>
          <p:cNvSpPr txBox="1"/>
          <p:nvPr/>
        </p:nvSpPr>
        <p:spPr>
          <a:xfrm>
            <a:off x="777240" y="4937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for Coaching Centres 2024; Rajasthan Act 2025</a:t>
            </a:r>
            <a:endParaRPr lang="en-US" sz="950" dirty="0"/>
          </a:p>
        </p:txBody>
      </p:sp>
      <p:sp>
        <p:nvSpPr>
          <p:cNvPr id="147" name="Shape 144"/>
          <p:cNvSpPr/>
          <p:nvPr/>
        </p:nvSpPr>
        <p:spPr>
          <a:xfrm>
            <a:off x="4480560" y="4937760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4526280" y="4937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cl. 10.2(xi), 12(vii), 10.1, 8(iv); s.6(2)(d)</a:t>
            </a:r>
            <a:endParaRPr lang="en-US" sz="950" dirty="0"/>
          </a:p>
        </p:txBody>
      </p:sp>
      <p:sp>
        <p:nvSpPr>
          <p:cNvPr id="149" name="Shape 146"/>
          <p:cNvSpPr/>
          <p:nvPr/>
        </p:nvSpPr>
        <p:spPr>
          <a:xfrm>
            <a:off x="8686800" y="4937760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0" name="Text 147"/>
          <p:cNvSpPr txBox="1"/>
          <p:nvPr/>
        </p:nvSpPr>
        <p:spPr>
          <a:xfrm>
            <a:off x="8732520" y="4937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(primary)</a:t>
            </a:r>
            <a:endParaRPr lang="en-US" sz="950" dirty="0"/>
          </a:p>
        </p:txBody>
      </p:sp>
      <p:sp>
        <p:nvSpPr>
          <p:cNvPr id="151" name="Shape 148"/>
          <p:cNvSpPr/>
          <p:nvPr/>
        </p:nvSpPr>
        <p:spPr>
          <a:xfrm>
            <a:off x="10515600" y="4937760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2" name="Text 149"/>
          <p:cNvSpPr txBox="1"/>
          <p:nvPr/>
        </p:nvSpPr>
        <p:spPr>
          <a:xfrm>
            <a:off x="10561320" y="4937760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 A4</a:t>
            </a:r>
            <a:endParaRPr lang="en-US" sz="950" dirty="0"/>
          </a:p>
        </p:txBody>
      </p:sp>
      <p:sp>
        <p:nvSpPr>
          <p:cNvPr id="153" name="Shape 150"/>
          <p:cNvSpPr/>
          <p:nvPr/>
        </p:nvSpPr>
        <p:spPr>
          <a:xfrm>
            <a:off x="411480" y="5285232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411480" y="5285232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457200" y="528523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156" name="Shape 153"/>
          <p:cNvSpPr/>
          <p:nvPr/>
        </p:nvSpPr>
        <p:spPr>
          <a:xfrm>
            <a:off x="731520" y="5285232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777240" y="52852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and LLM price pages; Patna pay data (research R5, R6)</a:t>
            </a:r>
            <a:endParaRPr lang="en-US" sz="950" dirty="0"/>
          </a:p>
        </p:txBody>
      </p:sp>
      <p:sp>
        <p:nvSpPr>
          <p:cNvPr id="158" name="Shape 155"/>
          <p:cNvSpPr/>
          <p:nvPr/>
        </p:nvSpPr>
        <p:spPr>
          <a:xfrm>
            <a:off x="4480560" y="5285232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9" name="Text 156"/>
          <p:cNvSpPr txBox="1"/>
          <p:nvPr/>
        </p:nvSpPr>
        <p:spPr>
          <a:xfrm>
            <a:off x="4526280" y="52852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student, staff hour ₹100</a:t>
            </a:r>
            <a:endParaRPr lang="en-US" sz="950" dirty="0"/>
          </a:p>
        </p:txBody>
      </p:sp>
      <p:sp>
        <p:nvSpPr>
          <p:cNvPr id="160" name="Shape 157"/>
          <p:cNvSpPr/>
          <p:nvPr/>
        </p:nvSpPr>
        <p:spPr>
          <a:xfrm>
            <a:off x="8686800" y="5285232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1" name="Text 158"/>
          <p:cNvSpPr txBox="1"/>
          <p:nvPr/>
        </p:nvSpPr>
        <p:spPr>
          <a:xfrm>
            <a:off x="8732520" y="5285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to high</a:t>
            </a:r>
            <a:endParaRPr lang="en-US" sz="950" dirty="0"/>
          </a:p>
        </p:txBody>
      </p:sp>
      <p:sp>
        <p:nvSpPr>
          <p:cNvPr id="162" name="Shape 159"/>
          <p:cNvSpPr/>
          <p:nvPr/>
        </p:nvSpPr>
        <p:spPr>
          <a:xfrm>
            <a:off x="10515600" y="5285232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3" name="Text 160"/>
          <p:cNvSpPr txBox="1"/>
          <p:nvPr/>
        </p:nvSpPr>
        <p:spPr>
          <a:xfrm>
            <a:off x="10561320" y="5285232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5, 11</a:t>
            </a:r>
            <a:endParaRPr lang="en-US" sz="950" dirty="0"/>
          </a:p>
        </p:txBody>
      </p:sp>
      <p:sp>
        <p:nvSpPr>
          <p:cNvPr id="164" name="Shape 161"/>
          <p:cNvSpPr/>
          <p:nvPr/>
        </p:nvSpPr>
        <p:spPr>
          <a:xfrm>
            <a:off x="411480" y="5632704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411480" y="5632704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457200" y="563270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167" name="Shape 164"/>
          <p:cNvSpPr/>
          <p:nvPr/>
        </p:nvSpPr>
        <p:spPr>
          <a:xfrm>
            <a:off x="731520" y="5632704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68" name="Text 165"/>
          <p:cNvSpPr txBox="1"/>
          <p:nvPr/>
        </p:nvSpPr>
        <p:spPr>
          <a:xfrm>
            <a:off x="777240" y="56327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 v1.1 (CFO audit, 22 Oct 2026)</a:t>
            </a:r>
            <a:endParaRPr lang="en-US" sz="950" dirty="0"/>
          </a:p>
        </p:txBody>
      </p:sp>
      <p:sp>
        <p:nvSpPr>
          <p:cNvPr id="169" name="Shape 166"/>
          <p:cNvSpPr/>
          <p:nvPr/>
        </p:nvSpPr>
        <p:spPr>
          <a:xfrm>
            <a:off x="4480560" y="5632704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4526280" y="5632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LTV/CAC, payback, margin, 3-year plan, scenarios</a:t>
            </a:r>
            <a:endParaRPr lang="en-US" sz="950" dirty="0"/>
          </a:p>
        </p:txBody>
      </p:sp>
      <p:sp>
        <p:nvSpPr>
          <p:cNvPr id="171" name="Shape 168"/>
          <p:cNvSpPr/>
          <p:nvPr/>
        </p:nvSpPr>
        <p:spPr>
          <a:xfrm>
            <a:off x="8686800" y="5632704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72" name="Text 169"/>
          <p:cNvSpPr txBox="1"/>
          <p:nvPr/>
        </p:nvSpPr>
        <p:spPr>
          <a:xfrm>
            <a:off x="8732520" y="56327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950" dirty="0"/>
          </a:p>
        </p:txBody>
      </p:sp>
      <p:sp>
        <p:nvSpPr>
          <p:cNvPr id="173" name="Shape 170"/>
          <p:cNvSpPr/>
          <p:nvPr/>
        </p:nvSpPr>
        <p:spPr>
          <a:xfrm>
            <a:off x="10515600" y="5632704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74" name="Text 171"/>
          <p:cNvSpPr txBox="1"/>
          <p:nvPr/>
        </p:nvSpPr>
        <p:spPr>
          <a:xfrm>
            <a:off x="10561320" y="5632704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4, 11–13, A1–A2</a:t>
            </a:r>
            <a:endParaRPr lang="en-US" sz="950" dirty="0"/>
          </a:p>
        </p:txBody>
      </p:sp>
      <p:sp>
        <p:nvSpPr>
          <p:cNvPr id="175" name="Shape 172"/>
          <p:cNvSpPr/>
          <p:nvPr/>
        </p:nvSpPr>
        <p:spPr>
          <a:xfrm>
            <a:off x="411480" y="5980176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76" name="Text 173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 with URLs and licences: technical/docs/CITATIONS.md and financial/research. Every model number traces to the financial workbook or a metrics.json file.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1148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AI, and what we cited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554480"/>
            <a:ext cx="5547208" cy="4206240"/>
          </a:xfrm>
          <a:prstGeom prst="roundRect">
            <a:avLst>
              <a:gd name="adj" fmla="val 435"/>
            </a:avLst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737360"/>
            <a:ext cx="2560320" cy="411480"/>
          </a:xfrm>
          <a:prstGeom prst="roundRect">
            <a:avLst>
              <a:gd name="adj" fmla="val 4444"/>
            </a:avLst>
          </a:prstGeom>
          <a:solidFill>
            <a:srgbClr val="1F4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49985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planning, code review, documentation.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Antigravity agents: code generation.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and Gemini Deep Research: literature and regulation research.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was reviewed and tested by the team; research claims were checked against primary sources where possible.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33008" y="1554480"/>
            <a:ext cx="5547208" cy="4206240"/>
          </a:xfrm>
          <a:prstGeom prst="roundRect">
            <a:avLst>
              <a:gd name="adj" fmla="val 435"/>
            </a:avLst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07328" y="1737360"/>
            <a:ext cx="2560320" cy="411480"/>
          </a:xfrm>
          <a:prstGeom prst="roundRect">
            <a:avLst>
              <a:gd name="adj" fmla="val 4444"/>
            </a:avLst>
          </a:prstGeom>
          <a:solidFill>
            <a:srgbClr val="1F4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7328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and libraries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377440"/>
            <a:ext cx="49985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(CC BY 4.0), ASSISTments 2009, the pyKT benchmark, JEEBench.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 Sans Devanagari (SIL OFL), LightGBM, Ollama, FastAPI, PostgreSQL.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with licences: technical/docs/CITATIONS.md in the repository.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6126480"/>
            <a:ext cx="7205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github.com/AdityaKuranjekar/institute-intelligence-platform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AlphaQ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AlphaQ: Case B, The Data Moat (Round 1, version 4)</dc:title>
  <dc:subject>PptxGenJS Presentation</dc:subject>
  <dc:creator>AlphaQ</dc:creator>
  <cp:lastModifiedBy>AlphaQ</cp:lastModifiedBy>
  <cp:revision>1</cp:revision>
  <dcterms:created xsi:type="dcterms:W3CDTF">2026-10-22T14:51:15Z</dcterms:created>
  <dcterms:modified xsi:type="dcterms:W3CDTF">2026-10-22T14:51:15Z</dcterms:modified>
</cp:coreProperties>
</file>