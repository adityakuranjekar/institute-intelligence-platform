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9" r:id="rId30"/>
    <p:sldId id="257" r:id="rId3"/>
    <p:sldId id="258" r:id="rId4"/>
    <p:sldId id="259" r:id="rId5"/>
    <p:sldId id="280" r:id="rId31"/>
    <p:sldId id="281" r:id="rId32"/>
    <p:sldId id="262" r:id="rId8"/>
    <p:sldId id="263" r:id="rId9"/>
    <p:sldId id="282" r:id="rId33"/>
    <p:sldId id="265" r:id="rId11"/>
    <p:sldId id="266" r:id="rId12"/>
    <p:sldId id="267" r:id="rId13"/>
    <p:sldId id="283" r:id="rId3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0fe2985-c67d-5461-7b24-dd1ca75c0b29}">
          <p14:sldIdLst>
            <p14:sldId id="256"/>
          </p14:sldIdLst>
        </p14:section>
        <p14:section name="Summary" id="{a277e0df-389b-1064-b253-d004b1320ef6}">
          <p14:sldIdLst>
            <p14:sldId id="257"/>
          </p14:sldIdLst>
        </p14:section>
        <p14:section name="Problem" id="{de35b6ba-c079-9afa-e47e-668a5c199820}">
          <p14:sldIdLst>
            <p14:sldId id="258"/>
            <p14:sldId id="259"/>
          </p14:sldIdLst>
        </p14:section>
        <p14:section name="Product" id="{6b567611-87e0-c82e-6381-f19c2a51a460}">
          <p14:sldIdLst>
            <p14:sldId id="260"/>
          </p14:sldIdLst>
        </p14:section>
        <p14:section name="Technology" id="{82039fb2-ec43-3740-4f16-79c83c972f36}">
          <p14:sldIdLst>
            <p14:sldId id="261"/>
            <p14:sldId id="262"/>
            <p14:sldId id="263"/>
            <p14:sldId id="264"/>
          </p14:sldIdLst>
        </p14:section>
        <p14:section name="Trust" id="{3fe08d70-6e29-cec6-c8ef-1ce611fbbf72}">
          <p14:sldIdLst>
            <p14:sldId id="265"/>
          </p14:sldIdLst>
        </p14:section>
        <p14:section name="Business" id="{f6681160-578c-61a3-ad07-9606c77e9697}">
          <p14:sldIdLst>
            <p14:sldId id="266"/>
            <p14:sldId id="267"/>
          </p14:sldIdLst>
        </p14:section>
        <p14:section name="The Ask" id="{f36708ff-5ea0-fb36-8418-b50927118f7e}">
          <p14:sldIdLst>
            <p14:sldId id="268"/>
          </p14:sldIdLst>
        </p14:section>
        <p14:section name="Appendix" id="{1696fdaa-4b88-e89c-c3a0-04c247a2328a}">
          <p14:sldIdLst>
            <p14:sldId id="269"/>
            <p14:sldId id="270"/>
            <p14:sldId id="271"/>
            <p14:sldId id="272"/>
            <p14:sldId id="273"/>
            <p14:sldId id="274"/>
            <p14:sldId id="275"/>
            <p14:sldId id="276"/>
            <p14:sldId id="277"/>
          </p14:sldIdLst>
        </p14:section>
        <p14:section name="Closing" id="{b79b0e99-fb58-6f71-86d6-cfe02f15627f}">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8" Type="http://schemas.openxmlformats.org/officeDocument/2006/relationships/slide" Target="slides/slide7.xml"/><Relationship Id="rId9" Type="http://schemas.openxmlformats.org/officeDocument/2006/relationships/slide" Target="slides/slide8.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All criteriaDESIGN INTENT: Primacy and chunking: situation, complication, resolution, then the rubric. One block, one colour. | Executive summary in situation, complication, resolution form. Public-data figures are measured. 1.7x owner return counts fees kept, staff time and a 1 % admissions uplift; 0.55x counts only fees kept and staff time. LTV/CAC 3.6x is discounted (4.8x undiscounted). All from financial model v1.1.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Problem framingDESIGN INTENT: Loss aversion: the lost rupees are the one red number on the slide. Framing: the buyer's loss, not our features. | The 8-15 percent dropout, 36,000 rupee loss per leaver and 17.3 lakh total are the guide's illustrative baselines (400 x 12 % x 36,000). Market numbers: financial/research/R7_market_check.md.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Feasibility · business realismDESIGN INTENT: Pratfall effect and anchoring: we cut the guide's numbers ourselves, which earns belief in the numbers we keep. | This slide shows judges we tested the guide's illustrative numbers instead of copying them. Every 'what we do' value is a workbook output or a measured public-data result. Mentor capacity of eight per batch per week is the cap used in the mock-ups and the early-warning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Data science, ML and AI rigourDESIGN INTENT: Labor perception: show how the estimate is made, then show it admits doubt. Zeigarnik: pending gates are open loops to close in Round 2. | Plain-English headline with technical names as secondary labels. The three pending gates come from Agent B and must be filled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Data science, ML and AI rigour; privacyDESIGN INTENT: Framing: supportive, never punitive. Authority: the locks make the legal walls visible. | Journey on top; evidence in the middle; compliance matrix on the right (locks are data walls). Our OULAD AUC is lower than the published 0.794 because the split is strictly by student;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Feasibility, privacy and safetyDESIGN INTENT: Authority and trust: law cited by section; the lockbox is the single most important promise. | Lockbox: raw data stays in the institute's own environment; only item difficulty statistics reach a shared bank. A lawyer's check on the in-person ID flow is still recommended.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Revenue model and unit economicsDESIGN INTENT: Anchoring: the guide's 10.7x sits beside our 3.6x. We choose to look worse and be believed. | v1.1 numbers. Return 1.7x counts fees kept, staff time and a 1 % admissions uplift; 0.55x counts fees and staff time only; 0.35x fees only. LTV/CAC 3.6x discounted, 4.8x undiscounted; payback 5.7 months simple. Cost stack from COGS at Base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Market and go-to-market; moatDESIGN INTENT: Goal-gradient and chunking: Now, Next, Later makes the path feel short. | Small institutes: channel partners give LTV/CAC 3.4x against 1.5x by field sales. Year 3 Base: 58 paying institutes, revenue 65.3 lakh, EBITDA 11.9 lakh, funding need 45 lakh, break-even month 16. One field rep at 8 percent of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Revenue model and unit economics: sensitivity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Revenue model; three-year projection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Data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Legal basis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Validation plan and model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Problem statement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Product tourProduct tour: upload, topic map, support list, profile, owner dashboard, parent report. All images are illustrative mock-ups (HTML rendered by headless Edge) using synthetic data and real report text from the report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Source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area: Market and go-to-marketMap: state outlines from a public GeoJSON (datameet-style, orientation only, not an official boundary). Bubble size is our qualitative estimate of coaching density (Kota, Patna highest). State figures are our allocation of the R7 total (Bihar and UP by population, Rajasthan, MP and Jharkhand 40/40/20 of the extension) and must be called an assumption. Chains: Allen opened in Patna and announced six more Bihar cities (R7).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Mandatory disclosure (Problem Statement, rule 2). Keep this as the last slide of the submitted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0.76 is the next-answer AUC on ASSISTments 2009 (published DKT 0.754). Two public datasets: ASSISTments 2009 and OULAD. 3.6 rupees is the all-in cost per student per month from the financial model (Base).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Scoring area: Architecture and engineeringLayered view of the architecture. Keywords in brackets are the technical names for judges: IRT, LightGBM, conformal prediction, row-level security. Local-first: one laptop or one small server per deployment, no paid services.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Scoring area: Architecture and productProduct view. 1 is the scan screen, 2 the topic heatmap in the web console, 3 the mentor's weekly list, 4 the parent report in Hindi. The week strip shows the operating rhythm.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Scoring area: Data science, ML and AI rigour; GenAI guardrailsMock-ups: student profile with the narrowing percentile range, and the Hindi/English parent report. Do not quote a verifier catch rate until the independent adversarial test passes after the E2 fixes.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Scoring area: Feasibility; honest limitsThe ask is concrete and falsifiable. Funding of 45 lakh and break-even in month 16 are Base outputs of the v1.1 projection; Bear needs 1 crore and does not break even within 36 months.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_SOF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638544"/>
            <a:ext cx="12191695" cy="219456"/>
          </a:xfrm>
          <a:prstGeom prst="rect">
            <a:avLst/>
          </a:prstGeom>
          <a:solidFill>
            <a:srgbClr val="1F4A82"/>
          </a:solidFill>
          <a:ln/>
        </p:spPr>
      </p:sp>
      <p:sp>
        <p:nvSpPr>
          <p:cNvPr id="3" name="Text 1"/>
          <p:cNvSpPr/>
          <p:nvPr/>
        </p:nvSpPr>
        <p:spPr>
          <a:xfrm>
            <a:off x="411480" y="6638544"/>
            <a:ext cx="1828800"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AlphaQ</a:t>
            </a:r>
            <a:endParaRPr lang="en-US" sz="1000" dirty="0"/>
          </a:p>
        </p:txBody>
      </p:sp>
      <p:sp>
        <p:nvSpPr>
          <p:cNvPr id="4" name="Text 2"/>
          <p:cNvSpPr/>
          <p:nvPr/>
        </p:nvSpPr>
        <p:spPr>
          <a:xfrm>
            <a:off x="3291840" y="6638544"/>
            <a:ext cx="5577840" cy="219456"/>
          </a:xfrm>
          <a:prstGeom prst="rect">
            <a:avLst/>
          </a:prstGeom>
          <a:noFill/>
          <a:ln/>
        </p:spPr>
        <p:txBody>
          <a:bodyPr wrap="square" lIns="0" tIns="0" rIns="0" bIns="0" rtlCol="0" anchor="ctr"/>
          <a:lstStyle/>
          <a:p>
            <a:pPr algn="ctr" indent="0" marL="0">
              <a:buNone/>
            </a:pPr>
            <a:r>
              <a:rPr lang="en-US" sz="950" dirty="0">
                <a:solidFill>
                  <a:srgbClr val="C9DBF0"/>
                </a:solidFill>
                <a:latin typeface="Calibri" pitchFamily="34" charset="0"/>
                <a:ea typeface="Calibri" pitchFamily="34" charset="-122"/>
                <a:cs typeface="Calibri" pitchFamily="34" charset="-120"/>
              </a:rPr>
              <a:t>Pragati  ·  Case B: The Data Moat  ·  Round 1</a:t>
            </a:r>
            <a:endParaRPr lang="en-US" sz="950" dirty="0"/>
          </a:p>
        </p:txBody>
      </p:sp>
      <p:sp>
        <p:nvSpPr>
          <p:cNvPr id="5" name="Text 3"/>
          <p:cNvSpPr/>
          <p:nvPr>
            <p:ph idx="103" type="title" hasCustomPrompt="1"/>
          </p:nvPr>
        </p:nvSpPr>
        <p:spPr>
          <a:xfrm>
            <a:off x="411480" y="347472"/>
            <a:ext cx="10972800" cy="384048"/>
          </a:xfrm>
          <a:prstGeom prst="rect">
            <a:avLst/>
          </a:prstGeom>
          <a:noFill/>
          <a:ln/>
        </p:spPr>
        <p:txBody>
          <a:bodyPr wrap="square" rtlCol="0"/>
          <a:lstStyle>
            <a:lvl1pPr algn="l" indent="0" marL="0">
              <a:buNone/>
              <a:defRPr lang="en-US" sz="2200" b="1" dirty="0">
                <a:solidFill>
                  <a:srgbClr val="1F4A82"/>
                </a:solidFill>
                <a:latin typeface="Calibri" pitchFamily="34" charset="0"/>
                <a:ea typeface="Calibri" pitchFamily="34" charset="-122"/>
                <a:cs typeface="Calibri" pitchFamily="34" charset="-120"/>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SOF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6638544"/>
            <a:ext cx="12191695" cy="219456"/>
          </a:xfrm>
          <a:prstGeom prst="rect">
            <a:avLst/>
          </a:prstGeom>
          <a:solidFill>
            <a:srgbClr val="1F4A82"/>
          </a:solidFill>
          <a:ln/>
        </p:spPr>
      </p:sp>
      <p:sp>
        <p:nvSpPr>
          <p:cNvPr id="3" name="Text 1"/>
          <p:cNvSpPr/>
          <p:nvPr/>
        </p:nvSpPr>
        <p:spPr>
          <a:xfrm>
            <a:off x="411480" y="6638544"/>
            <a:ext cx="1828800"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AlphaQ</a:t>
            </a:r>
            <a:endParaRPr lang="en-US" sz="1000" dirty="0"/>
          </a:p>
        </p:txBody>
      </p:sp>
      <p:sp>
        <p:nvSpPr>
          <p:cNvPr id="4" name="Text 2"/>
          <p:cNvSpPr/>
          <p:nvPr/>
        </p:nvSpPr>
        <p:spPr>
          <a:xfrm>
            <a:off x="3291840" y="6638544"/>
            <a:ext cx="5577840" cy="219456"/>
          </a:xfrm>
          <a:prstGeom prst="rect">
            <a:avLst/>
          </a:prstGeom>
          <a:noFill/>
          <a:ln/>
        </p:spPr>
        <p:txBody>
          <a:bodyPr wrap="square" lIns="0" tIns="0" rIns="0" bIns="0" rtlCol="0" anchor="ctr"/>
          <a:lstStyle/>
          <a:p>
            <a:pPr algn="ctr" indent="0" marL="0">
              <a:buNone/>
            </a:pPr>
            <a:r>
              <a:rPr lang="en-US" sz="950" dirty="0">
                <a:solidFill>
                  <a:srgbClr val="C9DBF0"/>
                </a:solidFill>
                <a:latin typeface="Calibri" pitchFamily="34" charset="0"/>
                <a:ea typeface="Calibri" pitchFamily="34" charset="-122"/>
                <a:cs typeface="Calibri" pitchFamily="34" charset="-120"/>
              </a:rPr>
              <a:t>Pragati  ·  Case B: The Data Moat  ·  Round 1</a:t>
            </a:r>
            <a:endParaRPr lang="en-US" sz="950" dirty="0"/>
          </a:p>
        </p:txBody>
      </p:sp>
      <p:sp>
        <p:nvSpPr>
          <p:cNvPr id="5" name="Text 3"/>
          <p:cNvSpPr/>
          <p:nvPr>
            <p:ph idx="103" type="title" hasCustomPrompt="1"/>
          </p:nvPr>
        </p:nvSpPr>
        <p:spPr>
          <a:xfrm>
            <a:off x="411480" y="347472"/>
            <a:ext cx="10972800" cy="384048"/>
          </a:xfrm>
          <a:prstGeom prst="rect">
            <a:avLst/>
          </a:prstGeom>
          <a:noFill/>
          <a:ln/>
        </p:spPr>
        <p:txBody>
          <a:bodyPr wrap="square" rtlCol="0"/>
          <a:lstStyle>
            <a:lvl1pPr algn="l" indent="0" marL="0">
              <a:buNone/>
              <a:defRPr lang="en-US" sz="2200" b="1" dirty="0">
                <a:solidFill>
                  <a:srgbClr val="1F4A82"/>
                </a:solidFill>
                <a:latin typeface="Calibri" pitchFamily="34" charset="0"/>
                <a:ea typeface="Calibri" pitchFamily="34" charset="-122"/>
                <a:cs typeface="Calibri" pitchFamily="34" charset="-120"/>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BLANK">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638544"/>
            <a:ext cx="12191695" cy="219456"/>
          </a:xfrm>
          <a:prstGeom prst="rect">
            <a:avLst/>
          </a:prstGeom>
          <a:solidFill>
            <a:srgbClr val="1F4A82"/>
          </a:solidFill>
          <a:ln/>
        </p:spPr>
      </p:sp>
      <p:sp>
        <p:nvSpPr>
          <p:cNvPr id="3" name="Text 1"/>
          <p:cNvSpPr/>
          <p:nvPr/>
        </p:nvSpPr>
        <p:spPr>
          <a:xfrm>
            <a:off x="411480" y="6638544"/>
            <a:ext cx="1828800" cy="21945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AlphaQ</a:t>
            </a:r>
            <a:endParaRPr lang="en-US" sz="1000" dirty="0"/>
          </a:p>
        </p:txBody>
      </p:sp>
      <p:sp>
        <p:nvSpPr>
          <p:cNvPr id="4" name="Text 2"/>
          <p:cNvSpPr/>
          <p:nvPr/>
        </p:nvSpPr>
        <p:spPr>
          <a:xfrm>
            <a:off x="3291840" y="6638544"/>
            <a:ext cx="5577840" cy="219456"/>
          </a:xfrm>
          <a:prstGeom prst="rect">
            <a:avLst/>
          </a:prstGeom>
          <a:noFill/>
          <a:ln/>
        </p:spPr>
        <p:txBody>
          <a:bodyPr wrap="square" lIns="0" tIns="0" rIns="0" bIns="0" rtlCol="0" anchor="ctr"/>
          <a:lstStyle/>
          <a:p>
            <a:pPr algn="ctr" indent="0" marL="0">
              <a:buNone/>
            </a:pPr>
            <a:r>
              <a:rPr lang="en-US" sz="950" dirty="0">
                <a:solidFill>
                  <a:srgbClr val="C9DBF0"/>
                </a:solidFill>
                <a:latin typeface="Calibri" pitchFamily="34" charset="0"/>
                <a:ea typeface="Calibri" pitchFamily="34" charset="-122"/>
                <a:cs typeface="Calibri" pitchFamily="34" charset="-120"/>
              </a:rPr>
              <a:t>Pragati  ·  Case B: The Data Moat  ·  Round 1</a:t>
            </a:r>
            <a:endParaRPr lang="en-US" sz="950" dirty="0"/>
          </a:p>
        </p:txBody>
      </p:sp>
      <p:sp>
        <p:nvSpPr>
          <p:cNvPr id="5" name="Text 3"/>
          <p:cNvSpPr/>
          <p:nvPr>
            <p:ph idx="103" type="title" hasCustomPrompt="1"/>
          </p:nvPr>
        </p:nvSpPr>
        <p:spPr>
          <a:xfrm>
            <a:off x="411480" y="347472"/>
            <a:ext cx="10972800" cy="384048"/>
          </a:xfrm>
          <a:prstGeom prst="rect">
            <a:avLst/>
          </a:prstGeom>
          <a:noFill/>
          <a:ln/>
        </p:spPr>
        <p:txBody>
          <a:bodyPr wrap="square" rtlCol="0"/>
          <a:lstStyle>
            <a:lvl1pPr algn="l" indent="0" marL="0">
              <a:buNone/>
              <a:defRPr lang="en-US" sz="2200" b="1" dirty="0">
                <a:solidFill>
                  <a:srgbClr val="1F4A82"/>
                </a:solidFill>
                <a:latin typeface="Calibri" pitchFamily="34" charset="0"/>
                <a:ea typeface="Calibri" pitchFamily="34" charset="-122"/>
                <a:cs typeface="Calibri" pitchFamily="34" charset="-120"/>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ULL">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F4A82"/>
          </a:solidFill>
          <a:ln/>
        </p:spPr>
      </p:sp>
      <p:sp>
        <p:nvSpPr>
          <p:cNvPr id="3" name="Text 1"/>
          <p:cNvSpPr/>
          <p:nvPr>
            <p:ph idx="101" type="title" hasCustomPrompt="1"/>
          </p:nvPr>
        </p:nvSpPr>
        <p:spPr>
          <a:xfrm>
            <a:off x="411480" y="274320"/>
            <a:ext cx="10972800" cy="548640"/>
          </a:xfrm>
          <a:prstGeom prst="rect">
            <a:avLst/>
          </a:prstGeom>
          <a:noFill/>
          <a:ln/>
        </p:spPr>
        <p:txBody>
          <a:bodyPr wrap="square" rtlCol="0"/>
          <a:lstStyle>
            <a:lvl1pPr algn="l" indent="0" marL="0">
              <a:buNone/>
              <a:defRPr lang="en-US" sz="2800" b="1" dirty="0">
                <a:solidFill>
                  <a:srgbClr val="1F4A82"/>
                </a:solidFill>
                <a:latin typeface="Calibri" pitchFamily="34" charset="0"/>
                <a:ea typeface="Calibri" pitchFamily="34" charset="-122"/>
                <a:cs typeface="Calibri" pitchFamily="34" charset="-120"/>
              </a:defRPr>
            </a:lvl1pPr>
          </a:lstStyle>
          <a:p>
            <a:pPr algn="l" indent="0" marL="0">
              <a:buNone/>
            </a:pPr>
            <a:endParaRPr lang="en-US" sz="28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1F4A82"/>
          </a:solidFill>
          <a:ln/>
        </p:spPr>
      </p:sp>
      <p:sp>
        <p:nvSpPr>
          <p:cNvPr id="3" name="Text 1"/>
          <p:cNvSpPr/>
          <p:nvPr>
            <p:ph idx="101" type="title" hasCustomPrompt="1"/>
          </p:nvPr>
        </p:nvSpPr>
        <p:spPr>
          <a:xfrm>
            <a:off x="411480" y="1051560"/>
            <a:ext cx="5669280" cy="1097280"/>
          </a:xfrm>
          <a:prstGeom prst="rect">
            <a:avLst/>
          </a:prstGeom>
          <a:noFill/>
          <a:ln/>
        </p:spPr>
        <p:txBody>
          <a:bodyPr wrap="square" rtlCol="0"/>
          <a:lstStyle>
            <a:lvl1pPr algn="l" indent="0" marL="0">
              <a:buNone/>
              <a:defRPr lang="en-US" sz="6000" b="1" dirty="0">
                <a:solidFill>
                  <a:srgbClr val="1F4A82"/>
                </a:solidFill>
                <a:latin typeface="Calibri" pitchFamily="34" charset="0"/>
                <a:ea typeface="Calibri" pitchFamily="34" charset="-122"/>
                <a:cs typeface="Calibri" pitchFamily="34" charset="-120"/>
              </a:defRPr>
            </a:lvl1pPr>
          </a:lstStyle>
          <a:p>
            <a:pPr algn="l" indent="0" marL="0">
              <a:buNone/>
            </a:pPr>
            <a:endParaRPr lang="en-US" sz="6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image" Target="../media/image-2-22.png"/><Relationship Id="rId23" Type="http://schemas.openxmlformats.org/officeDocument/2006/relationships/slideLayout" Target="../slideLayouts/slideLayout4.xml"/><Relationship Id="rId2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image" Target="../media/image-3-23.png"/><Relationship Id="rId24" Type="http://schemas.openxmlformats.org/officeDocument/2006/relationships/image" Target="../media/image-3-24.png"/><Relationship Id="rId25" Type="http://schemas.openxmlformats.org/officeDocument/2006/relationships/image" Target="../media/image-3-25.png"/><Relationship Id="rId26" Type="http://schemas.openxmlformats.org/officeDocument/2006/relationships/image" Target="../media/image-3-26.png"/><Relationship Id="rId27" Type="http://schemas.openxmlformats.org/officeDocument/2006/relationships/image" Target="../media/image-3-27.png"/><Relationship Id="rId28" Type="http://schemas.openxmlformats.org/officeDocument/2006/relationships/image" Target="../media/image-3-17.png"/><Relationship Id="rId29" Type="http://schemas.openxmlformats.org/officeDocument/2006/relationships/slideLayout" Target="../slideLayouts/slideLayout2.xml"/><Relationship Id="rId3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slideLayout" Target="../slideLayouts/slideLayout3.xml"/><Relationship Id="rId17"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3.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slideLayout" Target="../slideLayouts/slideLayout3.xml"/><Relationship Id="rId1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image" Target="../media/image-8-21.png"/><Relationship Id="rId22" Type="http://schemas.openxmlformats.org/officeDocument/2006/relationships/image" Target="../media/image-8-22.png"/><Relationship Id="rId23" Type="http://schemas.openxmlformats.org/officeDocument/2006/relationships/image" Target="../media/image-8-23.png"/><Relationship Id="rId24" Type="http://schemas.openxmlformats.org/officeDocument/2006/relationships/image" Target="../media/image-8-24.png"/><Relationship Id="rId25" Type="http://schemas.openxmlformats.org/officeDocument/2006/relationships/image" Target="../media/image-8-25.png"/><Relationship Id="rId26" Type="http://schemas.openxmlformats.org/officeDocument/2006/relationships/image" Target="../media/image-8-26.png"/><Relationship Id="rId27" Type="http://schemas.openxmlformats.org/officeDocument/2006/relationships/image" Target="../media/image-8-27.png"/><Relationship Id="rId28" Type="http://schemas.openxmlformats.org/officeDocument/2006/relationships/image" Target="../media/image-8-28.png"/><Relationship Id="rId29" Type="http://schemas.openxmlformats.org/officeDocument/2006/relationships/image" Target="../media/image-8-29.png"/><Relationship Id="rId30" Type="http://schemas.openxmlformats.org/officeDocument/2006/relationships/image" Target="../media/image-8-30.png"/><Relationship Id="rId31" Type="http://schemas.openxmlformats.org/officeDocument/2006/relationships/image" Target="../media/image-8-31.png"/><Relationship Id="rId32" Type="http://schemas.openxmlformats.org/officeDocument/2006/relationships/image" Target="../media/image-8-32.png"/><Relationship Id="rId33" Type="http://schemas.openxmlformats.org/officeDocument/2006/relationships/image" Target="../media/image-8-33.png"/><Relationship Id="rId34" Type="http://schemas.openxmlformats.org/officeDocument/2006/relationships/image" Target="../media/image-8-34.png"/><Relationship Id="rId35" Type="http://schemas.openxmlformats.org/officeDocument/2006/relationships/image" Target="../media/image-8-35.png"/><Relationship Id="rId36" Type="http://schemas.openxmlformats.org/officeDocument/2006/relationships/slideLayout" Target="../slideLayouts/slideLayout4.xml"/><Relationship Id="rId37"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slideLayout" Target="../slideLayouts/slideLayout4.xml"/><Relationship Id="rId2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slideLayout" Target="../slideLayouts/slideLayout4.xml"/><Relationship Id="rId1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3.xml"/><Relationship Id="rId1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4.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4.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4.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4.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4.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4.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image" Target="../media/image-20-14.png"/><Relationship Id="rId15" Type="http://schemas.openxmlformats.org/officeDocument/2006/relationships/slideLayout" Target="../slideLayouts/slideLayout4.xml"/><Relationship Id="rId1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4.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slideLayout" Target="../slideLayouts/slideLayout4.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1.png"/><Relationship Id="rId3" Type="http://schemas.openxmlformats.org/officeDocument/2006/relationships/image" Target="../media/image-3-8.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9.png"/><Relationship Id="rId9" Type="http://schemas.openxmlformats.org/officeDocument/2006/relationships/image" Target="../media/image-2-8.png"/><Relationship Id="rId10" Type="http://schemas.openxmlformats.org/officeDocument/2006/relationships/image" Target="../media/image-6-9.png"/><Relationship Id="rId11" Type="http://schemas.openxmlformats.org/officeDocument/2006/relationships/image" Target="../media/image-6-10.png"/><Relationship Id="rId12" Type="http://schemas.openxmlformats.org/officeDocument/2006/relationships/image" Target="../media/image-2-16.png"/><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3-8.png"/><Relationship Id="rId8" Type="http://schemas.openxmlformats.org/officeDocument/2006/relationships/image" Target="../media/image-2-3.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9.png"/><Relationship Id="rId13" Type="http://schemas.openxmlformats.org/officeDocument/2006/relationships/image" Target="../media/image-2-8.png"/><Relationship Id="rId14" Type="http://schemas.openxmlformats.org/officeDocument/2006/relationships/image" Target="../media/image-2-14.png"/><Relationship Id="rId15" Type="http://schemas.openxmlformats.org/officeDocument/2006/relationships/image" Target="../media/image-5-16.png"/><Relationship Id="rId16" Type="http://schemas.openxmlformats.org/officeDocument/2006/relationships/image" Target="../media/image1.png"/><Relationship Id="rId17" Type="http://schemas.openxmlformats.org/officeDocument/2006/relationships/image" Target="../media/image-4-12.png"/><Relationship Id="rId18" Type="http://schemas.openxmlformats.org/officeDocument/2006/relationships/image" Target="../media/image2.png"/><Relationship Id="rId1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1.png"/><Relationship Id="rId3" Type="http://schemas.openxmlformats.org/officeDocument/2006/relationships/image" Target="../media/image-20-5.png"/><Relationship Id="rId4" Type="http://schemas.openxmlformats.org/officeDocument/2006/relationships/image" Target="../media/image-9-2.png"/><Relationship Id="rId5" Type="http://schemas.openxmlformats.org/officeDocument/2006/relationships/image" Target="../media/image-3-8.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6-9.png"/><Relationship Id="rId9" Type="http://schemas.openxmlformats.org/officeDocument/2006/relationships/image" Target="../media/image-2-6.png"/><Relationship Id="rId10" Type="http://schemas.openxmlformats.org/officeDocument/2006/relationships/image" Target="../media/image-2-7.png"/><Relationship Id="rId11" Type="http://schemas.openxmlformats.org/officeDocument/2006/relationships/image" Target="../media/image-2-9.png"/><Relationship Id="rId12" Type="http://schemas.openxmlformats.org/officeDocument/2006/relationships/image" Target="../media/image-2-8.png"/><Relationship Id="rId13" Type="http://schemas.openxmlformats.org/officeDocument/2006/relationships/image" Target="../media/image-9-16.png"/><Relationship Id="rId1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1.png"/><Relationship Id="rId3" Type="http://schemas.openxmlformats.org/officeDocument/2006/relationships/image" Target="../media/image-3-8.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3.png"/><Relationship Id="rId11" Type="http://schemas.openxmlformats.org/officeDocument/2006/relationships/image" Target="../media/image4.png"/><Relationship Id="rId12" Type="http://schemas.openxmlformats.org/officeDocument/2006/relationships/image" Target="../media/image5.png"/><Relationship Id="rId13" Type="http://schemas.openxmlformats.org/officeDocument/2006/relationships/image" Target="../media/image6.png"/><Relationship Id="rId14" Type="http://schemas.openxmlformats.org/officeDocument/2006/relationships/notesSlide" Target="../notesSlides/notesSlide28.xml"/></Relationships>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D4A24C"/>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idea">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EXECUTIVE SUMMARY</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Small institutes already hold the data. Pragati turns it into a weekly to-do list for mentors, at a price owners can say yes to</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15568"/>
            <a:ext cx="1143000" cy="896112"/>
          </a:xfrm>
          <a:prstGeom prst="rect">
            <a:avLst/>
          </a:prstGeom>
          <a:solidFill>
            <a:srgbClr val="1F4A82"/>
          </a:solidFill>
          <a:ln/>
        </p:spPr>
      </p:sp>
      <p:sp>
        <p:nvSpPr>
          <p:cNvPr id="26" name="Text 22"/>
          <p:cNvSpPr txBox="1"/>
          <p:nvPr/>
        </p:nvSpPr>
        <p:spPr>
          <a:xfrm>
            <a:off x="411480" y="1115568"/>
            <a:ext cx="1143000" cy="89611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SITUATION</a:t>
            </a:r>
            <a:endParaRPr lang="en-US" sz="1050" dirty="0"/>
          </a:p>
        </p:txBody>
      </p:sp>
      <p:sp>
        <p:nvSpPr>
          <p:cNvPr id="27" name="Shape 23"/>
          <p:cNvSpPr/>
          <p:nvPr/>
        </p:nvSpPr>
        <p:spPr>
          <a:xfrm>
            <a:off x="1554480" y="1115568"/>
            <a:ext cx="4434840" cy="896112"/>
          </a:xfrm>
          <a:prstGeom prst="rect">
            <a:avLst/>
          </a:prstGeom>
          <a:solidFill>
            <a:srgbClr val="FFFFFF"/>
          </a:solidFill>
          <a:ln w="12700">
            <a:solidFill>
              <a:srgbClr val="C9D6E8"/>
            </a:solidFill>
            <a:prstDash val="solid"/>
          </a:ln>
        </p:spPr>
      </p:sp>
      <p:sp>
        <p:nvSpPr>
          <p:cNvPr id="28" name="Text 24"/>
          <p:cNvSpPr txBox="1"/>
          <p:nvPr/>
        </p:nvSpPr>
        <p:spPr>
          <a:xfrm>
            <a:off x="1673352" y="1152144"/>
            <a:ext cx="4224528" cy="8229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Tier-2 and Tier-3 JEE/NEET institutes (150 to 1,200 students) run on </a:t>
            </a:r>
            <a:pPr algn="l" indent="0" marL="0">
              <a:buNone/>
            </a:pPr>
            <a:r>
              <a:rPr lang="en-US" sz="1050" b="1" dirty="0">
                <a:solidFill>
                  <a:srgbClr val="1F2937"/>
                </a:solidFill>
                <a:latin typeface="Calibri" pitchFamily="34" charset="0"/>
                <a:ea typeface="Calibri" pitchFamily="34" charset="-122"/>
                <a:cs typeface="Calibri" pitchFamily="34" charset="-120"/>
              </a:rPr>
              <a:t>paper OMR sheets, Excel and WhatsApp.</a:t>
            </a:r>
            <a:pPr algn="l" indent="0" marL="0">
              <a:buNone/>
            </a:pPr>
            <a:r>
              <a:rPr lang="en-US" sz="1050" dirty="0">
                <a:solidFill>
                  <a:srgbClr val="1F2937"/>
                </a:solidFill>
                <a:latin typeface="Calibri" pitchFamily="34" charset="0"/>
                <a:ea typeface="Calibri" pitchFamily="34" charset="-122"/>
                <a:cs typeface="Calibri" pitchFamily="34" charset="-120"/>
              </a:rPr>
              <a:t> 22.8 lakh NEET and about 15.4 lakh JEE Main candidates registered in 2025.</a:t>
            </a:r>
            <a:endParaRPr lang="en-US" sz="1050" dirty="0"/>
          </a:p>
        </p:txBody>
      </p:sp>
      <p:sp>
        <p:nvSpPr>
          <p:cNvPr id="29" name="Shape 25"/>
          <p:cNvSpPr/>
          <p:nvPr/>
        </p:nvSpPr>
        <p:spPr>
          <a:xfrm>
            <a:off x="411480" y="2103120"/>
            <a:ext cx="1143000" cy="896112"/>
          </a:xfrm>
          <a:prstGeom prst="rect">
            <a:avLst/>
          </a:prstGeom>
          <a:solidFill>
            <a:srgbClr val="2E6DB4"/>
          </a:solidFill>
          <a:ln/>
        </p:spPr>
      </p:sp>
      <p:sp>
        <p:nvSpPr>
          <p:cNvPr id="30" name="Text 26"/>
          <p:cNvSpPr txBox="1"/>
          <p:nvPr/>
        </p:nvSpPr>
        <p:spPr>
          <a:xfrm>
            <a:off x="411480" y="2103120"/>
            <a:ext cx="1143000" cy="89611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COMPLICATION</a:t>
            </a:r>
            <a:endParaRPr lang="en-US" sz="1050" dirty="0"/>
          </a:p>
        </p:txBody>
      </p:sp>
      <p:sp>
        <p:nvSpPr>
          <p:cNvPr id="31" name="Shape 27"/>
          <p:cNvSpPr/>
          <p:nvPr/>
        </p:nvSpPr>
        <p:spPr>
          <a:xfrm>
            <a:off x="1554480" y="2103120"/>
            <a:ext cx="4434840" cy="896112"/>
          </a:xfrm>
          <a:prstGeom prst="rect">
            <a:avLst/>
          </a:prstGeom>
          <a:solidFill>
            <a:srgbClr val="FFFFFF"/>
          </a:solidFill>
          <a:ln w="12700">
            <a:solidFill>
              <a:srgbClr val="C9D6E8"/>
            </a:solidFill>
            <a:prstDash val="solid"/>
          </a:ln>
        </p:spPr>
      </p:sp>
      <p:sp>
        <p:nvSpPr>
          <p:cNvPr id="32" name="Text 28"/>
          <p:cNvSpPr txBox="1"/>
          <p:nvPr/>
        </p:nvSpPr>
        <p:spPr>
          <a:xfrm>
            <a:off x="1673352" y="2139696"/>
            <a:ext cx="4224528" cy="8229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A 400-student institute loses about </a:t>
            </a:r>
            <a:pPr algn="l" indent="0" marL="0">
              <a:buNone/>
            </a:pPr>
            <a:r>
              <a:rPr lang="en-US" sz="1050" b="1" dirty="0">
                <a:solidFill>
                  <a:srgbClr val="1F2937"/>
                </a:solidFill>
                <a:latin typeface="Calibri" pitchFamily="34" charset="0"/>
                <a:ea typeface="Calibri" pitchFamily="34" charset="-122"/>
                <a:cs typeface="Calibri" pitchFamily="34" charset="-120"/>
              </a:rPr>
              <a:t>₹17 lakh a year</a:t>
            </a:r>
            <a:pPr algn="l" indent="0" marL="0">
              <a:buNone/>
            </a:pPr>
            <a:r>
              <a:rPr lang="en-US" sz="1050" dirty="0">
                <a:solidFill>
                  <a:srgbClr val="1F2937"/>
                </a:solidFill>
                <a:latin typeface="Calibri" pitchFamily="34" charset="0"/>
                <a:ea typeface="Calibri" pitchFamily="34" charset="-122"/>
                <a:cs typeface="Calibri" pitchFamily="34" charset="-120"/>
              </a:rPr>
              <a:t> to mid-session dropouts, noticed only after students leave. Generic apps store marks but give no topic view or warning, and </a:t>
            </a:r>
            <a:pPr algn="l" indent="0" marL="0">
              <a:buNone/>
            </a:pPr>
            <a:r>
              <a:rPr lang="en-US" sz="1050" b="1" dirty="0">
                <a:solidFill>
                  <a:srgbClr val="1F2937"/>
                </a:solidFill>
                <a:latin typeface="Calibri" pitchFamily="34" charset="0"/>
                <a:ea typeface="Calibri" pitchFamily="34" charset="-122"/>
                <a:cs typeface="Calibri" pitchFamily="34" charset="-120"/>
              </a:rPr>
              <a:t>DPDP s.9(3) bars behavioural tracking of minors.</a:t>
            </a:r>
            <a:endParaRPr lang="en-US" sz="1050" dirty="0"/>
          </a:p>
        </p:txBody>
      </p:sp>
      <p:sp>
        <p:nvSpPr>
          <p:cNvPr id="33" name="Shape 29"/>
          <p:cNvSpPr/>
          <p:nvPr/>
        </p:nvSpPr>
        <p:spPr>
          <a:xfrm>
            <a:off x="411480" y="3090672"/>
            <a:ext cx="1143000" cy="896112"/>
          </a:xfrm>
          <a:prstGeom prst="rect">
            <a:avLst/>
          </a:prstGeom>
          <a:solidFill>
            <a:srgbClr val="1F4A82"/>
          </a:solidFill>
          <a:ln/>
        </p:spPr>
      </p:sp>
      <p:sp>
        <p:nvSpPr>
          <p:cNvPr id="34" name="Text 30"/>
          <p:cNvSpPr txBox="1"/>
          <p:nvPr/>
        </p:nvSpPr>
        <p:spPr>
          <a:xfrm>
            <a:off x="411480" y="3090672"/>
            <a:ext cx="1143000" cy="89611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RESOLUTION</a:t>
            </a:r>
            <a:endParaRPr lang="en-US" sz="1050" dirty="0"/>
          </a:p>
        </p:txBody>
      </p:sp>
      <p:sp>
        <p:nvSpPr>
          <p:cNvPr id="35" name="Shape 31"/>
          <p:cNvSpPr/>
          <p:nvPr/>
        </p:nvSpPr>
        <p:spPr>
          <a:xfrm>
            <a:off x="1554480" y="3090672"/>
            <a:ext cx="4434840" cy="896112"/>
          </a:xfrm>
          <a:prstGeom prst="rect">
            <a:avLst/>
          </a:prstGeom>
          <a:solidFill>
            <a:srgbClr val="FFFFFF"/>
          </a:solidFill>
          <a:ln w="12700">
            <a:solidFill>
              <a:srgbClr val="C9D6E8"/>
            </a:solidFill>
            <a:prstDash val="solid"/>
          </a:ln>
        </p:spPr>
      </p:sp>
      <p:sp>
        <p:nvSpPr>
          <p:cNvPr id="36" name="Text 32"/>
          <p:cNvSpPr txBox="1"/>
          <p:nvPr/>
        </p:nvSpPr>
        <p:spPr>
          <a:xfrm>
            <a:off x="1673352" y="3127248"/>
            <a:ext cx="4224528" cy="822960"/>
          </a:xfrm>
          <a:prstGeom prst="rect">
            <a:avLst/>
          </a:prstGeom>
          <a:noFill/>
          <a:ln/>
        </p:spPr>
        <p:txBody>
          <a:bodyPr wrap="square" lIns="0" tIns="0" rIns="0" bIns="0" rtlCol="0" anchor="ctr"/>
          <a:lstStyle/>
          <a:p>
            <a:pPr algn="l" indent="0" marL="0">
              <a:buNone/>
            </a:pPr>
            <a:r>
              <a:rPr lang="en-US" sz="1050" b="1" dirty="0">
                <a:solidFill>
                  <a:srgbClr val="1F2937"/>
                </a:solidFill>
                <a:latin typeface="Calibri" pitchFamily="34" charset="0"/>
                <a:ea typeface="Calibri" pitchFamily="34" charset="-122"/>
                <a:cs typeface="Calibri" pitchFamily="34" charset="-120"/>
              </a:rPr>
              <a:t>Pragati: </a:t>
            </a:r>
            <a:pPr algn="l" indent="0" marL="0">
              <a:buNone/>
            </a:pPr>
            <a:r>
              <a:rPr lang="en-US" sz="1050" dirty="0">
                <a:solidFill>
                  <a:srgbClr val="1F2937"/>
                </a:solidFill>
                <a:latin typeface="Calibri" pitchFamily="34" charset="0"/>
                <a:ea typeface="Calibri" pitchFamily="34" charset="-122"/>
                <a:cs typeface="Calibri" pitchFamily="34" charset="-120"/>
              </a:rPr>
              <a:t>OMR photo or Excel in; topic mastery, a weekly support list with plain reasons and checked Hindi and English parent reports out. Runs offline on one laptop for </a:t>
            </a:r>
            <a:pPr algn="l" indent="0" marL="0">
              <a:buNone/>
            </a:pPr>
            <a:r>
              <a:rPr lang="en-US" sz="1050" b="1" dirty="0">
                <a:solidFill>
                  <a:srgbClr val="1F2937"/>
                </a:solidFill>
                <a:latin typeface="Calibri" pitchFamily="34" charset="0"/>
                <a:ea typeface="Calibri" pitchFamily="34" charset="-122"/>
                <a:cs typeface="Calibri" pitchFamily="34" charset="-120"/>
              </a:rPr>
              <a:t>₹3.6 per student per month.</a:t>
            </a:r>
            <a:endParaRPr lang="en-US" sz="1050" dirty="0"/>
          </a:p>
        </p:txBody>
      </p:sp>
      <p:sp>
        <p:nvSpPr>
          <p:cNvPr id="37" name="Shape 33"/>
          <p:cNvSpPr/>
          <p:nvPr/>
        </p:nvSpPr>
        <p:spPr>
          <a:xfrm>
            <a:off x="411480" y="4114800"/>
            <a:ext cx="5577840" cy="274320"/>
          </a:xfrm>
          <a:prstGeom prst="rect">
            <a:avLst/>
          </a:prstGeom>
          <a:solidFill>
            <a:srgbClr val="1F4A82"/>
          </a:solidFill>
          <a:ln/>
        </p:spPr>
      </p:sp>
      <p:sp>
        <p:nvSpPr>
          <p:cNvPr id="38" name="Text 34"/>
          <p:cNvSpPr txBox="1"/>
          <p:nvPr/>
        </p:nvSpPr>
        <p:spPr>
          <a:xfrm>
            <a:off x="484632" y="4114800"/>
            <a:ext cx="5431536"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WHY IT WINS ON THE RUBRIC (70 % TECHNOLOGY · 30 % BUSINESS)</a:t>
            </a:r>
            <a:endParaRPr lang="en-US" sz="1050" dirty="0"/>
          </a:p>
        </p:txBody>
      </p:sp>
      <p:sp>
        <p:nvSpPr>
          <p:cNvPr id="39" name="Shape 35"/>
          <p:cNvSpPr/>
          <p:nvPr/>
        </p:nvSpPr>
        <p:spPr>
          <a:xfrm>
            <a:off x="411480" y="4462272"/>
            <a:ext cx="2761488" cy="859536"/>
          </a:xfrm>
          <a:prstGeom prst="rect">
            <a:avLst/>
          </a:prstGeom>
          <a:solidFill>
            <a:srgbClr val="F4F7FB"/>
          </a:solidFill>
          <a:ln w="9525">
            <a:solidFill>
              <a:srgbClr val="C9D6E8"/>
            </a:solidFill>
            <a:prstDash val="solid"/>
          </a:ln>
        </p:spPr>
      </p:sp>
      <p:sp>
        <p:nvSpPr>
          <p:cNvPr id="40" name="Shape 36"/>
          <p:cNvSpPr/>
          <p:nvPr/>
        </p:nvSpPr>
        <p:spPr>
          <a:xfrm>
            <a:off x="502920" y="4553712"/>
            <a:ext cx="329184" cy="329184"/>
          </a:xfrm>
          <a:prstGeom prst="ellipse">
            <a:avLst/>
          </a:prstGeom>
          <a:solidFill>
            <a:srgbClr val="1F4A82"/>
          </a:solidFill>
          <a:ln/>
        </p:spPr>
      </p:sp>
      <p:pic>
        <p:nvPicPr>
          <p:cNvPr id="41"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42"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43"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44"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45"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46"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47" name="Image 7" descr="FaBookOpen icon">    </p:cNvPr>
          <p:cNvPicPr>
            <a:picLocks noChangeAspect="1"/>
          </p:cNvPicPr>
          <p:nvPr/>
        </p:nvPicPr>
        <p:blipFill>
          <a:blip r:embed="rId8"/>
          <a:stretch>
            <a:fillRect/>
          </a:stretch>
        </p:blipFill>
        <p:spPr>
          <a:xfrm>
            <a:off x="10473423" y="100584"/>
            <a:ext cx="182880" cy="182880"/>
          </a:xfrm>
          <a:prstGeom prst="rect">
            <a:avLst/>
          </a:prstGeom>
        </p:spPr>
      </p:pic>
      <p:pic>
        <p:nvPicPr>
          <p:cNvPr id="48" name="Image 8" descr="FaBullseye icon">    </p:cNvPr>
          <p:cNvPicPr>
            <a:picLocks noChangeAspect="1"/>
          </p:cNvPicPr>
          <p:nvPr/>
        </p:nvPicPr>
        <p:blipFill>
          <a:blip r:embed="rId9"/>
          <a:stretch>
            <a:fillRect/>
          </a:stretch>
        </p:blipFill>
        <p:spPr>
          <a:xfrm>
            <a:off x="9075191" y="100584"/>
            <a:ext cx="182880" cy="182880"/>
          </a:xfrm>
          <a:prstGeom prst="rect">
            <a:avLst/>
          </a:prstGeom>
        </p:spPr>
      </p:pic>
      <p:pic>
        <p:nvPicPr>
          <p:cNvPr id="49" name="Image 9" descr="FaSitemap icon">    </p:cNvPr>
          <p:cNvPicPr>
            <a:picLocks noChangeAspect="1"/>
          </p:cNvPicPr>
          <p:nvPr/>
        </p:nvPicPr>
        <p:blipFill>
          <a:blip r:embed="rId10"/>
          <a:stretch>
            <a:fillRect/>
          </a:stretch>
        </p:blipFill>
        <p:spPr>
          <a:xfrm>
            <a:off x="575340" y="4626132"/>
            <a:ext cx="184343" cy="184343"/>
          </a:xfrm>
          <a:prstGeom prst="rect">
            <a:avLst/>
          </a:prstGeom>
        </p:spPr>
      </p:pic>
      <p:sp>
        <p:nvSpPr>
          <p:cNvPr id="50" name="Text 37"/>
          <p:cNvSpPr txBox="1"/>
          <p:nvPr/>
        </p:nvSpPr>
        <p:spPr>
          <a:xfrm>
            <a:off x="905256" y="4526280"/>
            <a:ext cx="2194560" cy="256032"/>
          </a:xfrm>
          <a:prstGeom prst="rect">
            <a:avLst/>
          </a:prstGeom>
          <a:noFill/>
          <a:ln/>
        </p:spPr>
        <p:txBody>
          <a:bodyPr wrap="square" lIns="0" tIns="0" rIns="0" bIns="0" rtlCol="0" anchor="ctr"/>
          <a:lstStyle/>
          <a:p>
            <a:pPr algn="l" indent="0" marL="0">
              <a:buNone/>
            </a:pPr>
            <a:r>
              <a:rPr lang="en-US" sz="1100" b="1" dirty="0">
                <a:solidFill>
                  <a:srgbClr val="1F4A82"/>
                </a:solidFill>
                <a:latin typeface="Calibri" pitchFamily="34" charset="0"/>
                <a:ea typeface="Calibri" pitchFamily="34" charset="-122"/>
                <a:cs typeface="Calibri" pitchFamily="34" charset="-120"/>
              </a:rPr>
              <a:t>Architecture 25</a:t>
            </a:r>
            <a:endParaRPr lang="en-US" sz="1100" dirty="0"/>
          </a:p>
        </p:txBody>
      </p:sp>
      <p:sp>
        <p:nvSpPr>
          <p:cNvPr id="51" name="Text 38"/>
          <p:cNvSpPr txBox="1"/>
          <p:nvPr/>
        </p:nvSpPr>
        <p:spPr>
          <a:xfrm>
            <a:off x="905256" y="4791456"/>
            <a:ext cx="2212848"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Local-first, 31 tables with row-level security tested on PostgreSQL 16; 116 automated tests.</a:t>
            </a:r>
            <a:endParaRPr lang="en-US" sz="900" dirty="0"/>
          </a:p>
        </p:txBody>
      </p:sp>
      <p:sp>
        <p:nvSpPr>
          <p:cNvPr id="52" name="Shape 39"/>
          <p:cNvSpPr/>
          <p:nvPr/>
        </p:nvSpPr>
        <p:spPr>
          <a:xfrm>
            <a:off x="3227832" y="4462272"/>
            <a:ext cx="2761488" cy="859536"/>
          </a:xfrm>
          <a:prstGeom prst="rect">
            <a:avLst/>
          </a:prstGeom>
          <a:solidFill>
            <a:srgbClr val="F4F7FB"/>
          </a:solidFill>
          <a:ln w="9525">
            <a:solidFill>
              <a:srgbClr val="C9D6E8"/>
            </a:solidFill>
            <a:prstDash val="solid"/>
          </a:ln>
        </p:spPr>
      </p:sp>
      <p:sp>
        <p:nvSpPr>
          <p:cNvPr id="53" name="Shape 40"/>
          <p:cNvSpPr/>
          <p:nvPr/>
        </p:nvSpPr>
        <p:spPr>
          <a:xfrm>
            <a:off x="3319272" y="4553712"/>
            <a:ext cx="329184" cy="329184"/>
          </a:xfrm>
          <a:prstGeom prst="ellipse">
            <a:avLst/>
          </a:prstGeom>
          <a:solidFill>
            <a:srgbClr val="2E6DB4"/>
          </a:solidFill>
          <a:ln/>
        </p:spPr>
      </p:sp>
      <p:pic>
        <p:nvPicPr>
          <p:cNvPr id="54" name="Image 10" descr="FaChartLine icon">    </p:cNvPr>
          <p:cNvPicPr>
            <a:picLocks noChangeAspect="1"/>
          </p:cNvPicPr>
          <p:nvPr/>
        </p:nvPicPr>
        <p:blipFill>
          <a:blip r:embed="rId11"/>
          <a:stretch>
            <a:fillRect/>
          </a:stretch>
        </p:blipFill>
        <p:spPr>
          <a:xfrm>
            <a:off x="3391692" y="4626132"/>
            <a:ext cx="184343" cy="184343"/>
          </a:xfrm>
          <a:prstGeom prst="rect">
            <a:avLst/>
          </a:prstGeom>
        </p:spPr>
      </p:pic>
      <p:sp>
        <p:nvSpPr>
          <p:cNvPr id="55" name="Text 41"/>
          <p:cNvSpPr txBox="1"/>
          <p:nvPr/>
        </p:nvSpPr>
        <p:spPr>
          <a:xfrm>
            <a:off x="3721608" y="4526280"/>
            <a:ext cx="2194560" cy="256032"/>
          </a:xfrm>
          <a:prstGeom prst="rect">
            <a:avLst/>
          </a:prstGeom>
          <a:noFill/>
          <a:ln/>
        </p:spPr>
        <p:txBody>
          <a:bodyPr wrap="square" lIns="0" tIns="0" rIns="0" bIns="0" rtlCol="0" anchor="ctr"/>
          <a:lstStyle/>
          <a:p>
            <a:pPr algn="l" indent="0" marL="0">
              <a:buNone/>
            </a:pPr>
            <a:r>
              <a:rPr lang="en-US" sz="1100" b="1" dirty="0">
                <a:solidFill>
                  <a:srgbClr val="1F4A82"/>
                </a:solidFill>
                <a:latin typeface="Calibri" pitchFamily="34" charset="0"/>
                <a:ea typeface="Calibri" pitchFamily="34" charset="-122"/>
                <a:cs typeface="Calibri" pitchFamily="34" charset="-120"/>
              </a:rPr>
              <a:t>ML rigour 25</a:t>
            </a:r>
            <a:endParaRPr lang="en-US" sz="1100" dirty="0"/>
          </a:p>
        </p:txBody>
      </p:sp>
      <p:sp>
        <p:nvSpPr>
          <p:cNvPr id="56" name="Text 42"/>
          <p:cNvSpPr txBox="1"/>
          <p:nvPr/>
        </p:nvSpPr>
        <p:spPr>
          <a:xfrm>
            <a:off x="3721608" y="4791456"/>
            <a:ext cx="2212848"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Measured on public data against baselines: 0.763 AUC (DKT 0.754); precision 0.46 vs 0.24 to 0.31 for rules.</a:t>
            </a:r>
            <a:endParaRPr lang="en-US" sz="900" dirty="0"/>
          </a:p>
        </p:txBody>
      </p:sp>
      <p:sp>
        <p:nvSpPr>
          <p:cNvPr id="57" name="Shape 43"/>
          <p:cNvSpPr/>
          <p:nvPr/>
        </p:nvSpPr>
        <p:spPr>
          <a:xfrm>
            <a:off x="411480" y="5394960"/>
            <a:ext cx="2761488" cy="859536"/>
          </a:xfrm>
          <a:prstGeom prst="rect">
            <a:avLst/>
          </a:prstGeom>
          <a:solidFill>
            <a:srgbClr val="F4F7FB"/>
          </a:solidFill>
          <a:ln w="9525">
            <a:solidFill>
              <a:srgbClr val="C9D6E8"/>
            </a:solidFill>
            <a:prstDash val="solid"/>
          </a:ln>
        </p:spPr>
      </p:sp>
      <p:sp>
        <p:nvSpPr>
          <p:cNvPr id="58" name="Shape 44"/>
          <p:cNvSpPr/>
          <p:nvPr/>
        </p:nvSpPr>
        <p:spPr>
          <a:xfrm>
            <a:off x="502920" y="5486400"/>
            <a:ext cx="329184" cy="329184"/>
          </a:xfrm>
          <a:prstGeom prst="ellipse">
            <a:avLst/>
          </a:prstGeom>
          <a:solidFill>
            <a:srgbClr val="1F4A82"/>
          </a:solidFill>
          <a:ln/>
        </p:spPr>
      </p:sp>
      <p:pic>
        <p:nvPicPr>
          <p:cNvPr id="59" name="Image 11" descr="FaUserShield icon">    </p:cNvPr>
          <p:cNvPicPr>
            <a:picLocks noChangeAspect="1"/>
          </p:cNvPicPr>
          <p:nvPr/>
        </p:nvPicPr>
        <p:blipFill>
          <a:blip r:embed="rId12"/>
          <a:stretch>
            <a:fillRect/>
          </a:stretch>
        </p:blipFill>
        <p:spPr>
          <a:xfrm>
            <a:off x="575340" y="5558820"/>
            <a:ext cx="184343" cy="184343"/>
          </a:xfrm>
          <a:prstGeom prst="rect">
            <a:avLst/>
          </a:prstGeom>
        </p:spPr>
      </p:pic>
      <p:sp>
        <p:nvSpPr>
          <p:cNvPr id="60" name="Text 45"/>
          <p:cNvSpPr txBox="1"/>
          <p:nvPr/>
        </p:nvSpPr>
        <p:spPr>
          <a:xfrm>
            <a:off x="905256" y="5458968"/>
            <a:ext cx="2194560" cy="256032"/>
          </a:xfrm>
          <a:prstGeom prst="rect">
            <a:avLst/>
          </a:prstGeom>
          <a:noFill/>
          <a:ln/>
        </p:spPr>
        <p:txBody>
          <a:bodyPr wrap="square" lIns="0" tIns="0" rIns="0" bIns="0" rtlCol="0" anchor="ctr"/>
          <a:lstStyle/>
          <a:p>
            <a:pPr algn="l" indent="0" marL="0">
              <a:buNone/>
            </a:pPr>
            <a:r>
              <a:rPr lang="en-US" sz="1100" b="1" dirty="0">
                <a:solidFill>
                  <a:srgbClr val="1F4A82"/>
                </a:solidFill>
                <a:latin typeface="Calibri" pitchFamily="34" charset="0"/>
                <a:ea typeface="Calibri" pitchFamily="34" charset="-122"/>
                <a:cs typeface="Calibri" pitchFamily="34" charset="-120"/>
              </a:rPr>
              <a:t>Privacy and safety 20</a:t>
            </a:r>
            <a:endParaRPr lang="en-US" sz="1100" dirty="0"/>
          </a:p>
        </p:txBody>
      </p:sp>
      <p:sp>
        <p:nvSpPr>
          <p:cNvPr id="61" name="Text 46"/>
          <p:cNvSpPr txBox="1"/>
          <p:nvPr/>
        </p:nvSpPr>
        <p:spPr>
          <a:xfrm>
            <a:off x="905256" y="5724144"/>
            <a:ext cx="2212848"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Age- and purpose-aware routing; academic-only features cost just 0.008 AUC; every report checked.</a:t>
            </a:r>
            <a:endParaRPr lang="en-US" sz="900" dirty="0"/>
          </a:p>
        </p:txBody>
      </p:sp>
      <p:sp>
        <p:nvSpPr>
          <p:cNvPr id="62" name="Shape 47"/>
          <p:cNvSpPr/>
          <p:nvPr/>
        </p:nvSpPr>
        <p:spPr>
          <a:xfrm>
            <a:off x="3227832" y="5394960"/>
            <a:ext cx="2761488" cy="859536"/>
          </a:xfrm>
          <a:prstGeom prst="rect">
            <a:avLst/>
          </a:prstGeom>
          <a:solidFill>
            <a:srgbClr val="F4F7FB"/>
          </a:solidFill>
          <a:ln w="9525">
            <a:solidFill>
              <a:srgbClr val="C9D6E8"/>
            </a:solidFill>
            <a:prstDash val="solid"/>
          </a:ln>
        </p:spPr>
      </p:sp>
      <p:sp>
        <p:nvSpPr>
          <p:cNvPr id="63" name="Shape 48"/>
          <p:cNvSpPr/>
          <p:nvPr/>
        </p:nvSpPr>
        <p:spPr>
          <a:xfrm>
            <a:off x="3319272" y="5486400"/>
            <a:ext cx="329184" cy="329184"/>
          </a:xfrm>
          <a:prstGeom prst="ellipse">
            <a:avLst/>
          </a:prstGeom>
          <a:solidFill>
            <a:srgbClr val="5B8DC9"/>
          </a:solidFill>
          <a:ln/>
        </p:spPr>
      </p:sp>
      <p:pic>
        <p:nvPicPr>
          <p:cNvPr id="64" name="Image 12" descr="FaIndianRupeeSign icon">    </p:cNvPr>
          <p:cNvPicPr>
            <a:picLocks noChangeAspect="1"/>
          </p:cNvPicPr>
          <p:nvPr/>
        </p:nvPicPr>
        <p:blipFill>
          <a:blip r:embed="rId13"/>
          <a:stretch>
            <a:fillRect/>
          </a:stretch>
        </p:blipFill>
        <p:spPr>
          <a:xfrm>
            <a:off x="3391692" y="5558820"/>
            <a:ext cx="184343" cy="184343"/>
          </a:xfrm>
          <a:prstGeom prst="rect">
            <a:avLst/>
          </a:prstGeom>
        </p:spPr>
      </p:pic>
      <p:sp>
        <p:nvSpPr>
          <p:cNvPr id="65" name="Text 49"/>
          <p:cNvSpPr txBox="1"/>
          <p:nvPr/>
        </p:nvSpPr>
        <p:spPr>
          <a:xfrm>
            <a:off x="3721608" y="5458968"/>
            <a:ext cx="2194560" cy="256032"/>
          </a:xfrm>
          <a:prstGeom prst="rect">
            <a:avLst/>
          </a:prstGeom>
          <a:noFill/>
          <a:ln/>
        </p:spPr>
        <p:txBody>
          <a:bodyPr wrap="square" lIns="0" tIns="0" rIns="0" bIns="0" rtlCol="0" anchor="ctr"/>
          <a:lstStyle/>
          <a:p>
            <a:pPr algn="l" indent="0" marL="0">
              <a:buNone/>
            </a:pPr>
            <a:r>
              <a:rPr lang="en-US" sz="1100" b="1" dirty="0">
                <a:solidFill>
                  <a:srgbClr val="1F4A82"/>
                </a:solidFill>
                <a:latin typeface="Calibri" pitchFamily="34" charset="0"/>
                <a:ea typeface="Calibri" pitchFamily="34" charset="-122"/>
                <a:cs typeface="Calibri" pitchFamily="34" charset="-120"/>
              </a:rPr>
              <a:t>Business 30</a:t>
            </a:r>
            <a:endParaRPr lang="en-US" sz="1100" dirty="0"/>
          </a:p>
        </p:txBody>
      </p:sp>
      <p:sp>
        <p:nvSpPr>
          <p:cNvPr id="66" name="Text 50"/>
          <p:cNvSpPr txBox="1"/>
          <p:nvPr/>
        </p:nvSpPr>
        <p:spPr>
          <a:xfrm>
            <a:off x="3721608" y="5724144"/>
            <a:ext cx="2212848"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1.7x owner return with admissions, 0.55x on hard benefits; LTV/CAC 3.6x; bear case shown.</a:t>
            </a:r>
            <a:endParaRPr lang="en-US" sz="900" dirty="0"/>
          </a:p>
        </p:txBody>
      </p:sp>
      <p:sp>
        <p:nvSpPr>
          <p:cNvPr id="67" name="Shape 51"/>
          <p:cNvSpPr/>
          <p:nvPr/>
        </p:nvSpPr>
        <p:spPr>
          <a:xfrm>
            <a:off x="6172200" y="1115568"/>
            <a:ext cx="1333424" cy="1078992"/>
          </a:xfrm>
          <a:prstGeom prst="rect">
            <a:avLst/>
          </a:prstGeom>
          <a:solidFill>
            <a:srgbClr val="FFFFFF"/>
          </a:solidFill>
          <a:ln w="15875">
            <a:solidFill>
              <a:srgbClr val="1F4A82"/>
            </a:solidFill>
            <a:prstDash val="solid"/>
          </a:ln>
        </p:spPr>
      </p:sp>
      <p:sp>
        <p:nvSpPr>
          <p:cNvPr id="68" name="Shape 52"/>
          <p:cNvSpPr/>
          <p:nvPr/>
        </p:nvSpPr>
        <p:spPr>
          <a:xfrm>
            <a:off x="6172200" y="1115568"/>
            <a:ext cx="1333424" cy="54864"/>
          </a:xfrm>
          <a:prstGeom prst="rect">
            <a:avLst/>
          </a:prstGeom>
          <a:solidFill>
            <a:srgbClr val="1F4A82"/>
          </a:solidFill>
          <a:ln/>
        </p:spPr>
      </p:sp>
      <p:sp>
        <p:nvSpPr>
          <p:cNvPr id="69" name="Text 53"/>
          <p:cNvSpPr txBox="1"/>
          <p:nvPr/>
        </p:nvSpPr>
        <p:spPr>
          <a:xfrm>
            <a:off x="6172200" y="1188720"/>
            <a:ext cx="1333424" cy="438912"/>
          </a:xfrm>
          <a:prstGeom prst="rect">
            <a:avLst/>
          </a:prstGeom>
          <a:noFill/>
          <a:ln/>
        </p:spPr>
        <p:txBody>
          <a:bodyPr wrap="square" lIns="0" tIns="0" rIns="0" bIns="0" rtlCol="0" anchor="ctr"/>
          <a:lstStyle/>
          <a:p>
            <a:pPr algn="ctr" indent="0" marL="0">
              <a:buNone/>
            </a:pPr>
            <a:r>
              <a:rPr lang="en-US" sz="2400" b="1" dirty="0">
                <a:solidFill>
                  <a:srgbClr val="1F4A82"/>
                </a:solidFill>
                <a:latin typeface="Calibri" pitchFamily="34" charset="0"/>
                <a:ea typeface="Calibri" pitchFamily="34" charset="-122"/>
                <a:cs typeface="Calibri" pitchFamily="34" charset="-120"/>
              </a:rPr>
              <a:t>0.763</a:t>
            </a:r>
            <a:endParaRPr lang="en-US" sz="2400" dirty="0"/>
          </a:p>
        </p:txBody>
      </p:sp>
      <p:sp>
        <p:nvSpPr>
          <p:cNvPr id="70" name="Text 54"/>
          <p:cNvSpPr txBox="1"/>
          <p:nvPr/>
        </p:nvSpPr>
        <p:spPr>
          <a:xfrm>
            <a:off x="6227064" y="1618488"/>
            <a:ext cx="1223696" cy="384048"/>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next-answer AUC on ASSISTments</a:t>
            </a:r>
            <a:endParaRPr lang="en-US" sz="900" dirty="0"/>
          </a:p>
        </p:txBody>
      </p:sp>
      <p:sp>
        <p:nvSpPr>
          <p:cNvPr id="71" name="Text 55"/>
          <p:cNvSpPr txBox="1"/>
          <p:nvPr/>
        </p:nvSpPr>
        <p:spPr>
          <a:xfrm>
            <a:off x="6172200" y="1984248"/>
            <a:ext cx="1333424" cy="182880"/>
          </a:xfrm>
          <a:prstGeom prst="rect">
            <a:avLst/>
          </a:prstGeom>
          <a:noFill/>
          <a:ln/>
        </p:spPr>
        <p:txBody>
          <a:bodyPr wrap="square" lIns="0" tIns="0" rIns="0" bIns="0" rtlCol="0" anchor="ctr"/>
          <a:lstStyle/>
          <a:p>
            <a:pPr algn="ctr" indent="0" marL="0">
              <a:buNone/>
            </a:pPr>
            <a:r>
              <a:rPr lang="en-US" sz="750" b="1" spc="100" kern="0" dirty="0">
                <a:solidFill>
                  <a:srgbClr val="5B6573"/>
                </a:solidFill>
                <a:latin typeface="Calibri" pitchFamily="34" charset="0"/>
                <a:ea typeface="Calibri" pitchFamily="34" charset="-122"/>
                <a:cs typeface="Calibri" pitchFamily="34" charset="-120"/>
              </a:rPr>
              <a:t>PUBLIC DATA</a:t>
            </a:r>
            <a:endParaRPr lang="en-US" sz="750" dirty="0"/>
          </a:p>
        </p:txBody>
      </p:sp>
      <p:sp>
        <p:nvSpPr>
          <p:cNvPr id="72" name="Shape 56"/>
          <p:cNvSpPr/>
          <p:nvPr/>
        </p:nvSpPr>
        <p:spPr>
          <a:xfrm>
            <a:off x="7597064" y="1115568"/>
            <a:ext cx="1333424" cy="1078992"/>
          </a:xfrm>
          <a:prstGeom prst="rect">
            <a:avLst/>
          </a:prstGeom>
          <a:solidFill>
            <a:srgbClr val="FFFFFF"/>
          </a:solidFill>
          <a:ln w="15875">
            <a:solidFill>
              <a:srgbClr val="1F4A82"/>
            </a:solidFill>
            <a:prstDash val="solid"/>
          </a:ln>
        </p:spPr>
      </p:sp>
      <p:sp>
        <p:nvSpPr>
          <p:cNvPr id="73" name="Shape 57"/>
          <p:cNvSpPr/>
          <p:nvPr/>
        </p:nvSpPr>
        <p:spPr>
          <a:xfrm>
            <a:off x="7597064" y="1115568"/>
            <a:ext cx="1333424" cy="54864"/>
          </a:xfrm>
          <a:prstGeom prst="rect">
            <a:avLst/>
          </a:prstGeom>
          <a:solidFill>
            <a:srgbClr val="1F4A82"/>
          </a:solidFill>
          <a:ln/>
        </p:spPr>
      </p:sp>
      <p:sp>
        <p:nvSpPr>
          <p:cNvPr id="74" name="Text 58"/>
          <p:cNvSpPr txBox="1"/>
          <p:nvPr/>
        </p:nvSpPr>
        <p:spPr>
          <a:xfrm>
            <a:off x="7597064" y="1188720"/>
            <a:ext cx="1333424" cy="438912"/>
          </a:xfrm>
          <a:prstGeom prst="rect">
            <a:avLst/>
          </a:prstGeom>
          <a:noFill/>
          <a:ln/>
        </p:spPr>
        <p:txBody>
          <a:bodyPr wrap="square" lIns="0" tIns="0" rIns="0" bIns="0" rtlCol="0" anchor="ctr"/>
          <a:lstStyle/>
          <a:p>
            <a:pPr algn="ctr" indent="0" marL="0">
              <a:buNone/>
            </a:pPr>
            <a:r>
              <a:rPr lang="en-US" sz="2400" b="1" dirty="0">
                <a:solidFill>
                  <a:srgbClr val="1F4A82"/>
                </a:solidFill>
                <a:latin typeface="Calibri" pitchFamily="34" charset="0"/>
                <a:ea typeface="Calibri" pitchFamily="34" charset="-122"/>
                <a:cs typeface="Calibri" pitchFamily="34" charset="-120"/>
              </a:rPr>
              <a:t>0.46</a:t>
            </a:r>
            <a:endParaRPr lang="en-US" sz="2400" dirty="0"/>
          </a:p>
        </p:txBody>
      </p:sp>
      <p:sp>
        <p:nvSpPr>
          <p:cNvPr id="75" name="Text 59"/>
          <p:cNvSpPr txBox="1"/>
          <p:nvPr/>
        </p:nvSpPr>
        <p:spPr>
          <a:xfrm>
            <a:off x="7651928" y="1618488"/>
            <a:ext cx="1223696" cy="384048"/>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precision at top 10 % (rules 0.24 to 0.31)</a:t>
            </a:r>
            <a:endParaRPr lang="en-US" sz="900" dirty="0"/>
          </a:p>
        </p:txBody>
      </p:sp>
      <p:sp>
        <p:nvSpPr>
          <p:cNvPr id="76" name="Text 60"/>
          <p:cNvSpPr txBox="1"/>
          <p:nvPr/>
        </p:nvSpPr>
        <p:spPr>
          <a:xfrm>
            <a:off x="7597064" y="1984248"/>
            <a:ext cx="1333424" cy="182880"/>
          </a:xfrm>
          <a:prstGeom prst="rect">
            <a:avLst/>
          </a:prstGeom>
          <a:noFill/>
          <a:ln/>
        </p:spPr>
        <p:txBody>
          <a:bodyPr wrap="square" lIns="0" tIns="0" rIns="0" bIns="0" rtlCol="0" anchor="ctr"/>
          <a:lstStyle/>
          <a:p>
            <a:pPr algn="ctr" indent="0" marL="0">
              <a:buNone/>
            </a:pPr>
            <a:r>
              <a:rPr lang="en-US" sz="750" b="1" spc="100" kern="0" dirty="0">
                <a:solidFill>
                  <a:srgbClr val="5B6573"/>
                </a:solidFill>
                <a:latin typeface="Calibri" pitchFamily="34" charset="0"/>
                <a:ea typeface="Calibri" pitchFamily="34" charset="-122"/>
                <a:cs typeface="Calibri" pitchFamily="34" charset="-120"/>
              </a:rPr>
              <a:t>PUBLIC DATA</a:t>
            </a:r>
            <a:endParaRPr lang="en-US" sz="750" dirty="0"/>
          </a:p>
        </p:txBody>
      </p:sp>
      <p:sp>
        <p:nvSpPr>
          <p:cNvPr id="77" name="Shape 61"/>
          <p:cNvSpPr/>
          <p:nvPr/>
        </p:nvSpPr>
        <p:spPr>
          <a:xfrm>
            <a:off x="9021928" y="1115568"/>
            <a:ext cx="1333424" cy="1078992"/>
          </a:xfrm>
          <a:prstGeom prst="rect">
            <a:avLst/>
          </a:prstGeom>
          <a:solidFill>
            <a:srgbClr val="FFFFFF"/>
          </a:solidFill>
          <a:ln w="15875">
            <a:solidFill>
              <a:srgbClr val="1F4A82"/>
            </a:solidFill>
            <a:prstDash val="solid"/>
          </a:ln>
        </p:spPr>
      </p:sp>
      <p:sp>
        <p:nvSpPr>
          <p:cNvPr id="78" name="Shape 62"/>
          <p:cNvSpPr/>
          <p:nvPr/>
        </p:nvSpPr>
        <p:spPr>
          <a:xfrm>
            <a:off x="9021928" y="1115568"/>
            <a:ext cx="1333424" cy="54864"/>
          </a:xfrm>
          <a:prstGeom prst="rect">
            <a:avLst/>
          </a:prstGeom>
          <a:solidFill>
            <a:srgbClr val="1F4A82"/>
          </a:solidFill>
          <a:ln/>
        </p:spPr>
      </p:sp>
      <p:sp>
        <p:nvSpPr>
          <p:cNvPr id="79" name="Text 63"/>
          <p:cNvSpPr txBox="1"/>
          <p:nvPr/>
        </p:nvSpPr>
        <p:spPr>
          <a:xfrm>
            <a:off x="9021928" y="1188720"/>
            <a:ext cx="1333424" cy="438912"/>
          </a:xfrm>
          <a:prstGeom prst="rect">
            <a:avLst/>
          </a:prstGeom>
          <a:noFill/>
          <a:ln/>
        </p:spPr>
        <p:txBody>
          <a:bodyPr wrap="square" lIns="0" tIns="0" rIns="0" bIns="0" rtlCol="0" anchor="ctr"/>
          <a:lstStyle/>
          <a:p>
            <a:pPr algn="ctr" indent="0" marL="0">
              <a:buNone/>
            </a:pPr>
            <a:r>
              <a:rPr lang="en-US" sz="2400" b="1" dirty="0">
                <a:solidFill>
                  <a:srgbClr val="1F4A82"/>
                </a:solidFill>
                <a:latin typeface="Calibri" pitchFamily="34" charset="0"/>
                <a:ea typeface="Calibri" pitchFamily="34" charset="-122"/>
                <a:cs typeface="Calibri" pitchFamily="34" charset="-120"/>
              </a:rPr>
              <a:t>1.7x</a:t>
            </a:r>
            <a:endParaRPr lang="en-US" sz="2400" dirty="0"/>
          </a:p>
        </p:txBody>
      </p:sp>
      <p:sp>
        <p:nvSpPr>
          <p:cNvPr id="80" name="Text 64"/>
          <p:cNvSpPr txBox="1"/>
          <p:nvPr/>
        </p:nvSpPr>
        <p:spPr>
          <a:xfrm>
            <a:off x="9076792" y="1618488"/>
            <a:ext cx="1223696" cy="384048"/>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owner return, base (0.55x hard benefits)</a:t>
            </a:r>
            <a:endParaRPr lang="en-US" sz="900" dirty="0"/>
          </a:p>
        </p:txBody>
      </p:sp>
      <p:sp>
        <p:nvSpPr>
          <p:cNvPr id="81" name="Text 65"/>
          <p:cNvSpPr txBox="1"/>
          <p:nvPr/>
        </p:nvSpPr>
        <p:spPr>
          <a:xfrm>
            <a:off x="9021928" y="1984248"/>
            <a:ext cx="1333424" cy="182880"/>
          </a:xfrm>
          <a:prstGeom prst="rect">
            <a:avLst/>
          </a:prstGeom>
          <a:noFill/>
          <a:ln/>
        </p:spPr>
        <p:txBody>
          <a:bodyPr wrap="square" lIns="0" tIns="0" rIns="0" bIns="0" rtlCol="0" anchor="ctr"/>
          <a:lstStyle/>
          <a:p>
            <a:pPr algn="ctr" indent="0" marL="0">
              <a:buNone/>
            </a:pPr>
            <a:r>
              <a:rPr lang="en-US" sz="750" b="1" spc="100" kern="0" dirty="0">
                <a:solidFill>
                  <a:srgbClr val="5B6573"/>
                </a:solidFill>
                <a:latin typeface="Calibri" pitchFamily="34" charset="0"/>
                <a:ea typeface="Calibri" pitchFamily="34" charset="-122"/>
                <a:cs typeface="Calibri" pitchFamily="34" charset="-120"/>
              </a:rPr>
              <a:t>MODEL OUTPUT</a:t>
            </a:r>
            <a:endParaRPr lang="en-US" sz="750" dirty="0"/>
          </a:p>
        </p:txBody>
      </p:sp>
      <p:sp>
        <p:nvSpPr>
          <p:cNvPr id="82" name="Shape 66"/>
          <p:cNvSpPr/>
          <p:nvPr/>
        </p:nvSpPr>
        <p:spPr>
          <a:xfrm>
            <a:off x="10446791" y="1115568"/>
            <a:ext cx="1333424" cy="1078992"/>
          </a:xfrm>
          <a:prstGeom prst="rect">
            <a:avLst/>
          </a:prstGeom>
          <a:solidFill>
            <a:srgbClr val="FFFFFF"/>
          </a:solidFill>
          <a:ln w="15875">
            <a:solidFill>
              <a:srgbClr val="1F4A82"/>
            </a:solidFill>
            <a:prstDash val="solid"/>
          </a:ln>
        </p:spPr>
      </p:sp>
      <p:sp>
        <p:nvSpPr>
          <p:cNvPr id="83" name="Shape 67"/>
          <p:cNvSpPr/>
          <p:nvPr/>
        </p:nvSpPr>
        <p:spPr>
          <a:xfrm>
            <a:off x="10446791" y="1115568"/>
            <a:ext cx="1333424" cy="54864"/>
          </a:xfrm>
          <a:prstGeom prst="rect">
            <a:avLst/>
          </a:prstGeom>
          <a:solidFill>
            <a:srgbClr val="1F4A82"/>
          </a:solidFill>
          <a:ln/>
        </p:spPr>
      </p:sp>
      <p:sp>
        <p:nvSpPr>
          <p:cNvPr id="84" name="Text 68"/>
          <p:cNvSpPr txBox="1"/>
          <p:nvPr/>
        </p:nvSpPr>
        <p:spPr>
          <a:xfrm>
            <a:off x="10446791" y="1188720"/>
            <a:ext cx="1333424" cy="438912"/>
          </a:xfrm>
          <a:prstGeom prst="rect">
            <a:avLst/>
          </a:prstGeom>
          <a:noFill/>
          <a:ln/>
        </p:spPr>
        <p:txBody>
          <a:bodyPr wrap="square" lIns="0" tIns="0" rIns="0" bIns="0" rtlCol="0" anchor="ctr"/>
          <a:lstStyle/>
          <a:p>
            <a:pPr algn="ctr" indent="0" marL="0">
              <a:buNone/>
            </a:pPr>
            <a:r>
              <a:rPr lang="en-US" sz="2400" b="1" dirty="0">
                <a:solidFill>
                  <a:srgbClr val="1F4A82"/>
                </a:solidFill>
                <a:latin typeface="Calibri" pitchFamily="34" charset="0"/>
                <a:ea typeface="Calibri" pitchFamily="34" charset="-122"/>
                <a:cs typeface="Calibri" pitchFamily="34" charset="-120"/>
              </a:rPr>
              <a:t>3.6x</a:t>
            </a:r>
            <a:endParaRPr lang="en-US" sz="2400" dirty="0"/>
          </a:p>
        </p:txBody>
      </p:sp>
      <p:sp>
        <p:nvSpPr>
          <p:cNvPr id="85" name="Text 69"/>
          <p:cNvSpPr txBox="1"/>
          <p:nvPr/>
        </p:nvSpPr>
        <p:spPr>
          <a:xfrm>
            <a:off x="10501655" y="1618488"/>
            <a:ext cx="1223696" cy="384048"/>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LTV ÷ CAC, base (4.8x undiscounted)</a:t>
            </a:r>
            <a:endParaRPr lang="en-US" sz="900" dirty="0"/>
          </a:p>
        </p:txBody>
      </p:sp>
      <p:sp>
        <p:nvSpPr>
          <p:cNvPr id="86" name="Text 70"/>
          <p:cNvSpPr txBox="1"/>
          <p:nvPr/>
        </p:nvSpPr>
        <p:spPr>
          <a:xfrm>
            <a:off x="10446791" y="1984248"/>
            <a:ext cx="1333424" cy="182880"/>
          </a:xfrm>
          <a:prstGeom prst="rect">
            <a:avLst/>
          </a:prstGeom>
          <a:noFill/>
          <a:ln/>
        </p:spPr>
        <p:txBody>
          <a:bodyPr wrap="square" lIns="0" tIns="0" rIns="0" bIns="0" rtlCol="0" anchor="ctr"/>
          <a:lstStyle/>
          <a:p>
            <a:pPr algn="ctr" indent="0" marL="0">
              <a:buNone/>
            </a:pPr>
            <a:r>
              <a:rPr lang="en-US" sz="750" b="1" spc="100" kern="0" dirty="0">
                <a:solidFill>
                  <a:srgbClr val="5B6573"/>
                </a:solidFill>
                <a:latin typeface="Calibri" pitchFamily="34" charset="0"/>
                <a:ea typeface="Calibri" pitchFamily="34" charset="-122"/>
                <a:cs typeface="Calibri" pitchFamily="34" charset="-120"/>
              </a:rPr>
              <a:t>MODEL OUTPUT</a:t>
            </a:r>
            <a:endParaRPr lang="en-US" sz="750" dirty="0"/>
          </a:p>
        </p:txBody>
      </p:sp>
      <p:sp>
        <p:nvSpPr>
          <p:cNvPr id="87" name="Shape 71"/>
          <p:cNvSpPr/>
          <p:nvPr/>
        </p:nvSpPr>
        <p:spPr>
          <a:xfrm>
            <a:off x="6172200" y="2304288"/>
            <a:ext cx="5608015" cy="256032"/>
          </a:xfrm>
          <a:prstGeom prst="rect">
            <a:avLst/>
          </a:prstGeom>
          <a:solidFill>
            <a:srgbClr val="1F4A82"/>
          </a:solidFill>
          <a:ln/>
        </p:spPr>
      </p:sp>
      <p:sp>
        <p:nvSpPr>
          <p:cNvPr id="88" name="Text 72"/>
          <p:cNvSpPr txBox="1"/>
          <p:nvPr/>
        </p:nvSpPr>
        <p:spPr>
          <a:xfrm>
            <a:off x="6245352" y="2304288"/>
            <a:ext cx="5461711"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PRAGATI LOOP: CAPTURE → STRUCTURE → ESTIMATE → FLAG → ACT → REPORT</a:t>
            </a:r>
            <a:endParaRPr lang="en-US" sz="1000" dirty="0"/>
          </a:p>
        </p:txBody>
      </p:sp>
      <p:sp>
        <p:nvSpPr>
          <p:cNvPr id="89" name="Shape 73"/>
          <p:cNvSpPr/>
          <p:nvPr/>
        </p:nvSpPr>
        <p:spPr>
          <a:xfrm>
            <a:off x="6913855" y="2880360"/>
            <a:ext cx="386029" cy="0"/>
          </a:xfrm>
          <a:prstGeom prst="line">
            <a:avLst/>
          </a:prstGeom>
          <a:noFill/>
          <a:ln w="19050">
            <a:solidFill>
              <a:srgbClr val="C9D6E8"/>
            </a:solidFill>
            <a:prstDash val="solid"/>
            <a:tailEnd type="triangle"/>
          </a:ln>
        </p:spPr>
      </p:sp>
      <p:sp>
        <p:nvSpPr>
          <p:cNvPr id="90" name="Shape 74"/>
          <p:cNvSpPr/>
          <p:nvPr/>
        </p:nvSpPr>
        <p:spPr>
          <a:xfrm>
            <a:off x="6392647" y="2633472"/>
            <a:ext cx="493776" cy="493776"/>
          </a:xfrm>
          <a:prstGeom prst="ellipse">
            <a:avLst/>
          </a:prstGeom>
          <a:solidFill>
            <a:srgbClr val="1F4A82"/>
          </a:solidFill>
          <a:ln/>
        </p:spPr>
      </p:sp>
      <p:pic>
        <p:nvPicPr>
          <p:cNvPr id="91" name="Image 13" descr="FaCamera icon">    </p:cNvPr>
          <p:cNvPicPr>
            <a:picLocks noChangeAspect="1"/>
          </p:cNvPicPr>
          <p:nvPr/>
        </p:nvPicPr>
        <p:blipFill>
          <a:blip r:embed="rId14"/>
          <a:stretch>
            <a:fillRect/>
          </a:stretch>
        </p:blipFill>
        <p:spPr>
          <a:xfrm>
            <a:off x="6501277" y="2742103"/>
            <a:ext cx="276515" cy="276515"/>
          </a:xfrm>
          <a:prstGeom prst="rect">
            <a:avLst/>
          </a:prstGeom>
        </p:spPr>
      </p:pic>
      <p:sp>
        <p:nvSpPr>
          <p:cNvPr id="92" name="Text 75"/>
          <p:cNvSpPr txBox="1"/>
          <p:nvPr/>
        </p:nvSpPr>
        <p:spPr>
          <a:xfrm>
            <a:off x="6172200"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Capture</a:t>
            </a:r>
            <a:endParaRPr lang="en-US" sz="1000" dirty="0"/>
          </a:p>
        </p:txBody>
      </p:sp>
      <p:sp>
        <p:nvSpPr>
          <p:cNvPr id="93" name="Text 76"/>
          <p:cNvSpPr txBox="1"/>
          <p:nvPr/>
        </p:nvSpPr>
        <p:spPr>
          <a:xfrm>
            <a:off x="6199632"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OMR photo, Excel</a:t>
            </a:r>
            <a:endParaRPr lang="en-US" sz="850" dirty="0"/>
          </a:p>
        </p:txBody>
      </p:sp>
      <p:sp>
        <p:nvSpPr>
          <p:cNvPr id="94" name="Shape 77"/>
          <p:cNvSpPr/>
          <p:nvPr/>
        </p:nvSpPr>
        <p:spPr>
          <a:xfrm>
            <a:off x="7848524" y="2880360"/>
            <a:ext cx="386029" cy="0"/>
          </a:xfrm>
          <a:prstGeom prst="line">
            <a:avLst/>
          </a:prstGeom>
          <a:noFill/>
          <a:ln w="19050">
            <a:solidFill>
              <a:srgbClr val="C9D6E8"/>
            </a:solidFill>
            <a:prstDash val="solid"/>
            <a:tailEnd type="triangle"/>
          </a:ln>
        </p:spPr>
      </p:sp>
      <p:sp>
        <p:nvSpPr>
          <p:cNvPr id="95" name="Shape 78"/>
          <p:cNvSpPr/>
          <p:nvPr/>
        </p:nvSpPr>
        <p:spPr>
          <a:xfrm>
            <a:off x="7327316" y="2633472"/>
            <a:ext cx="493776" cy="493776"/>
          </a:xfrm>
          <a:prstGeom prst="ellipse">
            <a:avLst/>
          </a:prstGeom>
          <a:solidFill>
            <a:srgbClr val="2E6DB4"/>
          </a:solidFill>
          <a:ln/>
        </p:spPr>
      </p:sp>
      <p:pic>
        <p:nvPicPr>
          <p:cNvPr id="96" name="Image 14" descr="FaDiagramProject icon">    </p:cNvPr>
          <p:cNvPicPr>
            <a:picLocks noChangeAspect="1"/>
          </p:cNvPicPr>
          <p:nvPr/>
        </p:nvPicPr>
        <p:blipFill>
          <a:blip r:embed="rId15"/>
          <a:stretch>
            <a:fillRect/>
          </a:stretch>
        </p:blipFill>
        <p:spPr>
          <a:xfrm>
            <a:off x="7435947" y="2742103"/>
            <a:ext cx="276515" cy="276515"/>
          </a:xfrm>
          <a:prstGeom prst="rect">
            <a:avLst/>
          </a:prstGeom>
        </p:spPr>
      </p:pic>
      <p:sp>
        <p:nvSpPr>
          <p:cNvPr id="97" name="Text 79"/>
          <p:cNvSpPr txBox="1"/>
          <p:nvPr/>
        </p:nvSpPr>
        <p:spPr>
          <a:xfrm>
            <a:off x="7106869"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Structure</a:t>
            </a:r>
            <a:endParaRPr lang="en-US" sz="1000" dirty="0"/>
          </a:p>
        </p:txBody>
      </p:sp>
      <p:sp>
        <p:nvSpPr>
          <p:cNvPr id="98" name="Text 80"/>
          <p:cNvSpPr txBox="1"/>
          <p:nvPr/>
        </p:nvSpPr>
        <p:spPr>
          <a:xfrm>
            <a:off x="7134301"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380-topic map</a:t>
            </a:r>
            <a:endParaRPr lang="en-US" sz="850" dirty="0"/>
          </a:p>
        </p:txBody>
      </p:sp>
      <p:sp>
        <p:nvSpPr>
          <p:cNvPr id="99" name="Shape 81"/>
          <p:cNvSpPr/>
          <p:nvPr/>
        </p:nvSpPr>
        <p:spPr>
          <a:xfrm>
            <a:off x="8783193" y="2880360"/>
            <a:ext cx="386029" cy="0"/>
          </a:xfrm>
          <a:prstGeom prst="line">
            <a:avLst/>
          </a:prstGeom>
          <a:noFill/>
          <a:ln w="19050">
            <a:solidFill>
              <a:srgbClr val="C9D6E8"/>
            </a:solidFill>
            <a:prstDash val="solid"/>
            <a:tailEnd type="triangle"/>
          </a:ln>
        </p:spPr>
      </p:sp>
      <p:sp>
        <p:nvSpPr>
          <p:cNvPr id="100" name="Shape 82"/>
          <p:cNvSpPr/>
          <p:nvPr/>
        </p:nvSpPr>
        <p:spPr>
          <a:xfrm>
            <a:off x="8261985" y="2633472"/>
            <a:ext cx="493776" cy="493776"/>
          </a:xfrm>
          <a:prstGeom prst="ellipse">
            <a:avLst/>
          </a:prstGeom>
          <a:solidFill>
            <a:srgbClr val="1F4A82"/>
          </a:solidFill>
          <a:ln/>
        </p:spPr>
      </p:sp>
      <p:pic>
        <p:nvPicPr>
          <p:cNvPr id="101" name="Image 15" descr="FaBrain icon">    </p:cNvPr>
          <p:cNvPicPr>
            <a:picLocks noChangeAspect="1"/>
          </p:cNvPicPr>
          <p:nvPr/>
        </p:nvPicPr>
        <p:blipFill>
          <a:blip r:embed="rId16"/>
          <a:stretch>
            <a:fillRect/>
          </a:stretch>
        </p:blipFill>
        <p:spPr>
          <a:xfrm>
            <a:off x="8370616" y="2742103"/>
            <a:ext cx="276515" cy="276515"/>
          </a:xfrm>
          <a:prstGeom prst="rect">
            <a:avLst/>
          </a:prstGeom>
        </p:spPr>
      </p:pic>
      <p:sp>
        <p:nvSpPr>
          <p:cNvPr id="102" name="Text 83"/>
          <p:cNvSpPr txBox="1"/>
          <p:nvPr/>
        </p:nvSpPr>
        <p:spPr>
          <a:xfrm>
            <a:off x="8041538"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Estimate</a:t>
            </a:r>
            <a:endParaRPr lang="en-US" sz="1000" dirty="0"/>
          </a:p>
        </p:txBody>
      </p:sp>
      <p:sp>
        <p:nvSpPr>
          <p:cNvPr id="103" name="Text 84"/>
          <p:cNvSpPr txBox="1"/>
          <p:nvPr/>
        </p:nvSpPr>
        <p:spPr>
          <a:xfrm>
            <a:off x="8068970"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Mastery per topic</a:t>
            </a:r>
            <a:endParaRPr lang="en-US" sz="850" dirty="0"/>
          </a:p>
        </p:txBody>
      </p:sp>
      <p:sp>
        <p:nvSpPr>
          <p:cNvPr id="104" name="Shape 85"/>
          <p:cNvSpPr/>
          <p:nvPr/>
        </p:nvSpPr>
        <p:spPr>
          <a:xfrm>
            <a:off x="9717862" y="2880360"/>
            <a:ext cx="386029" cy="0"/>
          </a:xfrm>
          <a:prstGeom prst="line">
            <a:avLst/>
          </a:prstGeom>
          <a:noFill/>
          <a:ln w="19050">
            <a:solidFill>
              <a:srgbClr val="C9D6E8"/>
            </a:solidFill>
            <a:prstDash val="solid"/>
            <a:tailEnd type="triangle"/>
          </a:ln>
        </p:spPr>
      </p:sp>
      <p:sp>
        <p:nvSpPr>
          <p:cNvPr id="105" name="Shape 86"/>
          <p:cNvSpPr/>
          <p:nvPr/>
        </p:nvSpPr>
        <p:spPr>
          <a:xfrm>
            <a:off x="9196654" y="2633472"/>
            <a:ext cx="493776" cy="493776"/>
          </a:xfrm>
          <a:prstGeom prst="ellipse">
            <a:avLst/>
          </a:prstGeom>
          <a:solidFill>
            <a:srgbClr val="5B8DC9"/>
          </a:solidFill>
          <a:ln/>
        </p:spPr>
      </p:sp>
      <p:pic>
        <p:nvPicPr>
          <p:cNvPr id="106" name="Image 16" descr="FaFlag icon">    </p:cNvPr>
          <p:cNvPicPr>
            <a:picLocks noChangeAspect="1"/>
          </p:cNvPicPr>
          <p:nvPr/>
        </p:nvPicPr>
        <p:blipFill>
          <a:blip r:embed="rId17"/>
          <a:stretch>
            <a:fillRect/>
          </a:stretch>
        </p:blipFill>
        <p:spPr>
          <a:xfrm>
            <a:off x="9305285" y="2742103"/>
            <a:ext cx="276515" cy="276515"/>
          </a:xfrm>
          <a:prstGeom prst="rect">
            <a:avLst/>
          </a:prstGeom>
        </p:spPr>
      </p:pic>
      <p:sp>
        <p:nvSpPr>
          <p:cNvPr id="107" name="Text 87"/>
          <p:cNvSpPr txBox="1"/>
          <p:nvPr/>
        </p:nvSpPr>
        <p:spPr>
          <a:xfrm>
            <a:off x="8976208"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Flag</a:t>
            </a:r>
            <a:endParaRPr lang="en-US" sz="1000" dirty="0"/>
          </a:p>
        </p:txBody>
      </p:sp>
      <p:sp>
        <p:nvSpPr>
          <p:cNvPr id="108" name="Text 88"/>
          <p:cNvSpPr txBox="1"/>
          <p:nvPr/>
        </p:nvSpPr>
        <p:spPr>
          <a:xfrm>
            <a:off x="9003640"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Weekly list, reasons</a:t>
            </a:r>
            <a:endParaRPr lang="en-US" sz="850" dirty="0"/>
          </a:p>
        </p:txBody>
      </p:sp>
      <p:sp>
        <p:nvSpPr>
          <p:cNvPr id="109" name="Shape 89"/>
          <p:cNvSpPr/>
          <p:nvPr/>
        </p:nvSpPr>
        <p:spPr>
          <a:xfrm>
            <a:off x="10652531" y="2880360"/>
            <a:ext cx="386029" cy="0"/>
          </a:xfrm>
          <a:prstGeom prst="line">
            <a:avLst/>
          </a:prstGeom>
          <a:noFill/>
          <a:ln w="19050">
            <a:solidFill>
              <a:srgbClr val="C9D6E8"/>
            </a:solidFill>
            <a:prstDash val="solid"/>
            <a:tailEnd type="triangle"/>
          </a:ln>
        </p:spPr>
      </p:sp>
      <p:sp>
        <p:nvSpPr>
          <p:cNvPr id="110" name="Shape 90"/>
          <p:cNvSpPr/>
          <p:nvPr/>
        </p:nvSpPr>
        <p:spPr>
          <a:xfrm>
            <a:off x="10131323" y="2633472"/>
            <a:ext cx="493776" cy="493776"/>
          </a:xfrm>
          <a:prstGeom prst="ellipse">
            <a:avLst/>
          </a:prstGeom>
          <a:solidFill>
            <a:srgbClr val="1F4A82"/>
          </a:solidFill>
          <a:ln/>
        </p:spPr>
      </p:sp>
      <p:pic>
        <p:nvPicPr>
          <p:cNvPr id="111" name="Image 17" descr="FaHandshake icon">    </p:cNvPr>
          <p:cNvPicPr>
            <a:picLocks noChangeAspect="1"/>
          </p:cNvPicPr>
          <p:nvPr/>
        </p:nvPicPr>
        <p:blipFill>
          <a:blip r:embed="rId18"/>
          <a:stretch>
            <a:fillRect/>
          </a:stretch>
        </p:blipFill>
        <p:spPr>
          <a:xfrm>
            <a:off x="10239954" y="2742103"/>
            <a:ext cx="276515" cy="276515"/>
          </a:xfrm>
          <a:prstGeom prst="rect">
            <a:avLst/>
          </a:prstGeom>
        </p:spPr>
      </p:pic>
      <p:sp>
        <p:nvSpPr>
          <p:cNvPr id="112" name="Text 91"/>
          <p:cNvSpPr txBox="1"/>
          <p:nvPr/>
        </p:nvSpPr>
        <p:spPr>
          <a:xfrm>
            <a:off x="9910877"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Act</a:t>
            </a:r>
            <a:endParaRPr lang="en-US" sz="1000" dirty="0"/>
          </a:p>
        </p:txBody>
      </p:sp>
      <p:sp>
        <p:nvSpPr>
          <p:cNvPr id="113" name="Text 92"/>
          <p:cNvSpPr txBox="1"/>
          <p:nvPr/>
        </p:nvSpPr>
        <p:spPr>
          <a:xfrm>
            <a:off x="9938309"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Call, session, log</a:t>
            </a:r>
            <a:endParaRPr lang="en-US" sz="850" dirty="0"/>
          </a:p>
        </p:txBody>
      </p:sp>
      <p:sp>
        <p:nvSpPr>
          <p:cNvPr id="114" name="Shape 93"/>
          <p:cNvSpPr/>
          <p:nvPr/>
        </p:nvSpPr>
        <p:spPr>
          <a:xfrm>
            <a:off x="11065993" y="2633472"/>
            <a:ext cx="493776" cy="493776"/>
          </a:xfrm>
          <a:prstGeom prst="ellipse">
            <a:avLst/>
          </a:prstGeom>
          <a:solidFill>
            <a:srgbClr val="2E6DB4"/>
          </a:solidFill>
          <a:ln/>
        </p:spPr>
      </p:sp>
      <p:pic>
        <p:nvPicPr>
          <p:cNvPr id="115" name="Image 18" descr="FaFileLines icon">    </p:cNvPr>
          <p:cNvPicPr>
            <a:picLocks noChangeAspect="1"/>
          </p:cNvPicPr>
          <p:nvPr/>
        </p:nvPicPr>
        <p:blipFill>
          <a:blip r:embed="rId19"/>
          <a:stretch>
            <a:fillRect/>
          </a:stretch>
        </p:blipFill>
        <p:spPr>
          <a:xfrm>
            <a:off x="11174623" y="2742103"/>
            <a:ext cx="276515" cy="276515"/>
          </a:xfrm>
          <a:prstGeom prst="rect">
            <a:avLst/>
          </a:prstGeom>
        </p:spPr>
      </p:pic>
      <p:sp>
        <p:nvSpPr>
          <p:cNvPr id="116" name="Text 94"/>
          <p:cNvSpPr txBox="1"/>
          <p:nvPr/>
        </p:nvSpPr>
        <p:spPr>
          <a:xfrm>
            <a:off x="10845546"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Report</a:t>
            </a:r>
            <a:endParaRPr lang="en-US" sz="1000" dirty="0"/>
          </a:p>
        </p:txBody>
      </p:sp>
      <p:sp>
        <p:nvSpPr>
          <p:cNvPr id="117" name="Text 95"/>
          <p:cNvSpPr txBox="1"/>
          <p:nvPr/>
        </p:nvSpPr>
        <p:spPr>
          <a:xfrm>
            <a:off x="10872978"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Checked Hindi / English</a:t>
            </a:r>
            <a:endParaRPr lang="en-US" sz="850" dirty="0"/>
          </a:p>
        </p:txBody>
      </p:sp>
      <p:sp>
        <p:nvSpPr>
          <p:cNvPr id="118" name="Shape 96"/>
          <p:cNvSpPr/>
          <p:nvPr/>
        </p:nvSpPr>
        <p:spPr>
          <a:xfrm>
            <a:off x="6172200" y="3749040"/>
            <a:ext cx="1051560" cy="246888"/>
          </a:xfrm>
          <a:prstGeom prst="rect">
            <a:avLst/>
          </a:prstGeom>
          <a:solidFill>
            <a:srgbClr val="1F4A82"/>
          </a:solidFill>
          <a:ln/>
        </p:spPr>
      </p:sp>
      <p:sp>
        <p:nvSpPr>
          <p:cNvPr id="119" name="Text 97"/>
          <p:cNvSpPr txBox="1"/>
          <p:nvPr/>
        </p:nvSpPr>
        <p:spPr>
          <a:xfrm>
            <a:off x="6217920" y="3749040"/>
            <a:ext cx="960120" cy="24688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Build choice</a:t>
            </a:r>
            <a:endParaRPr lang="en-US" sz="900" dirty="0"/>
          </a:p>
        </p:txBody>
      </p:sp>
      <p:sp>
        <p:nvSpPr>
          <p:cNvPr id="120" name="Shape 98"/>
          <p:cNvSpPr/>
          <p:nvPr/>
        </p:nvSpPr>
        <p:spPr>
          <a:xfrm>
            <a:off x="7223760" y="3749040"/>
            <a:ext cx="2926080" cy="246888"/>
          </a:xfrm>
          <a:prstGeom prst="rect">
            <a:avLst/>
          </a:prstGeom>
          <a:solidFill>
            <a:srgbClr val="1F4A82"/>
          </a:solidFill>
          <a:ln/>
        </p:spPr>
      </p:sp>
      <p:sp>
        <p:nvSpPr>
          <p:cNvPr id="121" name="Text 99"/>
          <p:cNvSpPr txBox="1"/>
          <p:nvPr/>
        </p:nvSpPr>
        <p:spPr>
          <a:xfrm>
            <a:off x="7269480" y="3749040"/>
            <a:ext cx="2834640" cy="24688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What we use</a:t>
            </a:r>
            <a:endParaRPr lang="en-US" sz="900" dirty="0"/>
          </a:p>
        </p:txBody>
      </p:sp>
      <p:sp>
        <p:nvSpPr>
          <p:cNvPr id="122" name="Shape 100"/>
          <p:cNvSpPr/>
          <p:nvPr/>
        </p:nvSpPr>
        <p:spPr>
          <a:xfrm>
            <a:off x="10149840" y="3749040"/>
            <a:ext cx="1630375" cy="246888"/>
          </a:xfrm>
          <a:prstGeom prst="rect">
            <a:avLst/>
          </a:prstGeom>
          <a:solidFill>
            <a:srgbClr val="1F4A82"/>
          </a:solidFill>
          <a:ln/>
        </p:spPr>
      </p:sp>
      <p:sp>
        <p:nvSpPr>
          <p:cNvPr id="123" name="Text 101"/>
          <p:cNvSpPr txBox="1"/>
          <p:nvPr/>
        </p:nvSpPr>
        <p:spPr>
          <a:xfrm>
            <a:off x="10195560" y="3749040"/>
            <a:ext cx="1538935" cy="24688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Why</a:t>
            </a:r>
            <a:endParaRPr lang="en-US" sz="900" dirty="0"/>
          </a:p>
        </p:txBody>
      </p:sp>
      <p:sp>
        <p:nvSpPr>
          <p:cNvPr id="124" name="Shape 102"/>
          <p:cNvSpPr/>
          <p:nvPr/>
        </p:nvSpPr>
        <p:spPr>
          <a:xfrm>
            <a:off x="6172200" y="3995928"/>
            <a:ext cx="1051560" cy="246888"/>
          </a:xfrm>
          <a:prstGeom prst="rect">
            <a:avLst/>
          </a:prstGeom>
          <a:solidFill>
            <a:srgbClr val="F1F7F3"/>
          </a:solidFill>
          <a:ln/>
        </p:spPr>
      </p:sp>
      <p:sp>
        <p:nvSpPr>
          <p:cNvPr id="125" name="Text 103"/>
          <p:cNvSpPr txBox="1"/>
          <p:nvPr/>
        </p:nvSpPr>
        <p:spPr>
          <a:xfrm>
            <a:off x="6217920" y="3995928"/>
            <a:ext cx="96012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OMR capture</a:t>
            </a:r>
            <a:endParaRPr lang="en-US" sz="900" dirty="0"/>
          </a:p>
        </p:txBody>
      </p:sp>
      <p:sp>
        <p:nvSpPr>
          <p:cNvPr id="126" name="Shape 104"/>
          <p:cNvSpPr/>
          <p:nvPr/>
        </p:nvSpPr>
        <p:spPr>
          <a:xfrm>
            <a:off x="7223760" y="3995928"/>
            <a:ext cx="2926080" cy="246888"/>
          </a:xfrm>
          <a:prstGeom prst="rect">
            <a:avLst/>
          </a:prstGeom>
          <a:solidFill>
            <a:srgbClr val="F1F7F3"/>
          </a:solidFill>
          <a:ln/>
        </p:spPr>
      </p:sp>
      <p:sp>
        <p:nvSpPr>
          <p:cNvPr id="127" name="Text 105"/>
          <p:cNvSpPr txBox="1"/>
          <p:nvPr/>
        </p:nvSpPr>
        <p:spPr>
          <a:xfrm>
            <a:off x="7269480" y="3995928"/>
            <a:ext cx="2834640"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Corner marks and QR; unclear bubbles sent back</a:t>
            </a:r>
            <a:endParaRPr lang="en-US" sz="900" dirty="0"/>
          </a:p>
        </p:txBody>
      </p:sp>
      <p:sp>
        <p:nvSpPr>
          <p:cNvPr id="128" name="Shape 106"/>
          <p:cNvSpPr/>
          <p:nvPr/>
        </p:nvSpPr>
        <p:spPr>
          <a:xfrm>
            <a:off x="10149840" y="3995928"/>
            <a:ext cx="1630375" cy="246888"/>
          </a:xfrm>
          <a:prstGeom prst="rect">
            <a:avLst/>
          </a:prstGeom>
          <a:solidFill>
            <a:srgbClr val="F1F7F3"/>
          </a:solidFill>
          <a:ln/>
        </p:spPr>
      </p:sp>
      <p:sp>
        <p:nvSpPr>
          <p:cNvPr id="129" name="Text 107"/>
          <p:cNvSpPr txBox="1"/>
          <p:nvPr/>
        </p:nvSpPr>
        <p:spPr>
          <a:xfrm>
            <a:off x="10195560" y="3995928"/>
            <a:ext cx="1538935"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No scanner, works offline</a:t>
            </a:r>
            <a:endParaRPr lang="en-US" sz="900" dirty="0"/>
          </a:p>
        </p:txBody>
      </p:sp>
      <p:sp>
        <p:nvSpPr>
          <p:cNvPr id="130" name="Shape 108"/>
          <p:cNvSpPr/>
          <p:nvPr/>
        </p:nvSpPr>
        <p:spPr>
          <a:xfrm>
            <a:off x="6172200" y="4242816"/>
            <a:ext cx="5608015" cy="0"/>
          </a:xfrm>
          <a:prstGeom prst="line">
            <a:avLst/>
          </a:prstGeom>
          <a:noFill/>
          <a:ln w="6350">
            <a:solidFill>
              <a:srgbClr val="E3E8E4"/>
            </a:solidFill>
            <a:prstDash val="solid"/>
          </a:ln>
        </p:spPr>
      </p:sp>
      <p:sp>
        <p:nvSpPr>
          <p:cNvPr id="131" name="Shape 109"/>
          <p:cNvSpPr/>
          <p:nvPr/>
        </p:nvSpPr>
        <p:spPr>
          <a:xfrm>
            <a:off x="6172200" y="4242816"/>
            <a:ext cx="1051560" cy="246888"/>
          </a:xfrm>
          <a:prstGeom prst="rect">
            <a:avLst/>
          </a:prstGeom>
          <a:solidFill>
            <a:srgbClr val="FFFFFF"/>
          </a:solidFill>
          <a:ln/>
        </p:spPr>
      </p:sp>
      <p:sp>
        <p:nvSpPr>
          <p:cNvPr id="132" name="Text 110"/>
          <p:cNvSpPr txBox="1"/>
          <p:nvPr/>
        </p:nvSpPr>
        <p:spPr>
          <a:xfrm>
            <a:off x="6217920" y="4242816"/>
            <a:ext cx="96012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Topic mastery</a:t>
            </a:r>
            <a:endParaRPr lang="en-US" sz="900" dirty="0"/>
          </a:p>
        </p:txBody>
      </p:sp>
      <p:sp>
        <p:nvSpPr>
          <p:cNvPr id="133" name="Shape 111"/>
          <p:cNvSpPr/>
          <p:nvPr/>
        </p:nvSpPr>
        <p:spPr>
          <a:xfrm>
            <a:off x="7223760" y="4242816"/>
            <a:ext cx="2926080" cy="246888"/>
          </a:xfrm>
          <a:prstGeom prst="rect">
            <a:avLst/>
          </a:prstGeom>
          <a:solidFill>
            <a:srgbClr val="FFFFFF"/>
          </a:solidFill>
          <a:ln/>
        </p:spPr>
      </p:sp>
      <p:sp>
        <p:nvSpPr>
          <p:cNvPr id="134" name="Text 112"/>
          <p:cNvSpPr txBox="1"/>
          <p:nvPr/>
        </p:nvSpPr>
        <p:spPr>
          <a:xfrm>
            <a:off x="7269480" y="4242816"/>
            <a:ext cx="2834640"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2-parameter IRT, guessing prior; Rasch if small</a:t>
            </a:r>
            <a:endParaRPr lang="en-US" sz="900" dirty="0"/>
          </a:p>
        </p:txBody>
      </p:sp>
      <p:sp>
        <p:nvSpPr>
          <p:cNvPr id="135" name="Shape 113"/>
          <p:cNvSpPr/>
          <p:nvPr/>
        </p:nvSpPr>
        <p:spPr>
          <a:xfrm>
            <a:off x="10149840" y="4242816"/>
            <a:ext cx="1630375" cy="246888"/>
          </a:xfrm>
          <a:prstGeom prst="rect">
            <a:avLst/>
          </a:prstGeom>
          <a:solidFill>
            <a:srgbClr val="FFFFFF"/>
          </a:solidFill>
          <a:ln/>
        </p:spPr>
      </p:sp>
      <p:sp>
        <p:nvSpPr>
          <p:cNvPr id="136" name="Text 114"/>
          <p:cNvSpPr txBox="1"/>
          <p:nvPr/>
        </p:nvSpPr>
        <p:spPr>
          <a:xfrm>
            <a:off x="10195560" y="4242816"/>
            <a:ext cx="1538935"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Explains itself on sparse tests</a:t>
            </a:r>
            <a:endParaRPr lang="en-US" sz="900" dirty="0"/>
          </a:p>
        </p:txBody>
      </p:sp>
      <p:sp>
        <p:nvSpPr>
          <p:cNvPr id="137" name="Shape 115"/>
          <p:cNvSpPr/>
          <p:nvPr/>
        </p:nvSpPr>
        <p:spPr>
          <a:xfrm>
            <a:off x="6172200" y="4489704"/>
            <a:ext cx="5608015" cy="0"/>
          </a:xfrm>
          <a:prstGeom prst="line">
            <a:avLst/>
          </a:prstGeom>
          <a:noFill/>
          <a:ln w="6350">
            <a:solidFill>
              <a:srgbClr val="E3E8E4"/>
            </a:solidFill>
            <a:prstDash val="solid"/>
          </a:ln>
        </p:spPr>
      </p:sp>
      <p:sp>
        <p:nvSpPr>
          <p:cNvPr id="138" name="Shape 116"/>
          <p:cNvSpPr/>
          <p:nvPr/>
        </p:nvSpPr>
        <p:spPr>
          <a:xfrm>
            <a:off x="6172200" y="4489704"/>
            <a:ext cx="1051560" cy="246888"/>
          </a:xfrm>
          <a:prstGeom prst="rect">
            <a:avLst/>
          </a:prstGeom>
          <a:solidFill>
            <a:srgbClr val="F1F7F3"/>
          </a:solidFill>
          <a:ln/>
        </p:spPr>
      </p:sp>
      <p:sp>
        <p:nvSpPr>
          <p:cNvPr id="139" name="Text 117"/>
          <p:cNvSpPr txBox="1"/>
          <p:nvPr/>
        </p:nvSpPr>
        <p:spPr>
          <a:xfrm>
            <a:off x="6217920" y="4489704"/>
            <a:ext cx="96012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Early warning</a:t>
            </a:r>
            <a:endParaRPr lang="en-US" sz="900" dirty="0"/>
          </a:p>
        </p:txBody>
      </p:sp>
      <p:sp>
        <p:nvSpPr>
          <p:cNvPr id="140" name="Shape 118"/>
          <p:cNvSpPr/>
          <p:nvPr/>
        </p:nvSpPr>
        <p:spPr>
          <a:xfrm>
            <a:off x="7223760" y="4489704"/>
            <a:ext cx="2926080" cy="246888"/>
          </a:xfrm>
          <a:prstGeom prst="rect">
            <a:avLst/>
          </a:prstGeom>
          <a:solidFill>
            <a:srgbClr val="F1F7F3"/>
          </a:solidFill>
          <a:ln/>
        </p:spPr>
      </p:sp>
      <p:sp>
        <p:nvSpPr>
          <p:cNvPr id="141" name="Text 119"/>
          <p:cNvSpPr txBox="1"/>
          <p:nvPr/>
        </p:nvSpPr>
        <p:spPr>
          <a:xfrm>
            <a:off x="7269480" y="4489704"/>
            <a:ext cx="2834640"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Calibrated LightGBM; rules for minors' dropout</a:t>
            </a:r>
            <a:endParaRPr lang="en-US" sz="900" dirty="0"/>
          </a:p>
        </p:txBody>
      </p:sp>
      <p:sp>
        <p:nvSpPr>
          <p:cNvPr id="142" name="Shape 120"/>
          <p:cNvSpPr/>
          <p:nvPr/>
        </p:nvSpPr>
        <p:spPr>
          <a:xfrm>
            <a:off x="10149840" y="4489704"/>
            <a:ext cx="1630375" cy="246888"/>
          </a:xfrm>
          <a:prstGeom prst="rect">
            <a:avLst/>
          </a:prstGeom>
          <a:solidFill>
            <a:srgbClr val="F1F7F3"/>
          </a:solidFill>
          <a:ln/>
        </p:spPr>
      </p:sp>
      <p:sp>
        <p:nvSpPr>
          <p:cNvPr id="143" name="Text 121"/>
          <p:cNvSpPr txBox="1"/>
          <p:nvPr/>
        </p:nvSpPr>
        <p:spPr>
          <a:xfrm>
            <a:off x="10195560" y="4489704"/>
            <a:ext cx="1538935"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Legal for under-18s</a:t>
            </a:r>
            <a:endParaRPr lang="en-US" sz="900" dirty="0"/>
          </a:p>
        </p:txBody>
      </p:sp>
      <p:sp>
        <p:nvSpPr>
          <p:cNvPr id="144" name="Shape 122"/>
          <p:cNvSpPr/>
          <p:nvPr/>
        </p:nvSpPr>
        <p:spPr>
          <a:xfrm>
            <a:off x="6172200" y="4736592"/>
            <a:ext cx="5608015" cy="0"/>
          </a:xfrm>
          <a:prstGeom prst="line">
            <a:avLst/>
          </a:prstGeom>
          <a:noFill/>
          <a:ln w="6350">
            <a:solidFill>
              <a:srgbClr val="E3E8E4"/>
            </a:solidFill>
            <a:prstDash val="solid"/>
          </a:ln>
        </p:spPr>
      </p:sp>
      <p:sp>
        <p:nvSpPr>
          <p:cNvPr id="145" name="Shape 123"/>
          <p:cNvSpPr/>
          <p:nvPr/>
        </p:nvSpPr>
        <p:spPr>
          <a:xfrm>
            <a:off x="6172200" y="4736592"/>
            <a:ext cx="1051560" cy="246888"/>
          </a:xfrm>
          <a:prstGeom prst="rect">
            <a:avLst/>
          </a:prstGeom>
          <a:solidFill>
            <a:srgbClr val="FFFFFF"/>
          </a:solidFill>
          <a:ln/>
        </p:spPr>
      </p:sp>
      <p:sp>
        <p:nvSpPr>
          <p:cNvPr id="146" name="Text 124"/>
          <p:cNvSpPr txBox="1"/>
          <p:nvPr/>
        </p:nvSpPr>
        <p:spPr>
          <a:xfrm>
            <a:off x="6217920" y="4736592"/>
            <a:ext cx="96012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Percentile</a:t>
            </a:r>
            <a:endParaRPr lang="en-US" sz="900" dirty="0"/>
          </a:p>
        </p:txBody>
      </p:sp>
      <p:sp>
        <p:nvSpPr>
          <p:cNvPr id="147" name="Shape 125"/>
          <p:cNvSpPr/>
          <p:nvPr/>
        </p:nvSpPr>
        <p:spPr>
          <a:xfrm>
            <a:off x="7223760" y="4736592"/>
            <a:ext cx="2926080" cy="246888"/>
          </a:xfrm>
          <a:prstGeom prst="rect">
            <a:avLst/>
          </a:prstGeom>
          <a:solidFill>
            <a:srgbClr val="FFFFFF"/>
          </a:solidFill>
          <a:ln/>
        </p:spPr>
      </p:sp>
      <p:sp>
        <p:nvSpPr>
          <p:cNvPr id="148" name="Text 126"/>
          <p:cNvSpPr txBox="1"/>
          <p:nvPr/>
        </p:nvSpPr>
        <p:spPr>
          <a:xfrm>
            <a:off x="7269480" y="4736592"/>
            <a:ext cx="2834640"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Quantile model, conformal band, NTA table</a:t>
            </a:r>
            <a:endParaRPr lang="en-US" sz="900" dirty="0"/>
          </a:p>
        </p:txBody>
      </p:sp>
      <p:sp>
        <p:nvSpPr>
          <p:cNvPr id="149" name="Shape 127"/>
          <p:cNvSpPr/>
          <p:nvPr/>
        </p:nvSpPr>
        <p:spPr>
          <a:xfrm>
            <a:off x="10149840" y="4736592"/>
            <a:ext cx="1630375" cy="246888"/>
          </a:xfrm>
          <a:prstGeom prst="rect">
            <a:avLst/>
          </a:prstGeom>
          <a:solidFill>
            <a:srgbClr val="FFFFFF"/>
          </a:solidFill>
          <a:ln/>
        </p:spPr>
      </p:sp>
      <p:sp>
        <p:nvSpPr>
          <p:cNvPr id="150" name="Text 128"/>
          <p:cNvSpPr txBox="1"/>
          <p:nvPr/>
        </p:nvSpPr>
        <p:spPr>
          <a:xfrm>
            <a:off x="10195560" y="4736592"/>
            <a:ext cx="1538935"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A range, never a rank promise</a:t>
            </a:r>
            <a:endParaRPr lang="en-US" sz="900" dirty="0"/>
          </a:p>
        </p:txBody>
      </p:sp>
      <p:sp>
        <p:nvSpPr>
          <p:cNvPr id="151" name="Shape 129"/>
          <p:cNvSpPr/>
          <p:nvPr/>
        </p:nvSpPr>
        <p:spPr>
          <a:xfrm>
            <a:off x="6172200" y="4983480"/>
            <a:ext cx="5608015" cy="0"/>
          </a:xfrm>
          <a:prstGeom prst="line">
            <a:avLst/>
          </a:prstGeom>
          <a:noFill/>
          <a:ln w="6350">
            <a:solidFill>
              <a:srgbClr val="E3E8E4"/>
            </a:solidFill>
            <a:prstDash val="solid"/>
          </a:ln>
        </p:spPr>
      </p:sp>
      <p:sp>
        <p:nvSpPr>
          <p:cNvPr id="152" name="Shape 130"/>
          <p:cNvSpPr/>
          <p:nvPr/>
        </p:nvSpPr>
        <p:spPr>
          <a:xfrm>
            <a:off x="6172200" y="4983480"/>
            <a:ext cx="1051560" cy="246888"/>
          </a:xfrm>
          <a:prstGeom prst="rect">
            <a:avLst/>
          </a:prstGeom>
          <a:solidFill>
            <a:srgbClr val="F1F7F3"/>
          </a:solidFill>
          <a:ln/>
        </p:spPr>
      </p:sp>
      <p:sp>
        <p:nvSpPr>
          <p:cNvPr id="153" name="Text 131"/>
          <p:cNvSpPr txBox="1"/>
          <p:nvPr/>
        </p:nvSpPr>
        <p:spPr>
          <a:xfrm>
            <a:off x="6217920" y="4983480"/>
            <a:ext cx="96012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Parent report</a:t>
            </a:r>
            <a:endParaRPr lang="en-US" sz="900" dirty="0"/>
          </a:p>
        </p:txBody>
      </p:sp>
      <p:sp>
        <p:nvSpPr>
          <p:cNvPr id="154" name="Shape 132"/>
          <p:cNvSpPr/>
          <p:nvPr/>
        </p:nvSpPr>
        <p:spPr>
          <a:xfrm>
            <a:off x="7223760" y="4983480"/>
            <a:ext cx="2926080" cy="246888"/>
          </a:xfrm>
          <a:prstGeom prst="rect">
            <a:avLst/>
          </a:prstGeom>
          <a:solidFill>
            <a:srgbClr val="F1F7F3"/>
          </a:solidFill>
          <a:ln/>
        </p:spPr>
      </p:sp>
      <p:sp>
        <p:nvSpPr>
          <p:cNvPr id="155" name="Text 133"/>
          <p:cNvSpPr txBox="1"/>
          <p:nvPr/>
        </p:nvSpPr>
        <p:spPr>
          <a:xfrm>
            <a:off x="7269480" y="4983480"/>
            <a:ext cx="2834640"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Facts, local model, 8 checks, template fallback</a:t>
            </a:r>
            <a:endParaRPr lang="en-US" sz="900" dirty="0"/>
          </a:p>
        </p:txBody>
      </p:sp>
      <p:sp>
        <p:nvSpPr>
          <p:cNvPr id="156" name="Shape 134"/>
          <p:cNvSpPr/>
          <p:nvPr/>
        </p:nvSpPr>
        <p:spPr>
          <a:xfrm>
            <a:off x="10149840" y="4983480"/>
            <a:ext cx="1630375" cy="246888"/>
          </a:xfrm>
          <a:prstGeom prst="rect">
            <a:avLst/>
          </a:prstGeom>
          <a:solidFill>
            <a:srgbClr val="F1F7F3"/>
          </a:solidFill>
          <a:ln/>
        </p:spPr>
      </p:sp>
      <p:sp>
        <p:nvSpPr>
          <p:cNvPr id="157" name="Text 135"/>
          <p:cNvSpPr txBox="1"/>
          <p:nvPr/>
        </p:nvSpPr>
        <p:spPr>
          <a:xfrm>
            <a:off x="10195560" y="4983480"/>
            <a:ext cx="1538935"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No invented numbers</a:t>
            </a:r>
            <a:endParaRPr lang="en-US" sz="900" dirty="0"/>
          </a:p>
        </p:txBody>
      </p:sp>
      <p:sp>
        <p:nvSpPr>
          <p:cNvPr id="158" name="Shape 136"/>
          <p:cNvSpPr/>
          <p:nvPr/>
        </p:nvSpPr>
        <p:spPr>
          <a:xfrm>
            <a:off x="6172200" y="5230368"/>
            <a:ext cx="5608015" cy="0"/>
          </a:xfrm>
          <a:prstGeom prst="line">
            <a:avLst/>
          </a:prstGeom>
          <a:noFill/>
          <a:ln w="6350">
            <a:solidFill>
              <a:srgbClr val="E3E8E4"/>
            </a:solidFill>
            <a:prstDash val="solid"/>
          </a:ln>
        </p:spPr>
      </p:sp>
      <p:sp>
        <p:nvSpPr>
          <p:cNvPr id="159" name="Shape 137"/>
          <p:cNvSpPr/>
          <p:nvPr/>
        </p:nvSpPr>
        <p:spPr>
          <a:xfrm>
            <a:off x="6172200" y="5321808"/>
            <a:ext cx="5608015" cy="1005840"/>
          </a:xfrm>
          <a:prstGeom prst="rect">
            <a:avLst/>
          </a:prstGeom>
          <a:solidFill>
            <a:srgbClr val="1F4A82"/>
          </a:solidFill>
          <a:ln/>
        </p:spPr>
      </p:sp>
      <p:pic>
        <p:nvPicPr>
          <p:cNvPr id="160" name="Image 19" descr="FaLayerGroup icon">    </p:cNvPr>
          <p:cNvPicPr>
            <a:picLocks noChangeAspect="1"/>
          </p:cNvPicPr>
          <p:nvPr/>
        </p:nvPicPr>
        <p:blipFill>
          <a:blip r:embed="rId20"/>
          <a:stretch>
            <a:fillRect/>
          </a:stretch>
        </p:blipFill>
        <p:spPr>
          <a:xfrm>
            <a:off x="6355080" y="5577840"/>
            <a:ext cx="457200" cy="457200"/>
          </a:xfrm>
          <a:prstGeom prst="rect">
            <a:avLst/>
          </a:prstGeom>
        </p:spPr>
      </p:pic>
      <p:sp>
        <p:nvSpPr>
          <p:cNvPr id="161" name="Text 138"/>
          <p:cNvSpPr txBox="1"/>
          <p:nvPr/>
        </p:nvSpPr>
        <p:spPr>
          <a:xfrm>
            <a:off x="6995160" y="5376672"/>
            <a:ext cx="2743200" cy="256032"/>
          </a:xfrm>
          <a:prstGeom prst="rect">
            <a:avLst/>
          </a:prstGeom>
          <a:noFill/>
          <a:ln/>
        </p:spPr>
        <p:txBody>
          <a:bodyPr wrap="square" lIns="0" tIns="0" rIns="0" bIns="0" rtlCol="0" anchor="ctr"/>
          <a:lstStyle/>
          <a:p>
            <a:pPr algn="l" indent="0" marL="0">
              <a:buNone/>
            </a:pPr>
            <a:r>
              <a:rPr lang="en-US" sz="1200" b="1" spc="100" kern="0" dirty="0">
                <a:solidFill>
                  <a:srgbClr val="F1D9A0"/>
                </a:solidFill>
                <a:latin typeface="Calibri" pitchFamily="34" charset="0"/>
                <a:ea typeface="Calibri" pitchFamily="34" charset="-122"/>
                <a:cs typeface="Calibri" pitchFamily="34" charset="-120"/>
              </a:rPr>
              <a:t>THE MOAT</a:t>
            </a:r>
            <a:endParaRPr lang="en-US" sz="1200" dirty="0"/>
          </a:p>
        </p:txBody>
      </p:sp>
      <p:sp>
        <p:nvSpPr>
          <p:cNvPr id="162" name="Text 139"/>
          <p:cNvSpPr txBox="1"/>
          <p:nvPr/>
        </p:nvSpPr>
        <p:spPr>
          <a:xfrm>
            <a:off x="6995160" y="5623560"/>
            <a:ext cx="4647895" cy="676656"/>
          </a:xfrm>
          <a:prstGeom prst="rect">
            <a:avLst/>
          </a:prstGeom>
          <a:noFill/>
          <a:ln/>
        </p:spPr>
        <p:txBody>
          <a:bodyPr wrap="square" lIns="0" tIns="0" rIns="0" bIns="0" rtlCol="0" anchor="t"/>
          <a:lstStyle/>
          <a:p>
            <a:pPr algn="l" indent="0" marL="0">
              <a:buNone/>
            </a:pPr>
            <a:r>
              <a:rPr lang="en-US" sz="950" dirty="0">
                <a:solidFill>
                  <a:srgbClr val="FFFFFF"/>
                </a:solidFill>
                <a:latin typeface="Calibri" pitchFamily="34" charset="0"/>
                <a:ea typeface="Calibri" pitchFamily="34" charset="-122"/>
                <a:cs typeface="Calibri" pitchFamily="34" charset="-120"/>
              </a:rPr>
              <a:t>Every institute adds answers that sharpen question difficulty for all (pooled item statistics, no raw child records shared), and every logged call teaches which actions work. A new rival starts with an uncalibrated question bank and no outcome history.</a:t>
            </a:r>
            <a:endParaRPr lang="en-US" sz="950" dirty="0"/>
          </a:p>
        </p:txBody>
      </p:sp>
      <p:sp>
        <p:nvSpPr>
          <p:cNvPr id="163" name="Shape 140"/>
          <p:cNvSpPr/>
          <p:nvPr/>
        </p:nvSpPr>
        <p:spPr>
          <a:xfrm rot="-120000">
            <a:off x="10104120" y="694944"/>
            <a:ext cx="1691640" cy="384048"/>
          </a:xfrm>
          <a:prstGeom prst="rect">
            <a:avLst/>
          </a:prstGeom>
          <a:solidFill>
            <a:srgbClr val="C9CED6">
              <a:alpha val="45000"/>
            </a:srgbClr>
          </a:solidFill>
          <a:ln/>
        </p:spPr>
      </p:sp>
      <p:sp>
        <p:nvSpPr>
          <p:cNvPr id="164" name="Shape 141"/>
          <p:cNvSpPr/>
          <p:nvPr/>
        </p:nvSpPr>
        <p:spPr>
          <a:xfrm rot="-120000">
            <a:off x="10058400" y="640080"/>
            <a:ext cx="1691640" cy="384048"/>
          </a:xfrm>
          <a:prstGeom prst="rect">
            <a:avLst/>
          </a:prstGeom>
          <a:solidFill>
            <a:srgbClr val="FBE9A0"/>
          </a:solidFill>
          <a:ln/>
        </p:spPr>
      </p:sp>
      <p:sp>
        <p:nvSpPr>
          <p:cNvPr id="165" name="Text 142"/>
          <p:cNvSpPr txBox="1"/>
          <p:nvPr/>
        </p:nvSpPr>
        <p:spPr>
          <a:xfrm rot="-120000">
            <a:off x="10113264" y="676656"/>
            <a:ext cx="1581912" cy="329184"/>
          </a:xfrm>
          <a:prstGeom prst="rect">
            <a:avLst/>
          </a:prstGeom>
          <a:noFill/>
          <a:ln/>
        </p:spPr>
        <p:txBody>
          <a:bodyPr wrap="square" lIns="0" tIns="0" rIns="0" bIns="0" rtlCol="0" anchor="ctr"/>
          <a:lstStyle/>
          <a:p>
            <a:pPr algn="ctr" indent="0" marL="0">
              <a:buNone/>
            </a:pPr>
            <a:r>
              <a:rPr lang="en-US" sz="850" dirty="0">
                <a:solidFill>
                  <a:srgbClr val="8A6D00"/>
                </a:solidFill>
                <a:latin typeface="Segoe Print" pitchFamily="34" charset="0"/>
                <a:ea typeface="Segoe Print" pitchFamily="34" charset="-122"/>
                <a:cs typeface="Segoe Print" pitchFamily="34" charset="-120"/>
              </a:rPr>
              <a:t>start with the weekly list</a:t>
            </a:r>
            <a:endParaRPr lang="en-US" sz="850" dirty="0"/>
          </a:p>
        </p:txBody>
      </p:sp>
      <p:pic>
        <p:nvPicPr>
          <p:cNvPr id="166" name="Image 20" descr="D:\Professional Work\Business\FC_Case_Dhruvi\presentation\source\assets\doodle_tape.png">    </p:cNvPr>
          <p:cNvPicPr>
            <a:picLocks noChangeAspect="1"/>
          </p:cNvPicPr>
          <p:nvPr/>
        </p:nvPicPr>
        <p:blipFill>
          <a:blip r:embed="rId21"/>
          <a:stretch>
            <a:fillRect/>
          </a:stretch>
        </p:blipFill>
        <p:spPr>
          <a:xfrm rot="-72000">
            <a:off x="10629900" y="548640"/>
            <a:ext cx="548640" cy="173736"/>
          </a:xfrm>
          <a:prstGeom prst="rect">
            <a:avLst/>
          </a:prstGeom>
        </p:spPr>
      </p:pic>
      <p:sp>
        <p:nvSpPr>
          <p:cNvPr id="167" name="Text 143"/>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NTA NEET UG 2025 result data; JEE Main 2025 unique registrations as reported (secondary); case guide baselines; public validation results; financial model v1.1 (Base). Full register: Appendix 8.</a:t>
            </a:r>
            <a:endParaRPr lang="en-US" sz="850" dirty="0"/>
          </a:p>
        </p:txBody>
      </p:sp>
      <p:pic>
        <p:nvPicPr>
          <p:cNvPr id="168" name="Image 21" descr="owner cursor">    </p:cNvPr>
          <p:cNvPicPr>
            <a:picLocks noChangeAspect="1"/>
          </p:cNvPicPr>
          <p:nvPr/>
        </p:nvPicPr>
        <p:blipFill>
          <a:blip r:embed="rId22"/>
          <a:stretch>
            <a:fillRect/>
          </a:stretch>
        </p:blipFill>
        <p:spPr>
          <a:xfrm>
            <a:off x="10972800" y="5943600"/>
            <a:ext cx="777240" cy="329184"/>
          </a:xfrm>
          <a:prstGeom prst="rect">
            <a:avLst/>
          </a:prstGeom>
        </p:spPr>
      </p:pic>
      <p:sp>
        <p:nvSpPr>
          <p:cNvPr id="169" name="Shape 144"/>
          <p:cNvSpPr/>
          <p:nvPr/>
        </p:nvSpPr>
        <p:spPr>
          <a:xfrm>
            <a:off x="1536192" y="1024128"/>
            <a:ext cx="457200" cy="182880"/>
          </a:xfrm>
          <a:prstGeom prst="roundRect">
            <a:avLst>
              <a:gd name="adj" fmla="val 50000"/>
            </a:avLst>
          </a:prstGeom>
          <a:solidFill>
            <a:srgbClr val="E0584A"/>
          </a:solidFill>
          <a:ln/>
        </p:spPr>
      </p:sp>
      <p:sp>
        <p:nvSpPr>
          <p:cNvPr id="170" name="Text 145"/>
          <p:cNvSpPr txBox="1"/>
          <p:nvPr/>
        </p:nvSpPr>
        <p:spPr>
          <a:xfrm>
            <a:off x="1536192" y="1024128"/>
            <a:ext cx="457200" cy="182880"/>
          </a:xfrm>
          <a:prstGeom prst="rect">
            <a:avLst/>
          </a:prstGeom>
          <a:noFill/>
          <a:ln/>
        </p:spPr>
        <p:txBody>
          <a:bodyPr wrap="square" lIns="0" tIns="0" rIns="0" bIns="0" rtlCol="0" anchor="ctr"/>
          <a:lstStyle/>
          <a:p>
            <a:pPr algn="ctr" indent="0" marL="0">
              <a:buNone/>
            </a:pPr>
            <a:r>
              <a:rPr lang="en-US" sz="750" b="1" spc="60" kern="0" dirty="0">
                <a:solidFill>
                  <a:srgbClr val="FFFFFF"/>
                </a:solidFill>
                <a:latin typeface="Calibri" pitchFamily="34" charset="0"/>
                <a:ea typeface="Calibri" pitchFamily="34" charset="-122"/>
                <a:cs typeface="Calibri" pitchFamily="34" charset="-120"/>
              </a:rPr>
              <a:t>GOAL</a:t>
            </a:r>
            <a:endParaRPr lang="en-US" sz="750" dirty="0"/>
          </a:p>
        </p:txBody>
      </p:sp>
      <p:sp>
        <p:nvSpPr>
          <p:cNvPr id="171" name="Shape 146"/>
          <p:cNvSpPr/>
          <p:nvPr/>
        </p:nvSpPr>
        <p:spPr>
          <a:xfrm>
            <a:off x="1536192" y="2011680"/>
            <a:ext cx="502920" cy="182880"/>
          </a:xfrm>
          <a:prstGeom prst="roundRect">
            <a:avLst>
              <a:gd name="adj" fmla="val 50000"/>
            </a:avLst>
          </a:prstGeom>
          <a:solidFill>
            <a:srgbClr val="2E6DB4"/>
          </a:solidFill>
          <a:ln/>
        </p:spPr>
      </p:sp>
      <p:sp>
        <p:nvSpPr>
          <p:cNvPr id="172" name="Text 147"/>
          <p:cNvSpPr txBox="1"/>
          <p:nvPr/>
        </p:nvSpPr>
        <p:spPr>
          <a:xfrm>
            <a:off x="1536192" y="2011680"/>
            <a:ext cx="502920" cy="182880"/>
          </a:xfrm>
          <a:prstGeom prst="rect">
            <a:avLst/>
          </a:prstGeom>
          <a:noFill/>
          <a:ln/>
        </p:spPr>
        <p:txBody>
          <a:bodyPr wrap="square" lIns="0" tIns="0" rIns="0" bIns="0" rtlCol="0" anchor="ctr"/>
          <a:lstStyle/>
          <a:p>
            <a:pPr algn="ctr" indent="0" marL="0">
              <a:buNone/>
            </a:pPr>
            <a:r>
              <a:rPr lang="en-US" sz="750" b="1" spc="60" kern="0" dirty="0">
                <a:solidFill>
                  <a:srgbClr val="FFFFFF"/>
                </a:solidFill>
                <a:latin typeface="Calibri" pitchFamily="34" charset="0"/>
                <a:ea typeface="Calibri" pitchFamily="34" charset="-122"/>
                <a:cs typeface="Calibri" pitchFamily="34" charset="-120"/>
              </a:rPr>
              <a:t>USERS</a:t>
            </a:r>
            <a:endParaRPr lang="en-US" sz="750" dirty="0"/>
          </a:p>
        </p:txBody>
      </p:sp>
      <p:sp>
        <p:nvSpPr>
          <p:cNvPr id="173" name="Shape 148"/>
          <p:cNvSpPr/>
          <p:nvPr/>
        </p:nvSpPr>
        <p:spPr>
          <a:xfrm>
            <a:off x="1536192" y="2999232"/>
            <a:ext cx="566928" cy="182880"/>
          </a:xfrm>
          <a:prstGeom prst="roundRect">
            <a:avLst>
              <a:gd name="adj" fmla="val 50000"/>
            </a:avLst>
          </a:prstGeom>
          <a:solidFill>
            <a:srgbClr val="3C9664"/>
          </a:solidFill>
          <a:ln/>
        </p:spPr>
      </p:sp>
      <p:sp>
        <p:nvSpPr>
          <p:cNvPr id="174" name="Text 149"/>
          <p:cNvSpPr txBox="1"/>
          <p:nvPr/>
        </p:nvSpPr>
        <p:spPr>
          <a:xfrm>
            <a:off x="1536192" y="2999232"/>
            <a:ext cx="566928" cy="182880"/>
          </a:xfrm>
          <a:prstGeom prst="rect">
            <a:avLst/>
          </a:prstGeom>
          <a:noFill/>
          <a:ln/>
        </p:spPr>
        <p:txBody>
          <a:bodyPr wrap="square" lIns="0" tIns="0" rIns="0" bIns="0" rtlCol="0" anchor="ctr"/>
          <a:lstStyle/>
          <a:p>
            <a:pPr algn="ctr" indent="0" marL="0">
              <a:buNone/>
            </a:pPr>
            <a:r>
              <a:rPr lang="en-US" sz="750" b="1" spc="60" kern="0" dirty="0">
                <a:solidFill>
                  <a:srgbClr val="FFFFFF"/>
                </a:solidFill>
                <a:latin typeface="Calibri" pitchFamily="34" charset="0"/>
                <a:ea typeface="Calibri" pitchFamily="34" charset="-122"/>
                <a:cs typeface="Calibri" pitchFamily="34" charset="-120"/>
              </a:rPr>
              <a:t>METRIC</a:t>
            </a:r>
            <a:endParaRPr lang="en-US" sz="75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D4A24C"/>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debt">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THE PROBLEM: LEAKY REVENUE, MESSY DATA</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Institutes have the marks, but notice a struggling student only after that student has already left</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15568"/>
            <a:ext cx="4343400" cy="301752"/>
          </a:xfrm>
          <a:prstGeom prst="rect">
            <a:avLst/>
          </a:prstGeom>
          <a:solidFill>
            <a:srgbClr val="1F4A82"/>
          </a:solidFill>
          <a:ln/>
        </p:spPr>
      </p:sp>
      <p:sp>
        <p:nvSpPr>
          <p:cNvPr id="26" name="Text 22"/>
          <p:cNvSpPr txBox="1"/>
          <p:nvPr/>
        </p:nvSpPr>
        <p:spPr>
          <a:xfrm>
            <a:off x="521208" y="1115568"/>
            <a:ext cx="412394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WHO LOSES TODAY: THE FRICTION MATRIX</a:t>
            </a:r>
            <a:endParaRPr lang="en-US" sz="1200" dirty="0"/>
          </a:p>
        </p:txBody>
      </p:sp>
      <p:sp>
        <p:nvSpPr>
          <p:cNvPr id="27" name="Shape 23"/>
          <p:cNvSpPr/>
          <p:nvPr/>
        </p:nvSpPr>
        <p:spPr>
          <a:xfrm>
            <a:off x="4809744" y="1115568"/>
            <a:ext cx="0" cy="2651760"/>
          </a:xfrm>
          <a:prstGeom prst="line">
            <a:avLst/>
          </a:prstGeom>
          <a:noFill/>
          <a:ln w="12700">
            <a:solidFill>
              <a:srgbClr val="8FA9CC"/>
            </a:solidFill>
            <a:prstDash val="dash"/>
          </a:ln>
        </p:spPr>
      </p:sp>
      <p:sp>
        <p:nvSpPr>
          <p:cNvPr id="28" name="Shape 24"/>
          <p:cNvSpPr/>
          <p:nvPr/>
        </p:nvSpPr>
        <p:spPr>
          <a:xfrm>
            <a:off x="502920" y="1517904"/>
            <a:ext cx="2029968" cy="1042416"/>
          </a:xfrm>
          <a:prstGeom prst="rect">
            <a:avLst/>
          </a:prstGeom>
          <a:solidFill>
            <a:srgbClr val="FFFFFF"/>
          </a:solidFill>
          <a:ln w="12700">
            <a:solidFill>
              <a:srgbClr val="1F4A82"/>
            </a:solidFill>
            <a:prstDash val="solid"/>
          </a:ln>
        </p:spPr>
      </p:sp>
      <p:sp>
        <p:nvSpPr>
          <p:cNvPr id="29" name="Shape 25"/>
          <p:cNvSpPr/>
          <p:nvPr/>
        </p:nvSpPr>
        <p:spPr>
          <a:xfrm>
            <a:off x="502920" y="1517904"/>
            <a:ext cx="2029968" cy="246888"/>
          </a:xfrm>
          <a:prstGeom prst="rect">
            <a:avLst/>
          </a:prstGeom>
          <a:solidFill>
            <a:srgbClr val="1F4A82"/>
          </a:solidFill>
          <a:ln/>
        </p:spPr>
      </p:sp>
      <p:pic>
        <p:nvPicPr>
          <p:cNvPr id="30" name="Image 1" descr="FaMobileScreen icon">    </p:cNvPr>
          <p:cNvPicPr>
            <a:picLocks noChangeAspect="1"/>
          </p:cNvPicPr>
          <p:nvPr/>
        </p:nvPicPr>
        <p:blipFill>
          <a:blip r:embed="rId2"/>
          <a:stretch>
            <a:fillRect/>
          </a:stretch>
        </p:blipFill>
        <p:spPr>
          <a:xfrm>
            <a:off x="3482264" y="100584"/>
            <a:ext cx="182880" cy="182880"/>
          </a:xfrm>
          <a:prstGeom prst="rect">
            <a:avLst/>
          </a:prstGeom>
        </p:spPr>
      </p:pic>
      <p:pic>
        <p:nvPicPr>
          <p:cNvPr id="31" name="Image 2" descr="FaGears icon">    </p:cNvPr>
          <p:cNvPicPr>
            <a:picLocks noChangeAspect="1"/>
          </p:cNvPicPr>
          <p:nvPr/>
        </p:nvPicPr>
        <p:blipFill>
          <a:blip r:embed="rId3"/>
          <a:stretch>
            <a:fillRect/>
          </a:stretch>
        </p:blipFill>
        <p:spPr>
          <a:xfrm>
            <a:off x="4880496" y="100584"/>
            <a:ext cx="182880" cy="182880"/>
          </a:xfrm>
          <a:prstGeom prst="rect">
            <a:avLst/>
          </a:prstGeom>
        </p:spPr>
      </p:pic>
      <p:pic>
        <p:nvPicPr>
          <p:cNvPr id="32" name="Image 3" descr="FaShieldHalved icon">    </p:cNvPr>
          <p:cNvPicPr>
            <a:picLocks noChangeAspect="1"/>
          </p:cNvPicPr>
          <p:nvPr/>
        </p:nvPicPr>
        <p:blipFill>
          <a:blip r:embed="rId4"/>
          <a:stretch>
            <a:fillRect/>
          </a:stretch>
        </p:blipFill>
        <p:spPr>
          <a:xfrm>
            <a:off x="6278728" y="100584"/>
            <a:ext cx="182880" cy="182880"/>
          </a:xfrm>
          <a:prstGeom prst="rect">
            <a:avLst/>
          </a:prstGeom>
        </p:spPr>
      </p:pic>
      <p:pic>
        <p:nvPicPr>
          <p:cNvPr id="33" name="Image 4" descr="FaIndianRupeeSign icon">    </p:cNvPr>
          <p:cNvPicPr>
            <a:picLocks noChangeAspect="1"/>
          </p:cNvPicPr>
          <p:nvPr/>
        </p:nvPicPr>
        <p:blipFill>
          <a:blip r:embed="rId5"/>
          <a:stretch>
            <a:fillRect/>
          </a:stretch>
        </p:blipFill>
        <p:spPr>
          <a:xfrm>
            <a:off x="7676960" y="100584"/>
            <a:ext cx="182880" cy="182880"/>
          </a:xfrm>
          <a:prstGeom prst="rect">
            <a:avLst/>
          </a:prstGeom>
        </p:spPr>
      </p:pic>
      <p:pic>
        <p:nvPicPr>
          <p:cNvPr id="34" name="Image 5" descr="FaBullseye icon">    </p:cNvPr>
          <p:cNvPicPr>
            <a:picLocks noChangeAspect="1"/>
          </p:cNvPicPr>
          <p:nvPr/>
        </p:nvPicPr>
        <p:blipFill>
          <a:blip r:embed="rId6"/>
          <a:stretch>
            <a:fillRect/>
          </a:stretch>
        </p:blipFill>
        <p:spPr>
          <a:xfrm>
            <a:off x="9075191" y="100584"/>
            <a:ext cx="182880" cy="182880"/>
          </a:xfrm>
          <a:prstGeom prst="rect">
            <a:avLst/>
          </a:prstGeom>
        </p:spPr>
      </p:pic>
      <p:pic>
        <p:nvPicPr>
          <p:cNvPr id="35" name="Image 6" descr="FaBookOpen icon">    </p:cNvPr>
          <p:cNvPicPr>
            <a:picLocks noChangeAspect="1"/>
          </p:cNvPicPr>
          <p:nvPr/>
        </p:nvPicPr>
        <p:blipFill>
          <a:blip r:embed="rId7"/>
          <a:stretch>
            <a:fillRect/>
          </a:stretch>
        </p:blipFill>
        <p:spPr>
          <a:xfrm>
            <a:off x="10473423" y="100584"/>
            <a:ext cx="182880" cy="182880"/>
          </a:xfrm>
          <a:prstGeom prst="rect">
            <a:avLst/>
          </a:prstGeom>
        </p:spPr>
      </p:pic>
      <p:pic>
        <p:nvPicPr>
          <p:cNvPr id="36" name="Image 7" descr="FaClipboardList icon">    </p:cNvPr>
          <p:cNvPicPr>
            <a:picLocks noChangeAspect="1"/>
          </p:cNvPicPr>
          <p:nvPr/>
        </p:nvPicPr>
        <p:blipFill>
          <a:blip r:embed="rId8"/>
          <a:stretch>
            <a:fillRect/>
          </a:stretch>
        </p:blipFill>
        <p:spPr>
          <a:xfrm>
            <a:off x="521208" y="100584"/>
            <a:ext cx="182880" cy="182880"/>
          </a:xfrm>
          <a:prstGeom prst="rect">
            <a:avLst/>
          </a:prstGeom>
        </p:spPr>
      </p:pic>
      <p:pic>
        <p:nvPicPr>
          <p:cNvPr id="37" name="Image 8" descr="FaTriangleExclamation icon">    </p:cNvPr>
          <p:cNvPicPr>
            <a:picLocks noChangeAspect="1"/>
          </p:cNvPicPr>
          <p:nvPr/>
        </p:nvPicPr>
        <p:blipFill>
          <a:blip r:embed="rId9"/>
          <a:stretch>
            <a:fillRect/>
          </a:stretch>
        </p:blipFill>
        <p:spPr>
          <a:xfrm>
            <a:off x="2084032" y="100584"/>
            <a:ext cx="182880" cy="182880"/>
          </a:xfrm>
          <a:prstGeom prst="rect">
            <a:avLst/>
          </a:prstGeom>
        </p:spPr>
      </p:pic>
      <p:pic>
        <p:nvPicPr>
          <p:cNvPr id="38" name="Image 9" descr="FaChalkboardUser icon">    </p:cNvPr>
          <p:cNvPicPr>
            <a:picLocks noChangeAspect="1"/>
          </p:cNvPicPr>
          <p:nvPr/>
        </p:nvPicPr>
        <p:blipFill>
          <a:blip r:embed="rId10"/>
          <a:stretch>
            <a:fillRect/>
          </a:stretch>
        </p:blipFill>
        <p:spPr>
          <a:xfrm>
            <a:off x="566928" y="1554480"/>
            <a:ext cx="173736" cy="173736"/>
          </a:xfrm>
          <a:prstGeom prst="rect">
            <a:avLst/>
          </a:prstGeom>
        </p:spPr>
      </p:pic>
      <p:sp>
        <p:nvSpPr>
          <p:cNvPr id="39" name="Text 26"/>
          <p:cNvSpPr txBox="1"/>
          <p:nvPr/>
        </p:nvSpPr>
        <p:spPr>
          <a:xfrm>
            <a:off x="795528" y="1517904"/>
            <a:ext cx="1691640" cy="246888"/>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Teachers</a:t>
            </a:r>
            <a:endParaRPr lang="en-US" sz="1050" dirty="0"/>
          </a:p>
        </p:txBody>
      </p:sp>
      <p:sp>
        <p:nvSpPr>
          <p:cNvPr id="40" name="Text 27"/>
          <p:cNvSpPr txBox="1"/>
          <p:nvPr/>
        </p:nvSpPr>
        <p:spPr>
          <a:xfrm>
            <a:off x="557784" y="1792224"/>
            <a:ext cx="1920240" cy="749808"/>
          </a:xfrm>
          <a:prstGeom prst="rect">
            <a:avLst/>
          </a:prstGeom>
          <a:noFill/>
          <a:ln/>
        </p:spPr>
        <p:txBody>
          <a:bodyPr wrap="square" lIns="0" tIns="0" rIns="0" bIns="0" rtlCol="0" anchor="t"/>
          <a:lstStyle/>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Check OMR sheets by hand</a:t>
            </a:r>
            <a:endParaRPr lang="en-US" sz="900" dirty="0"/>
          </a:p>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See weak topics after exams</a:t>
            </a:r>
            <a:endParaRPr lang="en-US" sz="900" dirty="0"/>
          </a:p>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No time for each student</a:t>
            </a:r>
            <a:endParaRPr lang="en-US" sz="900" dirty="0"/>
          </a:p>
        </p:txBody>
      </p:sp>
      <p:sp>
        <p:nvSpPr>
          <p:cNvPr id="41" name="Shape 28"/>
          <p:cNvSpPr/>
          <p:nvPr/>
        </p:nvSpPr>
        <p:spPr>
          <a:xfrm>
            <a:off x="2606040" y="1517904"/>
            <a:ext cx="2029968" cy="1042416"/>
          </a:xfrm>
          <a:prstGeom prst="rect">
            <a:avLst/>
          </a:prstGeom>
          <a:solidFill>
            <a:srgbClr val="F4F7FB"/>
          </a:solidFill>
          <a:ln w="12700">
            <a:solidFill>
              <a:srgbClr val="1F4A82"/>
            </a:solidFill>
            <a:prstDash val="solid"/>
          </a:ln>
        </p:spPr>
      </p:sp>
      <p:sp>
        <p:nvSpPr>
          <p:cNvPr id="42" name="Shape 29"/>
          <p:cNvSpPr/>
          <p:nvPr/>
        </p:nvSpPr>
        <p:spPr>
          <a:xfrm>
            <a:off x="2606040" y="1517904"/>
            <a:ext cx="2029968" cy="246888"/>
          </a:xfrm>
          <a:prstGeom prst="rect">
            <a:avLst/>
          </a:prstGeom>
          <a:solidFill>
            <a:srgbClr val="1F4A82"/>
          </a:solidFill>
          <a:ln/>
        </p:spPr>
      </p:sp>
      <p:pic>
        <p:nvPicPr>
          <p:cNvPr id="43" name="Image 10" descr="FaBuilding icon">    </p:cNvPr>
          <p:cNvPicPr>
            <a:picLocks noChangeAspect="1"/>
          </p:cNvPicPr>
          <p:nvPr/>
        </p:nvPicPr>
        <p:blipFill>
          <a:blip r:embed="rId11"/>
          <a:stretch>
            <a:fillRect/>
          </a:stretch>
        </p:blipFill>
        <p:spPr>
          <a:xfrm>
            <a:off x="2670048" y="1554480"/>
            <a:ext cx="173736" cy="173736"/>
          </a:xfrm>
          <a:prstGeom prst="rect">
            <a:avLst/>
          </a:prstGeom>
        </p:spPr>
      </p:pic>
      <p:sp>
        <p:nvSpPr>
          <p:cNvPr id="44" name="Text 30"/>
          <p:cNvSpPr txBox="1"/>
          <p:nvPr/>
        </p:nvSpPr>
        <p:spPr>
          <a:xfrm>
            <a:off x="2898648" y="1517904"/>
            <a:ext cx="1691640" cy="246888"/>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Owners</a:t>
            </a:r>
            <a:endParaRPr lang="en-US" sz="1050" dirty="0"/>
          </a:p>
        </p:txBody>
      </p:sp>
      <p:sp>
        <p:nvSpPr>
          <p:cNvPr id="45" name="Text 31"/>
          <p:cNvSpPr txBox="1"/>
          <p:nvPr/>
        </p:nvSpPr>
        <p:spPr>
          <a:xfrm>
            <a:off x="2660904" y="1792224"/>
            <a:ext cx="1920240" cy="749808"/>
          </a:xfrm>
          <a:prstGeom prst="rect">
            <a:avLst/>
          </a:prstGeom>
          <a:noFill/>
          <a:ln/>
        </p:spPr>
        <p:txBody>
          <a:bodyPr wrap="square" lIns="0" tIns="0" rIns="0" bIns="0" rtlCol="0" anchor="t"/>
          <a:lstStyle/>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Can't compare batches</a:t>
            </a:r>
            <a:endParaRPr lang="en-US" sz="900" dirty="0"/>
          </a:p>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Learn of dropouts too late</a:t>
            </a:r>
            <a:endParaRPr lang="en-US" sz="900" dirty="0"/>
          </a:p>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Apps store marks, no insight</a:t>
            </a:r>
            <a:endParaRPr lang="en-US" sz="900" dirty="0"/>
          </a:p>
        </p:txBody>
      </p:sp>
      <p:sp>
        <p:nvSpPr>
          <p:cNvPr id="46" name="Shape 32"/>
          <p:cNvSpPr/>
          <p:nvPr/>
        </p:nvSpPr>
        <p:spPr>
          <a:xfrm>
            <a:off x="502920" y="2615184"/>
            <a:ext cx="2029968" cy="1042416"/>
          </a:xfrm>
          <a:prstGeom prst="rect">
            <a:avLst/>
          </a:prstGeom>
          <a:solidFill>
            <a:srgbClr val="F4F7FB"/>
          </a:solidFill>
          <a:ln w="12700">
            <a:solidFill>
              <a:srgbClr val="1F4A82"/>
            </a:solidFill>
            <a:prstDash val="solid"/>
          </a:ln>
        </p:spPr>
      </p:sp>
      <p:sp>
        <p:nvSpPr>
          <p:cNvPr id="47" name="Shape 33"/>
          <p:cNvSpPr/>
          <p:nvPr/>
        </p:nvSpPr>
        <p:spPr>
          <a:xfrm>
            <a:off x="502920" y="2615184"/>
            <a:ext cx="2029968" cy="246888"/>
          </a:xfrm>
          <a:prstGeom prst="rect">
            <a:avLst/>
          </a:prstGeom>
          <a:solidFill>
            <a:srgbClr val="1F4A82"/>
          </a:solidFill>
          <a:ln/>
        </p:spPr>
      </p:sp>
      <p:pic>
        <p:nvPicPr>
          <p:cNvPr id="48" name="Image 11" descr="FaUsers icon">    </p:cNvPr>
          <p:cNvPicPr>
            <a:picLocks noChangeAspect="1"/>
          </p:cNvPicPr>
          <p:nvPr/>
        </p:nvPicPr>
        <p:blipFill>
          <a:blip r:embed="rId12"/>
          <a:stretch>
            <a:fillRect/>
          </a:stretch>
        </p:blipFill>
        <p:spPr>
          <a:xfrm>
            <a:off x="566928" y="2651760"/>
            <a:ext cx="173736" cy="173736"/>
          </a:xfrm>
          <a:prstGeom prst="rect">
            <a:avLst/>
          </a:prstGeom>
        </p:spPr>
      </p:pic>
      <p:sp>
        <p:nvSpPr>
          <p:cNvPr id="49" name="Text 34"/>
          <p:cNvSpPr txBox="1"/>
          <p:nvPr/>
        </p:nvSpPr>
        <p:spPr>
          <a:xfrm>
            <a:off x="795528" y="2615184"/>
            <a:ext cx="1691640" cy="246888"/>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Parents</a:t>
            </a:r>
            <a:endParaRPr lang="en-US" sz="1050" dirty="0"/>
          </a:p>
        </p:txBody>
      </p:sp>
      <p:sp>
        <p:nvSpPr>
          <p:cNvPr id="50" name="Text 35"/>
          <p:cNvSpPr txBox="1"/>
          <p:nvPr/>
        </p:nvSpPr>
        <p:spPr>
          <a:xfrm>
            <a:off x="557784" y="2889504"/>
            <a:ext cx="1920240" cy="749808"/>
          </a:xfrm>
          <a:prstGeom prst="rect">
            <a:avLst/>
          </a:prstGeom>
          <a:noFill/>
          <a:ln/>
        </p:spPr>
        <p:txBody>
          <a:bodyPr wrap="square" lIns="0" tIns="0" rIns="0" bIns="0" rtlCol="0" anchor="t"/>
          <a:lstStyle/>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Get a marks list, nothing more</a:t>
            </a:r>
            <a:endParaRPr lang="en-US" sz="900" dirty="0"/>
          </a:p>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Can't tell if child improves</a:t>
            </a:r>
            <a:endParaRPr lang="en-US" sz="900" dirty="0"/>
          </a:p>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Trust slips, fee questions grow</a:t>
            </a:r>
            <a:endParaRPr lang="en-US" sz="900" dirty="0"/>
          </a:p>
        </p:txBody>
      </p:sp>
      <p:sp>
        <p:nvSpPr>
          <p:cNvPr id="51" name="Shape 36"/>
          <p:cNvSpPr/>
          <p:nvPr/>
        </p:nvSpPr>
        <p:spPr>
          <a:xfrm>
            <a:off x="2606040" y="2615184"/>
            <a:ext cx="2029968" cy="1042416"/>
          </a:xfrm>
          <a:prstGeom prst="rect">
            <a:avLst/>
          </a:prstGeom>
          <a:solidFill>
            <a:srgbClr val="FFFFFF"/>
          </a:solidFill>
          <a:ln w="12700">
            <a:solidFill>
              <a:srgbClr val="1F4A82"/>
            </a:solidFill>
            <a:prstDash val="solid"/>
          </a:ln>
        </p:spPr>
      </p:sp>
      <p:sp>
        <p:nvSpPr>
          <p:cNvPr id="52" name="Shape 37"/>
          <p:cNvSpPr/>
          <p:nvPr/>
        </p:nvSpPr>
        <p:spPr>
          <a:xfrm>
            <a:off x="2606040" y="2615184"/>
            <a:ext cx="2029968" cy="246888"/>
          </a:xfrm>
          <a:prstGeom prst="rect">
            <a:avLst/>
          </a:prstGeom>
          <a:solidFill>
            <a:srgbClr val="1F4A82"/>
          </a:solidFill>
          <a:ln/>
        </p:spPr>
      </p:sp>
      <p:pic>
        <p:nvPicPr>
          <p:cNvPr id="53" name="Image 12" descr="FaChildReaching icon">    </p:cNvPr>
          <p:cNvPicPr>
            <a:picLocks noChangeAspect="1"/>
          </p:cNvPicPr>
          <p:nvPr/>
        </p:nvPicPr>
        <p:blipFill>
          <a:blip r:embed="rId13"/>
          <a:stretch>
            <a:fillRect/>
          </a:stretch>
        </p:blipFill>
        <p:spPr>
          <a:xfrm>
            <a:off x="2670048" y="2651760"/>
            <a:ext cx="173736" cy="173736"/>
          </a:xfrm>
          <a:prstGeom prst="rect">
            <a:avLst/>
          </a:prstGeom>
        </p:spPr>
      </p:pic>
      <p:sp>
        <p:nvSpPr>
          <p:cNvPr id="54" name="Text 38"/>
          <p:cNvSpPr txBox="1"/>
          <p:nvPr/>
        </p:nvSpPr>
        <p:spPr>
          <a:xfrm>
            <a:off x="2898648" y="2615184"/>
            <a:ext cx="1691640" cy="246888"/>
          </a:xfrm>
          <a:prstGeom prst="rect">
            <a:avLst/>
          </a:prstGeom>
          <a:noFill/>
          <a:ln/>
        </p:spPr>
        <p:txBody>
          <a:bodyPr wrap="square" lIns="0" tIns="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Students</a:t>
            </a:r>
            <a:endParaRPr lang="en-US" sz="1050" dirty="0"/>
          </a:p>
        </p:txBody>
      </p:sp>
      <p:sp>
        <p:nvSpPr>
          <p:cNvPr id="55" name="Text 39"/>
          <p:cNvSpPr txBox="1"/>
          <p:nvPr/>
        </p:nvSpPr>
        <p:spPr>
          <a:xfrm>
            <a:off x="2660904" y="2889504"/>
            <a:ext cx="1920240" cy="749808"/>
          </a:xfrm>
          <a:prstGeom prst="rect">
            <a:avLst/>
          </a:prstGeom>
          <a:noFill/>
          <a:ln/>
        </p:spPr>
        <p:txBody>
          <a:bodyPr wrap="square" lIns="0" tIns="0" rIns="0" bIns="0" rtlCol="0" anchor="t"/>
          <a:lstStyle/>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Struggle quietly for weeks</a:t>
            </a:r>
            <a:endParaRPr lang="en-US" sz="900" dirty="0"/>
          </a:p>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Same plan as whole batch</a:t>
            </a:r>
            <a:endParaRPr lang="en-US" sz="900" dirty="0"/>
          </a:p>
          <a:p>
            <a:pPr algn="l" marL="152400" indent="-1524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Noticed when they stop coming</a:t>
            </a:r>
            <a:endParaRPr lang="en-US" sz="900" dirty="0"/>
          </a:p>
        </p:txBody>
      </p:sp>
      <p:sp>
        <p:nvSpPr>
          <p:cNvPr id="56" name="Shape 40"/>
          <p:cNvSpPr/>
          <p:nvPr/>
        </p:nvSpPr>
        <p:spPr>
          <a:xfrm>
            <a:off x="4846320" y="1115568"/>
            <a:ext cx="3977640" cy="301752"/>
          </a:xfrm>
          <a:prstGeom prst="rect">
            <a:avLst/>
          </a:prstGeom>
          <a:solidFill>
            <a:srgbClr val="2E6DB4"/>
          </a:solidFill>
          <a:ln/>
        </p:spPr>
      </p:sp>
      <p:sp>
        <p:nvSpPr>
          <p:cNvPr id="57" name="Text 41"/>
          <p:cNvSpPr txBox="1"/>
          <p:nvPr/>
        </p:nvSpPr>
        <p:spPr>
          <a:xfrm>
            <a:off x="4956048" y="1115568"/>
            <a:ext cx="375818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WHERE THE DATA LIVES</a:t>
            </a:r>
            <a:endParaRPr lang="en-US" sz="1200" dirty="0"/>
          </a:p>
        </p:txBody>
      </p:sp>
      <p:sp>
        <p:nvSpPr>
          <p:cNvPr id="58" name="Shape 42"/>
          <p:cNvSpPr/>
          <p:nvPr/>
        </p:nvSpPr>
        <p:spPr>
          <a:xfrm>
            <a:off x="8878824" y="1115568"/>
            <a:ext cx="0" cy="2651760"/>
          </a:xfrm>
          <a:prstGeom prst="line">
            <a:avLst/>
          </a:prstGeom>
          <a:noFill/>
          <a:ln w="12700">
            <a:solidFill>
              <a:srgbClr val="8FA9CC"/>
            </a:solidFill>
            <a:prstDash val="dash"/>
          </a:ln>
        </p:spPr>
      </p:sp>
      <p:sp>
        <p:nvSpPr>
          <p:cNvPr id="59" name="Shape 43"/>
          <p:cNvSpPr/>
          <p:nvPr/>
        </p:nvSpPr>
        <p:spPr>
          <a:xfrm>
            <a:off x="4937760" y="1517904"/>
            <a:ext cx="1234440" cy="365760"/>
          </a:xfrm>
          <a:prstGeom prst="rect">
            <a:avLst/>
          </a:prstGeom>
          <a:solidFill>
            <a:srgbClr val="EEF2F7"/>
          </a:solidFill>
          <a:ln w="12700">
            <a:solidFill>
              <a:srgbClr val="9AA6B5"/>
            </a:solidFill>
            <a:prstDash val="dash"/>
          </a:ln>
        </p:spPr>
      </p:sp>
      <p:pic>
        <p:nvPicPr>
          <p:cNvPr id="60" name="Image 13" descr="FaFileExcel icon">    </p:cNvPr>
          <p:cNvPicPr>
            <a:picLocks noChangeAspect="1"/>
          </p:cNvPicPr>
          <p:nvPr/>
        </p:nvPicPr>
        <p:blipFill>
          <a:blip r:embed="rId14"/>
          <a:stretch>
            <a:fillRect/>
          </a:stretch>
        </p:blipFill>
        <p:spPr>
          <a:xfrm>
            <a:off x="5001768" y="1591056"/>
            <a:ext cx="219456" cy="219456"/>
          </a:xfrm>
          <a:prstGeom prst="rect">
            <a:avLst/>
          </a:prstGeom>
        </p:spPr>
      </p:pic>
      <p:sp>
        <p:nvSpPr>
          <p:cNvPr id="61" name="Text 44"/>
          <p:cNvSpPr txBox="1"/>
          <p:nvPr/>
        </p:nvSpPr>
        <p:spPr>
          <a:xfrm>
            <a:off x="5266944" y="1517904"/>
            <a:ext cx="896112" cy="36576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Excel</a:t>
            </a:r>
            <a:endParaRPr lang="en-US" sz="900" dirty="0"/>
          </a:p>
        </p:txBody>
      </p:sp>
      <p:sp>
        <p:nvSpPr>
          <p:cNvPr id="62" name="Shape 45"/>
          <p:cNvSpPr/>
          <p:nvPr/>
        </p:nvSpPr>
        <p:spPr>
          <a:xfrm>
            <a:off x="6236208" y="1517904"/>
            <a:ext cx="1234440" cy="365760"/>
          </a:xfrm>
          <a:prstGeom prst="rect">
            <a:avLst/>
          </a:prstGeom>
          <a:solidFill>
            <a:srgbClr val="EEF2F7"/>
          </a:solidFill>
          <a:ln w="12700">
            <a:solidFill>
              <a:srgbClr val="9AA6B5"/>
            </a:solidFill>
            <a:prstDash val="dash"/>
          </a:ln>
        </p:spPr>
      </p:sp>
      <p:pic>
        <p:nvPicPr>
          <p:cNvPr id="63" name="Image 14" descr="FaFileLines icon">    </p:cNvPr>
          <p:cNvPicPr>
            <a:picLocks noChangeAspect="1"/>
          </p:cNvPicPr>
          <p:nvPr/>
        </p:nvPicPr>
        <p:blipFill>
          <a:blip r:embed="rId15"/>
          <a:stretch>
            <a:fillRect/>
          </a:stretch>
        </p:blipFill>
        <p:spPr>
          <a:xfrm>
            <a:off x="6300216" y="1591056"/>
            <a:ext cx="219456" cy="219456"/>
          </a:xfrm>
          <a:prstGeom prst="rect">
            <a:avLst/>
          </a:prstGeom>
        </p:spPr>
      </p:pic>
      <p:sp>
        <p:nvSpPr>
          <p:cNvPr id="64" name="Text 46"/>
          <p:cNvSpPr txBox="1"/>
          <p:nvPr/>
        </p:nvSpPr>
        <p:spPr>
          <a:xfrm>
            <a:off x="6565392" y="1517904"/>
            <a:ext cx="896112" cy="36576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OMR sheets</a:t>
            </a:r>
            <a:endParaRPr lang="en-US" sz="900" dirty="0"/>
          </a:p>
        </p:txBody>
      </p:sp>
      <p:sp>
        <p:nvSpPr>
          <p:cNvPr id="65" name="Shape 47"/>
          <p:cNvSpPr/>
          <p:nvPr/>
        </p:nvSpPr>
        <p:spPr>
          <a:xfrm>
            <a:off x="7534656" y="1517904"/>
            <a:ext cx="1234440" cy="365760"/>
          </a:xfrm>
          <a:prstGeom prst="rect">
            <a:avLst/>
          </a:prstGeom>
          <a:solidFill>
            <a:srgbClr val="EEF2F7"/>
          </a:solidFill>
          <a:ln w="12700">
            <a:solidFill>
              <a:srgbClr val="9AA6B5"/>
            </a:solidFill>
            <a:prstDash val="dash"/>
          </a:ln>
        </p:spPr>
      </p:sp>
      <p:pic>
        <p:nvPicPr>
          <p:cNvPr id="66" name="Image 15" descr="FaWhatsapp icon">    </p:cNvPr>
          <p:cNvPicPr>
            <a:picLocks noChangeAspect="1"/>
          </p:cNvPicPr>
          <p:nvPr/>
        </p:nvPicPr>
        <p:blipFill>
          <a:blip r:embed="rId16"/>
          <a:stretch>
            <a:fillRect/>
          </a:stretch>
        </p:blipFill>
        <p:spPr>
          <a:xfrm>
            <a:off x="7598664" y="1591056"/>
            <a:ext cx="219456" cy="219456"/>
          </a:xfrm>
          <a:prstGeom prst="rect">
            <a:avLst/>
          </a:prstGeom>
        </p:spPr>
      </p:pic>
      <p:sp>
        <p:nvSpPr>
          <p:cNvPr id="67" name="Text 48"/>
          <p:cNvSpPr txBox="1"/>
          <p:nvPr/>
        </p:nvSpPr>
        <p:spPr>
          <a:xfrm>
            <a:off x="7863840" y="1517904"/>
            <a:ext cx="896112" cy="36576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WhatsApp</a:t>
            </a:r>
            <a:endParaRPr lang="en-US" sz="900" dirty="0"/>
          </a:p>
        </p:txBody>
      </p:sp>
      <p:sp>
        <p:nvSpPr>
          <p:cNvPr id="68" name="Shape 49"/>
          <p:cNvSpPr/>
          <p:nvPr/>
        </p:nvSpPr>
        <p:spPr>
          <a:xfrm flipV="1">
            <a:off x="4960620" y="2011680"/>
            <a:ext cx="3749040" cy="512064"/>
          </a:xfrm>
          <a:prstGeom prst="trapezoid">
            <a:avLst/>
          </a:prstGeom>
          <a:solidFill>
            <a:srgbClr val="9AA6B5"/>
          </a:solidFill>
          <a:ln w="19050">
            <a:solidFill>
              <a:srgbClr val="FFFFFF"/>
            </a:solidFill>
            <a:prstDash val="solid"/>
          </a:ln>
        </p:spPr>
      </p:sp>
      <p:sp>
        <p:nvSpPr>
          <p:cNvPr id="69" name="Text 50"/>
          <p:cNvSpPr txBox="1"/>
          <p:nvPr/>
        </p:nvSpPr>
        <p:spPr>
          <a:xfrm>
            <a:off x="5189220" y="2011680"/>
            <a:ext cx="3291840"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Messy, unconnected data</a:t>
            </a:r>
            <a:endParaRPr lang="en-US" sz="1400" dirty="0"/>
          </a:p>
          <a:p>
            <a:pPr algn="ctr" indent="0" marL="0">
              <a:buNone/>
            </a:pPr>
            <a:r>
              <a:rPr lang="en-US" sz="800" dirty="0">
                <a:solidFill>
                  <a:srgbClr val="FFFFFF"/>
                </a:solidFill>
                <a:latin typeface="Calibri" pitchFamily="34" charset="0"/>
                <a:ea typeface="Calibri" pitchFamily="34" charset="-122"/>
                <a:cs typeface="Calibri" pitchFamily="34" charset="-120"/>
              </a:rPr>
              <a:t>No topic view. No early warning.</a:t>
            </a:r>
            <a:endParaRPr lang="en-US" sz="1400" dirty="0"/>
          </a:p>
        </p:txBody>
      </p:sp>
      <p:sp>
        <p:nvSpPr>
          <p:cNvPr id="70" name="Shape 51"/>
          <p:cNvSpPr/>
          <p:nvPr/>
        </p:nvSpPr>
        <p:spPr>
          <a:xfrm flipV="1">
            <a:off x="5463540" y="2578608"/>
            <a:ext cx="2743200" cy="512064"/>
          </a:xfrm>
          <a:prstGeom prst="trapezoid">
            <a:avLst/>
          </a:prstGeom>
          <a:solidFill>
            <a:srgbClr val="5B8DC9"/>
          </a:solidFill>
          <a:ln w="19050">
            <a:solidFill>
              <a:srgbClr val="FFFFFF"/>
            </a:solidFill>
            <a:prstDash val="solid"/>
          </a:ln>
        </p:spPr>
      </p:sp>
      <p:sp>
        <p:nvSpPr>
          <p:cNvPr id="71" name="Text 52"/>
          <p:cNvSpPr txBox="1"/>
          <p:nvPr/>
        </p:nvSpPr>
        <p:spPr>
          <a:xfrm>
            <a:off x="5692140" y="2578608"/>
            <a:ext cx="2286000"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bottleneck</a:t>
            </a:r>
            <a:endParaRPr lang="en-US" sz="1400" dirty="0"/>
          </a:p>
          <a:p>
            <a:pPr algn="ctr" indent="0" marL="0">
              <a:buNone/>
            </a:pPr>
            <a:r>
              <a:rPr lang="en-US" sz="800" dirty="0">
                <a:solidFill>
                  <a:srgbClr val="FFFFFF"/>
                </a:solidFill>
                <a:latin typeface="Calibri" pitchFamily="34" charset="0"/>
                <a:ea typeface="Calibri" pitchFamily="34" charset="-122"/>
                <a:cs typeface="Calibri" pitchFamily="34" charset="-120"/>
              </a:rPr>
              <a:t>Staff time, no analysis</a:t>
            </a:r>
            <a:endParaRPr lang="en-US" sz="1400" dirty="0"/>
          </a:p>
        </p:txBody>
      </p:sp>
      <p:sp>
        <p:nvSpPr>
          <p:cNvPr id="72" name="Shape 53"/>
          <p:cNvSpPr/>
          <p:nvPr/>
        </p:nvSpPr>
        <p:spPr>
          <a:xfrm flipV="1">
            <a:off x="5920740" y="3145536"/>
            <a:ext cx="1828800" cy="512064"/>
          </a:xfrm>
          <a:prstGeom prst="trapezoid">
            <a:avLst/>
          </a:prstGeom>
          <a:solidFill>
            <a:srgbClr val="1F4A82"/>
          </a:solidFill>
          <a:ln w="19050">
            <a:solidFill>
              <a:srgbClr val="FFFFFF"/>
            </a:solidFill>
            <a:prstDash val="solid"/>
          </a:ln>
        </p:spPr>
      </p:sp>
      <p:sp>
        <p:nvSpPr>
          <p:cNvPr id="73" name="Text 54"/>
          <p:cNvSpPr txBox="1"/>
          <p:nvPr/>
        </p:nvSpPr>
        <p:spPr>
          <a:xfrm>
            <a:off x="6149340" y="3145536"/>
            <a:ext cx="1371600" cy="5120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Pragati</a:t>
            </a:r>
            <a:endParaRPr lang="en-US" sz="1400" dirty="0"/>
          </a:p>
          <a:p>
            <a:pPr algn="ctr" indent="0" marL="0">
              <a:buNone/>
            </a:pPr>
            <a:r>
              <a:rPr lang="en-US" sz="800" dirty="0">
                <a:solidFill>
                  <a:srgbClr val="FFFFFF"/>
                </a:solidFill>
                <a:latin typeface="Calibri" pitchFamily="34" charset="0"/>
                <a:ea typeface="Calibri" pitchFamily="34" charset="-122"/>
                <a:cs typeface="Calibri" pitchFamily="34" charset="-120"/>
              </a:rPr>
              <a:t>Topic map + weekly list</a:t>
            </a:r>
            <a:endParaRPr lang="en-US" sz="1400" dirty="0"/>
          </a:p>
        </p:txBody>
      </p:sp>
      <p:sp>
        <p:nvSpPr>
          <p:cNvPr id="74" name="Shape 55"/>
          <p:cNvSpPr/>
          <p:nvPr/>
        </p:nvSpPr>
        <p:spPr>
          <a:xfrm>
            <a:off x="8915400" y="1115568"/>
            <a:ext cx="2862072" cy="301752"/>
          </a:xfrm>
          <a:prstGeom prst="rect">
            <a:avLst/>
          </a:prstGeom>
          <a:solidFill>
            <a:srgbClr val="1F4A82"/>
          </a:solidFill>
          <a:ln/>
        </p:spPr>
      </p:sp>
      <p:sp>
        <p:nvSpPr>
          <p:cNvPr id="75" name="Text 56"/>
          <p:cNvSpPr txBox="1"/>
          <p:nvPr/>
        </p:nvSpPr>
        <p:spPr>
          <a:xfrm>
            <a:off x="9025128" y="1115568"/>
            <a:ext cx="2642616"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LEAKY REVENUE</a:t>
            </a:r>
            <a:endParaRPr lang="en-US" sz="1200" dirty="0"/>
          </a:p>
        </p:txBody>
      </p:sp>
      <p:sp>
        <p:nvSpPr>
          <p:cNvPr id="76" name="Shape 57"/>
          <p:cNvSpPr/>
          <p:nvPr/>
        </p:nvSpPr>
        <p:spPr>
          <a:xfrm>
            <a:off x="9006840" y="1499616"/>
            <a:ext cx="2679192" cy="585216"/>
          </a:xfrm>
          <a:prstGeom prst="rect">
            <a:avLst/>
          </a:prstGeom>
          <a:solidFill>
            <a:srgbClr val="F1E8D3"/>
          </a:solidFill>
          <a:ln/>
        </p:spPr>
      </p:sp>
      <p:sp>
        <p:nvSpPr>
          <p:cNvPr id="77" name="Text 58"/>
          <p:cNvSpPr txBox="1"/>
          <p:nvPr/>
        </p:nvSpPr>
        <p:spPr>
          <a:xfrm>
            <a:off x="9070848" y="1499616"/>
            <a:ext cx="1188720" cy="585216"/>
          </a:xfrm>
          <a:prstGeom prst="rect">
            <a:avLst/>
          </a:prstGeom>
          <a:noFill/>
          <a:ln/>
        </p:spPr>
        <p:txBody>
          <a:bodyPr wrap="square" lIns="0" tIns="0" rIns="0" bIns="0" rtlCol="0" anchor="ctr"/>
          <a:lstStyle/>
          <a:p>
            <a:pPr algn="l" indent="0" marL="0">
              <a:buNone/>
            </a:pPr>
            <a:r>
              <a:rPr lang="en-US" sz="1600" b="1" dirty="0">
                <a:solidFill>
                  <a:srgbClr val="17325C"/>
                </a:solidFill>
                <a:latin typeface="Calibri" pitchFamily="34" charset="0"/>
                <a:ea typeface="Calibri" pitchFamily="34" charset="-122"/>
                <a:cs typeface="Calibri" pitchFamily="34" charset="-120"/>
              </a:rPr>
              <a:t>8-15 %</a:t>
            </a:r>
            <a:endParaRPr lang="en-US" sz="1600" dirty="0"/>
          </a:p>
        </p:txBody>
      </p:sp>
      <p:sp>
        <p:nvSpPr>
          <p:cNvPr id="78" name="Text 59"/>
          <p:cNvSpPr txBox="1"/>
          <p:nvPr/>
        </p:nvSpPr>
        <p:spPr>
          <a:xfrm>
            <a:off x="10241280" y="1499616"/>
            <a:ext cx="1417320" cy="58521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of students drop out or default mid-session</a:t>
            </a:r>
            <a:endParaRPr lang="en-US" sz="850" dirty="0"/>
          </a:p>
        </p:txBody>
      </p:sp>
      <p:sp>
        <p:nvSpPr>
          <p:cNvPr id="79" name="Shape 60"/>
          <p:cNvSpPr/>
          <p:nvPr/>
        </p:nvSpPr>
        <p:spPr>
          <a:xfrm>
            <a:off x="9006840" y="2139696"/>
            <a:ext cx="2679192" cy="585216"/>
          </a:xfrm>
          <a:prstGeom prst="rect">
            <a:avLst/>
          </a:prstGeom>
          <a:solidFill>
            <a:srgbClr val="F1E8D3"/>
          </a:solidFill>
          <a:ln/>
        </p:spPr>
      </p:sp>
      <p:sp>
        <p:nvSpPr>
          <p:cNvPr id="80" name="Text 61"/>
          <p:cNvSpPr txBox="1"/>
          <p:nvPr/>
        </p:nvSpPr>
        <p:spPr>
          <a:xfrm>
            <a:off x="9070848" y="2139696"/>
            <a:ext cx="1188720" cy="585216"/>
          </a:xfrm>
          <a:prstGeom prst="rect">
            <a:avLst/>
          </a:prstGeom>
          <a:noFill/>
          <a:ln/>
        </p:spPr>
        <p:txBody>
          <a:bodyPr wrap="square" lIns="0" tIns="0" rIns="0" bIns="0" rtlCol="0" anchor="ctr"/>
          <a:lstStyle/>
          <a:p>
            <a:pPr algn="l" indent="0" marL="0">
              <a:buNone/>
            </a:pPr>
            <a:r>
              <a:rPr lang="en-US" sz="1600" b="1" dirty="0">
                <a:solidFill>
                  <a:srgbClr val="17325C"/>
                </a:solidFill>
                <a:latin typeface="Calibri" pitchFamily="34" charset="0"/>
                <a:ea typeface="Calibri" pitchFamily="34" charset="-122"/>
                <a:cs typeface="Calibri" pitchFamily="34" charset="-120"/>
              </a:rPr>
              <a:t>₹36,000</a:t>
            </a:r>
            <a:endParaRPr lang="en-US" sz="1600" dirty="0"/>
          </a:p>
        </p:txBody>
      </p:sp>
      <p:sp>
        <p:nvSpPr>
          <p:cNvPr id="81" name="Text 62"/>
          <p:cNvSpPr txBox="1"/>
          <p:nvPr/>
        </p:nvSpPr>
        <p:spPr>
          <a:xfrm>
            <a:off x="10241280" y="2139696"/>
            <a:ext cx="1417320" cy="58521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fees lost per dropout at month 4</a:t>
            </a:r>
            <a:endParaRPr lang="en-US" sz="850" dirty="0"/>
          </a:p>
        </p:txBody>
      </p:sp>
      <p:sp>
        <p:nvSpPr>
          <p:cNvPr id="82" name="Shape 63"/>
          <p:cNvSpPr/>
          <p:nvPr/>
        </p:nvSpPr>
        <p:spPr>
          <a:xfrm>
            <a:off x="9006840" y="2779776"/>
            <a:ext cx="2679192" cy="585216"/>
          </a:xfrm>
          <a:prstGeom prst="rect">
            <a:avLst/>
          </a:prstGeom>
          <a:solidFill>
            <a:srgbClr val="F1E8D3"/>
          </a:solidFill>
          <a:ln/>
        </p:spPr>
      </p:sp>
      <p:sp>
        <p:nvSpPr>
          <p:cNvPr id="83" name="Text 64"/>
          <p:cNvSpPr txBox="1"/>
          <p:nvPr/>
        </p:nvSpPr>
        <p:spPr>
          <a:xfrm>
            <a:off x="9070848" y="2779776"/>
            <a:ext cx="1188720" cy="585216"/>
          </a:xfrm>
          <a:prstGeom prst="rect">
            <a:avLst/>
          </a:prstGeom>
          <a:noFill/>
          <a:ln/>
        </p:spPr>
        <p:txBody>
          <a:bodyPr wrap="square" lIns="0" tIns="0" rIns="0" bIns="0" rtlCol="0" anchor="ctr"/>
          <a:lstStyle/>
          <a:p>
            <a:pPr algn="l" indent="0" marL="0">
              <a:buNone/>
            </a:pPr>
            <a:r>
              <a:rPr lang="en-US" sz="1600" b="1" dirty="0">
                <a:solidFill>
                  <a:srgbClr val="C0392B"/>
                </a:solidFill>
                <a:latin typeface="Calibri" pitchFamily="34" charset="0"/>
                <a:ea typeface="Calibri" pitchFamily="34" charset="-122"/>
                <a:cs typeface="Calibri" pitchFamily="34" charset="-120"/>
              </a:rPr>
              <a:t>₹17.3 lakh</a:t>
            </a:r>
            <a:endParaRPr lang="en-US" sz="1600" dirty="0"/>
          </a:p>
        </p:txBody>
      </p:sp>
      <p:sp>
        <p:nvSpPr>
          <p:cNvPr id="84" name="Text 65"/>
          <p:cNvSpPr txBox="1"/>
          <p:nvPr/>
        </p:nvSpPr>
        <p:spPr>
          <a:xfrm>
            <a:off x="10241280" y="2779776"/>
            <a:ext cx="1417320" cy="58521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fees at risk a year (400 students, 12 %)</a:t>
            </a:r>
            <a:endParaRPr lang="en-US" sz="850" dirty="0"/>
          </a:p>
        </p:txBody>
      </p:sp>
      <p:sp>
        <p:nvSpPr>
          <p:cNvPr id="85" name="Shape 66"/>
          <p:cNvSpPr/>
          <p:nvPr/>
        </p:nvSpPr>
        <p:spPr>
          <a:xfrm>
            <a:off x="9006840" y="3456432"/>
            <a:ext cx="1091184" cy="182880"/>
          </a:xfrm>
          <a:prstGeom prst="roundRect">
            <a:avLst>
              <a:gd name="adj" fmla="val 50000"/>
            </a:avLst>
          </a:prstGeom>
          <a:solidFill>
            <a:srgbClr val="FFFFFF"/>
          </a:solidFill>
          <a:ln w="12700">
            <a:solidFill>
              <a:srgbClr val="5B6573"/>
            </a:solidFill>
            <a:prstDash val="solid"/>
          </a:ln>
        </p:spPr>
      </p:sp>
      <p:sp>
        <p:nvSpPr>
          <p:cNvPr id="86" name="Text 67"/>
          <p:cNvSpPr txBox="1"/>
          <p:nvPr/>
        </p:nvSpPr>
        <p:spPr>
          <a:xfrm>
            <a:off x="9006840" y="3456432"/>
            <a:ext cx="1091184" cy="182880"/>
          </a:xfrm>
          <a:prstGeom prst="rect">
            <a:avLst/>
          </a:prstGeom>
          <a:noFill/>
          <a:ln/>
        </p:spPr>
        <p:txBody>
          <a:bodyPr wrap="square" lIns="0" tIns="0" rIns="0" bIns="0" rtlCol="0" anchor="ctr"/>
          <a:lstStyle/>
          <a:p>
            <a:pPr algn="ctr" indent="0" marL="0">
              <a:buNone/>
            </a:pPr>
            <a:r>
              <a:rPr lang="en-US" sz="800" b="1" spc="100" kern="0" dirty="0">
                <a:solidFill>
                  <a:srgbClr val="5B6573"/>
                </a:solidFill>
                <a:latin typeface="Calibri" pitchFamily="34" charset="0"/>
                <a:ea typeface="Calibri" pitchFamily="34" charset="-122"/>
                <a:cs typeface="Calibri" pitchFamily="34" charset="-120"/>
              </a:rPr>
              <a:t>GUIDE BASELINE</a:t>
            </a:r>
            <a:endParaRPr lang="en-US" sz="800" dirty="0"/>
          </a:p>
        </p:txBody>
      </p:sp>
      <p:sp>
        <p:nvSpPr>
          <p:cNvPr id="87" name="Shape 68"/>
          <p:cNvSpPr/>
          <p:nvPr/>
        </p:nvSpPr>
        <p:spPr>
          <a:xfrm rot="180000">
            <a:off x="10332720" y="3456432"/>
            <a:ext cx="1417320" cy="292608"/>
          </a:xfrm>
          <a:prstGeom prst="rect">
            <a:avLst/>
          </a:prstGeom>
          <a:solidFill>
            <a:srgbClr val="C9CED6">
              <a:alpha val="45000"/>
            </a:srgbClr>
          </a:solidFill>
          <a:ln/>
        </p:spPr>
      </p:sp>
      <p:sp>
        <p:nvSpPr>
          <p:cNvPr id="88" name="Shape 69"/>
          <p:cNvSpPr/>
          <p:nvPr/>
        </p:nvSpPr>
        <p:spPr>
          <a:xfrm rot="180000">
            <a:off x="10287000" y="3401568"/>
            <a:ext cx="1417320" cy="292608"/>
          </a:xfrm>
          <a:prstGeom prst="rect">
            <a:avLst/>
          </a:prstGeom>
          <a:solidFill>
            <a:srgbClr val="FDCB9A"/>
          </a:solidFill>
          <a:ln/>
        </p:spPr>
      </p:sp>
      <p:sp>
        <p:nvSpPr>
          <p:cNvPr id="89" name="Text 70"/>
          <p:cNvSpPr txBox="1"/>
          <p:nvPr/>
        </p:nvSpPr>
        <p:spPr>
          <a:xfrm rot="180000">
            <a:off x="10341864" y="3438144"/>
            <a:ext cx="1307592" cy="237744"/>
          </a:xfrm>
          <a:prstGeom prst="rect">
            <a:avLst/>
          </a:prstGeom>
          <a:noFill/>
          <a:ln/>
        </p:spPr>
        <p:txBody>
          <a:bodyPr wrap="square" lIns="0" tIns="0" rIns="0" bIns="0" rtlCol="0" anchor="ctr"/>
          <a:lstStyle/>
          <a:p>
            <a:pPr algn="ctr" indent="0" marL="0">
              <a:buNone/>
            </a:pPr>
            <a:r>
              <a:rPr lang="en-US" sz="850" dirty="0">
                <a:solidFill>
                  <a:srgbClr val="8A4B00"/>
                </a:solidFill>
                <a:latin typeface="Segoe Print" pitchFamily="34" charset="0"/>
                <a:ea typeface="Segoe Print" pitchFamily="34" charset="-122"/>
                <a:cs typeface="Segoe Print" pitchFamily="34" charset="-120"/>
              </a:rPr>
              <a:t>this is real cash</a:t>
            </a:r>
            <a:endParaRPr lang="en-US" sz="850" dirty="0"/>
          </a:p>
        </p:txBody>
      </p:sp>
      <p:pic>
        <p:nvPicPr>
          <p:cNvPr id="90" name="Image 16" descr="D:\Professional Work\Business\FC_Case_Dhruvi\presentation\source\assets\doodle_tape.png">    </p:cNvPr>
          <p:cNvPicPr>
            <a:picLocks noChangeAspect="1"/>
          </p:cNvPicPr>
          <p:nvPr/>
        </p:nvPicPr>
        <p:blipFill>
          <a:blip r:embed="rId17"/>
          <a:stretch>
            <a:fillRect/>
          </a:stretch>
        </p:blipFill>
        <p:spPr>
          <a:xfrm rot="108000">
            <a:off x="10721340" y="3310128"/>
            <a:ext cx="548640" cy="173736"/>
          </a:xfrm>
          <a:prstGeom prst="rect">
            <a:avLst/>
          </a:prstGeom>
        </p:spPr>
      </p:pic>
      <p:sp>
        <p:nvSpPr>
          <p:cNvPr id="91" name="Text 71"/>
          <p:cNvSpPr txBox="1"/>
          <p:nvPr/>
        </p:nvSpPr>
        <p:spPr>
          <a:xfrm>
            <a:off x="448056" y="3904488"/>
            <a:ext cx="425196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WHO WE SERVE</a:t>
            </a:r>
            <a:endParaRPr lang="en-US" sz="1250" dirty="0"/>
          </a:p>
        </p:txBody>
      </p:sp>
      <p:sp>
        <p:nvSpPr>
          <p:cNvPr id="92" name="Shape 72"/>
          <p:cNvSpPr/>
          <p:nvPr/>
        </p:nvSpPr>
        <p:spPr>
          <a:xfrm>
            <a:off x="448056" y="4197096"/>
            <a:ext cx="4251960" cy="10973"/>
          </a:xfrm>
          <a:prstGeom prst="rect">
            <a:avLst/>
          </a:prstGeom>
          <a:solidFill>
            <a:srgbClr val="C9D6E8"/>
          </a:solidFill>
          <a:ln/>
        </p:spPr>
      </p:sp>
      <p:sp>
        <p:nvSpPr>
          <p:cNvPr id="93" name="Shape 73"/>
          <p:cNvSpPr/>
          <p:nvPr/>
        </p:nvSpPr>
        <p:spPr>
          <a:xfrm>
            <a:off x="448056" y="4187952"/>
            <a:ext cx="2194560" cy="27432"/>
          </a:xfrm>
          <a:prstGeom prst="rect">
            <a:avLst/>
          </a:prstGeom>
          <a:solidFill>
            <a:srgbClr val="1F4A82"/>
          </a:solidFill>
          <a:ln/>
        </p:spPr>
      </p:sp>
      <p:sp>
        <p:nvSpPr>
          <p:cNvPr id="94" name="Shape 74"/>
          <p:cNvSpPr/>
          <p:nvPr/>
        </p:nvSpPr>
        <p:spPr>
          <a:xfrm>
            <a:off x="4809744" y="3931920"/>
            <a:ext cx="0" cy="2423160"/>
          </a:xfrm>
          <a:prstGeom prst="line">
            <a:avLst/>
          </a:prstGeom>
          <a:noFill/>
          <a:ln w="12700">
            <a:solidFill>
              <a:srgbClr val="8FA9CC"/>
            </a:solidFill>
            <a:prstDash val="dash"/>
          </a:ln>
        </p:spPr>
      </p:sp>
      <p:sp>
        <p:nvSpPr>
          <p:cNvPr id="95" name="Text 75"/>
          <p:cNvSpPr txBox="1"/>
          <p:nvPr/>
        </p:nvSpPr>
        <p:spPr>
          <a:xfrm>
            <a:off x="502920" y="4279392"/>
            <a:ext cx="1005840" cy="384048"/>
          </a:xfrm>
          <a:prstGeom prst="rect">
            <a:avLst/>
          </a:prstGeom>
          <a:noFill/>
          <a:ln/>
        </p:spPr>
        <p:txBody>
          <a:bodyPr wrap="square" lIns="0" tIns="0" rIns="0" bIns="0" rtlCol="0" anchor="ctr"/>
          <a:lstStyle/>
          <a:p>
            <a:pPr algn="l" indent="0" marL="0">
              <a:buNone/>
            </a:pPr>
            <a:r>
              <a:rPr lang="en-US" sz="1700" b="1" dirty="0">
                <a:solidFill>
                  <a:srgbClr val="1F4A82"/>
                </a:solidFill>
                <a:latin typeface="Calibri" pitchFamily="34" charset="0"/>
                <a:ea typeface="Calibri" pitchFamily="34" charset="-122"/>
                <a:cs typeface="Calibri" pitchFamily="34" charset="-120"/>
              </a:rPr>
              <a:t>22.8 L</a:t>
            </a:r>
            <a:endParaRPr lang="en-US" sz="1700" dirty="0"/>
          </a:p>
        </p:txBody>
      </p:sp>
      <p:sp>
        <p:nvSpPr>
          <p:cNvPr id="96" name="Text 76"/>
          <p:cNvSpPr txBox="1"/>
          <p:nvPr/>
        </p:nvSpPr>
        <p:spPr>
          <a:xfrm>
            <a:off x="1554480" y="4279392"/>
            <a:ext cx="310896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NEET UG 2025 registered candidates</a:t>
            </a:r>
            <a:endParaRPr lang="en-US" sz="950" dirty="0"/>
          </a:p>
          <a:p>
            <a:pPr algn="l" indent="0" marL="0">
              <a:buNone/>
            </a:pPr>
            <a:r>
              <a:rPr lang="en-US" sz="800" i="1" dirty="0">
                <a:solidFill>
                  <a:srgbClr val="5B6573"/>
                </a:solidFill>
                <a:latin typeface="Calibri" pitchFamily="34" charset="0"/>
                <a:ea typeface="Calibri" pitchFamily="34" charset="-122"/>
                <a:cs typeface="Calibri" pitchFamily="34" charset="-120"/>
              </a:rPr>
              <a:t>NTA result data</a:t>
            </a:r>
            <a:endParaRPr lang="en-US" sz="950" dirty="0"/>
          </a:p>
        </p:txBody>
      </p:sp>
      <p:sp>
        <p:nvSpPr>
          <p:cNvPr id="97" name="Text 77"/>
          <p:cNvSpPr txBox="1"/>
          <p:nvPr/>
        </p:nvSpPr>
        <p:spPr>
          <a:xfrm>
            <a:off x="502920" y="4709160"/>
            <a:ext cx="1005840" cy="384048"/>
          </a:xfrm>
          <a:prstGeom prst="rect">
            <a:avLst/>
          </a:prstGeom>
          <a:noFill/>
          <a:ln/>
        </p:spPr>
        <p:txBody>
          <a:bodyPr wrap="square" lIns="0" tIns="0" rIns="0" bIns="0" rtlCol="0" anchor="ctr"/>
          <a:lstStyle/>
          <a:p>
            <a:pPr algn="l" indent="0" marL="0">
              <a:buNone/>
            </a:pPr>
            <a:r>
              <a:rPr lang="en-US" sz="1700" b="1" dirty="0">
                <a:solidFill>
                  <a:srgbClr val="1F4A82"/>
                </a:solidFill>
                <a:latin typeface="Calibri" pitchFamily="34" charset="0"/>
                <a:ea typeface="Calibri" pitchFamily="34" charset="-122"/>
                <a:cs typeface="Calibri" pitchFamily="34" charset="-120"/>
              </a:rPr>
              <a:t>15.4 L</a:t>
            </a:r>
            <a:endParaRPr lang="en-US" sz="1700" dirty="0"/>
          </a:p>
        </p:txBody>
      </p:sp>
      <p:sp>
        <p:nvSpPr>
          <p:cNvPr id="98" name="Text 78"/>
          <p:cNvSpPr txBox="1"/>
          <p:nvPr/>
        </p:nvSpPr>
        <p:spPr>
          <a:xfrm>
            <a:off x="1554480" y="4709160"/>
            <a:ext cx="310896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JEE Main 2025 unique registrations</a:t>
            </a:r>
            <a:endParaRPr lang="en-US" sz="950" dirty="0"/>
          </a:p>
          <a:p>
            <a:pPr algn="l" indent="0" marL="0">
              <a:buNone/>
            </a:pPr>
            <a:r>
              <a:rPr lang="en-US" sz="800" i="1" dirty="0">
                <a:solidFill>
                  <a:srgbClr val="5B6573"/>
                </a:solidFill>
                <a:latin typeface="Calibri" pitchFamily="34" charset="0"/>
                <a:ea typeface="Calibri" pitchFamily="34" charset="-122"/>
                <a:cs typeface="Calibri" pitchFamily="34" charset="-120"/>
              </a:rPr>
              <a:t>reported, secondary</a:t>
            </a:r>
            <a:endParaRPr lang="en-US" sz="950" dirty="0"/>
          </a:p>
        </p:txBody>
      </p:sp>
      <p:sp>
        <p:nvSpPr>
          <p:cNvPr id="99" name="Text 79"/>
          <p:cNvSpPr txBox="1"/>
          <p:nvPr/>
        </p:nvSpPr>
        <p:spPr>
          <a:xfrm>
            <a:off x="502920" y="5138928"/>
            <a:ext cx="1005840" cy="384048"/>
          </a:xfrm>
          <a:prstGeom prst="rect">
            <a:avLst/>
          </a:prstGeom>
          <a:noFill/>
          <a:ln/>
        </p:spPr>
        <p:txBody>
          <a:bodyPr wrap="square" lIns="0" tIns="0" rIns="0" bIns="0" rtlCol="0" anchor="ctr"/>
          <a:lstStyle/>
          <a:p>
            <a:pPr algn="l" indent="0" marL="0">
              <a:buNone/>
            </a:pPr>
            <a:r>
              <a:rPr lang="en-US" sz="1700" b="1" dirty="0">
                <a:solidFill>
                  <a:srgbClr val="1F4A82"/>
                </a:solidFill>
                <a:latin typeface="Calibri" pitchFamily="34" charset="0"/>
                <a:ea typeface="Calibri" pitchFamily="34" charset="-122"/>
                <a:cs typeface="Calibri" pitchFamily="34" charset="-120"/>
              </a:rPr>
              <a:t>27 %</a:t>
            </a:r>
            <a:endParaRPr lang="en-US" sz="1700" dirty="0"/>
          </a:p>
        </p:txBody>
      </p:sp>
      <p:sp>
        <p:nvSpPr>
          <p:cNvPr id="100" name="Text 80"/>
          <p:cNvSpPr txBox="1"/>
          <p:nvPr/>
        </p:nvSpPr>
        <p:spPr>
          <a:xfrm>
            <a:off x="1554480" y="5138928"/>
            <a:ext cx="310896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of school students take private coaching</a:t>
            </a:r>
            <a:endParaRPr lang="en-US" sz="950" dirty="0"/>
          </a:p>
          <a:p>
            <a:pPr algn="l" indent="0" marL="0">
              <a:buNone/>
            </a:pPr>
            <a:r>
              <a:rPr lang="en-US" sz="800" i="1" dirty="0">
                <a:solidFill>
                  <a:srgbClr val="5B6573"/>
                </a:solidFill>
                <a:latin typeface="Calibri" pitchFamily="34" charset="0"/>
                <a:ea typeface="Calibri" pitchFamily="34" charset="-122"/>
                <a:cs typeface="Calibri" pitchFamily="34" charset="-120"/>
              </a:rPr>
              <a:t>NSO survey 2025</a:t>
            </a:r>
            <a:endParaRPr lang="en-US" sz="950" dirty="0"/>
          </a:p>
        </p:txBody>
      </p:sp>
      <p:sp>
        <p:nvSpPr>
          <p:cNvPr id="101" name="Shape 81"/>
          <p:cNvSpPr/>
          <p:nvPr/>
        </p:nvSpPr>
        <p:spPr>
          <a:xfrm>
            <a:off x="502920" y="5614416"/>
            <a:ext cx="4160520" cy="640080"/>
          </a:xfrm>
          <a:prstGeom prst="rect">
            <a:avLst/>
          </a:prstGeom>
          <a:solidFill>
            <a:srgbClr val="F4F7FB"/>
          </a:solidFill>
          <a:ln/>
        </p:spPr>
      </p:sp>
      <p:sp>
        <p:nvSpPr>
          <p:cNvPr id="102" name="Text 82"/>
          <p:cNvSpPr txBox="1"/>
          <p:nvPr/>
        </p:nvSpPr>
        <p:spPr>
          <a:xfrm>
            <a:off x="576072" y="5614416"/>
            <a:ext cx="4023360" cy="640080"/>
          </a:xfrm>
          <a:prstGeom prst="rect">
            <a:avLst/>
          </a:prstGeom>
          <a:noFill/>
          <a:ln/>
        </p:spPr>
        <p:txBody>
          <a:bodyPr wrap="square" lIns="0" tIns="0" rIns="0" bIns="0" rtlCol="0" anchor="ctr"/>
          <a:lstStyle/>
          <a:p>
            <a:pPr algn="l" indent="0" marL="0">
              <a:buNone/>
            </a:pPr>
            <a:r>
              <a:rPr lang="en-US" sz="850" b="1" dirty="0">
                <a:solidFill>
                  <a:srgbClr val="1F4A82"/>
                </a:solidFill>
                <a:latin typeface="Calibri" pitchFamily="34" charset="0"/>
                <a:ea typeface="Calibri" pitchFamily="34" charset="-122"/>
                <a:cs typeface="Calibri" pitchFamily="34" charset="-120"/>
              </a:rPr>
              <a:t>Ceiling, not a forecast: </a:t>
            </a:r>
            <a:pPr algn="l" indent="0" marL="0">
              <a:buNone/>
            </a:pPr>
            <a:r>
              <a:rPr lang="en-US" sz="850" dirty="0">
                <a:solidFill>
                  <a:srgbClr val="1F2937"/>
                </a:solidFill>
                <a:latin typeface="Calibri" pitchFamily="34" charset="0"/>
                <a:ea typeface="Calibri" pitchFamily="34" charset="-122"/>
                <a:cs typeface="Calibri" pitchFamily="34" charset="-120"/>
              </a:rPr>
              <a:t>if every JEE and NEET aspirant's institute paid ₹30 a month, the pool is about ₹137 crore a year (38 lakh x ₹360).</a:t>
            </a:r>
            <a:endParaRPr lang="en-US" sz="850" dirty="0"/>
          </a:p>
        </p:txBody>
      </p:sp>
      <p:sp>
        <p:nvSpPr>
          <p:cNvPr id="103" name="Text 83"/>
          <p:cNvSpPr txBox="1"/>
          <p:nvPr/>
        </p:nvSpPr>
        <p:spPr>
          <a:xfrm>
            <a:off x="4882896" y="3904488"/>
            <a:ext cx="388620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THE BUYER'S CONSTRAINTS</a:t>
            </a:r>
            <a:endParaRPr lang="en-US" sz="1250" dirty="0"/>
          </a:p>
        </p:txBody>
      </p:sp>
      <p:sp>
        <p:nvSpPr>
          <p:cNvPr id="104" name="Shape 84"/>
          <p:cNvSpPr/>
          <p:nvPr/>
        </p:nvSpPr>
        <p:spPr>
          <a:xfrm>
            <a:off x="4882896" y="4197096"/>
            <a:ext cx="3886200" cy="10973"/>
          </a:xfrm>
          <a:prstGeom prst="rect">
            <a:avLst/>
          </a:prstGeom>
          <a:solidFill>
            <a:srgbClr val="C9D6E8"/>
          </a:solidFill>
          <a:ln/>
        </p:spPr>
      </p:sp>
      <p:sp>
        <p:nvSpPr>
          <p:cNvPr id="105" name="Shape 85"/>
          <p:cNvSpPr/>
          <p:nvPr/>
        </p:nvSpPr>
        <p:spPr>
          <a:xfrm>
            <a:off x="4882896" y="4187952"/>
            <a:ext cx="2194560" cy="27432"/>
          </a:xfrm>
          <a:prstGeom prst="rect">
            <a:avLst/>
          </a:prstGeom>
          <a:solidFill>
            <a:srgbClr val="1F4A82"/>
          </a:solidFill>
          <a:ln/>
        </p:spPr>
      </p:sp>
      <p:sp>
        <p:nvSpPr>
          <p:cNvPr id="106" name="Shape 86"/>
          <p:cNvSpPr/>
          <p:nvPr/>
        </p:nvSpPr>
        <p:spPr>
          <a:xfrm>
            <a:off x="8878824" y="3931920"/>
            <a:ext cx="0" cy="2423160"/>
          </a:xfrm>
          <a:prstGeom prst="line">
            <a:avLst/>
          </a:prstGeom>
          <a:noFill/>
          <a:ln w="12700">
            <a:solidFill>
              <a:srgbClr val="8FA9CC"/>
            </a:solidFill>
            <a:prstDash val="dash"/>
          </a:ln>
        </p:spPr>
      </p:sp>
      <p:sp>
        <p:nvSpPr>
          <p:cNvPr id="107" name="Shape 87"/>
          <p:cNvSpPr/>
          <p:nvPr/>
        </p:nvSpPr>
        <p:spPr>
          <a:xfrm>
            <a:off x="4937760" y="4279392"/>
            <a:ext cx="1828800" cy="950976"/>
          </a:xfrm>
          <a:prstGeom prst="rect">
            <a:avLst/>
          </a:prstGeom>
          <a:solidFill>
            <a:srgbClr val="F2F6FB"/>
          </a:solidFill>
          <a:ln/>
        </p:spPr>
      </p:sp>
      <p:sp>
        <p:nvSpPr>
          <p:cNvPr id="108" name="Shape 88"/>
          <p:cNvSpPr/>
          <p:nvPr/>
        </p:nvSpPr>
        <p:spPr>
          <a:xfrm>
            <a:off x="5010912" y="4352544"/>
            <a:ext cx="310896" cy="310896"/>
          </a:xfrm>
          <a:prstGeom prst="ellipse">
            <a:avLst/>
          </a:prstGeom>
          <a:solidFill>
            <a:srgbClr val="1F4A82"/>
          </a:solidFill>
          <a:ln/>
        </p:spPr>
      </p:sp>
      <p:pic>
        <p:nvPicPr>
          <p:cNvPr id="109" name="Image 17" descr="FaIndianRupeeSign icon">    </p:cNvPr>
          <p:cNvPicPr>
            <a:picLocks noChangeAspect="1"/>
          </p:cNvPicPr>
          <p:nvPr/>
        </p:nvPicPr>
        <p:blipFill>
          <a:blip r:embed="rId18"/>
          <a:stretch>
            <a:fillRect/>
          </a:stretch>
        </p:blipFill>
        <p:spPr>
          <a:xfrm>
            <a:off x="5079309" y="4420941"/>
            <a:ext cx="174102" cy="174102"/>
          </a:xfrm>
          <a:prstGeom prst="rect">
            <a:avLst/>
          </a:prstGeom>
        </p:spPr>
      </p:pic>
      <p:sp>
        <p:nvSpPr>
          <p:cNvPr id="110" name="Text 89"/>
          <p:cNvSpPr txBox="1"/>
          <p:nvPr/>
        </p:nvSpPr>
        <p:spPr>
          <a:xfrm>
            <a:off x="5394960" y="4325112"/>
            <a:ext cx="1325880" cy="347472"/>
          </a:xfrm>
          <a:prstGeom prst="rect">
            <a:avLst/>
          </a:prstGeom>
          <a:noFill/>
          <a:ln/>
        </p:spPr>
        <p:txBody>
          <a:bodyPr wrap="square" lIns="0" tIns="0" rIns="0" bIns="0" rtlCol="0" anchor="ctr"/>
          <a:lstStyle/>
          <a:p>
            <a:pPr algn="l" indent="0" marL="0">
              <a:buNone/>
            </a:pPr>
            <a:r>
              <a:rPr lang="en-US" sz="1050" b="1" dirty="0">
                <a:solidFill>
                  <a:srgbClr val="1F2937"/>
                </a:solidFill>
                <a:latin typeface="Calibri" pitchFamily="34" charset="0"/>
                <a:ea typeface="Calibri" pitchFamily="34" charset="-122"/>
                <a:cs typeface="Calibri" pitchFamily="34" charset="-120"/>
              </a:rPr>
              <a:t>Price-sensitive</a:t>
            </a:r>
            <a:endParaRPr lang="en-US" sz="1050" dirty="0"/>
          </a:p>
        </p:txBody>
      </p:sp>
      <p:sp>
        <p:nvSpPr>
          <p:cNvPr id="111" name="Text 90"/>
          <p:cNvSpPr txBox="1"/>
          <p:nvPr/>
        </p:nvSpPr>
        <p:spPr>
          <a:xfrm>
            <a:off x="5010912" y="4718304"/>
            <a:ext cx="1691640" cy="475488"/>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Rivals list ₹4 to ₹21 a student a month.</a:t>
            </a:r>
            <a:endParaRPr lang="en-US" sz="900" dirty="0"/>
          </a:p>
        </p:txBody>
      </p:sp>
      <p:sp>
        <p:nvSpPr>
          <p:cNvPr id="112" name="Shape 91"/>
          <p:cNvSpPr/>
          <p:nvPr/>
        </p:nvSpPr>
        <p:spPr>
          <a:xfrm>
            <a:off x="6858000" y="4279392"/>
            <a:ext cx="1828800" cy="950976"/>
          </a:xfrm>
          <a:prstGeom prst="rect">
            <a:avLst/>
          </a:prstGeom>
          <a:solidFill>
            <a:srgbClr val="F2F6FB"/>
          </a:solidFill>
          <a:ln/>
        </p:spPr>
      </p:sp>
      <p:sp>
        <p:nvSpPr>
          <p:cNvPr id="113" name="Shape 92"/>
          <p:cNvSpPr/>
          <p:nvPr/>
        </p:nvSpPr>
        <p:spPr>
          <a:xfrm>
            <a:off x="6931152" y="4352544"/>
            <a:ext cx="310896" cy="310896"/>
          </a:xfrm>
          <a:prstGeom prst="ellipse">
            <a:avLst/>
          </a:prstGeom>
          <a:solidFill>
            <a:srgbClr val="2E6DB4"/>
          </a:solidFill>
          <a:ln/>
        </p:spPr>
      </p:sp>
      <p:pic>
        <p:nvPicPr>
          <p:cNvPr id="114" name="Image 18" descr="FaTable icon">    </p:cNvPr>
          <p:cNvPicPr>
            <a:picLocks noChangeAspect="1"/>
          </p:cNvPicPr>
          <p:nvPr/>
        </p:nvPicPr>
        <p:blipFill>
          <a:blip r:embed="rId19"/>
          <a:stretch>
            <a:fillRect/>
          </a:stretch>
        </p:blipFill>
        <p:spPr>
          <a:xfrm>
            <a:off x="6999549" y="4420941"/>
            <a:ext cx="174102" cy="174102"/>
          </a:xfrm>
          <a:prstGeom prst="rect">
            <a:avLst/>
          </a:prstGeom>
        </p:spPr>
      </p:pic>
      <p:sp>
        <p:nvSpPr>
          <p:cNvPr id="115" name="Text 93"/>
          <p:cNvSpPr txBox="1"/>
          <p:nvPr/>
        </p:nvSpPr>
        <p:spPr>
          <a:xfrm>
            <a:off x="7315200" y="4325112"/>
            <a:ext cx="1325880" cy="347472"/>
          </a:xfrm>
          <a:prstGeom prst="rect">
            <a:avLst/>
          </a:prstGeom>
          <a:noFill/>
          <a:ln/>
        </p:spPr>
        <p:txBody>
          <a:bodyPr wrap="square" lIns="0" tIns="0" rIns="0" bIns="0" rtlCol="0" anchor="ctr"/>
          <a:lstStyle/>
          <a:p>
            <a:pPr algn="l" indent="0" marL="0">
              <a:buNone/>
            </a:pPr>
            <a:r>
              <a:rPr lang="en-US" sz="1050" b="1" dirty="0">
                <a:solidFill>
                  <a:srgbClr val="1F2937"/>
                </a:solidFill>
                <a:latin typeface="Calibri" pitchFamily="34" charset="0"/>
                <a:ea typeface="Calibri" pitchFamily="34" charset="-122"/>
                <a:cs typeface="Calibri" pitchFamily="34" charset="-120"/>
              </a:rPr>
              <a:t>Low-tech staff</a:t>
            </a:r>
            <a:endParaRPr lang="en-US" sz="1050" dirty="0"/>
          </a:p>
        </p:txBody>
      </p:sp>
      <p:sp>
        <p:nvSpPr>
          <p:cNvPr id="116" name="Text 94"/>
          <p:cNvSpPr txBox="1"/>
          <p:nvPr/>
        </p:nvSpPr>
        <p:spPr>
          <a:xfrm>
            <a:off x="6931152" y="4718304"/>
            <a:ext cx="1691640" cy="475488"/>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Excel, registers and a phone camera.</a:t>
            </a:r>
            <a:endParaRPr lang="en-US" sz="900" dirty="0"/>
          </a:p>
        </p:txBody>
      </p:sp>
      <p:sp>
        <p:nvSpPr>
          <p:cNvPr id="117" name="Shape 95"/>
          <p:cNvSpPr/>
          <p:nvPr/>
        </p:nvSpPr>
        <p:spPr>
          <a:xfrm>
            <a:off x="4937760" y="5303520"/>
            <a:ext cx="1828800" cy="950976"/>
          </a:xfrm>
          <a:prstGeom prst="rect">
            <a:avLst/>
          </a:prstGeom>
          <a:solidFill>
            <a:srgbClr val="F2F6FB"/>
          </a:solidFill>
          <a:ln/>
        </p:spPr>
      </p:sp>
      <p:sp>
        <p:nvSpPr>
          <p:cNvPr id="118" name="Shape 96"/>
          <p:cNvSpPr/>
          <p:nvPr/>
        </p:nvSpPr>
        <p:spPr>
          <a:xfrm>
            <a:off x="5010912" y="5376672"/>
            <a:ext cx="310896" cy="310896"/>
          </a:xfrm>
          <a:prstGeom prst="ellipse">
            <a:avLst/>
          </a:prstGeom>
          <a:solidFill>
            <a:srgbClr val="1F4A82"/>
          </a:solidFill>
          <a:ln/>
        </p:spPr>
      </p:sp>
      <p:pic>
        <p:nvPicPr>
          <p:cNvPr id="119" name="Image 19" descr="FaWifi icon">    </p:cNvPr>
          <p:cNvPicPr>
            <a:picLocks noChangeAspect="1"/>
          </p:cNvPicPr>
          <p:nvPr/>
        </p:nvPicPr>
        <p:blipFill>
          <a:blip r:embed="rId20"/>
          <a:stretch>
            <a:fillRect/>
          </a:stretch>
        </p:blipFill>
        <p:spPr>
          <a:xfrm>
            <a:off x="5079309" y="5445069"/>
            <a:ext cx="174102" cy="174102"/>
          </a:xfrm>
          <a:prstGeom prst="rect">
            <a:avLst/>
          </a:prstGeom>
        </p:spPr>
      </p:pic>
      <p:sp>
        <p:nvSpPr>
          <p:cNvPr id="120" name="Text 97"/>
          <p:cNvSpPr txBox="1"/>
          <p:nvPr/>
        </p:nvSpPr>
        <p:spPr>
          <a:xfrm>
            <a:off x="5394960" y="5349240"/>
            <a:ext cx="1325880" cy="347472"/>
          </a:xfrm>
          <a:prstGeom prst="rect">
            <a:avLst/>
          </a:prstGeom>
          <a:noFill/>
          <a:ln/>
        </p:spPr>
        <p:txBody>
          <a:bodyPr wrap="square" lIns="0" tIns="0" rIns="0" bIns="0" rtlCol="0" anchor="ctr"/>
          <a:lstStyle/>
          <a:p>
            <a:pPr algn="l" indent="0" marL="0">
              <a:buNone/>
            </a:pPr>
            <a:r>
              <a:rPr lang="en-US" sz="1050" b="1" dirty="0">
                <a:solidFill>
                  <a:srgbClr val="1F2937"/>
                </a:solidFill>
                <a:latin typeface="Calibri" pitchFamily="34" charset="0"/>
                <a:ea typeface="Calibri" pitchFamily="34" charset="-122"/>
                <a:cs typeface="Calibri" pitchFamily="34" charset="-120"/>
              </a:rPr>
              <a:t>Patchy internet</a:t>
            </a:r>
            <a:endParaRPr lang="en-US" sz="1050" dirty="0"/>
          </a:p>
        </p:txBody>
      </p:sp>
      <p:sp>
        <p:nvSpPr>
          <p:cNvPr id="121" name="Text 98"/>
          <p:cNvSpPr txBox="1"/>
          <p:nvPr/>
        </p:nvSpPr>
        <p:spPr>
          <a:xfrm>
            <a:off x="5010912" y="5742432"/>
            <a:ext cx="1691640" cy="475488"/>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So it must work offline, on one laptop.</a:t>
            </a:r>
            <a:endParaRPr lang="en-US" sz="900" dirty="0"/>
          </a:p>
        </p:txBody>
      </p:sp>
      <p:sp>
        <p:nvSpPr>
          <p:cNvPr id="122" name="Shape 99"/>
          <p:cNvSpPr/>
          <p:nvPr/>
        </p:nvSpPr>
        <p:spPr>
          <a:xfrm>
            <a:off x="6858000" y="5303520"/>
            <a:ext cx="1828800" cy="950976"/>
          </a:xfrm>
          <a:prstGeom prst="rect">
            <a:avLst/>
          </a:prstGeom>
          <a:solidFill>
            <a:srgbClr val="F2F6FB"/>
          </a:solidFill>
          <a:ln/>
        </p:spPr>
      </p:sp>
      <p:sp>
        <p:nvSpPr>
          <p:cNvPr id="123" name="Shape 100"/>
          <p:cNvSpPr/>
          <p:nvPr/>
        </p:nvSpPr>
        <p:spPr>
          <a:xfrm>
            <a:off x="6931152" y="5376672"/>
            <a:ext cx="310896" cy="310896"/>
          </a:xfrm>
          <a:prstGeom prst="ellipse">
            <a:avLst/>
          </a:prstGeom>
          <a:solidFill>
            <a:srgbClr val="5B8DC9"/>
          </a:solidFill>
          <a:ln/>
        </p:spPr>
      </p:sp>
      <p:pic>
        <p:nvPicPr>
          <p:cNvPr id="124" name="Image 20" descr="FaUserShield icon">    </p:cNvPr>
          <p:cNvPicPr>
            <a:picLocks noChangeAspect="1"/>
          </p:cNvPicPr>
          <p:nvPr/>
        </p:nvPicPr>
        <p:blipFill>
          <a:blip r:embed="rId21"/>
          <a:stretch>
            <a:fillRect/>
          </a:stretch>
        </p:blipFill>
        <p:spPr>
          <a:xfrm>
            <a:off x="6999549" y="5445069"/>
            <a:ext cx="174102" cy="174102"/>
          </a:xfrm>
          <a:prstGeom prst="rect">
            <a:avLst/>
          </a:prstGeom>
        </p:spPr>
      </p:pic>
      <p:sp>
        <p:nvSpPr>
          <p:cNvPr id="125" name="Text 101"/>
          <p:cNvSpPr txBox="1"/>
          <p:nvPr/>
        </p:nvSpPr>
        <p:spPr>
          <a:xfrm>
            <a:off x="7315200" y="5349240"/>
            <a:ext cx="1325880" cy="347472"/>
          </a:xfrm>
          <a:prstGeom prst="rect">
            <a:avLst/>
          </a:prstGeom>
          <a:noFill/>
          <a:ln/>
        </p:spPr>
        <p:txBody>
          <a:bodyPr wrap="square" lIns="0" tIns="0" rIns="0" bIns="0" rtlCol="0" anchor="ctr"/>
          <a:lstStyle/>
          <a:p>
            <a:pPr algn="l" indent="0" marL="0">
              <a:buNone/>
            </a:pPr>
            <a:r>
              <a:rPr lang="en-US" sz="1050" b="1" dirty="0">
                <a:solidFill>
                  <a:srgbClr val="1F2937"/>
                </a:solidFill>
                <a:latin typeface="Calibri" pitchFamily="34" charset="0"/>
                <a:ea typeface="Calibri" pitchFamily="34" charset="-122"/>
                <a:cs typeface="Calibri" pitchFamily="34" charset="-120"/>
              </a:rPr>
              <a:t>Minors' data</a:t>
            </a:r>
            <a:endParaRPr lang="en-US" sz="1050" dirty="0"/>
          </a:p>
        </p:txBody>
      </p:sp>
      <p:sp>
        <p:nvSpPr>
          <p:cNvPr id="126" name="Text 102"/>
          <p:cNvSpPr txBox="1"/>
          <p:nvPr/>
        </p:nvSpPr>
        <p:spPr>
          <a:xfrm>
            <a:off x="6931152" y="5742432"/>
            <a:ext cx="1691640" cy="475488"/>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DPDP Act and MoE rules apply.</a:t>
            </a:r>
            <a:endParaRPr lang="en-US" sz="900" dirty="0"/>
          </a:p>
        </p:txBody>
      </p:sp>
      <p:sp>
        <p:nvSpPr>
          <p:cNvPr id="127" name="Text 103"/>
          <p:cNvSpPr txBox="1"/>
          <p:nvPr/>
        </p:nvSpPr>
        <p:spPr>
          <a:xfrm>
            <a:off x="8951976" y="3904488"/>
            <a:ext cx="2770632"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WHAT PRAGATI DOES</a:t>
            </a:r>
            <a:endParaRPr lang="en-US" sz="1250" dirty="0"/>
          </a:p>
        </p:txBody>
      </p:sp>
      <p:sp>
        <p:nvSpPr>
          <p:cNvPr id="128" name="Shape 104"/>
          <p:cNvSpPr/>
          <p:nvPr/>
        </p:nvSpPr>
        <p:spPr>
          <a:xfrm>
            <a:off x="8951976" y="4197096"/>
            <a:ext cx="2770632" cy="10973"/>
          </a:xfrm>
          <a:prstGeom prst="rect">
            <a:avLst/>
          </a:prstGeom>
          <a:solidFill>
            <a:srgbClr val="C9D6E8"/>
          </a:solidFill>
          <a:ln/>
        </p:spPr>
      </p:sp>
      <p:sp>
        <p:nvSpPr>
          <p:cNvPr id="129" name="Shape 105"/>
          <p:cNvSpPr/>
          <p:nvPr/>
        </p:nvSpPr>
        <p:spPr>
          <a:xfrm>
            <a:off x="8951976" y="4187952"/>
            <a:ext cx="2194560" cy="27432"/>
          </a:xfrm>
          <a:prstGeom prst="rect">
            <a:avLst/>
          </a:prstGeom>
          <a:solidFill>
            <a:srgbClr val="1F4A82"/>
          </a:solidFill>
          <a:ln/>
        </p:spPr>
      </p:sp>
      <p:pic>
        <p:nvPicPr>
          <p:cNvPr id="130" name="Image 21" descr="FaCircleCheck icon">    </p:cNvPr>
          <p:cNvPicPr>
            <a:picLocks noChangeAspect="1"/>
          </p:cNvPicPr>
          <p:nvPr/>
        </p:nvPicPr>
        <p:blipFill>
          <a:blip r:embed="rId22"/>
          <a:stretch>
            <a:fillRect/>
          </a:stretch>
        </p:blipFill>
        <p:spPr>
          <a:xfrm>
            <a:off x="9034272" y="4297680"/>
            <a:ext cx="182880" cy="182880"/>
          </a:xfrm>
          <a:prstGeom prst="rect">
            <a:avLst/>
          </a:prstGeom>
        </p:spPr>
      </p:pic>
      <p:sp>
        <p:nvSpPr>
          <p:cNvPr id="131" name="Text 106"/>
          <p:cNvSpPr txBox="1"/>
          <p:nvPr/>
        </p:nvSpPr>
        <p:spPr>
          <a:xfrm>
            <a:off x="9281160" y="4242816"/>
            <a:ext cx="2423160" cy="29260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Topic-level view of every student</a:t>
            </a:r>
            <a:endParaRPr lang="en-US" sz="950" dirty="0"/>
          </a:p>
        </p:txBody>
      </p:sp>
      <p:pic>
        <p:nvPicPr>
          <p:cNvPr id="132" name="Image 22" descr="FaCircleCheck icon">    </p:cNvPr>
          <p:cNvPicPr>
            <a:picLocks noChangeAspect="1"/>
          </p:cNvPicPr>
          <p:nvPr/>
        </p:nvPicPr>
        <p:blipFill>
          <a:blip r:embed="rId23"/>
          <a:stretch>
            <a:fillRect/>
          </a:stretch>
        </p:blipFill>
        <p:spPr>
          <a:xfrm>
            <a:off x="9034272" y="4636008"/>
            <a:ext cx="182880" cy="182880"/>
          </a:xfrm>
          <a:prstGeom prst="rect">
            <a:avLst/>
          </a:prstGeom>
        </p:spPr>
      </p:pic>
      <p:sp>
        <p:nvSpPr>
          <p:cNvPr id="133" name="Text 107"/>
          <p:cNvSpPr txBox="1"/>
          <p:nvPr/>
        </p:nvSpPr>
        <p:spPr>
          <a:xfrm>
            <a:off x="9281160" y="4581144"/>
            <a:ext cx="2423160" cy="29260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 short, supportive list each week</a:t>
            </a:r>
            <a:endParaRPr lang="en-US" sz="950" dirty="0"/>
          </a:p>
        </p:txBody>
      </p:sp>
      <p:pic>
        <p:nvPicPr>
          <p:cNvPr id="134" name="Image 23" descr="FaCircleCheck icon">    </p:cNvPr>
          <p:cNvPicPr>
            <a:picLocks noChangeAspect="1"/>
          </p:cNvPicPr>
          <p:nvPr/>
        </p:nvPicPr>
        <p:blipFill>
          <a:blip r:embed="rId24"/>
          <a:stretch>
            <a:fillRect/>
          </a:stretch>
        </p:blipFill>
        <p:spPr>
          <a:xfrm>
            <a:off x="9034272" y="4974336"/>
            <a:ext cx="182880" cy="182880"/>
          </a:xfrm>
          <a:prstGeom prst="rect">
            <a:avLst/>
          </a:prstGeom>
        </p:spPr>
      </p:pic>
      <p:sp>
        <p:nvSpPr>
          <p:cNvPr id="135" name="Text 108"/>
          <p:cNvSpPr txBox="1"/>
          <p:nvPr/>
        </p:nvSpPr>
        <p:spPr>
          <a:xfrm>
            <a:off x="9281160" y="4919472"/>
            <a:ext cx="2423160" cy="29260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An honest percentile range</a:t>
            </a:r>
            <a:endParaRPr lang="en-US" sz="950" dirty="0"/>
          </a:p>
        </p:txBody>
      </p:sp>
      <p:pic>
        <p:nvPicPr>
          <p:cNvPr id="136" name="Image 24" descr="FaCircleCheck icon">    </p:cNvPr>
          <p:cNvPicPr>
            <a:picLocks noChangeAspect="1"/>
          </p:cNvPicPr>
          <p:nvPr/>
        </p:nvPicPr>
        <p:blipFill>
          <a:blip r:embed="rId25"/>
          <a:stretch>
            <a:fillRect/>
          </a:stretch>
        </p:blipFill>
        <p:spPr>
          <a:xfrm>
            <a:off x="9034272" y="5312664"/>
            <a:ext cx="182880" cy="182880"/>
          </a:xfrm>
          <a:prstGeom prst="rect">
            <a:avLst/>
          </a:prstGeom>
        </p:spPr>
      </p:pic>
      <p:sp>
        <p:nvSpPr>
          <p:cNvPr id="137" name="Text 109"/>
          <p:cNvSpPr txBox="1"/>
          <p:nvPr/>
        </p:nvSpPr>
        <p:spPr>
          <a:xfrm>
            <a:off x="9281160" y="5257800"/>
            <a:ext cx="2423160" cy="29260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Verified Hindi and English reports</a:t>
            </a:r>
            <a:endParaRPr lang="en-US" sz="950" dirty="0"/>
          </a:p>
        </p:txBody>
      </p:sp>
      <p:pic>
        <p:nvPicPr>
          <p:cNvPr id="138" name="Image 25" descr="FaCircleCheck icon">    </p:cNvPr>
          <p:cNvPicPr>
            <a:picLocks noChangeAspect="1"/>
          </p:cNvPicPr>
          <p:nvPr/>
        </p:nvPicPr>
        <p:blipFill>
          <a:blip r:embed="rId26"/>
          <a:stretch>
            <a:fillRect/>
          </a:stretch>
        </p:blipFill>
        <p:spPr>
          <a:xfrm>
            <a:off x="9034272" y="5650992"/>
            <a:ext cx="182880" cy="182880"/>
          </a:xfrm>
          <a:prstGeom prst="rect">
            <a:avLst/>
          </a:prstGeom>
        </p:spPr>
      </p:pic>
      <p:sp>
        <p:nvSpPr>
          <p:cNvPr id="139" name="Text 110"/>
          <p:cNvSpPr txBox="1"/>
          <p:nvPr/>
        </p:nvSpPr>
        <p:spPr>
          <a:xfrm>
            <a:off x="9281160" y="5596128"/>
            <a:ext cx="2423160" cy="29260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Runs offline, free to run</a:t>
            </a:r>
            <a:endParaRPr lang="en-US" sz="950" dirty="0"/>
          </a:p>
        </p:txBody>
      </p:sp>
      <p:sp>
        <p:nvSpPr>
          <p:cNvPr id="140" name="Shape 111"/>
          <p:cNvSpPr/>
          <p:nvPr/>
        </p:nvSpPr>
        <p:spPr>
          <a:xfrm>
            <a:off x="9006840" y="6016752"/>
            <a:ext cx="2679192" cy="246888"/>
          </a:xfrm>
          <a:prstGeom prst="rect">
            <a:avLst/>
          </a:prstGeom>
          <a:solidFill>
            <a:srgbClr val="1F4A82"/>
          </a:solidFill>
          <a:ln/>
        </p:spPr>
      </p:sp>
      <p:sp>
        <p:nvSpPr>
          <p:cNvPr id="141" name="Text 112"/>
          <p:cNvSpPr txBox="1"/>
          <p:nvPr/>
        </p:nvSpPr>
        <p:spPr>
          <a:xfrm>
            <a:off x="9144000" y="6016752"/>
            <a:ext cx="2404872"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Next: how it works</a:t>
            </a:r>
            <a:endParaRPr lang="en-US" sz="1000" dirty="0"/>
          </a:p>
        </p:txBody>
      </p:sp>
      <p:sp>
        <p:nvSpPr>
          <p:cNvPr id="142" name="Text 113"/>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Participant Guide §2, §6, §7 (illustrative baselines); NTA NEET UG 2025 result data; JEE Main 2025 statistics (secondary); NSO CMS Education 2025; vendor listings (research R1).</a:t>
            </a:r>
            <a:endParaRPr lang="en-US" sz="850" dirty="0"/>
          </a:p>
        </p:txBody>
      </p:sp>
      <p:pic>
        <p:nvPicPr>
          <p:cNvPr id="143" name="Image 26" descr="hand-drawn ul_wave">    </p:cNvPr>
          <p:cNvPicPr>
            <a:picLocks noChangeAspect="1"/>
          </p:cNvPicPr>
          <p:nvPr/>
        </p:nvPicPr>
        <p:blipFill>
          <a:blip r:embed="rId27"/>
          <a:stretch>
            <a:fillRect/>
          </a:stretch>
        </p:blipFill>
        <p:spPr>
          <a:xfrm>
            <a:off x="9034272" y="3108960"/>
            <a:ext cx="1280160" cy="128016"/>
          </a:xfrm>
          <a:prstGeom prst="rect">
            <a:avLst/>
          </a:prstGeom>
        </p:spPr>
      </p:pic>
      <p:sp>
        <p:nvSpPr>
          <p:cNvPr id="144" name="Shape 114"/>
          <p:cNvSpPr/>
          <p:nvPr/>
        </p:nvSpPr>
        <p:spPr>
          <a:xfrm rot="-180000">
            <a:off x="2743200" y="3419856"/>
            <a:ext cx="1417320" cy="365760"/>
          </a:xfrm>
          <a:prstGeom prst="rect">
            <a:avLst/>
          </a:prstGeom>
          <a:solidFill>
            <a:srgbClr val="C9CED6">
              <a:alpha val="45000"/>
            </a:srgbClr>
          </a:solidFill>
          <a:ln/>
        </p:spPr>
      </p:sp>
      <p:sp>
        <p:nvSpPr>
          <p:cNvPr id="145" name="Shape 115"/>
          <p:cNvSpPr/>
          <p:nvPr/>
        </p:nvSpPr>
        <p:spPr>
          <a:xfrm rot="-180000">
            <a:off x="2697480" y="3364992"/>
            <a:ext cx="1417320" cy="365760"/>
          </a:xfrm>
          <a:prstGeom prst="rect">
            <a:avLst/>
          </a:prstGeom>
          <a:solidFill>
            <a:srgbClr val="CDEBC5"/>
          </a:solidFill>
          <a:ln/>
        </p:spPr>
      </p:sp>
      <p:sp>
        <p:nvSpPr>
          <p:cNvPr id="146" name="Text 116"/>
          <p:cNvSpPr txBox="1"/>
          <p:nvPr/>
        </p:nvSpPr>
        <p:spPr>
          <a:xfrm rot="-180000">
            <a:off x="2752344" y="3401568"/>
            <a:ext cx="1307592" cy="310896"/>
          </a:xfrm>
          <a:prstGeom prst="rect">
            <a:avLst/>
          </a:prstGeom>
          <a:noFill/>
          <a:ln/>
        </p:spPr>
        <p:txBody>
          <a:bodyPr wrap="square" lIns="0" tIns="0" rIns="0" bIns="0" rtlCol="0" anchor="ctr"/>
          <a:lstStyle/>
          <a:p>
            <a:pPr algn="ctr" indent="0" marL="0">
              <a:buNone/>
            </a:pPr>
            <a:r>
              <a:rPr lang="en-US" sz="850" dirty="0">
                <a:solidFill>
                  <a:srgbClr val="2F6B2A"/>
                </a:solidFill>
                <a:latin typeface="Segoe Print" pitchFamily="34" charset="0"/>
                <a:ea typeface="Segoe Print" pitchFamily="34" charset="-122"/>
                <a:cs typeface="Segoe Print" pitchFamily="34" charset="-120"/>
              </a:rPr>
              <a:t>HMW tell mentors who to call?</a:t>
            </a:r>
            <a:endParaRPr lang="en-US" sz="850" dirty="0"/>
          </a:p>
        </p:txBody>
      </p:sp>
      <p:pic>
        <p:nvPicPr>
          <p:cNvPr id="147" name="Image 27" descr="D:\Professional Work\Business\FC_Case_Dhruvi\presentation\source\assets\doodle_tape.png">    </p:cNvPr>
          <p:cNvPicPr>
            <a:picLocks noChangeAspect="1"/>
          </p:cNvPicPr>
          <p:nvPr/>
        </p:nvPicPr>
        <p:blipFill>
          <a:blip r:embed="rId28"/>
          <a:stretch>
            <a:fillRect/>
          </a:stretch>
        </p:blipFill>
        <p:spPr>
          <a:xfrm rot="-108000">
            <a:off x="3131820" y="3273552"/>
            <a:ext cx="548640" cy="173736"/>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D4A24C"/>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inspection">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STRESS-TESTING THE GUIDE</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The guide's example looks great on paper. Here is where each number breaks, and what we build instead</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15568"/>
            <a:ext cx="256032" cy="256032"/>
          </a:xfrm>
          <a:prstGeom prst="rect">
            <a:avLst/>
          </a:prstGeom>
          <a:solidFill>
            <a:srgbClr val="1F4A82"/>
          </a:solidFill>
          <a:ln/>
        </p:spPr>
      </p:sp>
      <p:sp>
        <p:nvSpPr>
          <p:cNvPr id="26" name="Text 22"/>
          <p:cNvSpPr txBox="1"/>
          <p:nvPr/>
        </p:nvSpPr>
        <p:spPr>
          <a:xfrm>
            <a:off x="411480" y="11155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27" name="Text 23"/>
          <p:cNvSpPr txBox="1"/>
          <p:nvPr/>
        </p:nvSpPr>
        <p:spPr>
          <a:xfrm>
            <a:off x="740664" y="1115568"/>
            <a:ext cx="69860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SIX ASSUMPTIONS, TESTED</a:t>
            </a:r>
            <a:endParaRPr lang="en-US" sz="1200" dirty="0"/>
          </a:p>
        </p:txBody>
      </p:sp>
      <p:sp>
        <p:nvSpPr>
          <p:cNvPr id="28" name="Shape 24"/>
          <p:cNvSpPr/>
          <p:nvPr/>
        </p:nvSpPr>
        <p:spPr>
          <a:xfrm>
            <a:off x="411480" y="1444752"/>
            <a:ext cx="1600200" cy="274320"/>
          </a:xfrm>
          <a:prstGeom prst="rect">
            <a:avLst/>
          </a:prstGeom>
          <a:solidFill>
            <a:srgbClr val="1F4A82"/>
          </a:solidFill>
          <a:ln/>
        </p:spPr>
      </p:sp>
      <p:sp>
        <p:nvSpPr>
          <p:cNvPr id="29" name="Text 25"/>
          <p:cNvSpPr txBox="1"/>
          <p:nvPr/>
        </p:nvSpPr>
        <p:spPr>
          <a:xfrm>
            <a:off x="457200" y="1444752"/>
            <a:ext cx="150876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Hypothesis (the guide)</a:t>
            </a:r>
            <a:endParaRPr lang="en-US" sz="950" dirty="0"/>
          </a:p>
        </p:txBody>
      </p:sp>
      <p:sp>
        <p:nvSpPr>
          <p:cNvPr id="30" name="Shape 26"/>
          <p:cNvSpPr/>
          <p:nvPr/>
        </p:nvSpPr>
        <p:spPr>
          <a:xfrm>
            <a:off x="2011680" y="1444752"/>
            <a:ext cx="2926080" cy="274320"/>
          </a:xfrm>
          <a:prstGeom prst="rect">
            <a:avLst/>
          </a:prstGeom>
          <a:solidFill>
            <a:srgbClr val="1F4A82"/>
          </a:solidFill>
          <a:ln/>
        </p:spPr>
      </p:sp>
      <p:sp>
        <p:nvSpPr>
          <p:cNvPr id="31" name="Text 27"/>
          <p:cNvSpPr txBox="1"/>
          <p:nvPr/>
        </p:nvSpPr>
        <p:spPr>
          <a:xfrm>
            <a:off x="2057400" y="1444752"/>
            <a:ext cx="283464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Evidence</a:t>
            </a:r>
            <a:endParaRPr lang="en-US" sz="950" dirty="0"/>
          </a:p>
        </p:txBody>
      </p:sp>
      <p:sp>
        <p:nvSpPr>
          <p:cNvPr id="32" name="Shape 28"/>
          <p:cNvSpPr/>
          <p:nvPr/>
        </p:nvSpPr>
        <p:spPr>
          <a:xfrm>
            <a:off x="4937760" y="1444752"/>
            <a:ext cx="2926080" cy="274320"/>
          </a:xfrm>
          <a:prstGeom prst="rect">
            <a:avLst/>
          </a:prstGeom>
          <a:solidFill>
            <a:srgbClr val="1F4A82"/>
          </a:solidFill>
          <a:ln/>
        </p:spPr>
      </p:sp>
      <p:sp>
        <p:nvSpPr>
          <p:cNvPr id="33" name="Text 29"/>
          <p:cNvSpPr txBox="1"/>
          <p:nvPr/>
        </p:nvSpPr>
        <p:spPr>
          <a:xfrm>
            <a:off x="4983480" y="1444752"/>
            <a:ext cx="283464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Decision (what we do)</a:t>
            </a:r>
            <a:endParaRPr lang="en-US" sz="950" dirty="0"/>
          </a:p>
        </p:txBody>
      </p:sp>
      <p:sp>
        <p:nvSpPr>
          <p:cNvPr id="34" name="Shape 30"/>
          <p:cNvSpPr/>
          <p:nvPr/>
        </p:nvSpPr>
        <p:spPr>
          <a:xfrm>
            <a:off x="411480" y="1719072"/>
            <a:ext cx="1600200" cy="548640"/>
          </a:xfrm>
          <a:prstGeom prst="rect">
            <a:avLst/>
          </a:prstGeom>
          <a:solidFill>
            <a:srgbClr val="FFFFFF"/>
          </a:solidFill>
          <a:ln/>
        </p:spPr>
      </p:sp>
      <p:sp>
        <p:nvSpPr>
          <p:cNvPr id="35" name="Text 31"/>
          <p:cNvSpPr txBox="1"/>
          <p:nvPr/>
        </p:nvSpPr>
        <p:spPr>
          <a:xfrm>
            <a:off x="457200" y="171907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₹40 per student per month</a:t>
            </a:r>
            <a:endParaRPr lang="en-US" sz="950" dirty="0"/>
          </a:p>
        </p:txBody>
      </p:sp>
      <p:sp>
        <p:nvSpPr>
          <p:cNvPr id="36" name="Shape 32"/>
          <p:cNvSpPr/>
          <p:nvPr/>
        </p:nvSpPr>
        <p:spPr>
          <a:xfrm>
            <a:off x="2011680" y="1719072"/>
            <a:ext cx="2926080" cy="548640"/>
          </a:xfrm>
          <a:prstGeom prst="rect">
            <a:avLst/>
          </a:prstGeom>
          <a:solidFill>
            <a:srgbClr val="FFFFFF"/>
          </a:solidFill>
          <a:ln/>
        </p:spPr>
      </p:sp>
      <p:sp>
        <p:nvSpPr>
          <p:cNvPr id="37" name="Text 33"/>
          <p:cNvSpPr txBox="1"/>
          <p:nvPr/>
        </p:nvSpPr>
        <p:spPr>
          <a:xfrm>
            <a:off x="2057400" y="171907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Generic institute apps list at ₹4 to ₹21 per student per month. ₹40 x 400 students = ₹1.92 lakh a year.</a:t>
            </a:r>
            <a:endParaRPr lang="en-US" sz="950" dirty="0"/>
          </a:p>
        </p:txBody>
      </p:sp>
      <p:sp>
        <p:nvSpPr>
          <p:cNvPr id="38" name="Shape 34"/>
          <p:cNvSpPr/>
          <p:nvPr/>
        </p:nvSpPr>
        <p:spPr>
          <a:xfrm>
            <a:off x="4937760" y="1719072"/>
            <a:ext cx="2926080" cy="548640"/>
          </a:xfrm>
          <a:prstGeom prst="rect">
            <a:avLst/>
          </a:prstGeom>
          <a:solidFill>
            <a:srgbClr val="FFFFFF"/>
          </a:solidFill>
          <a:ln/>
        </p:spPr>
      </p:sp>
      <p:sp>
        <p:nvSpPr>
          <p:cNvPr id="39" name="Text 35"/>
          <p:cNvSpPr txBox="1"/>
          <p:nvPr/>
        </p:nvSpPr>
        <p:spPr>
          <a:xfrm>
            <a:off x="4983480" y="171907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List ₹30, tested from ₹20 to ₹40. Willingness to pay goes to owner interviews first.</a:t>
            </a:r>
            <a:endParaRPr lang="en-US" sz="950" dirty="0"/>
          </a:p>
        </p:txBody>
      </p:sp>
      <p:sp>
        <p:nvSpPr>
          <p:cNvPr id="40" name="Shape 36"/>
          <p:cNvSpPr/>
          <p:nvPr/>
        </p:nvSpPr>
        <p:spPr>
          <a:xfrm>
            <a:off x="411480" y="2267712"/>
            <a:ext cx="7452360" cy="0"/>
          </a:xfrm>
          <a:prstGeom prst="line">
            <a:avLst/>
          </a:prstGeom>
          <a:noFill/>
          <a:ln w="6350">
            <a:solidFill>
              <a:srgbClr val="E3E8E4"/>
            </a:solidFill>
            <a:prstDash val="solid"/>
          </a:ln>
        </p:spPr>
      </p:sp>
      <p:sp>
        <p:nvSpPr>
          <p:cNvPr id="41" name="Shape 37"/>
          <p:cNvSpPr/>
          <p:nvPr/>
        </p:nvSpPr>
        <p:spPr>
          <a:xfrm>
            <a:off x="411480" y="2267712"/>
            <a:ext cx="1600200" cy="548640"/>
          </a:xfrm>
          <a:prstGeom prst="rect">
            <a:avLst/>
          </a:prstGeom>
          <a:solidFill>
            <a:srgbClr val="F1F7F3"/>
          </a:solidFill>
          <a:ln/>
        </p:spPr>
      </p:sp>
      <p:sp>
        <p:nvSpPr>
          <p:cNvPr id="42" name="Text 38"/>
          <p:cNvSpPr txBox="1"/>
          <p:nvPr/>
        </p:nvSpPr>
        <p:spPr>
          <a:xfrm>
            <a:off x="457200" y="226771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25 % of dropouts prevented</a:t>
            </a:r>
            <a:endParaRPr lang="en-US" sz="950" dirty="0"/>
          </a:p>
        </p:txBody>
      </p:sp>
      <p:sp>
        <p:nvSpPr>
          <p:cNvPr id="43" name="Shape 39"/>
          <p:cNvSpPr/>
          <p:nvPr/>
        </p:nvSpPr>
        <p:spPr>
          <a:xfrm>
            <a:off x="2011680" y="2267712"/>
            <a:ext cx="2926080" cy="548640"/>
          </a:xfrm>
          <a:prstGeom prst="rect">
            <a:avLst/>
          </a:prstGeom>
          <a:solidFill>
            <a:srgbClr val="F1F7F3"/>
          </a:solidFill>
          <a:ln/>
        </p:spPr>
      </p:sp>
      <p:sp>
        <p:nvSpPr>
          <p:cNvPr id="44" name="Text 40"/>
          <p:cNvSpPr txBox="1"/>
          <p:nvPr/>
        </p:nvSpPr>
        <p:spPr>
          <a:xfrm>
            <a:off x="2057400" y="226771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8 trials in comparable settings average 15.8 % among students who get outreach; month-1 leavers cannot be flagged.</a:t>
            </a:r>
            <a:endParaRPr lang="en-US" sz="950" dirty="0"/>
          </a:p>
        </p:txBody>
      </p:sp>
      <p:sp>
        <p:nvSpPr>
          <p:cNvPr id="45" name="Shape 41"/>
          <p:cNvSpPr/>
          <p:nvPr/>
        </p:nvSpPr>
        <p:spPr>
          <a:xfrm>
            <a:off x="4937760" y="2267712"/>
            <a:ext cx="2926080" cy="548640"/>
          </a:xfrm>
          <a:prstGeom prst="rect">
            <a:avLst/>
          </a:prstGeom>
          <a:solidFill>
            <a:srgbClr val="F1F7F3"/>
          </a:solidFill>
          <a:ln/>
        </p:spPr>
      </p:sp>
      <p:sp>
        <p:nvSpPr>
          <p:cNvPr id="46" name="Text 42"/>
          <p:cNvSpPr txBox="1"/>
          <p:nvPr/>
        </p:nvSpPr>
        <p:spPr>
          <a:xfrm>
            <a:off x="4983480" y="226771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Model 4.0 % effective reduction. Prove it with comparison batches in a pilot.</a:t>
            </a:r>
            <a:endParaRPr lang="en-US" sz="950" dirty="0"/>
          </a:p>
        </p:txBody>
      </p:sp>
      <p:sp>
        <p:nvSpPr>
          <p:cNvPr id="47" name="Shape 43"/>
          <p:cNvSpPr/>
          <p:nvPr/>
        </p:nvSpPr>
        <p:spPr>
          <a:xfrm>
            <a:off x="411480" y="2816352"/>
            <a:ext cx="7452360" cy="0"/>
          </a:xfrm>
          <a:prstGeom prst="line">
            <a:avLst/>
          </a:prstGeom>
          <a:noFill/>
          <a:ln w="6350">
            <a:solidFill>
              <a:srgbClr val="E3E8E4"/>
            </a:solidFill>
            <a:prstDash val="solid"/>
          </a:ln>
        </p:spPr>
      </p:sp>
      <p:sp>
        <p:nvSpPr>
          <p:cNvPr id="48" name="Shape 44"/>
          <p:cNvSpPr/>
          <p:nvPr/>
        </p:nvSpPr>
        <p:spPr>
          <a:xfrm>
            <a:off x="411480" y="2816352"/>
            <a:ext cx="1600200" cy="548640"/>
          </a:xfrm>
          <a:prstGeom prst="rect">
            <a:avLst/>
          </a:prstGeom>
          <a:solidFill>
            <a:srgbClr val="FFFFFF"/>
          </a:solidFill>
          <a:ln/>
        </p:spPr>
      </p:sp>
      <p:sp>
        <p:nvSpPr>
          <p:cNvPr id="49" name="Text 45"/>
          <p:cNvSpPr txBox="1"/>
          <p:nvPr/>
        </p:nvSpPr>
        <p:spPr>
          <a:xfrm>
            <a:off x="457200" y="281635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Saved fees pay for the product</a:t>
            </a:r>
            <a:endParaRPr lang="en-US" sz="950" dirty="0"/>
          </a:p>
        </p:txBody>
      </p:sp>
      <p:sp>
        <p:nvSpPr>
          <p:cNvPr id="50" name="Shape 46"/>
          <p:cNvSpPr/>
          <p:nvPr/>
        </p:nvSpPr>
        <p:spPr>
          <a:xfrm>
            <a:off x="2011680" y="2816352"/>
            <a:ext cx="2926080" cy="548640"/>
          </a:xfrm>
          <a:prstGeom prst="rect">
            <a:avLst/>
          </a:prstGeom>
          <a:solidFill>
            <a:srgbClr val="FFFFFF"/>
          </a:solidFill>
          <a:ln/>
        </p:spPr>
      </p:sp>
      <p:sp>
        <p:nvSpPr>
          <p:cNvPr id="51" name="Text 47"/>
          <p:cNvSpPr txBox="1"/>
          <p:nvPr/>
        </p:nvSpPr>
        <p:spPr>
          <a:xfrm>
            <a:off x="2057400" y="281635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Fees kept alone return 0.35x of the cost.</a:t>
            </a:r>
            <a:endParaRPr lang="en-US" sz="950" dirty="0"/>
          </a:p>
        </p:txBody>
      </p:sp>
      <p:sp>
        <p:nvSpPr>
          <p:cNvPr id="52" name="Shape 48"/>
          <p:cNvSpPr/>
          <p:nvPr/>
        </p:nvSpPr>
        <p:spPr>
          <a:xfrm>
            <a:off x="4937760" y="2816352"/>
            <a:ext cx="2926080" cy="548640"/>
          </a:xfrm>
          <a:prstGeom prst="rect">
            <a:avLst/>
          </a:prstGeom>
          <a:solidFill>
            <a:srgbClr val="FFFFFF"/>
          </a:solidFill>
          <a:ln/>
        </p:spPr>
      </p:sp>
      <p:sp>
        <p:nvSpPr>
          <p:cNvPr id="53" name="Text 49"/>
          <p:cNvSpPr txBox="1"/>
          <p:nvPr/>
        </p:nvSpPr>
        <p:spPr>
          <a:xfrm>
            <a:off x="4983480" y="281635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Lead with staff time and parent reports: fees plus time reach 0.55x; admissions close the gap.</a:t>
            </a:r>
            <a:endParaRPr lang="en-US" sz="950" dirty="0"/>
          </a:p>
        </p:txBody>
      </p:sp>
      <p:sp>
        <p:nvSpPr>
          <p:cNvPr id="54" name="Shape 50"/>
          <p:cNvSpPr/>
          <p:nvPr/>
        </p:nvSpPr>
        <p:spPr>
          <a:xfrm>
            <a:off x="411480" y="3364992"/>
            <a:ext cx="7452360" cy="0"/>
          </a:xfrm>
          <a:prstGeom prst="line">
            <a:avLst/>
          </a:prstGeom>
          <a:noFill/>
          <a:ln w="6350">
            <a:solidFill>
              <a:srgbClr val="E3E8E4"/>
            </a:solidFill>
            <a:prstDash val="solid"/>
          </a:ln>
        </p:spPr>
      </p:sp>
      <p:sp>
        <p:nvSpPr>
          <p:cNvPr id="55" name="Shape 51"/>
          <p:cNvSpPr/>
          <p:nvPr/>
        </p:nvSpPr>
        <p:spPr>
          <a:xfrm>
            <a:off x="411480" y="3364992"/>
            <a:ext cx="1600200" cy="548640"/>
          </a:xfrm>
          <a:prstGeom prst="rect">
            <a:avLst/>
          </a:prstGeom>
          <a:solidFill>
            <a:srgbClr val="F1F7F3"/>
          </a:solidFill>
          <a:ln/>
        </p:spPr>
      </p:sp>
      <p:sp>
        <p:nvSpPr>
          <p:cNvPr id="56" name="Text 52"/>
          <p:cNvSpPr txBox="1"/>
          <p:nvPr/>
        </p:nvSpPr>
        <p:spPr>
          <a:xfrm>
            <a:off x="457200" y="336499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LTV / CAC of 10.7x</a:t>
            </a:r>
            <a:endParaRPr lang="en-US" sz="950" dirty="0"/>
          </a:p>
        </p:txBody>
      </p:sp>
      <p:sp>
        <p:nvSpPr>
          <p:cNvPr id="57" name="Shape 53"/>
          <p:cNvSpPr/>
          <p:nvPr/>
        </p:nvSpPr>
        <p:spPr>
          <a:xfrm>
            <a:off x="2011680" y="3364992"/>
            <a:ext cx="2926080" cy="548640"/>
          </a:xfrm>
          <a:prstGeom prst="rect">
            <a:avLst/>
          </a:prstGeom>
          <a:solidFill>
            <a:srgbClr val="F1F7F3"/>
          </a:solidFill>
          <a:ln/>
        </p:spPr>
      </p:sp>
      <p:sp>
        <p:nvSpPr>
          <p:cNvPr id="58" name="Text 54"/>
          <p:cNvSpPr txBox="1"/>
          <p:nvPr/>
        </p:nvSpPr>
        <p:spPr>
          <a:xfrm>
            <a:off x="2057400" y="336499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Seasonal billing, 20 % post-exam non-renewal and pilots that do not convert.</a:t>
            </a:r>
            <a:endParaRPr lang="en-US" sz="950" dirty="0"/>
          </a:p>
        </p:txBody>
      </p:sp>
      <p:sp>
        <p:nvSpPr>
          <p:cNvPr id="59" name="Shape 55"/>
          <p:cNvSpPr/>
          <p:nvPr/>
        </p:nvSpPr>
        <p:spPr>
          <a:xfrm>
            <a:off x="4937760" y="3364992"/>
            <a:ext cx="2926080" cy="548640"/>
          </a:xfrm>
          <a:prstGeom prst="rect">
            <a:avLst/>
          </a:prstGeom>
          <a:solidFill>
            <a:srgbClr val="F1F7F3"/>
          </a:solidFill>
          <a:ln/>
        </p:spPr>
      </p:sp>
      <p:sp>
        <p:nvSpPr>
          <p:cNvPr id="60" name="Text 56"/>
          <p:cNvSpPr txBox="1"/>
          <p:nvPr/>
        </p:nvSpPr>
        <p:spPr>
          <a:xfrm>
            <a:off x="4983480" y="336499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3.6x in base; small institutes use channel partners (3.4x, not 1.5x).</a:t>
            </a:r>
            <a:endParaRPr lang="en-US" sz="950" dirty="0"/>
          </a:p>
        </p:txBody>
      </p:sp>
      <p:sp>
        <p:nvSpPr>
          <p:cNvPr id="61" name="Shape 57"/>
          <p:cNvSpPr/>
          <p:nvPr/>
        </p:nvSpPr>
        <p:spPr>
          <a:xfrm>
            <a:off x="411480" y="3913632"/>
            <a:ext cx="7452360" cy="0"/>
          </a:xfrm>
          <a:prstGeom prst="line">
            <a:avLst/>
          </a:prstGeom>
          <a:noFill/>
          <a:ln w="6350">
            <a:solidFill>
              <a:srgbClr val="E3E8E4"/>
            </a:solidFill>
            <a:prstDash val="solid"/>
          </a:ln>
        </p:spPr>
      </p:sp>
      <p:sp>
        <p:nvSpPr>
          <p:cNvPr id="62" name="Shape 58"/>
          <p:cNvSpPr/>
          <p:nvPr/>
        </p:nvSpPr>
        <p:spPr>
          <a:xfrm>
            <a:off x="411480" y="3913632"/>
            <a:ext cx="1600200" cy="548640"/>
          </a:xfrm>
          <a:prstGeom prst="rect">
            <a:avLst/>
          </a:prstGeom>
          <a:solidFill>
            <a:srgbClr val="FFFFFF"/>
          </a:solidFill>
          <a:ln/>
        </p:spPr>
      </p:sp>
      <p:sp>
        <p:nvSpPr>
          <p:cNvPr id="63" name="Text 59"/>
          <p:cNvSpPr txBox="1"/>
          <p:nvPr/>
        </p:nvSpPr>
        <p:spPr>
          <a:xfrm>
            <a:off x="457200" y="391363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Published AUC of 0.794</a:t>
            </a:r>
            <a:endParaRPr lang="en-US" sz="950" dirty="0"/>
          </a:p>
        </p:txBody>
      </p:sp>
      <p:sp>
        <p:nvSpPr>
          <p:cNvPr id="64" name="Shape 60"/>
          <p:cNvSpPr/>
          <p:nvPr/>
        </p:nvSpPr>
        <p:spPr>
          <a:xfrm>
            <a:off x="2011680" y="3913632"/>
            <a:ext cx="2926080" cy="548640"/>
          </a:xfrm>
          <a:prstGeom prst="rect">
            <a:avLst/>
          </a:prstGeom>
          <a:solidFill>
            <a:srgbClr val="FFFFFF"/>
          </a:solidFill>
          <a:ln/>
        </p:spPr>
      </p:sp>
      <p:sp>
        <p:nvSpPr>
          <p:cNvPr id="65" name="Text 61"/>
          <p:cNvSpPr txBox="1"/>
          <p:nvPr/>
        </p:nvSpPr>
        <p:spPr>
          <a:xfrm>
            <a:off x="2057400" y="391363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Our honest student-grouped estimate on OULAD is 0.706; leakage inflates many reported numbers.</a:t>
            </a:r>
            <a:endParaRPr lang="en-US" sz="950" dirty="0"/>
          </a:p>
        </p:txBody>
      </p:sp>
      <p:sp>
        <p:nvSpPr>
          <p:cNvPr id="66" name="Shape 62"/>
          <p:cNvSpPr/>
          <p:nvPr/>
        </p:nvSpPr>
        <p:spPr>
          <a:xfrm>
            <a:off x="4937760" y="3913632"/>
            <a:ext cx="2926080" cy="548640"/>
          </a:xfrm>
          <a:prstGeom prst="rect">
            <a:avLst/>
          </a:prstGeom>
          <a:solidFill>
            <a:srgbClr val="FFFFFF"/>
          </a:solidFill>
          <a:ln/>
        </p:spPr>
      </p:sp>
      <p:sp>
        <p:nvSpPr>
          <p:cNvPr id="67" name="Text 63"/>
          <p:cNvSpPr txBox="1"/>
          <p:nvPr/>
        </p:nvSpPr>
        <p:spPr>
          <a:xfrm>
            <a:off x="4983480" y="391363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Judge on precision at mentor capacity: 0.46 vs 0.24 to 0.31 for rules.</a:t>
            </a:r>
            <a:endParaRPr lang="en-US" sz="950" dirty="0"/>
          </a:p>
        </p:txBody>
      </p:sp>
      <p:sp>
        <p:nvSpPr>
          <p:cNvPr id="68" name="Shape 64"/>
          <p:cNvSpPr/>
          <p:nvPr/>
        </p:nvSpPr>
        <p:spPr>
          <a:xfrm>
            <a:off x="411480" y="4462272"/>
            <a:ext cx="7452360" cy="0"/>
          </a:xfrm>
          <a:prstGeom prst="line">
            <a:avLst/>
          </a:prstGeom>
          <a:noFill/>
          <a:ln w="6350">
            <a:solidFill>
              <a:srgbClr val="E3E8E4"/>
            </a:solidFill>
            <a:prstDash val="solid"/>
          </a:ln>
        </p:spPr>
      </p:sp>
      <p:sp>
        <p:nvSpPr>
          <p:cNvPr id="69" name="Shape 65"/>
          <p:cNvSpPr/>
          <p:nvPr/>
        </p:nvSpPr>
        <p:spPr>
          <a:xfrm>
            <a:off x="411480" y="4462272"/>
            <a:ext cx="1600200" cy="548640"/>
          </a:xfrm>
          <a:prstGeom prst="rect">
            <a:avLst/>
          </a:prstGeom>
          <a:solidFill>
            <a:srgbClr val="F1F7F3"/>
          </a:solidFill>
          <a:ln/>
        </p:spPr>
      </p:sp>
      <p:sp>
        <p:nvSpPr>
          <p:cNvPr id="70" name="Text 66"/>
          <p:cNvSpPr txBox="1"/>
          <p:nvPr/>
        </p:nvSpPr>
        <p:spPr>
          <a:xfrm>
            <a:off x="457200" y="446227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Track app activity for everyone</a:t>
            </a:r>
            <a:endParaRPr lang="en-US" sz="950" dirty="0"/>
          </a:p>
        </p:txBody>
      </p:sp>
      <p:sp>
        <p:nvSpPr>
          <p:cNvPr id="71" name="Shape 67"/>
          <p:cNvSpPr/>
          <p:nvPr/>
        </p:nvSpPr>
        <p:spPr>
          <a:xfrm>
            <a:off x="2011680" y="4462272"/>
            <a:ext cx="2926080" cy="548640"/>
          </a:xfrm>
          <a:prstGeom prst="rect">
            <a:avLst/>
          </a:prstGeom>
          <a:solidFill>
            <a:srgbClr val="F1F7F3"/>
          </a:solidFill>
          <a:ln/>
        </p:spPr>
      </p:sp>
      <p:sp>
        <p:nvSpPr>
          <p:cNvPr id="72" name="Text 68"/>
          <p:cNvSpPr txBox="1"/>
          <p:nvPr/>
        </p:nvSpPr>
        <p:spPr>
          <a:xfrm>
            <a:off x="2057400" y="446227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DPDP s.9(3) bans behavioural monitoring of children, even with consent.</a:t>
            </a:r>
            <a:endParaRPr lang="en-US" sz="950" dirty="0"/>
          </a:p>
        </p:txBody>
      </p:sp>
      <p:sp>
        <p:nvSpPr>
          <p:cNvPr id="73" name="Shape 69"/>
          <p:cNvSpPr/>
          <p:nvPr/>
        </p:nvSpPr>
        <p:spPr>
          <a:xfrm>
            <a:off x="4937760" y="4462272"/>
            <a:ext cx="2926080" cy="548640"/>
          </a:xfrm>
          <a:prstGeom prst="rect">
            <a:avLst/>
          </a:prstGeom>
          <a:solidFill>
            <a:srgbClr val="F1F7F3"/>
          </a:solidFill>
          <a:ln/>
        </p:spPr>
      </p:sp>
      <p:sp>
        <p:nvSpPr>
          <p:cNvPr id="74" name="Text 70"/>
          <p:cNvSpPr txBox="1"/>
          <p:nvPr/>
        </p:nvSpPr>
        <p:spPr>
          <a:xfrm>
            <a:off x="4983480" y="446227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Academic data only for under-18s; it costs 0.008 AUC on OULAD.</a:t>
            </a:r>
            <a:endParaRPr lang="en-US" sz="950" dirty="0"/>
          </a:p>
        </p:txBody>
      </p:sp>
      <p:sp>
        <p:nvSpPr>
          <p:cNvPr id="75" name="Shape 71"/>
          <p:cNvSpPr/>
          <p:nvPr/>
        </p:nvSpPr>
        <p:spPr>
          <a:xfrm>
            <a:off x="411480" y="5010912"/>
            <a:ext cx="7452360" cy="0"/>
          </a:xfrm>
          <a:prstGeom prst="line">
            <a:avLst/>
          </a:prstGeom>
          <a:noFill/>
          <a:ln w="6350">
            <a:solidFill>
              <a:srgbClr val="E3E8E4"/>
            </a:solidFill>
            <a:prstDash val="solid"/>
          </a:ln>
        </p:spPr>
      </p:sp>
      <p:sp>
        <p:nvSpPr>
          <p:cNvPr id="76" name="Shape 72"/>
          <p:cNvSpPr/>
          <p:nvPr/>
        </p:nvSpPr>
        <p:spPr>
          <a:xfrm>
            <a:off x="8001000" y="1115568"/>
            <a:ext cx="3779215" cy="3950208"/>
          </a:xfrm>
          <a:prstGeom prst="rect">
            <a:avLst/>
          </a:prstGeom>
          <a:solidFill>
            <a:srgbClr val="F4F7FB"/>
          </a:solidFill>
          <a:ln w="12700">
            <a:solidFill>
              <a:srgbClr val="C9D6E8"/>
            </a:solidFill>
            <a:prstDash val="solid"/>
          </a:ln>
        </p:spPr>
      </p:sp>
      <p:sp>
        <p:nvSpPr>
          <p:cNvPr id="77" name="Shape 73"/>
          <p:cNvSpPr/>
          <p:nvPr/>
        </p:nvSpPr>
        <p:spPr>
          <a:xfrm>
            <a:off x="8001000" y="1115568"/>
            <a:ext cx="3779215" cy="292608"/>
          </a:xfrm>
          <a:prstGeom prst="rect">
            <a:avLst/>
          </a:prstGeom>
          <a:solidFill>
            <a:srgbClr val="1F4A82"/>
          </a:solidFill>
          <a:ln/>
        </p:spPr>
      </p:sp>
      <p:sp>
        <p:nvSpPr>
          <p:cNvPr id="78" name="Text 74"/>
          <p:cNvSpPr txBox="1"/>
          <p:nvPr/>
        </p:nvSpPr>
        <p:spPr>
          <a:xfrm>
            <a:off x="8074152" y="1115568"/>
            <a:ext cx="3632911"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DECISION REFRAME</a:t>
            </a:r>
            <a:endParaRPr lang="en-US" sz="1100" dirty="0"/>
          </a:p>
        </p:txBody>
      </p:sp>
      <p:sp>
        <p:nvSpPr>
          <p:cNvPr id="79" name="Text 75"/>
          <p:cNvSpPr txBox="1"/>
          <p:nvPr/>
        </p:nvSpPr>
        <p:spPr>
          <a:xfrm>
            <a:off x="8183880" y="1517904"/>
            <a:ext cx="3413455" cy="219456"/>
          </a:xfrm>
          <a:prstGeom prst="rect">
            <a:avLst/>
          </a:prstGeom>
          <a:noFill/>
          <a:ln/>
        </p:spPr>
        <p:txBody>
          <a:bodyPr wrap="square" lIns="0" tIns="0" rIns="0" bIns="0" rtlCol="0" anchor="t"/>
          <a:lstStyle/>
          <a:p>
            <a:pPr algn="l" indent="0" marL="0">
              <a:buNone/>
            </a:pPr>
            <a:r>
              <a:rPr lang="en-US" sz="950" dirty="0">
                <a:solidFill>
                  <a:srgbClr val="5B6573"/>
                </a:solidFill>
                <a:latin typeface="Calibri" pitchFamily="34" charset="0"/>
                <a:ea typeface="Calibri" pitchFamily="34" charset="-122"/>
                <a:cs typeface="Calibri" pitchFamily="34" charset="-120"/>
              </a:rPr>
              <a:t>The wrong question</a:t>
            </a:r>
            <a:endParaRPr lang="en-US" sz="950" dirty="0"/>
          </a:p>
        </p:txBody>
      </p:sp>
      <p:sp>
        <p:nvSpPr>
          <p:cNvPr id="80" name="Text 76"/>
          <p:cNvSpPr txBox="1"/>
          <p:nvPr/>
        </p:nvSpPr>
        <p:spPr>
          <a:xfrm>
            <a:off x="8183880" y="1737360"/>
            <a:ext cx="3413455" cy="292608"/>
          </a:xfrm>
          <a:prstGeom prst="rect">
            <a:avLst/>
          </a:prstGeom>
          <a:noFill/>
          <a:ln/>
        </p:spPr>
        <p:txBody>
          <a:bodyPr wrap="square" lIns="0" tIns="0" rIns="0" bIns="0" rtlCol="0" anchor="t"/>
          <a:lstStyle/>
          <a:p>
            <a:pPr algn="l" indent="0" marL="0">
              <a:buNone/>
            </a:pPr>
            <a:r>
              <a:rPr lang="en-US" sz="1300" b="1" strike="sngStrike" dirty="0">
                <a:solidFill>
                  <a:srgbClr val="9AA6B5"/>
                </a:solidFill>
                <a:latin typeface="Calibri" pitchFamily="34" charset="0"/>
                <a:ea typeface="Calibri" pitchFamily="34" charset="-122"/>
                <a:cs typeface="Calibri" pitchFamily="34" charset="-120"/>
              </a:rPr>
              <a:t>"Can a model predict who drops out?"</a:t>
            </a:r>
            <a:endParaRPr lang="en-US" sz="1300" dirty="0"/>
          </a:p>
        </p:txBody>
      </p:sp>
      <p:sp>
        <p:nvSpPr>
          <p:cNvPr id="81" name="Text 77"/>
          <p:cNvSpPr txBox="1"/>
          <p:nvPr/>
        </p:nvSpPr>
        <p:spPr>
          <a:xfrm>
            <a:off x="8183880" y="2121408"/>
            <a:ext cx="3413455" cy="219456"/>
          </a:xfrm>
          <a:prstGeom prst="rect">
            <a:avLst/>
          </a:prstGeom>
          <a:noFill/>
          <a:ln/>
        </p:spPr>
        <p:txBody>
          <a:bodyPr wrap="square" lIns="0" tIns="0" rIns="0" bIns="0" rtlCol="0" anchor="t"/>
          <a:lstStyle/>
          <a:p>
            <a:pPr algn="l" indent="0" marL="0">
              <a:buNone/>
            </a:pPr>
            <a:r>
              <a:rPr lang="en-US" sz="950" dirty="0">
                <a:solidFill>
                  <a:srgbClr val="5B6573"/>
                </a:solidFill>
                <a:latin typeface="Calibri" pitchFamily="34" charset="0"/>
                <a:ea typeface="Calibri" pitchFamily="34" charset="-122"/>
                <a:cs typeface="Calibri" pitchFamily="34" charset="-120"/>
              </a:rPr>
              <a:t>The right question</a:t>
            </a:r>
            <a:endParaRPr lang="en-US" sz="950" dirty="0"/>
          </a:p>
        </p:txBody>
      </p:sp>
      <p:sp>
        <p:nvSpPr>
          <p:cNvPr id="82" name="Text 78"/>
          <p:cNvSpPr txBox="1"/>
          <p:nvPr/>
        </p:nvSpPr>
        <p:spPr>
          <a:xfrm>
            <a:off x="8183880" y="2340864"/>
            <a:ext cx="3413455" cy="868680"/>
          </a:xfrm>
          <a:prstGeom prst="rect">
            <a:avLst/>
          </a:prstGeom>
          <a:noFill/>
          <a:ln/>
        </p:spPr>
        <p:txBody>
          <a:bodyPr wrap="square" lIns="0" tIns="0" rIns="0" bIns="0" rtlCol="0" anchor="t"/>
          <a:lstStyle/>
          <a:p>
            <a:pPr algn="l" indent="0" marL="0">
              <a:buNone/>
            </a:pPr>
            <a:r>
              <a:rPr lang="en-US" sz="1400" b="1" dirty="0">
                <a:solidFill>
                  <a:srgbClr val="1F4A82"/>
                </a:solidFill>
                <a:latin typeface="Calibri" pitchFamily="34" charset="0"/>
                <a:ea typeface="Calibri" pitchFamily="34" charset="-122"/>
                <a:cs typeface="Calibri" pitchFamily="34" charset="-120"/>
              </a:rPr>
              <a:t>"Of the eight students a mentor can call this week, are they the right eight, and does the call help?"</a:t>
            </a:r>
            <a:endParaRPr lang="en-US" sz="1400" dirty="0"/>
          </a:p>
        </p:txBody>
      </p:sp>
      <p:sp>
        <p:nvSpPr>
          <p:cNvPr id="83" name="Shape 79"/>
          <p:cNvSpPr/>
          <p:nvPr/>
        </p:nvSpPr>
        <p:spPr>
          <a:xfrm>
            <a:off x="8138160" y="3310128"/>
            <a:ext cx="966201" cy="384048"/>
          </a:xfrm>
          <a:prstGeom prst="homePlate">
            <a:avLst/>
          </a:prstGeom>
          <a:solidFill>
            <a:srgbClr val="1F4A82"/>
          </a:solidFill>
          <a:ln w="25400">
            <a:solidFill>
              <a:srgbClr val="FFFFFF"/>
            </a:solidFill>
            <a:prstDash val="solid"/>
          </a:ln>
        </p:spPr>
      </p:sp>
      <p:sp>
        <p:nvSpPr>
          <p:cNvPr id="84" name="Text 80"/>
          <p:cNvSpPr txBox="1"/>
          <p:nvPr/>
        </p:nvSpPr>
        <p:spPr>
          <a:xfrm>
            <a:off x="8266176" y="3310128"/>
            <a:ext cx="673593"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Score</a:t>
            </a:r>
            <a:endParaRPr lang="en-US" sz="1000" dirty="0"/>
          </a:p>
        </p:txBody>
      </p:sp>
      <p:sp>
        <p:nvSpPr>
          <p:cNvPr id="85" name="Shape 81"/>
          <p:cNvSpPr/>
          <p:nvPr/>
        </p:nvSpPr>
        <p:spPr>
          <a:xfrm>
            <a:off x="8984391" y="3310128"/>
            <a:ext cx="966201" cy="384048"/>
          </a:xfrm>
          <a:prstGeom prst="chevron">
            <a:avLst/>
          </a:prstGeom>
          <a:solidFill>
            <a:srgbClr val="2E6DB4"/>
          </a:solidFill>
          <a:ln w="25400">
            <a:solidFill>
              <a:srgbClr val="FFFFFF"/>
            </a:solidFill>
            <a:prstDash val="solid"/>
          </a:ln>
        </p:spPr>
      </p:sp>
      <p:sp>
        <p:nvSpPr>
          <p:cNvPr id="86" name="Text 82"/>
          <p:cNvSpPr txBox="1"/>
          <p:nvPr/>
        </p:nvSpPr>
        <p:spPr>
          <a:xfrm>
            <a:off x="9167271" y="3310128"/>
            <a:ext cx="618729"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Explain</a:t>
            </a:r>
            <a:endParaRPr lang="en-US" sz="1000" dirty="0"/>
          </a:p>
        </p:txBody>
      </p:sp>
      <p:sp>
        <p:nvSpPr>
          <p:cNvPr id="87" name="Shape 83"/>
          <p:cNvSpPr/>
          <p:nvPr/>
        </p:nvSpPr>
        <p:spPr>
          <a:xfrm>
            <a:off x="9830623" y="3310128"/>
            <a:ext cx="966201" cy="384048"/>
          </a:xfrm>
          <a:prstGeom prst="chevron">
            <a:avLst/>
          </a:prstGeom>
          <a:solidFill>
            <a:srgbClr val="1F4A82"/>
          </a:solidFill>
          <a:ln w="25400">
            <a:solidFill>
              <a:srgbClr val="FFFFFF"/>
            </a:solidFill>
            <a:prstDash val="solid"/>
          </a:ln>
        </p:spPr>
      </p:sp>
      <p:sp>
        <p:nvSpPr>
          <p:cNvPr id="88" name="Text 84"/>
          <p:cNvSpPr txBox="1"/>
          <p:nvPr/>
        </p:nvSpPr>
        <p:spPr>
          <a:xfrm>
            <a:off x="10013503" y="3310128"/>
            <a:ext cx="618729"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a:t>
            </a:r>
            <a:endParaRPr lang="en-US" sz="1000" dirty="0"/>
          </a:p>
        </p:txBody>
      </p:sp>
      <p:sp>
        <p:nvSpPr>
          <p:cNvPr id="89" name="Shape 85"/>
          <p:cNvSpPr/>
          <p:nvPr/>
        </p:nvSpPr>
        <p:spPr>
          <a:xfrm>
            <a:off x="10676854" y="3310128"/>
            <a:ext cx="966201" cy="384048"/>
          </a:xfrm>
          <a:prstGeom prst="chevron">
            <a:avLst/>
          </a:prstGeom>
          <a:solidFill>
            <a:srgbClr val="5B8DC9"/>
          </a:solidFill>
          <a:ln w="25400">
            <a:solidFill>
              <a:srgbClr val="FFFFFF"/>
            </a:solidFill>
            <a:prstDash val="solid"/>
          </a:ln>
        </p:spPr>
      </p:sp>
      <p:sp>
        <p:nvSpPr>
          <p:cNvPr id="90" name="Text 86"/>
          <p:cNvSpPr txBox="1"/>
          <p:nvPr/>
        </p:nvSpPr>
        <p:spPr>
          <a:xfrm>
            <a:off x="10859734" y="3310128"/>
            <a:ext cx="618729"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Log</a:t>
            </a:r>
            <a:endParaRPr lang="en-US" sz="1000" dirty="0"/>
          </a:p>
        </p:txBody>
      </p:sp>
      <p:sp>
        <p:nvSpPr>
          <p:cNvPr id="91" name="Text 87"/>
          <p:cNvSpPr txBox="1"/>
          <p:nvPr/>
        </p:nvSpPr>
        <p:spPr>
          <a:xfrm>
            <a:off x="8183880" y="3767328"/>
            <a:ext cx="3413455" cy="731520"/>
          </a:xfrm>
          <a:prstGeom prst="rect">
            <a:avLst/>
          </a:prstGeom>
          <a:noFill/>
          <a:ln/>
        </p:spPr>
        <p:txBody>
          <a:bodyPr wrap="square" lIns="0" tIns="0" rIns="0" bIns="0" rtlCol="0" anchor="t"/>
          <a:lstStyle/>
          <a:p>
            <a:pPr algn="l" indent="0" marL="0">
              <a:buNone/>
            </a:pPr>
            <a:r>
              <a:rPr lang="en-US" sz="1000" dirty="0">
                <a:solidFill>
                  <a:srgbClr val="1F2937"/>
                </a:solidFill>
                <a:latin typeface="Calibri" pitchFamily="34" charset="0"/>
                <a:ea typeface="Calibri" pitchFamily="34" charset="-122"/>
                <a:cs typeface="Calibri" pitchFamily="34" charset="-120"/>
              </a:rPr>
              <a:t>A model with a high AUC that produces a list nobody calls is worth nothing. We cap the list at mentor capacity and judge the system on students retained and actions taken, not on AUC.</a:t>
            </a:r>
            <a:endParaRPr lang="en-US" sz="1000" dirty="0"/>
          </a:p>
        </p:txBody>
      </p:sp>
      <p:sp>
        <p:nvSpPr>
          <p:cNvPr id="92" name="Text 88"/>
          <p:cNvSpPr txBox="1"/>
          <p:nvPr/>
        </p:nvSpPr>
        <p:spPr>
          <a:xfrm>
            <a:off x="8183880" y="4480560"/>
            <a:ext cx="320040" cy="182880"/>
          </a:xfrm>
          <a:prstGeom prst="rect">
            <a:avLst/>
          </a:prstGeom>
          <a:noFill/>
          <a:ln/>
        </p:spPr>
        <p:txBody>
          <a:bodyPr wrap="square" lIns="0" tIns="0" rIns="0" bIns="0" rtlCol="0" anchor="ctr"/>
          <a:lstStyle/>
          <a:p>
            <a:pPr algn="ctr" indent="0" marL="0">
              <a:buNone/>
            </a:pPr>
            <a:r>
              <a:rPr lang="en-US" sz="1050" b="1" dirty="0">
                <a:solidFill>
                  <a:srgbClr val="1F4A82"/>
                </a:solidFill>
                <a:latin typeface="Calibri" pitchFamily="34" charset="0"/>
                <a:ea typeface="Calibri" pitchFamily="34" charset="-122"/>
                <a:cs typeface="Calibri" pitchFamily="34" charset="-120"/>
              </a:rPr>
              <a:t>8</a:t>
            </a:r>
            <a:endParaRPr lang="en-US" sz="1050" dirty="0"/>
          </a:p>
        </p:txBody>
      </p:sp>
      <p:sp>
        <p:nvSpPr>
          <p:cNvPr id="93" name="Text 89"/>
          <p:cNvSpPr txBox="1"/>
          <p:nvPr/>
        </p:nvSpPr>
        <p:spPr>
          <a:xfrm>
            <a:off x="8549640" y="4480560"/>
            <a:ext cx="3047695" cy="18288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students per batch per week: the list cap</a:t>
            </a:r>
            <a:endParaRPr lang="en-US" sz="900" dirty="0"/>
          </a:p>
        </p:txBody>
      </p:sp>
      <p:sp>
        <p:nvSpPr>
          <p:cNvPr id="94" name="Text 90"/>
          <p:cNvSpPr txBox="1"/>
          <p:nvPr/>
        </p:nvSpPr>
        <p:spPr>
          <a:xfrm>
            <a:off x="8183880" y="4663440"/>
            <a:ext cx="320040" cy="182880"/>
          </a:xfrm>
          <a:prstGeom prst="rect">
            <a:avLst/>
          </a:prstGeom>
          <a:noFill/>
          <a:ln/>
        </p:spPr>
        <p:txBody>
          <a:bodyPr wrap="square" lIns="0" tIns="0" rIns="0" bIns="0" rtlCol="0" anchor="ctr"/>
          <a:lstStyle/>
          <a:p>
            <a:pPr algn="ctr" indent="0" marL="0">
              <a:buNone/>
            </a:pPr>
            <a:r>
              <a:rPr lang="en-US" sz="1050" b="1" dirty="0">
                <a:solidFill>
                  <a:srgbClr val="1F4A82"/>
                </a:solidFill>
                <a:latin typeface="Calibri" pitchFamily="34" charset="0"/>
                <a:ea typeface="Calibri" pitchFamily="34" charset="-122"/>
                <a:cs typeface="Calibri" pitchFamily="34" charset="-120"/>
              </a:rPr>
              <a:t>=</a:t>
            </a:r>
            <a:endParaRPr lang="en-US" sz="1050" dirty="0"/>
          </a:p>
        </p:txBody>
      </p:sp>
      <p:sp>
        <p:nvSpPr>
          <p:cNvPr id="95" name="Text 91"/>
          <p:cNvSpPr txBox="1"/>
          <p:nvPr/>
        </p:nvSpPr>
        <p:spPr>
          <a:xfrm>
            <a:off x="8549640" y="4663440"/>
            <a:ext cx="3047695" cy="18288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same workload as the institute's own rule</a:t>
            </a:r>
            <a:endParaRPr lang="en-US" sz="900" dirty="0"/>
          </a:p>
        </p:txBody>
      </p:sp>
      <p:sp>
        <p:nvSpPr>
          <p:cNvPr id="96" name="Text 92"/>
          <p:cNvSpPr txBox="1"/>
          <p:nvPr/>
        </p:nvSpPr>
        <p:spPr>
          <a:xfrm>
            <a:off x="8183880" y="4846320"/>
            <a:ext cx="320040" cy="182880"/>
          </a:xfrm>
          <a:prstGeom prst="rect">
            <a:avLst/>
          </a:prstGeom>
          <a:noFill/>
          <a:ln/>
        </p:spPr>
        <p:txBody>
          <a:bodyPr wrap="square" lIns="0" tIns="0" rIns="0" bIns="0" rtlCol="0" anchor="ctr"/>
          <a:lstStyle/>
          <a:p>
            <a:pPr algn="ctr" indent="0" marL="0">
              <a:buNone/>
            </a:pPr>
            <a:r>
              <a:rPr lang="en-US" sz="1050" b="1" dirty="0">
                <a:solidFill>
                  <a:srgbClr val="1F4A82"/>
                </a:solidFill>
                <a:latin typeface="Calibri" pitchFamily="34" charset="0"/>
                <a:ea typeface="Calibri" pitchFamily="34" charset="-122"/>
                <a:cs typeface="Calibri" pitchFamily="34" charset="-120"/>
              </a:rPr>
              <a:t>1</a:t>
            </a:r>
            <a:endParaRPr lang="en-US" sz="1050" dirty="0"/>
          </a:p>
        </p:txBody>
      </p:sp>
      <p:sp>
        <p:nvSpPr>
          <p:cNvPr id="97" name="Text 93"/>
          <p:cNvSpPr txBox="1"/>
          <p:nvPr/>
        </p:nvSpPr>
        <p:spPr>
          <a:xfrm>
            <a:off x="8549640" y="4846320"/>
            <a:ext cx="3047695" cy="18288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logged outcome for every flag</a:t>
            </a:r>
            <a:endParaRPr lang="en-US" sz="900" dirty="0"/>
          </a:p>
        </p:txBody>
      </p:sp>
      <p:sp>
        <p:nvSpPr>
          <p:cNvPr id="98" name="Shape 94"/>
          <p:cNvSpPr/>
          <p:nvPr/>
        </p:nvSpPr>
        <p:spPr>
          <a:xfrm>
            <a:off x="411480" y="5193792"/>
            <a:ext cx="256032" cy="256032"/>
          </a:xfrm>
          <a:prstGeom prst="rect">
            <a:avLst/>
          </a:prstGeom>
          <a:solidFill>
            <a:srgbClr val="1F4A82"/>
          </a:solidFill>
          <a:ln/>
        </p:spPr>
      </p:sp>
      <p:sp>
        <p:nvSpPr>
          <p:cNvPr id="99" name="Text 95"/>
          <p:cNvSpPr txBox="1"/>
          <p:nvPr/>
        </p:nvSpPr>
        <p:spPr>
          <a:xfrm>
            <a:off x="411480" y="519379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00" name="Text 96"/>
          <p:cNvSpPr txBox="1"/>
          <p:nvPr/>
        </p:nvSpPr>
        <p:spPr>
          <a:xfrm>
            <a:off x="740664" y="5193792"/>
            <a:ext cx="69860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FOUR DESIGN PRINCIPLES THAT FOLLOW</a:t>
            </a:r>
            <a:endParaRPr lang="en-US" sz="1200" dirty="0"/>
          </a:p>
        </p:txBody>
      </p:sp>
      <p:sp>
        <p:nvSpPr>
          <p:cNvPr id="101" name="Shape 97"/>
          <p:cNvSpPr/>
          <p:nvPr/>
        </p:nvSpPr>
        <p:spPr>
          <a:xfrm>
            <a:off x="411480" y="5504688"/>
            <a:ext cx="2779776" cy="804672"/>
          </a:xfrm>
          <a:prstGeom prst="rect">
            <a:avLst/>
          </a:prstGeom>
          <a:solidFill>
            <a:srgbClr val="FFFFFF"/>
          </a:solidFill>
          <a:ln w="12700">
            <a:solidFill>
              <a:srgbClr val="1F4A82"/>
            </a:solidFill>
            <a:prstDash val="solid"/>
          </a:ln>
        </p:spPr>
      </p:sp>
      <p:sp>
        <p:nvSpPr>
          <p:cNvPr id="102" name="Shape 98"/>
          <p:cNvSpPr/>
          <p:nvPr/>
        </p:nvSpPr>
        <p:spPr>
          <a:xfrm>
            <a:off x="411480" y="5504688"/>
            <a:ext cx="457200" cy="804672"/>
          </a:xfrm>
          <a:prstGeom prst="rect">
            <a:avLst/>
          </a:prstGeom>
          <a:solidFill>
            <a:srgbClr val="1F4A82"/>
          </a:solidFill>
          <a:ln/>
        </p:spPr>
      </p:sp>
      <p:pic>
        <p:nvPicPr>
          <p:cNvPr id="103"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104"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105"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106"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107"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108"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109" name="Image 7" descr="FaBullseye icon">    </p:cNvPr>
          <p:cNvPicPr>
            <a:picLocks noChangeAspect="1"/>
          </p:cNvPicPr>
          <p:nvPr/>
        </p:nvPicPr>
        <p:blipFill>
          <a:blip r:embed="rId8"/>
          <a:stretch>
            <a:fillRect/>
          </a:stretch>
        </p:blipFill>
        <p:spPr>
          <a:xfrm>
            <a:off x="9075191" y="100584"/>
            <a:ext cx="182880" cy="182880"/>
          </a:xfrm>
          <a:prstGeom prst="rect">
            <a:avLst/>
          </a:prstGeom>
        </p:spPr>
      </p:pic>
      <p:pic>
        <p:nvPicPr>
          <p:cNvPr id="110" name="Image 8" descr="FaBookOpen icon">    </p:cNvPr>
          <p:cNvPicPr>
            <a:picLocks noChangeAspect="1"/>
          </p:cNvPicPr>
          <p:nvPr/>
        </p:nvPicPr>
        <p:blipFill>
          <a:blip r:embed="rId9"/>
          <a:stretch>
            <a:fillRect/>
          </a:stretch>
        </p:blipFill>
        <p:spPr>
          <a:xfrm>
            <a:off x="10473423" y="100584"/>
            <a:ext cx="182880" cy="182880"/>
          </a:xfrm>
          <a:prstGeom prst="rect">
            <a:avLst/>
          </a:prstGeom>
        </p:spPr>
      </p:pic>
      <p:pic>
        <p:nvPicPr>
          <p:cNvPr id="111" name="Image 9" descr="FaUserShield icon">    </p:cNvPr>
          <p:cNvPicPr>
            <a:picLocks noChangeAspect="1"/>
          </p:cNvPicPr>
          <p:nvPr/>
        </p:nvPicPr>
        <p:blipFill>
          <a:blip r:embed="rId10"/>
          <a:stretch>
            <a:fillRect/>
          </a:stretch>
        </p:blipFill>
        <p:spPr>
          <a:xfrm>
            <a:off x="512064" y="5742432"/>
            <a:ext cx="256032" cy="256032"/>
          </a:xfrm>
          <a:prstGeom prst="rect">
            <a:avLst/>
          </a:prstGeom>
        </p:spPr>
      </p:pic>
      <p:sp>
        <p:nvSpPr>
          <p:cNvPr id="112" name="Text 99"/>
          <p:cNvSpPr txBox="1"/>
          <p:nvPr/>
        </p:nvSpPr>
        <p:spPr>
          <a:xfrm>
            <a:off x="960120" y="5532120"/>
            <a:ext cx="2176272"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Support, never surveillance</a:t>
            </a:r>
            <a:endParaRPr lang="en-US" sz="1050" dirty="0"/>
          </a:p>
        </p:txBody>
      </p:sp>
      <p:sp>
        <p:nvSpPr>
          <p:cNvPr id="113" name="Text 100"/>
          <p:cNvSpPr txBox="1"/>
          <p:nvPr/>
        </p:nvSpPr>
        <p:spPr>
          <a:xfrm>
            <a:off x="960120" y="5769864"/>
            <a:ext cx="2176272"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Risk lists go to mentors only; no ranks for students or parents.</a:t>
            </a:r>
            <a:endParaRPr lang="en-US" sz="900" dirty="0"/>
          </a:p>
        </p:txBody>
      </p:sp>
      <p:sp>
        <p:nvSpPr>
          <p:cNvPr id="114" name="Shape 101"/>
          <p:cNvSpPr/>
          <p:nvPr/>
        </p:nvSpPr>
        <p:spPr>
          <a:xfrm>
            <a:off x="3273552" y="5504688"/>
            <a:ext cx="2779776" cy="804672"/>
          </a:xfrm>
          <a:prstGeom prst="rect">
            <a:avLst/>
          </a:prstGeom>
          <a:solidFill>
            <a:srgbClr val="FFFFFF"/>
          </a:solidFill>
          <a:ln w="12700">
            <a:solidFill>
              <a:srgbClr val="1F4A82"/>
            </a:solidFill>
            <a:prstDash val="solid"/>
          </a:ln>
        </p:spPr>
      </p:sp>
      <p:sp>
        <p:nvSpPr>
          <p:cNvPr id="115" name="Shape 102"/>
          <p:cNvSpPr/>
          <p:nvPr/>
        </p:nvSpPr>
        <p:spPr>
          <a:xfrm>
            <a:off x="3273552" y="5504688"/>
            <a:ext cx="457200" cy="804672"/>
          </a:xfrm>
          <a:prstGeom prst="rect">
            <a:avLst/>
          </a:prstGeom>
          <a:solidFill>
            <a:srgbClr val="1F4A82"/>
          </a:solidFill>
          <a:ln/>
        </p:spPr>
      </p:sp>
      <p:pic>
        <p:nvPicPr>
          <p:cNvPr id="116" name="Image 10" descr="FaUsers icon">    </p:cNvPr>
          <p:cNvPicPr>
            <a:picLocks noChangeAspect="1"/>
          </p:cNvPicPr>
          <p:nvPr/>
        </p:nvPicPr>
        <p:blipFill>
          <a:blip r:embed="rId11"/>
          <a:stretch>
            <a:fillRect/>
          </a:stretch>
        </p:blipFill>
        <p:spPr>
          <a:xfrm>
            <a:off x="3374136" y="5742432"/>
            <a:ext cx="256032" cy="256032"/>
          </a:xfrm>
          <a:prstGeom prst="rect">
            <a:avLst/>
          </a:prstGeom>
        </p:spPr>
      </p:pic>
      <p:sp>
        <p:nvSpPr>
          <p:cNvPr id="117" name="Text 103"/>
          <p:cNvSpPr txBox="1"/>
          <p:nvPr/>
        </p:nvSpPr>
        <p:spPr>
          <a:xfrm>
            <a:off x="3822192" y="5532120"/>
            <a:ext cx="2176272"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Sized to mentor capacity</a:t>
            </a:r>
            <a:endParaRPr lang="en-US" sz="1050" dirty="0"/>
          </a:p>
        </p:txBody>
      </p:sp>
      <p:sp>
        <p:nvSpPr>
          <p:cNvPr id="118" name="Text 104"/>
          <p:cNvSpPr txBox="1"/>
          <p:nvPr/>
        </p:nvSpPr>
        <p:spPr>
          <a:xfrm>
            <a:off x="3822192" y="5769864"/>
            <a:ext cx="2176272"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A short weekly list, compared with the institute's own rule at equal workload.</a:t>
            </a:r>
            <a:endParaRPr lang="en-US" sz="900" dirty="0"/>
          </a:p>
        </p:txBody>
      </p:sp>
      <p:sp>
        <p:nvSpPr>
          <p:cNvPr id="119" name="Shape 105"/>
          <p:cNvSpPr/>
          <p:nvPr/>
        </p:nvSpPr>
        <p:spPr>
          <a:xfrm>
            <a:off x="6135624" y="5504688"/>
            <a:ext cx="2779776" cy="804672"/>
          </a:xfrm>
          <a:prstGeom prst="rect">
            <a:avLst/>
          </a:prstGeom>
          <a:solidFill>
            <a:srgbClr val="FFFFFF"/>
          </a:solidFill>
          <a:ln w="12700">
            <a:solidFill>
              <a:srgbClr val="1F4A82"/>
            </a:solidFill>
            <a:prstDash val="solid"/>
          </a:ln>
        </p:spPr>
      </p:sp>
      <p:sp>
        <p:nvSpPr>
          <p:cNvPr id="120" name="Shape 106"/>
          <p:cNvSpPr/>
          <p:nvPr/>
        </p:nvSpPr>
        <p:spPr>
          <a:xfrm>
            <a:off x="6135624" y="5504688"/>
            <a:ext cx="457200" cy="804672"/>
          </a:xfrm>
          <a:prstGeom prst="rect">
            <a:avLst/>
          </a:prstGeom>
          <a:solidFill>
            <a:srgbClr val="1F4A82"/>
          </a:solidFill>
          <a:ln/>
        </p:spPr>
      </p:sp>
      <p:pic>
        <p:nvPicPr>
          <p:cNvPr id="121" name="Image 11" descr="FaListCheck icon">    </p:cNvPr>
          <p:cNvPicPr>
            <a:picLocks noChangeAspect="1"/>
          </p:cNvPicPr>
          <p:nvPr/>
        </p:nvPicPr>
        <p:blipFill>
          <a:blip r:embed="rId12"/>
          <a:stretch>
            <a:fillRect/>
          </a:stretch>
        </p:blipFill>
        <p:spPr>
          <a:xfrm>
            <a:off x="6236208" y="5742432"/>
            <a:ext cx="256032" cy="256032"/>
          </a:xfrm>
          <a:prstGeom prst="rect">
            <a:avLst/>
          </a:prstGeom>
        </p:spPr>
      </p:pic>
      <p:sp>
        <p:nvSpPr>
          <p:cNvPr id="122" name="Text 107"/>
          <p:cNvSpPr txBox="1"/>
          <p:nvPr/>
        </p:nvSpPr>
        <p:spPr>
          <a:xfrm>
            <a:off x="6684264" y="5532120"/>
            <a:ext cx="2176272"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Every number checked</a:t>
            </a:r>
            <a:endParaRPr lang="en-US" sz="1050" dirty="0"/>
          </a:p>
        </p:txBody>
      </p:sp>
      <p:sp>
        <p:nvSpPr>
          <p:cNvPr id="123" name="Text 108"/>
          <p:cNvSpPr txBox="1"/>
          <p:nvPr/>
        </p:nvSpPr>
        <p:spPr>
          <a:xfrm>
            <a:off x="6684264" y="5769864"/>
            <a:ext cx="2176272"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Reports are verified in code; a template goes out if any check fails.</a:t>
            </a:r>
            <a:endParaRPr lang="en-US" sz="900" dirty="0"/>
          </a:p>
        </p:txBody>
      </p:sp>
      <p:sp>
        <p:nvSpPr>
          <p:cNvPr id="124" name="Shape 109"/>
          <p:cNvSpPr/>
          <p:nvPr/>
        </p:nvSpPr>
        <p:spPr>
          <a:xfrm>
            <a:off x="8997696" y="5504688"/>
            <a:ext cx="2779776" cy="804672"/>
          </a:xfrm>
          <a:prstGeom prst="rect">
            <a:avLst/>
          </a:prstGeom>
          <a:solidFill>
            <a:srgbClr val="FFFFFF"/>
          </a:solidFill>
          <a:ln w="12700">
            <a:solidFill>
              <a:srgbClr val="1F4A82"/>
            </a:solidFill>
            <a:prstDash val="solid"/>
          </a:ln>
        </p:spPr>
      </p:sp>
      <p:sp>
        <p:nvSpPr>
          <p:cNvPr id="125" name="Shape 110"/>
          <p:cNvSpPr/>
          <p:nvPr/>
        </p:nvSpPr>
        <p:spPr>
          <a:xfrm>
            <a:off x="8997696" y="5504688"/>
            <a:ext cx="457200" cy="804672"/>
          </a:xfrm>
          <a:prstGeom prst="rect">
            <a:avLst/>
          </a:prstGeom>
          <a:solidFill>
            <a:srgbClr val="1F4A82"/>
          </a:solidFill>
          <a:ln/>
        </p:spPr>
      </p:sp>
      <p:pic>
        <p:nvPicPr>
          <p:cNvPr id="126" name="Image 12" descr="FaLaptop icon">    </p:cNvPr>
          <p:cNvPicPr>
            <a:picLocks noChangeAspect="1"/>
          </p:cNvPicPr>
          <p:nvPr/>
        </p:nvPicPr>
        <p:blipFill>
          <a:blip r:embed="rId13"/>
          <a:stretch>
            <a:fillRect/>
          </a:stretch>
        </p:blipFill>
        <p:spPr>
          <a:xfrm>
            <a:off x="9098280" y="5742432"/>
            <a:ext cx="256032" cy="256032"/>
          </a:xfrm>
          <a:prstGeom prst="rect">
            <a:avLst/>
          </a:prstGeom>
        </p:spPr>
      </p:pic>
      <p:sp>
        <p:nvSpPr>
          <p:cNvPr id="127" name="Text 111"/>
          <p:cNvSpPr txBox="1"/>
          <p:nvPr/>
        </p:nvSpPr>
        <p:spPr>
          <a:xfrm>
            <a:off x="9546336" y="5532120"/>
            <a:ext cx="2176272"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Free and offline first</a:t>
            </a:r>
            <a:endParaRPr lang="en-US" sz="1050" dirty="0"/>
          </a:p>
        </p:txBody>
      </p:sp>
      <p:sp>
        <p:nvSpPr>
          <p:cNvPr id="128" name="Text 112"/>
          <p:cNvSpPr txBox="1"/>
          <p:nvPr/>
        </p:nvSpPr>
        <p:spPr>
          <a:xfrm>
            <a:off x="9546336" y="5769864"/>
            <a:ext cx="2176272"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One laptop, local models, no paid services; syncs when the network returns.</a:t>
            </a:r>
            <a:endParaRPr lang="en-US" sz="900" dirty="0"/>
          </a:p>
        </p:txBody>
      </p:sp>
      <p:sp>
        <p:nvSpPr>
          <p:cNvPr id="129" name="Shape 113"/>
          <p:cNvSpPr/>
          <p:nvPr/>
        </p:nvSpPr>
        <p:spPr>
          <a:xfrm rot="120000">
            <a:off x="10104120" y="694944"/>
            <a:ext cx="1691640" cy="384048"/>
          </a:xfrm>
          <a:prstGeom prst="rect">
            <a:avLst/>
          </a:prstGeom>
          <a:solidFill>
            <a:srgbClr val="C9CED6">
              <a:alpha val="45000"/>
            </a:srgbClr>
          </a:solidFill>
          <a:ln/>
        </p:spPr>
      </p:sp>
      <p:sp>
        <p:nvSpPr>
          <p:cNvPr id="130" name="Shape 114"/>
          <p:cNvSpPr/>
          <p:nvPr/>
        </p:nvSpPr>
        <p:spPr>
          <a:xfrm rot="120000">
            <a:off x="10058400" y="640080"/>
            <a:ext cx="1691640" cy="384048"/>
          </a:xfrm>
          <a:prstGeom prst="rect">
            <a:avLst/>
          </a:prstGeom>
          <a:solidFill>
            <a:srgbClr val="F7BFD0"/>
          </a:solidFill>
          <a:ln/>
        </p:spPr>
      </p:sp>
      <p:sp>
        <p:nvSpPr>
          <p:cNvPr id="131" name="Text 115"/>
          <p:cNvSpPr txBox="1"/>
          <p:nvPr/>
        </p:nvSpPr>
        <p:spPr>
          <a:xfrm rot="120000">
            <a:off x="10113264" y="676656"/>
            <a:ext cx="1581912" cy="329184"/>
          </a:xfrm>
          <a:prstGeom prst="rect">
            <a:avLst/>
          </a:prstGeom>
          <a:noFill/>
          <a:ln/>
        </p:spPr>
        <p:txBody>
          <a:bodyPr wrap="square" lIns="0" tIns="0" rIns="0" bIns="0" rtlCol="0" anchor="ctr"/>
          <a:lstStyle/>
          <a:p>
            <a:pPr algn="ctr" indent="0" marL="0">
              <a:buNone/>
            </a:pPr>
            <a:r>
              <a:rPr lang="en-US" sz="850" dirty="0">
                <a:solidFill>
                  <a:srgbClr val="8A2C4B"/>
                </a:solidFill>
                <a:latin typeface="Segoe Print" pitchFamily="34" charset="0"/>
                <a:ea typeface="Segoe Print" pitchFamily="34" charset="-122"/>
                <a:cs typeface="Segoe Print" pitchFamily="34" charset="-120"/>
              </a:rPr>
              <a:t>we cut our own numbers first</a:t>
            </a:r>
            <a:endParaRPr lang="en-US" sz="850" dirty="0"/>
          </a:p>
        </p:txBody>
      </p:sp>
      <p:pic>
        <p:nvPicPr>
          <p:cNvPr id="132" name="Image 13" descr="D:\Professional Work\Business\FC_Case_Dhruvi\presentation\source\assets\doodle_tape.png">    </p:cNvPr>
          <p:cNvPicPr>
            <a:picLocks noChangeAspect="1"/>
          </p:cNvPicPr>
          <p:nvPr/>
        </p:nvPicPr>
        <p:blipFill>
          <a:blip r:embed="rId14"/>
          <a:stretch>
            <a:fillRect/>
          </a:stretch>
        </p:blipFill>
        <p:spPr>
          <a:xfrm rot="72000">
            <a:off x="10629900" y="548640"/>
            <a:ext cx="548640" cy="173736"/>
          </a:xfrm>
          <a:prstGeom prst="rect">
            <a:avLst/>
          </a:prstGeom>
        </p:spPr>
      </p:pic>
      <p:sp>
        <p:nvSpPr>
          <p:cNvPr id="133" name="Text 116"/>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case guide; financial/research (vendor listings R1, outreach trials R4); financial workbook (Base: 4.0 % reduction, 0.35x fees only); OULAD results in ml/public_validation; PLOS ONE 2026; DPDP Act 2023 s.9(3).</a:t>
            </a:r>
            <a:endParaRPr lang="en-US" sz="850" dirty="0"/>
          </a:p>
        </p:txBody>
      </p:sp>
      <p:pic>
        <p:nvPicPr>
          <p:cNvPr id="134" name="Image 14" descr="hand-drawn hl_y">    </p:cNvPr>
          <p:cNvPicPr>
            <a:picLocks noChangeAspect="1"/>
          </p:cNvPicPr>
          <p:nvPr/>
        </p:nvPicPr>
        <p:blipFill>
          <a:blip r:embed="rId15"/>
          <a:stretch>
            <a:fillRect/>
          </a:stretch>
        </p:blipFill>
        <p:spPr>
          <a:xfrm>
            <a:off x="8183880" y="2359152"/>
            <a:ext cx="3383280" cy="45720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D4A24C"/>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heat-map">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KNOW EVERY STUDENT'S WEAK TOPICS</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Pragati knows each student's weak topics, topic by topic, and tells the teacher how sure it is</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15568"/>
            <a:ext cx="5212080" cy="301752"/>
          </a:xfrm>
          <a:prstGeom prst="rect">
            <a:avLst/>
          </a:prstGeom>
          <a:solidFill>
            <a:srgbClr val="1F4A82"/>
          </a:solidFill>
          <a:ln/>
        </p:spPr>
      </p:sp>
      <p:sp>
        <p:nvSpPr>
          <p:cNvPr id="26" name="Text 22"/>
          <p:cNvSpPr txBox="1"/>
          <p:nvPr/>
        </p:nvSpPr>
        <p:spPr>
          <a:xfrm>
            <a:off x="521208" y="1115568"/>
            <a:ext cx="499262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WHAT THE TEACHER SEES: STUDENT x TOPIC MASTERY</a:t>
            </a:r>
            <a:endParaRPr lang="en-US" sz="1200" dirty="0"/>
          </a:p>
        </p:txBody>
      </p:sp>
      <p:sp>
        <p:nvSpPr>
          <p:cNvPr id="27" name="Shape 23"/>
          <p:cNvSpPr/>
          <p:nvPr/>
        </p:nvSpPr>
        <p:spPr>
          <a:xfrm>
            <a:off x="5678424" y="1115568"/>
            <a:ext cx="0" cy="3383280"/>
          </a:xfrm>
          <a:prstGeom prst="line">
            <a:avLst/>
          </a:prstGeom>
          <a:noFill/>
          <a:ln w="12700">
            <a:solidFill>
              <a:srgbClr val="8FA9CC"/>
            </a:solidFill>
            <a:prstDash val="dash"/>
          </a:ln>
        </p:spPr>
      </p:sp>
      <p:sp>
        <p:nvSpPr>
          <p:cNvPr id="28" name="Shape 24"/>
          <p:cNvSpPr/>
          <p:nvPr/>
        </p:nvSpPr>
        <p:spPr>
          <a:xfrm>
            <a:off x="502920" y="1481328"/>
            <a:ext cx="5029200" cy="2926080"/>
          </a:xfrm>
          <a:prstGeom prst="roundRect">
            <a:avLst>
              <a:gd name="adj" fmla="val 3125"/>
            </a:avLst>
          </a:prstGeom>
          <a:solidFill>
            <a:srgbClr val="FFFFFF"/>
          </a:solidFill>
          <a:ln w="12700">
            <a:solidFill>
              <a:srgbClr val="C9D6E8"/>
            </a:solidFill>
            <a:prstDash val="solid"/>
          </a:ln>
        </p:spPr>
      </p:sp>
      <p:sp>
        <p:nvSpPr>
          <p:cNvPr id="29" name="Text 25"/>
          <p:cNvSpPr txBox="1"/>
          <p:nvPr/>
        </p:nvSpPr>
        <p:spPr>
          <a:xfrm>
            <a:off x="1143000" y="1554480"/>
            <a:ext cx="548640" cy="493776"/>
          </a:xfrm>
          <a:prstGeom prst="rect">
            <a:avLst/>
          </a:prstGeom>
          <a:noFill/>
          <a:ln/>
        </p:spPr>
        <p:txBody>
          <a:bodyPr wrap="square" lIns="0" tIns="0" rIns="0" bIns="0" rtlCol="0" anchor="ctr"/>
          <a:lstStyle/>
          <a:p>
            <a:pPr algn="ctr" indent="0" marL="0">
              <a:buNone/>
            </a:pPr>
            <a:r>
              <a:rPr lang="en-US" sz="900" dirty="0">
                <a:solidFill>
                  <a:srgbClr val="5B6573"/>
                </a:solidFill>
                <a:latin typeface="Calibri" pitchFamily="34" charset="0"/>
                <a:ea typeface="Calibri" pitchFamily="34" charset="-122"/>
                <a:cs typeface="Calibri" pitchFamily="34" charset="-120"/>
              </a:rPr>
              <a:t>Kinematics</a:t>
            </a:r>
            <a:endParaRPr lang="en-US" sz="900" dirty="0"/>
          </a:p>
        </p:txBody>
      </p:sp>
      <p:sp>
        <p:nvSpPr>
          <p:cNvPr id="30" name="Text 26"/>
          <p:cNvSpPr txBox="1"/>
          <p:nvPr/>
        </p:nvSpPr>
        <p:spPr>
          <a:xfrm>
            <a:off x="1691640" y="1554480"/>
            <a:ext cx="548640" cy="493776"/>
          </a:xfrm>
          <a:prstGeom prst="rect">
            <a:avLst/>
          </a:prstGeom>
          <a:noFill/>
          <a:ln/>
        </p:spPr>
        <p:txBody>
          <a:bodyPr wrap="square" lIns="0" tIns="0" rIns="0" bIns="0" rtlCol="0" anchor="ctr"/>
          <a:lstStyle/>
          <a:p>
            <a:pPr algn="ctr" indent="0" marL="0">
              <a:buNone/>
            </a:pPr>
            <a:r>
              <a:rPr lang="en-US" sz="900" dirty="0">
                <a:solidFill>
                  <a:srgbClr val="5B6573"/>
                </a:solidFill>
                <a:latin typeface="Calibri" pitchFamily="34" charset="0"/>
                <a:ea typeface="Calibri" pitchFamily="34" charset="-122"/>
                <a:cs typeface="Calibri" pitchFamily="34" charset="-120"/>
              </a:rPr>
              <a:t>Laws of motion</a:t>
            </a:r>
            <a:endParaRPr lang="en-US" sz="900" dirty="0"/>
          </a:p>
        </p:txBody>
      </p:sp>
      <p:sp>
        <p:nvSpPr>
          <p:cNvPr id="31" name="Text 27"/>
          <p:cNvSpPr txBox="1"/>
          <p:nvPr/>
        </p:nvSpPr>
        <p:spPr>
          <a:xfrm>
            <a:off x="2240280" y="1554480"/>
            <a:ext cx="548640" cy="493776"/>
          </a:xfrm>
          <a:prstGeom prst="rect">
            <a:avLst/>
          </a:prstGeom>
          <a:noFill/>
          <a:ln/>
        </p:spPr>
        <p:txBody>
          <a:bodyPr wrap="square" lIns="0" tIns="0" rIns="0" bIns="0" rtlCol="0" anchor="ctr"/>
          <a:lstStyle/>
          <a:p>
            <a:pPr algn="ctr" indent="0" marL="0">
              <a:buNone/>
            </a:pPr>
            <a:r>
              <a:rPr lang="en-US" sz="900" dirty="0">
                <a:solidFill>
                  <a:srgbClr val="5B6573"/>
                </a:solidFill>
                <a:latin typeface="Calibri" pitchFamily="34" charset="0"/>
                <a:ea typeface="Calibri" pitchFamily="34" charset="-122"/>
                <a:cs typeface="Calibri" pitchFamily="34" charset="-120"/>
              </a:rPr>
              <a:t>Work and energy</a:t>
            </a:r>
            <a:endParaRPr lang="en-US" sz="900" dirty="0"/>
          </a:p>
        </p:txBody>
      </p:sp>
      <p:sp>
        <p:nvSpPr>
          <p:cNvPr id="32" name="Text 28"/>
          <p:cNvSpPr txBox="1"/>
          <p:nvPr/>
        </p:nvSpPr>
        <p:spPr>
          <a:xfrm>
            <a:off x="2788920" y="1554480"/>
            <a:ext cx="548640" cy="493776"/>
          </a:xfrm>
          <a:prstGeom prst="rect">
            <a:avLst/>
          </a:prstGeom>
          <a:noFill/>
          <a:ln/>
        </p:spPr>
        <p:txBody>
          <a:bodyPr wrap="square" lIns="0" tIns="0" rIns="0" bIns="0" rtlCol="0" anchor="ctr"/>
          <a:lstStyle/>
          <a:p>
            <a:pPr algn="ctr" indent="0" marL="0">
              <a:buNone/>
            </a:pPr>
            <a:r>
              <a:rPr lang="en-US" sz="900" dirty="0">
                <a:solidFill>
                  <a:srgbClr val="5B6573"/>
                </a:solidFill>
                <a:latin typeface="Calibri" pitchFamily="34" charset="0"/>
                <a:ea typeface="Calibri" pitchFamily="34" charset="-122"/>
                <a:cs typeface="Calibri" pitchFamily="34" charset="-120"/>
              </a:rPr>
              <a:t>Rotation</a:t>
            </a:r>
            <a:endParaRPr lang="en-US" sz="900" dirty="0"/>
          </a:p>
        </p:txBody>
      </p:sp>
      <p:sp>
        <p:nvSpPr>
          <p:cNvPr id="33" name="Text 29"/>
          <p:cNvSpPr txBox="1"/>
          <p:nvPr/>
        </p:nvSpPr>
        <p:spPr>
          <a:xfrm>
            <a:off x="3337560" y="1554480"/>
            <a:ext cx="548640" cy="493776"/>
          </a:xfrm>
          <a:prstGeom prst="rect">
            <a:avLst/>
          </a:prstGeom>
          <a:noFill/>
          <a:ln/>
        </p:spPr>
        <p:txBody>
          <a:bodyPr wrap="square" lIns="0" tIns="0" rIns="0" bIns="0" rtlCol="0" anchor="ctr"/>
          <a:lstStyle/>
          <a:p>
            <a:pPr algn="ctr" indent="0" marL="0">
              <a:buNone/>
            </a:pPr>
            <a:r>
              <a:rPr lang="en-US" sz="900" dirty="0">
                <a:solidFill>
                  <a:srgbClr val="5B6573"/>
                </a:solidFill>
                <a:latin typeface="Calibri" pitchFamily="34" charset="0"/>
                <a:ea typeface="Calibri" pitchFamily="34" charset="-122"/>
                <a:cs typeface="Calibri" pitchFamily="34" charset="-120"/>
              </a:rPr>
              <a:t>Gravity</a:t>
            </a:r>
            <a:endParaRPr lang="en-US" sz="900" dirty="0"/>
          </a:p>
        </p:txBody>
      </p:sp>
      <p:sp>
        <p:nvSpPr>
          <p:cNvPr id="34" name="Text 30"/>
          <p:cNvSpPr txBox="1"/>
          <p:nvPr/>
        </p:nvSpPr>
        <p:spPr>
          <a:xfrm>
            <a:off x="3886200" y="1554480"/>
            <a:ext cx="548640" cy="493776"/>
          </a:xfrm>
          <a:prstGeom prst="rect">
            <a:avLst/>
          </a:prstGeom>
          <a:noFill/>
          <a:ln/>
        </p:spPr>
        <p:txBody>
          <a:bodyPr wrap="square" lIns="0" tIns="0" rIns="0" bIns="0" rtlCol="0" anchor="ctr"/>
          <a:lstStyle/>
          <a:p>
            <a:pPr algn="ctr" indent="0" marL="0">
              <a:buNone/>
            </a:pPr>
            <a:r>
              <a:rPr lang="en-US" sz="900" dirty="0">
                <a:solidFill>
                  <a:srgbClr val="5B6573"/>
                </a:solidFill>
                <a:latin typeface="Calibri" pitchFamily="34" charset="0"/>
                <a:ea typeface="Calibri" pitchFamily="34" charset="-122"/>
                <a:cs typeface="Calibri" pitchFamily="34" charset="-120"/>
              </a:rPr>
              <a:t>Heat</a:t>
            </a:r>
            <a:endParaRPr lang="en-US" sz="900" dirty="0"/>
          </a:p>
        </p:txBody>
      </p:sp>
      <p:sp>
        <p:nvSpPr>
          <p:cNvPr id="35" name="Text 31"/>
          <p:cNvSpPr txBox="1"/>
          <p:nvPr/>
        </p:nvSpPr>
        <p:spPr>
          <a:xfrm>
            <a:off x="4434840" y="1554480"/>
            <a:ext cx="548640" cy="493776"/>
          </a:xfrm>
          <a:prstGeom prst="rect">
            <a:avLst/>
          </a:prstGeom>
          <a:noFill/>
          <a:ln/>
        </p:spPr>
        <p:txBody>
          <a:bodyPr wrap="square" lIns="0" tIns="0" rIns="0" bIns="0" rtlCol="0" anchor="ctr"/>
          <a:lstStyle/>
          <a:p>
            <a:pPr algn="ctr" indent="0" marL="0">
              <a:buNone/>
            </a:pPr>
            <a:r>
              <a:rPr lang="en-US" sz="900" dirty="0">
                <a:solidFill>
                  <a:srgbClr val="5B6573"/>
                </a:solidFill>
                <a:latin typeface="Calibri" pitchFamily="34" charset="0"/>
                <a:ea typeface="Calibri" pitchFamily="34" charset="-122"/>
                <a:cs typeface="Calibri" pitchFamily="34" charset="-120"/>
              </a:rPr>
              <a:t>Electricity</a:t>
            </a:r>
            <a:endParaRPr lang="en-US" sz="900" dirty="0"/>
          </a:p>
        </p:txBody>
      </p:sp>
      <p:sp>
        <p:nvSpPr>
          <p:cNvPr id="36" name="Text 32"/>
          <p:cNvSpPr txBox="1"/>
          <p:nvPr/>
        </p:nvSpPr>
        <p:spPr>
          <a:xfrm>
            <a:off x="4983480" y="1554480"/>
            <a:ext cx="548640" cy="493776"/>
          </a:xfrm>
          <a:prstGeom prst="rect">
            <a:avLst/>
          </a:prstGeom>
          <a:noFill/>
          <a:ln/>
        </p:spPr>
        <p:txBody>
          <a:bodyPr wrap="square" lIns="0" tIns="0" rIns="0" bIns="0" rtlCol="0" anchor="ctr"/>
          <a:lstStyle/>
          <a:p>
            <a:pPr algn="ctr" indent="0" marL="0">
              <a:buNone/>
            </a:pPr>
            <a:r>
              <a:rPr lang="en-US" sz="900" dirty="0">
                <a:solidFill>
                  <a:srgbClr val="5B6573"/>
                </a:solidFill>
                <a:latin typeface="Calibri" pitchFamily="34" charset="0"/>
                <a:ea typeface="Calibri" pitchFamily="34" charset="-122"/>
                <a:cs typeface="Calibri" pitchFamily="34" charset="-120"/>
              </a:rPr>
              <a:t>Optics</a:t>
            </a:r>
            <a:endParaRPr lang="en-US" sz="900" dirty="0"/>
          </a:p>
        </p:txBody>
      </p:sp>
      <p:sp>
        <p:nvSpPr>
          <p:cNvPr id="37" name="Text 33"/>
          <p:cNvSpPr txBox="1"/>
          <p:nvPr/>
        </p:nvSpPr>
        <p:spPr>
          <a:xfrm>
            <a:off x="594360" y="2048256"/>
            <a:ext cx="548640" cy="219456"/>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S-101</a:t>
            </a:r>
            <a:endParaRPr lang="en-US" sz="900" dirty="0"/>
          </a:p>
        </p:txBody>
      </p:sp>
      <p:sp>
        <p:nvSpPr>
          <p:cNvPr id="38" name="Shape 34"/>
          <p:cNvSpPr/>
          <p:nvPr/>
        </p:nvSpPr>
        <p:spPr>
          <a:xfrm>
            <a:off x="1161288" y="2066544"/>
            <a:ext cx="512064" cy="182880"/>
          </a:xfrm>
          <a:prstGeom prst="rect">
            <a:avLst/>
          </a:prstGeom>
          <a:solidFill>
            <a:srgbClr val="C9DBF0"/>
          </a:solidFill>
          <a:ln/>
        </p:spPr>
      </p:sp>
      <p:sp>
        <p:nvSpPr>
          <p:cNvPr id="39" name="Shape 35"/>
          <p:cNvSpPr/>
          <p:nvPr/>
        </p:nvSpPr>
        <p:spPr>
          <a:xfrm>
            <a:off x="1709928" y="2066544"/>
            <a:ext cx="512064" cy="182880"/>
          </a:xfrm>
          <a:prstGeom prst="rect">
            <a:avLst/>
          </a:prstGeom>
          <a:solidFill>
            <a:srgbClr val="C9DBF0"/>
          </a:solidFill>
          <a:ln/>
        </p:spPr>
      </p:sp>
      <p:sp>
        <p:nvSpPr>
          <p:cNvPr id="40" name="Shape 36"/>
          <p:cNvSpPr/>
          <p:nvPr/>
        </p:nvSpPr>
        <p:spPr>
          <a:xfrm>
            <a:off x="2258568" y="2066544"/>
            <a:ext cx="512064" cy="182880"/>
          </a:xfrm>
          <a:prstGeom prst="rect">
            <a:avLst/>
          </a:prstGeom>
          <a:solidFill>
            <a:srgbClr val="7FA6D6"/>
          </a:solidFill>
          <a:ln/>
        </p:spPr>
      </p:sp>
      <p:sp>
        <p:nvSpPr>
          <p:cNvPr id="41" name="Shape 37"/>
          <p:cNvSpPr/>
          <p:nvPr/>
        </p:nvSpPr>
        <p:spPr>
          <a:xfrm>
            <a:off x="2807208" y="2066544"/>
            <a:ext cx="512064" cy="182880"/>
          </a:xfrm>
          <a:prstGeom prst="rect">
            <a:avLst/>
          </a:prstGeom>
          <a:solidFill>
            <a:srgbClr val="7FA6D6"/>
          </a:solidFill>
          <a:ln/>
        </p:spPr>
      </p:sp>
      <p:sp>
        <p:nvSpPr>
          <p:cNvPr id="42" name="Shape 38"/>
          <p:cNvSpPr/>
          <p:nvPr/>
        </p:nvSpPr>
        <p:spPr>
          <a:xfrm>
            <a:off x="3355848" y="2066544"/>
            <a:ext cx="512064" cy="182880"/>
          </a:xfrm>
          <a:prstGeom prst="rect">
            <a:avLst/>
          </a:prstGeom>
          <a:solidFill>
            <a:srgbClr val="C9DBF0"/>
          </a:solidFill>
          <a:ln/>
        </p:spPr>
      </p:sp>
      <p:sp>
        <p:nvSpPr>
          <p:cNvPr id="43" name="Shape 39"/>
          <p:cNvSpPr/>
          <p:nvPr/>
        </p:nvSpPr>
        <p:spPr>
          <a:xfrm>
            <a:off x="3904488" y="2066544"/>
            <a:ext cx="512064" cy="182880"/>
          </a:xfrm>
          <a:prstGeom prst="rect">
            <a:avLst/>
          </a:prstGeom>
          <a:solidFill>
            <a:srgbClr val="C9DBF0"/>
          </a:solidFill>
          <a:ln/>
        </p:spPr>
      </p:sp>
      <p:sp>
        <p:nvSpPr>
          <p:cNvPr id="44" name="Shape 40"/>
          <p:cNvSpPr/>
          <p:nvPr/>
        </p:nvSpPr>
        <p:spPr>
          <a:xfrm>
            <a:off x="4453128" y="2066544"/>
            <a:ext cx="512064" cy="182880"/>
          </a:xfrm>
          <a:prstGeom prst="rect">
            <a:avLst/>
          </a:prstGeom>
          <a:solidFill>
            <a:srgbClr val="7FA6D6"/>
          </a:solidFill>
          <a:ln/>
        </p:spPr>
      </p:sp>
      <p:sp>
        <p:nvSpPr>
          <p:cNvPr id="45" name="Shape 41"/>
          <p:cNvSpPr/>
          <p:nvPr/>
        </p:nvSpPr>
        <p:spPr>
          <a:xfrm>
            <a:off x="5001768" y="2066544"/>
            <a:ext cx="512064" cy="182880"/>
          </a:xfrm>
          <a:prstGeom prst="rect">
            <a:avLst/>
          </a:prstGeom>
          <a:solidFill>
            <a:srgbClr val="C9DBF0"/>
          </a:solidFill>
          <a:ln/>
        </p:spPr>
      </p:sp>
      <p:sp>
        <p:nvSpPr>
          <p:cNvPr id="46" name="Text 42"/>
          <p:cNvSpPr txBox="1"/>
          <p:nvPr/>
        </p:nvSpPr>
        <p:spPr>
          <a:xfrm>
            <a:off x="594360" y="2267712"/>
            <a:ext cx="548640" cy="219456"/>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S-108</a:t>
            </a:r>
            <a:endParaRPr lang="en-US" sz="900" dirty="0"/>
          </a:p>
        </p:txBody>
      </p:sp>
      <p:sp>
        <p:nvSpPr>
          <p:cNvPr id="47" name="Shape 43"/>
          <p:cNvSpPr/>
          <p:nvPr/>
        </p:nvSpPr>
        <p:spPr>
          <a:xfrm>
            <a:off x="1161288" y="2286000"/>
            <a:ext cx="512064" cy="182880"/>
          </a:xfrm>
          <a:prstGeom prst="rect">
            <a:avLst/>
          </a:prstGeom>
          <a:solidFill>
            <a:srgbClr val="7FA6D6"/>
          </a:solidFill>
          <a:ln/>
        </p:spPr>
      </p:sp>
      <p:sp>
        <p:nvSpPr>
          <p:cNvPr id="48" name="Shape 44"/>
          <p:cNvSpPr/>
          <p:nvPr/>
        </p:nvSpPr>
        <p:spPr>
          <a:xfrm>
            <a:off x="1709928" y="2286000"/>
            <a:ext cx="512064" cy="182880"/>
          </a:xfrm>
          <a:prstGeom prst="rect">
            <a:avLst/>
          </a:prstGeom>
          <a:solidFill>
            <a:srgbClr val="1F4A82"/>
          </a:solidFill>
          <a:ln/>
        </p:spPr>
      </p:sp>
      <p:sp>
        <p:nvSpPr>
          <p:cNvPr id="49" name="Shape 45"/>
          <p:cNvSpPr/>
          <p:nvPr/>
        </p:nvSpPr>
        <p:spPr>
          <a:xfrm>
            <a:off x="2258568" y="2286000"/>
            <a:ext cx="512064" cy="182880"/>
          </a:xfrm>
          <a:prstGeom prst="rect">
            <a:avLst/>
          </a:prstGeom>
          <a:solidFill>
            <a:srgbClr val="7FA6D6"/>
          </a:solidFill>
          <a:ln/>
        </p:spPr>
      </p:sp>
      <p:sp>
        <p:nvSpPr>
          <p:cNvPr id="50" name="Shape 46"/>
          <p:cNvSpPr/>
          <p:nvPr/>
        </p:nvSpPr>
        <p:spPr>
          <a:xfrm>
            <a:off x="2807208" y="2286000"/>
            <a:ext cx="512064" cy="182880"/>
          </a:xfrm>
          <a:prstGeom prst="rect">
            <a:avLst/>
          </a:prstGeom>
          <a:solidFill>
            <a:srgbClr val="7FA6D6"/>
          </a:solidFill>
          <a:ln/>
        </p:spPr>
      </p:sp>
      <p:sp>
        <p:nvSpPr>
          <p:cNvPr id="51" name="Shape 47"/>
          <p:cNvSpPr/>
          <p:nvPr/>
        </p:nvSpPr>
        <p:spPr>
          <a:xfrm>
            <a:off x="3355848" y="2286000"/>
            <a:ext cx="512064" cy="182880"/>
          </a:xfrm>
          <a:prstGeom prst="rect">
            <a:avLst/>
          </a:prstGeom>
          <a:solidFill>
            <a:srgbClr val="C9DBF0"/>
          </a:solidFill>
          <a:ln/>
        </p:spPr>
      </p:sp>
      <p:sp>
        <p:nvSpPr>
          <p:cNvPr id="52" name="Shape 48"/>
          <p:cNvSpPr/>
          <p:nvPr/>
        </p:nvSpPr>
        <p:spPr>
          <a:xfrm>
            <a:off x="3904488" y="2286000"/>
            <a:ext cx="512064" cy="182880"/>
          </a:xfrm>
          <a:prstGeom prst="rect">
            <a:avLst/>
          </a:prstGeom>
          <a:solidFill>
            <a:srgbClr val="1F4A82"/>
          </a:solidFill>
          <a:ln/>
        </p:spPr>
      </p:sp>
      <p:sp>
        <p:nvSpPr>
          <p:cNvPr id="53" name="Shape 49"/>
          <p:cNvSpPr/>
          <p:nvPr/>
        </p:nvSpPr>
        <p:spPr>
          <a:xfrm>
            <a:off x="4453128" y="2286000"/>
            <a:ext cx="512064" cy="182880"/>
          </a:xfrm>
          <a:prstGeom prst="rect">
            <a:avLst/>
          </a:prstGeom>
          <a:solidFill>
            <a:srgbClr val="EEF2F7"/>
          </a:solidFill>
          <a:ln/>
        </p:spPr>
      </p:sp>
      <p:sp>
        <p:nvSpPr>
          <p:cNvPr id="54" name="Shape 50"/>
          <p:cNvSpPr/>
          <p:nvPr/>
        </p:nvSpPr>
        <p:spPr>
          <a:xfrm>
            <a:off x="5001768" y="2286000"/>
            <a:ext cx="512064" cy="182880"/>
          </a:xfrm>
          <a:prstGeom prst="rect">
            <a:avLst/>
          </a:prstGeom>
          <a:solidFill>
            <a:srgbClr val="7FA6D6"/>
          </a:solidFill>
          <a:ln/>
        </p:spPr>
      </p:sp>
      <p:sp>
        <p:nvSpPr>
          <p:cNvPr id="55" name="Text 51"/>
          <p:cNvSpPr txBox="1"/>
          <p:nvPr/>
        </p:nvSpPr>
        <p:spPr>
          <a:xfrm>
            <a:off x="594360" y="2487168"/>
            <a:ext cx="548640" cy="219456"/>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S-115</a:t>
            </a:r>
            <a:endParaRPr lang="en-US" sz="900" dirty="0"/>
          </a:p>
        </p:txBody>
      </p:sp>
      <p:sp>
        <p:nvSpPr>
          <p:cNvPr id="56" name="Shape 52"/>
          <p:cNvSpPr/>
          <p:nvPr/>
        </p:nvSpPr>
        <p:spPr>
          <a:xfrm>
            <a:off x="1161288" y="2505456"/>
            <a:ext cx="512064" cy="182880"/>
          </a:xfrm>
          <a:prstGeom prst="rect">
            <a:avLst/>
          </a:prstGeom>
          <a:solidFill>
            <a:srgbClr val="C9DBF0"/>
          </a:solidFill>
          <a:ln/>
        </p:spPr>
      </p:sp>
      <p:sp>
        <p:nvSpPr>
          <p:cNvPr id="57" name="Shape 53"/>
          <p:cNvSpPr/>
          <p:nvPr/>
        </p:nvSpPr>
        <p:spPr>
          <a:xfrm>
            <a:off x="1709928" y="2505456"/>
            <a:ext cx="512064" cy="182880"/>
          </a:xfrm>
          <a:prstGeom prst="rect">
            <a:avLst/>
          </a:prstGeom>
          <a:solidFill>
            <a:srgbClr val="C9DBF0"/>
          </a:solidFill>
          <a:ln/>
        </p:spPr>
      </p:sp>
      <p:sp>
        <p:nvSpPr>
          <p:cNvPr id="58" name="Shape 54"/>
          <p:cNvSpPr/>
          <p:nvPr/>
        </p:nvSpPr>
        <p:spPr>
          <a:xfrm>
            <a:off x="2258568" y="2505456"/>
            <a:ext cx="512064" cy="182880"/>
          </a:xfrm>
          <a:prstGeom prst="rect">
            <a:avLst/>
          </a:prstGeom>
          <a:solidFill>
            <a:srgbClr val="7FA6D6"/>
          </a:solidFill>
          <a:ln/>
        </p:spPr>
      </p:sp>
      <p:sp>
        <p:nvSpPr>
          <p:cNvPr id="59" name="Shape 55"/>
          <p:cNvSpPr/>
          <p:nvPr/>
        </p:nvSpPr>
        <p:spPr>
          <a:xfrm>
            <a:off x="2807208" y="2505456"/>
            <a:ext cx="512064" cy="182880"/>
          </a:xfrm>
          <a:prstGeom prst="rect">
            <a:avLst/>
          </a:prstGeom>
          <a:solidFill>
            <a:srgbClr val="7FA6D6"/>
          </a:solidFill>
          <a:ln/>
        </p:spPr>
      </p:sp>
      <p:sp>
        <p:nvSpPr>
          <p:cNvPr id="60" name="Shape 56"/>
          <p:cNvSpPr/>
          <p:nvPr/>
        </p:nvSpPr>
        <p:spPr>
          <a:xfrm>
            <a:off x="3355848" y="2505456"/>
            <a:ext cx="512064" cy="182880"/>
          </a:xfrm>
          <a:prstGeom prst="rect">
            <a:avLst/>
          </a:prstGeom>
          <a:solidFill>
            <a:srgbClr val="C9DBF0"/>
          </a:solidFill>
          <a:ln/>
        </p:spPr>
      </p:sp>
      <p:sp>
        <p:nvSpPr>
          <p:cNvPr id="61" name="Shape 57"/>
          <p:cNvSpPr/>
          <p:nvPr/>
        </p:nvSpPr>
        <p:spPr>
          <a:xfrm>
            <a:off x="3904488" y="2505456"/>
            <a:ext cx="512064" cy="182880"/>
          </a:xfrm>
          <a:prstGeom prst="rect">
            <a:avLst/>
          </a:prstGeom>
          <a:solidFill>
            <a:srgbClr val="C9DBF0"/>
          </a:solidFill>
          <a:ln/>
        </p:spPr>
      </p:sp>
      <p:sp>
        <p:nvSpPr>
          <p:cNvPr id="62" name="Shape 58"/>
          <p:cNvSpPr/>
          <p:nvPr/>
        </p:nvSpPr>
        <p:spPr>
          <a:xfrm>
            <a:off x="4453128" y="2505456"/>
            <a:ext cx="512064" cy="182880"/>
          </a:xfrm>
          <a:prstGeom prst="rect">
            <a:avLst/>
          </a:prstGeom>
          <a:solidFill>
            <a:srgbClr val="C9DBF0"/>
          </a:solidFill>
          <a:ln/>
        </p:spPr>
      </p:sp>
      <p:sp>
        <p:nvSpPr>
          <p:cNvPr id="63" name="Shape 59"/>
          <p:cNvSpPr/>
          <p:nvPr/>
        </p:nvSpPr>
        <p:spPr>
          <a:xfrm>
            <a:off x="5001768" y="2505456"/>
            <a:ext cx="512064" cy="182880"/>
          </a:xfrm>
          <a:prstGeom prst="rect">
            <a:avLst/>
          </a:prstGeom>
          <a:solidFill>
            <a:srgbClr val="EEF2F7"/>
          </a:solidFill>
          <a:ln/>
        </p:spPr>
      </p:sp>
      <p:sp>
        <p:nvSpPr>
          <p:cNvPr id="64" name="Text 60"/>
          <p:cNvSpPr txBox="1"/>
          <p:nvPr/>
        </p:nvSpPr>
        <p:spPr>
          <a:xfrm>
            <a:off x="594360" y="2706624"/>
            <a:ext cx="548640" cy="219456"/>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S-122</a:t>
            </a:r>
            <a:endParaRPr lang="en-US" sz="900" dirty="0"/>
          </a:p>
        </p:txBody>
      </p:sp>
      <p:sp>
        <p:nvSpPr>
          <p:cNvPr id="65" name="Shape 61"/>
          <p:cNvSpPr/>
          <p:nvPr/>
        </p:nvSpPr>
        <p:spPr>
          <a:xfrm>
            <a:off x="1161288" y="2724912"/>
            <a:ext cx="512064" cy="182880"/>
          </a:xfrm>
          <a:prstGeom prst="rect">
            <a:avLst/>
          </a:prstGeom>
          <a:solidFill>
            <a:srgbClr val="EEF2F7"/>
          </a:solidFill>
          <a:ln/>
        </p:spPr>
      </p:sp>
      <p:sp>
        <p:nvSpPr>
          <p:cNvPr id="66" name="Shape 62"/>
          <p:cNvSpPr/>
          <p:nvPr/>
        </p:nvSpPr>
        <p:spPr>
          <a:xfrm>
            <a:off x="1709928" y="2724912"/>
            <a:ext cx="512064" cy="182880"/>
          </a:xfrm>
          <a:prstGeom prst="rect">
            <a:avLst/>
          </a:prstGeom>
          <a:solidFill>
            <a:srgbClr val="1F4A82"/>
          </a:solidFill>
          <a:ln/>
        </p:spPr>
      </p:sp>
      <p:sp>
        <p:nvSpPr>
          <p:cNvPr id="67" name="Shape 63"/>
          <p:cNvSpPr/>
          <p:nvPr/>
        </p:nvSpPr>
        <p:spPr>
          <a:xfrm>
            <a:off x="2258568" y="2724912"/>
            <a:ext cx="512064" cy="182880"/>
          </a:xfrm>
          <a:prstGeom prst="rect">
            <a:avLst/>
          </a:prstGeom>
          <a:solidFill>
            <a:srgbClr val="1F4A82"/>
          </a:solidFill>
          <a:ln/>
        </p:spPr>
      </p:sp>
      <p:sp>
        <p:nvSpPr>
          <p:cNvPr id="68" name="Shape 64"/>
          <p:cNvSpPr/>
          <p:nvPr/>
        </p:nvSpPr>
        <p:spPr>
          <a:xfrm>
            <a:off x="2807208" y="2724912"/>
            <a:ext cx="512064" cy="182880"/>
          </a:xfrm>
          <a:prstGeom prst="rect">
            <a:avLst/>
          </a:prstGeom>
          <a:solidFill>
            <a:srgbClr val="1F4A82"/>
          </a:solidFill>
          <a:ln/>
        </p:spPr>
      </p:sp>
      <p:sp>
        <p:nvSpPr>
          <p:cNvPr id="69" name="Shape 65"/>
          <p:cNvSpPr/>
          <p:nvPr/>
        </p:nvSpPr>
        <p:spPr>
          <a:xfrm>
            <a:off x="3355848" y="2724912"/>
            <a:ext cx="512064" cy="182880"/>
          </a:xfrm>
          <a:prstGeom prst="rect">
            <a:avLst/>
          </a:prstGeom>
          <a:solidFill>
            <a:srgbClr val="C9DBF0"/>
          </a:solidFill>
          <a:ln/>
        </p:spPr>
      </p:sp>
      <p:sp>
        <p:nvSpPr>
          <p:cNvPr id="70" name="Shape 66"/>
          <p:cNvSpPr/>
          <p:nvPr/>
        </p:nvSpPr>
        <p:spPr>
          <a:xfrm>
            <a:off x="3904488" y="2724912"/>
            <a:ext cx="512064" cy="182880"/>
          </a:xfrm>
          <a:prstGeom prst="rect">
            <a:avLst/>
          </a:prstGeom>
          <a:solidFill>
            <a:srgbClr val="7FA6D6"/>
          </a:solidFill>
          <a:ln/>
        </p:spPr>
      </p:sp>
      <p:sp>
        <p:nvSpPr>
          <p:cNvPr id="71" name="Shape 67"/>
          <p:cNvSpPr/>
          <p:nvPr/>
        </p:nvSpPr>
        <p:spPr>
          <a:xfrm>
            <a:off x="4453128" y="2724912"/>
            <a:ext cx="512064" cy="182880"/>
          </a:xfrm>
          <a:prstGeom prst="rect">
            <a:avLst/>
          </a:prstGeom>
          <a:solidFill>
            <a:srgbClr val="1F4A82"/>
          </a:solidFill>
          <a:ln/>
        </p:spPr>
      </p:sp>
      <p:sp>
        <p:nvSpPr>
          <p:cNvPr id="72" name="Shape 68"/>
          <p:cNvSpPr/>
          <p:nvPr/>
        </p:nvSpPr>
        <p:spPr>
          <a:xfrm>
            <a:off x="5001768" y="2724912"/>
            <a:ext cx="512064" cy="182880"/>
          </a:xfrm>
          <a:prstGeom prst="rect">
            <a:avLst/>
          </a:prstGeom>
          <a:solidFill>
            <a:srgbClr val="7FA6D6"/>
          </a:solidFill>
          <a:ln/>
        </p:spPr>
      </p:sp>
      <p:sp>
        <p:nvSpPr>
          <p:cNvPr id="73" name="Text 69"/>
          <p:cNvSpPr txBox="1"/>
          <p:nvPr/>
        </p:nvSpPr>
        <p:spPr>
          <a:xfrm>
            <a:off x="594360" y="2926080"/>
            <a:ext cx="548640" cy="219456"/>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S-129</a:t>
            </a:r>
            <a:endParaRPr lang="en-US" sz="900" dirty="0"/>
          </a:p>
        </p:txBody>
      </p:sp>
      <p:sp>
        <p:nvSpPr>
          <p:cNvPr id="74" name="Shape 70"/>
          <p:cNvSpPr/>
          <p:nvPr/>
        </p:nvSpPr>
        <p:spPr>
          <a:xfrm>
            <a:off x="1161288" y="2944368"/>
            <a:ext cx="512064" cy="182880"/>
          </a:xfrm>
          <a:prstGeom prst="rect">
            <a:avLst/>
          </a:prstGeom>
          <a:solidFill>
            <a:srgbClr val="7FA6D6"/>
          </a:solidFill>
          <a:ln/>
        </p:spPr>
      </p:sp>
      <p:sp>
        <p:nvSpPr>
          <p:cNvPr id="75" name="Shape 71"/>
          <p:cNvSpPr/>
          <p:nvPr/>
        </p:nvSpPr>
        <p:spPr>
          <a:xfrm>
            <a:off x="1709928" y="2944368"/>
            <a:ext cx="512064" cy="182880"/>
          </a:xfrm>
          <a:prstGeom prst="rect">
            <a:avLst/>
          </a:prstGeom>
          <a:solidFill>
            <a:srgbClr val="EEF2F7"/>
          </a:solidFill>
          <a:ln/>
        </p:spPr>
      </p:sp>
      <p:sp>
        <p:nvSpPr>
          <p:cNvPr id="76" name="Shape 72"/>
          <p:cNvSpPr/>
          <p:nvPr/>
        </p:nvSpPr>
        <p:spPr>
          <a:xfrm>
            <a:off x="2258568" y="2944368"/>
            <a:ext cx="512064" cy="182880"/>
          </a:xfrm>
          <a:prstGeom prst="rect">
            <a:avLst/>
          </a:prstGeom>
          <a:solidFill>
            <a:srgbClr val="7FA6D6"/>
          </a:solidFill>
          <a:ln/>
        </p:spPr>
      </p:sp>
      <p:sp>
        <p:nvSpPr>
          <p:cNvPr id="77" name="Shape 73"/>
          <p:cNvSpPr/>
          <p:nvPr/>
        </p:nvSpPr>
        <p:spPr>
          <a:xfrm>
            <a:off x="2807208" y="2944368"/>
            <a:ext cx="512064" cy="182880"/>
          </a:xfrm>
          <a:prstGeom prst="rect">
            <a:avLst/>
          </a:prstGeom>
          <a:solidFill>
            <a:srgbClr val="C9DBF0"/>
          </a:solidFill>
          <a:ln/>
        </p:spPr>
      </p:sp>
      <p:sp>
        <p:nvSpPr>
          <p:cNvPr id="78" name="Shape 74"/>
          <p:cNvSpPr/>
          <p:nvPr/>
        </p:nvSpPr>
        <p:spPr>
          <a:xfrm>
            <a:off x="3355848" y="2944368"/>
            <a:ext cx="512064" cy="182880"/>
          </a:xfrm>
          <a:prstGeom prst="rect">
            <a:avLst/>
          </a:prstGeom>
          <a:solidFill>
            <a:srgbClr val="C9DBF0"/>
          </a:solidFill>
          <a:ln/>
        </p:spPr>
      </p:sp>
      <p:sp>
        <p:nvSpPr>
          <p:cNvPr id="79" name="Shape 75"/>
          <p:cNvSpPr/>
          <p:nvPr/>
        </p:nvSpPr>
        <p:spPr>
          <a:xfrm>
            <a:off x="3904488" y="2944368"/>
            <a:ext cx="512064" cy="182880"/>
          </a:xfrm>
          <a:prstGeom prst="rect">
            <a:avLst/>
          </a:prstGeom>
          <a:solidFill>
            <a:srgbClr val="C9DBF0"/>
          </a:solidFill>
          <a:ln/>
        </p:spPr>
      </p:sp>
      <p:sp>
        <p:nvSpPr>
          <p:cNvPr id="80" name="Shape 76"/>
          <p:cNvSpPr/>
          <p:nvPr/>
        </p:nvSpPr>
        <p:spPr>
          <a:xfrm>
            <a:off x="4453128" y="2944368"/>
            <a:ext cx="512064" cy="182880"/>
          </a:xfrm>
          <a:prstGeom prst="rect">
            <a:avLst/>
          </a:prstGeom>
          <a:solidFill>
            <a:srgbClr val="C9DBF0"/>
          </a:solidFill>
          <a:ln/>
        </p:spPr>
      </p:sp>
      <p:sp>
        <p:nvSpPr>
          <p:cNvPr id="81" name="Shape 77"/>
          <p:cNvSpPr/>
          <p:nvPr/>
        </p:nvSpPr>
        <p:spPr>
          <a:xfrm>
            <a:off x="5001768" y="2944368"/>
            <a:ext cx="512064" cy="182880"/>
          </a:xfrm>
          <a:prstGeom prst="rect">
            <a:avLst/>
          </a:prstGeom>
          <a:solidFill>
            <a:srgbClr val="EEF2F7"/>
          </a:solidFill>
          <a:ln/>
        </p:spPr>
      </p:sp>
      <p:sp>
        <p:nvSpPr>
          <p:cNvPr id="82" name="Text 78"/>
          <p:cNvSpPr txBox="1"/>
          <p:nvPr/>
        </p:nvSpPr>
        <p:spPr>
          <a:xfrm>
            <a:off x="594360" y="3145536"/>
            <a:ext cx="548640" cy="219456"/>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S-136</a:t>
            </a:r>
            <a:endParaRPr lang="en-US" sz="900" dirty="0"/>
          </a:p>
        </p:txBody>
      </p:sp>
      <p:sp>
        <p:nvSpPr>
          <p:cNvPr id="83" name="Shape 79"/>
          <p:cNvSpPr/>
          <p:nvPr/>
        </p:nvSpPr>
        <p:spPr>
          <a:xfrm>
            <a:off x="1161288" y="3163824"/>
            <a:ext cx="512064" cy="182880"/>
          </a:xfrm>
          <a:prstGeom prst="rect">
            <a:avLst/>
          </a:prstGeom>
          <a:solidFill>
            <a:srgbClr val="7FA6D6"/>
          </a:solidFill>
          <a:ln/>
        </p:spPr>
      </p:sp>
      <p:sp>
        <p:nvSpPr>
          <p:cNvPr id="84" name="Shape 80"/>
          <p:cNvSpPr/>
          <p:nvPr/>
        </p:nvSpPr>
        <p:spPr>
          <a:xfrm>
            <a:off x="1709928" y="3163824"/>
            <a:ext cx="512064" cy="182880"/>
          </a:xfrm>
          <a:prstGeom prst="rect">
            <a:avLst/>
          </a:prstGeom>
          <a:solidFill>
            <a:srgbClr val="7FA6D6"/>
          </a:solidFill>
          <a:ln/>
        </p:spPr>
      </p:sp>
      <p:sp>
        <p:nvSpPr>
          <p:cNvPr id="85" name="Shape 81"/>
          <p:cNvSpPr/>
          <p:nvPr/>
        </p:nvSpPr>
        <p:spPr>
          <a:xfrm>
            <a:off x="2258568" y="3163824"/>
            <a:ext cx="512064" cy="182880"/>
          </a:xfrm>
          <a:prstGeom prst="rect">
            <a:avLst/>
          </a:prstGeom>
          <a:solidFill>
            <a:srgbClr val="7FA6D6"/>
          </a:solidFill>
          <a:ln/>
        </p:spPr>
      </p:sp>
      <p:sp>
        <p:nvSpPr>
          <p:cNvPr id="86" name="Shape 82"/>
          <p:cNvSpPr/>
          <p:nvPr/>
        </p:nvSpPr>
        <p:spPr>
          <a:xfrm>
            <a:off x="2807208" y="3163824"/>
            <a:ext cx="512064" cy="182880"/>
          </a:xfrm>
          <a:prstGeom prst="rect">
            <a:avLst/>
          </a:prstGeom>
          <a:solidFill>
            <a:srgbClr val="1F4A82"/>
          </a:solidFill>
          <a:ln/>
        </p:spPr>
      </p:sp>
      <p:sp>
        <p:nvSpPr>
          <p:cNvPr id="87" name="Shape 83"/>
          <p:cNvSpPr/>
          <p:nvPr/>
        </p:nvSpPr>
        <p:spPr>
          <a:xfrm>
            <a:off x="3355848" y="3163824"/>
            <a:ext cx="512064" cy="182880"/>
          </a:xfrm>
          <a:prstGeom prst="rect">
            <a:avLst/>
          </a:prstGeom>
          <a:solidFill>
            <a:srgbClr val="C9DBF0"/>
          </a:solidFill>
          <a:ln/>
        </p:spPr>
      </p:sp>
      <p:sp>
        <p:nvSpPr>
          <p:cNvPr id="88" name="Shape 84"/>
          <p:cNvSpPr/>
          <p:nvPr/>
        </p:nvSpPr>
        <p:spPr>
          <a:xfrm>
            <a:off x="3904488" y="3163824"/>
            <a:ext cx="512064" cy="182880"/>
          </a:xfrm>
          <a:prstGeom prst="rect">
            <a:avLst/>
          </a:prstGeom>
          <a:solidFill>
            <a:srgbClr val="7FA6D6"/>
          </a:solidFill>
          <a:ln/>
        </p:spPr>
      </p:sp>
      <p:sp>
        <p:nvSpPr>
          <p:cNvPr id="89" name="Shape 85"/>
          <p:cNvSpPr/>
          <p:nvPr/>
        </p:nvSpPr>
        <p:spPr>
          <a:xfrm>
            <a:off x="4453128" y="3163824"/>
            <a:ext cx="512064" cy="182880"/>
          </a:xfrm>
          <a:prstGeom prst="rect">
            <a:avLst/>
          </a:prstGeom>
          <a:solidFill>
            <a:srgbClr val="7FA6D6"/>
          </a:solidFill>
          <a:ln/>
        </p:spPr>
      </p:sp>
      <p:sp>
        <p:nvSpPr>
          <p:cNvPr id="90" name="Shape 86"/>
          <p:cNvSpPr/>
          <p:nvPr/>
        </p:nvSpPr>
        <p:spPr>
          <a:xfrm>
            <a:off x="5001768" y="3163824"/>
            <a:ext cx="512064" cy="182880"/>
          </a:xfrm>
          <a:prstGeom prst="rect">
            <a:avLst/>
          </a:prstGeom>
          <a:solidFill>
            <a:srgbClr val="7FA6D6"/>
          </a:solidFill>
          <a:ln/>
        </p:spPr>
      </p:sp>
      <p:sp>
        <p:nvSpPr>
          <p:cNvPr id="91" name="Text 87"/>
          <p:cNvSpPr txBox="1"/>
          <p:nvPr/>
        </p:nvSpPr>
        <p:spPr>
          <a:xfrm>
            <a:off x="594360" y="3364992"/>
            <a:ext cx="548640" cy="219456"/>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S-143</a:t>
            </a:r>
            <a:endParaRPr lang="en-US" sz="900" dirty="0"/>
          </a:p>
        </p:txBody>
      </p:sp>
      <p:sp>
        <p:nvSpPr>
          <p:cNvPr id="92" name="Shape 88"/>
          <p:cNvSpPr/>
          <p:nvPr/>
        </p:nvSpPr>
        <p:spPr>
          <a:xfrm>
            <a:off x="1161288" y="3383280"/>
            <a:ext cx="512064" cy="182880"/>
          </a:xfrm>
          <a:prstGeom prst="rect">
            <a:avLst/>
          </a:prstGeom>
          <a:solidFill>
            <a:srgbClr val="7FA6D6"/>
          </a:solidFill>
          <a:ln/>
        </p:spPr>
      </p:sp>
      <p:sp>
        <p:nvSpPr>
          <p:cNvPr id="93" name="Shape 89"/>
          <p:cNvSpPr/>
          <p:nvPr/>
        </p:nvSpPr>
        <p:spPr>
          <a:xfrm>
            <a:off x="1709928" y="3383280"/>
            <a:ext cx="512064" cy="182880"/>
          </a:xfrm>
          <a:prstGeom prst="rect">
            <a:avLst/>
          </a:prstGeom>
          <a:solidFill>
            <a:srgbClr val="7FA6D6"/>
          </a:solidFill>
          <a:ln/>
        </p:spPr>
      </p:sp>
      <p:sp>
        <p:nvSpPr>
          <p:cNvPr id="94" name="Shape 90"/>
          <p:cNvSpPr/>
          <p:nvPr/>
        </p:nvSpPr>
        <p:spPr>
          <a:xfrm>
            <a:off x="2258568" y="3383280"/>
            <a:ext cx="512064" cy="182880"/>
          </a:xfrm>
          <a:prstGeom prst="rect">
            <a:avLst/>
          </a:prstGeom>
          <a:solidFill>
            <a:srgbClr val="C9DBF0"/>
          </a:solidFill>
          <a:ln/>
        </p:spPr>
      </p:sp>
      <p:sp>
        <p:nvSpPr>
          <p:cNvPr id="95" name="Shape 91"/>
          <p:cNvSpPr/>
          <p:nvPr/>
        </p:nvSpPr>
        <p:spPr>
          <a:xfrm>
            <a:off x="2807208" y="3383280"/>
            <a:ext cx="512064" cy="182880"/>
          </a:xfrm>
          <a:prstGeom prst="rect">
            <a:avLst/>
          </a:prstGeom>
          <a:solidFill>
            <a:srgbClr val="7FA6D6"/>
          </a:solidFill>
          <a:ln/>
        </p:spPr>
      </p:sp>
      <p:sp>
        <p:nvSpPr>
          <p:cNvPr id="96" name="Shape 92"/>
          <p:cNvSpPr/>
          <p:nvPr/>
        </p:nvSpPr>
        <p:spPr>
          <a:xfrm>
            <a:off x="3355848" y="3383280"/>
            <a:ext cx="512064" cy="182880"/>
          </a:xfrm>
          <a:prstGeom prst="rect">
            <a:avLst/>
          </a:prstGeom>
          <a:solidFill>
            <a:srgbClr val="C9DBF0"/>
          </a:solidFill>
          <a:ln/>
        </p:spPr>
      </p:sp>
      <p:sp>
        <p:nvSpPr>
          <p:cNvPr id="97" name="Shape 93"/>
          <p:cNvSpPr/>
          <p:nvPr/>
        </p:nvSpPr>
        <p:spPr>
          <a:xfrm>
            <a:off x="3904488" y="3383280"/>
            <a:ext cx="512064" cy="182880"/>
          </a:xfrm>
          <a:prstGeom prst="rect">
            <a:avLst/>
          </a:prstGeom>
          <a:solidFill>
            <a:srgbClr val="EEF2F7"/>
          </a:solidFill>
          <a:ln/>
        </p:spPr>
      </p:sp>
      <p:sp>
        <p:nvSpPr>
          <p:cNvPr id="98" name="Shape 94"/>
          <p:cNvSpPr/>
          <p:nvPr/>
        </p:nvSpPr>
        <p:spPr>
          <a:xfrm>
            <a:off x="4453128" y="3383280"/>
            <a:ext cx="512064" cy="182880"/>
          </a:xfrm>
          <a:prstGeom prst="rect">
            <a:avLst/>
          </a:prstGeom>
          <a:solidFill>
            <a:srgbClr val="C9DBF0"/>
          </a:solidFill>
          <a:ln/>
        </p:spPr>
      </p:sp>
      <p:sp>
        <p:nvSpPr>
          <p:cNvPr id="99" name="Shape 95"/>
          <p:cNvSpPr/>
          <p:nvPr/>
        </p:nvSpPr>
        <p:spPr>
          <a:xfrm>
            <a:off x="5001768" y="3383280"/>
            <a:ext cx="512064" cy="182880"/>
          </a:xfrm>
          <a:prstGeom prst="rect">
            <a:avLst/>
          </a:prstGeom>
          <a:solidFill>
            <a:srgbClr val="7FA6D6"/>
          </a:solidFill>
          <a:ln/>
        </p:spPr>
      </p:sp>
      <p:sp>
        <p:nvSpPr>
          <p:cNvPr id="100" name="Text 96"/>
          <p:cNvSpPr txBox="1"/>
          <p:nvPr/>
        </p:nvSpPr>
        <p:spPr>
          <a:xfrm>
            <a:off x="594360" y="3584448"/>
            <a:ext cx="548640" cy="219456"/>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S-150</a:t>
            </a:r>
            <a:endParaRPr lang="en-US" sz="900" dirty="0"/>
          </a:p>
        </p:txBody>
      </p:sp>
      <p:sp>
        <p:nvSpPr>
          <p:cNvPr id="101" name="Shape 97"/>
          <p:cNvSpPr/>
          <p:nvPr/>
        </p:nvSpPr>
        <p:spPr>
          <a:xfrm>
            <a:off x="1161288" y="3602736"/>
            <a:ext cx="512064" cy="182880"/>
          </a:xfrm>
          <a:prstGeom prst="rect">
            <a:avLst/>
          </a:prstGeom>
          <a:solidFill>
            <a:srgbClr val="7FA6D6"/>
          </a:solidFill>
          <a:ln/>
        </p:spPr>
      </p:sp>
      <p:sp>
        <p:nvSpPr>
          <p:cNvPr id="102" name="Shape 98"/>
          <p:cNvSpPr/>
          <p:nvPr/>
        </p:nvSpPr>
        <p:spPr>
          <a:xfrm>
            <a:off x="1709928" y="3602736"/>
            <a:ext cx="512064" cy="182880"/>
          </a:xfrm>
          <a:prstGeom prst="rect">
            <a:avLst/>
          </a:prstGeom>
          <a:solidFill>
            <a:srgbClr val="7FA6D6"/>
          </a:solidFill>
          <a:ln/>
        </p:spPr>
      </p:sp>
      <p:sp>
        <p:nvSpPr>
          <p:cNvPr id="103" name="Shape 99"/>
          <p:cNvSpPr/>
          <p:nvPr/>
        </p:nvSpPr>
        <p:spPr>
          <a:xfrm>
            <a:off x="2258568" y="3602736"/>
            <a:ext cx="512064" cy="182880"/>
          </a:xfrm>
          <a:prstGeom prst="rect">
            <a:avLst/>
          </a:prstGeom>
          <a:solidFill>
            <a:srgbClr val="7FA6D6"/>
          </a:solidFill>
          <a:ln/>
        </p:spPr>
      </p:sp>
      <p:sp>
        <p:nvSpPr>
          <p:cNvPr id="104" name="Shape 100"/>
          <p:cNvSpPr/>
          <p:nvPr/>
        </p:nvSpPr>
        <p:spPr>
          <a:xfrm>
            <a:off x="2807208" y="3602736"/>
            <a:ext cx="512064" cy="182880"/>
          </a:xfrm>
          <a:prstGeom prst="rect">
            <a:avLst/>
          </a:prstGeom>
          <a:solidFill>
            <a:srgbClr val="C9DBF0"/>
          </a:solidFill>
          <a:ln/>
        </p:spPr>
      </p:sp>
      <p:sp>
        <p:nvSpPr>
          <p:cNvPr id="105" name="Shape 101"/>
          <p:cNvSpPr/>
          <p:nvPr/>
        </p:nvSpPr>
        <p:spPr>
          <a:xfrm>
            <a:off x="3355848" y="3602736"/>
            <a:ext cx="512064" cy="182880"/>
          </a:xfrm>
          <a:prstGeom prst="rect">
            <a:avLst/>
          </a:prstGeom>
          <a:solidFill>
            <a:srgbClr val="C9DBF0"/>
          </a:solidFill>
          <a:ln/>
        </p:spPr>
      </p:sp>
      <p:sp>
        <p:nvSpPr>
          <p:cNvPr id="106" name="Shape 102"/>
          <p:cNvSpPr/>
          <p:nvPr/>
        </p:nvSpPr>
        <p:spPr>
          <a:xfrm>
            <a:off x="3904488" y="3602736"/>
            <a:ext cx="512064" cy="182880"/>
          </a:xfrm>
          <a:prstGeom prst="rect">
            <a:avLst/>
          </a:prstGeom>
          <a:solidFill>
            <a:srgbClr val="7FA6D6"/>
          </a:solidFill>
          <a:ln/>
        </p:spPr>
      </p:sp>
      <p:sp>
        <p:nvSpPr>
          <p:cNvPr id="107" name="Shape 103"/>
          <p:cNvSpPr/>
          <p:nvPr/>
        </p:nvSpPr>
        <p:spPr>
          <a:xfrm>
            <a:off x="4453128" y="3602736"/>
            <a:ext cx="512064" cy="182880"/>
          </a:xfrm>
          <a:prstGeom prst="rect">
            <a:avLst/>
          </a:prstGeom>
          <a:solidFill>
            <a:srgbClr val="7FA6D6"/>
          </a:solidFill>
          <a:ln/>
        </p:spPr>
      </p:sp>
      <p:sp>
        <p:nvSpPr>
          <p:cNvPr id="108" name="Shape 104"/>
          <p:cNvSpPr/>
          <p:nvPr/>
        </p:nvSpPr>
        <p:spPr>
          <a:xfrm>
            <a:off x="5001768" y="3602736"/>
            <a:ext cx="512064" cy="182880"/>
          </a:xfrm>
          <a:prstGeom prst="rect">
            <a:avLst/>
          </a:prstGeom>
          <a:solidFill>
            <a:srgbClr val="7FA6D6"/>
          </a:solidFill>
          <a:ln/>
        </p:spPr>
      </p:sp>
      <p:sp>
        <p:nvSpPr>
          <p:cNvPr id="109" name="Text 105"/>
          <p:cNvSpPr txBox="1"/>
          <p:nvPr/>
        </p:nvSpPr>
        <p:spPr>
          <a:xfrm>
            <a:off x="594360" y="3803904"/>
            <a:ext cx="548640" cy="219456"/>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S-157</a:t>
            </a:r>
            <a:endParaRPr lang="en-US" sz="900" dirty="0"/>
          </a:p>
        </p:txBody>
      </p:sp>
      <p:sp>
        <p:nvSpPr>
          <p:cNvPr id="110" name="Shape 106"/>
          <p:cNvSpPr/>
          <p:nvPr/>
        </p:nvSpPr>
        <p:spPr>
          <a:xfrm>
            <a:off x="1161288" y="3822192"/>
            <a:ext cx="512064" cy="182880"/>
          </a:xfrm>
          <a:prstGeom prst="rect">
            <a:avLst/>
          </a:prstGeom>
          <a:solidFill>
            <a:srgbClr val="7FA6D6"/>
          </a:solidFill>
          <a:ln/>
        </p:spPr>
      </p:sp>
      <p:sp>
        <p:nvSpPr>
          <p:cNvPr id="111" name="Shape 107"/>
          <p:cNvSpPr/>
          <p:nvPr/>
        </p:nvSpPr>
        <p:spPr>
          <a:xfrm>
            <a:off x="1709928" y="3822192"/>
            <a:ext cx="512064" cy="182880"/>
          </a:xfrm>
          <a:prstGeom prst="rect">
            <a:avLst/>
          </a:prstGeom>
          <a:solidFill>
            <a:srgbClr val="7FA6D6"/>
          </a:solidFill>
          <a:ln/>
        </p:spPr>
      </p:sp>
      <p:sp>
        <p:nvSpPr>
          <p:cNvPr id="112" name="Shape 108"/>
          <p:cNvSpPr/>
          <p:nvPr/>
        </p:nvSpPr>
        <p:spPr>
          <a:xfrm>
            <a:off x="2258568" y="3822192"/>
            <a:ext cx="512064" cy="182880"/>
          </a:xfrm>
          <a:prstGeom prst="rect">
            <a:avLst/>
          </a:prstGeom>
          <a:solidFill>
            <a:srgbClr val="7FA6D6"/>
          </a:solidFill>
          <a:ln/>
        </p:spPr>
      </p:sp>
      <p:sp>
        <p:nvSpPr>
          <p:cNvPr id="113" name="Shape 109"/>
          <p:cNvSpPr/>
          <p:nvPr/>
        </p:nvSpPr>
        <p:spPr>
          <a:xfrm>
            <a:off x="2807208" y="3822192"/>
            <a:ext cx="512064" cy="182880"/>
          </a:xfrm>
          <a:prstGeom prst="rect">
            <a:avLst/>
          </a:prstGeom>
          <a:solidFill>
            <a:srgbClr val="7FA6D6"/>
          </a:solidFill>
          <a:ln/>
        </p:spPr>
      </p:sp>
      <p:sp>
        <p:nvSpPr>
          <p:cNvPr id="114" name="Shape 110"/>
          <p:cNvSpPr/>
          <p:nvPr/>
        </p:nvSpPr>
        <p:spPr>
          <a:xfrm>
            <a:off x="3355848" y="3822192"/>
            <a:ext cx="512064" cy="182880"/>
          </a:xfrm>
          <a:prstGeom prst="rect">
            <a:avLst/>
          </a:prstGeom>
          <a:solidFill>
            <a:srgbClr val="C9DBF0"/>
          </a:solidFill>
          <a:ln/>
        </p:spPr>
      </p:sp>
      <p:sp>
        <p:nvSpPr>
          <p:cNvPr id="115" name="Shape 111"/>
          <p:cNvSpPr/>
          <p:nvPr/>
        </p:nvSpPr>
        <p:spPr>
          <a:xfrm>
            <a:off x="3904488" y="3822192"/>
            <a:ext cx="512064" cy="182880"/>
          </a:xfrm>
          <a:prstGeom prst="rect">
            <a:avLst/>
          </a:prstGeom>
          <a:solidFill>
            <a:srgbClr val="7FA6D6"/>
          </a:solidFill>
          <a:ln/>
        </p:spPr>
      </p:sp>
      <p:sp>
        <p:nvSpPr>
          <p:cNvPr id="116" name="Shape 112"/>
          <p:cNvSpPr/>
          <p:nvPr/>
        </p:nvSpPr>
        <p:spPr>
          <a:xfrm>
            <a:off x="4453128" y="3822192"/>
            <a:ext cx="512064" cy="182880"/>
          </a:xfrm>
          <a:prstGeom prst="rect">
            <a:avLst/>
          </a:prstGeom>
          <a:solidFill>
            <a:srgbClr val="7FA6D6"/>
          </a:solidFill>
          <a:ln/>
        </p:spPr>
      </p:sp>
      <p:sp>
        <p:nvSpPr>
          <p:cNvPr id="117" name="Shape 113"/>
          <p:cNvSpPr/>
          <p:nvPr/>
        </p:nvSpPr>
        <p:spPr>
          <a:xfrm>
            <a:off x="5001768" y="3822192"/>
            <a:ext cx="512064" cy="182880"/>
          </a:xfrm>
          <a:prstGeom prst="rect">
            <a:avLst/>
          </a:prstGeom>
          <a:solidFill>
            <a:srgbClr val="7FA6D6"/>
          </a:solidFill>
          <a:ln/>
        </p:spPr>
      </p:sp>
      <p:sp>
        <p:nvSpPr>
          <p:cNvPr id="118" name="Shape 114"/>
          <p:cNvSpPr/>
          <p:nvPr/>
        </p:nvSpPr>
        <p:spPr>
          <a:xfrm>
            <a:off x="3342132" y="2029968"/>
            <a:ext cx="539496" cy="2011680"/>
          </a:xfrm>
          <a:prstGeom prst="roundRect">
            <a:avLst>
              <a:gd name="adj" fmla="val 10169"/>
            </a:avLst>
          </a:prstGeom>
          <a:ln w="25400">
            <a:solidFill>
              <a:srgbClr val="17325C"/>
            </a:solidFill>
            <a:prstDash val="solid"/>
          </a:ln>
        </p:spPr>
      </p:sp>
      <p:sp>
        <p:nvSpPr>
          <p:cNvPr id="119" name="Shape 115"/>
          <p:cNvSpPr/>
          <p:nvPr/>
        </p:nvSpPr>
        <p:spPr>
          <a:xfrm>
            <a:off x="612648" y="4160520"/>
            <a:ext cx="182880" cy="182880"/>
          </a:xfrm>
          <a:prstGeom prst="rect">
            <a:avLst/>
          </a:prstGeom>
          <a:solidFill>
            <a:srgbClr val="EEF2F7"/>
          </a:solidFill>
          <a:ln/>
        </p:spPr>
      </p:sp>
      <p:sp>
        <p:nvSpPr>
          <p:cNvPr id="120" name="Text 116"/>
          <p:cNvSpPr txBox="1"/>
          <p:nvPr/>
        </p:nvSpPr>
        <p:spPr>
          <a:xfrm>
            <a:off x="868680" y="4096512"/>
            <a:ext cx="1371600" cy="310896"/>
          </a:xfrm>
          <a:prstGeom prst="rect">
            <a:avLst/>
          </a:prstGeom>
          <a:noFill/>
          <a:ln/>
        </p:spPr>
        <p:txBody>
          <a:bodyPr wrap="square" lIns="0" tIns="0" rIns="0" bIns="0" rtlCol="0" anchor="ctr"/>
          <a:lstStyle/>
          <a:p>
            <a:pPr algn="l" indent="0" marL="0">
              <a:buNone/>
            </a:pPr>
            <a:r>
              <a:rPr lang="en-US" sz="1100" dirty="0">
                <a:solidFill>
                  <a:srgbClr val="5B6573"/>
                </a:solidFill>
                <a:latin typeface="Calibri" pitchFamily="34" charset="0"/>
                <a:ea typeface="Calibri" pitchFamily="34" charset="-122"/>
                <a:cs typeface="Calibri" pitchFamily="34" charset="-120"/>
              </a:rPr>
              <a:t>Not enough data</a:t>
            </a:r>
            <a:endParaRPr lang="en-US" sz="1100" dirty="0"/>
          </a:p>
        </p:txBody>
      </p:sp>
      <p:sp>
        <p:nvSpPr>
          <p:cNvPr id="121" name="Shape 117"/>
          <p:cNvSpPr/>
          <p:nvPr/>
        </p:nvSpPr>
        <p:spPr>
          <a:xfrm>
            <a:off x="2263140" y="4160520"/>
            <a:ext cx="182880" cy="182880"/>
          </a:xfrm>
          <a:prstGeom prst="rect">
            <a:avLst/>
          </a:prstGeom>
          <a:solidFill>
            <a:srgbClr val="C9DBF0"/>
          </a:solidFill>
          <a:ln/>
        </p:spPr>
      </p:sp>
      <p:sp>
        <p:nvSpPr>
          <p:cNvPr id="122" name="Text 118"/>
          <p:cNvSpPr txBox="1"/>
          <p:nvPr/>
        </p:nvSpPr>
        <p:spPr>
          <a:xfrm>
            <a:off x="2519172" y="4096512"/>
            <a:ext cx="1371600" cy="310896"/>
          </a:xfrm>
          <a:prstGeom prst="rect">
            <a:avLst/>
          </a:prstGeom>
          <a:noFill/>
          <a:ln/>
        </p:spPr>
        <p:txBody>
          <a:bodyPr wrap="square" lIns="0" tIns="0" rIns="0" bIns="0" rtlCol="0" anchor="ctr"/>
          <a:lstStyle/>
          <a:p>
            <a:pPr algn="l" indent="0" marL="0">
              <a:buNone/>
            </a:pPr>
            <a:r>
              <a:rPr lang="en-US" sz="1100" dirty="0">
                <a:solidFill>
                  <a:srgbClr val="5B6573"/>
                </a:solidFill>
                <a:latin typeface="Calibri" pitchFamily="34" charset="0"/>
                <a:ea typeface="Calibri" pitchFamily="34" charset="-122"/>
                <a:cs typeface="Calibri" pitchFamily="34" charset="-120"/>
              </a:rPr>
              <a:t>Building</a:t>
            </a:r>
            <a:endParaRPr lang="en-US" sz="1100" dirty="0"/>
          </a:p>
        </p:txBody>
      </p:sp>
      <p:sp>
        <p:nvSpPr>
          <p:cNvPr id="123" name="Shape 119"/>
          <p:cNvSpPr/>
          <p:nvPr/>
        </p:nvSpPr>
        <p:spPr>
          <a:xfrm>
            <a:off x="3369564" y="4160520"/>
            <a:ext cx="182880" cy="182880"/>
          </a:xfrm>
          <a:prstGeom prst="rect">
            <a:avLst/>
          </a:prstGeom>
          <a:solidFill>
            <a:srgbClr val="7FA6D6"/>
          </a:solidFill>
          <a:ln/>
        </p:spPr>
      </p:sp>
      <p:sp>
        <p:nvSpPr>
          <p:cNvPr id="124" name="Text 120"/>
          <p:cNvSpPr txBox="1"/>
          <p:nvPr/>
        </p:nvSpPr>
        <p:spPr>
          <a:xfrm>
            <a:off x="3625596" y="4096512"/>
            <a:ext cx="1371600" cy="310896"/>
          </a:xfrm>
          <a:prstGeom prst="rect">
            <a:avLst/>
          </a:prstGeom>
          <a:noFill/>
          <a:ln/>
        </p:spPr>
        <p:txBody>
          <a:bodyPr wrap="square" lIns="0" tIns="0" rIns="0" bIns="0" rtlCol="0" anchor="ctr"/>
          <a:lstStyle/>
          <a:p>
            <a:pPr algn="l" indent="0" marL="0">
              <a:buNone/>
            </a:pPr>
            <a:r>
              <a:rPr lang="en-US" sz="1100" dirty="0">
                <a:solidFill>
                  <a:srgbClr val="5B6573"/>
                </a:solidFill>
                <a:latin typeface="Calibri" pitchFamily="34" charset="0"/>
                <a:ea typeface="Calibri" pitchFamily="34" charset="-122"/>
                <a:cs typeface="Calibri" pitchFamily="34" charset="-120"/>
              </a:rPr>
              <a:t>Steady</a:t>
            </a:r>
            <a:endParaRPr lang="en-US" sz="1100" dirty="0"/>
          </a:p>
        </p:txBody>
      </p:sp>
      <p:sp>
        <p:nvSpPr>
          <p:cNvPr id="125" name="Shape 121"/>
          <p:cNvSpPr/>
          <p:nvPr/>
        </p:nvSpPr>
        <p:spPr>
          <a:xfrm>
            <a:off x="4320540" y="4160520"/>
            <a:ext cx="182880" cy="182880"/>
          </a:xfrm>
          <a:prstGeom prst="rect">
            <a:avLst/>
          </a:prstGeom>
          <a:solidFill>
            <a:srgbClr val="1F4A82"/>
          </a:solidFill>
          <a:ln/>
        </p:spPr>
      </p:sp>
      <p:sp>
        <p:nvSpPr>
          <p:cNvPr id="126" name="Text 122"/>
          <p:cNvSpPr txBox="1"/>
          <p:nvPr/>
        </p:nvSpPr>
        <p:spPr>
          <a:xfrm>
            <a:off x="4576572" y="4096512"/>
            <a:ext cx="1371600" cy="310896"/>
          </a:xfrm>
          <a:prstGeom prst="rect">
            <a:avLst/>
          </a:prstGeom>
          <a:noFill/>
          <a:ln/>
        </p:spPr>
        <p:txBody>
          <a:bodyPr wrap="square" lIns="0" tIns="0" rIns="0" bIns="0" rtlCol="0" anchor="ctr"/>
          <a:lstStyle/>
          <a:p>
            <a:pPr algn="l" indent="0" marL="0">
              <a:buNone/>
            </a:pPr>
            <a:r>
              <a:rPr lang="en-US" sz="1100" dirty="0">
                <a:solidFill>
                  <a:srgbClr val="5B6573"/>
                </a:solidFill>
                <a:latin typeface="Calibri" pitchFamily="34" charset="0"/>
                <a:ea typeface="Calibri" pitchFamily="34" charset="-122"/>
                <a:cs typeface="Calibri" pitchFamily="34" charset="-120"/>
              </a:rPr>
              <a:t>Strong</a:t>
            </a:r>
            <a:endParaRPr lang="en-US" sz="1100" dirty="0"/>
          </a:p>
        </p:txBody>
      </p:sp>
      <p:sp>
        <p:nvSpPr>
          <p:cNvPr id="127" name="Shape 123"/>
          <p:cNvSpPr/>
          <p:nvPr/>
        </p:nvSpPr>
        <p:spPr>
          <a:xfrm>
            <a:off x="3657600" y="1426464"/>
            <a:ext cx="256032" cy="256032"/>
          </a:xfrm>
          <a:prstGeom prst="ellipse">
            <a:avLst/>
          </a:prstGeom>
          <a:solidFill>
            <a:srgbClr val="1F4A82"/>
          </a:solidFill>
          <a:ln w="19050">
            <a:solidFill>
              <a:srgbClr val="FFFFFF"/>
            </a:solidFill>
            <a:prstDash val="solid"/>
          </a:ln>
        </p:spPr>
      </p:sp>
      <p:sp>
        <p:nvSpPr>
          <p:cNvPr id="128" name="Text 124"/>
          <p:cNvSpPr txBox="1"/>
          <p:nvPr/>
        </p:nvSpPr>
        <p:spPr>
          <a:xfrm>
            <a:off x="3657600" y="142646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9" name="Shape 125"/>
          <p:cNvSpPr/>
          <p:nvPr/>
        </p:nvSpPr>
        <p:spPr>
          <a:xfrm>
            <a:off x="5074920" y="4069080"/>
            <a:ext cx="256032" cy="256032"/>
          </a:xfrm>
          <a:prstGeom prst="ellipse">
            <a:avLst/>
          </a:prstGeom>
          <a:solidFill>
            <a:srgbClr val="1F4A82"/>
          </a:solidFill>
          <a:ln w="19050">
            <a:solidFill>
              <a:srgbClr val="FFFFFF"/>
            </a:solidFill>
            <a:prstDash val="solid"/>
          </a:ln>
        </p:spPr>
      </p:sp>
      <p:sp>
        <p:nvSpPr>
          <p:cNvPr id="130" name="Text 126"/>
          <p:cNvSpPr txBox="1"/>
          <p:nvPr/>
        </p:nvSpPr>
        <p:spPr>
          <a:xfrm>
            <a:off x="5074920" y="406908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1" name="Shape 127"/>
          <p:cNvSpPr/>
          <p:nvPr/>
        </p:nvSpPr>
        <p:spPr>
          <a:xfrm>
            <a:off x="411480" y="4617720"/>
            <a:ext cx="219456" cy="219456"/>
          </a:xfrm>
          <a:prstGeom prst="ellipse">
            <a:avLst/>
          </a:prstGeom>
          <a:solidFill>
            <a:srgbClr val="1F4A82"/>
          </a:solidFill>
          <a:ln w="19050">
            <a:solidFill>
              <a:srgbClr val="FFFFFF"/>
            </a:solidFill>
            <a:prstDash val="solid"/>
          </a:ln>
        </p:spPr>
      </p:sp>
      <p:sp>
        <p:nvSpPr>
          <p:cNvPr id="132" name="Text 128"/>
          <p:cNvSpPr txBox="1"/>
          <p:nvPr/>
        </p:nvSpPr>
        <p:spPr>
          <a:xfrm>
            <a:off x="411480" y="4617720"/>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3" name="Text 129"/>
          <p:cNvSpPr txBox="1"/>
          <p:nvPr/>
        </p:nvSpPr>
        <p:spPr>
          <a:xfrm>
            <a:off x="722376" y="4572000"/>
            <a:ext cx="4846320" cy="310896"/>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A column low for the whole batch: probably not taught yet, not weak students.</a:t>
            </a:r>
            <a:endParaRPr lang="en-US" sz="900" dirty="0"/>
          </a:p>
        </p:txBody>
      </p:sp>
      <p:sp>
        <p:nvSpPr>
          <p:cNvPr id="134" name="Shape 130"/>
          <p:cNvSpPr/>
          <p:nvPr/>
        </p:nvSpPr>
        <p:spPr>
          <a:xfrm>
            <a:off x="411480" y="4946904"/>
            <a:ext cx="219456" cy="219456"/>
          </a:xfrm>
          <a:prstGeom prst="ellipse">
            <a:avLst/>
          </a:prstGeom>
          <a:solidFill>
            <a:srgbClr val="1F4A82"/>
          </a:solidFill>
          <a:ln w="19050">
            <a:solidFill>
              <a:srgbClr val="FFFFFF"/>
            </a:solidFill>
            <a:prstDash val="solid"/>
          </a:ln>
        </p:spPr>
      </p:sp>
      <p:sp>
        <p:nvSpPr>
          <p:cNvPr id="135" name="Text 131"/>
          <p:cNvSpPr txBox="1"/>
          <p:nvPr/>
        </p:nvSpPr>
        <p:spPr>
          <a:xfrm>
            <a:off x="411480" y="4946904"/>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6" name="Text 132"/>
          <p:cNvSpPr txBox="1"/>
          <p:nvPr/>
        </p:nvSpPr>
        <p:spPr>
          <a:xfrm>
            <a:off x="722376" y="4901184"/>
            <a:ext cx="4846320" cy="310896"/>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Bands, not scores: building, steady, strong, or “not enough data”.</a:t>
            </a:r>
            <a:endParaRPr lang="en-US" sz="900" dirty="0"/>
          </a:p>
        </p:txBody>
      </p:sp>
      <p:sp>
        <p:nvSpPr>
          <p:cNvPr id="137" name="Shape 133"/>
          <p:cNvSpPr/>
          <p:nvPr/>
        </p:nvSpPr>
        <p:spPr>
          <a:xfrm>
            <a:off x="411480" y="5276088"/>
            <a:ext cx="219456" cy="219456"/>
          </a:xfrm>
          <a:prstGeom prst="ellipse">
            <a:avLst/>
          </a:prstGeom>
          <a:solidFill>
            <a:srgbClr val="1F4A82"/>
          </a:solidFill>
          <a:ln w="19050">
            <a:solidFill>
              <a:srgbClr val="FFFFFF"/>
            </a:solidFill>
            <a:prstDash val="solid"/>
          </a:ln>
        </p:spPr>
      </p:sp>
      <p:sp>
        <p:nvSpPr>
          <p:cNvPr id="138" name="Text 134"/>
          <p:cNvSpPr txBox="1"/>
          <p:nvPr/>
        </p:nvSpPr>
        <p:spPr>
          <a:xfrm>
            <a:off x="411480" y="5276088"/>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9" name="Text 135"/>
          <p:cNvSpPr txBox="1"/>
          <p:nvPr/>
        </p:nvSpPr>
        <p:spPr>
          <a:xfrm>
            <a:off x="722376" y="5230368"/>
            <a:ext cx="4846320" cy="310896"/>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A question the best students miss is flagged as a likely wrong key.</a:t>
            </a:r>
            <a:endParaRPr lang="en-US" sz="900" dirty="0"/>
          </a:p>
        </p:txBody>
      </p:sp>
      <p:sp>
        <p:nvSpPr>
          <p:cNvPr id="140" name="Text 136"/>
          <p:cNvSpPr txBox="1"/>
          <p:nvPr/>
        </p:nvSpPr>
        <p:spPr>
          <a:xfrm>
            <a:off x="411480" y="5650992"/>
            <a:ext cx="3657600" cy="201168"/>
          </a:xfrm>
          <a:prstGeom prst="rect">
            <a:avLst/>
          </a:prstGeom>
          <a:noFill/>
          <a:ln/>
        </p:spPr>
        <p:txBody>
          <a:bodyPr wrap="square" lIns="0" tIns="0" rIns="0" bIns="0" rtlCol="0" anchor="t"/>
          <a:lstStyle/>
          <a:p>
            <a:pPr algn="l" indent="0" marL="0">
              <a:buNone/>
            </a:pPr>
            <a:r>
              <a:rPr lang="en-US" sz="850" b="1" spc="80" kern="0" dirty="0">
                <a:solidFill>
                  <a:srgbClr val="1F4A82"/>
                </a:solidFill>
                <a:latin typeface="Calibri" pitchFamily="34" charset="0"/>
                <a:ea typeface="Calibri" pitchFamily="34" charset="-122"/>
                <a:cs typeface="Calibri" pitchFamily="34" charset="-120"/>
              </a:rPr>
              <a:t>WHY A 60-STUDENT BATCH IS ENOUGH</a:t>
            </a:r>
            <a:endParaRPr lang="en-US" sz="850" dirty="0"/>
          </a:p>
        </p:txBody>
      </p:sp>
      <p:sp>
        <p:nvSpPr>
          <p:cNvPr id="141" name="Shape 137"/>
          <p:cNvSpPr/>
          <p:nvPr/>
        </p:nvSpPr>
        <p:spPr>
          <a:xfrm>
            <a:off x="411480" y="5897880"/>
            <a:ext cx="841248" cy="219456"/>
          </a:xfrm>
          <a:prstGeom prst="roundRect">
            <a:avLst>
              <a:gd name="adj" fmla="val 50000"/>
            </a:avLst>
          </a:prstGeom>
          <a:solidFill>
            <a:srgbClr val="E3ECF7"/>
          </a:solidFill>
          <a:ln/>
        </p:spPr>
      </p:sp>
      <p:sp>
        <p:nvSpPr>
          <p:cNvPr id="142" name="Text 138"/>
          <p:cNvSpPr txBox="1"/>
          <p:nvPr/>
        </p:nvSpPr>
        <p:spPr>
          <a:xfrm>
            <a:off x="411480" y="5897880"/>
            <a:ext cx="841248" cy="219456"/>
          </a:xfrm>
          <a:prstGeom prst="rect">
            <a:avLst/>
          </a:prstGeom>
          <a:noFill/>
          <a:ln/>
        </p:spPr>
        <p:txBody>
          <a:bodyPr wrap="square" lIns="0" tIns="0" rIns="0" bIns="0" rtlCol="0" anchor="ctr"/>
          <a:lstStyle/>
          <a:p>
            <a:pPr algn="ctr" indent="0" marL="0">
              <a:buNone/>
            </a:pPr>
            <a:r>
              <a:rPr lang="en-US" sz="850" dirty="0">
                <a:solidFill>
                  <a:srgbClr val="17325C"/>
                </a:solidFill>
                <a:latin typeface="Calibri" pitchFamily="34" charset="0"/>
                <a:ea typeface="Calibri" pitchFamily="34" charset="-122"/>
                <a:cs typeface="Calibri" pitchFamily="34" charset="-120"/>
              </a:rPr>
              <a:t>Institute A</a:t>
            </a:r>
            <a:endParaRPr lang="en-US" sz="850" dirty="0"/>
          </a:p>
        </p:txBody>
      </p:sp>
      <p:sp>
        <p:nvSpPr>
          <p:cNvPr id="143" name="Shape 139"/>
          <p:cNvSpPr/>
          <p:nvPr/>
        </p:nvSpPr>
        <p:spPr>
          <a:xfrm>
            <a:off x="1325880" y="5897880"/>
            <a:ext cx="841248" cy="219456"/>
          </a:xfrm>
          <a:prstGeom prst="roundRect">
            <a:avLst>
              <a:gd name="adj" fmla="val 50000"/>
            </a:avLst>
          </a:prstGeom>
          <a:solidFill>
            <a:srgbClr val="E3ECF7"/>
          </a:solidFill>
          <a:ln/>
        </p:spPr>
      </p:sp>
      <p:sp>
        <p:nvSpPr>
          <p:cNvPr id="144" name="Text 140"/>
          <p:cNvSpPr txBox="1"/>
          <p:nvPr/>
        </p:nvSpPr>
        <p:spPr>
          <a:xfrm>
            <a:off x="1325880" y="5897880"/>
            <a:ext cx="841248" cy="219456"/>
          </a:xfrm>
          <a:prstGeom prst="rect">
            <a:avLst/>
          </a:prstGeom>
          <a:noFill/>
          <a:ln/>
        </p:spPr>
        <p:txBody>
          <a:bodyPr wrap="square" lIns="0" tIns="0" rIns="0" bIns="0" rtlCol="0" anchor="ctr"/>
          <a:lstStyle/>
          <a:p>
            <a:pPr algn="ctr" indent="0" marL="0">
              <a:buNone/>
            </a:pPr>
            <a:r>
              <a:rPr lang="en-US" sz="850" dirty="0">
                <a:solidFill>
                  <a:srgbClr val="17325C"/>
                </a:solidFill>
                <a:latin typeface="Calibri" pitchFamily="34" charset="0"/>
                <a:ea typeface="Calibri" pitchFamily="34" charset="-122"/>
                <a:cs typeface="Calibri" pitchFamily="34" charset="-120"/>
              </a:rPr>
              <a:t>Institute B</a:t>
            </a:r>
            <a:endParaRPr lang="en-US" sz="850" dirty="0"/>
          </a:p>
        </p:txBody>
      </p:sp>
      <p:sp>
        <p:nvSpPr>
          <p:cNvPr id="145" name="Shape 141"/>
          <p:cNvSpPr/>
          <p:nvPr/>
        </p:nvSpPr>
        <p:spPr>
          <a:xfrm>
            <a:off x="2240280" y="5897880"/>
            <a:ext cx="841248" cy="219456"/>
          </a:xfrm>
          <a:prstGeom prst="roundRect">
            <a:avLst>
              <a:gd name="adj" fmla="val 50000"/>
            </a:avLst>
          </a:prstGeom>
          <a:solidFill>
            <a:srgbClr val="E3ECF7"/>
          </a:solidFill>
          <a:ln/>
        </p:spPr>
      </p:sp>
      <p:sp>
        <p:nvSpPr>
          <p:cNvPr id="146" name="Text 142"/>
          <p:cNvSpPr txBox="1"/>
          <p:nvPr/>
        </p:nvSpPr>
        <p:spPr>
          <a:xfrm>
            <a:off x="2240280" y="5897880"/>
            <a:ext cx="841248" cy="219456"/>
          </a:xfrm>
          <a:prstGeom prst="rect">
            <a:avLst/>
          </a:prstGeom>
          <a:noFill/>
          <a:ln/>
        </p:spPr>
        <p:txBody>
          <a:bodyPr wrap="square" lIns="0" tIns="0" rIns="0" bIns="0" rtlCol="0" anchor="ctr"/>
          <a:lstStyle/>
          <a:p>
            <a:pPr algn="ctr" indent="0" marL="0">
              <a:buNone/>
            </a:pPr>
            <a:r>
              <a:rPr lang="en-US" sz="850" dirty="0">
                <a:solidFill>
                  <a:srgbClr val="17325C"/>
                </a:solidFill>
                <a:latin typeface="Calibri" pitchFamily="34" charset="0"/>
                <a:ea typeface="Calibri" pitchFamily="34" charset="-122"/>
                <a:cs typeface="Calibri" pitchFamily="34" charset="-120"/>
              </a:rPr>
              <a:t>Institute C</a:t>
            </a:r>
            <a:endParaRPr lang="en-US" sz="850" dirty="0"/>
          </a:p>
        </p:txBody>
      </p:sp>
      <p:sp>
        <p:nvSpPr>
          <p:cNvPr id="147" name="Shape 143"/>
          <p:cNvSpPr/>
          <p:nvPr/>
        </p:nvSpPr>
        <p:spPr>
          <a:xfrm>
            <a:off x="3154680" y="6007608"/>
            <a:ext cx="457200" cy="0"/>
          </a:xfrm>
          <a:prstGeom prst="line">
            <a:avLst/>
          </a:prstGeom>
          <a:noFill/>
          <a:ln w="25400">
            <a:solidFill>
              <a:srgbClr val="1F4A82"/>
            </a:solidFill>
            <a:prstDash val="solid"/>
            <a:tailEnd type="triangle"/>
          </a:ln>
        </p:spPr>
      </p:sp>
      <p:sp>
        <p:nvSpPr>
          <p:cNvPr id="148" name="Shape 144"/>
          <p:cNvSpPr/>
          <p:nvPr/>
        </p:nvSpPr>
        <p:spPr>
          <a:xfrm>
            <a:off x="3657600" y="5897880"/>
            <a:ext cx="1097280" cy="219456"/>
          </a:xfrm>
          <a:prstGeom prst="roundRect">
            <a:avLst>
              <a:gd name="adj" fmla="val 50000"/>
            </a:avLst>
          </a:prstGeom>
          <a:solidFill>
            <a:srgbClr val="1F4A82"/>
          </a:solidFill>
          <a:ln/>
        </p:spPr>
      </p:sp>
      <p:sp>
        <p:nvSpPr>
          <p:cNvPr id="149" name="Text 145"/>
          <p:cNvSpPr txBox="1"/>
          <p:nvPr/>
        </p:nvSpPr>
        <p:spPr>
          <a:xfrm>
            <a:off x="3657600" y="5897880"/>
            <a:ext cx="109728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Shared item bank</a:t>
            </a:r>
            <a:endParaRPr lang="en-US" sz="850" dirty="0"/>
          </a:p>
        </p:txBody>
      </p:sp>
      <p:sp>
        <p:nvSpPr>
          <p:cNvPr id="150" name="Shape 146"/>
          <p:cNvSpPr/>
          <p:nvPr/>
        </p:nvSpPr>
        <p:spPr>
          <a:xfrm>
            <a:off x="4846320" y="5907024"/>
            <a:ext cx="637794" cy="201168"/>
          </a:xfrm>
          <a:prstGeom prst="roundRect">
            <a:avLst>
              <a:gd name="adj" fmla="val 50000"/>
            </a:avLst>
          </a:prstGeom>
          <a:solidFill>
            <a:srgbClr val="D4A24C"/>
          </a:solidFill>
          <a:ln/>
        </p:spPr>
      </p:sp>
      <p:sp>
        <p:nvSpPr>
          <p:cNvPr id="151" name="Text 147"/>
          <p:cNvSpPr txBox="1"/>
          <p:nvPr/>
        </p:nvSpPr>
        <p:spPr>
          <a:xfrm>
            <a:off x="4846320" y="5907024"/>
            <a:ext cx="637794" cy="201168"/>
          </a:xfrm>
          <a:prstGeom prst="rect">
            <a:avLst/>
          </a:prstGeom>
          <a:noFill/>
          <a:ln/>
        </p:spPr>
        <p:txBody>
          <a:bodyPr wrap="square" lIns="0" tIns="0" rIns="0" bIns="0" rtlCol="0" anchor="ctr"/>
          <a:lstStyle/>
          <a:p>
            <a:pPr algn="ctr" indent="0" marL="0">
              <a:buNone/>
            </a:pPr>
            <a:r>
              <a:rPr lang="en-US" sz="750" b="1" spc="100" kern="0" dirty="0">
                <a:solidFill>
                  <a:srgbClr val="17325C"/>
                </a:solidFill>
                <a:latin typeface="Calibri" pitchFamily="34" charset="0"/>
                <a:ea typeface="Calibri" pitchFamily="34" charset="-122"/>
                <a:cs typeface="Calibri" pitchFamily="34" charset="-120"/>
              </a:rPr>
              <a:t>PENDING</a:t>
            </a:r>
            <a:endParaRPr lang="en-US" sz="750" dirty="0"/>
          </a:p>
        </p:txBody>
      </p:sp>
      <p:sp>
        <p:nvSpPr>
          <p:cNvPr id="152" name="Shape 148"/>
          <p:cNvSpPr/>
          <p:nvPr/>
        </p:nvSpPr>
        <p:spPr>
          <a:xfrm>
            <a:off x="5760720" y="1115568"/>
            <a:ext cx="3246120" cy="301752"/>
          </a:xfrm>
          <a:prstGeom prst="rect">
            <a:avLst/>
          </a:prstGeom>
          <a:solidFill>
            <a:srgbClr val="2E6DB4"/>
          </a:solidFill>
          <a:ln/>
        </p:spPr>
      </p:sp>
      <p:sp>
        <p:nvSpPr>
          <p:cNvPr id="153" name="Text 149"/>
          <p:cNvSpPr txBox="1"/>
          <p:nvPr/>
        </p:nvSpPr>
        <p:spPr>
          <a:xfrm>
            <a:off x="5870448" y="1115568"/>
            <a:ext cx="30266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HOW IT WORKS, IN PLAIN ENGLISH</a:t>
            </a:r>
            <a:endParaRPr lang="en-US" sz="1200" dirty="0"/>
          </a:p>
        </p:txBody>
      </p:sp>
      <p:sp>
        <p:nvSpPr>
          <p:cNvPr id="154" name="Shape 150"/>
          <p:cNvSpPr/>
          <p:nvPr/>
        </p:nvSpPr>
        <p:spPr>
          <a:xfrm>
            <a:off x="9061704" y="1115568"/>
            <a:ext cx="0" cy="5212080"/>
          </a:xfrm>
          <a:prstGeom prst="line">
            <a:avLst/>
          </a:prstGeom>
          <a:noFill/>
          <a:ln w="12700">
            <a:solidFill>
              <a:srgbClr val="8FA9CC"/>
            </a:solidFill>
            <a:prstDash val="dash"/>
          </a:ln>
        </p:spPr>
      </p:sp>
      <p:sp>
        <p:nvSpPr>
          <p:cNvPr id="155" name="Shape 151"/>
          <p:cNvSpPr/>
          <p:nvPr/>
        </p:nvSpPr>
        <p:spPr>
          <a:xfrm>
            <a:off x="5852160" y="1517904"/>
            <a:ext cx="3063240" cy="1115568"/>
          </a:xfrm>
          <a:prstGeom prst="rect">
            <a:avLst/>
          </a:prstGeom>
          <a:solidFill>
            <a:srgbClr val="F4F7FB"/>
          </a:solidFill>
          <a:ln w="9525">
            <a:solidFill>
              <a:srgbClr val="C9D6E8"/>
            </a:solidFill>
            <a:prstDash val="solid"/>
          </a:ln>
        </p:spPr>
      </p:sp>
      <p:sp>
        <p:nvSpPr>
          <p:cNvPr id="156" name="Shape 152"/>
          <p:cNvSpPr/>
          <p:nvPr/>
        </p:nvSpPr>
        <p:spPr>
          <a:xfrm>
            <a:off x="5852160" y="1517904"/>
            <a:ext cx="365760" cy="1115568"/>
          </a:xfrm>
          <a:prstGeom prst="rect">
            <a:avLst/>
          </a:prstGeom>
          <a:solidFill>
            <a:srgbClr val="1F4A82"/>
          </a:solidFill>
          <a:ln/>
        </p:spPr>
      </p:sp>
      <p:sp>
        <p:nvSpPr>
          <p:cNvPr id="157" name="Text 153"/>
          <p:cNvSpPr txBox="1"/>
          <p:nvPr/>
        </p:nvSpPr>
        <p:spPr>
          <a:xfrm>
            <a:off x="5852160" y="1517904"/>
            <a:ext cx="365760" cy="111556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58" name="Text 154"/>
          <p:cNvSpPr txBox="1"/>
          <p:nvPr/>
        </p:nvSpPr>
        <p:spPr>
          <a:xfrm>
            <a:off x="6291072" y="1545336"/>
            <a:ext cx="2578608" cy="1060704"/>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Rates how hard every question is</a:t>
            </a:r>
            <a:endParaRPr lang="en-US" sz="1400" dirty="0"/>
          </a:p>
          <a:p>
            <a:pPr algn="l" indent="0" marL="0">
              <a:buNone/>
            </a:pPr>
            <a:r>
              <a:rPr lang="en-US" sz="800" i="1" dirty="0">
                <a:solidFill>
                  <a:srgbClr val="5B6573"/>
                </a:solidFill>
                <a:latin typeface="Calibri" pitchFamily="34" charset="0"/>
                <a:ea typeface="Calibri" pitchFamily="34" charset="-122"/>
                <a:cs typeface="Calibri" pitchFamily="34" charset="-120"/>
              </a:rPr>
              <a:t>2-parameter IRT, guessing prior</a:t>
            </a:r>
            <a:endParaRPr lang="en-US" sz="1400" dirty="0"/>
          </a:p>
          <a:p>
            <a:pPr algn="l" indent="0" marL="0">
              <a:buNone/>
            </a:pPr>
            <a:r>
              <a:rPr lang="en-US" sz="850" dirty="0">
                <a:solidFill>
                  <a:srgbClr val="1F2937"/>
                </a:solidFill>
                <a:latin typeface="Calibri" pitchFamily="34" charset="0"/>
                <a:ea typeface="Calibri" pitchFamily="34" charset="-122"/>
                <a:cs typeface="Calibri" pitchFamily="34" charset="-120"/>
              </a:rPr>
              <a:t>Blank counts as wrong; dropped and multi-correct items follow NTA rules; fixing a key re-scores everything.</a:t>
            </a:r>
            <a:endParaRPr lang="en-US" sz="1400" dirty="0"/>
          </a:p>
        </p:txBody>
      </p:sp>
      <p:sp>
        <p:nvSpPr>
          <p:cNvPr id="159" name="Shape 155"/>
          <p:cNvSpPr/>
          <p:nvPr/>
        </p:nvSpPr>
        <p:spPr>
          <a:xfrm>
            <a:off x="5852160" y="2706624"/>
            <a:ext cx="3063240" cy="1115568"/>
          </a:xfrm>
          <a:prstGeom prst="rect">
            <a:avLst/>
          </a:prstGeom>
          <a:solidFill>
            <a:srgbClr val="FFFFFF"/>
          </a:solidFill>
          <a:ln w="9525">
            <a:solidFill>
              <a:srgbClr val="C9D6E8"/>
            </a:solidFill>
            <a:prstDash val="solid"/>
          </a:ln>
        </p:spPr>
      </p:sp>
      <p:sp>
        <p:nvSpPr>
          <p:cNvPr id="160" name="Shape 156"/>
          <p:cNvSpPr/>
          <p:nvPr/>
        </p:nvSpPr>
        <p:spPr>
          <a:xfrm>
            <a:off x="5852160" y="2706624"/>
            <a:ext cx="365760" cy="1115568"/>
          </a:xfrm>
          <a:prstGeom prst="rect">
            <a:avLst/>
          </a:prstGeom>
          <a:solidFill>
            <a:srgbClr val="1F4A82"/>
          </a:solidFill>
          <a:ln/>
        </p:spPr>
      </p:sp>
      <p:sp>
        <p:nvSpPr>
          <p:cNvPr id="161" name="Text 157"/>
          <p:cNvSpPr txBox="1"/>
          <p:nvPr/>
        </p:nvSpPr>
        <p:spPr>
          <a:xfrm>
            <a:off x="5852160" y="2706624"/>
            <a:ext cx="365760" cy="111556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2" name="Text 158"/>
          <p:cNvSpPr txBox="1"/>
          <p:nvPr/>
        </p:nvSpPr>
        <p:spPr>
          <a:xfrm>
            <a:off x="6291072" y="2734056"/>
            <a:ext cx="2578608" cy="1060704"/>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Estimates mastery per topic, with doubt</a:t>
            </a:r>
            <a:endParaRPr lang="en-US" sz="1400" dirty="0"/>
          </a:p>
          <a:p>
            <a:pPr algn="l" indent="0" marL="0">
              <a:buNone/>
            </a:pPr>
            <a:r>
              <a:rPr lang="en-US" sz="800" i="1" dirty="0">
                <a:solidFill>
                  <a:srgbClr val="5B6573"/>
                </a:solidFill>
                <a:latin typeface="Calibri" pitchFamily="34" charset="0"/>
                <a:ea typeface="Calibri" pitchFamily="34" charset="-122"/>
                <a:cs typeface="Calibri" pitchFamily="34" charset="-120"/>
              </a:rPr>
              <a:t>Shrunk toward student and batch</a:t>
            </a:r>
            <a:endParaRPr lang="en-US" sz="1400" dirty="0"/>
          </a:p>
          <a:p>
            <a:pPr algn="l" indent="0" marL="0">
              <a:buNone/>
            </a:pPr>
            <a:r>
              <a:rPr lang="en-US" sz="850" dirty="0">
                <a:solidFill>
                  <a:srgbClr val="1F2937"/>
                </a:solidFill>
                <a:latin typeface="Calibri" pitchFamily="34" charset="0"/>
                <a:ea typeface="Calibri" pitchFamily="34" charset="-122"/>
                <a:cs typeface="Calibri" pitchFamily="34" charset="-120"/>
              </a:rPr>
              <a:t>Recent tests count more; the estimate is pulled toward the student's overall level.</a:t>
            </a:r>
            <a:endParaRPr lang="en-US" sz="1400" dirty="0"/>
          </a:p>
        </p:txBody>
      </p:sp>
      <p:sp>
        <p:nvSpPr>
          <p:cNvPr id="163" name="Shape 159"/>
          <p:cNvSpPr/>
          <p:nvPr/>
        </p:nvSpPr>
        <p:spPr>
          <a:xfrm>
            <a:off x="5852160" y="3895344"/>
            <a:ext cx="3063240" cy="1115568"/>
          </a:xfrm>
          <a:prstGeom prst="rect">
            <a:avLst/>
          </a:prstGeom>
          <a:solidFill>
            <a:srgbClr val="F4F7FB"/>
          </a:solidFill>
          <a:ln w="9525">
            <a:solidFill>
              <a:srgbClr val="C9D6E8"/>
            </a:solidFill>
            <a:prstDash val="solid"/>
          </a:ln>
        </p:spPr>
      </p:sp>
      <p:sp>
        <p:nvSpPr>
          <p:cNvPr id="164" name="Shape 160"/>
          <p:cNvSpPr/>
          <p:nvPr/>
        </p:nvSpPr>
        <p:spPr>
          <a:xfrm>
            <a:off x="5852160" y="3895344"/>
            <a:ext cx="365760" cy="1115568"/>
          </a:xfrm>
          <a:prstGeom prst="rect">
            <a:avLst/>
          </a:prstGeom>
          <a:solidFill>
            <a:srgbClr val="1F4A82"/>
          </a:solidFill>
          <a:ln/>
        </p:spPr>
      </p:sp>
      <p:sp>
        <p:nvSpPr>
          <p:cNvPr id="165" name="Text 161"/>
          <p:cNvSpPr txBox="1"/>
          <p:nvPr/>
        </p:nvSpPr>
        <p:spPr>
          <a:xfrm>
            <a:off x="5852160" y="3895344"/>
            <a:ext cx="365760" cy="111556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6" name="Text 162"/>
          <p:cNvSpPr txBox="1"/>
          <p:nvPr/>
        </p:nvSpPr>
        <p:spPr>
          <a:xfrm>
            <a:off x="6291072" y="3922776"/>
            <a:ext cx="2578608" cy="1060704"/>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Says “not enough data” when unsure</a:t>
            </a:r>
            <a:endParaRPr lang="en-US" sz="1400" dirty="0"/>
          </a:p>
          <a:p>
            <a:pPr algn="l" indent="0" marL="0">
              <a:buNone/>
            </a:pPr>
            <a:r>
              <a:rPr lang="en-US" sz="800" i="1" dirty="0">
                <a:solidFill>
                  <a:srgbClr val="5B6573"/>
                </a:solidFill>
                <a:latin typeface="Calibri" pitchFamily="34" charset="0"/>
                <a:ea typeface="Calibri" pitchFamily="34" charset="-122"/>
                <a:cs typeface="Calibri" pitchFamily="34" charset="-120"/>
              </a:rPr>
              <a:t>Uncertainty gate on every band</a:t>
            </a:r>
            <a:endParaRPr lang="en-US" sz="1400" dirty="0"/>
          </a:p>
          <a:p>
            <a:pPr algn="l" indent="0" marL="0">
              <a:buNone/>
            </a:pPr>
            <a:r>
              <a:rPr lang="en-US" sz="850" dirty="0">
                <a:solidFill>
                  <a:srgbClr val="1F2937"/>
                </a:solidFill>
                <a:latin typeface="Calibri" pitchFamily="34" charset="0"/>
                <a:ea typeface="Calibri" pitchFamily="34" charset="-122"/>
                <a:cs typeface="Calibri" pitchFamily="34" charset="-120"/>
              </a:rPr>
              <a:t>A band appears only when the standard error is small.</a:t>
            </a:r>
            <a:endParaRPr lang="en-US" sz="1400" dirty="0"/>
          </a:p>
        </p:txBody>
      </p:sp>
      <p:sp>
        <p:nvSpPr>
          <p:cNvPr id="167" name="Shape 163"/>
          <p:cNvSpPr/>
          <p:nvPr/>
        </p:nvSpPr>
        <p:spPr>
          <a:xfrm>
            <a:off x="5852160" y="5084064"/>
            <a:ext cx="3063240" cy="1115568"/>
          </a:xfrm>
          <a:prstGeom prst="rect">
            <a:avLst/>
          </a:prstGeom>
          <a:solidFill>
            <a:srgbClr val="FFFFFF"/>
          </a:solidFill>
          <a:ln w="9525">
            <a:solidFill>
              <a:srgbClr val="C9D6E8"/>
            </a:solidFill>
            <a:prstDash val="solid"/>
          </a:ln>
        </p:spPr>
      </p:sp>
      <p:sp>
        <p:nvSpPr>
          <p:cNvPr id="168" name="Shape 164"/>
          <p:cNvSpPr/>
          <p:nvPr/>
        </p:nvSpPr>
        <p:spPr>
          <a:xfrm>
            <a:off x="5852160" y="5084064"/>
            <a:ext cx="365760" cy="1115568"/>
          </a:xfrm>
          <a:prstGeom prst="rect">
            <a:avLst/>
          </a:prstGeom>
          <a:solidFill>
            <a:srgbClr val="1F4A82"/>
          </a:solidFill>
          <a:ln/>
        </p:spPr>
      </p:sp>
      <p:sp>
        <p:nvSpPr>
          <p:cNvPr id="169" name="Text 165"/>
          <p:cNvSpPr txBox="1"/>
          <p:nvPr/>
        </p:nvSpPr>
        <p:spPr>
          <a:xfrm>
            <a:off x="5852160" y="5084064"/>
            <a:ext cx="365760" cy="111556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70" name="Text 166"/>
          <p:cNvSpPr txBox="1"/>
          <p:nvPr/>
        </p:nvSpPr>
        <p:spPr>
          <a:xfrm>
            <a:off x="6291072" y="5111496"/>
            <a:ext cx="2578608" cy="1060704"/>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Flags a likely wrong answer key</a:t>
            </a:r>
            <a:endParaRPr lang="en-US" sz="1400" dirty="0"/>
          </a:p>
          <a:p>
            <a:pPr algn="l" indent="0" marL="0">
              <a:buNone/>
            </a:pPr>
            <a:r>
              <a:rPr lang="en-US" sz="800" i="1" dirty="0">
                <a:solidFill>
                  <a:srgbClr val="5B6573"/>
                </a:solidFill>
                <a:latin typeface="Calibri" pitchFamily="34" charset="0"/>
                <a:ea typeface="Calibri" pitchFamily="34" charset="-122"/>
                <a:cs typeface="Calibri" pitchFamily="34" charset="-120"/>
              </a:rPr>
              <a:t>Negative-discrimination detector</a:t>
            </a:r>
            <a:endParaRPr lang="en-US" sz="1400" dirty="0"/>
          </a:p>
          <a:p>
            <a:pPr algn="l" indent="0" marL="0">
              <a:buNone/>
            </a:pPr>
            <a:r>
              <a:rPr lang="en-US" sz="850" dirty="0">
                <a:solidFill>
                  <a:srgbClr val="1F2937"/>
                </a:solidFill>
                <a:latin typeface="Calibri" pitchFamily="34" charset="0"/>
                <a:ea typeface="Calibri" pitchFamily="34" charset="-122"/>
                <a:cs typeface="Calibri" pitchFamily="34" charset="-120"/>
              </a:rPr>
              <a:t>Teachers get a suggested correction and a one-click re-score.</a:t>
            </a:r>
            <a:endParaRPr lang="en-US" sz="1400" dirty="0"/>
          </a:p>
        </p:txBody>
      </p:sp>
      <p:sp>
        <p:nvSpPr>
          <p:cNvPr id="171" name="Shape 167"/>
          <p:cNvSpPr/>
          <p:nvPr/>
        </p:nvSpPr>
        <p:spPr>
          <a:xfrm>
            <a:off x="9098280" y="1115568"/>
            <a:ext cx="2679192" cy="301752"/>
          </a:xfrm>
          <a:prstGeom prst="rect">
            <a:avLst/>
          </a:prstGeom>
          <a:solidFill>
            <a:srgbClr val="1F4A82"/>
          </a:solidFill>
          <a:ln/>
        </p:spPr>
      </p:sp>
      <p:sp>
        <p:nvSpPr>
          <p:cNvPr id="172" name="Text 168"/>
          <p:cNvSpPr txBox="1"/>
          <p:nvPr/>
        </p:nvSpPr>
        <p:spPr>
          <a:xfrm>
            <a:off x="9208008" y="1115568"/>
            <a:ext cx="2459736"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EVIDENCE ON PUBLIC DATA</a:t>
            </a:r>
            <a:endParaRPr lang="en-US" sz="1200" dirty="0"/>
          </a:p>
        </p:txBody>
      </p:sp>
      <p:pic>
        <p:nvPicPr>
          <p:cNvPr id="173" name="Image 1" descr="Next-answer AUC: ours vs published">    </p:cNvPr>
          <p:cNvPicPr>
            <a:picLocks noChangeAspect="1"/>
          </p:cNvPicPr>
          <p:nvPr/>
        </p:nvPicPr>
        <p:blipFill>
          <a:blip r:embed="rId2"/>
          <a:stretch>
            <a:fillRect/>
          </a:stretch>
        </p:blipFill>
        <p:spPr>
          <a:xfrm>
            <a:off x="9162288" y="1481328"/>
            <a:ext cx="2560320" cy="1591056"/>
          </a:xfrm>
          <a:prstGeom prst="rect">
            <a:avLst/>
          </a:prstGeom>
        </p:spPr>
      </p:pic>
      <p:sp>
        <p:nvSpPr>
          <p:cNvPr id="174" name="Shape 169"/>
          <p:cNvSpPr/>
          <p:nvPr/>
        </p:nvSpPr>
        <p:spPr>
          <a:xfrm>
            <a:off x="9189720" y="3108960"/>
            <a:ext cx="992124" cy="219456"/>
          </a:xfrm>
          <a:prstGeom prst="roundRect">
            <a:avLst>
              <a:gd name="adj" fmla="val 50000"/>
            </a:avLst>
          </a:prstGeom>
          <a:solidFill>
            <a:srgbClr val="FFFFFF"/>
          </a:solidFill>
          <a:ln w="12700">
            <a:solidFill>
              <a:srgbClr val="1F4A82"/>
            </a:solidFill>
            <a:prstDash val="solid"/>
          </a:ln>
        </p:spPr>
      </p:sp>
      <p:sp>
        <p:nvSpPr>
          <p:cNvPr id="175" name="Text 170"/>
          <p:cNvSpPr txBox="1"/>
          <p:nvPr/>
        </p:nvSpPr>
        <p:spPr>
          <a:xfrm>
            <a:off x="9189720" y="3108960"/>
            <a:ext cx="992124" cy="219456"/>
          </a:xfrm>
          <a:prstGeom prst="rect">
            <a:avLst/>
          </a:prstGeom>
          <a:noFill/>
          <a:ln/>
        </p:spPr>
        <p:txBody>
          <a:bodyPr wrap="square" lIns="0" tIns="0" rIns="0" bIns="0" rtlCol="0" anchor="ctr"/>
          <a:lstStyle/>
          <a:p>
            <a:pPr algn="ctr" indent="0" marL="0">
              <a:buNone/>
            </a:pPr>
            <a:r>
              <a:rPr lang="en-US" sz="900" b="1" spc="100" kern="0" dirty="0">
                <a:solidFill>
                  <a:srgbClr val="1F4A82"/>
                </a:solidFill>
                <a:latin typeface="Calibri" pitchFamily="34" charset="0"/>
                <a:ea typeface="Calibri" pitchFamily="34" charset="-122"/>
                <a:cs typeface="Calibri" pitchFamily="34" charset="-120"/>
              </a:rPr>
              <a:t>PUBLIC DATA</a:t>
            </a:r>
            <a:endParaRPr lang="en-US" sz="900" dirty="0"/>
          </a:p>
        </p:txBody>
      </p:sp>
      <p:sp>
        <p:nvSpPr>
          <p:cNvPr id="176" name="Text 171"/>
          <p:cNvSpPr txBox="1"/>
          <p:nvPr/>
        </p:nvSpPr>
        <p:spPr>
          <a:xfrm>
            <a:off x="9189720" y="3383280"/>
            <a:ext cx="2514600" cy="1143000"/>
          </a:xfrm>
          <a:prstGeom prst="rect">
            <a:avLst/>
          </a:prstGeom>
          <a:noFill/>
          <a:ln/>
        </p:spPr>
        <p:txBody>
          <a:bodyPr wrap="square" lIns="0" tIns="0" rIns="0" bIns="0" rtlCol="0" anchor="t"/>
          <a:lstStyle/>
          <a:p>
            <a:pPr algn="l" indent="0" marL="0">
              <a:buNone/>
            </a:pPr>
            <a:r>
              <a:rPr lang="en-US" sz="1800" b="1" dirty="0">
                <a:solidFill>
                  <a:srgbClr val="1F4A82"/>
                </a:solidFill>
                <a:latin typeface="Calibri" pitchFamily="34" charset="0"/>
                <a:ea typeface="Calibri" pitchFamily="34" charset="-122"/>
                <a:cs typeface="Calibri" pitchFamily="34" charset="-120"/>
              </a:rPr>
              <a:t>0.76 vs 0.75</a:t>
            </a:r>
            <a:endParaRPr lang="en-US" sz="1400" dirty="0"/>
          </a:p>
          <a:p>
            <a:pPr algn="l" indent="0" marL="0">
              <a:buNone/>
            </a:pPr>
            <a:r>
              <a:rPr lang="en-US" sz="850" dirty="0">
                <a:solidFill>
                  <a:srgbClr val="1F2937"/>
                </a:solidFill>
                <a:latin typeface="Calibri" pitchFamily="34" charset="0"/>
                <a:ea typeface="Calibri" pitchFamily="34" charset="-122"/>
                <a:cs typeface="Calibri" pitchFamily="34" charset="-120"/>
              </a:rPr>
              <a:t>770 unseen students, 55,755 predictions. Our 95 % interval 0.756 to 0.779. The published AKT scores higher (0.785); we say so.</a:t>
            </a:r>
            <a:endParaRPr lang="en-US" sz="1400" dirty="0"/>
          </a:p>
        </p:txBody>
      </p:sp>
      <p:sp>
        <p:nvSpPr>
          <p:cNvPr id="177" name="Text 172"/>
          <p:cNvSpPr txBox="1"/>
          <p:nvPr/>
        </p:nvSpPr>
        <p:spPr>
          <a:xfrm>
            <a:off x="9189720" y="4617720"/>
            <a:ext cx="2468880" cy="201168"/>
          </a:xfrm>
          <a:prstGeom prst="rect">
            <a:avLst/>
          </a:prstGeom>
          <a:noFill/>
          <a:ln/>
        </p:spPr>
        <p:txBody>
          <a:bodyPr wrap="square" lIns="0" tIns="0" rIns="0" bIns="0" rtlCol="0" anchor="t"/>
          <a:lstStyle/>
          <a:p>
            <a:pPr algn="l" indent="0" marL="0">
              <a:buNone/>
            </a:pPr>
            <a:r>
              <a:rPr lang="en-US" sz="850" b="1" spc="100" kern="0" dirty="0">
                <a:solidFill>
                  <a:srgbClr val="5B6573"/>
                </a:solidFill>
                <a:latin typeface="Calibri" pitchFamily="34" charset="0"/>
                <a:ea typeface="Calibri" pitchFamily="34" charset="-122"/>
                <a:cs typeface="Calibri" pitchFamily="34" charset="-120"/>
              </a:rPr>
              <a:t>SYNTHETIC-DATA GATES</a:t>
            </a:r>
            <a:endParaRPr lang="en-US" sz="850" dirty="0"/>
          </a:p>
        </p:txBody>
      </p:sp>
      <p:sp>
        <p:nvSpPr>
          <p:cNvPr id="178" name="Text 173"/>
          <p:cNvSpPr txBox="1"/>
          <p:nvPr/>
        </p:nvSpPr>
        <p:spPr>
          <a:xfrm>
            <a:off x="9189720" y="4873752"/>
            <a:ext cx="1463040" cy="31089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Difficulty recovered</a:t>
            </a:r>
            <a:endParaRPr lang="en-US" sz="950" dirty="0"/>
          </a:p>
        </p:txBody>
      </p:sp>
      <p:sp>
        <p:nvSpPr>
          <p:cNvPr id="179" name="Shape 174"/>
          <p:cNvSpPr/>
          <p:nvPr/>
        </p:nvSpPr>
        <p:spPr>
          <a:xfrm>
            <a:off x="10835640" y="4937760"/>
            <a:ext cx="637794" cy="201168"/>
          </a:xfrm>
          <a:prstGeom prst="roundRect">
            <a:avLst>
              <a:gd name="adj" fmla="val 50000"/>
            </a:avLst>
          </a:prstGeom>
          <a:solidFill>
            <a:srgbClr val="D4A24C"/>
          </a:solidFill>
          <a:ln/>
        </p:spPr>
      </p:sp>
      <p:sp>
        <p:nvSpPr>
          <p:cNvPr id="180" name="Text 175"/>
          <p:cNvSpPr txBox="1"/>
          <p:nvPr/>
        </p:nvSpPr>
        <p:spPr>
          <a:xfrm>
            <a:off x="10835640" y="4937760"/>
            <a:ext cx="637794" cy="201168"/>
          </a:xfrm>
          <a:prstGeom prst="rect">
            <a:avLst/>
          </a:prstGeom>
          <a:noFill/>
          <a:ln/>
        </p:spPr>
        <p:txBody>
          <a:bodyPr wrap="square" lIns="0" tIns="0" rIns="0" bIns="0" rtlCol="0" anchor="ctr"/>
          <a:lstStyle/>
          <a:p>
            <a:pPr algn="ctr" indent="0" marL="0">
              <a:buNone/>
            </a:pPr>
            <a:r>
              <a:rPr lang="en-US" sz="750" b="1" spc="100" kern="0" dirty="0">
                <a:solidFill>
                  <a:srgbClr val="17325C"/>
                </a:solidFill>
                <a:latin typeface="Calibri" pitchFamily="34" charset="0"/>
                <a:ea typeface="Calibri" pitchFamily="34" charset="-122"/>
                <a:cs typeface="Calibri" pitchFamily="34" charset="-120"/>
              </a:rPr>
              <a:t>PENDING</a:t>
            </a:r>
            <a:endParaRPr lang="en-US" sz="750" dirty="0"/>
          </a:p>
        </p:txBody>
      </p:sp>
      <p:sp>
        <p:nvSpPr>
          <p:cNvPr id="181" name="Text 176"/>
          <p:cNvSpPr txBox="1"/>
          <p:nvPr/>
        </p:nvSpPr>
        <p:spPr>
          <a:xfrm>
            <a:off x="9189720" y="5239512"/>
            <a:ext cx="1463040" cy="31089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Wrong keys caught</a:t>
            </a:r>
            <a:endParaRPr lang="en-US" sz="950" dirty="0"/>
          </a:p>
        </p:txBody>
      </p:sp>
      <p:sp>
        <p:nvSpPr>
          <p:cNvPr id="182" name="Shape 177"/>
          <p:cNvSpPr/>
          <p:nvPr/>
        </p:nvSpPr>
        <p:spPr>
          <a:xfrm>
            <a:off x="10835640" y="5303520"/>
            <a:ext cx="637794" cy="201168"/>
          </a:xfrm>
          <a:prstGeom prst="roundRect">
            <a:avLst>
              <a:gd name="adj" fmla="val 50000"/>
            </a:avLst>
          </a:prstGeom>
          <a:solidFill>
            <a:srgbClr val="D4A24C"/>
          </a:solidFill>
          <a:ln/>
        </p:spPr>
      </p:sp>
      <p:sp>
        <p:nvSpPr>
          <p:cNvPr id="183" name="Text 178"/>
          <p:cNvSpPr txBox="1"/>
          <p:nvPr/>
        </p:nvSpPr>
        <p:spPr>
          <a:xfrm>
            <a:off x="10835640" y="5303520"/>
            <a:ext cx="637794" cy="201168"/>
          </a:xfrm>
          <a:prstGeom prst="rect">
            <a:avLst/>
          </a:prstGeom>
          <a:noFill/>
          <a:ln/>
        </p:spPr>
        <p:txBody>
          <a:bodyPr wrap="square" lIns="0" tIns="0" rIns="0" bIns="0" rtlCol="0" anchor="ctr"/>
          <a:lstStyle/>
          <a:p>
            <a:pPr algn="ctr" indent="0" marL="0">
              <a:buNone/>
            </a:pPr>
            <a:r>
              <a:rPr lang="en-US" sz="750" b="1" spc="100" kern="0" dirty="0">
                <a:solidFill>
                  <a:srgbClr val="17325C"/>
                </a:solidFill>
                <a:latin typeface="Calibri" pitchFamily="34" charset="0"/>
                <a:ea typeface="Calibri" pitchFamily="34" charset="-122"/>
                <a:cs typeface="Calibri" pitchFamily="34" charset="-120"/>
              </a:rPr>
              <a:t>PENDING</a:t>
            </a:r>
            <a:endParaRPr lang="en-US" sz="750" dirty="0"/>
          </a:p>
        </p:txBody>
      </p:sp>
      <p:sp>
        <p:nvSpPr>
          <p:cNvPr id="184" name="Text 179"/>
          <p:cNvSpPr txBox="1"/>
          <p:nvPr/>
        </p:nvSpPr>
        <p:spPr>
          <a:xfrm>
            <a:off x="9189720" y="5605272"/>
            <a:ext cx="1463040" cy="31089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Mastery beats raw %</a:t>
            </a:r>
            <a:endParaRPr lang="en-US" sz="950" dirty="0"/>
          </a:p>
        </p:txBody>
      </p:sp>
      <p:sp>
        <p:nvSpPr>
          <p:cNvPr id="185" name="Shape 180"/>
          <p:cNvSpPr/>
          <p:nvPr/>
        </p:nvSpPr>
        <p:spPr>
          <a:xfrm>
            <a:off x="10835640" y="5669280"/>
            <a:ext cx="637794" cy="201168"/>
          </a:xfrm>
          <a:prstGeom prst="roundRect">
            <a:avLst>
              <a:gd name="adj" fmla="val 50000"/>
            </a:avLst>
          </a:prstGeom>
          <a:solidFill>
            <a:srgbClr val="D4A24C"/>
          </a:solidFill>
          <a:ln/>
        </p:spPr>
      </p:sp>
      <p:sp>
        <p:nvSpPr>
          <p:cNvPr id="186" name="Text 181"/>
          <p:cNvSpPr txBox="1"/>
          <p:nvPr/>
        </p:nvSpPr>
        <p:spPr>
          <a:xfrm>
            <a:off x="10835640" y="5669280"/>
            <a:ext cx="637794" cy="201168"/>
          </a:xfrm>
          <a:prstGeom prst="rect">
            <a:avLst/>
          </a:prstGeom>
          <a:noFill/>
          <a:ln/>
        </p:spPr>
        <p:txBody>
          <a:bodyPr wrap="square" lIns="0" tIns="0" rIns="0" bIns="0" rtlCol="0" anchor="ctr"/>
          <a:lstStyle/>
          <a:p>
            <a:pPr algn="ctr" indent="0" marL="0">
              <a:buNone/>
            </a:pPr>
            <a:r>
              <a:rPr lang="en-US" sz="750" b="1" spc="100" kern="0" dirty="0">
                <a:solidFill>
                  <a:srgbClr val="17325C"/>
                </a:solidFill>
                <a:latin typeface="Calibri" pitchFamily="34" charset="0"/>
                <a:ea typeface="Calibri" pitchFamily="34" charset="-122"/>
                <a:cs typeface="Calibri" pitchFamily="34" charset="-120"/>
              </a:rPr>
              <a:t>PENDING</a:t>
            </a:r>
            <a:endParaRPr lang="en-US" sz="750" dirty="0"/>
          </a:p>
        </p:txBody>
      </p:sp>
      <p:sp>
        <p:nvSpPr>
          <p:cNvPr id="187" name="Shape 182"/>
          <p:cNvSpPr/>
          <p:nvPr/>
        </p:nvSpPr>
        <p:spPr>
          <a:xfrm rot="-120000">
            <a:off x="9372600" y="6044184"/>
            <a:ext cx="2194560" cy="292608"/>
          </a:xfrm>
          <a:prstGeom prst="rect">
            <a:avLst/>
          </a:prstGeom>
          <a:solidFill>
            <a:srgbClr val="C9CED6">
              <a:alpha val="45000"/>
            </a:srgbClr>
          </a:solidFill>
          <a:ln/>
        </p:spPr>
      </p:sp>
      <p:sp>
        <p:nvSpPr>
          <p:cNvPr id="188" name="Shape 183"/>
          <p:cNvSpPr/>
          <p:nvPr/>
        </p:nvSpPr>
        <p:spPr>
          <a:xfrm rot="-120000">
            <a:off x="9326880" y="5989320"/>
            <a:ext cx="2194560" cy="292608"/>
          </a:xfrm>
          <a:prstGeom prst="rect">
            <a:avLst/>
          </a:prstGeom>
          <a:solidFill>
            <a:srgbClr val="D9C9F2"/>
          </a:solidFill>
          <a:ln/>
        </p:spPr>
      </p:sp>
      <p:sp>
        <p:nvSpPr>
          <p:cNvPr id="189" name="Text 184"/>
          <p:cNvSpPr txBox="1"/>
          <p:nvPr/>
        </p:nvSpPr>
        <p:spPr>
          <a:xfrm rot="-120000">
            <a:off x="9381744" y="6025896"/>
            <a:ext cx="2084832" cy="237744"/>
          </a:xfrm>
          <a:prstGeom prst="rect">
            <a:avLst/>
          </a:prstGeom>
          <a:noFill/>
          <a:ln/>
        </p:spPr>
        <p:txBody>
          <a:bodyPr wrap="square" lIns="0" tIns="0" rIns="0" bIns="0" rtlCol="0" anchor="ctr"/>
          <a:lstStyle/>
          <a:p>
            <a:pPr algn="ctr" indent="0" marL="0">
              <a:buNone/>
            </a:pPr>
            <a:r>
              <a:rPr lang="en-US" sz="850" dirty="0">
                <a:solidFill>
                  <a:srgbClr val="4B2F8A"/>
                </a:solidFill>
                <a:latin typeface="Segoe Print" pitchFamily="34" charset="0"/>
                <a:ea typeface="Segoe Print" pitchFamily="34" charset="-122"/>
                <a:cs typeface="Segoe Print" pitchFamily="34" charset="-120"/>
              </a:rPr>
              <a:t>gates come from Agent B</a:t>
            </a:r>
            <a:endParaRPr lang="en-US" sz="850" dirty="0"/>
          </a:p>
        </p:txBody>
      </p:sp>
      <p:pic>
        <p:nvPicPr>
          <p:cNvPr id="190" name="Image 2" descr="D:\Professional Work\Business\FC_Case_Dhruvi\presentation\source\assets\doodle_tape.png">    </p:cNvPr>
          <p:cNvPicPr>
            <a:picLocks noChangeAspect="1"/>
          </p:cNvPicPr>
          <p:nvPr/>
        </p:nvPicPr>
        <p:blipFill>
          <a:blip r:embed="rId3"/>
          <a:stretch>
            <a:fillRect/>
          </a:stretch>
        </p:blipFill>
        <p:spPr>
          <a:xfrm rot="-72000">
            <a:off x="10149840" y="5897880"/>
            <a:ext cx="548640" cy="173736"/>
          </a:xfrm>
          <a:prstGeom prst="rect">
            <a:avLst/>
          </a:prstGeom>
        </p:spPr>
      </p:pic>
      <p:sp>
        <p:nvSpPr>
          <p:cNvPr id="191" name="Text 185"/>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ml/public_validation (ASSISTments 2009, pyKT protocol; published DKT 0.754, SAKT 0.725, AKT 0.785); heat map is an illustrative mock-up. Gates pending Agent B.</a:t>
            </a:r>
            <a:endParaRPr lang="en-US" sz="850" dirty="0"/>
          </a:p>
        </p:txBody>
      </p:sp>
      <p:pic>
        <p:nvPicPr>
          <p:cNvPr id="192" name="Image 3" descr="hand-drawn hl_y">    </p:cNvPr>
          <p:cNvPicPr>
            <a:picLocks noChangeAspect="1"/>
          </p:cNvPicPr>
          <p:nvPr/>
        </p:nvPicPr>
        <p:blipFill>
          <a:blip r:embed="rId4"/>
          <a:stretch>
            <a:fillRect/>
          </a:stretch>
        </p:blipFill>
        <p:spPr>
          <a:xfrm>
            <a:off x="713232" y="4590288"/>
            <a:ext cx="4023360" cy="274320"/>
          </a:xfrm>
          <a:prstGeom prst="rect">
            <a:avLst/>
          </a:prstGeom>
        </p:spPr>
      </p:pic>
      <p:pic>
        <p:nvPicPr>
          <p:cNvPr id="193" name="Image 4" descr="mentor cursor">    </p:cNvPr>
          <p:cNvPicPr>
            <a:picLocks noChangeAspect="1"/>
          </p:cNvPicPr>
          <p:nvPr/>
        </p:nvPicPr>
        <p:blipFill>
          <a:blip r:embed="rId5"/>
          <a:stretch>
            <a:fillRect/>
          </a:stretch>
        </p:blipFill>
        <p:spPr>
          <a:xfrm>
            <a:off x="2743200" y="2331720"/>
            <a:ext cx="777240" cy="329184"/>
          </a:xfrm>
          <a:prstGeom prst="rect">
            <a:avLst/>
          </a:prstGeom>
        </p:spPr>
      </p:pic>
      <p:pic>
        <p:nvPicPr>
          <p:cNvPr id="194" name="Image 5" descr="hand-drawn arrow_a">    </p:cNvPr>
          <p:cNvPicPr>
            <a:picLocks noChangeAspect="1"/>
          </p:cNvPicPr>
          <p:nvPr/>
        </p:nvPicPr>
        <p:blipFill>
          <a:blip r:embed="rId6"/>
          <a:stretch>
            <a:fillRect/>
          </a:stretch>
        </p:blipFill>
        <p:spPr>
          <a:xfrm>
            <a:off x="4846320" y="1097280"/>
            <a:ext cx="731520" cy="365760"/>
          </a:xfrm>
          <a:prstGeom prst="rect">
            <a:avLst/>
          </a:prstGeom>
        </p:spPr>
      </p:pic>
      <p:sp>
        <p:nvSpPr>
          <p:cNvPr id="195" name="Shape 186"/>
          <p:cNvSpPr/>
          <p:nvPr/>
        </p:nvSpPr>
        <p:spPr>
          <a:xfrm rot="120000">
            <a:off x="4160520" y="5541264"/>
            <a:ext cx="1600200" cy="384048"/>
          </a:xfrm>
          <a:prstGeom prst="rect">
            <a:avLst/>
          </a:prstGeom>
          <a:solidFill>
            <a:srgbClr val="C9CED6">
              <a:alpha val="45000"/>
            </a:srgbClr>
          </a:solidFill>
          <a:ln/>
        </p:spPr>
      </p:sp>
      <p:sp>
        <p:nvSpPr>
          <p:cNvPr id="196" name="Shape 187"/>
          <p:cNvSpPr/>
          <p:nvPr/>
        </p:nvSpPr>
        <p:spPr>
          <a:xfrm rot="120000">
            <a:off x="4114800" y="5486400"/>
            <a:ext cx="1600200" cy="384048"/>
          </a:xfrm>
          <a:prstGeom prst="rect">
            <a:avLst/>
          </a:prstGeom>
          <a:solidFill>
            <a:srgbClr val="FDCB9A"/>
          </a:solidFill>
          <a:ln/>
        </p:spPr>
      </p:sp>
      <p:sp>
        <p:nvSpPr>
          <p:cNvPr id="197" name="Text 188"/>
          <p:cNvSpPr txBox="1"/>
          <p:nvPr/>
        </p:nvSpPr>
        <p:spPr>
          <a:xfrm rot="120000">
            <a:off x="4169664" y="5522976"/>
            <a:ext cx="1490472" cy="329184"/>
          </a:xfrm>
          <a:prstGeom prst="rect">
            <a:avLst/>
          </a:prstGeom>
          <a:noFill/>
          <a:ln/>
        </p:spPr>
        <p:txBody>
          <a:bodyPr wrap="square" lIns="0" tIns="0" rIns="0" bIns="0" rtlCol="0" anchor="ctr"/>
          <a:lstStyle/>
          <a:p>
            <a:pPr algn="ctr" indent="0" marL="0">
              <a:buNone/>
            </a:pPr>
            <a:r>
              <a:rPr lang="en-US" sz="850" dirty="0">
                <a:solidFill>
                  <a:srgbClr val="8A4B00"/>
                </a:solidFill>
                <a:latin typeface="Segoe Print" pitchFamily="34" charset="0"/>
                <a:ea typeface="Segoe Print" pitchFamily="34" charset="-122"/>
                <a:cs typeface="Segoe Print" pitchFamily="34" charset="-120"/>
              </a:rPr>
              <a:t>open loops: closed in Round 2</a:t>
            </a:r>
            <a:endParaRPr lang="en-US" sz="850" dirty="0"/>
          </a:p>
        </p:txBody>
      </p:sp>
      <p:pic>
        <p:nvPicPr>
          <p:cNvPr id="198" name="Image 6" descr="D:\Professional Work\Business\FC_Case_Dhruvi\presentation\source\assets\doodle_tape.png">    </p:cNvPr>
          <p:cNvPicPr>
            <a:picLocks noChangeAspect="1"/>
          </p:cNvPicPr>
          <p:nvPr/>
        </p:nvPicPr>
        <p:blipFill>
          <a:blip r:embed="rId7"/>
          <a:stretch>
            <a:fillRect/>
          </a:stretch>
        </p:blipFill>
        <p:spPr>
          <a:xfrm rot="72000">
            <a:off x="4640580" y="5394960"/>
            <a:ext cx="548640" cy="173736"/>
          </a:xfrm>
          <a:prstGeom prst="rect">
            <a:avLst/>
          </a:prstGeom>
        </p:spPr>
      </p:pic>
      <p:pic>
        <p:nvPicPr>
          <p:cNvPr id="200" name="Image 7" descr="FaClipboardList icon">    </p:cNvPr>
          <p:cNvPicPr>
            <a:picLocks noChangeAspect="1"/>
          </p:cNvPicPr>
          <p:nvPr/>
        </p:nvPicPr>
        <p:blipFill>
          <a:blip r:embed="rId8"/>
          <a:stretch>
            <a:fillRect/>
          </a:stretch>
        </p:blipFill>
        <p:spPr>
          <a:xfrm>
            <a:off x="521208" y="100584"/>
            <a:ext cx="182880" cy="182880"/>
          </a:xfrm>
          <a:prstGeom prst="rect">
            <a:avLst/>
          </a:prstGeom>
        </p:spPr>
      </p:pic>
      <p:pic>
        <p:nvPicPr>
          <p:cNvPr id="201" name="Image 8" descr="FaTriangleExclamation icon">    </p:cNvPr>
          <p:cNvPicPr>
            <a:picLocks noChangeAspect="1"/>
          </p:cNvPicPr>
          <p:nvPr/>
        </p:nvPicPr>
        <p:blipFill>
          <a:blip r:embed="rId9"/>
          <a:stretch>
            <a:fillRect/>
          </a:stretch>
        </p:blipFill>
        <p:spPr>
          <a:xfrm>
            <a:off x="2084032" y="100584"/>
            <a:ext cx="182880" cy="182880"/>
          </a:xfrm>
          <a:prstGeom prst="rect">
            <a:avLst/>
          </a:prstGeom>
        </p:spPr>
      </p:pic>
      <p:pic>
        <p:nvPicPr>
          <p:cNvPr id="202" name="Image 9" descr="FaMobileScreen icon">    </p:cNvPr>
          <p:cNvPicPr>
            <a:picLocks noChangeAspect="1"/>
          </p:cNvPicPr>
          <p:nvPr/>
        </p:nvPicPr>
        <p:blipFill>
          <a:blip r:embed="rId10"/>
          <a:stretch>
            <a:fillRect/>
          </a:stretch>
        </p:blipFill>
        <p:spPr>
          <a:xfrm>
            <a:off x="3482264" y="100584"/>
            <a:ext cx="182880" cy="182880"/>
          </a:xfrm>
          <a:prstGeom prst="rect">
            <a:avLst/>
          </a:prstGeom>
        </p:spPr>
      </p:pic>
      <p:pic>
        <p:nvPicPr>
          <p:cNvPr id="203" name="Image 10" descr="FaGears icon">    </p:cNvPr>
          <p:cNvPicPr>
            <a:picLocks noChangeAspect="1"/>
          </p:cNvPicPr>
          <p:nvPr/>
        </p:nvPicPr>
        <p:blipFill>
          <a:blip r:embed="rId11"/>
          <a:stretch>
            <a:fillRect/>
          </a:stretch>
        </p:blipFill>
        <p:spPr>
          <a:xfrm>
            <a:off x="4880496" y="100584"/>
            <a:ext cx="182880" cy="182880"/>
          </a:xfrm>
          <a:prstGeom prst="rect">
            <a:avLst/>
          </a:prstGeom>
        </p:spPr>
      </p:pic>
      <p:pic>
        <p:nvPicPr>
          <p:cNvPr id="204" name="Image 11" descr="FaShieldHalved icon">    </p:cNvPr>
          <p:cNvPicPr>
            <a:picLocks noChangeAspect="1"/>
          </p:cNvPicPr>
          <p:nvPr/>
        </p:nvPicPr>
        <p:blipFill>
          <a:blip r:embed="rId12"/>
          <a:stretch>
            <a:fillRect/>
          </a:stretch>
        </p:blipFill>
        <p:spPr>
          <a:xfrm>
            <a:off x="6278728" y="100584"/>
            <a:ext cx="182880" cy="182880"/>
          </a:xfrm>
          <a:prstGeom prst="rect">
            <a:avLst/>
          </a:prstGeom>
        </p:spPr>
      </p:pic>
      <p:pic>
        <p:nvPicPr>
          <p:cNvPr id="205" name="Image 12" descr="FaIndianRupeeSign icon">    </p:cNvPr>
          <p:cNvPicPr>
            <a:picLocks noChangeAspect="1"/>
          </p:cNvPicPr>
          <p:nvPr/>
        </p:nvPicPr>
        <p:blipFill>
          <a:blip r:embed="rId13"/>
          <a:stretch>
            <a:fillRect/>
          </a:stretch>
        </p:blipFill>
        <p:spPr>
          <a:xfrm>
            <a:off x="7676960" y="100584"/>
            <a:ext cx="182880" cy="182880"/>
          </a:xfrm>
          <a:prstGeom prst="rect">
            <a:avLst/>
          </a:prstGeom>
        </p:spPr>
      </p:pic>
      <p:pic>
        <p:nvPicPr>
          <p:cNvPr id="206" name="Image 13" descr="FaBullseye icon">    </p:cNvPr>
          <p:cNvPicPr>
            <a:picLocks noChangeAspect="1"/>
          </p:cNvPicPr>
          <p:nvPr/>
        </p:nvPicPr>
        <p:blipFill>
          <a:blip r:embed="rId14"/>
          <a:stretch>
            <a:fillRect/>
          </a:stretch>
        </p:blipFill>
        <p:spPr>
          <a:xfrm>
            <a:off x="9075191" y="100584"/>
            <a:ext cx="182880" cy="182880"/>
          </a:xfrm>
          <a:prstGeom prst="rect">
            <a:avLst/>
          </a:prstGeom>
        </p:spPr>
      </p:pic>
      <p:pic>
        <p:nvPicPr>
          <p:cNvPr id="207" name="Image 14" descr="FaBookOpen icon">    </p:cNvPr>
          <p:cNvPicPr>
            <a:picLocks noChangeAspect="1"/>
          </p:cNvPicPr>
          <p:nvPr/>
        </p:nvPicPr>
        <p:blipFill>
          <a:blip r:embed="rId15"/>
          <a:stretch>
            <a:fillRect/>
          </a:stretch>
        </p:blipFill>
        <p:spPr>
          <a:xfrm>
            <a:off x="10473423"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D4A24C"/>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alarm-clock">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EARLY WARNING: THE INTERVENTION JOURNEY</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Each week a mentor gets a short list: who to call, why, and what to offer. Under-18s get plain rules where the law asks</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822960" y="1371600"/>
            <a:ext cx="10515600" cy="0"/>
          </a:xfrm>
          <a:prstGeom prst="line">
            <a:avLst/>
          </a:prstGeom>
          <a:noFill/>
          <a:ln w="38100">
            <a:solidFill>
              <a:srgbClr val="C9D6E8"/>
            </a:solidFill>
            <a:prstDash val="solid"/>
          </a:ln>
        </p:spPr>
      </p:sp>
      <p:sp>
        <p:nvSpPr>
          <p:cNvPr id="26" name="Shape 22"/>
          <p:cNvSpPr/>
          <p:nvPr/>
        </p:nvSpPr>
        <p:spPr>
          <a:xfrm>
            <a:off x="411480" y="1115568"/>
            <a:ext cx="548640" cy="548640"/>
          </a:xfrm>
          <a:prstGeom prst="ellipse">
            <a:avLst/>
          </a:prstGeom>
          <a:solidFill>
            <a:srgbClr val="C0392B"/>
          </a:solidFill>
          <a:ln w="38100">
            <a:solidFill>
              <a:srgbClr val="FFFFFF"/>
            </a:solidFill>
            <a:prstDash val="solid"/>
          </a:ln>
        </p:spPr>
      </p:sp>
      <p:pic>
        <p:nvPicPr>
          <p:cNvPr id="27"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28"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29"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30"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31"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32"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33" name="Image 7" descr="FaBullseye icon">    </p:cNvPr>
          <p:cNvPicPr>
            <a:picLocks noChangeAspect="1"/>
          </p:cNvPicPr>
          <p:nvPr/>
        </p:nvPicPr>
        <p:blipFill>
          <a:blip r:embed="rId8"/>
          <a:stretch>
            <a:fillRect/>
          </a:stretch>
        </p:blipFill>
        <p:spPr>
          <a:xfrm>
            <a:off x="9075191" y="100584"/>
            <a:ext cx="182880" cy="182880"/>
          </a:xfrm>
          <a:prstGeom prst="rect">
            <a:avLst/>
          </a:prstGeom>
        </p:spPr>
      </p:pic>
      <p:pic>
        <p:nvPicPr>
          <p:cNvPr id="34" name="Image 8" descr="FaBookOpen icon">    </p:cNvPr>
          <p:cNvPicPr>
            <a:picLocks noChangeAspect="1"/>
          </p:cNvPicPr>
          <p:nvPr/>
        </p:nvPicPr>
        <p:blipFill>
          <a:blip r:embed="rId9"/>
          <a:stretch>
            <a:fillRect/>
          </a:stretch>
        </p:blipFill>
        <p:spPr>
          <a:xfrm>
            <a:off x="10473423" y="100584"/>
            <a:ext cx="182880" cy="182880"/>
          </a:xfrm>
          <a:prstGeom prst="rect">
            <a:avLst/>
          </a:prstGeom>
        </p:spPr>
      </p:pic>
      <p:pic>
        <p:nvPicPr>
          <p:cNvPr id="35" name="Image 9" descr="FaArrowTrendDown icon">    </p:cNvPr>
          <p:cNvPicPr>
            <a:picLocks noChangeAspect="1"/>
          </p:cNvPicPr>
          <p:nvPr/>
        </p:nvPicPr>
        <p:blipFill>
          <a:blip r:embed="rId10"/>
          <a:stretch>
            <a:fillRect/>
          </a:stretch>
        </p:blipFill>
        <p:spPr>
          <a:xfrm>
            <a:off x="539496" y="1243584"/>
            <a:ext cx="292608" cy="292608"/>
          </a:xfrm>
          <a:prstGeom prst="rect">
            <a:avLst/>
          </a:prstGeom>
        </p:spPr>
      </p:pic>
      <p:sp>
        <p:nvSpPr>
          <p:cNvPr id="36" name="Shape 23"/>
          <p:cNvSpPr/>
          <p:nvPr/>
        </p:nvSpPr>
        <p:spPr>
          <a:xfrm>
            <a:off x="1014984" y="1097280"/>
            <a:ext cx="2103120" cy="585216"/>
          </a:xfrm>
          <a:prstGeom prst="rect">
            <a:avLst/>
          </a:prstGeom>
          <a:solidFill>
            <a:srgbClr val="FFFFFF"/>
          </a:solidFill>
          <a:ln/>
        </p:spPr>
      </p:sp>
      <p:sp>
        <p:nvSpPr>
          <p:cNvPr id="37" name="Text 24"/>
          <p:cNvSpPr txBox="1"/>
          <p:nvPr/>
        </p:nvSpPr>
        <p:spPr>
          <a:xfrm>
            <a:off x="1051560" y="1097280"/>
            <a:ext cx="2057400" cy="585216"/>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Engagement drops</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six absences in ten classes</a:t>
            </a:r>
            <a:endParaRPr lang="en-US" sz="1400" dirty="0"/>
          </a:p>
        </p:txBody>
      </p:sp>
      <p:sp>
        <p:nvSpPr>
          <p:cNvPr id="38" name="Shape 25"/>
          <p:cNvSpPr/>
          <p:nvPr/>
        </p:nvSpPr>
        <p:spPr>
          <a:xfrm>
            <a:off x="3264408" y="1115568"/>
            <a:ext cx="548640" cy="548640"/>
          </a:xfrm>
          <a:prstGeom prst="ellipse">
            <a:avLst/>
          </a:prstGeom>
          <a:solidFill>
            <a:srgbClr val="1F4A82"/>
          </a:solidFill>
          <a:ln w="38100">
            <a:solidFill>
              <a:srgbClr val="FFFFFF"/>
            </a:solidFill>
            <a:prstDash val="solid"/>
          </a:ln>
        </p:spPr>
      </p:sp>
      <p:pic>
        <p:nvPicPr>
          <p:cNvPr id="39" name="Image 10" descr="FaFlag icon">    </p:cNvPr>
          <p:cNvPicPr>
            <a:picLocks noChangeAspect="1"/>
          </p:cNvPicPr>
          <p:nvPr/>
        </p:nvPicPr>
        <p:blipFill>
          <a:blip r:embed="rId11"/>
          <a:stretch>
            <a:fillRect/>
          </a:stretch>
        </p:blipFill>
        <p:spPr>
          <a:xfrm>
            <a:off x="3392424" y="1243584"/>
            <a:ext cx="292608" cy="292608"/>
          </a:xfrm>
          <a:prstGeom prst="rect">
            <a:avLst/>
          </a:prstGeom>
        </p:spPr>
      </p:pic>
      <p:sp>
        <p:nvSpPr>
          <p:cNvPr id="40" name="Shape 26"/>
          <p:cNvSpPr/>
          <p:nvPr/>
        </p:nvSpPr>
        <p:spPr>
          <a:xfrm>
            <a:off x="3867912" y="1097280"/>
            <a:ext cx="2103120" cy="585216"/>
          </a:xfrm>
          <a:prstGeom prst="rect">
            <a:avLst/>
          </a:prstGeom>
          <a:solidFill>
            <a:srgbClr val="FFFFFF"/>
          </a:solidFill>
          <a:ln/>
        </p:spPr>
      </p:sp>
      <p:sp>
        <p:nvSpPr>
          <p:cNvPr id="41" name="Text 27"/>
          <p:cNvSpPr txBox="1"/>
          <p:nvPr/>
        </p:nvSpPr>
        <p:spPr>
          <a:xfrm>
            <a:off x="3904488" y="1097280"/>
            <a:ext cx="2057400" cy="585216"/>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Model flags</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appears on the weekly list</a:t>
            </a:r>
            <a:endParaRPr lang="en-US" sz="1400" dirty="0"/>
          </a:p>
        </p:txBody>
      </p:sp>
      <p:sp>
        <p:nvSpPr>
          <p:cNvPr id="42" name="Shape 28"/>
          <p:cNvSpPr/>
          <p:nvPr/>
        </p:nvSpPr>
        <p:spPr>
          <a:xfrm>
            <a:off x="6117336" y="1115568"/>
            <a:ext cx="548640" cy="548640"/>
          </a:xfrm>
          <a:prstGeom prst="ellipse">
            <a:avLst/>
          </a:prstGeom>
          <a:solidFill>
            <a:srgbClr val="1F4A82"/>
          </a:solidFill>
          <a:ln w="38100">
            <a:solidFill>
              <a:srgbClr val="FFFFFF"/>
            </a:solidFill>
            <a:prstDash val="solid"/>
          </a:ln>
        </p:spPr>
      </p:sp>
      <p:pic>
        <p:nvPicPr>
          <p:cNvPr id="43" name="Image 11" descr="FaPhone icon">    </p:cNvPr>
          <p:cNvPicPr>
            <a:picLocks noChangeAspect="1"/>
          </p:cNvPicPr>
          <p:nvPr/>
        </p:nvPicPr>
        <p:blipFill>
          <a:blip r:embed="rId12"/>
          <a:stretch>
            <a:fillRect/>
          </a:stretch>
        </p:blipFill>
        <p:spPr>
          <a:xfrm>
            <a:off x="6245352" y="1243584"/>
            <a:ext cx="292608" cy="292608"/>
          </a:xfrm>
          <a:prstGeom prst="rect">
            <a:avLst/>
          </a:prstGeom>
        </p:spPr>
      </p:pic>
      <p:sp>
        <p:nvSpPr>
          <p:cNvPr id="44" name="Shape 29"/>
          <p:cNvSpPr/>
          <p:nvPr/>
        </p:nvSpPr>
        <p:spPr>
          <a:xfrm>
            <a:off x="6720840" y="1097280"/>
            <a:ext cx="2103120" cy="585216"/>
          </a:xfrm>
          <a:prstGeom prst="rect">
            <a:avLst/>
          </a:prstGeom>
          <a:solidFill>
            <a:srgbClr val="FFFFFF"/>
          </a:solidFill>
          <a:ln/>
        </p:spPr>
      </p:sp>
      <p:sp>
        <p:nvSpPr>
          <p:cNvPr id="45" name="Text 30"/>
          <p:cNvSpPr txBox="1"/>
          <p:nvPr/>
        </p:nvSpPr>
        <p:spPr>
          <a:xfrm>
            <a:off x="6757416" y="1097280"/>
            <a:ext cx="2057400" cy="585216"/>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Mentor calls</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supportive, not a warning</a:t>
            </a:r>
            <a:endParaRPr lang="en-US" sz="1400" dirty="0"/>
          </a:p>
        </p:txBody>
      </p:sp>
      <p:sp>
        <p:nvSpPr>
          <p:cNvPr id="46" name="Shape 31"/>
          <p:cNvSpPr/>
          <p:nvPr/>
        </p:nvSpPr>
        <p:spPr>
          <a:xfrm>
            <a:off x="8970264" y="1115568"/>
            <a:ext cx="548640" cy="548640"/>
          </a:xfrm>
          <a:prstGeom prst="ellipse">
            <a:avLst/>
          </a:prstGeom>
          <a:solidFill>
            <a:srgbClr val="1B8F55"/>
          </a:solidFill>
          <a:ln w="38100">
            <a:solidFill>
              <a:srgbClr val="FFFFFF"/>
            </a:solidFill>
            <a:prstDash val="solid"/>
          </a:ln>
        </p:spPr>
      </p:sp>
      <p:pic>
        <p:nvPicPr>
          <p:cNvPr id="47" name="Image 12" descr="FaUserCheck icon">    </p:cNvPr>
          <p:cNvPicPr>
            <a:picLocks noChangeAspect="1"/>
          </p:cNvPicPr>
          <p:nvPr/>
        </p:nvPicPr>
        <p:blipFill>
          <a:blip r:embed="rId13"/>
          <a:stretch>
            <a:fillRect/>
          </a:stretch>
        </p:blipFill>
        <p:spPr>
          <a:xfrm>
            <a:off x="9098280" y="1243584"/>
            <a:ext cx="292608" cy="292608"/>
          </a:xfrm>
          <a:prstGeom prst="rect">
            <a:avLst/>
          </a:prstGeom>
        </p:spPr>
      </p:pic>
      <p:sp>
        <p:nvSpPr>
          <p:cNvPr id="48" name="Shape 32"/>
          <p:cNvSpPr/>
          <p:nvPr/>
        </p:nvSpPr>
        <p:spPr>
          <a:xfrm>
            <a:off x="9573768" y="1097280"/>
            <a:ext cx="2103120" cy="585216"/>
          </a:xfrm>
          <a:prstGeom prst="rect">
            <a:avLst/>
          </a:prstGeom>
          <a:solidFill>
            <a:srgbClr val="FFFFFF"/>
          </a:solidFill>
          <a:ln/>
        </p:spPr>
      </p:sp>
      <p:sp>
        <p:nvSpPr>
          <p:cNvPr id="49" name="Text 33"/>
          <p:cNvSpPr txBox="1"/>
          <p:nvPr/>
        </p:nvSpPr>
        <p:spPr>
          <a:xfrm>
            <a:off x="9610344" y="1097280"/>
            <a:ext cx="2057400" cy="585216"/>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Student retained</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outcome logged, list updates</a:t>
            </a:r>
            <a:endParaRPr lang="en-US" sz="1400" dirty="0"/>
          </a:p>
        </p:txBody>
      </p:sp>
      <p:sp>
        <p:nvSpPr>
          <p:cNvPr id="50" name="Text 34"/>
          <p:cNvSpPr txBox="1"/>
          <p:nvPr/>
        </p:nvSpPr>
        <p:spPr>
          <a:xfrm>
            <a:off x="448056" y="1847088"/>
            <a:ext cx="347472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WHAT THE MENTOR SEES</a:t>
            </a:r>
            <a:endParaRPr lang="en-US" sz="1250" dirty="0"/>
          </a:p>
        </p:txBody>
      </p:sp>
      <p:sp>
        <p:nvSpPr>
          <p:cNvPr id="51" name="Shape 35"/>
          <p:cNvSpPr/>
          <p:nvPr/>
        </p:nvSpPr>
        <p:spPr>
          <a:xfrm>
            <a:off x="448056" y="2139696"/>
            <a:ext cx="3474720" cy="10973"/>
          </a:xfrm>
          <a:prstGeom prst="rect">
            <a:avLst/>
          </a:prstGeom>
          <a:solidFill>
            <a:srgbClr val="C9D6E8"/>
          </a:solidFill>
          <a:ln/>
        </p:spPr>
      </p:sp>
      <p:sp>
        <p:nvSpPr>
          <p:cNvPr id="52" name="Shape 36"/>
          <p:cNvSpPr/>
          <p:nvPr/>
        </p:nvSpPr>
        <p:spPr>
          <a:xfrm>
            <a:off x="448056" y="2130552"/>
            <a:ext cx="2194560" cy="27432"/>
          </a:xfrm>
          <a:prstGeom prst="rect">
            <a:avLst/>
          </a:prstGeom>
          <a:solidFill>
            <a:srgbClr val="1F4A82"/>
          </a:solidFill>
          <a:ln/>
        </p:spPr>
      </p:sp>
      <p:sp>
        <p:nvSpPr>
          <p:cNvPr id="53" name="Shape 37"/>
          <p:cNvSpPr/>
          <p:nvPr/>
        </p:nvSpPr>
        <p:spPr>
          <a:xfrm>
            <a:off x="4032504" y="1874520"/>
            <a:ext cx="0" cy="4480560"/>
          </a:xfrm>
          <a:prstGeom prst="line">
            <a:avLst/>
          </a:prstGeom>
          <a:noFill/>
          <a:ln w="12700">
            <a:solidFill>
              <a:srgbClr val="8FA9CC"/>
            </a:solidFill>
            <a:prstDash val="dash"/>
          </a:ln>
        </p:spPr>
      </p:sp>
      <p:pic>
        <p:nvPicPr>
          <p:cNvPr id="54" name="Image 13" descr="Weekly support list (illustrative)">    </p:cNvPr>
          <p:cNvPicPr>
            <a:picLocks noChangeAspect="1"/>
          </p:cNvPicPr>
          <p:nvPr/>
        </p:nvPicPr>
        <p:blipFill>
          <a:blip r:embed="rId14"/>
          <a:stretch>
            <a:fillRect/>
          </a:stretch>
        </p:blipFill>
        <p:spPr>
          <a:xfrm>
            <a:off x="457200" y="2194560"/>
            <a:ext cx="3474720" cy="1956816"/>
          </a:xfrm>
          <a:prstGeom prst="rect">
            <a:avLst/>
          </a:prstGeom>
        </p:spPr>
      </p:pic>
      <p:sp>
        <p:nvSpPr>
          <p:cNvPr id="55" name="Shape 38"/>
          <p:cNvSpPr/>
          <p:nvPr/>
        </p:nvSpPr>
        <p:spPr>
          <a:xfrm>
            <a:off x="2880360" y="2743200"/>
            <a:ext cx="237744" cy="237744"/>
          </a:xfrm>
          <a:prstGeom prst="ellipse">
            <a:avLst/>
          </a:prstGeom>
          <a:solidFill>
            <a:srgbClr val="1F4A82"/>
          </a:solidFill>
          <a:ln w="19050">
            <a:solidFill>
              <a:srgbClr val="FFFFFF"/>
            </a:solidFill>
            <a:prstDash val="solid"/>
          </a:ln>
        </p:spPr>
      </p:sp>
      <p:sp>
        <p:nvSpPr>
          <p:cNvPr id="56" name="Text 39"/>
          <p:cNvSpPr txBox="1"/>
          <p:nvPr/>
        </p:nvSpPr>
        <p:spPr>
          <a:xfrm>
            <a:off x="2880360" y="274320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57" name="Shape 40"/>
          <p:cNvSpPr/>
          <p:nvPr/>
        </p:nvSpPr>
        <p:spPr>
          <a:xfrm>
            <a:off x="1783080" y="3017520"/>
            <a:ext cx="237744" cy="237744"/>
          </a:xfrm>
          <a:prstGeom prst="ellipse">
            <a:avLst/>
          </a:prstGeom>
          <a:solidFill>
            <a:srgbClr val="1F4A82"/>
          </a:solidFill>
          <a:ln w="19050">
            <a:solidFill>
              <a:srgbClr val="FFFFFF"/>
            </a:solidFill>
            <a:prstDash val="solid"/>
          </a:ln>
        </p:spPr>
      </p:sp>
      <p:sp>
        <p:nvSpPr>
          <p:cNvPr id="58" name="Text 41"/>
          <p:cNvSpPr txBox="1"/>
          <p:nvPr/>
        </p:nvSpPr>
        <p:spPr>
          <a:xfrm>
            <a:off x="1783080" y="301752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59" name="Shape 42"/>
          <p:cNvSpPr/>
          <p:nvPr/>
        </p:nvSpPr>
        <p:spPr>
          <a:xfrm>
            <a:off x="457200" y="4187952"/>
            <a:ext cx="1380744" cy="182880"/>
          </a:xfrm>
          <a:prstGeom prst="roundRect">
            <a:avLst>
              <a:gd name="adj" fmla="val 50000"/>
            </a:avLst>
          </a:prstGeom>
          <a:solidFill>
            <a:srgbClr val="FFFFFF"/>
          </a:solidFill>
          <a:ln w="12700">
            <a:solidFill>
              <a:srgbClr val="5B6573"/>
            </a:solidFill>
            <a:prstDash val="solid"/>
          </a:ln>
        </p:spPr>
      </p:sp>
      <p:sp>
        <p:nvSpPr>
          <p:cNvPr id="60" name="Text 43"/>
          <p:cNvSpPr txBox="1"/>
          <p:nvPr/>
        </p:nvSpPr>
        <p:spPr>
          <a:xfrm>
            <a:off x="457200" y="4187952"/>
            <a:ext cx="1380744" cy="182880"/>
          </a:xfrm>
          <a:prstGeom prst="rect">
            <a:avLst/>
          </a:prstGeom>
          <a:noFill/>
          <a:ln/>
        </p:spPr>
        <p:txBody>
          <a:bodyPr wrap="square" lIns="0" tIns="0" rIns="0" bIns="0" rtlCol="0" anchor="ctr"/>
          <a:lstStyle/>
          <a:p>
            <a:pPr algn="ctr" indent="0" marL="0">
              <a:buNone/>
            </a:pPr>
            <a:r>
              <a:rPr lang="en-US" sz="750" b="1" spc="100" kern="0" dirty="0">
                <a:solidFill>
                  <a:srgbClr val="5B6573"/>
                </a:solidFill>
                <a:latin typeface="Calibri" pitchFamily="34" charset="0"/>
                <a:ea typeface="Calibri" pitchFamily="34" charset="-122"/>
                <a:cs typeface="Calibri" pitchFamily="34" charset="-120"/>
              </a:rPr>
              <a:t>ILLUSTRATIVE MOCK-UP</a:t>
            </a:r>
            <a:endParaRPr lang="en-US" sz="750" dirty="0"/>
          </a:p>
        </p:txBody>
      </p:sp>
      <p:sp>
        <p:nvSpPr>
          <p:cNvPr id="61" name="Text 44"/>
          <p:cNvSpPr txBox="1"/>
          <p:nvPr/>
        </p:nvSpPr>
        <p:spPr>
          <a:xfrm>
            <a:off x="457200" y="4443984"/>
            <a:ext cx="3474720" cy="201168"/>
          </a:xfrm>
          <a:prstGeom prst="rect">
            <a:avLst/>
          </a:prstGeom>
          <a:noFill/>
          <a:ln/>
        </p:spPr>
        <p:txBody>
          <a:bodyPr wrap="square" lIns="0" tIns="0" rIns="0" bIns="0" rtlCol="0" anchor="t"/>
          <a:lstStyle/>
          <a:p>
            <a:pPr algn="l" indent="0" marL="0">
              <a:buNone/>
            </a:pPr>
            <a:r>
              <a:rPr lang="en-US" sz="900" b="1" spc="80" kern="0" dirty="0">
                <a:solidFill>
                  <a:srgbClr val="1F4A82"/>
                </a:solidFill>
                <a:latin typeface="Calibri" pitchFamily="34" charset="0"/>
                <a:ea typeface="Calibri" pitchFamily="34" charset="-122"/>
                <a:cs typeface="Calibri" pitchFamily="34" charset="-120"/>
              </a:rPr>
              <a:t>HOW A FLAG IS MADE</a:t>
            </a:r>
            <a:endParaRPr lang="en-US" sz="900" dirty="0"/>
          </a:p>
        </p:txBody>
      </p:sp>
      <p:sp>
        <p:nvSpPr>
          <p:cNvPr id="62" name="Shape 45"/>
          <p:cNvSpPr/>
          <p:nvPr/>
        </p:nvSpPr>
        <p:spPr>
          <a:xfrm>
            <a:off x="484632" y="4690872"/>
            <a:ext cx="256032" cy="256032"/>
          </a:xfrm>
          <a:prstGeom prst="ellipse">
            <a:avLst/>
          </a:prstGeom>
          <a:solidFill>
            <a:srgbClr val="1F4A82"/>
          </a:solidFill>
          <a:ln/>
        </p:spPr>
      </p:sp>
      <p:pic>
        <p:nvPicPr>
          <p:cNvPr id="63" name="Image 14" descr="FaClock icon">    </p:cNvPr>
          <p:cNvPicPr>
            <a:picLocks noChangeAspect="1"/>
          </p:cNvPicPr>
          <p:nvPr/>
        </p:nvPicPr>
        <p:blipFill>
          <a:blip r:embed="rId15"/>
          <a:stretch>
            <a:fillRect/>
          </a:stretch>
        </p:blipFill>
        <p:spPr>
          <a:xfrm>
            <a:off x="540959" y="4747199"/>
            <a:ext cx="143378" cy="143378"/>
          </a:xfrm>
          <a:prstGeom prst="rect">
            <a:avLst/>
          </a:prstGeom>
        </p:spPr>
      </p:pic>
      <p:sp>
        <p:nvSpPr>
          <p:cNvPr id="64" name="Text 46"/>
          <p:cNvSpPr txBox="1"/>
          <p:nvPr/>
        </p:nvSpPr>
        <p:spPr>
          <a:xfrm>
            <a:off x="822960" y="4681728"/>
            <a:ext cx="31089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Uses only data up to that date</a:t>
            </a:r>
            <a:endParaRPr lang="en-US" sz="900" dirty="0"/>
          </a:p>
        </p:txBody>
      </p:sp>
      <p:sp>
        <p:nvSpPr>
          <p:cNvPr id="65" name="Shape 47"/>
          <p:cNvSpPr/>
          <p:nvPr/>
        </p:nvSpPr>
        <p:spPr>
          <a:xfrm>
            <a:off x="484632" y="5010912"/>
            <a:ext cx="256032" cy="256032"/>
          </a:xfrm>
          <a:prstGeom prst="ellipse">
            <a:avLst/>
          </a:prstGeom>
          <a:solidFill>
            <a:srgbClr val="2E6DB4"/>
          </a:solidFill>
          <a:ln/>
        </p:spPr>
      </p:sp>
      <p:pic>
        <p:nvPicPr>
          <p:cNvPr id="66" name="Image 15" descr="FaScaleBalanced icon">    </p:cNvPr>
          <p:cNvPicPr>
            <a:picLocks noChangeAspect="1"/>
          </p:cNvPicPr>
          <p:nvPr/>
        </p:nvPicPr>
        <p:blipFill>
          <a:blip r:embed="rId16"/>
          <a:stretch>
            <a:fillRect/>
          </a:stretch>
        </p:blipFill>
        <p:spPr>
          <a:xfrm>
            <a:off x="540959" y="5067239"/>
            <a:ext cx="143378" cy="143378"/>
          </a:xfrm>
          <a:prstGeom prst="rect">
            <a:avLst/>
          </a:prstGeom>
        </p:spPr>
      </p:pic>
      <p:sp>
        <p:nvSpPr>
          <p:cNvPr id="67" name="Text 48"/>
          <p:cNvSpPr txBox="1"/>
          <p:nvPr/>
        </p:nvSpPr>
        <p:spPr>
          <a:xfrm>
            <a:off x="822960" y="5001768"/>
            <a:ext cx="31089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Routes by age and purpose</a:t>
            </a:r>
            <a:endParaRPr lang="en-US" sz="900" dirty="0"/>
          </a:p>
        </p:txBody>
      </p:sp>
      <p:sp>
        <p:nvSpPr>
          <p:cNvPr id="68" name="Shape 49"/>
          <p:cNvSpPr/>
          <p:nvPr/>
        </p:nvSpPr>
        <p:spPr>
          <a:xfrm>
            <a:off x="484632" y="5330952"/>
            <a:ext cx="256032" cy="256032"/>
          </a:xfrm>
          <a:prstGeom prst="ellipse">
            <a:avLst/>
          </a:prstGeom>
          <a:solidFill>
            <a:srgbClr val="1F4A82"/>
          </a:solidFill>
          <a:ln/>
        </p:spPr>
      </p:sp>
      <p:pic>
        <p:nvPicPr>
          <p:cNvPr id="69" name="Image 16" descr="FaChartLine icon">    </p:cNvPr>
          <p:cNvPicPr>
            <a:picLocks noChangeAspect="1"/>
          </p:cNvPicPr>
          <p:nvPr/>
        </p:nvPicPr>
        <p:blipFill>
          <a:blip r:embed="rId17"/>
          <a:stretch>
            <a:fillRect/>
          </a:stretch>
        </p:blipFill>
        <p:spPr>
          <a:xfrm>
            <a:off x="540959" y="5387279"/>
            <a:ext cx="143378" cy="143378"/>
          </a:xfrm>
          <a:prstGeom prst="rect">
            <a:avLst/>
          </a:prstGeom>
        </p:spPr>
      </p:pic>
      <p:sp>
        <p:nvSpPr>
          <p:cNvPr id="70" name="Text 50"/>
          <p:cNvSpPr txBox="1"/>
          <p:nvPr/>
        </p:nvSpPr>
        <p:spPr>
          <a:xfrm>
            <a:off x="822960" y="5321808"/>
            <a:ext cx="31089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Scores, or applies a plain rule</a:t>
            </a:r>
            <a:endParaRPr lang="en-US" sz="900" dirty="0"/>
          </a:p>
        </p:txBody>
      </p:sp>
      <p:sp>
        <p:nvSpPr>
          <p:cNvPr id="71" name="Shape 51"/>
          <p:cNvSpPr/>
          <p:nvPr/>
        </p:nvSpPr>
        <p:spPr>
          <a:xfrm>
            <a:off x="484632" y="5650992"/>
            <a:ext cx="256032" cy="256032"/>
          </a:xfrm>
          <a:prstGeom prst="ellipse">
            <a:avLst/>
          </a:prstGeom>
          <a:solidFill>
            <a:srgbClr val="5B8DC9"/>
          </a:solidFill>
          <a:ln/>
        </p:spPr>
      </p:sp>
      <p:pic>
        <p:nvPicPr>
          <p:cNvPr id="72" name="Image 17" descr="FaClipboardCheck icon">    </p:cNvPr>
          <p:cNvPicPr>
            <a:picLocks noChangeAspect="1"/>
          </p:cNvPicPr>
          <p:nvPr/>
        </p:nvPicPr>
        <p:blipFill>
          <a:blip r:embed="rId18"/>
          <a:stretch>
            <a:fillRect/>
          </a:stretch>
        </p:blipFill>
        <p:spPr>
          <a:xfrm>
            <a:off x="540959" y="5707319"/>
            <a:ext cx="143378" cy="143378"/>
          </a:xfrm>
          <a:prstGeom prst="rect">
            <a:avLst/>
          </a:prstGeom>
        </p:spPr>
      </p:pic>
      <p:sp>
        <p:nvSpPr>
          <p:cNvPr id="73" name="Text 52"/>
          <p:cNvSpPr txBox="1"/>
          <p:nvPr/>
        </p:nvSpPr>
        <p:spPr>
          <a:xfrm>
            <a:off x="822960" y="5641848"/>
            <a:ext cx="31089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Gives reasons and a supportive action</a:t>
            </a:r>
            <a:endParaRPr lang="en-US" sz="900" dirty="0"/>
          </a:p>
        </p:txBody>
      </p:sp>
      <p:sp>
        <p:nvSpPr>
          <p:cNvPr id="74" name="Shape 53"/>
          <p:cNvSpPr/>
          <p:nvPr/>
        </p:nvSpPr>
        <p:spPr>
          <a:xfrm>
            <a:off x="484632" y="5971032"/>
            <a:ext cx="256032" cy="256032"/>
          </a:xfrm>
          <a:prstGeom prst="ellipse">
            <a:avLst/>
          </a:prstGeom>
          <a:solidFill>
            <a:srgbClr val="1F4A82"/>
          </a:solidFill>
          <a:ln/>
        </p:spPr>
      </p:sp>
      <p:pic>
        <p:nvPicPr>
          <p:cNvPr id="75" name="Image 18" descr="FaHandshake icon">    </p:cNvPr>
          <p:cNvPicPr>
            <a:picLocks noChangeAspect="1"/>
          </p:cNvPicPr>
          <p:nvPr/>
        </p:nvPicPr>
        <p:blipFill>
          <a:blip r:embed="rId19"/>
          <a:stretch>
            <a:fillRect/>
          </a:stretch>
        </p:blipFill>
        <p:spPr>
          <a:xfrm>
            <a:off x="540959" y="6027359"/>
            <a:ext cx="143378" cy="143378"/>
          </a:xfrm>
          <a:prstGeom prst="rect">
            <a:avLst/>
          </a:prstGeom>
        </p:spPr>
      </p:pic>
      <p:sp>
        <p:nvSpPr>
          <p:cNvPr id="76" name="Text 54"/>
          <p:cNvSpPr txBox="1"/>
          <p:nvPr/>
        </p:nvSpPr>
        <p:spPr>
          <a:xfrm>
            <a:off x="822960" y="5961888"/>
            <a:ext cx="31089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A person decides; outcome is logged</a:t>
            </a:r>
            <a:endParaRPr lang="en-US" sz="900" dirty="0"/>
          </a:p>
        </p:txBody>
      </p:sp>
      <p:sp>
        <p:nvSpPr>
          <p:cNvPr id="77" name="Text 55"/>
          <p:cNvSpPr txBox="1"/>
          <p:nvPr/>
        </p:nvSpPr>
        <p:spPr>
          <a:xfrm>
            <a:off x="4197096" y="1847088"/>
            <a:ext cx="356616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REAL-DATA CHECK ON OULAD (WITHDRAWAL)</a:t>
            </a:r>
            <a:endParaRPr lang="en-US" sz="1250" dirty="0"/>
          </a:p>
        </p:txBody>
      </p:sp>
      <p:sp>
        <p:nvSpPr>
          <p:cNvPr id="78" name="Shape 56"/>
          <p:cNvSpPr/>
          <p:nvPr/>
        </p:nvSpPr>
        <p:spPr>
          <a:xfrm>
            <a:off x="4197096" y="2139696"/>
            <a:ext cx="3566160" cy="10973"/>
          </a:xfrm>
          <a:prstGeom prst="rect">
            <a:avLst/>
          </a:prstGeom>
          <a:solidFill>
            <a:srgbClr val="C9D6E8"/>
          </a:solidFill>
          <a:ln/>
        </p:spPr>
      </p:sp>
      <p:sp>
        <p:nvSpPr>
          <p:cNvPr id="79" name="Shape 57"/>
          <p:cNvSpPr/>
          <p:nvPr/>
        </p:nvSpPr>
        <p:spPr>
          <a:xfrm>
            <a:off x="4197096" y="2130552"/>
            <a:ext cx="2194560" cy="27432"/>
          </a:xfrm>
          <a:prstGeom prst="rect">
            <a:avLst/>
          </a:prstGeom>
          <a:solidFill>
            <a:srgbClr val="1F4A82"/>
          </a:solidFill>
          <a:ln/>
        </p:spPr>
      </p:sp>
      <p:sp>
        <p:nvSpPr>
          <p:cNvPr id="80" name="Shape 58"/>
          <p:cNvSpPr/>
          <p:nvPr/>
        </p:nvSpPr>
        <p:spPr>
          <a:xfrm>
            <a:off x="7872984" y="1874520"/>
            <a:ext cx="0" cy="4480560"/>
          </a:xfrm>
          <a:prstGeom prst="line">
            <a:avLst/>
          </a:prstGeom>
          <a:noFill/>
          <a:ln w="12700">
            <a:solidFill>
              <a:srgbClr val="8FA9CC"/>
            </a:solidFill>
            <a:prstDash val="dash"/>
          </a:ln>
        </p:spPr>
      </p:sp>
      <p:pic>
        <p:nvPicPr>
          <p:cNvPr id="81" name="Image 19" descr="Withdrawal prediction accuracy by observation window">    </p:cNvPr>
          <p:cNvPicPr>
            <a:picLocks noChangeAspect="1"/>
          </p:cNvPicPr>
          <p:nvPr/>
        </p:nvPicPr>
        <p:blipFill>
          <a:blip r:embed="rId20"/>
          <a:stretch>
            <a:fillRect/>
          </a:stretch>
        </p:blipFill>
        <p:spPr>
          <a:xfrm>
            <a:off x="4224528" y="2194560"/>
            <a:ext cx="3529584" cy="2450592"/>
          </a:xfrm>
          <a:prstGeom prst="rect">
            <a:avLst/>
          </a:prstGeom>
        </p:spPr>
      </p:pic>
      <p:sp>
        <p:nvSpPr>
          <p:cNvPr id="82" name="Shape 59"/>
          <p:cNvSpPr/>
          <p:nvPr/>
        </p:nvSpPr>
        <p:spPr>
          <a:xfrm>
            <a:off x="4251960" y="4663440"/>
            <a:ext cx="992124" cy="219456"/>
          </a:xfrm>
          <a:prstGeom prst="roundRect">
            <a:avLst>
              <a:gd name="adj" fmla="val 50000"/>
            </a:avLst>
          </a:prstGeom>
          <a:solidFill>
            <a:srgbClr val="FFFFFF"/>
          </a:solidFill>
          <a:ln w="12700">
            <a:solidFill>
              <a:srgbClr val="1F4A82"/>
            </a:solidFill>
            <a:prstDash val="solid"/>
          </a:ln>
        </p:spPr>
      </p:sp>
      <p:sp>
        <p:nvSpPr>
          <p:cNvPr id="83" name="Text 60"/>
          <p:cNvSpPr txBox="1"/>
          <p:nvPr/>
        </p:nvSpPr>
        <p:spPr>
          <a:xfrm>
            <a:off x="4251960" y="4663440"/>
            <a:ext cx="992124" cy="219456"/>
          </a:xfrm>
          <a:prstGeom prst="rect">
            <a:avLst/>
          </a:prstGeom>
          <a:noFill/>
          <a:ln/>
        </p:spPr>
        <p:txBody>
          <a:bodyPr wrap="square" lIns="0" tIns="0" rIns="0" bIns="0" rtlCol="0" anchor="ctr"/>
          <a:lstStyle/>
          <a:p>
            <a:pPr algn="ctr" indent="0" marL="0">
              <a:buNone/>
            </a:pPr>
            <a:r>
              <a:rPr lang="en-US" sz="900" b="1" spc="100" kern="0" dirty="0">
                <a:solidFill>
                  <a:srgbClr val="1F4A82"/>
                </a:solidFill>
                <a:latin typeface="Calibri" pitchFamily="34" charset="0"/>
                <a:ea typeface="Calibri" pitchFamily="34" charset="-122"/>
                <a:cs typeface="Calibri" pitchFamily="34" charset="-120"/>
              </a:rPr>
              <a:t>PUBLIC DATA</a:t>
            </a:r>
            <a:endParaRPr lang="en-US" sz="900" dirty="0"/>
          </a:p>
        </p:txBody>
      </p:sp>
      <p:sp>
        <p:nvSpPr>
          <p:cNvPr id="84" name="Shape 61"/>
          <p:cNvSpPr/>
          <p:nvPr/>
        </p:nvSpPr>
        <p:spPr>
          <a:xfrm>
            <a:off x="4224528" y="4919472"/>
            <a:ext cx="1828800" cy="219456"/>
          </a:xfrm>
          <a:prstGeom prst="rect">
            <a:avLst/>
          </a:prstGeom>
          <a:solidFill>
            <a:srgbClr val="1F4A82"/>
          </a:solidFill>
          <a:ln/>
        </p:spPr>
      </p:sp>
      <p:sp>
        <p:nvSpPr>
          <p:cNvPr id="85" name="Text 62"/>
          <p:cNvSpPr txBox="1"/>
          <p:nvPr/>
        </p:nvSpPr>
        <p:spPr>
          <a:xfrm>
            <a:off x="4270248" y="4919472"/>
            <a:ext cx="1737360" cy="219456"/>
          </a:xfrm>
          <a:prstGeom prst="rect">
            <a:avLst/>
          </a:prstGeom>
          <a:noFill/>
          <a:ln/>
        </p:spPr>
        <p:txBody>
          <a:bodyPr wrap="square" lIns="0" tIns="0" rIns="0" bIns="0"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Day 28, 5-fold by student</a:t>
            </a:r>
            <a:endParaRPr lang="en-US" sz="850" dirty="0"/>
          </a:p>
        </p:txBody>
      </p:sp>
      <p:sp>
        <p:nvSpPr>
          <p:cNvPr id="86" name="Shape 63"/>
          <p:cNvSpPr/>
          <p:nvPr/>
        </p:nvSpPr>
        <p:spPr>
          <a:xfrm>
            <a:off x="6053328" y="4919472"/>
            <a:ext cx="822960" cy="219456"/>
          </a:xfrm>
          <a:prstGeom prst="rect">
            <a:avLst/>
          </a:prstGeom>
          <a:solidFill>
            <a:srgbClr val="1F4A82"/>
          </a:solidFill>
          <a:ln/>
        </p:spPr>
      </p:sp>
      <p:sp>
        <p:nvSpPr>
          <p:cNvPr id="87" name="Text 64"/>
          <p:cNvSpPr txBox="1"/>
          <p:nvPr/>
        </p:nvSpPr>
        <p:spPr>
          <a:xfrm>
            <a:off x="6099048" y="4919472"/>
            <a:ext cx="73152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AUC</a:t>
            </a:r>
            <a:endParaRPr lang="en-US" sz="850" dirty="0"/>
          </a:p>
        </p:txBody>
      </p:sp>
      <p:sp>
        <p:nvSpPr>
          <p:cNvPr id="88" name="Shape 65"/>
          <p:cNvSpPr/>
          <p:nvPr/>
        </p:nvSpPr>
        <p:spPr>
          <a:xfrm>
            <a:off x="6876288" y="4919472"/>
            <a:ext cx="877824" cy="219456"/>
          </a:xfrm>
          <a:prstGeom prst="rect">
            <a:avLst/>
          </a:prstGeom>
          <a:solidFill>
            <a:srgbClr val="1F4A82"/>
          </a:solidFill>
          <a:ln/>
        </p:spPr>
      </p:sp>
      <p:sp>
        <p:nvSpPr>
          <p:cNvPr id="89" name="Text 66"/>
          <p:cNvSpPr txBox="1"/>
          <p:nvPr/>
        </p:nvSpPr>
        <p:spPr>
          <a:xfrm>
            <a:off x="6922008" y="4919472"/>
            <a:ext cx="786384"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P@10 %</a:t>
            </a:r>
            <a:endParaRPr lang="en-US" sz="850" dirty="0"/>
          </a:p>
        </p:txBody>
      </p:sp>
      <p:sp>
        <p:nvSpPr>
          <p:cNvPr id="90" name="Shape 67"/>
          <p:cNvSpPr/>
          <p:nvPr/>
        </p:nvSpPr>
        <p:spPr>
          <a:xfrm>
            <a:off x="4224528" y="5138928"/>
            <a:ext cx="1828800" cy="219456"/>
          </a:xfrm>
          <a:prstGeom prst="rect">
            <a:avLst/>
          </a:prstGeom>
          <a:solidFill>
            <a:srgbClr val="D6E4F5"/>
          </a:solidFill>
          <a:ln/>
        </p:spPr>
      </p:sp>
      <p:sp>
        <p:nvSpPr>
          <p:cNvPr id="91" name="Text 68"/>
          <p:cNvSpPr txBox="1"/>
          <p:nvPr/>
        </p:nvSpPr>
        <p:spPr>
          <a:xfrm>
            <a:off x="4270248" y="5138928"/>
            <a:ext cx="1737360" cy="219456"/>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LightGBM, academic + clicks</a:t>
            </a:r>
            <a:endParaRPr lang="en-US" sz="850" dirty="0"/>
          </a:p>
        </p:txBody>
      </p:sp>
      <p:sp>
        <p:nvSpPr>
          <p:cNvPr id="92" name="Shape 69"/>
          <p:cNvSpPr/>
          <p:nvPr/>
        </p:nvSpPr>
        <p:spPr>
          <a:xfrm>
            <a:off x="6053328" y="5138928"/>
            <a:ext cx="822960" cy="219456"/>
          </a:xfrm>
          <a:prstGeom prst="rect">
            <a:avLst/>
          </a:prstGeom>
          <a:solidFill>
            <a:srgbClr val="D6E4F5"/>
          </a:solidFill>
          <a:ln/>
        </p:spPr>
      </p:sp>
      <p:sp>
        <p:nvSpPr>
          <p:cNvPr id="93" name="Text 70"/>
          <p:cNvSpPr txBox="1"/>
          <p:nvPr/>
        </p:nvSpPr>
        <p:spPr>
          <a:xfrm>
            <a:off x="6099048" y="5138928"/>
            <a:ext cx="731520" cy="219456"/>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0.706</a:t>
            </a:r>
            <a:endParaRPr lang="en-US" sz="850" dirty="0"/>
          </a:p>
        </p:txBody>
      </p:sp>
      <p:sp>
        <p:nvSpPr>
          <p:cNvPr id="94" name="Shape 71"/>
          <p:cNvSpPr/>
          <p:nvPr/>
        </p:nvSpPr>
        <p:spPr>
          <a:xfrm>
            <a:off x="6876288" y="5138928"/>
            <a:ext cx="877824" cy="219456"/>
          </a:xfrm>
          <a:prstGeom prst="rect">
            <a:avLst/>
          </a:prstGeom>
          <a:solidFill>
            <a:srgbClr val="D6E4F5"/>
          </a:solidFill>
          <a:ln/>
        </p:spPr>
      </p:sp>
      <p:sp>
        <p:nvSpPr>
          <p:cNvPr id="95" name="Text 72"/>
          <p:cNvSpPr txBox="1"/>
          <p:nvPr/>
        </p:nvSpPr>
        <p:spPr>
          <a:xfrm>
            <a:off x="6922008" y="5138928"/>
            <a:ext cx="786384" cy="219456"/>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0.46</a:t>
            </a:r>
            <a:endParaRPr lang="en-US" sz="850" dirty="0"/>
          </a:p>
        </p:txBody>
      </p:sp>
      <p:sp>
        <p:nvSpPr>
          <p:cNvPr id="96" name="Shape 73"/>
          <p:cNvSpPr/>
          <p:nvPr/>
        </p:nvSpPr>
        <p:spPr>
          <a:xfrm>
            <a:off x="4224528" y="5358384"/>
            <a:ext cx="3529584" cy="0"/>
          </a:xfrm>
          <a:prstGeom prst="line">
            <a:avLst/>
          </a:prstGeom>
          <a:noFill/>
          <a:ln w="6350">
            <a:solidFill>
              <a:srgbClr val="E3E8E4"/>
            </a:solidFill>
            <a:prstDash val="solid"/>
          </a:ln>
        </p:spPr>
      </p:sp>
      <p:sp>
        <p:nvSpPr>
          <p:cNvPr id="97" name="Shape 74"/>
          <p:cNvSpPr/>
          <p:nvPr/>
        </p:nvSpPr>
        <p:spPr>
          <a:xfrm>
            <a:off x="4224528" y="5358384"/>
            <a:ext cx="1828800" cy="219456"/>
          </a:xfrm>
          <a:prstGeom prst="rect">
            <a:avLst/>
          </a:prstGeom>
          <a:solidFill>
            <a:srgbClr val="F1F7F3"/>
          </a:solidFill>
          <a:ln/>
        </p:spPr>
      </p:sp>
      <p:sp>
        <p:nvSpPr>
          <p:cNvPr id="98" name="Text 75"/>
          <p:cNvSpPr txBox="1"/>
          <p:nvPr/>
        </p:nvSpPr>
        <p:spPr>
          <a:xfrm>
            <a:off x="4270248" y="5358384"/>
            <a:ext cx="1737360" cy="219456"/>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LightGBM, academic only</a:t>
            </a:r>
            <a:endParaRPr lang="en-US" sz="850" dirty="0"/>
          </a:p>
        </p:txBody>
      </p:sp>
      <p:sp>
        <p:nvSpPr>
          <p:cNvPr id="99" name="Shape 76"/>
          <p:cNvSpPr/>
          <p:nvPr/>
        </p:nvSpPr>
        <p:spPr>
          <a:xfrm>
            <a:off x="6053328" y="5358384"/>
            <a:ext cx="822960" cy="219456"/>
          </a:xfrm>
          <a:prstGeom prst="rect">
            <a:avLst/>
          </a:prstGeom>
          <a:solidFill>
            <a:srgbClr val="F1F7F3"/>
          </a:solidFill>
          <a:ln/>
        </p:spPr>
      </p:sp>
      <p:sp>
        <p:nvSpPr>
          <p:cNvPr id="100" name="Text 77"/>
          <p:cNvSpPr txBox="1"/>
          <p:nvPr/>
        </p:nvSpPr>
        <p:spPr>
          <a:xfrm>
            <a:off x="6099048" y="5358384"/>
            <a:ext cx="731520" cy="219456"/>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0.698</a:t>
            </a:r>
            <a:endParaRPr lang="en-US" sz="850" dirty="0"/>
          </a:p>
        </p:txBody>
      </p:sp>
      <p:sp>
        <p:nvSpPr>
          <p:cNvPr id="101" name="Shape 78"/>
          <p:cNvSpPr/>
          <p:nvPr/>
        </p:nvSpPr>
        <p:spPr>
          <a:xfrm>
            <a:off x="6876288" y="5358384"/>
            <a:ext cx="877824" cy="219456"/>
          </a:xfrm>
          <a:prstGeom prst="rect">
            <a:avLst/>
          </a:prstGeom>
          <a:solidFill>
            <a:srgbClr val="F1F7F3"/>
          </a:solidFill>
          <a:ln/>
        </p:spPr>
      </p:sp>
      <p:sp>
        <p:nvSpPr>
          <p:cNvPr id="102" name="Text 79"/>
          <p:cNvSpPr txBox="1"/>
          <p:nvPr/>
        </p:nvSpPr>
        <p:spPr>
          <a:xfrm>
            <a:off x="6922008" y="5358384"/>
            <a:ext cx="786384" cy="219456"/>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0.46</a:t>
            </a:r>
            <a:endParaRPr lang="en-US" sz="850" dirty="0"/>
          </a:p>
        </p:txBody>
      </p:sp>
      <p:sp>
        <p:nvSpPr>
          <p:cNvPr id="103" name="Shape 80"/>
          <p:cNvSpPr/>
          <p:nvPr/>
        </p:nvSpPr>
        <p:spPr>
          <a:xfrm>
            <a:off x="4224528" y="5577840"/>
            <a:ext cx="3529584" cy="0"/>
          </a:xfrm>
          <a:prstGeom prst="line">
            <a:avLst/>
          </a:prstGeom>
          <a:noFill/>
          <a:ln w="6350">
            <a:solidFill>
              <a:srgbClr val="E3E8E4"/>
            </a:solidFill>
            <a:prstDash val="solid"/>
          </a:ln>
        </p:spPr>
      </p:sp>
      <p:sp>
        <p:nvSpPr>
          <p:cNvPr id="104" name="Shape 81"/>
          <p:cNvSpPr/>
          <p:nvPr/>
        </p:nvSpPr>
        <p:spPr>
          <a:xfrm>
            <a:off x="4224528" y="5577840"/>
            <a:ext cx="1828800" cy="219456"/>
          </a:xfrm>
          <a:prstGeom prst="rect">
            <a:avLst/>
          </a:prstGeom>
          <a:solidFill>
            <a:srgbClr val="FFFFFF"/>
          </a:solidFill>
          <a:ln/>
        </p:spPr>
      </p:sp>
      <p:sp>
        <p:nvSpPr>
          <p:cNvPr id="105" name="Text 82"/>
          <p:cNvSpPr txBox="1"/>
          <p:nvPr/>
        </p:nvSpPr>
        <p:spPr>
          <a:xfrm>
            <a:off x="4270248" y="5577840"/>
            <a:ext cx="1737360" cy="219456"/>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Logistic, academic only</a:t>
            </a:r>
            <a:endParaRPr lang="en-US" sz="850" dirty="0"/>
          </a:p>
        </p:txBody>
      </p:sp>
      <p:sp>
        <p:nvSpPr>
          <p:cNvPr id="106" name="Shape 83"/>
          <p:cNvSpPr/>
          <p:nvPr/>
        </p:nvSpPr>
        <p:spPr>
          <a:xfrm>
            <a:off x="6053328" y="5577840"/>
            <a:ext cx="822960" cy="219456"/>
          </a:xfrm>
          <a:prstGeom prst="rect">
            <a:avLst/>
          </a:prstGeom>
          <a:solidFill>
            <a:srgbClr val="FFFFFF"/>
          </a:solidFill>
          <a:ln/>
        </p:spPr>
      </p:sp>
      <p:sp>
        <p:nvSpPr>
          <p:cNvPr id="107" name="Text 84"/>
          <p:cNvSpPr txBox="1"/>
          <p:nvPr/>
        </p:nvSpPr>
        <p:spPr>
          <a:xfrm>
            <a:off x="6099048" y="5577840"/>
            <a:ext cx="731520" cy="219456"/>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0.680</a:t>
            </a:r>
            <a:endParaRPr lang="en-US" sz="850" dirty="0"/>
          </a:p>
        </p:txBody>
      </p:sp>
      <p:sp>
        <p:nvSpPr>
          <p:cNvPr id="108" name="Shape 85"/>
          <p:cNvSpPr/>
          <p:nvPr/>
        </p:nvSpPr>
        <p:spPr>
          <a:xfrm>
            <a:off x="6876288" y="5577840"/>
            <a:ext cx="877824" cy="219456"/>
          </a:xfrm>
          <a:prstGeom prst="rect">
            <a:avLst/>
          </a:prstGeom>
          <a:solidFill>
            <a:srgbClr val="FFFFFF"/>
          </a:solidFill>
          <a:ln/>
        </p:spPr>
      </p:sp>
      <p:sp>
        <p:nvSpPr>
          <p:cNvPr id="109" name="Text 86"/>
          <p:cNvSpPr txBox="1"/>
          <p:nvPr/>
        </p:nvSpPr>
        <p:spPr>
          <a:xfrm>
            <a:off x="6922008" y="5577840"/>
            <a:ext cx="786384" cy="219456"/>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0.40</a:t>
            </a:r>
            <a:endParaRPr lang="en-US" sz="850" dirty="0"/>
          </a:p>
        </p:txBody>
      </p:sp>
      <p:sp>
        <p:nvSpPr>
          <p:cNvPr id="110" name="Shape 87"/>
          <p:cNvSpPr/>
          <p:nvPr/>
        </p:nvSpPr>
        <p:spPr>
          <a:xfrm>
            <a:off x="4224528" y="5797296"/>
            <a:ext cx="3529584" cy="0"/>
          </a:xfrm>
          <a:prstGeom prst="line">
            <a:avLst/>
          </a:prstGeom>
          <a:noFill/>
          <a:ln w="6350">
            <a:solidFill>
              <a:srgbClr val="E3E8E4"/>
            </a:solidFill>
            <a:prstDash val="solid"/>
          </a:ln>
        </p:spPr>
      </p:sp>
      <p:sp>
        <p:nvSpPr>
          <p:cNvPr id="111" name="Shape 88"/>
          <p:cNvSpPr/>
          <p:nvPr/>
        </p:nvSpPr>
        <p:spPr>
          <a:xfrm>
            <a:off x="4224528" y="5797296"/>
            <a:ext cx="1828800" cy="219456"/>
          </a:xfrm>
          <a:prstGeom prst="rect">
            <a:avLst/>
          </a:prstGeom>
          <a:solidFill>
            <a:srgbClr val="F1E8D3"/>
          </a:solidFill>
          <a:ln/>
        </p:spPr>
      </p:sp>
      <p:sp>
        <p:nvSpPr>
          <p:cNvPr id="112" name="Text 89"/>
          <p:cNvSpPr txBox="1"/>
          <p:nvPr/>
        </p:nvSpPr>
        <p:spPr>
          <a:xfrm>
            <a:off x="4270248" y="5797296"/>
            <a:ext cx="1737360" cy="219456"/>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Rule: no assessment</a:t>
            </a:r>
            <a:endParaRPr lang="en-US" sz="850" dirty="0"/>
          </a:p>
        </p:txBody>
      </p:sp>
      <p:sp>
        <p:nvSpPr>
          <p:cNvPr id="113" name="Shape 90"/>
          <p:cNvSpPr/>
          <p:nvPr/>
        </p:nvSpPr>
        <p:spPr>
          <a:xfrm>
            <a:off x="6053328" y="5797296"/>
            <a:ext cx="822960" cy="219456"/>
          </a:xfrm>
          <a:prstGeom prst="rect">
            <a:avLst/>
          </a:prstGeom>
          <a:solidFill>
            <a:srgbClr val="F1E8D3"/>
          </a:solidFill>
          <a:ln/>
        </p:spPr>
      </p:sp>
      <p:sp>
        <p:nvSpPr>
          <p:cNvPr id="114" name="Text 91"/>
          <p:cNvSpPr txBox="1"/>
          <p:nvPr/>
        </p:nvSpPr>
        <p:spPr>
          <a:xfrm>
            <a:off x="6099048" y="5797296"/>
            <a:ext cx="731520" cy="219456"/>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0.521</a:t>
            </a:r>
            <a:endParaRPr lang="en-US" sz="850" dirty="0"/>
          </a:p>
        </p:txBody>
      </p:sp>
      <p:sp>
        <p:nvSpPr>
          <p:cNvPr id="115" name="Shape 92"/>
          <p:cNvSpPr/>
          <p:nvPr/>
        </p:nvSpPr>
        <p:spPr>
          <a:xfrm>
            <a:off x="6876288" y="5797296"/>
            <a:ext cx="877824" cy="219456"/>
          </a:xfrm>
          <a:prstGeom prst="rect">
            <a:avLst/>
          </a:prstGeom>
          <a:solidFill>
            <a:srgbClr val="F1E8D3"/>
          </a:solidFill>
          <a:ln/>
        </p:spPr>
      </p:sp>
      <p:sp>
        <p:nvSpPr>
          <p:cNvPr id="116" name="Text 93"/>
          <p:cNvSpPr txBox="1"/>
          <p:nvPr/>
        </p:nvSpPr>
        <p:spPr>
          <a:xfrm>
            <a:off x="6922008" y="5797296"/>
            <a:ext cx="786384" cy="219456"/>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0.31</a:t>
            </a:r>
            <a:endParaRPr lang="en-US" sz="850" dirty="0"/>
          </a:p>
        </p:txBody>
      </p:sp>
      <p:sp>
        <p:nvSpPr>
          <p:cNvPr id="117" name="Shape 94"/>
          <p:cNvSpPr/>
          <p:nvPr/>
        </p:nvSpPr>
        <p:spPr>
          <a:xfrm>
            <a:off x="4224528" y="6016752"/>
            <a:ext cx="3529584" cy="0"/>
          </a:xfrm>
          <a:prstGeom prst="line">
            <a:avLst/>
          </a:prstGeom>
          <a:noFill/>
          <a:ln w="6350">
            <a:solidFill>
              <a:srgbClr val="E3E8E4"/>
            </a:solidFill>
            <a:prstDash val="solid"/>
          </a:ln>
        </p:spPr>
      </p:sp>
      <p:sp>
        <p:nvSpPr>
          <p:cNvPr id="118" name="Shape 95"/>
          <p:cNvSpPr/>
          <p:nvPr/>
        </p:nvSpPr>
        <p:spPr>
          <a:xfrm>
            <a:off x="4224528" y="6016752"/>
            <a:ext cx="1828800" cy="219456"/>
          </a:xfrm>
          <a:prstGeom prst="rect">
            <a:avLst/>
          </a:prstGeom>
          <a:solidFill>
            <a:srgbClr val="F1E8D3"/>
          </a:solidFill>
          <a:ln/>
        </p:spPr>
      </p:sp>
      <p:sp>
        <p:nvSpPr>
          <p:cNvPr id="119" name="Text 96"/>
          <p:cNvSpPr txBox="1"/>
          <p:nvPr/>
        </p:nvSpPr>
        <p:spPr>
          <a:xfrm>
            <a:off x="4270248" y="6016752"/>
            <a:ext cx="1737360" cy="219456"/>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Rule: zero clicks, 7 days</a:t>
            </a:r>
            <a:endParaRPr lang="en-US" sz="850" dirty="0"/>
          </a:p>
        </p:txBody>
      </p:sp>
      <p:sp>
        <p:nvSpPr>
          <p:cNvPr id="120" name="Shape 97"/>
          <p:cNvSpPr/>
          <p:nvPr/>
        </p:nvSpPr>
        <p:spPr>
          <a:xfrm>
            <a:off x="6053328" y="6016752"/>
            <a:ext cx="822960" cy="219456"/>
          </a:xfrm>
          <a:prstGeom prst="rect">
            <a:avLst/>
          </a:prstGeom>
          <a:solidFill>
            <a:srgbClr val="F1E8D3"/>
          </a:solidFill>
          <a:ln/>
        </p:spPr>
      </p:sp>
      <p:sp>
        <p:nvSpPr>
          <p:cNvPr id="121" name="Text 98"/>
          <p:cNvSpPr txBox="1"/>
          <p:nvPr/>
        </p:nvSpPr>
        <p:spPr>
          <a:xfrm>
            <a:off x="6099048" y="6016752"/>
            <a:ext cx="731520" cy="219456"/>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0.532</a:t>
            </a:r>
            <a:endParaRPr lang="en-US" sz="850" dirty="0"/>
          </a:p>
        </p:txBody>
      </p:sp>
      <p:sp>
        <p:nvSpPr>
          <p:cNvPr id="122" name="Shape 99"/>
          <p:cNvSpPr/>
          <p:nvPr/>
        </p:nvSpPr>
        <p:spPr>
          <a:xfrm>
            <a:off x="6876288" y="6016752"/>
            <a:ext cx="877824" cy="219456"/>
          </a:xfrm>
          <a:prstGeom prst="rect">
            <a:avLst/>
          </a:prstGeom>
          <a:solidFill>
            <a:srgbClr val="F1E8D3"/>
          </a:solidFill>
          <a:ln/>
        </p:spPr>
      </p:sp>
      <p:sp>
        <p:nvSpPr>
          <p:cNvPr id="123" name="Text 100"/>
          <p:cNvSpPr txBox="1"/>
          <p:nvPr/>
        </p:nvSpPr>
        <p:spPr>
          <a:xfrm>
            <a:off x="6922008" y="6016752"/>
            <a:ext cx="786384" cy="219456"/>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0.24</a:t>
            </a:r>
            <a:endParaRPr lang="en-US" sz="850" dirty="0"/>
          </a:p>
        </p:txBody>
      </p:sp>
      <p:sp>
        <p:nvSpPr>
          <p:cNvPr id="124" name="Shape 101"/>
          <p:cNvSpPr/>
          <p:nvPr/>
        </p:nvSpPr>
        <p:spPr>
          <a:xfrm>
            <a:off x="4224528" y="6236208"/>
            <a:ext cx="3529584" cy="0"/>
          </a:xfrm>
          <a:prstGeom prst="line">
            <a:avLst/>
          </a:prstGeom>
          <a:noFill/>
          <a:ln w="6350">
            <a:solidFill>
              <a:srgbClr val="E3E8E4"/>
            </a:solidFill>
            <a:prstDash val="solid"/>
          </a:ln>
        </p:spPr>
      </p:sp>
      <p:sp>
        <p:nvSpPr>
          <p:cNvPr id="125" name="Text 102"/>
          <p:cNvSpPr txBox="1"/>
          <p:nvPr/>
        </p:nvSpPr>
        <p:spPr>
          <a:xfrm>
            <a:off x="7991856" y="1847088"/>
            <a:ext cx="3730752"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COMPLIANCE MATRIX: WHAT THE LAW LETS US USE</a:t>
            </a:r>
            <a:endParaRPr lang="en-US" sz="1250" dirty="0"/>
          </a:p>
        </p:txBody>
      </p:sp>
      <p:sp>
        <p:nvSpPr>
          <p:cNvPr id="126" name="Shape 103"/>
          <p:cNvSpPr/>
          <p:nvPr/>
        </p:nvSpPr>
        <p:spPr>
          <a:xfrm>
            <a:off x="7991856" y="2139696"/>
            <a:ext cx="3730752" cy="10973"/>
          </a:xfrm>
          <a:prstGeom prst="rect">
            <a:avLst/>
          </a:prstGeom>
          <a:solidFill>
            <a:srgbClr val="C9D6E8"/>
          </a:solidFill>
          <a:ln/>
        </p:spPr>
      </p:sp>
      <p:sp>
        <p:nvSpPr>
          <p:cNvPr id="127" name="Shape 104"/>
          <p:cNvSpPr/>
          <p:nvPr/>
        </p:nvSpPr>
        <p:spPr>
          <a:xfrm>
            <a:off x="7991856" y="2130552"/>
            <a:ext cx="2194560" cy="27432"/>
          </a:xfrm>
          <a:prstGeom prst="rect">
            <a:avLst/>
          </a:prstGeom>
          <a:solidFill>
            <a:srgbClr val="1F4A82"/>
          </a:solidFill>
          <a:ln/>
        </p:spPr>
      </p:sp>
      <p:sp>
        <p:nvSpPr>
          <p:cNvPr id="128" name="Text 105"/>
          <p:cNvSpPr txBox="1"/>
          <p:nvPr/>
        </p:nvSpPr>
        <p:spPr>
          <a:xfrm>
            <a:off x="9189720" y="2194560"/>
            <a:ext cx="635508" cy="365760"/>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Academic support</a:t>
            </a:r>
            <a:endParaRPr lang="en-US" sz="850" dirty="0"/>
          </a:p>
        </p:txBody>
      </p:sp>
      <p:sp>
        <p:nvSpPr>
          <p:cNvPr id="129" name="Text 106"/>
          <p:cNvSpPr txBox="1"/>
          <p:nvPr/>
        </p:nvSpPr>
        <p:spPr>
          <a:xfrm>
            <a:off x="9825228" y="2194560"/>
            <a:ext cx="635508" cy="365760"/>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Dropout risk</a:t>
            </a:r>
            <a:endParaRPr lang="en-US" sz="850" dirty="0"/>
          </a:p>
        </p:txBody>
      </p:sp>
      <p:sp>
        <p:nvSpPr>
          <p:cNvPr id="130" name="Text 107"/>
          <p:cNvSpPr txBox="1"/>
          <p:nvPr/>
        </p:nvSpPr>
        <p:spPr>
          <a:xfrm>
            <a:off x="10460736" y="2194560"/>
            <a:ext cx="635508" cy="365760"/>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Fee risk</a:t>
            </a:r>
            <a:endParaRPr lang="en-US" sz="850" dirty="0"/>
          </a:p>
        </p:txBody>
      </p:sp>
      <p:sp>
        <p:nvSpPr>
          <p:cNvPr id="131" name="Text 108"/>
          <p:cNvSpPr txBox="1"/>
          <p:nvPr/>
        </p:nvSpPr>
        <p:spPr>
          <a:xfrm>
            <a:off x="11096244" y="2194560"/>
            <a:ext cx="635508" cy="365760"/>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App activity</a:t>
            </a:r>
            <a:endParaRPr lang="en-US" sz="850" dirty="0"/>
          </a:p>
        </p:txBody>
      </p:sp>
      <p:sp>
        <p:nvSpPr>
          <p:cNvPr id="132" name="Shape 109"/>
          <p:cNvSpPr/>
          <p:nvPr/>
        </p:nvSpPr>
        <p:spPr>
          <a:xfrm>
            <a:off x="8001000" y="2606040"/>
            <a:ext cx="1143000" cy="768096"/>
          </a:xfrm>
          <a:prstGeom prst="rect">
            <a:avLst/>
          </a:prstGeom>
          <a:solidFill>
            <a:srgbClr val="F4F7FB"/>
          </a:solidFill>
          <a:ln/>
        </p:spPr>
      </p:sp>
      <p:sp>
        <p:nvSpPr>
          <p:cNvPr id="133" name="Text 110"/>
          <p:cNvSpPr txBox="1"/>
          <p:nvPr/>
        </p:nvSpPr>
        <p:spPr>
          <a:xfrm>
            <a:off x="8046720" y="2606040"/>
            <a:ext cx="1078992" cy="768096"/>
          </a:xfrm>
          <a:prstGeom prst="rect">
            <a:avLst/>
          </a:prstGeom>
          <a:noFill/>
          <a:ln/>
        </p:spPr>
        <p:txBody>
          <a:bodyPr wrap="square" lIns="0" tIns="0" rIns="0" bIns="0" rtlCol="0" anchor="ctr"/>
          <a:lstStyle/>
          <a:p>
            <a:pPr algn="l" indent="0" marL="0">
              <a:buNone/>
            </a:pPr>
            <a:r>
              <a:rPr lang="en-US" sz="950" b="1" dirty="0">
                <a:solidFill>
                  <a:srgbClr val="17325C"/>
                </a:solidFill>
                <a:latin typeface="Calibri" pitchFamily="34" charset="0"/>
                <a:ea typeface="Calibri" pitchFamily="34" charset="-122"/>
                <a:cs typeface="Calibri" pitchFamily="34" charset="-120"/>
              </a:rPr>
              <a:t>Under 18</a:t>
            </a:r>
            <a:endParaRPr lang="en-US" sz="1400" dirty="0"/>
          </a:p>
          <a:p>
            <a:pPr algn="l" indent="0" marL="0">
              <a:buNone/>
            </a:pPr>
            <a:r>
              <a:rPr lang="en-US" sz="800" dirty="0">
                <a:solidFill>
                  <a:srgbClr val="5B6573"/>
                </a:solidFill>
                <a:latin typeface="Calibri" pitchFamily="34" charset="0"/>
                <a:ea typeface="Calibri" pitchFamily="34" charset="-122"/>
                <a:cs typeface="Calibri" pitchFamily="34" charset="-120"/>
              </a:rPr>
              <a:t>parent consent</a:t>
            </a:r>
            <a:endParaRPr lang="en-US" sz="1400" dirty="0"/>
          </a:p>
        </p:txBody>
      </p:sp>
      <p:sp>
        <p:nvSpPr>
          <p:cNvPr id="134" name="Shape 111"/>
          <p:cNvSpPr/>
          <p:nvPr/>
        </p:nvSpPr>
        <p:spPr>
          <a:xfrm>
            <a:off x="9208008" y="2606040"/>
            <a:ext cx="598932" cy="768096"/>
          </a:xfrm>
          <a:prstGeom prst="rect">
            <a:avLst/>
          </a:prstGeom>
          <a:solidFill>
            <a:srgbClr val="E3ECF7"/>
          </a:solidFill>
          <a:ln/>
        </p:spPr>
      </p:sp>
      <p:pic>
        <p:nvPicPr>
          <p:cNvPr id="135" name="Image 20" descr="FaCircleCheck icon">    </p:cNvPr>
          <p:cNvPicPr>
            <a:picLocks noChangeAspect="1"/>
          </p:cNvPicPr>
          <p:nvPr/>
        </p:nvPicPr>
        <p:blipFill>
          <a:blip r:embed="rId21"/>
          <a:stretch>
            <a:fillRect/>
          </a:stretch>
        </p:blipFill>
        <p:spPr>
          <a:xfrm>
            <a:off x="9379458" y="2697480"/>
            <a:ext cx="256032" cy="256032"/>
          </a:xfrm>
          <a:prstGeom prst="rect">
            <a:avLst/>
          </a:prstGeom>
        </p:spPr>
      </p:pic>
      <p:sp>
        <p:nvSpPr>
          <p:cNvPr id="136" name="Text 112"/>
          <p:cNvSpPr txBox="1"/>
          <p:nvPr/>
        </p:nvSpPr>
        <p:spPr>
          <a:xfrm>
            <a:off x="9208008" y="3063240"/>
            <a:ext cx="598932" cy="274320"/>
          </a:xfrm>
          <a:prstGeom prst="rect">
            <a:avLst/>
          </a:prstGeom>
          <a:noFill/>
          <a:ln/>
        </p:spPr>
        <p:txBody>
          <a:bodyPr wrap="square" lIns="0" tIns="0" rIns="0" bIns="0" rtlCol="0" anchor="ctr"/>
          <a:lstStyle/>
          <a:p>
            <a:pPr algn="ctr" indent="0" marL="0">
              <a:buNone/>
            </a:pPr>
            <a:r>
              <a:rPr lang="en-US" sz="800" b="1" dirty="0">
                <a:solidFill>
                  <a:srgbClr val="1F4A82"/>
                </a:solidFill>
                <a:latin typeface="Calibri" pitchFamily="34" charset="0"/>
                <a:ea typeface="Calibri" pitchFamily="34" charset="-122"/>
                <a:cs typeface="Calibri" pitchFamily="34" charset="-120"/>
              </a:rPr>
              <a:t>Model</a:t>
            </a:r>
            <a:endParaRPr lang="en-US" sz="800" dirty="0"/>
          </a:p>
        </p:txBody>
      </p:sp>
      <p:sp>
        <p:nvSpPr>
          <p:cNvPr id="137" name="Shape 113"/>
          <p:cNvSpPr/>
          <p:nvPr/>
        </p:nvSpPr>
        <p:spPr>
          <a:xfrm>
            <a:off x="9843516" y="2606040"/>
            <a:ext cx="598932" cy="768096"/>
          </a:xfrm>
          <a:prstGeom prst="rect">
            <a:avLst/>
          </a:prstGeom>
          <a:solidFill>
            <a:srgbClr val="F1E8D3"/>
          </a:solidFill>
          <a:ln/>
        </p:spPr>
      </p:sp>
      <p:pic>
        <p:nvPicPr>
          <p:cNvPr id="138" name="Image 21" descr="FaLock icon">    </p:cNvPr>
          <p:cNvPicPr>
            <a:picLocks noChangeAspect="1"/>
          </p:cNvPicPr>
          <p:nvPr/>
        </p:nvPicPr>
        <p:blipFill>
          <a:blip r:embed="rId22"/>
          <a:stretch>
            <a:fillRect/>
          </a:stretch>
        </p:blipFill>
        <p:spPr>
          <a:xfrm>
            <a:off x="10014966" y="2697480"/>
            <a:ext cx="256032" cy="256032"/>
          </a:xfrm>
          <a:prstGeom prst="rect">
            <a:avLst/>
          </a:prstGeom>
        </p:spPr>
      </p:pic>
      <p:sp>
        <p:nvSpPr>
          <p:cNvPr id="139" name="Text 114"/>
          <p:cNvSpPr txBox="1"/>
          <p:nvPr/>
        </p:nvSpPr>
        <p:spPr>
          <a:xfrm>
            <a:off x="9843516" y="3063240"/>
            <a:ext cx="598932" cy="274320"/>
          </a:xfrm>
          <a:prstGeom prst="rect">
            <a:avLst/>
          </a:prstGeom>
          <a:noFill/>
          <a:ln/>
        </p:spPr>
        <p:txBody>
          <a:bodyPr wrap="square" lIns="0" tIns="0" rIns="0" bIns="0" rtlCol="0" anchor="ctr"/>
          <a:lstStyle/>
          <a:p>
            <a:pPr algn="ctr" indent="0" marL="0">
              <a:buNone/>
            </a:pPr>
            <a:r>
              <a:rPr lang="en-US" sz="800" b="1" dirty="0">
                <a:solidFill>
                  <a:srgbClr val="8A6500"/>
                </a:solidFill>
                <a:latin typeface="Calibri" pitchFamily="34" charset="0"/>
                <a:ea typeface="Calibri" pitchFamily="34" charset="-122"/>
                <a:cs typeface="Calibri" pitchFamily="34" charset="-120"/>
              </a:rPr>
              <a:t>Plain rules</a:t>
            </a:r>
            <a:endParaRPr lang="en-US" sz="800" dirty="0"/>
          </a:p>
        </p:txBody>
      </p:sp>
      <p:sp>
        <p:nvSpPr>
          <p:cNvPr id="140" name="Shape 115"/>
          <p:cNvSpPr/>
          <p:nvPr/>
        </p:nvSpPr>
        <p:spPr>
          <a:xfrm>
            <a:off x="10479024" y="2606040"/>
            <a:ext cx="598932" cy="768096"/>
          </a:xfrm>
          <a:prstGeom prst="rect">
            <a:avLst/>
          </a:prstGeom>
          <a:solidFill>
            <a:srgbClr val="F1E8D3"/>
          </a:solidFill>
          <a:ln/>
        </p:spPr>
      </p:sp>
      <p:pic>
        <p:nvPicPr>
          <p:cNvPr id="141" name="Image 22" descr="FaLock icon">    </p:cNvPr>
          <p:cNvPicPr>
            <a:picLocks noChangeAspect="1"/>
          </p:cNvPicPr>
          <p:nvPr/>
        </p:nvPicPr>
        <p:blipFill>
          <a:blip r:embed="rId23"/>
          <a:stretch>
            <a:fillRect/>
          </a:stretch>
        </p:blipFill>
        <p:spPr>
          <a:xfrm>
            <a:off x="10650474" y="2697480"/>
            <a:ext cx="256032" cy="256032"/>
          </a:xfrm>
          <a:prstGeom prst="rect">
            <a:avLst/>
          </a:prstGeom>
        </p:spPr>
      </p:pic>
      <p:sp>
        <p:nvSpPr>
          <p:cNvPr id="142" name="Text 116"/>
          <p:cNvSpPr txBox="1"/>
          <p:nvPr/>
        </p:nvSpPr>
        <p:spPr>
          <a:xfrm>
            <a:off x="10479024" y="3063240"/>
            <a:ext cx="598932" cy="274320"/>
          </a:xfrm>
          <a:prstGeom prst="rect">
            <a:avLst/>
          </a:prstGeom>
          <a:noFill/>
          <a:ln/>
        </p:spPr>
        <p:txBody>
          <a:bodyPr wrap="square" lIns="0" tIns="0" rIns="0" bIns="0" rtlCol="0" anchor="ctr"/>
          <a:lstStyle/>
          <a:p>
            <a:pPr algn="ctr" indent="0" marL="0">
              <a:buNone/>
            </a:pPr>
            <a:r>
              <a:rPr lang="en-US" sz="800" b="1" dirty="0">
                <a:solidFill>
                  <a:srgbClr val="8A6500"/>
                </a:solidFill>
                <a:latin typeface="Calibri" pitchFamily="34" charset="0"/>
                <a:ea typeface="Calibri" pitchFamily="34" charset="-122"/>
                <a:cs typeface="Calibri" pitchFamily="34" charset="-120"/>
              </a:rPr>
              <a:t>Plain rules</a:t>
            </a:r>
            <a:endParaRPr lang="en-US" sz="800" dirty="0"/>
          </a:p>
        </p:txBody>
      </p:sp>
      <p:sp>
        <p:nvSpPr>
          <p:cNvPr id="143" name="Shape 117"/>
          <p:cNvSpPr/>
          <p:nvPr/>
        </p:nvSpPr>
        <p:spPr>
          <a:xfrm>
            <a:off x="11114532" y="2606040"/>
            <a:ext cx="598932" cy="768096"/>
          </a:xfrm>
          <a:prstGeom prst="rect">
            <a:avLst/>
          </a:prstGeom>
          <a:solidFill>
            <a:srgbClr val="F6E0DD"/>
          </a:solidFill>
          <a:ln/>
        </p:spPr>
      </p:sp>
      <p:pic>
        <p:nvPicPr>
          <p:cNvPr id="144" name="Image 23" descr="FaBan icon">    </p:cNvPr>
          <p:cNvPicPr>
            <a:picLocks noChangeAspect="1"/>
          </p:cNvPicPr>
          <p:nvPr/>
        </p:nvPicPr>
        <p:blipFill>
          <a:blip r:embed="rId24"/>
          <a:stretch>
            <a:fillRect/>
          </a:stretch>
        </p:blipFill>
        <p:spPr>
          <a:xfrm>
            <a:off x="11285982" y="2697480"/>
            <a:ext cx="256032" cy="256032"/>
          </a:xfrm>
          <a:prstGeom prst="rect">
            <a:avLst/>
          </a:prstGeom>
        </p:spPr>
      </p:pic>
      <p:sp>
        <p:nvSpPr>
          <p:cNvPr id="145" name="Text 118"/>
          <p:cNvSpPr txBox="1"/>
          <p:nvPr/>
        </p:nvSpPr>
        <p:spPr>
          <a:xfrm>
            <a:off x="11114532" y="3063240"/>
            <a:ext cx="598932" cy="274320"/>
          </a:xfrm>
          <a:prstGeom prst="rect">
            <a:avLst/>
          </a:prstGeom>
          <a:noFill/>
          <a:ln/>
        </p:spPr>
        <p:txBody>
          <a:bodyPr wrap="square" lIns="0" tIns="0" rIns="0" bIns="0" rtlCol="0" anchor="ctr"/>
          <a:lstStyle/>
          <a:p>
            <a:pPr algn="ctr" indent="0" marL="0">
              <a:buNone/>
            </a:pPr>
            <a:r>
              <a:rPr lang="en-US" sz="800" b="1" dirty="0">
                <a:solidFill>
                  <a:srgbClr val="C0392B"/>
                </a:solidFill>
                <a:latin typeface="Calibri" pitchFamily="34" charset="0"/>
                <a:ea typeface="Calibri" pitchFamily="34" charset="-122"/>
                <a:cs typeface="Calibri" pitchFamily="34" charset="-120"/>
              </a:rPr>
              <a:t>Never</a:t>
            </a:r>
            <a:endParaRPr lang="en-US" sz="800" dirty="0"/>
          </a:p>
        </p:txBody>
      </p:sp>
      <p:sp>
        <p:nvSpPr>
          <p:cNvPr id="146" name="Shape 119"/>
          <p:cNvSpPr/>
          <p:nvPr/>
        </p:nvSpPr>
        <p:spPr>
          <a:xfrm>
            <a:off x="8001000" y="3429000"/>
            <a:ext cx="1143000" cy="768096"/>
          </a:xfrm>
          <a:prstGeom prst="rect">
            <a:avLst/>
          </a:prstGeom>
          <a:solidFill>
            <a:srgbClr val="F4F7FB"/>
          </a:solidFill>
          <a:ln/>
        </p:spPr>
      </p:sp>
      <p:sp>
        <p:nvSpPr>
          <p:cNvPr id="147" name="Text 120"/>
          <p:cNvSpPr txBox="1"/>
          <p:nvPr/>
        </p:nvSpPr>
        <p:spPr>
          <a:xfrm>
            <a:off x="8046720" y="3429000"/>
            <a:ext cx="1078992" cy="768096"/>
          </a:xfrm>
          <a:prstGeom prst="rect">
            <a:avLst/>
          </a:prstGeom>
          <a:noFill/>
          <a:ln/>
        </p:spPr>
        <p:txBody>
          <a:bodyPr wrap="square" lIns="0" tIns="0" rIns="0" bIns="0" rtlCol="0" anchor="ctr"/>
          <a:lstStyle/>
          <a:p>
            <a:pPr algn="l" indent="0" marL="0">
              <a:buNone/>
            </a:pPr>
            <a:r>
              <a:rPr lang="en-US" sz="950" b="1" dirty="0">
                <a:solidFill>
                  <a:srgbClr val="17325C"/>
                </a:solidFill>
                <a:latin typeface="Calibri" pitchFamily="34" charset="0"/>
                <a:ea typeface="Calibri" pitchFamily="34" charset="-122"/>
                <a:cs typeface="Calibri" pitchFamily="34" charset="-120"/>
              </a:rPr>
              <a:t>18 and over</a:t>
            </a:r>
            <a:endParaRPr lang="en-US" sz="1400" dirty="0"/>
          </a:p>
          <a:p>
            <a:pPr algn="l" indent="0" marL="0">
              <a:buNone/>
            </a:pPr>
            <a:r>
              <a:rPr lang="en-US" sz="800" dirty="0">
                <a:solidFill>
                  <a:srgbClr val="5B6573"/>
                </a:solidFill>
                <a:latin typeface="Calibri" pitchFamily="34" charset="0"/>
                <a:ea typeface="Calibri" pitchFamily="34" charset="-122"/>
                <a:cs typeface="Calibri" pitchFamily="34" charset="-120"/>
              </a:rPr>
              <a:t>own consent</a:t>
            </a:r>
            <a:endParaRPr lang="en-US" sz="1400" dirty="0"/>
          </a:p>
        </p:txBody>
      </p:sp>
      <p:sp>
        <p:nvSpPr>
          <p:cNvPr id="148" name="Shape 121"/>
          <p:cNvSpPr/>
          <p:nvPr/>
        </p:nvSpPr>
        <p:spPr>
          <a:xfrm>
            <a:off x="9208008" y="3429000"/>
            <a:ext cx="598932" cy="768096"/>
          </a:xfrm>
          <a:prstGeom prst="rect">
            <a:avLst/>
          </a:prstGeom>
          <a:solidFill>
            <a:srgbClr val="E3ECF7"/>
          </a:solidFill>
          <a:ln/>
        </p:spPr>
      </p:sp>
      <p:pic>
        <p:nvPicPr>
          <p:cNvPr id="149" name="Image 24" descr="FaCircleCheck icon">    </p:cNvPr>
          <p:cNvPicPr>
            <a:picLocks noChangeAspect="1"/>
          </p:cNvPicPr>
          <p:nvPr/>
        </p:nvPicPr>
        <p:blipFill>
          <a:blip r:embed="rId25"/>
          <a:stretch>
            <a:fillRect/>
          </a:stretch>
        </p:blipFill>
        <p:spPr>
          <a:xfrm>
            <a:off x="9379458" y="3520440"/>
            <a:ext cx="256032" cy="256032"/>
          </a:xfrm>
          <a:prstGeom prst="rect">
            <a:avLst/>
          </a:prstGeom>
        </p:spPr>
      </p:pic>
      <p:sp>
        <p:nvSpPr>
          <p:cNvPr id="150" name="Text 122"/>
          <p:cNvSpPr txBox="1"/>
          <p:nvPr/>
        </p:nvSpPr>
        <p:spPr>
          <a:xfrm>
            <a:off x="9208008" y="3886200"/>
            <a:ext cx="598932" cy="274320"/>
          </a:xfrm>
          <a:prstGeom prst="rect">
            <a:avLst/>
          </a:prstGeom>
          <a:noFill/>
          <a:ln/>
        </p:spPr>
        <p:txBody>
          <a:bodyPr wrap="square" lIns="0" tIns="0" rIns="0" bIns="0" rtlCol="0" anchor="ctr"/>
          <a:lstStyle/>
          <a:p>
            <a:pPr algn="ctr" indent="0" marL="0">
              <a:buNone/>
            </a:pPr>
            <a:r>
              <a:rPr lang="en-US" sz="800" b="1" dirty="0">
                <a:solidFill>
                  <a:srgbClr val="1F4A82"/>
                </a:solidFill>
                <a:latin typeface="Calibri" pitchFamily="34" charset="0"/>
                <a:ea typeface="Calibri" pitchFamily="34" charset="-122"/>
                <a:cs typeface="Calibri" pitchFamily="34" charset="-120"/>
              </a:rPr>
              <a:t>Model</a:t>
            </a:r>
            <a:endParaRPr lang="en-US" sz="800" dirty="0"/>
          </a:p>
        </p:txBody>
      </p:sp>
      <p:sp>
        <p:nvSpPr>
          <p:cNvPr id="151" name="Shape 123"/>
          <p:cNvSpPr/>
          <p:nvPr/>
        </p:nvSpPr>
        <p:spPr>
          <a:xfrm>
            <a:off x="9843516" y="3429000"/>
            <a:ext cx="598932" cy="768096"/>
          </a:xfrm>
          <a:prstGeom prst="rect">
            <a:avLst/>
          </a:prstGeom>
          <a:solidFill>
            <a:srgbClr val="E3ECF7"/>
          </a:solidFill>
          <a:ln/>
        </p:spPr>
      </p:sp>
      <p:pic>
        <p:nvPicPr>
          <p:cNvPr id="152" name="Image 25" descr="FaCircleCheck icon">    </p:cNvPr>
          <p:cNvPicPr>
            <a:picLocks noChangeAspect="1"/>
          </p:cNvPicPr>
          <p:nvPr/>
        </p:nvPicPr>
        <p:blipFill>
          <a:blip r:embed="rId26"/>
          <a:stretch>
            <a:fillRect/>
          </a:stretch>
        </p:blipFill>
        <p:spPr>
          <a:xfrm>
            <a:off x="10014966" y="3520440"/>
            <a:ext cx="256032" cy="256032"/>
          </a:xfrm>
          <a:prstGeom prst="rect">
            <a:avLst/>
          </a:prstGeom>
        </p:spPr>
      </p:pic>
      <p:sp>
        <p:nvSpPr>
          <p:cNvPr id="153" name="Text 124"/>
          <p:cNvSpPr txBox="1"/>
          <p:nvPr/>
        </p:nvSpPr>
        <p:spPr>
          <a:xfrm>
            <a:off x="9843516" y="3886200"/>
            <a:ext cx="598932" cy="274320"/>
          </a:xfrm>
          <a:prstGeom prst="rect">
            <a:avLst/>
          </a:prstGeom>
          <a:noFill/>
          <a:ln/>
        </p:spPr>
        <p:txBody>
          <a:bodyPr wrap="square" lIns="0" tIns="0" rIns="0" bIns="0" rtlCol="0" anchor="ctr"/>
          <a:lstStyle/>
          <a:p>
            <a:pPr algn="ctr" indent="0" marL="0">
              <a:buNone/>
            </a:pPr>
            <a:r>
              <a:rPr lang="en-US" sz="800" b="1" dirty="0">
                <a:solidFill>
                  <a:srgbClr val="1F4A82"/>
                </a:solidFill>
                <a:latin typeface="Calibri" pitchFamily="34" charset="0"/>
                <a:ea typeface="Calibri" pitchFamily="34" charset="-122"/>
                <a:cs typeface="Calibri" pitchFamily="34" charset="-120"/>
              </a:rPr>
              <a:t>Model</a:t>
            </a:r>
            <a:endParaRPr lang="en-US" sz="800" dirty="0"/>
          </a:p>
        </p:txBody>
      </p:sp>
      <p:sp>
        <p:nvSpPr>
          <p:cNvPr id="154" name="Shape 125"/>
          <p:cNvSpPr/>
          <p:nvPr/>
        </p:nvSpPr>
        <p:spPr>
          <a:xfrm>
            <a:off x="10479024" y="3429000"/>
            <a:ext cx="598932" cy="768096"/>
          </a:xfrm>
          <a:prstGeom prst="rect">
            <a:avLst/>
          </a:prstGeom>
          <a:solidFill>
            <a:srgbClr val="E3ECF7"/>
          </a:solidFill>
          <a:ln/>
        </p:spPr>
      </p:sp>
      <p:pic>
        <p:nvPicPr>
          <p:cNvPr id="155" name="Image 26" descr="FaCircleCheck icon">    </p:cNvPr>
          <p:cNvPicPr>
            <a:picLocks noChangeAspect="1"/>
          </p:cNvPicPr>
          <p:nvPr/>
        </p:nvPicPr>
        <p:blipFill>
          <a:blip r:embed="rId27"/>
          <a:stretch>
            <a:fillRect/>
          </a:stretch>
        </p:blipFill>
        <p:spPr>
          <a:xfrm>
            <a:off x="10650474" y="3520440"/>
            <a:ext cx="256032" cy="256032"/>
          </a:xfrm>
          <a:prstGeom prst="rect">
            <a:avLst/>
          </a:prstGeom>
        </p:spPr>
      </p:pic>
      <p:sp>
        <p:nvSpPr>
          <p:cNvPr id="156" name="Text 126"/>
          <p:cNvSpPr txBox="1"/>
          <p:nvPr/>
        </p:nvSpPr>
        <p:spPr>
          <a:xfrm>
            <a:off x="10479024" y="3886200"/>
            <a:ext cx="598932" cy="274320"/>
          </a:xfrm>
          <a:prstGeom prst="rect">
            <a:avLst/>
          </a:prstGeom>
          <a:noFill/>
          <a:ln/>
        </p:spPr>
        <p:txBody>
          <a:bodyPr wrap="square" lIns="0" tIns="0" rIns="0" bIns="0" rtlCol="0" anchor="ctr"/>
          <a:lstStyle/>
          <a:p>
            <a:pPr algn="ctr" indent="0" marL="0">
              <a:buNone/>
            </a:pPr>
            <a:r>
              <a:rPr lang="en-US" sz="800" b="1" dirty="0">
                <a:solidFill>
                  <a:srgbClr val="1F4A82"/>
                </a:solidFill>
                <a:latin typeface="Calibri" pitchFamily="34" charset="0"/>
                <a:ea typeface="Calibri" pitchFamily="34" charset="-122"/>
                <a:cs typeface="Calibri" pitchFamily="34" charset="-120"/>
              </a:rPr>
              <a:t>Model</a:t>
            </a:r>
            <a:endParaRPr lang="en-US" sz="800" dirty="0"/>
          </a:p>
        </p:txBody>
      </p:sp>
      <p:sp>
        <p:nvSpPr>
          <p:cNvPr id="157" name="Shape 127"/>
          <p:cNvSpPr/>
          <p:nvPr/>
        </p:nvSpPr>
        <p:spPr>
          <a:xfrm>
            <a:off x="11114532" y="3429000"/>
            <a:ext cx="598932" cy="768096"/>
          </a:xfrm>
          <a:prstGeom prst="rect">
            <a:avLst/>
          </a:prstGeom>
          <a:solidFill>
            <a:srgbClr val="E3ECF7"/>
          </a:solidFill>
          <a:ln/>
        </p:spPr>
      </p:sp>
      <p:pic>
        <p:nvPicPr>
          <p:cNvPr id="158" name="Image 27" descr="FaLockOpen icon">    </p:cNvPr>
          <p:cNvPicPr>
            <a:picLocks noChangeAspect="1"/>
          </p:cNvPicPr>
          <p:nvPr/>
        </p:nvPicPr>
        <p:blipFill>
          <a:blip r:embed="rId28"/>
          <a:stretch>
            <a:fillRect/>
          </a:stretch>
        </p:blipFill>
        <p:spPr>
          <a:xfrm>
            <a:off x="11285982" y="3520440"/>
            <a:ext cx="256032" cy="256032"/>
          </a:xfrm>
          <a:prstGeom prst="rect">
            <a:avLst/>
          </a:prstGeom>
        </p:spPr>
      </p:pic>
      <p:sp>
        <p:nvSpPr>
          <p:cNvPr id="159" name="Text 128"/>
          <p:cNvSpPr txBox="1"/>
          <p:nvPr/>
        </p:nvSpPr>
        <p:spPr>
          <a:xfrm>
            <a:off x="11114532" y="3886200"/>
            <a:ext cx="598932" cy="274320"/>
          </a:xfrm>
          <a:prstGeom prst="rect">
            <a:avLst/>
          </a:prstGeom>
          <a:noFill/>
          <a:ln/>
        </p:spPr>
        <p:txBody>
          <a:bodyPr wrap="square" lIns="0" tIns="0" rIns="0" bIns="0" rtlCol="0" anchor="ctr"/>
          <a:lstStyle/>
          <a:p>
            <a:pPr algn="ctr" indent="0" marL="0">
              <a:buNone/>
            </a:pPr>
            <a:r>
              <a:rPr lang="en-US" sz="800" b="1" dirty="0">
                <a:solidFill>
                  <a:srgbClr val="1F4A82"/>
                </a:solidFill>
                <a:latin typeface="Calibri" pitchFamily="34" charset="0"/>
                <a:ea typeface="Calibri" pitchFamily="34" charset="-122"/>
                <a:cs typeface="Calibri" pitchFamily="34" charset="-120"/>
              </a:rPr>
              <a:t>Opt-in</a:t>
            </a:r>
            <a:endParaRPr lang="en-US" sz="800" dirty="0"/>
          </a:p>
        </p:txBody>
      </p:sp>
      <p:sp>
        <p:nvSpPr>
          <p:cNvPr id="160" name="Shape 129"/>
          <p:cNvSpPr/>
          <p:nvPr/>
        </p:nvSpPr>
        <p:spPr>
          <a:xfrm>
            <a:off x="8001000" y="4251960"/>
            <a:ext cx="1143000" cy="768096"/>
          </a:xfrm>
          <a:prstGeom prst="rect">
            <a:avLst/>
          </a:prstGeom>
          <a:solidFill>
            <a:srgbClr val="F4F7FB"/>
          </a:solidFill>
          <a:ln/>
        </p:spPr>
      </p:sp>
      <p:sp>
        <p:nvSpPr>
          <p:cNvPr id="161" name="Text 130"/>
          <p:cNvSpPr txBox="1"/>
          <p:nvPr/>
        </p:nvSpPr>
        <p:spPr>
          <a:xfrm>
            <a:off x="8046720" y="4251960"/>
            <a:ext cx="1078992" cy="768096"/>
          </a:xfrm>
          <a:prstGeom prst="rect">
            <a:avLst/>
          </a:prstGeom>
          <a:noFill/>
          <a:ln/>
        </p:spPr>
        <p:txBody>
          <a:bodyPr wrap="square" lIns="0" tIns="0" rIns="0" bIns="0" rtlCol="0" anchor="ctr"/>
          <a:lstStyle/>
          <a:p>
            <a:pPr algn="l" indent="0" marL="0">
              <a:buNone/>
            </a:pPr>
            <a:r>
              <a:rPr lang="en-US" sz="950" b="1" dirty="0">
                <a:solidFill>
                  <a:srgbClr val="17325C"/>
                </a:solidFill>
                <a:latin typeface="Calibri" pitchFamily="34" charset="0"/>
                <a:ea typeface="Calibri" pitchFamily="34" charset="-122"/>
                <a:cs typeface="Calibri" pitchFamily="34" charset="-120"/>
              </a:rPr>
              <a:t>Under 18, if counsel agrees</a:t>
            </a:r>
            <a:endParaRPr lang="en-US" sz="1400" dirty="0"/>
          </a:p>
          <a:p>
            <a:pPr algn="l" indent="0" marL="0">
              <a:buNone/>
            </a:pPr>
            <a:r>
              <a:rPr lang="en-US" sz="800" dirty="0">
                <a:solidFill>
                  <a:srgbClr val="5B6573"/>
                </a:solidFill>
                <a:latin typeface="Calibri" pitchFamily="34" charset="0"/>
                <a:ea typeface="Calibri" pitchFamily="34" charset="-122"/>
                <a:cs typeface="Calibri" pitchFamily="34" charset="-120"/>
              </a:rPr>
              <a:t>legal opinion pending</a:t>
            </a:r>
            <a:endParaRPr lang="en-US" sz="1400" dirty="0"/>
          </a:p>
        </p:txBody>
      </p:sp>
      <p:sp>
        <p:nvSpPr>
          <p:cNvPr id="162" name="Shape 131"/>
          <p:cNvSpPr/>
          <p:nvPr/>
        </p:nvSpPr>
        <p:spPr>
          <a:xfrm>
            <a:off x="9208008" y="4251960"/>
            <a:ext cx="598932" cy="768096"/>
          </a:xfrm>
          <a:prstGeom prst="rect">
            <a:avLst/>
          </a:prstGeom>
          <a:solidFill>
            <a:srgbClr val="E3ECF7"/>
          </a:solidFill>
          <a:ln/>
        </p:spPr>
      </p:sp>
      <p:pic>
        <p:nvPicPr>
          <p:cNvPr id="163" name="Image 28" descr="FaCircleCheck icon">    </p:cNvPr>
          <p:cNvPicPr>
            <a:picLocks noChangeAspect="1"/>
          </p:cNvPicPr>
          <p:nvPr/>
        </p:nvPicPr>
        <p:blipFill>
          <a:blip r:embed="rId29"/>
          <a:stretch>
            <a:fillRect/>
          </a:stretch>
        </p:blipFill>
        <p:spPr>
          <a:xfrm>
            <a:off x="9379458" y="4343400"/>
            <a:ext cx="256032" cy="256032"/>
          </a:xfrm>
          <a:prstGeom prst="rect">
            <a:avLst/>
          </a:prstGeom>
        </p:spPr>
      </p:pic>
      <p:sp>
        <p:nvSpPr>
          <p:cNvPr id="164" name="Text 132"/>
          <p:cNvSpPr txBox="1"/>
          <p:nvPr/>
        </p:nvSpPr>
        <p:spPr>
          <a:xfrm>
            <a:off x="9208008" y="4709160"/>
            <a:ext cx="598932" cy="274320"/>
          </a:xfrm>
          <a:prstGeom prst="rect">
            <a:avLst/>
          </a:prstGeom>
          <a:noFill/>
          <a:ln/>
        </p:spPr>
        <p:txBody>
          <a:bodyPr wrap="square" lIns="0" tIns="0" rIns="0" bIns="0" rtlCol="0" anchor="ctr"/>
          <a:lstStyle/>
          <a:p>
            <a:pPr algn="ctr" indent="0" marL="0">
              <a:buNone/>
            </a:pPr>
            <a:r>
              <a:rPr lang="en-US" sz="800" b="1" dirty="0">
                <a:solidFill>
                  <a:srgbClr val="1F4A82"/>
                </a:solidFill>
                <a:latin typeface="Calibri" pitchFamily="34" charset="0"/>
                <a:ea typeface="Calibri" pitchFamily="34" charset="-122"/>
                <a:cs typeface="Calibri" pitchFamily="34" charset="-120"/>
              </a:rPr>
              <a:t>Model</a:t>
            </a:r>
            <a:endParaRPr lang="en-US" sz="800" dirty="0"/>
          </a:p>
        </p:txBody>
      </p:sp>
      <p:sp>
        <p:nvSpPr>
          <p:cNvPr id="165" name="Shape 133"/>
          <p:cNvSpPr/>
          <p:nvPr/>
        </p:nvSpPr>
        <p:spPr>
          <a:xfrm>
            <a:off x="9843516" y="4251960"/>
            <a:ext cx="598932" cy="768096"/>
          </a:xfrm>
          <a:prstGeom prst="rect">
            <a:avLst/>
          </a:prstGeom>
          <a:solidFill>
            <a:srgbClr val="E3ECF7"/>
          </a:solidFill>
          <a:ln/>
        </p:spPr>
      </p:sp>
      <p:pic>
        <p:nvPicPr>
          <p:cNvPr id="166" name="Image 29" descr="FaCircleCheck icon">    </p:cNvPr>
          <p:cNvPicPr>
            <a:picLocks noChangeAspect="1"/>
          </p:cNvPicPr>
          <p:nvPr/>
        </p:nvPicPr>
        <p:blipFill>
          <a:blip r:embed="rId30"/>
          <a:stretch>
            <a:fillRect/>
          </a:stretch>
        </p:blipFill>
        <p:spPr>
          <a:xfrm>
            <a:off x="10014966" y="4343400"/>
            <a:ext cx="256032" cy="256032"/>
          </a:xfrm>
          <a:prstGeom prst="rect">
            <a:avLst/>
          </a:prstGeom>
        </p:spPr>
      </p:pic>
      <p:sp>
        <p:nvSpPr>
          <p:cNvPr id="167" name="Text 134"/>
          <p:cNvSpPr txBox="1"/>
          <p:nvPr/>
        </p:nvSpPr>
        <p:spPr>
          <a:xfrm>
            <a:off x="9843516" y="4709160"/>
            <a:ext cx="598932" cy="274320"/>
          </a:xfrm>
          <a:prstGeom prst="rect">
            <a:avLst/>
          </a:prstGeom>
          <a:noFill/>
          <a:ln/>
        </p:spPr>
        <p:txBody>
          <a:bodyPr wrap="square" lIns="0" tIns="0" rIns="0" bIns="0" rtlCol="0" anchor="ctr"/>
          <a:lstStyle/>
          <a:p>
            <a:pPr algn="ctr" indent="0" marL="0">
              <a:buNone/>
            </a:pPr>
            <a:r>
              <a:rPr lang="en-US" sz="800" b="1" dirty="0">
                <a:solidFill>
                  <a:srgbClr val="1F4A82"/>
                </a:solidFill>
                <a:latin typeface="Calibri" pitchFamily="34" charset="0"/>
                <a:ea typeface="Calibri" pitchFamily="34" charset="-122"/>
                <a:cs typeface="Calibri" pitchFamily="34" charset="-120"/>
              </a:rPr>
              <a:t>Model</a:t>
            </a:r>
            <a:endParaRPr lang="en-US" sz="800" dirty="0"/>
          </a:p>
        </p:txBody>
      </p:sp>
      <p:sp>
        <p:nvSpPr>
          <p:cNvPr id="168" name="Shape 135"/>
          <p:cNvSpPr/>
          <p:nvPr/>
        </p:nvSpPr>
        <p:spPr>
          <a:xfrm>
            <a:off x="10479024" y="4251960"/>
            <a:ext cx="598932" cy="768096"/>
          </a:xfrm>
          <a:prstGeom prst="rect">
            <a:avLst/>
          </a:prstGeom>
          <a:solidFill>
            <a:srgbClr val="F1E8D3"/>
          </a:solidFill>
          <a:ln/>
        </p:spPr>
      </p:sp>
      <p:pic>
        <p:nvPicPr>
          <p:cNvPr id="169" name="Image 30" descr="FaLock icon">    </p:cNvPr>
          <p:cNvPicPr>
            <a:picLocks noChangeAspect="1"/>
          </p:cNvPicPr>
          <p:nvPr/>
        </p:nvPicPr>
        <p:blipFill>
          <a:blip r:embed="rId31"/>
          <a:stretch>
            <a:fillRect/>
          </a:stretch>
        </p:blipFill>
        <p:spPr>
          <a:xfrm>
            <a:off x="10650474" y="4343400"/>
            <a:ext cx="256032" cy="256032"/>
          </a:xfrm>
          <a:prstGeom prst="rect">
            <a:avLst/>
          </a:prstGeom>
        </p:spPr>
      </p:pic>
      <p:sp>
        <p:nvSpPr>
          <p:cNvPr id="170" name="Text 136"/>
          <p:cNvSpPr txBox="1"/>
          <p:nvPr/>
        </p:nvSpPr>
        <p:spPr>
          <a:xfrm>
            <a:off x="10479024" y="4709160"/>
            <a:ext cx="598932" cy="274320"/>
          </a:xfrm>
          <a:prstGeom prst="rect">
            <a:avLst/>
          </a:prstGeom>
          <a:noFill/>
          <a:ln/>
        </p:spPr>
        <p:txBody>
          <a:bodyPr wrap="square" lIns="0" tIns="0" rIns="0" bIns="0" rtlCol="0" anchor="ctr"/>
          <a:lstStyle/>
          <a:p>
            <a:pPr algn="ctr" indent="0" marL="0">
              <a:buNone/>
            </a:pPr>
            <a:r>
              <a:rPr lang="en-US" sz="800" b="1" dirty="0">
                <a:solidFill>
                  <a:srgbClr val="8A6500"/>
                </a:solidFill>
                <a:latin typeface="Calibri" pitchFamily="34" charset="0"/>
                <a:ea typeface="Calibri" pitchFamily="34" charset="-122"/>
                <a:cs typeface="Calibri" pitchFamily="34" charset="-120"/>
              </a:rPr>
              <a:t>Plain rules</a:t>
            </a:r>
            <a:endParaRPr lang="en-US" sz="800" dirty="0"/>
          </a:p>
        </p:txBody>
      </p:sp>
      <p:sp>
        <p:nvSpPr>
          <p:cNvPr id="171" name="Shape 137"/>
          <p:cNvSpPr/>
          <p:nvPr/>
        </p:nvSpPr>
        <p:spPr>
          <a:xfrm>
            <a:off x="11114532" y="4251960"/>
            <a:ext cx="598932" cy="768096"/>
          </a:xfrm>
          <a:prstGeom prst="rect">
            <a:avLst/>
          </a:prstGeom>
          <a:solidFill>
            <a:srgbClr val="F6E0DD"/>
          </a:solidFill>
          <a:ln/>
        </p:spPr>
      </p:sp>
      <p:pic>
        <p:nvPicPr>
          <p:cNvPr id="172" name="Image 31" descr="FaBan icon">    </p:cNvPr>
          <p:cNvPicPr>
            <a:picLocks noChangeAspect="1"/>
          </p:cNvPicPr>
          <p:nvPr/>
        </p:nvPicPr>
        <p:blipFill>
          <a:blip r:embed="rId32"/>
          <a:stretch>
            <a:fillRect/>
          </a:stretch>
        </p:blipFill>
        <p:spPr>
          <a:xfrm>
            <a:off x="11285982" y="4343400"/>
            <a:ext cx="256032" cy="256032"/>
          </a:xfrm>
          <a:prstGeom prst="rect">
            <a:avLst/>
          </a:prstGeom>
        </p:spPr>
      </p:pic>
      <p:sp>
        <p:nvSpPr>
          <p:cNvPr id="173" name="Text 138"/>
          <p:cNvSpPr txBox="1"/>
          <p:nvPr/>
        </p:nvSpPr>
        <p:spPr>
          <a:xfrm>
            <a:off x="11114532" y="4709160"/>
            <a:ext cx="598932" cy="274320"/>
          </a:xfrm>
          <a:prstGeom prst="rect">
            <a:avLst/>
          </a:prstGeom>
          <a:noFill/>
          <a:ln/>
        </p:spPr>
        <p:txBody>
          <a:bodyPr wrap="square" lIns="0" tIns="0" rIns="0" bIns="0" rtlCol="0" anchor="ctr"/>
          <a:lstStyle/>
          <a:p>
            <a:pPr algn="ctr" indent="0" marL="0">
              <a:buNone/>
            </a:pPr>
            <a:r>
              <a:rPr lang="en-US" sz="800" b="1" dirty="0">
                <a:solidFill>
                  <a:srgbClr val="C0392B"/>
                </a:solidFill>
                <a:latin typeface="Calibri" pitchFamily="34" charset="0"/>
                <a:ea typeface="Calibri" pitchFamily="34" charset="-122"/>
                <a:cs typeface="Calibri" pitchFamily="34" charset="-120"/>
              </a:rPr>
              <a:t>Never</a:t>
            </a:r>
            <a:endParaRPr lang="en-US" sz="800" dirty="0"/>
          </a:p>
        </p:txBody>
      </p:sp>
      <p:sp>
        <p:nvSpPr>
          <p:cNvPr id="174" name="Shape 139"/>
          <p:cNvSpPr/>
          <p:nvPr/>
        </p:nvSpPr>
        <p:spPr>
          <a:xfrm>
            <a:off x="8001000" y="5102352"/>
            <a:ext cx="3730752" cy="310896"/>
          </a:xfrm>
          <a:prstGeom prst="rect">
            <a:avLst/>
          </a:prstGeom>
          <a:solidFill>
            <a:srgbClr val="1F4A82"/>
          </a:solidFill>
          <a:ln/>
        </p:spPr>
      </p:sp>
      <p:sp>
        <p:nvSpPr>
          <p:cNvPr id="175" name="Text 140"/>
          <p:cNvSpPr txBox="1"/>
          <p:nvPr/>
        </p:nvSpPr>
        <p:spPr>
          <a:xfrm>
            <a:off x="8046720" y="5102352"/>
            <a:ext cx="3639312"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DPDP s.9(3): no tracking of children, even with consent</a:t>
            </a:r>
            <a:endParaRPr lang="en-US" sz="900" dirty="0"/>
          </a:p>
        </p:txBody>
      </p:sp>
      <p:pic>
        <p:nvPicPr>
          <p:cNvPr id="176" name="Image 32" descr="Calibration curve">    </p:cNvPr>
          <p:cNvPicPr>
            <a:picLocks noChangeAspect="1"/>
          </p:cNvPicPr>
          <p:nvPr/>
        </p:nvPicPr>
        <p:blipFill>
          <a:blip r:embed="rId33"/>
          <a:stretch>
            <a:fillRect/>
          </a:stretch>
        </p:blipFill>
        <p:spPr>
          <a:xfrm>
            <a:off x="8046720" y="5486400"/>
            <a:ext cx="822960" cy="777240"/>
          </a:xfrm>
          <a:prstGeom prst="rect">
            <a:avLst/>
          </a:prstGeom>
        </p:spPr>
      </p:pic>
      <p:sp>
        <p:nvSpPr>
          <p:cNvPr id="177" name="Text 141"/>
          <p:cNvSpPr txBox="1"/>
          <p:nvPr/>
        </p:nvSpPr>
        <p:spPr>
          <a:xfrm>
            <a:off x="8915400" y="5468112"/>
            <a:ext cx="2834640" cy="822960"/>
          </a:xfrm>
          <a:prstGeom prst="rect">
            <a:avLst/>
          </a:prstGeom>
          <a:noFill/>
          <a:ln/>
        </p:spPr>
        <p:txBody>
          <a:bodyPr wrap="square" lIns="0" tIns="0" rIns="0" bIns="0" rtlCol="0" anchor="ctr"/>
          <a:lstStyle/>
          <a:p>
            <a:pPr algn="l" indent="0" marL="0">
              <a:buNone/>
            </a:pPr>
            <a:r>
              <a:rPr lang="en-US" sz="1200" b="1" dirty="0">
                <a:solidFill>
                  <a:srgbClr val="1F4A82"/>
                </a:solidFill>
                <a:latin typeface="Calibri" pitchFamily="34" charset="0"/>
                <a:ea typeface="Calibri" pitchFamily="34" charset="-122"/>
                <a:cs typeface="Calibri" pitchFamily="34" charset="-120"/>
              </a:rPr>
              <a:t>0.009 </a:t>
            </a:r>
            <a:pPr algn="l" indent="0" marL="0">
              <a:buNone/>
            </a:pPr>
            <a:r>
              <a:rPr lang="en-US" sz="850" dirty="0">
                <a:solidFill>
                  <a:srgbClr val="1F2937"/>
                </a:solidFill>
                <a:latin typeface="Calibri" pitchFamily="34" charset="0"/>
                <a:ea typeface="Calibri" pitchFamily="34" charset="-122"/>
                <a:cs typeface="Calibri" pitchFamily="34" charset="-120"/>
              </a:rPr>
              <a:t>calibration error: “30 % risk” means 30 %. About a quarter of dropouts are sudden and cannot be predicted from academic data.</a:t>
            </a:r>
            <a:endParaRPr lang="en-US" sz="1400" dirty="0"/>
          </a:p>
        </p:txBody>
      </p:sp>
      <p:sp>
        <p:nvSpPr>
          <p:cNvPr id="178" name="Text 142"/>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ml/public_validation (OULAD, CC BY 4.0; day 28, student-grouped 5-fold; P@10 = precision at top 10 %); contracts/routing_policy.yaml; DPDP Act 2023 s.9. Early-warning lift on synthetic institutes is pending.</a:t>
            </a:r>
            <a:endParaRPr lang="en-US" sz="850" dirty="0"/>
          </a:p>
        </p:txBody>
      </p:sp>
      <p:pic>
        <p:nvPicPr>
          <p:cNvPr id="179" name="Image 33" descr="mentor cursor">    </p:cNvPr>
          <p:cNvPicPr>
            <a:picLocks noChangeAspect="1"/>
          </p:cNvPicPr>
          <p:nvPr/>
        </p:nvPicPr>
        <p:blipFill>
          <a:blip r:embed="rId34"/>
          <a:stretch>
            <a:fillRect/>
          </a:stretch>
        </p:blipFill>
        <p:spPr>
          <a:xfrm>
            <a:off x="2011680" y="2926080"/>
            <a:ext cx="777240" cy="329184"/>
          </a:xfrm>
          <a:prstGeom prst="rect">
            <a:avLst/>
          </a:prstGeom>
        </p:spPr>
      </p:pic>
      <p:sp>
        <p:nvSpPr>
          <p:cNvPr id="180" name="Shape 143"/>
          <p:cNvSpPr/>
          <p:nvPr/>
        </p:nvSpPr>
        <p:spPr>
          <a:xfrm rot="120000">
            <a:off x="10104120" y="694944"/>
            <a:ext cx="1691640" cy="384048"/>
          </a:xfrm>
          <a:prstGeom prst="rect">
            <a:avLst/>
          </a:prstGeom>
          <a:solidFill>
            <a:srgbClr val="C9CED6">
              <a:alpha val="45000"/>
            </a:srgbClr>
          </a:solidFill>
          <a:ln/>
        </p:spPr>
      </p:sp>
      <p:sp>
        <p:nvSpPr>
          <p:cNvPr id="181" name="Shape 144"/>
          <p:cNvSpPr/>
          <p:nvPr/>
        </p:nvSpPr>
        <p:spPr>
          <a:xfrm rot="120000">
            <a:off x="10058400" y="640080"/>
            <a:ext cx="1691640" cy="384048"/>
          </a:xfrm>
          <a:prstGeom prst="rect">
            <a:avLst/>
          </a:prstGeom>
          <a:solidFill>
            <a:srgbClr val="F7BFD0"/>
          </a:solidFill>
          <a:ln/>
        </p:spPr>
      </p:sp>
      <p:sp>
        <p:nvSpPr>
          <p:cNvPr id="182" name="Text 145"/>
          <p:cNvSpPr txBox="1"/>
          <p:nvPr/>
        </p:nvSpPr>
        <p:spPr>
          <a:xfrm rot="120000">
            <a:off x="10113264" y="676656"/>
            <a:ext cx="1581912" cy="329184"/>
          </a:xfrm>
          <a:prstGeom prst="rect">
            <a:avLst/>
          </a:prstGeom>
          <a:noFill/>
          <a:ln/>
        </p:spPr>
        <p:txBody>
          <a:bodyPr wrap="square" lIns="0" tIns="0" rIns="0" bIns="0" rtlCol="0" anchor="ctr"/>
          <a:lstStyle/>
          <a:p>
            <a:pPr algn="ctr" indent="0" marL="0">
              <a:buNone/>
            </a:pPr>
            <a:r>
              <a:rPr lang="en-US" sz="850" dirty="0">
                <a:solidFill>
                  <a:srgbClr val="8A2C4B"/>
                </a:solidFill>
                <a:latin typeface="Segoe Print" pitchFamily="34" charset="0"/>
                <a:ea typeface="Segoe Print" pitchFamily="34" charset="-122"/>
                <a:cs typeface="Segoe Print" pitchFamily="34" charset="-120"/>
              </a:rPr>
              <a:t>a quarter of dropouts are sudden</a:t>
            </a:r>
            <a:endParaRPr lang="en-US" sz="850" dirty="0"/>
          </a:p>
        </p:txBody>
      </p:sp>
      <p:pic>
        <p:nvPicPr>
          <p:cNvPr id="183" name="Image 34" descr="D:\Professional Work\Business\FC_Case_Dhruvi\presentation\source\assets\doodle_tape.png">    </p:cNvPr>
          <p:cNvPicPr>
            <a:picLocks noChangeAspect="1"/>
          </p:cNvPicPr>
          <p:nvPr/>
        </p:nvPicPr>
        <p:blipFill>
          <a:blip r:embed="rId35"/>
          <a:stretch>
            <a:fillRect/>
          </a:stretch>
        </p:blipFill>
        <p:spPr>
          <a:xfrm rot="72000">
            <a:off x="10629900" y="548640"/>
            <a:ext cx="548640" cy="173736"/>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D4A24C"/>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privacy">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PRIVACY, SAFETY AND DPDP COMPLIANCE</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Built for the law and for children: consent first, supportive actions only, no rankings, raw data stays at the institute</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15568"/>
            <a:ext cx="3200400" cy="301752"/>
          </a:xfrm>
          <a:prstGeom prst="rect">
            <a:avLst/>
          </a:prstGeom>
          <a:solidFill>
            <a:srgbClr val="1F4A82"/>
          </a:solidFill>
          <a:ln/>
        </p:spPr>
      </p:sp>
      <p:sp>
        <p:nvSpPr>
          <p:cNvPr id="26" name="Text 22"/>
          <p:cNvSpPr txBox="1"/>
          <p:nvPr/>
        </p:nvSpPr>
        <p:spPr>
          <a:xfrm>
            <a:off x="521208" y="1115568"/>
            <a:ext cx="298094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VERIFIABLE PARENTAL CONSENT</a:t>
            </a:r>
            <a:endParaRPr lang="en-US" sz="1200" dirty="0"/>
          </a:p>
        </p:txBody>
      </p:sp>
      <p:sp>
        <p:nvSpPr>
          <p:cNvPr id="27" name="Shape 23"/>
          <p:cNvSpPr/>
          <p:nvPr/>
        </p:nvSpPr>
        <p:spPr>
          <a:xfrm>
            <a:off x="3666744" y="1115568"/>
            <a:ext cx="0" cy="3291840"/>
          </a:xfrm>
          <a:prstGeom prst="line">
            <a:avLst/>
          </a:prstGeom>
          <a:noFill/>
          <a:ln w="12700">
            <a:solidFill>
              <a:srgbClr val="8FA9CC"/>
            </a:solidFill>
            <a:prstDash val="dash"/>
          </a:ln>
        </p:spPr>
      </p:sp>
      <p:pic>
        <p:nvPicPr>
          <p:cNvPr id="28" name="Image 1" descr="Consent notice with purpose switches (illustrative)">    </p:cNvPr>
          <p:cNvPicPr>
            <a:picLocks noChangeAspect="1"/>
          </p:cNvPicPr>
          <p:nvPr/>
        </p:nvPicPr>
        <p:blipFill>
          <a:blip r:embed="rId2"/>
          <a:stretch>
            <a:fillRect/>
          </a:stretch>
        </p:blipFill>
        <p:spPr>
          <a:xfrm>
            <a:off x="640080" y="1481328"/>
            <a:ext cx="2743200" cy="2743200"/>
          </a:xfrm>
          <a:prstGeom prst="rect">
            <a:avLst/>
          </a:prstGeom>
        </p:spPr>
      </p:pic>
      <p:sp>
        <p:nvSpPr>
          <p:cNvPr id="29" name="Shape 24"/>
          <p:cNvSpPr/>
          <p:nvPr/>
        </p:nvSpPr>
        <p:spPr>
          <a:xfrm>
            <a:off x="502920" y="1874520"/>
            <a:ext cx="237744" cy="237744"/>
          </a:xfrm>
          <a:prstGeom prst="ellipse">
            <a:avLst/>
          </a:prstGeom>
          <a:solidFill>
            <a:srgbClr val="1F4A82"/>
          </a:solidFill>
          <a:ln w="19050">
            <a:solidFill>
              <a:srgbClr val="FFFFFF"/>
            </a:solidFill>
            <a:prstDash val="solid"/>
          </a:ln>
        </p:spPr>
      </p:sp>
      <p:sp>
        <p:nvSpPr>
          <p:cNvPr id="30" name="Text 25"/>
          <p:cNvSpPr txBox="1"/>
          <p:nvPr/>
        </p:nvSpPr>
        <p:spPr>
          <a:xfrm>
            <a:off x="502920" y="187452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1" name="Shape 26"/>
          <p:cNvSpPr/>
          <p:nvPr/>
        </p:nvSpPr>
        <p:spPr>
          <a:xfrm>
            <a:off x="502920" y="2926080"/>
            <a:ext cx="237744" cy="237744"/>
          </a:xfrm>
          <a:prstGeom prst="ellipse">
            <a:avLst/>
          </a:prstGeom>
          <a:solidFill>
            <a:srgbClr val="1F4A82"/>
          </a:solidFill>
          <a:ln w="19050">
            <a:solidFill>
              <a:srgbClr val="FFFFFF"/>
            </a:solidFill>
            <a:prstDash val="solid"/>
          </a:ln>
        </p:spPr>
      </p:sp>
      <p:sp>
        <p:nvSpPr>
          <p:cNvPr id="32" name="Text 27"/>
          <p:cNvSpPr txBox="1"/>
          <p:nvPr/>
        </p:nvSpPr>
        <p:spPr>
          <a:xfrm>
            <a:off x="502920" y="292608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Shape 28"/>
          <p:cNvSpPr/>
          <p:nvPr/>
        </p:nvSpPr>
        <p:spPr>
          <a:xfrm>
            <a:off x="502920" y="3794760"/>
            <a:ext cx="237744" cy="237744"/>
          </a:xfrm>
          <a:prstGeom prst="ellipse">
            <a:avLst/>
          </a:prstGeom>
          <a:solidFill>
            <a:srgbClr val="1F4A82"/>
          </a:solidFill>
          <a:ln w="19050">
            <a:solidFill>
              <a:srgbClr val="FFFFFF"/>
            </a:solidFill>
            <a:prstDash val="solid"/>
          </a:ln>
        </p:spPr>
      </p:sp>
      <p:sp>
        <p:nvSpPr>
          <p:cNvPr id="34" name="Text 29"/>
          <p:cNvSpPr txBox="1"/>
          <p:nvPr/>
        </p:nvSpPr>
        <p:spPr>
          <a:xfrm>
            <a:off x="502920" y="379476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5" name="Text 30"/>
          <p:cNvSpPr txBox="1"/>
          <p:nvPr/>
        </p:nvSpPr>
        <p:spPr>
          <a:xfrm>
            <a:off x="457200" y="4114800"/>
            <a:ext cx="3108960" cy="274320"/>
          </a:xfrm>
          <a:prstGeom prst="rect">
            <a:avLst/>
          </a:prstGeom>
          <a:noFill/>
          <a:ln/>
        </p:spPr>
        <p:txBody>
          <a:bodyPr wrap="square" lIns="0" tIns="0" rIns="0" bIns="0" rtlCol="0" anchor="t"/>
          <a:lstStyle/>
          <a:p>
            <a:pPr algn="l" indent="0" marL="0">
              <a:buNone/>
            </a:pPr>
            <a:r>
              <a:rPr lang="en-US" sz="750" i="1" dirty="0">
                <a:solidFill>
                  <a:srgbClr val="5B6573"/>
                </a:solidFill>
                <a:latin typeface="Calibri" pitchFamily="34" charset="0"/>
                <a:ea typeface="Calibri" pitchFamily="34" charset="-122"/>
                <a:cs typeface="Calibri" pitchFamily="34" charset="-120"/>
              </a:rPr>
              <a:t>1 ID checked at the desk (Rule 10)   2 One switch per purpose   3 Withdraw in one tap</a:t>
            </a:r>
            <a:endParaRPr lang="en-US" sz="750" dirty="0"/>
          </a:p>
        </p:txBody>
      </p:sp>
      <p:sp>
        <p:nvSpPr>
          <p:cNvPr id="36" name="Shape 31"/>
          <p:cNvSpPr/>
          <p:nvPr/>
        </p:nvSpPr>
        <p:spPr>
          <a:xfrm>
            <a:off x="3749040" y="1115568"/>
            <a:ext cx="4160520" cy="301752"/>
          </a:xfrm>
          <a:prstGeom prst="rect">
            <a:avLst/>
          </a:prstGeom>
          <a:solidFill>
            <a:srgbClr val="2E6DB4"/>
          </a:solidFill>
          <a:ln/>
        </p:spPr>
      </p:sp>
      <p:sp>
        <p:nvSpPr>
          <p:cNvPr id="37" name="Text 32"/>
          <p:cNvSpPr txBox="1"/>
          <p:nvPr/>
        </p:nvSpPr>
        <p:spPr>
          <a:xfrm>
            <a:off x="3858768" y="1115568"/>
            <a:ext cx="39410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 LOCKBOX: RAW DATA NEVER LEAVES</a:t>
            </a:r>
            <a:endParaRPr lang="en-US" sz="1200" dirty="0"/>
          </a:p>
        </p:txBody>
      </p:sp>
      <p:sp>
        <p:nvSpPr>
          <p:cNvPr id="38" name="Shape 33"/>
          <p:cNvSpPr/>
          <p:nvPr/>
        </p:nvSpPr>
        <p:spPr>
          <a:xfrm>
            <a:off x="7964424" y="1115568"/>
            <a:ext cx="0" cy="3291840"/>
          </a:xfrm>
          <a:prstGeom prst="line">
            <a:avLst/>
          </a:prstGeom>
          <a:noFill/>
          <a:ln w="12700">
            <a:solidFill>
              <a:srgbClr val="8FA9CC"/>
            </a:solidFill>
            <a:prstDash val="dash"/>
          </a:ln>
        </p:spPr>
      </p:sp>
      <p:sp>
        <p:nvSpPr>
          <p:cNvPr id="39" name="Shape 34"/>
          <p:cNvSpPr/>
          <p:nvPr/>
        </p:nvSpPr>
        <p:spPr>
          <a:xfrm>
            <a:off x="3858768" y="1508760"/>
            <a:ext cx="3941064" cy="2286000"/>
          </a:xfrm>
          <a:prstGeom prst="roundRect">
            <a:avLst>
              <a:gd name="adj" fmla="val 4000"/>
            </a:avLst>
          </a:prstGeom>
          <a:solidFill>
            <a:srgbClr val="E3ECF7"/>
          </a:solidFill>
          <a:ln w="25400">
            <a:solidFill>
              <a:srgbClr val="1F4A82"/>
            </a:solidFill>
            <a:prstDash val="dash"/>
          </a:ln>
        </p:spPr>
      </p:sp>
      <p:sp>
        <p:nvSpPr>
          <p:cNvPr id="40" name="Shape 35"/>
          <p:cNvSpPr/>
          <p:nvPr/>
        </p:nvSpPr>
        <p:spPr>
          <a:xfrm>
            <a:off x="5554980" y="1417320"/>
            <a:ext cx="548640" cy="548640"/>
          </a:xfrm>
          <a:prstGeom prst="ellipse">
            <a:avLst/>
          </a:prstGeom>
          <a:solidFill>
            <a:srgbClr val="1F4A82"/>
          </a:solidFill>
          <a:ln w="25400">
            <a:solidFill>
              <a:srgbClr val="FFFFFF"/>
            </a:solidFill>
            <a:prstDash val="solid"/>
          </a:ln>
        </p:spPr>
      </p:sp>
      <p:pic>
        <p:nvPicPr>
          <p:cNvPr id="41" name="Image 2" descr="FaClipboardList icon">    </p:cNvPr>
          <p:cNvPicPr>
            <a:picLocks noChangeAspect="1"/>
          </p:cNvPicPr>
          <p:nvPr/>
        </p:nvPicPr>
        <p:blipFill>
          <a:blip r:embed="rId3"/>
          <a:stretch>
            <a:fillRect/>
          </a:stretch>
        </p:blipFill>
        <p:spPr>
          <a:xfrm>
            <a:off x="521208" y="100584"/>
            <a:ext cx="182880" cy="182880"/>
          </a:xfrm>
          <a:prstGeom prst="rect">
            <a:avLst/>
          </a:prstGeom>
        </p:spPr>
      </p:pic>
      <p:pic>
        <p:nvPicPr>
          <p:cNvPr id="42" name="Image 3" descr="FaTriangleExclamation icon">    </p:cNvPr>
          <p:cNvPicPr>
            <a:picLocks noChangeAspect="1"/>
          </p:cNvPicPr>
          <p:nvPr/>
        </p:nvPicPr>
        <p:blipFill>
          <a:blip r:embed="rId4"/>
          <a:stretch>
            <a:fillRect/>
          </a:stretch>
        </p:blipFill>
        <p:spPr>
          <a:xfrm>
            <a:off x="2084032" y="100584"/>
            <a:ext cx="182880" cy="182880"/>
          </a:xfrm>
          <a:prstGeom prst="rect">
            <a:avLst/>
          </a:prstGeom>
        </p:spPr>
      </p:pic>
      <p:pic>
        <p:nvPicPr>
          <p:cNvPr id="43" name="Image 4" descr="FaMobileScreen icon">    </p:cNvPr>
          <p:cNvPicPr>
            <a:picLocks noChangeAspect="1"/>
          </p:cNvPicPr>
          <p:nvPr/>
        </p:nvPicPr>
        <p:blipFill>
          <a:blip r:embed="rId5"/>
          <a:stretch>
            <a:fillRect/>
          </a:stretch>
        </p:blipFill>
        <p:spPr>
          <a:xfrm>
            <a:off x="3482264" y="100584"/>
            <a:ext cx="182880" cy="182880"/>
          </a:xfrm>
          <a:prstGeom prst="rect">
            <a:avLst/>
          </a:prstGeom>
        </p:spPr>
      </p:pic>
      <p:pic>
        <p:nvPicPr>
          <p:cNvPr id="44" name="Image 5" descr="FaGears icon">    </p:cNvPr>
          <p:cNvPicPr>
            <a:picLocks noChangeAspect="1"/>
          </p:cNvPicPr>
          <p:nvPr/>
        </p:nvPicPr>
        <p:blipFill>
          <a:blip r:embed="rId6"/>
          <a:stretch>
            <a:fillRect/>
          </a:stretch>
        </p:blipFill>
        <p:spPr>
          <a:xfrm>
            <a:off x="4880496" y="100584"/>
            <a:ext cx="182880" cy="182880"/>
          </a:xfrm>
          <a:prstGeom prst="rect">
            <a:avLst/>
          </a:prstGeom>
        </p:spPr>
      </p:pic>
      <p:pic>
        <p:nvPicPr>
          <p:cNvPr id="45"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46" name="Image 7" descr="FaBullseye icon">    </p:cNvPr>
          <p:cNvPicPr>
            <a:picLocks noChangeAspect="1"/>
          </p:cNvPicPr>
          <p:nvPr/>
        </p:nvPicPr>
        <p:blipFill>
          <a:blip r:embed="rId8"/>
          <a:stretch>
            <a:fillRect/>
          </a:stretch>
        </p:blipFill>
        <p:spPr>
          <a:xfrm>
            <a:off x="9075191" y="100584"/>
            <a:ext cx="182880" cy="182880"/>
          </a:xfrm>
          <a:prstGeom prst="rect">
            <a:avLst/>
          </a:prstGeom>
        </p:spPr>
      </p:pic>
      <p:pic>
        <p:nvPicPr>
          <p:cNvPr id="47" name="Image 8" descr="FaBookOpen icon">    </p:cNvPr>
          <p:cNvPicPr>
            <a:picLocks noChangeAspect="1"/>
          </p:cNvPicPr>
          <p:nvPr/>
        </p:nvPicPr>
        <p:blipFill>
          <a:blip r:embed="rId9"/>
          <a:stretch>
            <a:fillRect/>
          </a:stretch>
        </p:blipFill>
        <p:spPr>
          <a:xfrm>
            <a:off x="10473423" y="100584"/>
            <a:ext cx="182880" cy="182880"/>
          </a:xfrm>
          <a:prstGeom prst="rect">
            <a:avLst/>
          </a:prstGeom>
        </p:spPr>
      </p:pic>
      <p:pic>
        <p:nvPicPr>
          <p:cNvPr id="48" name="Image 9" descr="FaShieldHalved icon">    </p:cNvPr>
          <p:cNvPicPr>
            <a:picLocks noChangeAspect="1"/>
          </p:cNvPicPr>
          <p:nvPr/>
        </p:nvPicPr>
        <p:blipFill>
          <a:blip r:embed="rId10"/>
          <a:stretch>
            <a:fillRect/>
          </a:stretch>
        </p:blipFill>
        <p:spPr>
          <a:xfrm>
            <a:off x="6278728" y="100584"/>
            <a:ext cx="182880" cy="182880"/>
          </a:xfrm>
          <a:prstGeom prst="rect">
            <a:avLst/>
          </a:prstGeom>
        </p:spPr>
      </p:pic>
      <p:pic>
        <p:nvPicPr>
          <p:cNvPr id="49" name="Image 10" descr="FaLock icon">    </p:cNvPr>
          <p:cNvPicPr>
            <a:picLocks noChangeAspect="1"/>
          </p:cNvPicPr>
          <p:nvPr/>
        </p:nvPicPr>
        <p:blipFill>
          <a:blip r:embed="rId11"/>
          <a:stretch>
            <a:fillRect/>
          </a:stretch>
        </p:blipFill>
        <p:spPr>
          <a:xfrm>
            <a:off x="5710428" y="1536192"/>
            <a:ext cx="237744" cy="237744"/>
          </a:xfrm>
          <a:prstGeom prst="rect">
            <a:avLst/>
          </a:prstGeom>
        </p:spPr>
      </p:pic>
      <p:sp>
        <p:nvSpPr>
          <p:cNvPr id="50" name="Text 36"/>
          <p:cNvSpPr txBox="1"/>
          <p:nvPr/>
        </p:nvSpPr>
        <p:spPr>
          <a:xfrm>
            <a:off x="3886200" y="2011680"/>
            <a:ext cx="3886200" cy="219456"/>
          </a:xfrm>
          <a:prstGeom prst="rect">
            <a:avLst/>
          </a:prstGeom>
          <a:noFill/>
          <a:ln/>
        </p:spPr>
        <p:txBody>
          <a:bodyPr wrap="square" lIns="0" tIns="0" rIns="0" bIns="0" rtlCol="0" anchor="t"/>
          <a:lstStyle/>
          <a:p>
            <a:pPr algn="ctr" indent="0" marL="0">
              <a:buNone/>
            </a:pPr>
            <a:r>
              <a:rPr lang="en-US" sz="850" b="1" spc="50" kern="0" dirty="0">
                <a:solidFill>
                  <a:srgbClr val="1F4A82"/>
                </a:solidFill>
                <a:latin typeface="Calibri" pitchFamily="34" charset="0"/>
                <a:ea typeface="Calibri" pitchFamily="34" charset="-122"/>
                <a:cs typeface="Calibri" pitchFamily="34" charset="-120"/>
              </a:rPr>
              <a:t>THE INSTITUTE'S OWN SPACE: ONE LAPTOP OR PRIVATE SERVER</a:t>
            </a:r>
            <a:endParaRPr lang="en-US" sz="850" dirty="0"/>
          </a:p>
        </p:txBody>
      </p:sp>
      <p:sp>
        <p:nvSpPr>
          <p:cNvPr id="51" name="Shape 37"/>
          <p:cNvSpPr/>
          <p:nvPr/>
        </p:nvSpPr>
        <p:spPr>
          <a:xfrm>
            <a:off x="3977640" y="2286000"/>
            <a:ext cx="1783080" cy="640080"/>
          </a:xfrm>
          <a:prstGeom prst="rect">
            <a:avLst/>
          </a:prstGeom>
          <a:solidFill>
            <a:srgbClr val="FFFFFF"/>
          </a:solidFill>
          <a:ln w="12700">
            <a:solidFill>
              <a:srgbClr val="1F4A82"/>
            </a:solidFill>
            <a:prstDash val="solid"/>
          </a:ln>
        </p:spPr>
      </p:sp>
      <p:pic>
        <p:nvPicPr>
          <p:cNvPr id="52" name="Image 11" descr="FaUserGraduate icon">    </p:cNvPr>
          <p:cNvPicPr>
            <a:picLocks noChangeAspect="1"/>
          </p:cNvPicPr>
          <p:nvPr/>
        </p:nvPicPr>
        <p:blipFill>
          <a:blip r:embed="rId12"/>
          <a:stretch>
            <a:fillRect/>
          </a:stretch>
        </p:blipFill>
        <p:spPr>
          <a:xfrm>
            <a:off x="4050792" y="2450592"/>
            <a:ext cx="274320" cy="274320"/>
          </a:xfrm>
          <a:prstGeom prst="rect">
            <a:avLst/>
          </a:prstGeom>
        </p:spPr>
      </p:pic>
      <p:sp>
        <p:nvSpPr>
          <p:cNvPr id="53" name="Text 38"/>
          <p:cNvSpPr txBox="1"/>
          <p:nvPr/>
        </p:nvSpPr>
        <p:spPr>
          <a:xfrm>
            <a:off x="4389120" y="2286000"/>
            <a:ext cx="1335024" cy="640080"/>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Student records</a:t>
            </a:r>
            <a:endParaRPr lang="en-US" sz="900" dirty="0"/>
          </a:p>
        </p:txBody>
      </p:sp>
      <p:sp>
        <p:nvSpPr>
          <p:cNvPr id="54" name="Shape 39"/>
          <p:cNvSpPr/>
          <p:nvPr/>
        </p:nvSpPr>
        <p:spPr>
          <a:xfrm>
            <a:off x="5852160" y="2286000"/>
            <a:ext cx="1783080" cy="640080"/>
          </a:xfrm>
          <a:prstGeom prst="rect">
            <a:avLst/>
          </a:prstGeom>
          <a:solidFill>
            <a:srgbClr val="FFFFFF"/>
          </a:solidFill>
          <a:ln w="12700">
            <a:solidFill>
              <a:srgbClr val="1F4A82"/>
            </a:solidFill>
            <a:prstDash val="solid"/>
          </a:ln>
        </p:spPr>
      </p:sp>
      <p:pic>
        <p:nvPicPr>
          <p:cNvPr id="55" name="Image 12" descr="FaFileCircleCheck icon">    </p:cNvPr>
          <p:cNvPicPr>
            <a:picLocks noChangeAspect="1"/>
          </p:cNvPicPr>
          <p:nvPr/>
        </p:nvPicPr>
        <p:blipFill>
          <a:blip r:embed="rId13"/>
          <a:stretch>
            <a:fillRect/>
          </a:stretch>
        </p:blipFill>
        <p:spPr>
          <a:xfrm>
            <a:off x="5925312" y="2450592"/>
            <a:ext cx="274320" cy="274320"/>
          </a:xfrm>
          <a:prstGeom prst="rect">
            <a:avLst/>
          </a:prstGeom>
        </p:spPr>
      </p:pic>
      <p:sp>
        <p:nvSpPr>
          <p:cNvPr id="56" name="Text 40"/>
          <p:cNvSpPr txBox="1"/>
          <p:nvPr/>
        </p:nvSpPr>
        <p:spPr>
          <a:xfrm>
            <a:off x="6263640" y="2286000"/>
            <a:ext cx="1335024" cy="640080"/>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Marks and answers</a:t>
            </a:r>
            <a:endParaRPr lang="en-US" sz="900" dirty="0"/>
          </a:p>
        </p:txBody>
      </p:sp>
      <p:sp>
        <p:nvSpPr>
          <p:cNvPr id="57" name="Shape 41"/>
          <p:cNvSpPr/>
          <p:nvPr/>
        </p:nvSpPr>
        <p:spPr>
          <a:xfrm>
            <a:off x="3977640" y="2999232"/>
            <a:ext cx="1783080" cy="640080"/>
          </a:xfrm>
          <a:prstGeom prst="rect">
            <a:avLst/>
          </a:prstGeom>
          <a:solidFill>
            <a:srgbClr val="FFFFFF"/>
          </a:solidFill>
          <a:ln w="12700">
            <a:solidFill>
              <a:srgbClr val="1F4A82"/>
            </a:solidFill>
            <a:prstDash val="solid"/>
          </a:ln>
        </p:spPr>
      </p:sp>
      <p:pic>
        <p:nvPicPr>
          <p:cNvPr id="58" name="Image 13" descr="FaSignature icon">    </p:cNvPr>
          <p:cNvPicPr>
            <a:picLocks noChangeAspect="1"/>
          </p:cNvPicPr>
          <p:nvPr/>
        </p:nvPicPr>
        <p:blipFill>
          <a:blip r:embed="rId14"/>
          <a:stretch>
            <a:fillRect/>
          </a:stretch>
        </p:blipFill>
        <p:spPr>
          <a:xfrm>
            <a:off x="4050792" y="3163824"/>
            <a:ext cx="274320" cy="274320"/>
          </a:xfrm>
          <a:prstGeom prst="rect">
            <a:avLst/>
          </a:prstGeom>
        </p:spPr>
      </p:pic>
      <p:sp>
        <p:nvSpPr>
          <p:cNvPr id="59" name="Text 42"/>
          <p:cNvSpPr txBox="1"/>
          <p:nvPr/>
        </p:nvSpPr>
        <p:spPr>
          <a:xfrm>
            <a:off x="4389120" y="2999232"/>
            <a:ext cx="1335024" cy="640080"/>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Consent ledger</a:t>
            </a:r>
            <a:endParaRPr lang="en-US" sz="900" dirty="0"/>
          </a:p>
        </p:txBody>
      </p:sp>
      <p:sp>
        <p:nvSpPr>
          <p:cNvPr id="60" name="Shape 43"/>
          <p:cNvSpPr/>
          <p:nvPr/>
        </p:nvSpPr>
        <p:spPr>
          <a:xfrm>
            <a:off x="5852160" y="2999232"/>
            <a:ext cx="1783080" cy="640080"/>
          </a:xfrm>
          <a:prstGeom prst="rect">
            <a:avLst/>
          </a:prstGeom>
          <a:solidFill>
            <a:srgbClr val="FFFFFF"/>
          </a:solidFill>
          <a:ln w="12700">
            <a:solidFill>
              <a:srgbClr val="1F4A82"/>
            </a:solidFill>
            <a:prstDash val="solid"/>
          </a:ln>
        </p:spPr>
      </p:sp>
      <p:pic>
        <p:nvPicPr>
          <p:cNvPr id="61" name="Image 14" descr="FaListCheck icon">    </p:cNvPr>
          <p:cNvPicPr>
            <a:picLocks noChangeAspect="1"/>
          </p:cNvPicPr>
          <p:nvPr/>
        </p:nvPicPr>
        <p:blipFill>
          <a:blip r:embed="rId15"/>
          <a:stretch>
            <a:fillRect/>
          </a:stretch>
        </p:blipFill>
        <p:spPr>
          <a:xfrm>
            <a:off x="5925312" y="3163824"/>
            <a:ext cx="274320" cy="274320"/>
          </a:xfrm>
          <a:prstGeom prst="rect">
            <a:avLst/>
          </a:prstGeom>
        </p:spPr>
      </p:pic>
      <p:sp>
        <p:nvSpPr>
          <p:cNvPr id="62" name="Text 44"/>
          <p:cNvSpPr txBox="1"/>
          <p:nvPr/>
        </p:nvSpPr>
        <p:spPr>
          <a:xfrm>
            <a:off x="6263640" y="2999232"/>
            <a:ext cx="1335024" cy="640080"/>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Risk lists: mentors only</a:t>
            </a:r>
            <a:endParaRPr lang="en-US" sz="900" dirty="0"/>
          </a:p>
        </p:txBody>
      </p:sp>
      <p:sp>
        <p:nvSpPr>
          <p:cNvPr id="63" name="Shape 45"/>
          <p:cNvSpPr/>
          <p:nvPr/>
        </p:nvSpPr>
        <p:spPr>
          <a:xfrm>
            <a:off x="5829300" y="3794760"/>
            <a:ext cx="0" cy="210312"/>
          </a:xfrm>
          <a:prstGeom prst="line">
            <a:avLst/>
          </a:prstGeom>
          <a:noFill/>
          <a:ln w="31750">
            <a:solidFill>
              <a:srgbClr val="1F4A82"/>
            </a:solidFill>
            <a:prstDash val="solid"/>
            <a:tailEnd type="triangle"/>
          </a:ln>
        </p:spPr>
      </p:sp>
      <p:sp>
        <p:nvSpPr>
          <p:cNvPr id="64" name="Text 46"/>
          <p:cNvSpPr txBox="1"/>
          <p:nvPr/>
        </p:nvSpPr>
        <p:spPr>
          <a:xfrm>
            <a:off x="3840480" y="4005072"/>
            <a:ext cx="3977640" cy="365760"/>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Out: question difficulty numbers only, to the shared bank. Parents see progress, never ranks.</a:t>
            </a:r>
            <a:endParaRPr lang="en-US" sz="850" dirty="0"/>
          </a:p>
        </p:txBody>
      </p:sp>
      <p:sp>
        <p:nvSpPr>
          <p:cNvPr id="65" name="Shape 47"/>
          <p:cNvSpPr/>
          <p:nvPr/>
        </p:nvSpPr>
        <p:spPr>
          <a:xfrm>
            <a:off x="8046720" y="1115568"/>
            <a:ext cx="3730752" cy="301752"/>
          </a:xfrm>
          <a:prstGeom prst="rect">
            <a:avLst/>
          </a:prstGeom>
          <a:solidFill>
            <a:srgbClr val="1F4A82"/>
          </a:solidFill>
          <a:ln/>
        </p:spPr>
      </p:sp>
      <p:sp>
        <p:nvSpPr>
          <p:cNvPr id="66" name="Text 48"/>
          <p:cNvSpPr txBox="1"/>
          <p:nvPr/>
        </p:nvSpPr>
        <p:spPr>
          <a:xfrm>
            <a:off x="8156448" y="1115568"/>
            <a:ext cx="3511296"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THE COST OF PRIVACY, ON REAL DATA</a:t>
            </a:r>
            <a:endParaRPr lang="en-US" sz="1200" dirty="0"/>
          </a:p>
        </p:txBody>
      </p:sp>
      <p:pic>
        <p:nvPicPr>
          <p:cNvPr id="67" name="Image 15" descr="Academic-only vs academic plus click behaviour, OULAD">    </p:cNvPr>
          <p:cNvPicPr>
            <a:picLocks noChangeAspect="1"/>
          </p:cNvPicPr>
          <p:nvPr/>
        </p:nvPicPr>
        <p:blipFill>
          <a:blip r:embed="rId16"/>
          <a:stretch>
            <a:fillRect/>
          </a:stretch>
        </p:blipFill>
        <p:spPr>
          <a:xfrm>
            <a:off x="8119872" y="1481328"/>
            <a:ext cx="3566160" cy="2706624"/>
          </a:xfrm>
          <a:prstGeom prst="rect">
            <a:avLst/>
          </a:prstGeom>
        </p:spPr>
      </p:pic>
      <p:sp>
        <p:nvSpPr>
          <p:cNvPr id="68" name="Shape 49"/>
          <p:cNvSpPr/>
          <p:nvPr/>
        </p:nvSpPr>
        <p:spPr>
          <a:xfrm>
            <a:off x="8138160" y="4160520"/>
            <a:ext cx="866394" cy="182880"/>
          </a:xfrm>
          <a:prstGeom prst="roundRect">
            <a:avLst>
              <a:gd name="adj" fmla="val 50000"/>
            </a:avLst>
          </a:prstGeom>
          <a:solidFill>
            <a:srgbClr val="FFFFFF"/>
          </a:solidFill>
          <a:ln w="12700">
            <a:solidFill>
              <a:srgbClr val="1F4A82"/>
            </a:solidFill>
            <a:prstDash val="solid"/>
          </a:ln>
        </p:spPr>
      </p:sp>
      <p:sp>
        <p:nvSpPr>
          <p:cNvPr id="69" name="Text 50"/>
          <p:cNvSpPr txBox="1"/>
          <p:nvPr/>
        </p:nvSpPr>
        <p:spPr>
          <a:xfrm>
            <a:off x="8138160" y="4160520"/>
            <a:ext cx="866394" cy="182880"/>
          </a:xfrm>
          <a:prstGeom prst="rect">
            <a:avLst/>
          </a:prstGeom>
          <a:noFill/>
          <a:ln/>
        </p:spPr>
        <p:txBody>
          <a:bodyPr wrap="square" lIns="0" tIns="0" rIns="0" bIns="0" rtlCol="0" anchor="ctr"/>
          <a:lstStyle/>
          <a:p>
            <a:pPr algn="ctr" indent="0" marL="0">
              <a:buNone/>
            </a:pPr>
            <a:r>
              <a:rPr lang="en-US" sz="750" b="1" spc="100" kern="0" dirty="0">
                <a:solidFill>
                  <a:srgbClr val="1F4A82"/>
                </a:solidFill>
                <a:latin typeface="Calibri" pitchFamily="34" charset="0"/>
                <a:ea typeface="Calibri" pitchFamily="34" charset="-122"/>
                <a:cs typeface="Calibri" pitchFamily="34" charset="-120"/>
              </a:rPr>
              <a:t>PUBLIC DATA</a:t>
            </a:r>
            <a:endParaRPr lang="en-US" sz="750" dirty="0"/>
          </a:p>
        </p:txBody>
      </p:sp>
      <p:sp>
        <p:nvSpPr>
          <p:cNvPr id="70" name="Text 51"/>
          <p:cNvSpPr txBox="1"/>
          <p:nvPr/>
        </p:nvSpPr>
        <p:spPr>
          <a:xfrm>
            <a:off x="9509760" y="4114800"/>
            <a:ext cx="2240280" cy="274320"/>
          </a:xfrm>
          <a:prstGeom prst="rect">
            <a:avLst/>
          </a:prstGeom>
          <a:noFill/>
          <a:ln/>
        </p:spPr>
        <p:txBody>
          <a:bodyPr wrap="square" lIns="0" tIns="0" rIns="0" bIns="0" rtlCol="0" anchor="ctr"/>
          <a:lstStyle/>
          <a:p>
            <a:pPr algn="l" indent="0" marL="0">
              <a:buNone/>
            </a:pPr>
            <a:r>
              <a:rPr lang="en-US" sz="850" b="1" dirty="0">
                <a:solidFill>
                  <a:srgbClr val="1F4A82"/>
                </a:solidFill>
                <a:latin typeface="Calibri" pitchFamily="34" charset="0"/>
                <a:ea typeface="Calibri" pitchFamily="34" charset="-122"/>
                <a:cs typeface="Calibri" pitchFamily="34" charset="-120"/>
              </a:rPr>
              <a:t>Academic-only costs 0.008 AUC at day 28</a:t>
            </a:r>
            <a:endParaRPr lang="en-US" sz="850" dirty="0"/>
          </a:p>
        </p:txBody>
      </p:sp>
      <p:sp>
        <p:nvSpPr>
          <p:cNvPr id="71" name="Text 52"/>
          <p:cNvSpPr txBox="1"/>
          <p:nvPr/>
        </p:nvSpPr>
        <p:spPr>
          <a:xfrm>
            <a:off x="448056" y="4544568"/>
            <a:ext cx="713232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SAFETY GUARDRAILS</a:t>
            </a:r>
            <a:endParaRPr lang="en-US" sz="1250" dirty="0"/>
          </a:p>
        </p:txBody>
      </p:sp>
      <p:sp>
        <p:nvSpPr>
          <p:cNvPr id="72" name="Shape 53"/>
          <p:cNvSpPr/>
          <p:nvPr/>
        </p:nvSpPr>
        <p:spPr>
          <a:xfrm>
            <a:off x="448056" y="4837176"/>
            <a:ext cx="7132320" cy="10973"/>
          </a:xfrm>
          <a:prstGeom prst="rect">
            <a:avLst/>
          </a:prstGeom>
          <a:solidFill>
            <a:srgbClr val="C9D6E8"/>
          </a:solidFill>
          <a:ln/>
        </p:spPr>
      </p:sp>
      <p:sp>
        <p:nvSpPr>
          <p:cNvPr id="73" name="Shape 54"/>
          <p:cNvSpPr/>
          <p:nvPr/>
        </p:nvSpPr>
        <p:spPr>
          <a:xfrm>
            <a:off x="448056" y="4828032"/>
            <a:ext cx="2194560" cy="27432"/>
          </a:xfrm>
          <a:prstGeom prst="rect">
            <a:avLst/>
          </a:prstGeom>
          <a:solidFill>
            <a:srgbClr val="1F4A82"/>
          </a:solidFill>
          <a:ln/>
        </p:spPr>
      </p:sp>
      <p:sp>
        <p:nvSpPr>
          <p:cNvPr id="74" name="Shape 55"/>
          <p:cNvSpPr/>
          <p:nvPr/>
        </p:nvSpPr>
        <p:spPr>
          <a:xfrm>
            <a:off x="7690104" y="4572000"/>
            <a:ext cx="0" cy="1783080"/>
          </a:xfrm>
          <a:prstGeom prst="line">
            <a:avLst/>
          </a:prstGeom>
          <a:noFill/>
          <a:ln w="12700">
            <a:solidFill>
              <a:srgbClr val="8FA9CC"/>
            </a:solidFill>
            <a:prstDash val="dash"/>
          </a:ln>
        </p:spPr>
      </p:sp>
      <p:sp>
        <p:nvSpPr>
          <p:cNvPr id="75" name="Shape 56"/>
          <p:cNvSpPr/>
          <p:nvPr/>
        </p:nvSpPr>
        <p:spPr>
          <a:xfrm>
            <a:off x="484632" y="4983480"/>
            <a:ext cx="1188720" cy="1188720"/>
          </a:xfrm>
          <a:prstGeom prst="ellipse">
            <a:avLst/>
          </a:prstGeom>
          <a:solidFill>
            <a:srgbClr val="1F4A82"/>
          </a:solidFill>
          <a:ln w="63500">
            <a:solidFill>
              <a:srgbClr val="E3ECF7"/>
            </a:solidFill>
            <a:prstDash val="solid"/>
          </a:ln>
        </p:spPr>
      </p:sp>
      <p:pic>
        <p:nvPicPr>
          <p:cNvPr id="76" name="Image 16" descr="FaShieldHalved icon">    </p:cNvPr>
          <p:cNvPicPr>
            <a:picLocks noChangeAspect="1"/>
          </p:cNvPicPr>
          <p:nvPr/>
        </p:nvPicPr>
        <p:blipFill>
          <a:blip r:embed="rId17"/>
          <a:stretch>
            <a:fillRect/>
          </a:stretch>
        </p:blipFill>
        <p:spPr>
          <a:xfrm>
            <a:off x="749808" y="5248656"/>
            <a:ext cx="658368" cy="658368"/>
          </a:xfrm>
          <a:prstGeom prst="rect">
            <a:avLst/>
          </a:prstGeom>
        </p:spPr>
      </p:pic>
      <p:sp>
        <p:nvSpPr>
          <p:cNvPr id="77" name="Shape 57"/>
          <p:cNvSpPr/>
          <p:nvPr/>
        </p:nvSpPr>
        <p:spPr>
          <a:xfrm>
            <a:off x="1828800" y="4919472"/>
            <a:ext cx="2834640" cy="402336"/>
          </a:xfrm>
          <a:prstGeom prst="rect">
            <a:avLst/>
          </a:prstGeom>
          <a:solidFill>
            <a:srgbClr val="FFFFFF"/>
          </a:solidFill>
          <a:ln w="12700">
            <a:solidFill>
              <a:srgbClr val="1F4A82"/>
            </a:solidFill>
            <a:prstDash val="solid"/>
          </a:ln>
        </p:spPr>
      </p:sp>
      <p:sp>
        <p:nvSpPr>
          <p:cNvPr id="78" name="Shape 58"/>
          <p:cNvSpPr/>
          <p:nvPr/>
        </p:nvSpPr>
        <p:spPr>
          <a:xfrm>
            <a:off x="1828800" y="4919472"/>
            <a:ext cx="64008" cy="402336"/>
          </a:xfrm>
          <a:prstGeom prst="rect">
            <a:avLst/>
          </a:prstGeom>
          <a:solidFill>
            <a:srgbClr val="1F4A82"/>
          </a:solidFill>
          <a:ln/>
        </p:spPr>
      </p:sp>
      <p:sp>
        <p:nvSpPr>
          <p:cNvPr id="79" name="Text 59"/>
          <p:cNvSpPr txBox="1"/>
          <p:nvPr/>
        </p:nvSpPr>
        <p:spPr>
          <a:xfrm>
            <a:off x="1956816" y="4919472"/>
            <a:ext cx="2670048" cy="40233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No leaderboards or public ranks</a:t>
            </a:r>
            <a:endParaRPr lang="en-US" sz="900" dirty="0"/>
          </a:p>
        </p:txBody>
      </p:sp>
      <p:sp>
        <p:nvSpPr>
          <p:cNvPr id="80" name="Shape 60"/>
          <p:cNvSpPr/>
          <p:nvPr/>
        </p:nvSpPr>
        <p:spPr>
          <a:xfrm>
            <a:off x="4754880" y="4919472"/>
            <a:ext cx="2834640" cy="402336"/>
          </a:xfrm>
          <a:prstGeom prst="rect">
            <a:avLst/>
          </a:prstGeom>
          <a:solidFill>
            <a:srgbClr val="FFFFFF"/>
          </a:solidFill>
          <a:ln w="12700">
            <a:solidFill>
              <a:srgbClr val="1F4A82"/>
            </a:solidFill>
            <a:prstDash val="solid"/>
          </a:ln>
        </p:spPr>
      </p:sp>
      <p:sp>
        <p:nvSpPr>
          <p:cNvPr id="81" name="Shape 61"/>
          <p:cNvSpPr/>
          <p:nvPr/>
        </p:nvSpPr>
        <p:spPr>
          <a:xfrm>
            <a:off x="4754880" y="4919472"/>
            <a:ext cx="64008" cy="402336"/>
          </a:xfrm>
          <a:prstGeom prst="rect">
            <a:avLst/>
          </a:prstGeom>
          <a:solidFill>
            <a:srgbClr val="1F4A82"/>
          </a:solidFill>
          <a:ln/>
        </p:spPr>
      </p:sp>
      <p:sp>
        <p:nvSpPr>
          <p:cNvPr id="82" name="Text 62"/>
          <p:cNvSpPr txBox="1"/>
          <p:nvPr/>
        </p:nvSpPr>
        <p:spPr>
          <a:xfrm>
            <a:off x="4882896" y="4919472"/>
            <a:ext cx="2670048" cy="40233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No batch moves based on scores</a:t>
            </a:r>
            <a:endParaRPr lang="en-US" sz="900" dirty="0"/>
          </a:p>
        </p:txBody>
      </p:sp>
      <p:sp>
        <p:nvSpPr>
          <p:cNvPr id="83" name="Shape 63"/>
          <p:cNvSpPr/>
          <p:nvPr/>
        </p:nvSpPr>
        <p:spPr>
          <a:xfrm>
            <a:off x="1828800" y="5376672"/>
            <a:ext cx="2834640" cy="402336"/>
          </a:xfrm>
          <a:prstGeom prst="rect">
            <a:avLst/>
          </a:prstGeom>
          <a:solidFill>
            <a:srgbClr val="FFFFFF"/>
          </a:solidFill>
          <a:ln w="12700">
            <a:solidFill>
              <a:srgbClr val="1F4A82"/>
            </a:solidFill>
            <a:prstDash val="solid"/>
          </a:ln>
        </p:spPr>
      </p:sp>
      <p:sp>
        <p:nvSpPr>
          <p:cNvPr id="84" name="Shape 64"/>
          <p:cNvSpPr/>
          <p:nvPr/>
        </p:nvSpPr>
        <p:spPr>
          <a:xfrm>
            <a:off x="1828800" y="5376672"/>
            <a:ext cx="64008" cy="402336"/>
          </a:xfrm>
          <a:prstGeom prst="rect">
            <a:avLst/>
          </a:prstGeom>
          <a:solidFill>
            <a:srgbClr val="1F4A82"/>
          </a:solidFill>
          <a:ln/>
        </p:spPr>
      </p:sp>
      <p:sp>
        <p:nvSpPr>
          <p:cNvPr id="85" name="Text 65"/>
          <p:cNvSpPr txBox="1"/>
          <p:nvPr/>
        </p:nvSpPr>
        <p:spPr>
          <a:xfrm>
            <a:off x="1956816" y="5376672"/>
            <a:ext cx="2670048" cy="40233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Banned-words check on every message</a:t>
            </a:r>
            <a:endParaRPr lang="en-US" sz="900" dirty="0"/>
          </a:p>
        </p:txBody>
      </p:sp>
      <p:sp>
        <p:nvSpPr>
          <p:cNvPr id="86" name="Shape 66"/>
          <p:cNvSpPr/>
          <p:nvPr/>
        </p:nvSpPr>
        <p:spPr>
          <a:xfrm>
            <a:off x="4754880" y="5376672"/>
            <a:ext cx="2834640" cy="402336"/>
          </a:xfrm>
          <a:prstGeom prst="rect">
            <a:avLst/>
          </a:prstGeom>
          <a:solidFill>
            <a:srgbClr val="FFFFFF"/>
          </a:solidFill>
          <a:ln w="12700">
            <a:solidFill>
              <a:srgbClr val="1F4A82"/>
            </a:solidFill>
            <a:prstDash val="solid"/>
          </a:ln>
        </p:spPr>
      </p:sp>
      <p:sp>
        <p:nvSpPr>
          <p:cNvPr id="87" name="Shape 67"/>
          <p:cNvSpPr/>
          <p:nvPr/>
        </p:nvSpPr>
        <p:spPr>
          <a:xfrm>
            <a:off x="4754880" y="5376672"/>
            <a:ext cx="64008" cy="402336"/>
          </a:xfrm>
          <a:prstGeom prst="rect">
            <a:avLst/>
          </a:prstGeom>
          <a:solidFill>
            <a:srgbClr val="1F4A82"/>
          </a:solidFill>
          <a:ln/>
        </p:spPr>
      </p:sp>
      <p:sp>
        <p:nvSpPr>
          <p:cNvPr id="88" name="Text 68"/>
          <p:cNvSpPr txBox="1"/>
          <p:nvPr/>
        </p:nvSpPr>
        <p:spPr>
          <a:xfrm>
            <a:off x="4882896" y="5376672"/>
            <a:ext cx="2670048" cy="40233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Counsellor contact for each institute</a:t>
            </a:r>
            <a:endParaRPr lang="en-US" sz="900" dirty="0"/>
          </a:p>
        </p:txBody>
      </p:sp>
      <p:sp>
        <p:nvSpPr>
          <p:cNvPr id="89" name="Shape 69"/>
          <p:cNvSpPr/>
          <p:nvPr/>
        </p:nvSpPr>
        <p:spPr>
          <a:xfrm>
            <a:off x="1828800" y="5833872"/>
            <a:ext cx="2834640" cy="402336"/>
          </a:xfrm>
          <a:prstGeom prst="rect">
            <a:avLst/>
          </a:prstGeom>
          <a:solidFill>
            <a:srgbClr val="FFFFFF"/>
          </a:solidFill>
          <a:ln w="12700">
            <a:solidFill>
              <a:srgbClr val="1F4A82"/>
            </a:solidFill>
            <a:prstDash val="solid"/>
          </a:ln>
        </p:spPr>
      </p:sp>
      <p:sp>
        <p:nvSpPr>
          <p:cNvPr id="90" name="Shape 70"/>
          <p:cNvSpPr/>
          <p:nvPr/>
        </p:nvSpPr>
        <p:spPr>
          <a:xfrm>
            <a:off x="1828800" y="5833872"/>
            <a:ext cx="64008" cy="402336"/>
          </a:xfrm>
          <a:prstGeom prst="rect">
            <a:avLst/>
          </a:prstGeom>
          <a:solidFill>
            <a:srgbClr val="1F4A82"/>
          </a:solidFill>
          <a:ln/>
        </p:spPr>
      </p:sp>
      <p:sp>
        <p:nvSpPr>
          <p:cNvPr id="91" name="Text 71"/>
          <p:cNvSpPr txBox="1"/>
          <p:nvPr/>
        </p:nvSpPr>
        <p:spPr>
          <a:xfrm>
            <a:off x="1956816" y="5833872"/>
            <a:ext cx="2670048" cy="40233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Risk lists: mentors and owner only</a:t>
            </a:r>
            <a:endParaRPr lang="en-US" sz="900" dirty="0"/>
          </a:p>
        </p:txBody>
      </p:sp>
      <p:sp>
        <p:nvSpPr>
          <p:cNvPr id="92" name="Shape 72"/>
          <p:cNvSpPr/>
          <p:nvPr/>
        </p:nvSpPr>
        <p:spPr>
          <a:xfrm>
            <a:off x="4754880" y="5833872"/>
            <a:ext cx="2834640" cy="402336"/>
          </a:xfrm>
          <a:prstGeom prst="rect">
            <a:avLst/>
          </a:prstGeom>
          <a:solidFill>
            <a:srgbClr val="FFFFFF"/>
          </a:solidFill>
          <a:ln w="12700">
            <a:solidFill>
              <a:srgbClr val="1F4A82"/>
            </a:solidFill>
            <a:prstDash val="solid"/>
          </a:ln>
        </p:spPr>
      </p:sp>
      <p:sp>
        <p:nvSpPr>
          <p:cNvPr id="93" name="Shape 73"/>
          <p:cNvSpPr/>
          <p:nvPr/>
        </p:nvSpPr>
        <p:spPr>
          <a:xfrm>
            <a:off x="4754880" y="5833872"/>
            <a:ext cx="64008" cy="402336"/>
          </a:xfrm>
          <a:prstGeom prst="rect">
            <a:avLst/>
          </a:prstGeom>
          <a:solidFill>
            <a:srgbClr val="1F4A82"/>
          </a:solidFill>
          <a:ln/>
        </p:spPr>
      </p:sp>
      <p:sp>
        <p:nvSpPr>
          <p:cNvPr id="94" name="Text 74"/>
          <p:cNvSpPr txBox="1"/>
          <p:nvPr/>
        </p:nvSpPr>
        <p:spPr>
          <a:xfrm>
            <a:off x="4882896" y="5833872"/>
            <a:ext cx="2670048" cy="402336"/>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Students never see a risk label</a:t>
            </a:r>
            <a:endParaRPr lang="en-US" sz="900" dirty="0"/>
          </a:p>
        </p:txBody>
      </p:sp>
      <p:sp>
        <p:nvSpPr>
          <p:cNvPr id="95" name="Text 75"/>
          <p:cNvSpPr txBox="1"/>
          <p:nvPr/>
        </p:nvSpPr>
        <p:spPr>
          <a:xfrm>
            <a:off x="7854696" y="4544568"/>
            <a:ext cx="3867912"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THE LAW, IN ONE LINE EACH</a:t>
            </a:r>
            <a:endParaRPr lang="en-US" sz="1250" dirty="0"/>
          </a:p>
        </p:txBody>
      </p:sp>
      <p:sp>
        <p:nvSpPr>
          <p:cNvPr id="96" name="Shape 76"/>
          <p:cNvSpPr/>
          <p:nvPr/>
        </p:nvSpPr>
        <p:spPr>
          <a:xfrm>
            <a:off x="7854696" y="4837176"/>
            <a:ext cx="3867912" cy="10973"/>
          </a:xfrm>
          <a:prstGeom prst="rect">
            <a:avLst/>
          </a:prstGeom>
          <a:solidFill>
            <a:srgbClr val="C9D6E8"/>
          </a:solidFill>
          <a:ln/>
        </p:spPr>
      </p:sp>
      <p:sp>
        <p:nvSpPr>
          <p:cNvPr id="97" name="Shape 77"/>
          <p:cNvSpPr/>
          <p:nvPr/>
        </p:nvSpPr>
        <p:spPr>
          <a:xfrm>
            <a:off x="7854696" y="4828032"/>
            <a:ext cx="2194560" cy="27432"/>
          </a:xfrm>
          <a:prstGeom prst="rect">
            <a:avLst/>
          </a:prstGeom>
          <a:solidFill>
            <a:srgbClr val="1F4A82"/>
          </a:solidFill>
          <a:ln/>
        </p:spPr>
      </p:sp>
      <p:sp>
        <p:nvSpPr>
          <p:cNvPr id="98" name="Text 78"/>
          <p:cNvSpPr txBox="1"/>
          <p:nvPr/>
        </p:nvSpPr>
        <p:spPr>
          <a:xfrm>
            <a:off x="7909560" y="4919472"/>
            <a:ext cx="3794760" cy="320040"/>
          </a:xfrm>
          <a:prstGeom prst="rect">
            <a:avLst/>
          </a:prstGeom>
          <a:noFill/>
          <a:ln/>
        </p:spPr>
        <p:txBody>
          <a:bodyPr wrap="square" lIns="0" tIns="0" rIns="0" bIns="0" rtlCol="0" anchor="ctr"/>
          <a:lstStyle/>
          <a:p>
            <a:pPr algn="l" indent="0" marL="0">
              <a:buNone/>
            </a:pPr>
            <a:r>
              <a:rPr lang="en-US" sz="900" b="1" dirty="0">
                <a:solidFill>
                  <a:srgbClr val="1F4A82"/>
                </a:solidFill>
                <a:latin typeface="Calibri" pitchFamily="34" charset="0"/>
                <a:ea typeface="Calibri" pitchFamily="34" charset="-122"/>
                <a:cs typeface="Calibri" pitchFamily="34" charset="-120"/>
              </a:rPr>
              <a:t>DPDP s.9(1), Rule 10: </a:t>
            </a:r>
            <a:pPr algn="l" indent="0" marL="0">
              <a:buNone/>
            </a:pPr>
            <a:r>
              <a:rPr lang="en-US" sz="900" dirty="0">
                <a:solidFill>
                  <a:srgbClr val="1F2937"/>
                </a:solidFill>
                <a:latin typeface="Calibri" pitchFamily="34" charset="0"/>
                <a:ea typeface="Calibri" pitchFamily="34" charset="-122"/>
                <a:cs typeface="Calibri" pitchFamily="34" charset="-120"/>
              </a:rPr>
              <a:t>verifiable parental consent before processing</a:t>
            </a:r>
            <a:endParaRPr lang="en-US" sz="900" dirty="0"/>
          </a:p>
        </p:txBody>
      </p:sp>
      <p:sp>
        <p:nvSpPr>
          <p:cNvPr id="99" name="Text 79"/>
          <p:cNvSpPr txBox="1"/>
          <p:nvPr/>
        </p:nvSpPr>
        <p:spPr>
          <a:xfrm>
            <a:off x="7909560" y="5257800"/>
            <a:ext cx="3794760" cy="320040"/>
          </a:xfrm>
          <a:prstGeom prst="rect">
            <a:avLst/>
          </a:prstGeom>
          <a:noFill/>
          <a:ln/>
        </p:spPr>
        <p:txBody>
          <a:bodyPr wrap="square" lIns="0" tIns="0" rIns="0" bIns="0" rtlCol="0" anchor="ctr"/>
          <a:lstStyle/>
          <a:p>
            <a:pPr algn="l" indent="0" marL="0">
              <a:buNone/>
            </a:pPr>
            <a:r>
              <a:rPr lang="en-US" sz="900" b="1" dirty="0">
                <a:solidFill>
                  <a:srgbClr val="1F4A82"/>
                </a:solidFill>
                <a:latin typeface="Calibri" pitchFamily="34" charset="0"/>
                <a:ea typeface="Calibri" pitchFamily="34" charset="-122"/>
                <a:cs typeface="Calibri" pitchFamily="34" charset="-120"/>
              </a:rPr>
              <a:t>DPDP s.9(3): </a:t>
            </a:r>
            <a:pPr algn="l" indent="0" marL="0">
              <a:buNone/>
            </a:pPr>
            <a:r>
              <a:rPr lang="en-US" sz="900" dirty="0">
                <a:solidFill>
                  <a:srgbClr val="1F2937"/>
                </a:solidFill>
                <a:latin typeface="Calibri" pitchFamily="34" charset="0"/>
                <a:ea typeface="Calibri" pitchFamily="34" charset="-122"/>
                <a:cs typeface="Calibri" pitchFamily="34" charset="-120"/>
              </a:rPr>
              <a:t>no tracking of children, even with consent</a:t>
            </a:r>
            <a:endParaRPr lang="en-US" sz="900" dirty="0"/>
          </a:p>
        </p:txBody>
      </p:sp>
      <p:sp>
        <p:nvSpPr>
          <p:cNvPr id="100" name="Text 80"/>
          <p:cNvSpPr txBox="1"/>
          <p:nvPr/>
        </p:nvSpPr>
        <p:spPr>
          <a:xfrm>
            <a:off x="7909560" y="5596128"/>
            <a:ext cx="3794760" cy="320040"/>
          </a:xfrm>
          <a:prstGeom prst="rect">
            <a:avLst/>
          </a:prstGeom>
          <a:noFill/>
          <a:ln/>
        </p:spPr>
        <p:txBody>
          <a:bodyPr wrap="square" lIns="0" tIns="0" rIns="0" bIns="0" rtlCol="0" anchor="ctr"/>
          <a:lstStyle/>
          <a:p>
            <a:pPr algn="l" indent="0" marL="0">
              <a:buNone/>
            </a:pPr>
            <a:r>
              <a:rPr lang="en-US" sz="900" b="1" dirty="0">
                <a:solidFill>
                  <a:srgbClr val="1F4A82"/>
                </a:solidFill>
                <a:latin typeface="Calibri" pitchFamily="34" charset="0"/>
                <a:ea typeface="Calibri" pitchFamily="34" charset="-122"/>
                <a:cs typeface="Calibri" pitchFamily="34" charset="-120"/>
              </a:rPr>
              <a:t>MoE 2024 cl. 10.2(xi): </a:t>
            </a:r>
            <a:pPr algn="l" indent="0" marL="0">
              <a:buNone/>
            </a:pPr>
            <a:r>
              <a:rPr lang="en-US" sz="900" dirty="0">
                <a:solidFill>
                  <a:srgbClr val="1F2937"/>
                </a:solidFill>
                <a:latin typeface="Calibri" pitchFamily="34" charset="0"/>
                <a:ea typeface="Calibri" pitchFamily="34" charset="-122"/>
                <a:cs typeface="Calibri" pitchFamily="34" charset="-120"/>
              </a:rPr>
              <a:t>results for counselling, never public</a:t>
            </a:r>
            <a:endParaRPr lang="en-US" sz="900" dirty="0"/>
          </a:p>
        </p:txBody>
      </p:sp>
      <p:sp>
        <p:nvSpPr>
          <p:cNvPr id="101" name="Text 81"/>
          <p:cNvSpPr txBox="1"/>
          <p:nvPr/>
        </p:nvSpPr>
        <p:spPr>
          <a:xfrm>
            <a:off x="7909560" y="5934456"/>
            <a:ext cx="3794760" cy="320040"/>
          </a:xfrm>
          <a:prstGeom prst="rect">
            <a:avLst/>
          </a:prstGeom>
          <a:noFill/>
          <a:ln/>
        </p:spPr>
        <p:txBody>
          <a:bodyPr wrap="square" lIns="0" tIns="0" rIns="0" bIns="0" rtlCol="0" anchor="ctr"/>
          <a:lstStyle/>
          <a:p>
            <a:pPr algn="l" indent="0" marL="0">
              <a:buNone/>
            </a:pPr>
            <a:r>
              <a:rPr lang="en-US" sz="900" b="1" dirty="0">
                <a:solidFill>
                  <a:srgbClr val="1F4A82"/>
                </a:solidFill>
                <a:latin typeface="Calibri" pitchFamily="34" charset="0"/>
                <a:ea typeface="Calibri" pitchFamily="34" charset="-122"/>
                <a:cs typeface="Calibri" pitchFamily="34" charset="-120"/>
              </a:rPr>
              <a:t>Our role: </a:t>
            </a:r>
            <a:pPr algn="l" indent="0" marL="0">
              <a:buNone/>
            </a:pPr>
            <a:r>
              <a:rPr lang="en-US" sz="900" dirty="0">
                <a:solidFill>
                  <a:srgbClr val="1F2937"/>
                </a:solidFill>
                <a:latin typeface="Calibri" pitchFamily="34" charset="0"/>
                <a:ea typeface="Calibri" pitchFamily="34" charset="-122"/>
                <a:cs typeface="Calibri" pitchFamily="34" charset="-120"/>
              </a:rPr>
              <a:t>data processor; the institute is the fiduciary</a:t>
            </a:r>
            <a:endParaRPr lang="en-US" sz="900" dirty="0"/>
          </a:p>
        </p:txBody>
      </p:sp>
      <p:sp>
        <p:nvSpPr>
          <p:cNvPr id="102" name="Shape 82"/>
          <p:cNvSpPr/>
          <p:nvPr/>
        </p:nvSpPr>
        <p:spPr>
          <a:xfrm rot="120000">
            <a:off x="10104120" y="694944"/>
            <a:ext cx="1691640" cy="384048"/>
          </a:xfrm>
          <a:prstGeom prst="rect">
            <a:avLst/>
          </a:prstGeom>
          <a:solidFill>
            <a:srgbClr val="C9CED6">
              <a:alpha val="45000"/>
            </a:srgbClr>
          </a:solidFill>
          <a:ln/>
        </p:spPr>
      </p:sp>
      <p:sp>
        <p:nvSpPr>
          <p:cNvPr id="103" name="Shape 83"/>
          <p:cNvSpPr/>
          <p:nvPr/>
        </p:nvSpPr>
        <p:spPr>
          <a:xfrm rot="120000">
            <a:off x="10058400" y="640080"/>
            <a:ext cx="1691640" cy="384048"/>
          </a:xfrm>
          <a:prstGeom prst="rect">
            <a:avLst/>
          </a:prstGeom>
          <a:solidFill>
            <a:srgbClr val="FDCB9A"/>
          </a:solidFill>
          <a:ln/>
        </p:spPr>
      </p:sp>
      <p:sp>
        <p:nvSpPr>
          <p:cNvPr id="104" name="Text 84"/>
          <p:cNvSpPr txBox="1"/>
          <p:nvPr/>
        </p:nvSpPr>
        <p:spPr>
          <a:xfrm rot="120000">
            <a:off x="10113264" y="676656"/>
            <a:ext cx="1581912" cy="329184"/>
          </a:xfrm>
          <a:prstGeom prst="rect">
            <a:avLst/>
          </a:prstGeom>
          <a:noFill/>
          <a:ln/>
        </p:spPr>
        <p:txBody>
          <a:bodyPr wrap="square" lIns="0" tIns="0" rIns="0" bIns="0" rtlCol="0" anchor="ctr"/>
          <a:lstStyle/>
          <a:p>
            <a:pPr algn="ctr" indent="0" marL="0">
              <a:buNone/>
            </a:pPr>
            <a:r>
              <a:rPr lang="en-US" sz="850" dirty="0">
                <a:solidFill>
                  <a:srgbClr val="8A4B00"/>
                </a:solidFill>
                <a:latin typeface="Segoe Print" pitchFamily="34" charset="0"/>
                <a:ea typeface="Segoe Print" pitchFamily="34" charset="-122"/>
                <a:cs typeface="Segoe Print" pitchFamily="34" charset="-120"/>
              </a:rPr>
              <a:t>built in, not bolted on</a:t>
            </a:r>
            <a:endParaRPr lang="en-US" sz="850" dirty="0"/>
          </a:p>
        </p:txBody>
      </p:sp>
      <p:pic>
        <p:nvPicPr>
          <p:cNvPr id="105" name="Image 17" descr="D:\Professional Work\Business\FC_Case_Dhruvi\presentation\source\assets\doodle_tape.png">    </p:cNvPr>
          <p:cNvPicPr>
            <a:picLocks noChangeAspect="1"/>
          </p:cNvPicPr>
          <p:nvPr/>
        </p:nvPicPr>
        <p:blipFill>
          <a:blip r:embed="rId18"/>
          <a:stretch>
            <a:fillRect/>
          </a:stretch>
        </p:blipFill>
        <p:spPr>
          <a:xfrm rot="72000">
            <a:off x="10629900" y="548640"/>
            <a:ext cx="548640" cy="173736"/>
          </a:xfrm>
          <a:prstGeom prst="rect">
            <a:avLst/>
          </a:prstGeom>
        </p:spPr>
      </p:pic>
      <p:sp>
        <p:nvSpPr>
          <p:cNvPr id="106" name="Text 85"/>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DPDP Act 2023 s.9, Rules 2025 (Rule 10); MoE Guidelines 2024; contracts/routing_policy.yaml; OULAD results (ml/public_validation); isolation tested on PostgreSQL 16. Not legal advice.</a:t>
            </a:r>
            <a:endParaRPr lang="en-US" sz="850" dirty="0"/>
          </a:p>
        </p:txBody>
      </p:sp>
      <p:pic>
        <p:nvPicPr>
          <p:cNvPr id="107" name="Image 18" descr="hand-drawn ul_swoosh">    </p:cNvPr>
          <p:cNvPicPr>
            <a:picLocks noChangeAspect="1"/>
          </p:cNvPicPr>
          <p:nvPr/>
        </p:nvPicPr>
        <p:blipFill>
          <a:blip r:embed="rId19"/>
          <a:stretch>
            <a:fillRect/>
          </a:stretch>
        </p:blipFill>
        <p:spPr>
          <a:xfrm>
            <a:off x="3931920" y="2194560"/>
            <a:ext cx="3657600" cy="109728"/>
          </a:xfrm>
          <a:prstGeom prst="rect">
            <a:avLst/>
          </a:prstGeom>
        </p:spPr>
      </p:pic>
      <p:pic>
        <p:nvPicPr>
          <p:cNvPr id="108" name="Image 19" descr="parent cursor">    </p:cNvPr>
          <p:cNvPicPr>
            <a:picLocks noChangeAspect="1"/>
          </p:cNvPicPr>
          <p:nvPr/>
        </p:nvPicPr>
        <p:blipFill>
          <a:blip r:embed="rId20"/>
          <a:stretch>
            <a:fillRect/>
          </a:stretch>
        </p:blipFill>
        <p:spPr>
          <a:xfrm>
            <a:off x="1097280" y="3291840"/>
            <a:ext cx="777240" cy="329184"/>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D4A24C"/>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money-transfer">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BUSINESS MODEL AND UNIT ECONOMICS</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At ₹30 a student, fees kept and staff time saved already cover about half the cost; every admission it wins is a bonus</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15568"/>
            <a:ext cx="2773604" cy="914400"/>
          </a:xfrm>
          <a:prstGeom prst="rect">
            <a:avLst/>
          </a:prstGeom>
          <a:solidFill>
            <a:srgbClr val="1F4A82"/>
          </a:solidFill>
          <a:ln/>
        </p:spPr>
      </p:sp>
      <p:sp>
        <p:nvSpPr>
          <p:cNvPr id="26" name="Text 22"/>
          <p:cNvSpPr txBox="1"/>
          <p:nvPr/>
        </p:nvSpPr>
        <p:spPr>
          <a:xfrm>
            <a:off x="502920" y="1133856"/>
            <a:ext cx="137160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3.6x</a:t>
            </a:r>
            <a:endParaRPr lang="en-US" sz="3000" dirty="0"/>
          </a:p>
        </p:txBody>
      </p:sp>
      <p:sp>
        <p:nvSpPr>
          <p:cNvPr id="27" name="Text 23"/>
          <p:cNvSpPr txBox="1"/>
          <p:nvPr/>
        </p:nvSpPr>
        <p:spPr>
          <a:xfrm>
            <a:off x="1874520" y="1170432"/>
            <a:ext cx="761924" cy="502920"/>
          </a:xfrm>
          <a:prstGeom prst="rect">
            <a:avLst/>
          </a:prstGeom>
          <a:noFill/>
          <a:ln/>
        </p:spPr>
        <p:txBody>
          <a:bodyPr wrap="square" lIns="0" tIns="0" rIns="0" bIns="0" rtlCol="0" anchor="ctr"/>
          <a:lstStyle/>
          <a:p>
            <a:pPr algn="l" indent="0" marL="0">
              <a:buNone/>
            </a:pPr>
            <a:r>
              <a:rPr lang="en-US" sz="1100" b="1" dirty="0">
                <a:solidFill>
                  <a:srgbClr val="C9DBF0"/>
                </a:solidFill>
                <a:latin typeface="Calibri" pitchFamily="34" charset="0"/>
                <a:ea typeface="Calibri" pitchFamily="34" charset="-122"/>
                <a:cs typeface="Calibri" pitchFamily="34" charset="-120"/>
              </a:rPr>
              <a:t>LTV ÷ CAC</a:t>
            </a:r>
            <a:endParaRPr lang="en-US" sz="1100" dirty="0"/>
          </a:p>
        </p:txBody>
      </p:sp>
      <p:sp>
        <p:nvSpPr>
          <p:cNvPr id="28" name="Shape 24"/>
          <p:cNvSpPr/>
          <p:nvPr/>
        </p:nvSpPr>
        <p:spPr>
          <a:xfrm>
            <a:off x="2654732" y="1188720"/>
            <a:ext cx="457200" cy="457200"/>
          </a:xfrm>
          <a:prstGeom prst="ellipse">
            <a:avLst/>
          </a:prstGeom>
          <a:solidFill>
            <a:srgbClr val="F4F8FD"/>
          </a:solidFill>
          <a:ln/>
        </p:spPr>
      </p:sp>
      <p:pic>
        <p:nvPicPr>
          <p:cNvPr id="29" name="Image 1" descr="Icon">    </p:cNvPr>
          <p:cNvPicPr>
            <a:picLocks noChangeAspect="1"/>
          </p:cNvPicPr>
          <p:nvPr/>
        </p:nvPicPr>
        <p:blipFill>
          <a:blip r:embed="rId2"/>
          <a:stretch>
            <a:fillRect/>
          </a:stretch>
        </p:blipFill>
        <p:spPr>
          <a:xfrm>
            <a:off x="2709596" y="1243584"/>
            <a:ext cx="347472" cy="347472"/>
          </a:xfrm>
          <a:prstGeom prst="rect">
            <a:avLst/>
          </a:prstGeom>
        </p:spPr>
      </p:pic>
      <p:sp>
        <p:nvSpPr>
          <p:cNvPr id="30" name="Text 25"/>
          <p:cNvSpPr txBox="1"/>
          <p:nvPr/>
        </p:nvSpPr>
        <p:spPr>
          <a:xfrm>
            <a:off x="502920" y="1700784"/>
            <a:ext cx="2590724" cy="274320"/>
          </a:xfrm>
          <a:prstGeom prst="rect">
            <a:avLst/>
          </a:prstGeom>
          <a:noFill/>
          <a:ln/>
        </p:spPr>
        <p:txBody>
          <a:bodyPr wrap="square" lIns="0" tIns="0" rIns="0" bIns="0" rtlCol="0" anchor="t"/>
          <a:lstStyle/>
          <a:p>
            <a:pPr algn="l" indent="0" marL="0">
              <a:buNone/>
            </a:pPr>
            <a:r>
              <a:rPr lang="en-US" sz="850" dirty="0">
                <a:solidFill>
                  <a:srgbClr val="FFFFFF"/>
                </a:solidFill>
                <a:latin typeface="Calibri" pitchFamily="34" charset="0"/>
                <a:ea typeface="Calibri" pitchFamily="34" charset="-122"/>
                <a:cs typeface="Calibri" pitchFamily="34" charset="-120"/>
              </a:rPr>
              <a:t>4.8x undiscounted; guide 10.7x</a:t>
            </a:r>
            <a:endParaRPr lang="en-US" sz="850" dirty="0"/>
          </a:p>
        </p:txBody>
      </p:sp>
      <p:sp>
        <p:nvSpPr>
          <p:cNvPr id="31" name="Shape 26"/>
          <p:cNvSpPr/>
          <p:nvPr/>
        </p:nvSpPr>
        <p:spPr>
          <a:xfrm>
            <a:off x="3276524" y="1115568"/>
            <a:ext cx="2773604" cy="914400"/>
          </a:xfrm>
          <a:prstGeom prst="rect">
            <a:avLst/>
          </a:prstGeom>
          <a:solidFill>
            <a:srgbClr val="1F4A82"/>
          </a:solidFill>
          <a:ln/>
        </p:spPr>
      </p:sp>
      <p:sp>
        <p:nvSpPr>
          <p:cNvPr id="32" name="Text 27"/>
          <p:cNvSpPr txBox="1"/>
          <p:nvPr/>
        </p:nvSpPr>
        <p:spPr>
          <a:xfrm>
            <a:off x="3367964" y="1133856"/>
            <a:ext cx="137160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5.7 mo</a:t>
            </a:r>
            <a:endParaRPr lang="en-US" sz="3000" dirty="0"/>
          </a:p>
        </p:txBody>
      </p:sp>
      <p:sp>
        <p:nvSpPr>
          <p:cNvPr id="33" name="Text 28"/>
          <p:cNvSpPr txBox="1"/>
          <p:nvPr/>
        </p:nvSpPr>
        <p:spPr>
          <a:xfrm>
            <a:off x="4739564" y="1170432"/>
            <a:ext cx="761924" cy="502920"/>
          </a:xfrm>
          <a:prstGeom prst="rect">
            <a:avLst/>
          </a:prstGeom>
          <a:noFill/>
          <a:ln/>
        </p:spPr>
        <p:txBody>
          <a:bodyPr wrap="square" lIns="0" tIns="0" rIns="0" bIns="0" rtlCol="0" anchor="ctr"/>
          <a:lstStyle/>
          <a:p>
            <a:pPr algn="l" indent="0" marL="0">
              <a:buNone/>
            </a:pPr>
            <a:r>
              <a:rPr lang="en-US" sz="1100" b="1" dirty="0">
                <a:solidFill>
                  <a:srgbClr val="C9DBF0"/>
                </a:solidFill>
                <a:latin typeface="Calibri" pitchFamily="34" charset="0"/>
                <a:ea typeface="Calibri" pitchFamily="34" charset="-122"/>
                <a:cs typeface="Calibri" pitchFamily="34" charset="-120"/>
              </a:rPr>
              <a:t>payback</a:t>
            </a:r>
            <a:endParaRPr lang="en-US" sz="1100" dirty="0"/>
          </a:p>
        </p:txBody>
      </p:sp>
      <p:sp>
        <p:nvSpPr>
          <p:cNvPr id="34" name="Shape 29"/>
          <p:cNvSpPr/>
          <p:nvPr/>
        </p:nvSpPr>
        <p:spPr>
          <a:xfrm>
            <a:off x="5519776" y="1188720"/>
            <a:ext cx="457200" cy="457200"/>
          </a:xfrm>
          <a:prstGeom prst="ellipse">
            <a:avLst/>
          </a:prstGeom>
          <a:solidFill>
            <a:srgbClr val="F4F8FD"/>
          </a:solidFill>
          <a:ln/>
        </p:spPr>
      </p:sp>
      <p:pic>
        <p:nvPicPr>
          <p:cNvPr id="35" name="Image 2" descr="Icon">    </p:cNvPr>
          <p:cNvPicPr>
            <a:picLocks noChangeAspect="1"/>
          </p:cNvPicPr>
          <p:nvPr/>
        </p:nvPicPr>
        <p:blipFill>
          <a:blip r:embed="rId3"/>
          <a:stretch>
            <a:fillRect/>
          </a:stretch>
        </p:blipFill>
        <p:spPr>
          <a:xfrm>
            <a:off x="5574640" y="1243584"/>
            <a:ext cx="347472" cy="347472"/>
          </a:xfrm>
          <a:prstGeom prst="rect">
            <a:avLst/>
          </a:prstGeom>
        </p:spPr>
      </p:pic>
      <p:sp>
        <p:nvSpPr>
          <p:cNvPr id="36" name="Text 30"/>
          <p:cNvSpPr txBox="1"/>
          <p:nvPr/>
        </p:nvSpPr>
        <p:spPr>
          <a:xfrm>
            <a:off x="3367964" y="1700784"/>
            <a:ext cx="2590724" cy="274320"/>
          </a:xfrm>
          <a:prstGeom prst="rect">
            <a:avLst/>
          </a:prstGeom>
          <a:noFill/>
          <a:ln/>
        </p:spPr>
        <p:txBody>
          <a:bodyPr wrap="square" lIns="0" tIns="0" rIns="0" bIns="0" rtlCol="0" anchor="t"/>
          <a:lstStyle/>
          <a:p>
            <a:pPr algn="l" indent="0" marL="0">
              <a:buNone/>
            </a:pPr>
            <a:r>
              <a:rPr lang="en-US" sz="850" dirty="0">
                <a:solidFill>
                  <a:srgbClr val="FFFFFF"/>
                </a:solidFill>
                <a:latin typeface="Calibri" pitchFamily="34" charset="0"/>
                <a:ea typeface="Calibri" pitchFamily="34" charset="-122"/>
                <a:cs typeface="Calibri" pitchFamily="34" charset="-120"/>
              </a:rPr>
              <a:t>simple; guide 3.1 months</a:t>
            </a:r>
            <a:endParaRPr lang="en-US" sz="850" dirty="0"/>
          </a:p>
        </p:txBody>
      </p:sp>
      <p:sp>
        <p:nvSpPr>
          <p:cNvPr id="37" name="Shape 31"/>
          <p:cNvSpPr/>
          <p:nvPr/>
        </p:nvSpPr>
        <p:spPr>
          <a:xfrm>
            <a:off x="6141568" y="1115568"/>
            <a:ext cx="2773604" cy="914400"/>
          </a:xfrm>
          <a:prstGeom prst="rect">
            <a:avLst/>
          </a:prstGeom>
          <a:solidFill>
            <a:srgbClr val="1F4A82"/>
          </a:solidFill>
          <a:ln/>
        </p:spPr>
      </p:sp>
      <p:sp>
        <p:nvSpPr>
          <p:cNvPr id="38" name="Text 32"/>
          <p:cNvSpPr txBox="1"/>
          <p:nvPr/>
        </p:nvSpPr>
        <p:spPr>
          <a:xfrm>
            <a:off x="6233008" y="1133856"/>
            <a:ext cx="137160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78 %</a:t>
            </a:r>
            <a:endParaRPr lang="en-US" sz="3000" dirty="0"/>
          </a:p>
        </p:txBody>
      </p:sp>
      <p:sp>
        <p:nvSpPr>
          <p:cNvPr id="39" name="Text 33"/>
          <p:cNvSpPr txBox="1"/>
          <p:nvPr/>
        </p:nvSpPr>
        <p:spPr>
          <a:xfrm>
            <a:off x="7604608" y="1170432"/>
            <a:ext cx="761924" cy="502920"/>
          </a:xfrm>
          <a:prstGeom prst="rect">
            <a:avLst/>
          </a:prstGeom>
          <a:noFill/>
          <a:ln/>
        </p:spPr>
        <p:txBody>
          <a:bodyPr wrap="square" lIns="0" tIns="0" rIns="0" bIns="0" rtlCol="0" anchor="ctr"/>
          <a:lstStyle/>
          <a:p>
            <a:pPr algn="l" indent="0" marL="0">
              <a:buNone/>
            </a:pPr>
            <a:r>
              <a:rPr lang="en-US" sz="1100" b="1" dirty="0">
                <a:solidFill>
                  <a:srgbClr val="C9DBF0"/>
                </a:solidFill>
                <a:latin typeface="Calibri" pitchFamily="34" charset="0"/>
                <a:ea typeface="Calibri" pitchFamily="34" charset="-122"/>
                <a:cs typeface="Calibri" pitchFamily="34" charset="-120"/>
              </a:rPr>
              <a:t>contribution margin</a:t>
            </a:r>
            <a:endParaRPr lang="en-US" sz="1100" dirty="0"/>
          </a:p>
        </p:txBody>
      </p:sp>
      <p:sp>
        <p:nvSpPr>
          <p:cNvPr id="40" name="Shape 34"/>
          <p:cNvSpPr/>
          <p:nvPr/>
        </p:nvSpPr>
        <p:spPr>
          <a:xfrm>
            <a:off x="8384819" y="1188720"/>
            <a:ext cx="457200" cy="457200"/>
          </a:xfrm>
          <a:prstGeom prst="ellipse">
            <a:avLst/>
          </a:prstGeom>
          <a:solidFill>
            <a:srgbClr val="F4F8FD"/>
          </a:solidFill>
          <a:ln/>
        </p:spPr>
      </p:sp>
      <p:pic>
        <p:nvPicPr>
          <p:cNvPr id="41" name="Image 3" descr="Icon">    </p:cNvPr>
          <p:cNvPicPr>
            <a:picLocks noChangeAspect="1"/>
          </p:cNvPicPr>
          <p:nvPr/>
        </p:nvPicPr>
        <p:blipFill>
          <a:blip r:embed="rId4"/>
          <a:stretch>
            <a:fillRect/>
          </a:stretch>
        </p:blipFill>
        <p:spPr>
          <a:xfrm>
            <a:off x="8439683" y="1243584"/>
            <a:ext cx="347472" cy="347472"/>
          </a:xfrm>
          <a:prstGeom prst="rect">
            <a:avLst/>
          </a:prstGeom>
        </p:spPr>
      </p:pic>
      <p:sp>
        <p:nvSpPr>
          <p:cNvPr id="42" name="Text 35"/>
          <p:cNvSpPr txBox="1"/>
          <p:nvPr/>
        </p:nvSpPr>
        <p:spPr>
          <a:xfrm>
            <a:off x="6233008" y="1700784"/>
            <a:ext cx="2590724" cy="274320"/>
          </a:xfrm>
          <a:prstGeom prst="rect">
            <a:avLst/>
          </a:prstGeom>
          <a:noFill/>
          <a:ln/>
        </p:spPr>
        <p:txBody>
          <a:bodyPr wrap="square" lIns="0" tIns="0" rIns="0" bIns="0" rtlCol="0" anchor="t"/>
          <a:lstStyle/>
          <a:p>
            <a:pPr algn="l" indent="0" marL="0">
              <a:buNone/>
            </a:pPr>
            <a:r>
              <a:rPr lang="en-US" sz="850" dirty="0">
                <a:solidFill>
                  <a:srgbClr val="FFFFFF"/>
                </a:solidFill>
                <a:latin typeface="Calibri" pitchFamily="34" charset="0"/>
                <a:ea typeface="Calibri" pitchFamily="34" charset="-122"/>
                <a:cs typeface="Calibri" pitchFamily="34" charset="-120"/>
              </a:rPr>
              <a:t>₹6,740 a month per institute</a:t>
            </a:r>
            <a:endParaRPr lang="en-US" sz="850" dirty="0"/>
          </a:p>
        </p:txBody>
      </p:sp>
      <p:sp>
        <p:nvSpPr>
          <p:cNvPr id="43" name="Shape 36"/>
          <p:cNvSpPr/>
          <p:nvPr/>
        </p:nvSpPr>
        <p:spPr>
          <a:xfrm>
            <a:off x="9006611" y="1115568"/>
            <a:ext cx="2773604" cy="914400"/>
          </a:xfrm>
          <a:prstGeom prst="rect">
            <a:avLst/>
          </a:prstGeom>
          <a:solidFill>
            <a:srgbClr val="2E6DB4"/>
          </a:solidFill>
          <a:ln/>
        </p:spPr>
      </p:sp>
      <p:sp>
        <p:nvSpPr>
          <p:cNvPr id="44" name="Text 37"/>
          <p:cNvSpPr txBox="1"/>
          <p:nvPr/>
        </p:nvSpPr>
        <p:spPr>
          <a:xfrm>
            <a:off x="9098051" y="1133856"/>
            <a:ext cx="1371600" cy="566928"/>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1.7x</a:t>
            </a:r>
            <a:endParaRPr lang="en-US" sz="3000" dirty="0"/>
          </a:p>
        </p:txBody>
      </p:sp>
      <p:sp>
        <p:nvSpPr>
          <p:cNvPr id="45" name="Text 38"/>
          <p:cNvSpPr txBox="1"/>
          <p:nvPr/>
        </p:nvSpPr>
        <p:spPr>
          <a:xfrm>
            <a:off x="10469651" y="1170432"/>
            <a:ext cx="761924" cy="502920"/>
          </a:xfrm>
          <a:prstGeom prst="rect">
            <a:avLst/>
          </a:prstGeom>
          <a:noFill/>
          <a:ln/>
        </p:spPr>
        <p:txBody>
          <a:bodyPr wrap="square" lIns="0" tIns="0" rIns="0" bIns="0" rtlCol="0" anchor="ctr"/>
          <a:lstStyle/>
          <a:p>
            <a:pPr algn="l" indent="0" marL="0">
              <a:buNone/>
            </a:pPr>
            <a:r>
              <a:rPr lang="en-US" sz="1100" b="1" dirty="0">
                <a:solidFill>
                  <a:srgbClr val="C9DBF0"/>
                </a:solidFill>
                <a:latin typeface="Calibri" pitchFamily="34" charset="0"/>
                <a:ea typeface="Calibri" pitchFamily="34" charset="-122"/>
                <a:cs typeface="Calibri" pitchFamily="34" charset="-120"/>
              </a:rPr>
              <a:t>owner's return</a:t>
            </a:r>
            <a:endParaRPr lang="en-US" sz="1100" dirty="0"/>
          </a:p>
        </p:txBody>
      </p:sp>
      <p:sp>
        <p:nvSpPr>
          <p:cNvPr id="46" name="Shape 39"/>
          <p:cNvSpPr/>
          <p:nvPr/>
        </p:nvSpPr>
        <p:spPr>
          <a:xfrm>
            <a:off x="11249863" y="1188720"/>
            <a:ext cx="457200" cy="457200"/>
          </a:xfrm>
          <a:prstGeom prst="ellipse">
            <a:avLst/>
          </a:prstGeom>
          <a:solidFill>
            <a:srgbClr val="F4F8FD"/>
          </a:solidFill>
          <a:ln/>
        </p:spPr>
      </p:sp>
      <p:pic>
        <p:nvPicPr>
          <p:cNvPr id="47" name="Image 4" descr="Icon">    </p:cNvPr>
          <p:cNvPicPr>
            <a:picLocks noChangeAspect="1"/>
          </p:cNvPicPr>
          <p:nvPr/>
        </p:nvPicPr>
        <p:blipFill>
          <a:blip r:embed="rId5"/>
          <a:stretch>
            <a:fillRect/>
          </a:stretch>
        </p:blipFill>
        <p:spPr>
          <a:xfrm>
            <a:off x="11304727" y="1243584"/>
            <a:ext cx="347472" cy="347472"/>
          </a:xfrm>
          <a:prstGeom prst="rect">
            <a:avLst/>
          </a:prstGeom>
        </p:spPr>
      </p:pic>
      <p:sp>
        <p:nvSpPr>
          <p:cNvPr id="48" name="Text 40"/>
          <p:cNvSpPr txBox="1"/>
          <p:nvPr/>
        </p:nvSpPr>
        <p:spPr>
          <a:xfrm>
            <a:off x="9098051" y="1700784"/>
            <a:ext cx="2590724" cy="274320"/>
          </a:xfrm>
          <a:prstGeom prst="rect">
            <a:avLst/>
          </a:prstGeom>
          <a:noFill/>
          <a:ln/>
        </p:spPr>
        <p:txBody>
          <a:bodyPr wrap="square" lIns="0" tIns="0" rIns="0" bIns="0" rtlCol="0" anchor="t"/>
          <a:lstStyle/>
          <a:p>
            <a:pPr algn="l" indent="0" marL="0">
              <a:buNone/>
            </a:pPr>
            <a:r>
              <a:rPr lang="en-US" sz="850" dirty="0">
                <a:solidFill>
                  <a:srgbClr val="FFFFFF"/>
                </a:solidFill>
                <a:latin typeface="Calibri" pitchFamily="34" charset="0"/>
                <a:ea typeface="Calibri" pitchFamily="34" charset="-122"/>
                <a:cs typeface="Calibri" pitchFamily="34" charset="-120"/>
              </a:rPr>
              <a:t>0.55x on fees + staff time only</a:t>
            </a:r>
            <a:endParaRPr lang="en-US" sz="850" dirty="0"/>
          </a:p>
        </p:txBody>
      </p:sp>
      <p:sp>
        <p:nvSpPr>
          <p:cNvPr id="49" name="Text 41"/>
          <p:cNvSpPr txBox="1"/>
          <p:nvPr/>
        </p:nvSpPr>
        <p:spPr>
          <a:xfrm>
            <a:off x="448056" y="2167128"/>
            <a:ext cx="342900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KEY ASSUMPTIONS (MID, BASE)</a:t>
            </a:r>
            <a:endParaRPr lang="en-US" sz="1250" dirty="0"/>
          </a:p>
        </p:txBody>
      </p:sp>
      <p:sp>
        <p:nvSpPr>
          <p:cNvPr id="50" name="Shape 42"/>
          <p:cNvSpPr/>
          <p:nvPr/>
        </p:nvSpPr>
        <p:spPr>
          <a:xfrm>
            <a:off x="448056" y="2459736"/>
            <a:ext cx="3429000" cy="10973"/>
          </a:xfrm>
          <a:prstGeom prst="rect">
            <a:avLst/>
          </a:prstGeom>
          <a:solidFill>
            <a:srgbClr val="C9D6E8"/>
          </a:solidFill>
          <a:ln/>
        </p:spPr>
      </p:sp>
      <p:sp>
        <p:nvSpPr>
          <p:cNvPr id="51" name="Shape 43"/>
          <p:cNvSpPr/>
          <p:nvPr/>
        </p:nvSpPr>
        <p:spPr>
          <a:xfrm>
            <a:off x="448056" y="2450592"/>
            <a:ext cx="2194560" cy="27432"/>
          </a:xfrm>
          <a:prstGeom prst="rect">
            <a:avLst/>
          </a:prstGeom>
          <a:solidFill>
            <a:srgbClr val="1F4A82"/>
          </a:solidFill>
          <a:ln/>
        </p:spPr>
      </p:sp>
      <p:sp>
        <p:nvSpPr>
          <p:cNvPr id="52" name="Shape 44"/>
          <p:cNvSpPr/>
          <p:nvPr/>
        </p:nvSpPr>
        <p:spPr>
          <a:xfrm>
            <a:off x="3986784" y="2194560"/>
            <a:ext cx="0" cy="3611880"/>
          </a:xfrm>
          <a:prstGeom prst="line">
            <a:avLst/>
          </a:prstGeom>
          <a:noFill/>
          <a:ln w="12700">
            <a:solidFill>
              <a:srgbClr val="8FA9CC"/>
            </a:solidFill>
            <a:prstDash val="dash"/>
          </a:ln>
        </p:spPr>
      </p:sp>
      <p:sp>
        <p:nvSpPr>
          <p:cNvPr id="53" name="Shape 45"/>
          <p:cNvSpPr/>
          <p:nvPr/>
        </p:nvSpPr>
        <p:spPr>
          <a:xfrm>
            <a:off x="448056" y="2523744"/>
            <a:ext cx="1481328" cy="228600"/>
          </a:xfrm>
          <a:prstGeom prst="rect">
            <a:avLst/>
          </a:prstGeom>
          <a:solidFill>
            <a:srgbClr val="1F4A82"/>
          </a:solidFill>
          <a:ln/>
        </p:spPr>
      </p:sp>
      <p:sp>
        <p:nvSpPr>
          <p:cNvPr id="54" name="Text 46"/>
          <p:cNvSpPr txBox="1"/>
          <p:nvPr/>
        </p:nvSpPr>
        <p:spPr>
          <a:xfrm>
            <a:off x="493776" y="2523744"/>
            <a:ext cx="1389888" cy="228600"/>
          </a:xfrm>
          <a:prstGeom prst="rect">
            <a:avLst/>
          </a:prstGeom>
          <a:noFill/>
          <a:ln/>
        </p:spPr>
        <p:txBody>
          <a:bodyPr wrap="square" lIns="0" tIns="0" rIns="0" bIns="0"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Assumption</a:t>
            </a:r>
            <a:endParaRPr lang="en-US" sz="850" dirty="0"/>
          </a:p>
        </p:txBody>
      </p:sp>
      <p:sp>
        <p:nvSpPr>
          <p:cNvPr id="55" name="Shape 47"/>
          <p:cNvSpPr/>
          <p:nvPr/>
        </p:nvSpPr>
        <p:spPr>
          <a:xfrm>
            <a:off x="1929384" y="2523744"/>
            <a:ext cx="713232" cy="228600"/>
          </a:xfrm>
          <a:prstGeom prst="rect">
            <a:avLst/>
          </a:prstGeom>
          <a:solidFill>
            <a:srgbClr val="1F4A82"/>
          </a:solidFill>
          <a:ln/>
        </p:spPr>
      </p:sp>
      <p:sp>
        <p:nvSpPr>
          <p:cNvPr id="56" name="Text 48"/>
          <p:cNvSpPr txBox="1"/>
          <p:nvPr/>
        </p:nvSpPr>
        <p:spPr>
          <a:xfrm>
            <a:off x="1975104" y="2523744"/>
            <a:ext cx="621792"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Base</a:t>
            </a:r>
            <a:endParaRPr lang="en-US" sz="850" dirty="0"/>
          </a:p>
        </p:txBody>
      </p:sp>
      <p:sp>
        <p:nvSpPr>
          <p:cNvPr id="57" name="Shape 49"/>
          <p:cNvSpPr/>
          <p:nvPr/>
        </p:nvSpPr>
        <p:spPr>
          <a:xfrm>
            <a:off x="2642616" y="2523744"/>
            <a:ext cx="914400" cy="228600"/>
          </a:xfrm>
          <a:prstGeom prst="rect">
            <a:avLst/>
          </a:prstGeom>
          <a:solidFill>
            <a:srgbClr val="1F4A82"/>
          </a:solidFill>
          <a:ln/>
        </p:spPr>
      </p:sp>
      <p:sp>
        <p:nvSpPr>
          <p:cNvPr id="58" name="Text 50"/>
          <p:cNvSpPr txBox="1"/>
          <p:nvPr/>
        </p:nvSpPr>
        <p:spPr>
          <a:xfrm>
            <a:off x="2688336" y="2523744"/>
            <a:ext cx="822960" cy="228600"/>
          </a:xfrm>
          <a:prstGeom prst="rect">
            <a:avLst/>
          </a:prstGeom>
          <a:noFill/>
          <a:ln/>
        </p:spPr>
        <p:txBody>
          <a:bodyPr wrap="square" lIns="0" tIns="0" rIns="0" bIns="0"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Range</a:t>
            </a:r>
            <a:endParaRPr lang="en-US" sz="850" dirty="0"/>
          </a:p>
        </p:txBody>
      </p:sp>
      <p:sp>
        <p:nvSpPr>
          <p:cNvPr id="59" name="Shape 51"/>
          <p:cNvSpPr/>
          <p:nvPr/>
        </p:nvSpPr>
        <p:spPr>
          <a:xfrm>
            <a:off x="3557016" y="2523744"/>
            <a:ext cx="338328" cy="228600"/>
          </a:xfrm>
          <a:prstGeom prst="rect">
            <a:avLst/>
          </a:prstGeom>
          <a:solidFill>
            <a:srgbClr val="1F4A82"/>
          </a:solidFill>
          <a:ln/>
        </p:spPr>
      </p:sp>
      <p:sp>
        <p:nvSpPr>
          <p:cNvPr id="60" name="Text 52"/>
          <p:cNvSpPr txBox="1"/>
          <p:nvPr/>
        </p:nvSpPr>
        <p:spPr>
          <a:xfrm>
            <a:off x="3602736" y="2523744"/>
            <a:ext cx="246888"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Basis</a:t>
            </a:r>
            <a:endParaRPr lang="en-US" sz="850" dirty="0"/>
          </a:p>
        </p:txBody>
      </p:sp>
      <p:sp>
        <p:nvSpPr>
          <p:cNvPr id="61" name="Shape 53"/>
          <p:cNvSpPr/>
          <p:nvPr/>
        </p:nvSpPr>
        <p:spPr>
          <a:xfrm>
            <a:off x="448056" y="2752344"/>
            <a:ext cx="1481328" cy="228600"/>
          </a:xfrm>
          <a:prstGeom prst="rect">
            <a:avLst/>
          </a:prstGeom>
          <a:solidFill>
            <a:srgbClr val="F1F7F3"/>
          </a:solidFill>
          <a:ln/>
        </p:spPr>
      </p:sp>
      <p:sp>
        <p:nvSpPr>
          <p:cNvPr id="62" name="Text 54"/>
          <p:cNvSpPr txBox="1"/>
          <p:nvPr/>
        </p:nvSpPr>
        <p:spPr>
          <a:xfrm>
            <a:off x="493776" y="27523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Students</a:t>
            </a:r>
            <a:endParaRPr lang="en-US" sz="850" dirty="0"/>
          </a:p>
        </p:txBody>
      </p:sp>
      <p:sp>
        <p:nvSpPr>
          <p:cNvPr id="63" name="Shape 55"/>
          <p:cNvSpPr/>
          <p:nvPr/>
        </p:nvSpPr>
        <p:spPr>
          <a:xfrm>
            <a:off x="1929384" y="2752344"/>
            <a:ext cx="713232" cy="228600"/>
          </a:xfrm>
          <a:prstGeom prst="rect">
            <a:avLst/>
          </a:prstGeom>
          <a:solidFill>
            <a:srgbClr val="F1F7F3"/>
          </a:solidFill>
          <a:ln/>
        </p:spPr>
      </p:sp>
      <p:sp>
        <p:nvSpPr>
          <p:cNvPr id="64" name="Text 56"/>
          <p:cNvSpPr txBox="1"/>
          <p:nvPr/>
        </p:nvSpPr>
        <p:spPr>
          <a:xfrm>
            <a:off x="1975104" y="27523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400</a:t>
            </a:r>
            <a:endParaRPr lang="en-US" sz="850" dirty="0"/>
          </a:p>
        </p:txBody>
      </p:sp>
      <p:sp>
        <p:nvSpPr>
          <p:cNvPr id="65" name="Shape 57"/>
          <p:cNvSpPr/>
          <p:nvPr/>
        </p:nvSpPr>
        <p:spPr>
          <a:xfrm>
            <a:off x="2642616" y="2752344"/>
            <a:ext cx="914400" cy="228600"/>
          </a:xfrm>
          <a:prstGeom prst="rect">
            <a:avLst/>
          </a:prstGeom>
          <a:solidFill>
            <a:srgbClr val="F1F7F3"/>
          </a:solidFill>
          <a:ln/>
        </p:spPr>
      </p:sp>
      <p:sp>
        <p:nvSpPr>
          <p:cNvPr id="66" name="Text 58"/>
          <p:cNvSpPr txBox="1"/>
          <p:nvPr/>
        </p:nvSpPr>
        <p:spPr>
          <a:xfrm>
            <a:off x="2688336" y="27523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180 to 1,200</a:t>
            </a:r>
            <a:endParaRPr lang="en-US" sz="850" dirty="0"/>
          </a:p>
        </p:txBody>
      </p:sp>
      <p:sp>
        <p:nvSpPr>
          <p:cNvPr id="67" name="Shape 59"/>
          <p:cNvSpPr/>
          <p:nvPr/>
        </p:nvSpPr>
        <p:spPr>
          <a:xfrm>
            <a:off x="3557016" y="2752344"/>
            <a:ext cx="338328" cy="228600"/>
          </a:xfrm>
          <a:prstGeom prst="rect">
            <a:avLst/>
          </a:prstGeom>
          <a:solidFill>
            <a:srgbClr val="F1F7F3"/>
          </a:solidFill>
          <a:ln/>
        </p:spPr>
      </p:sp>
      <p:sp>
        <p:nvSpPr>
          <p:cNvPr id="68" name="Text 60"/>
          <p:cNvSpPr txBox="1"/>
          <p:nvPr/>
        </p:nvSpPr>
        <p:spPr>
          <a:xfrm>
            <a:off x="3602736" y="27523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G</a:t>
            </a:r>
            <a:endParaRPr lang="en-US" sz="850" dirty="0"/>
          </a:p>
        </p:txBody>
      </p:sp>
      <p:sp>
        <p:nvSpPr>
          <p:cNvPr id="69" name="Shape 61"/>
          <p:cNvSpPr/>
          <p:nvPr/>
        </p:nvSpPr>
        <p:spPr>
          <a:xfrm>
            <a:off x="448056" y="2980944"/>
            <a:ext cx="3447288" cy="0"/>
          </a:xfrm>
          <a:prstGeom prst="line">
            <a:avLst/>
          </a:prstGeom>
          <a:noFill/>
          <a:ln w="6350">
            <a:solidFill>
              <a:srgbClr val="E3E8E4"/>
            </a:solidFill>
            <a:prstDash val="solid"/>
          </a:ln>
        </p:spPr>
      </p:sp>
      <p:sp>
        <p:nvSpPr>
          <p:cNvPr id="70" name="Shape 62"/>
          <p:cNvSpPr/>
          <p:nvPr/>
        </p:nvSpPr>
        <p:spPr>
          <a:xfrm>
            <a:off x="448056" y="2980944"/>
            <a:ext cx="1481328" cy="228600"/>
          </a:xfrm>
          <a:prstGeom prst="rect">
            <a:avLst/>
          </a:prstGeom>
          <a:solidFill>
            <a:srgbClr val="FFFFFF"/>
          </a:solidFill>
          <a:ln/>
        </p:spPr>
      </p:sp>
      <p:sp>
        <p:nvSpPr>
          <p:cNvPr id="71" name="Text 63"/>
          <p:cNvSpPr txBox="1"/>
          <p:nvPr/>
        </p:nvSpPr>
        <p:spPr>
          <a:xfrm>
            <a:off x="493776" y="29809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Annual fee</a:t>
            </a:r>
            <a:endParaRPr lang="en-US" sz="850" dirty="0"/>
          </a:p>
        </p:txBody>
      </p:sp>
      <p:sp>
        <p:nvSpPr>
          <p:cNvPr id="72" name="Shape 64"/>
          <p:cNvSpPr/>
          <p:nvPr/>
        </p:nvSpPr>
        <p:spPr>
          <a:xfrm>
            <a:off x="1929384" y="2980944"/>
            <a:ext cx="713232" cy="228600"/>
          </a:xfrm>
          <a:prstGeom prst="rect">
            <a:avLst/>
          </a:prstGeom>
          <a:solidFill>
            <a:srgbClr val="FFFFFF"/>
          </a:solidFill>
          <a:ln/>
        </p:spPr>
      </p:sp>
      <p:sp>
        <p:nvSpPr>
          <p:cNvPr id="73" name="Text 65"/>
          <p:cNvSpPr txBox="1"/>
          <p:nvPr/>
        </p:nvSpPr>
        <p:spPr>
          <a:xfrm>
            <a:off x="1975104" y="29809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₹75,000</a:t>
            </a:r>
            <a:endParaRPr lang="en-US" sz="850" dirty="0"/>
          </a:p>
        </p:txBody>
      </p:sp>
      <p:sp>
        <p:nvSpPr>
          <p:cNvPr id="74" name="Shape 66"/>
          <p:cNvSpPr/>
          <p:nvPr/>
        </p:nvSpPr>
        <p:spPr>
          <a:xfrm>
            <a:off x="2642616" y="2980944"/>
            <a:ext cx="914400" cy="228600"/>
          </a:xfrm>
          <a:prstGeom prst="rect">
            <a:avLst/>
          </a:prstGeom>
          <a:solidFill>
            <a:srgbClr val="FFFFFF"/>
          </a:solidFill>
          <a:ln/>
        </p:spPr>
      </p:sp>
      <p:sp>
        <p:nvSpPr>
          <p:cNvPr id="75" name="Text 67"/>
          <p:cNvSpPr txBox="1"/>
          <p:nvPr/>
        </p:nvSpPr>
        <p:spPr>
          <a:xfrm>
            <a:off x="2688336" y="29809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60k to 95k</a:t>
            </a:r>
            <a:endParaRPr lang="en-US" sz="850" dirty="0"/>
          </a:p>
        </p:txBody>
      </p:sp>
      <p:sp>
        <p:nvSpPr>
          <p:cNvPr id="76" name="Shape 68"/>
          <p:cNvSpPr/>
          <p:nvPr/>
        </p:nvSpPr>
        <p:spPr>
          <a:xfrm>
            <a:off x="3557016" y="2980944"/>
            <a:ext cx="338328" cy="228600"/>
          </a:xfrm>
          <a:prstGeom prst="rect">
            <a:avLst/>
          </a:prstGeom>
          <a:solidFill>
            <a:srgbClr val="FFFFFF"/>
          </a:solidFill>
          <a:ln/>
        </p:spPr>
      </p:sp>
      <p:sp>
        <p:nvSpPr>
          <p:cNvPr id="77" name="Text 69"/>
          <p:cNvSpPr txBox="1"/>
          <p:nvPr/>
        </p:nvSpPr>
        <p:spPr>
          <a:xfrm>
            <a:off x="3602736" y="29809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R</a:t>
            </a:r>
            <a:endParaRPr lang="en-US" sz="850" dirty="0"/>
          </a:p>
        </p:txBody>
      </p:sp>
      <p:sp>
        <p:nvSpPr>
          <p:cNvPr id="78" name="Shape 70"/>
          <p:cNvSpPr/>
          <p:nvPr/>
        </p:nvSpPr>
        <p:spPr>
          <a:xfrm>
            <a:off x="448056" y="3209544"/>
            <a:ext cx="3447288" cy="0"/>
          </a:xfrm>
          <a:prstGeom prst="line">
            <a:avLst/>
          </a:prstGeom>
          <a:noFill/>
          <a:ln w="6350">
            <a:solidFill>
              <a:srgbClr val="E3E8E4"/>
            </a:solidFill>
            <a:prstDash val="solid"/>
          </a:ln>
        </p:spPr>
      </p:sp>
      <p:sp>
        <p:nvSpPr>
          <p:cNvPr id="79" name="Shape 71"/>
          <p:cNvSpPr/>
          <p:nvPr/>
        </p:nvSpPr>
        <p:spPr>
          <a:xfrm>
            <a:off x="448056" y="3209544"/>
            <a:ext cx="1481328" cy="228600"/>
          </a:xfrm>
          <a:prstGeom prst="rect">
            <a:avLst/>
          </a:prstGeom>
          <a:solidFill>
            <a:srgbClr val="F1F7F3"/>
          </a:solidFill>
          <a:ln/>
        </p:spPr>
      </p:sp>
      <p:sp>
        <p:nvSpPr>
          <p:cNvPr id="80" name="Text 72"/>
          <p:cNvSpPr txBox="1"/>
          <p:nvPr/>
        </p:nvSpPr>
        <p:spPr>
          <a:xfrm>
            <a:off x="493776" y="32095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Dropout rate</a:t>
            </a:r>
            <a:endParaRPr lang="en-US" sz="850" dirty="0"/>
          </a:p>
        </p:txBody>
      </p:sp>
      <p:sp>
        <p:nvSpPr>
          <p:cNvPr id="81" name="Shape 73"/>
          <p:cNvSpPr/>
          <p:nvPr/>
        </p:nvSpPr>
        <p:spPr>
          <a:xfrm>
            <a:off x="1929384" y="3209544"/>
            <a:ext cx="713232" cy="228600"/>
          </a:xfrm>
          <a:prstGeom prst="rect">
            <a:avLst/>
          </a:prstGeom>
          <a:solidFill>
            <a:srgbClr val="F1F7F3"/>
          </a:solidFill>
          <a:ln/>
        </p:spPr>
      </p:sp>
      <p:sp>
        <p:nvSpPr>
          <p:cNvPr id="82" name="Text 74"/>
          <p:cNvSpPr txBox="1"/>
          <p:nvPr/>
        </p:nvSpPr>
        <p:spPr>
          <a:xfrm>
            <a:off x="1975104" y="32095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12 %</a:t>
            </a:r>
            <a:endParaRPr lang="en-US" sz="850" dirty="0"/>
          </a:p>
        </p:txBody>
      </p:sp>
      <p:sp>
        <p:nvSpPr>
          <p:cNvPr id="83" name="Shape 75"/>
          <p:cNvSpPr/>
          <p:nvPr/>
        </p:nvSpPr>
        <p:spPr>
          <a:xfrm>
            <a:off x="2642616" y="3209544"/>
            <a:ext cx="914400" cy="228600"/>
          </a:xfrm>
          <a:prstGeom prst="rect">
            <a:avLst/>
          </a:prstGeom>
          <a:solidFill>
            <a:srgbClr val="F1F7F3"/>
          </a:solidFill>
          <a:ln/>
        </p:spPr>
      </p:sp>
      <p:sp>
        <p:nvSpPr>
          <p:cNvPr id="84" name="Text 76"/>
          <p:cNvSpPr txBox="1"/>
          <p:nvPr/>
        </p:nvSpPr>
        <p:spPr>
          <a:xfrm>
            <a:off x="2688336" y="32095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8 to 18 %</a:t>
            </a:r>
            <a:endParaRPr lang="en-US" sz="850" dirty="0"/>
          </a:p>
        </p:txBody>
      </p:sp>
      <p:sp>
        <p:nvSpPr>
          <p:cNvPr id="85" name="Shape 77"/>
          <p:cNvSpPr/>
          <p:nvPr/>
        </p:nvSpPr>
        <p:spPr>
          <a:xfrm>
            <a:off x="3557016" y="3209544"/>
            <a:ext cx="338328" cy="228600"/>
          </a:xfrm>
          <a:prstGeom prst="rect">
            <a:avLst/>
          </a:prstGeom>
          <a:solidFill>
            <a:srgbClr val="F1F7F3"/>
          </a:solidFill>
          <a:ln/>
        </p:spPr>
      </p:sp>
      <p:sp>
        <p:nvSpPr>
          <p:cNvPr id="86" name="Text 78"/>
          <p:cNvSpPr txBox="1"/>
          <p:nvPr/>
        </p:nvSpPr>
        <p:spPr>
          <a:xfrm>
            <a:off x="3602736" y="32095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R</a:t>
            </a:r>
            <a:endParaRPr lang="en-US" sz="850" dirty="0"/>
          </a:p>
        </p:txBody>
      </p:sp>
      <p:sp>
        <p:nvSpPr>
          <p:cNvPr id="87" name="Shape 79"/>
          <p:cNvSpPr/>
          <p:nvPr/>
        </p:nvSpPr>
        <p:spPr>
          <a:xfrm>
            <a:off x="448056" y="3438144"/>
            <a:ext cx="3447288" cy="0"/>
          </a:xfrm>
          <a:prstGeom prst="line">
            <a:avLst/>
          </a:prstGeom>
          <a:noFill/>
          <a:ln w="6350">
            <a:solidFill>
              <a:srgbClr val="E3E8E4"/>
            </a:solidFill>
            <a:prstDash val="solid"/>
          </a:ln>
        </p:spPr>
      </p:sp>
      <p:sp>
        <p:nvSpPr>
          <p:cNvPr id="88" name="Shape 80"/>
          <p:cNvSpPr/>
          <p:nvPr/>
        </p:nvSpPr>
        <p:spPr>
          <a:xfrm>
            <a:off x="448056" y="3438144"/>
            <a:ext cx="1481328" cy="228600"/>
          </a:xfrm>
          <a:prstGeom prst="rect">
            <a:avLst/>
          </a:prstGeom>
          <a:solidFill>
            <a:srgbClr val="FFFFFF"/>
          </a:solidFill>
          <a:ln/>
        </p:spPr>
      </p:sp>
      <p:sp>
        <p:nvSpPr>
          <p:cNvPr id="89" name="Text 81"/>
          <p:cNvSpPr txBox="1"/>
          <p:nvPr/>
        </p:nvSpPr>
        <p:spPr>
          <a:xfrm>
            <a:off x="493776" y="34381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Outreach effect</a:t>
            </a:r>
            <a:endParaRPr lang="en-US" sz="850" dirty="0"/>
          </a:p>
        </p:txBody>
      </p:sp>
      <p:sp>
        <p:nvSpPr>
          <p:cNvPr id="90" name="Shape 82"/>
          <p:cNvSpPr/>
          <p:nvPr/>
        </p:nvSpPr>
        <p:spPr>
          <a:xfrm>
            <a:off x="1929384" y="3438144"/>
            <a:ext cx="713232" cy="228600"/>
          </a:xfrm>
          <a:prstGeom prst="rect">
            <a:avLst/>
          </a:prstGeom>
          <a:solidFill>
            <a:srgbClr val="FFFFFF"/>
          </a:solidFill>
          <a:ln/>
        </p:spPr>
      </p:sp>
      <p:sp>
        <p:nvSpPr>
          <p:cNvPr id="91" name="Text 83"/>
          <p:cNvSpPr txBox="1"/>
          <p:nvPr/>
        </p:nvSpPr>
        <p:spPr>
          <a:xfrm>
            <a:off x="1975104" y="34381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15 %</a:t>
            </a:r>
            <a:endParaRPr lang="en-US" sz="850" dirty="0"/>
          </a:p>
        </p:txBody>
      </p:sp>
      <p:sp>
        <p:nvSpPr>
          <p:cNvPr id="92" name="Shape 84"/>
          <p:cNvSpPr/>
          <p:nvPr/>
        </p:nvSpPr>
        <p:spPr>
          <a:xfrm>
            <a:off x="2642616" y="3438144"/>
            <a:ext cx="914400" cy="228600"/>
          </a:xfrm>
          <a:prstGeom prst="rect">
            <a:avLst/>
          </a:prstGeom>
          <a:solidFill>
            <a:srgbClr val="FFFFFF"/>
          </a:solidFill>
          <a:ln/>
        </p:spPr>
      </p:sp>
      <p:sp>
        <p:nvSpPr>
          <p:cNvPr id="93" name="Text 85"/>
          <p:cNvSpPr txBox="1"/>
          <p:nvPr/>
        </p:nvSpPr>
        <p:spPr>
          <a:xfrm>
            <a:off x="2688336" y="34381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5 to 30 %</a:t>
            </a:r>
            <a:endParaRPr lang="en-US" sz="850" dirty="0"/>
          </a:p>
        </p:txBody>
      </p:sp>
      <p:sp>
        <p:nvSpPr>
          <p:cNvPr id="94" name="Shape 86"/>
          <p:cNvSpPr/>
          <p:nvPr/>
        </p:nvSpPr>
        <p:spPr>
          <a:xfrm>
            <a:off x="3557016" y="3438144"/>
            <a:ext cx="338328" cy="228600"/>
          </a:xfrm>
          <a:prstGeom prst="rect">
            <a:avLst/>
          </a:prstGeom>
          <a:solidFill>
            <a:srgbClr val="FFFFFF"/>
          </a:solidFill>
          <a:ln/>
        </p:spPr>
      </p:sp>
      <p:sp>
        <p:nvSpPr>
          <p:cNvPr id="95" name="Text 87"/>
          <p:cNvSpPr txBox="1"/>
          <p:nvPr/>
        </p:nvSpPr>
        <p:spPr>
          <a:xfrm>
            <a:off x="3602736" y="34381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R</a:t>
            </a:r>
            <a:endParaRPr lang="en-US" sz="850" dirty="0"/>
          </a:p>
        </p:txBody>
      </p:sp>
      <p:sp>
        <p:nvSpPr>
          <p:cNvPr id="96" name="Shape 88"/>
          <p:cNvSpPr/>
          <p:nvPr/>
        </p:nvSpPr>
        <p:spPr>
          <a:xfrm>
            <a:off x="448056" y="3666744"/>
            <a:ext cx="3447288" cy="0"/>
          </a:xfrm>
          <a:prstGeom prst="line">
            <a:avLst/>
          </a:prstGeom>
          <a:noFill/>
          <a:ln w="6350">
            <a:solidFill>
              <a:srgbClr val="E3E8E4"/>
            </a:solidFill>
            <a:prstDash val="solid"/>
          </a:ln>
        </p:spPr>
      </p:sp>
      <p:sp>
        <p:nvSpPr>
          <p:cNvPr id="97" name="Shape 89"/>
          <p:cNvSpPr/>
          <p:nvPr/>
        </p:nvSpPr>
        <p:spPr>
          <a:xfrm>
            <a:off x="448056" y="3666744"/>
            <a:ext cx="1481328" cy="228600"/>
          </a:xfrm>
          <a:prstGeom prst="rect">
            <a:avLst/>
          </a:prstGeom>
          <a:solidFill>
            <a:srgbClr val="F1F7F3"/>
          </a:solidFill>
          <a:ln/>
        </p:spPr>
      </p:sp>
      <p:sp>
        <p:nvSpPr>
          <p:cNvPr id="98" name="Text 90"/>
          <p:cNvSpPr txBox="1"/>
          <p:nvPr/>
        </p:nvSpPr>
        <p:spPr>
          <a:xfrm>
            <a:off x="493776" y="36667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Share preventable</a:t>
            </a:r>
            <a:endParaRPr lang="en-US" sz="850" dirty="0"/>
          </a:p>
        </p:txBody>
      </p:sp>
      <p:sp>
        <p:nvSpPr>
          <p:cNvPr id="99" name="Shape 91"/>
          <p:cNvSpPr/>
          <p:nvPr/>
        </p:nvSpPr>
        <p:spPr>
          <a:xfrm>
            <a:off x="1929384" y="3666744"/>
            <a:ext cx="713232" cy="228600"/>
          </a:xfrm>
          <a:prstGeom prst="rect">
            <a:avLst/>
          </a:prstGeom>
          <a:solidFill>
            <a:srgbClr val="F1F7F3"/>
          </a:solidFill>
          <a:ln/>
        </p:spPr>
      </p:sp>
      <p:sp>
        <p:nvSpPr>
          <p:cNvPr id="100" name="Text 92"/>
          <p:cNvSpPr txBox="1"/>
          <p:nvPr/>
        </p:nvSpPr>
        <p:spPr>
          <a:xfrm>
            <a:off x="1975104" y="36667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55 %</a:t>
            </a:r>
            <a:endParaRPr lang="en-US" sz="850" dirty="0"/>
          </a:p>
        </p:txBody>
      </p:sp>
      <p:sp>
        <p:nvSpPr>
          <p:cNvPr id="101" name="Shape 93"/>
          <p:cNvSpPr/>
          <p:nvPr/>
        </p:nvSpPr>
        <p:spPr>
          <a:xfrm>
            <a:off x="2642616" y="3666744"/>
            <a:ext cx="914400" cy="228600"/>
          </a:xfrm>
          <a:prstGeom prst="rect">
            <a:avLst/>
          </a:prstGeom>
          <a:solidFill>
            <a:srgbClr val="F1F7F3"/>
          </a:solidFill>
          <a:ln/>
        </p:spPr>
      </p:sp>
      <p:sp>
        <p:nvSpPr>
          <p:cNvPr id="102" name="Text 94"/>
          <p:cNvSpPr txBox="1"/>
          <p:nvPr/>
        </p:nvSpPr>
        <p:spPr>
          <a:xfrm>
            <a:off x="2688336" y="36667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35 to 65 %</a:t>
            </a:r>
            <a:endParaRPr lang="en-US" sz="850" dirty="0"/>
          </a:p>
        </p:txBody>
      </p:sp>
      <p:sp>
        <p:nvSpPr>
          <p:cNvPr id="103" name="Shape 95"/>
          <p:cNvSpPr/>
          <p:nvPr/>
        </p:nvSpPr>
        <p:spPr>
          <a:xfrm>
            <a:off x="3557016" y="3666744"/>
            <a:ext cx="338328" cy="228600"/>
          </a:xfrm>
          <a:prstGeom prst="rect">
            <a:avLst/>
          </a:prstGeom>
          <a:solidFill>
            <a:srgbClr val="F1F7F3"/>
          </a:solidFill>
          <a:ln/>
        </p:spPr>
      </p:sp>
      <p:sp>
        <p:nvSpPr>
          <p:cNvPr id="104" name="Text 96"/>
          <p:cNvSpPr txBox="1"/>
          <p:nvPr/>
        </p:nvSpPr>
        <p:spPr>
          <a:xfrm>
            <a:off x="3602736" y="36667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A</a:t>
            </a:r>
            <a:endParaRPr lang="en-US" sz="850" dirty="0"/>
          </a:p>
        </p:txBody>
      </p:sp>
      <p:sp>
        <p:nvSpPr>
          <p:cNvPr id="105" name="Shape 97"/>
          <p:cNvSpPr/>
          <p:nvPr/>
        </p:nvSpPr>
        <p:spPr>
          <a:xfrm>
            <a:off x="448056" y="3895344"/>
            <a:ext cx="3447288" cy="0"/>
          </a:xfrm>
          <a:prstGeom prst="line">
            <a:avLst/>
          </a:prstGeom>
          <a:noFill/>
          <a:ln w="6350">
            <a:solidFill>
              <a:srgbClr val="E3E8E4"/>
            </a:solidFill>
            <a:prstDash val="solid"/>
          </a:ln>
        </p:spPr>
      </p:sp>
      <p:sp>
        <p:nvSpPr>
          <p:cNvPr id="106" name="Shape 98"/>
          <p:cNvSpPr/>
          <p:nvPr/>
        </p:nvSpPr>
        <p:spPr>
          <a:xfrm>
            <a:off x="448056" y="3895344"/>
            <a:ext cx="1481328" cy="228600"/>
          </a:xfrm>
          <a:prstGeom prst="rect">
            <a:avLst/>
          </a:prstGeom>
          <a:solidFill>
            <a:srgbClr val="FFFFFF"/>
          </a:solidFill>
          <a:ln/>
        </p:spPr>
      </p:sp>
      <p:sp>
        <p:nvSpPr>
          <p:cNvPr id="107" name="Text 99"/>
          <p:cNvSpPr txBox="1"/>
          <p:nvPr/>
        </p:nvSpPr>
        <p:spPr>
          <a:xfrm>
            <a:off x="493776" y="38953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Recall, under 18</a:t>
            </a:r>
            <a:endParaRPr lang="en-US" sz="850" dirty="0"/>
          </a:p>
        </p:txBody>
      </p:sp>
      <p:sp>
        <p:nvSpPr>
          <p:cNvPr id="108" name="Shape 100"/>
          <p:cNvSpPr/>
          <p:nvPr/>
        </p:nvSpPr>
        <p:spPr>
          <a:xfrm>
            <a:off x="1929384" y="3895344"/>
            <a:ext cx="713232" cy="228600"/>
          </a:xfrm>
          <a:prstGeom prst="rect">
            <a:avLst/>
          </a:prstGeom>
          <a:solidFill>
            <a:srgbClr val="FFFFFF"/>
          </a:solidFill>
          <a:ln/>
        </p:spPr>
      </p:sp>
      <p:sp>
        <p:nvSpPr>
          <p:cNvPr id="109" name="Text 101"/>
          <p:cNvSpPr txBox="1"/>
          <p:nvPr/>
        </p:nvSpPr>
        <p:spPr>
          <a:xfrm>
            <a:off x="1975104" y="38953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32 %</a:t>
            </a:r>
            <a:endParaRPr lang="en-US" sz="850" dirty="0"/>
          </a:p>
        </p:txBody>
      </p:sp>
      <p:sp>
        <p:nvSpPr>
          <p:cNvPr id="110" name="Shape 102"/>
          <p:cNvSpPr/>
          <p:nvPr/>
        </p:nvSpPr>
        <p:spPr>
          <a:xfrm>
            <a:off x="2642616" y="3895344"/>
            <a:ext cx="914400" cy="228600"/>
          </a:xfrm>
          <a:prstGeom prst="rect">
            <a:avLst/>
          </a:prstGeom>
          <a:solidFill>
            <a:srgbClr val="FFFFFF"/>
          </a:solidFill>
          <a:ln/>
        </p:spPr>
      </p:sp>
      <p:sp>
        <p:nvSpPr>
          <p:cNvPr id="111" name="Text 103"/>
          <p:cNvSpPr txBox="1"/>
          <p:nvPr/>
        </p:nvSpPr>
        <p:spPr>
          <a:xfrm>
            <a:off x="2688336" y="38953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25 to 45 %</a:t>
            </a:r>
            <a:endParaRPr lang="en-US" sz="850" dirty="0"/>
          </a:p>
        </p:txBody>
      </p:sp>
      <p:sp>
        <p:nvSpPr>
          <p:cNvPr id="112" name="Shape 104"/>
          <p:cNvSpPr/>
          <p:nvPr/>
        </p:nvSpPr>
        <p:spPr>
          <a:xfrm>
            <a:off x="3557016" y="3895344"/>
            <a:ext cx="338328" cy="228600"/>
          </a:xfrm>
          <a:prstGeom prst="rect">
            <a:avLst/>
          </a:prstGeom>
          <a:solidFill>
            <a:srgbClr val="FFFFFF"/>
          </a:solidFill>
          <a:ln/>
        </p:spPr>
      </p:sp>
      <p:sp>
        <p:nvSpPr>
          <p:cNvPr id="113" name="Text 105"/>
          <p:cNvSpPr txBox="1"/>
          <p:nvPr/>
        </p:nvSpPr>
        <p:spPr>
          <a:xfrm>
            <a:off x="3602736" y="38953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A</a:t>
            </a:r>
            <a:endParaRPr lang="en-US" sz="850" dirty="0"/>
          </a:p>
        </p:txBody>
      </p:sp>
      <p:sp>
        <p:nvSpPr>
          <p:cNvPr id="114" name="Shape 106"/>
          <p:cNvSpPr/>
          <p:nvPr/>
        </p:nvSpPr>
        <p:spPr>
          <a:xfrm>
            <a:off x="448056" y="4123944"/>
            <a:ext cx="3447288" cy="0"/>
          </a:xfrm>
          <a:prstGeom prst="line">
            <a:avLst/>
          </a:prstGeom>
          <a:noFill/>
          <a:ln w="6350">
            <a:solidFill>
              <a:srgbClr val="E3E8E4"/>
            </a:solidFill>
            <a:prstDash val="solid"/>
          </a:ln>
        </p:spPr>
      </p:sp>
      <p:sp>
        <p:nvSpPr>
          <p:cNvPr id="115" name="Shape 107"/>
          <p:cNvSpPr/>
          <p:nvPr/>
        </p:nvSpPr>
        <p:spPr>
          <a:xfrm>
            <a:off x="448056" y="4123944"/>
            <a:ext cx="1481328" cy="228600"/>
          </a:xfrm>
          <a:prstGeom prst="rect">
            <a:avLst/>
          </a:prstGeom>
          <a:solidFill>
            <a:srgbClr val="F1F7F3"/>
          </a:solidFill>
          <a:ln/>
        </p:spPr>
      </p:sp>
      <p:sp>
        <p:nvSpPr>
          <p:cNvPr id="116" name="Text 108"/>
          <p:cNvSpPr txBox="1"/>
          <p:nvPr/>
        </p:nvSpPr>
        <p:spPr>
          <a:xfrm>
            <a:off x="493776" y="41239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Recall, 18+</a:t>
            </a:r>
            <a:endParaRPr lang="en-US" sz="850" dirty="0"/>
          </a:p>
        </p:txBody>
      </p:sp>
      <p:sp>
        <p:nvSpPr>
          <p:cNvPr id="117" name="Shape 109"/>
          <p:cNvSpPr/>
          <p:nvPr/>
        </p:nvSpPr>
        <p:spPr>
          <a:xfrm>
            <a:off x="1929384" y="4123944"/>
            <a:ext cx="713232" cy="228600"/>
          </a:xfrm>
          <a:prstGeom prst="rect">
            <a:avLst/>
          </a:prstGeom>
          <a:solidFill>
            <a:srgbClr val="F1F7F3"/>
          </a:solidFill>
          <a:ln/>
        </p:spPr>
      </p:sp>
      <p:sp>
        <p:nvSpPr>
          <p:cNvPr id="118" name="Text 110"/>
          <p:cNvSpPr txBox="1"/>
          <p:nvPr/>
        </p:nvSpPr>
        <p:spPr>
          <a:xfrm>
            <a:off x="1975104" y="41239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42 %</a:t>
            </a:r>
            <a:endParaRPr lang="en-US" sz="850" dirty="0"/>
          </a:p>
        </p:txBody>
      </p:sp>
      <p:sp>
        <p:nvSpPr>
          <p:cNvPr id="119" name="Shape 111"/>
          <p:cNvSpPr/>
          <p:nvPr/>
        </p:nvSpPr>
        <p:spPr>
          <a:xfrm>
            <a:off x="2642616" y="4123944"/>
            <a:ext cx="914400" cy="228600"/>
          </a:xfrm>
          <a:prstGeom prst="rect">
            <a:avLst/>
          </a:prstGeom>
          <a:solidFill>
            <a:srgbClr val="F1F7F3"/>
          </a:solidFill>
          <a:ln/>
        </p:spPr>
      </p:sp>
      <p:sp>
        <p:nvSpPr>
          <p:cNvPr id="120" name="Text 112"/>
          <p:cNvSpPr txBox="1"/>
          <p:nvPr/>
        </p:nvSpPr>
        <p:spPr>
          <a:xfrm>
            <a:off x="2688336" y="41239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30 to 60 %</a:t>
            </a:r>
            <a:endParaRPr lang="en-US" sz="850" dirty="0"/>
          </a:p>
        </p:txBody>
      </p:sp>
      <p:sp>
        <p:nvSpPr>
          <p:cNvPr id="121" name="Shape 113"/>
          <p:cNvSpPr/>
          <p:nvPr/>
        </p:nvSpPr>
        <p:spPr>
          <a:xfrm>
            <a:off x="3557016" y="4123944"/>
            <a:ext cx="338328" cy="228600"/>
          </a:xfrm>
          <a:prstGeom prst="rect">
            <a:avLst/>
          </a:prstGeom>
          <a:solidFill>
            <a:srgbClr val="F1F7F3"/>
          </a:solidFill>
          <a:ln/>
        </p:spPr>
      </p:sp>
      <p:sp>
        <p:nvSpPr>
          <p:cNvPr id="122" name="Text 114"/>
          <p:cNvSpPr txBox="1"/>
          <p:nvPr/>
        </p:nvSpPr>
        <p:spPr>
          <a:xfrm>
            <a:off x="3602736" y="41239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A</a:t>
            </a:r>
            <a:endParaRPr lang="en-US" sz="850" dirty="0"/>
          </a:p>
        </p:txBody>
      </p:sp>
      <p:sp>
        <p:nvSpPr>
          <p:cNvPr id="123" name="Shape 115"/>
          <p:cNvSpPr/>
          <p:nvPr/>
        </p:nvSpPr>
        <p:spPr>
          <a:xfrm>
            <a:off x="448056" y="4352544"/>
            <a:ext cx="3447288" cy="0"/>
          </a:xfrm>
          <a:prstGeom prst="line">
            <a:avLst/>
          </a:prstGeom>
          <a:noFill/>
          <a:ln w="6350">
            <a:solidFill>
              <a:srgbClr val="E3E8E4"/>
            </a:solidFill>
            <a:prstDash val="solid"/>
          </a:ln>
        </p:spPr>
      </p:sp>
      <p:sp>
        <p:nvSpPr>
          <p:cNvPr id="124" name="Shape 116"/>
          <p:cNvSpPr/>
          <p:nvPr/>
        </p:nvSpPr>
        <p:spPr>
          <a:xfrm>
            <a:off x="448056" y="4352544"/>
            <a:ext cx="1481328" cy="228600"/>
          </a:xfrm>
          <a:prstGeom prst="rect">
            <a:avLst/>
          </a:prstGeom>
          <a:solidFill>
            <a:srgbClr val="FFFFFF"/>
          </a:solidFill>
          <a:ln/>
        </p:spPr>
      </p:sp>
      <p:sp>
        <p:nvSpPr>
          <p:cNvPr id="125" name="Text 117"/>
          <p:cNvSpPr txBox="1"/>
          <p:nvPr/>
        </p:nvSpPr>
        <p:spPr>
          <a:xfrm>
            <a:off x="493776" y="43525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Flag precision</a:t>
            </a:r>
            <a:endParaRPr lang="en-US" sz="850" dirty="0"/>
          </a:p>
        </p:txBody>
      </p:sp>
      <p:sp>
        <p:nvSpPr>
          <p:cNvPr id="126" name="Shape 118"/>
          <p:cNvSpPr/>
          <p:nvPr/>
        </p:nvSpPr>
        <p:spPr>
          <a:xfrm>
            <a:off x="1929384" y="4352544"/>
            <a:ext cx="713232" cy="228600"/>
          </a:xfrm>
          <a:prstGeom prst="rect">
            <a:avLst/>
          </a:prstGeom>
          <a:solidFill>
            <a:srgbClr val="FFFFFF"/>
          </a:solidFill>
          <a:ln/>
        </p:spPr>
      </p:sp>
      <p:sp>
        <p:nvSpPr>
          <p:cNvPr id="127" name="Text 119"/>
          <p:cNvSpPr txBox="1"/>
          <p:nvPr/>
        </p:nvSpPr>
        <p:spPr>
          <a:xfrm>
            <a:off x="1975104" y="43525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15 %</a:t>
            </a:r>
            <a:endParaRPr lang="en-US" sz="850" dirty="0"/>
          </a:p>
        </p:txBody>
      </p:sp>
      <p:sp>
        <p:nvSpPr>
          <p:cNvPr id="128" name="Shape 120"/>
          <p:cNvSpPr/>
          <p:nvPr/>
        </p:nvSpPr>
        <p:spPr>
          <a:xfrm>
            <a:off x="2642616" y="4352544"/>
            <a:ext cx="914400" cy="228600"/>
          </a:xfrm>
          <a:prstGeom prst="rect">
            <a:avLst/>
          </a:prstGeom>
          <a:solidFill>
            <a:srgbClr val="FFFFFF"/>
          </a:solidFill>
          <a:ln/>
        </p:spPr>
      </p:sp>
      <p:sp>
        <p:nvSpPr>
          <p:cNvPr id="129" name="Text 121"/>
          <p:cNvSpPr txBox="1"/>
          <p:nvPr/>
        </p:nvSpPr>
        <p:spPr>
          <a:xfrm>
            <a:off x="2688336" y="43525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10 to 25 %</a:t>
            </a:r>
            <a:endParaRPr lang="en-US" sz="850" dirty="0"/>
          </a:p>
        </p:txBody>
      </p:sp>
      <p:sp>
        <p:nvSpPr>
          <p:cNvPr id="130" name="Shape 122"/>
          <p:cNvSpPr/>
          <p:nvPr/>
        </p:nvSpPr>
        <p:spPr>
          <a:xfrm>
            <a:off x="3557016" y="4352544"/>
            <a:ext cx="338328" cy="228600"/>
          </a:xfrm>
          <a:prstGeom prst="rect">
            <a:avLst/>
          </a:prstGeom>
          <a:solidFill>
            <a:srgbClr val="FFFFFF"/>
          </a:solidFill>
          <a:ln/>
        </p:spPr>
      </p:sp>
      <p:sp>
        <p:nvSpPr>
          <p:cNvPr id="131" name="Text 123"/>
          <p:cNvSpPr txBox="1"/>
          <p:nvPr/>
        </p:nvSpPr>
        <p:spPr>
          <a:xfrm>
            <a:off x="3602736" y="43525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R</a:t>
            </a:r>
            <a:endParaRPr lang="en-US" sz="850" dirty="0"/>
          </a:p>
        </p:txBody>
      </p:sp>
      <p:sp>
        <p:nvSpPr>
          <p:cNvPr id="132" name="Shape 124"/>
          <p:cNvSpPr/>
          <p:nvPr/>
        </p:nvSpPr>
        <p:spPr>
          <a:xfrm>
            <a:off x="448056" y="4581144"/>
            <a:ext cx="3447288" cy="0"/>
          </a:xfrm>
          <a:prstGeom prst="line">
            <a:avLst/>
          </a:prstGeom>
          <a:noFill/>
          <a:ln w="6350">
            <a:solidFill>
              <a:srgbClr val="E3E8E4"/>
            </a:solidFill>
            <a:prstDash val="solid"/>
          </a:ln>
        </p:spPr>
      </p:sp>
      <p:sp>
        <p:nvSpPr>
          <p:cNvPr id="133" name="Shape 125"/>
          <p:cNvSpPr/>
          <p:nvPr/>
        </p:nvSpPr>
        <p:spPr>
          <a:xfrm>
            <a:off x="448056" y="4581144"/>
            <a:ext cx="1481328" cy="228600"/>
          </a:xfrm>
          <a:prstGeom prst="rect">
            <a:avLst/>
          </a:prstGeom>
          <a:solidFill>
            <a:srgbClr val="F1F7F3"/>
          </a:solidFill>
          <a:ln/>
        </p:spPr>
      </p:sp>
      <p:sp>
        <p:nvSpPr>
          <p:cNvPr id="134" name="Text 126"/>
          <p:cNvSpPr txBox="1"/>
          <p:nvPr/>
        </p:nvSpPr>
        <p:spPr>
          <a:xfrm>
            <a:off x="493776" y="45811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Admissions uplift</a:t>
            </a:r>
            <a:endParaRPr lang="en-US" sz="850" dirty="0"/>
          </a:p>
        </p:txBody>
      </p:sp>
      <p:sp>
        <p:nvSpPr>
          <p:cNvPr id="135" name="Shape 127"/>
          <p:cNvSpPr/>
          <p:nvPr/>
        </p:nvSpPr>
        <p:spPr>
          <a:xfrm>
            <a:off x="1929384" y="4581144"/>
            <a:ext cx="713232" cy="228600"/>
          </a:xfrm>
          <a:prstGeom prst="rect">
            <a:avLst/>
          </a:prstGeom>
          <a:solidFill>
            <a:srgbClr val="F1F7F3"/>
          </a:solidFill>
          <a:ln/>
        </p:spPr>
      </p:sp>
      <p:sp>
        <p:nvSpPr>
          <p:cNvPr id="136" name="Text 128"/>
          <p:cNvSpPr txBox="1"/>
          <p:nvPr/>
        </p:nvSpPr>
        <p:spPr>
          <a:xfrm>
            <a:off x="1975104" y="45811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1 %</a:t>
            </a:r>
            <a:endParaRPr lang="en-US" sz="850" dirty="0"/>
          </a:p>
        </p:txBody>
      </p:sp>
      <p:sp>
        <p:nvSpPr>
          <p:cNvPr id="137" name="Shape 129"/>
          <p:cNvSpPr/>
          <p:nvPr/>
        </p:nvSpPr>
        <p:spPr>
          <a:xfrm>
            <a:off x="2642616" y="4581144"/>
            <a:ext cx="914400" cy="228600"/>
          </a:xfrm>
          <a:prstGeom prst="rect">
            <a:avLst/>
          </a:prstGeom>
          <a:solidFill>
            <a:srgbClr val="F1F7F3"/>
          </a:solidFill>
          <a:ln/>
        </p:spPr>
      </p:sp>
      <p:sp>
        <p:nvSpPr>
          <p:cNvPr id="138" name="Text 130"/>
          <p:cNvSpPr txBox="1"/>
          <p:nvPr/>
        </p:nvSpPr>
        <p:spPr>
          <a:xfrm>
            <a:off x="2688336" y="45811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0 to 3 %</a:t>
            </a:r>
            <a:endParaRPr lang="en-US" sz="850" dirty="0"/>
          </a:p>
        </p:txBody>
      </p:sp>
      <p:sp>
        <p:nvSpPr>
          <p:cNvPr id="139" name="Shape 131"/>
          <p:cNvSpPr/>
          <p:nvPr/>
        </p:nvSpPr>
        <p:spPr>
          <a:xfrm>
            <a:off x="3557016" y="4581144"/>
            <a:ext cx="338328" cy="228600"/>
          </a:xfrm>
          <a:prstGeom prst="rect">
            <a:avLst/>
          </a:prstGeom>
          <a:solidFill>
            <a:srgbClr val="F1F7F3"/>
          </a:solidFill>
          <a:ln/>
        </p:spPr>
      </p:sp>
      <p:sp>
        <p:nvSpPr>
          <p:cNvPr id="140" name="Text 132"/>
          <p:cNvSpPr txBox="1"/>
          <p:nvPr/>
        </p:nvSpPr>
        <p:spPr>
          <a:xfrm>
            <a:off x="3602736" y="45811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A</a:t>
            </a:r>
            <a:endParaRPr lang="en-US" sz="850" dirty="0"/>
          </a:p>
        </p:txBody>
      </p:sp>
      <p:sp>
        <p:nvSpPr>
          <p:cNvPr id="141" name="Shape 133"/>
          <p:cNvSpPr/>
          <p:nvPr/>
        </p:nvSpPr>
        <p:spPr>
          <a:xfrm>
            <a:off x="448056" y="4809744"/>
            <a:ext cx="3447288" cy="0"/>
          </a:xfrm>
          <a:prstGeom prst="line">
            <a:avLst/>
          </a:prstGeom>
          <a:noFill/>
          <a:ln w="6350">
            <a:solidFill>
              <a:srgbClr val="E3E8E4"/>
            </a:solidFill>
            <a:prstDash val="solid"/>
          </a:ln>
        </p:spPr>
      </p:sp>
      <p:sp>
        <p:nvSpPr>
          <p:cNvPr id="142" name="Shape 134"/>
          <p:cNvSpPr/>
          <p:nvPr/>
        </p:nvSpPr>
        <p:spPr>
          <a:xfrm>
            <a:off x="448056" y="4809744"/>
            <a:ext cx="1481328" cy="228600"/>
          </a:xfrm>
          <a:prstGeom prst="rect">
            <a:avLst/>
          </a:prstGeom>
          <a:solidFill>
            <a:srgbClr val="FFFFFF"/>
          </a:solidFill>
          <a:ln/>
        </p:spPr>
      </p:sp>
      <p:sp>
        <p:nvSpPr>
          <p:cNvPr id="143" name="Text 135"/>
          <p:cNvSpPr txBox="1"/>
          <p:nvPr/>
        </p:nvSpPr>
        <p:spPr>
          <a:xfrm>
            <a:off x="493776" y="48097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Staff hours saved</a:t>
            </a:r>
            <a:endParaRPr lang="en-US" sz="850" dirty="0"/>
          </a:p>
        </p:txBody>
      </p:sp>
      <p:sp>
        <p:nvSpPr>
          <p:cNvPr id="144" name="Shape 136"/>
          <p:cNvSpPr/>
          <p:nvPr/>
        </p:nvSpPr>
        <p:spPr>
          <a:xfrm>
            <a:off x="1929384" y="4809744"/>
            <a:ext cx="713232" cy="228600"/>
          </a:xfrm>
          <a:prstGeom prst="rect">
            <a:avLst/>
          </a:prstGeom>
          <a:solidFill>
            <a:srgbClr val="FFFFFF"/>
          </a:solidFill>
          <a:ln/>
        </p:spPr>
      </p:sp>
      <p:sp>
        <p:nvSpPr>
          <p:cNvPr id="145" name="Text 137"/>
          <p:cNvSpPr txBox="1"/>
          <p:nvPr/>
        </p:nvSpPr>
        <p:spPr>
          <a:xfrm>
            <a:off x="1975104" y="48097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25 a month</a:t>
            </a:r>
            <a:endParaRPr lang="en-US" sz="850" dirty="0"/>
          </a:p>
        </p:txBody>
      </p:sp>
      <p:sp>
        <p:nvSpPr>
          <p:cNvPr id="146" name="Shape 138"/>
          <p:cNvSpPr/>
          <p:nvPr/>
        </p:nvSpPr>
        <p:spPr>
          <a:xfrm>
            <a:off x="2642616" y="4809744"/>
            <a:ext cx="914400" cy="228600"/>
          </a:xfrm>
          <a:prstGeom prst="rect">
            <a:avLst/>
          </a:prstGeom>
          <a:solidFill>
            <a:srgbClr val="FFFFFF"/>
          </a:solidFill>
          <a:ln/>
        </p:spPr>
      </p:sp>
      <p:sp>
        <p:nvSpPr>
          <p:cNvPr id="147" name="Text 139"/>
          <p:cNvSpPr txBox="1"/>
          <p:nvPr/>
        </p:nvSpPr>
        <p:spPr>
          <a:xfrm>
            <a:off x="2688336" y="48097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10 to 50</a:t>
            </a:r>
            <a:endParaRPr lang="en-US" sz="850" dirty="0"/>
          </a:p>
        </p:txBody>
      </p:sp>
      <p:sp>
        <p:nvSpPr>
          <p:cNvPr id="148" name="Shape 140"/>
          <p:cNvSpPr/>
          <p:nvPr/>
        </p:nvSpPr>
        <p:spPr>
          <a:xfrm>
            <a:off x="3557016" y="4809744"/>
            <a:ext cx="338328" cy="228600"/>
          </a:xfrm>
          <a:prstGeom prst="rect">
            <a:avLst/>
          </a:prstGeom>
          <a:solidFill>
            <a:srgbClr val="FFFFFF"/>
          </a:solidFill>
          <a:ln/>
        </p:spPr>
      </p:sp>
      <p:sp>
        <p:nvSpPr>
          <p:cNvPr id="149" name="Text 141"/>
          <p:cNvSpPr txBox="1"/>
          <p:nvPr/>
        </p:nvSpPr>
        <p:spPr>
          <a:xfrm>
            <a:off x="3602736" y="48097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G</a:t>
            </a:r>
            <a:endParaRPr lang="en-US" sz="850" dirty="0"/>
          </a:p>
        </p:txBody>
      </p:sp>
      <p:sp>
        <p:nvSpPr>
          <p:cNvPr id="150" name="Shape 142"/>
          <p:cNvSpPr/>
          <p:nvPr/>
        </p:nvSpPr>
        <p:spPr>
          <a:xfrm>
            <a:off x="448056" y="5038344"/>
            <a:ext cx="3447288" cy="0"/>
          </a:xfrm>
          <a:prstGeom prst="line">
            <a:avLst/>
          </a:prstGeom>
          <a:noFill/>
          <a:ln w="6350">
            <a:solidFill>
              <a:srgbClr val="E3E8E4"/>
            </a:solidFill>
            <a:prstDash val="solid"/>
          </a:ln>
        </p:spPr>
      </p:sp>
      <p:sp>
        <p:nvSpPr>
          <p:cNvPr id="151" name="Shape 143"/>
          <p:cNvSpPr/>
          <p:nvPr/>
        </p:nvSpPr>
        <p:spPr>
          <a:xfrm>
            <a:off x="448056" y="5038344"/>
            <a:ext cx="1481328" cy="228600"/>
          </a:xfrm>
          <a:prstGeom prst="rect">
            <a:avLst/>
          </a:prstGeom>
          <a:solidFill>
            <a:srgbClr val="F1F7F3"/>
          </a:solidFill>
          <a:ln/>
        </p:spPr>
      </p:sp>
      <p:sp>
        <p:nvSpPr>
          <p:cNvPr id="152" name="Text 144"/>
          <p:cNvSpPr txBox="1"/>
          <p:nvPr/>
        </p:nvSpPr>
        <p:spPr>
          <a:xfrm>
            <a:off x="493776" y="50383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Mentor min. a call</a:t>
            </a:r>
            <a:endParaRPr lang="en-US" sz="850" dirty="0"/>
          </a:p>
        </p:txBody>
      </p:sp>
      <p:sp>
        <p:nvSpPr>
          <p:cNvPr id="153" name="Shape 145"/>
          <p:cNvSpPr/>
          <p:nvPr/>
        </p:nvSpPr>
        <p:spPr>
          <a:xfrm>
            <a:off x="1929384" y="5038344"/>
            <a:ext cx="713232" cy="228600"/>
          </a:xfrm>
          <a:prstGeom prst="rect">
            <a:avLst/>
          </a:prstGeom>
          <a:solidFill>
            <a:srgbClr val="F1F7F3"/>
          </a:solidFill>
          <a:ln/>
        </p:spPr>
      </p:sp>
      <p:sp>
        <p:nvSpPr>
          <p:cNvPr id="154" name="Text 146"/>
          <p:cNvSpPr txBox="1"/>
          <p:nvPr/>
        </p:nvSpPr>
        <p:spPr>
          <a:xfrm>
            <a:off x="1975104" y="50383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120</a:t>
            </a:r>
            <a:endParaRPr lang="en-US" sz="850" dirty="0"/>
          </a:p>
        </p:txBody>
      </p:sp>
      <p:sp>
        <p:nvSpPr>
          <p:cNvPr id="155" name="Shape 147"/>
          <p:cNvSpPr/>
          <p:nvPr/>
        </p:nvSpPr>
        <p:spPr>
          <a:xfrm>
            <a:off x="2642616" y="5038344"/>
            <a:ext cx="914400" cy="228600"/>
          </a:xfrm>
          <a:prstGeom prst="rect">
            <a:avLst/>
          </a:prstGeom>
          <a:solidFill>
            <a:srgbClr val="F1F7F3"/>
          </a:solidFill>
          <a:ln/>
        </p:spPr>
      </p:sp>
      <p:sp>
        <p:nvSpPr>
          <p:cNvPr id="156" name="Text 148"/>
          <p:cNvSpPr txBox="1"/>
          <p:nvPr/>
        </p:nvSpPr>
        <p:spPr>
          <a:xfrm>
            <a:off x="2688336" y="50383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240 to 60</a:t>
            </a:r>
            <a:endParaRPr lang="en-US" sz="850" dirty="0"/>
          </a:p>
        </p:txBody>
      </p:sp>
      <p:sp>
        <p:nvSpPr>
          <p:cNvPr id="157" name="Shape 149"/>
          <p:cNvSpPr/>
          <p:nvPr/>
        </p:nvSpPr>
        <p:spPr>
          <a:xfrm>
            <a:off x="3557016" y="5038344"/>
            <a:ext cx="338328" cy="228600"/>
          </a:xfrm>
          <a:prstGeom prst="rect">
            <a:avLst/>
          </a:prstGeom>
          <a:solidFill>
            <a:srgbClr val="F1F7F3"/>
          </a:solidFill>
          <a:ln/>
        </p:spPr>
      </p:sp>
      <p:sp>
        <p:nvSpPr>
          <p:cNvPr id="158" name="Text 150"/>
          <p:cNvSpPr txBox="1"/>
          <p:nvPr/>
        </p:nvSpPr>
        <p:spPr>
          <a:xfrm>
            <a:off x="3602736" y="50383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A</a:t>
            </a:r>
            <a:endParaRPr lang="en-US" sz="850" dirty="0"/>
          </a:p>
        </p:txBody>
      </p:sp>
      <p:sp>
        <p:nvSpPr>
          <p:cNvPr id="159" name="Shape 151"/>
          <p:cNvSpPr/>
          <p:nvPr/>
        </p:nvSpPr>
        <p:spPr>
          <a:xfrm>
            <a:off x="448056" y="5266944"/>
            <a:ext cx="3447288" cy="0"/>
          </a:xfrm>
          <a:prstGeom prst="line">
            <a:avLst/>
          </a:prstGeom>
          <a:noFill/>
          <a:ln w="6350">
            <a:solidFill>
              <a:srgbClr val="E3E8E4"/>
            </a:solidFill>
            <a:prstDash val="solid"/>
          </a:ln>
        </p:spPr>
      </p:sp>
      <p:sp>
        <p:nvSpPr>
          <p:cNvPr id="160" name="Shape 152"/>
          <p:cNvSpPr/>
          <p:nvPr/>
        </p:nvSpPr>
        <p:spPr>
          <a:xfrm>
            <a:off x="448056" y="5266944"/>
            <a:ext cx="1481328" cy="228600"/>
          </a:xfrm>
          <a:prstGeom prst="rect">
            <a:avLst/>
          </a:prstGeom>
          <a:solidFill>
            <a:srgbClr val="FFFFFF"/>
          </a:solidFill>
          <a:ln/>
        </p:spPr>
      </p:sp>
      <p:sp>
        <p:nvSpPr>
          <p:cNvPr id="161" name="Text 153"/>
          <p:cNvSpPr txBox="1"/>
          <p:nvPr/>
        </p:nvSpPr>
        <p:spPr>
          <a:xfrm>
            <a:off x="493776" y="5266944"/>
            <a:ext cx="1389888"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List price</a:t>
            </a:r>
            <a:endParaRPr lang="en-US" sz="850" dirty="0"/>
          </a:p>
        </p:txBody>
      </p:sp>
      <p:sp>
        <p:nvSpPr>
          <p:cNvPr id="162" name="Shape 154"/>
          <p:cNvSpPr/>
          <p:nvPr/>
        </p:nvSpPr>
        <p:spPr>
          <a:xfrm>
            <a:off x="1929384" y="5266944"/>
            <a:ext cx="713232" cy="228600"/>
          </a:xfrm>
          <a:prstGeom prst="rect">
            <a:avLst/>
          </a:prstGeom>
          <a:solidFill>
            <a:srgbClr val="FFFFFF"/>
          </a:solidFill>
          <a:ln/>
        </p:spPr>
      </p:sp>
      <p:sp>
        <p:nvSpPr>
          <p:cNvPr id="163" name="Text 155"/>
          <p:cNvSpPr txBox="1"/>
          <p:nvPr/>
        </p:nvSpPr>
        <p:spPr>
          <a:xfrm>
            <a:off x="1975104" y="5266944"/>
            <a:ext cx="621792"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₹30</a:t>
            </a:r>
            <a:endParaRPr lang="en-US" sz="850" dirty="0"/>
          </a:p>
        </p:txBody>
      </p:sp>
      <p:sp>
        <p:nvSpPr>
          <p:cNvPr id="164" name="Shape 156"/>
          <p:cNvSpPr/>
          <p:nvPr/>
        </p:nvSpPr>
        <p:spPr>
          <a:xfrm>
            <a:off x="2642616" y="5266944"/>
            <a:ext cx="914400" cy="228600"/>
          </a:xfrm>
          <a:prstGeom prst="rect">
            <a:avLst/>
          </a:prstGeom>
          <a:solidFill>
            <a:srgbClr val="FFFFFF"/>
          </a:solidFill>
          <a:ln/>
        </p:spPr>
      </p:sp>
      <p:sp>
        <p:nvSpPr>
          <p:cNvPr id="165" name="Text 157"/>
          <p:cNvSpPr txBox="1"/>
          <p:nvPr/>
        </p:nvSpPr>
        <p:spPr>
          <a:xfrm>
            <a:off x="2688336" y="5266944"/>
            <a:ext cx="822960" cy="228600"/>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₹20 to 40</a:t>
            </a:r>
            <a:endParaRPr lang="en-US" sz="850" dirty="0"/>
          </a:p>
        </p:txBody>
      </p:sp>
      <p:sp>
        <p:nvSpPr>
          <p:cNvPr id="166" name="Shape 158"/>
          <p:cNvSpPr/>
          <p:nvPr/>
        </p:nvSpPr>
        <p:spPr>
          <a:xfrm>
            <a:off x="3557016" y="5266944"/>
            <a:ext cx="338328" cy="228600"/>
          </a:xfrm>
          <a:prstGeom prst="rect">
            <a:avLst/>
          </a:prstGeom>
          <a:solidFill>
            <a:srgbClr val="FFFFFF"/>
          </a:solidFill>
          <a:ln/>
        </p:spPr>
      </p:sp>
      <p:sp>
        <p:nvSpPr>
          <p:cNvPr id="167" name="Text 159"/>
          <p:cNvSpPr txBox="1"/>
          <p:nvPr/>
        </p:nvSpPr>
        <p:spPr>
          <a:xfrm>
            <a:off x="3602736" y="5266944"/>
            <a:ext cx="246888"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A</a:t>
            </a:r>
            <a:endParaRPr lang="en-US" sz="850" dirty="0"/>
          </a:p>
        </p:txBody>
      </p:sp>
      <p:sp>
        <p:nvSpPr>
          <p:cNvPr id="168" name="Shape 160"/>
          <p:cNvSpPr/>
          <p:nvPr/>
        </p:nvSpPr>
        <p:spPr>
          <a:xfrm>
            <a:off x="448056" y="5495544"/>
            <a:ext cx="3447288" cy="0"/>
          </a:xfrm>
          <a:prstGeom prst="line">
            <a:avLst/>
          </a:prstGeom>
          <a:noFill/>
          <a:ln w="6350">
            <a:solidFill>
              <a:srgbClr val="E3E8E4"/>
            </a:solidFill>
            <a:prstDash val="solid"/>
          </a:ln>
        </p:spPr>
      </p:sp>
      <p:sp>
        <p:nvSpPr>
          <p:cNvPr id="169" name="Text 161"/>
          <p:cNvSpPr txBox="1"/>
          <p:nvPr/>
        </p:nvSpPr>
        <p:spPr>
          <a:xfrm>
            <a:off x="466344" y="5596128"/>
            <a:ext cx="3383280" cy="182880"/>
          </a:xfrm>
          <a:prstGeom prst="rect">
            <a:avLst/>
          </a:prstGeom>
          <a:noFill/>
          <a:ln/>
        </p:spPr>
        <p:txBody>
          <a:bodyPr wrap="square" lIns="0" tIns="0" rIns="0" bIns="0" rtlCol="0" anchor="t"/>
          <a:lstStyle/>
          <a:p>
            <a:pPr algn="l" indent="0" marL="0">
              <a:buNone/>
            </a:pPr>
            <a:r>
              <a:rPr lang="en-US" sz="750" i="1" dirty="0">
                <a:solidFill>
                  <a:srgbClr val="5B6573"/>
                </a:solidFill>
                <a:latin typeface="Calibri" pitchFamily="34" charset="0"/>
                <a:ea typeface="Calibri" pitchFamily="34" charset="-122"/>
                <a:cs typeface="Calibri" pitchFamily="34" charset="-120"/>
              </a:rPr>
              <a:t>G guide · R researched · A assumption to test in interviews</a:t>
            </a:r>
            <a:endParaRPr lang="en-US" sz="750" dirty="0"/>
          </a:p>
        </p:txBody>
      </p:sp>
      <p:sp>
        <p:nvSpPr>
          <p:cNvPr id="170" name="Text 162"/>
          <p:cNvSpPr txBox="1"/>
          <p:nvPr/>
        </p:nvSpPr>
        <p:spPr>
          <a:xfrm>
            <a:off x="4105656" y="2167128"/>
            <a:ext cx="393192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STRESS TEST: BEAR, BASE, BULL</a:t>
            </a:r>
            <a:endParaRPr lang="en-US" sz="1250" dirty="0"/>
          </a:p>
        </p:txBody>
      </p:sp>
      <p:sp>
        <p:nvSpPr>
          <p:cNvPr id="171" name="Shape 163"/>
          <p:cNvSpPr/>
          <p:nvPr/>
        </p:nvSpPr>
        <p:spPr>
          <a:xfrm>
            <a:off x="4105656" y="2459736"/>
            <a:ext cx="3931920" cy="10973"/>
          </a:xfrm>
          <a:prstGeom prst="rect">
            <a:avLst/>
          </a:prstGeom>
          <a:solidFill>
            <a:srgbClr val="C9D6E8"/>
          </a:solidFill>
          <a:ln/>
        </p:spPr>
      </p:sp>
      <p:sp>
        <p:nvSpPr>
          <p:cNvPr id="172" name="Shape 164"/>
          <p:cNvSpPr/>
          <p:nvPr/>
        </p:nvSpPr>
        <p:spPr>
          <a:xfrm>
            <a:off x="4105656" y="2450592"/>
            <a:ext cx="2194560" cy="27432"/>
          </a:xfrm>
          <a:prstGeom prst="rect">
            <a:avLst/>
          </a:prstGeom>
          <a:solidFill>
            <a:srgbClr val="1F4A82"/>
          </a:solidFill>
          <a:ln/>
        </p:spPr>
      </p:sp>
      <p:sp>
        <p:nvSpPr>
          <p:cNvPr id="173" name="Shape 165"/>
          <p:cNvSpPr/>
          <p:nvPr/>
        </p:nvSpPr>
        <p:spPr>
          <a:xfrm>
            <a:off x="8147304" y="2194560"/>
            <a:ext cx="0" cy="3611880"/>
          </a:xfrm>
          <a:prstGeom prst="line">
            <a:avLst/>
          </a:prstGeom>
          <a:noFill/>
          <a:ln w="12700">
            <a:solidFill>
              <a:srgbClr val="8FA9CC"/>
            </a:solidFill>
            <a:prstDash val="dash"/>
          </a:ln>
        </p:spPr>
      </p:sp>
      <p:pic>
        <p:nvPicPr>
          <p:cNvPr id="174" name="Image 5" descr="Gauge of owner's return: bear, base, bull">    </p:cNvPr>
          <p:cNvPicPr>
            <a:picLocks noChangeAspect="1"/>
          </p:cNvPicPr>
          <p:nvPr/>
        </p:nvPicPr>
        <p:blipFill>
          <a:blip r:embed="rId6"/>
          <a:stretch>
            <a:fillRect/>
          </a:stretch>
        </p:blipFill>
        <p:spPr>
          <a:xfrm>
            <a:off x="4114800" y="2514600"/>
            <a:ext cx="3931920" cy="1965960"/>
          </a:xfrm>
          <a:prstGeom prst="rect">
            <a:avLst/>
          </a:prstGeom>
        </p:spPr>
      </p:pic>
      <p:sp>
        <p:nvSpPr>
          <p:cNvPr id="175" name="Shape 166"/>
          <p:cNvSpPr/>
          <p:nvPr/>
        </p:nvSpPr>
        <p:spPr>
          <a:xfrm>
            <a:off x="4133088" y="4553712"/>
            <a:ext cx="1261872" cy="237744"/>
          </a:xfrm>
          <a:prstGeom prst="rect">
            <a:avLst/>
          </a:prstGeom>
          <a:solidFill>
            <a:srgbClr val="6B7280"/>
          </a:solidFill>
          <a:ln/>
        </p:spPr>
      </p:sp>
      <p:sp>
        <p:nvSpPr>
          <p:cNvPr id="176" name="Text 167"/>
          <p:cNvSpPr txBox="1"/>
          <p:nvPr/>
        </p:nvSpPr>
        <p:spPr>
          <a:xfrm>
            <a:off x="4133088" y="4553712"/>
            <a:ext cx="12618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BEAR</a:t>
            </a:r>
            <a:endParaRPr lang="en-US" sz="900" dirty="0"/>
          </a:p>
        </p:txBody>
      </p:sp>
      <p:sp>
        <p:nvSpPr>
          <p:cNvPr id="177" name="Text 168"/>
          <p:cNvSpPr txBox="1"/>
          <p:nvPr/>
        </p:nvSpPr>
        <p:spPr>
          <a:xfrm>
            <a:off x="4133088" y="4818888"/>
            <a:ext cx="1261872" cy="502920"/>
          </a:xfrm>
          <a:prstGeom prst="rect">
            <a:avLst/>
          </a:prstGeom>
          <a:noFill/>
          <a:ln/>
        </p:spPr>
        <p:txBody>
          <a:bodyPr wrap="square" lIns="0" tIns="0" rIns="0" bIns="0" rtlCol="0" anchor="t"/>
          <a:lstStyle/>
          <a:p>
            <a:pPr algn="ctr" indent="0" marL="0">
              <a:buNone/>
            </a:pPr>
            <a:r>
              <a:rPr lang="en-US" sz="1500" b="1" dirty="0">
                <a:solidFill>
                  <a:srgbClr val="17325C"/>
                </a:solidFill>
                <a:latin typeface="Calibri" pitchFamily="34" charset="0"/>
                <a:ea typeface="Calibri" pitchFamily="34" charset="-122"/>
                <a:cs typeface="Calibri" pitchFamily="34" charset="-120"/>
              </a:rPr>
              <a:t>0.37x</a:t>
            </a:r>
            <a:endParaRPr lang="en-US" sz="1400" dirty="0"/>
          </a:p>
          <a:p>
            <a:pPr algn="ctr" indent="0" marL="0">
              <a:buNone/>
            </a:pPr>
            <a:r>
              <a:rPr lang="en-US" sz="800" dirty="0">
                <a:solidFill>
                  <a:srgbClr val="5B6573"/>
                </a:solidFill>
                <a:latin typeface="Calibri" pitchFamily="34" charset="0"/>
                <a:ea typeface="Calibri" pitchFamily="34" charset="-122"/>
                <a:cs typeface="Calibri" pitchFamily="34" charset="-120"/>
              </a:rPr>
              <a:t>LTV/CAC 0.75x</a:t>
            </a:r>
            <a:endParaRPr lang="en-US" sz="1400" dirty="0"/>
          </a:p>
        </p:txBody>
      </p:sp>
      <p:sp>
        <p:nvSpPr>
          <p:cNvPr id="178" name="Shape 169"/>
          <p:cNvSpPr/>
          <p:nvPr/>
        </p:nvSpPr>
        <p:spPr>
          <a:xfrm>
            <a:off x="5449824" y="4553712"/>
            <a:ext cx="1261872" cy="237744"/>
          </a:xfrm>
          <a:prstGeom prst="rect">
            <a:avLst/>
          </a:prstGeom>
          <a:solidFill>
            <a:srgbClr val="1F4A82"/>
          </a:solidFill>
          <a:ln/>
        </p:spPr>
      </p:sp>
      <p:sp>
        <p:nvSpPr>
          <p:cNvPr id="179" name="Text 170"/>
          <p:cNvSpPr txBox="1"/>
          <p:nvPr/>
        </p:nvSpPr>
        <p:spPr>
          <a:xfrm>
            <a:off x="5449824" y="4553712"/>
            <a:ext cx="12618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BASE</a:t>
            </a:r>
            <a:endParaRPr lang="en-US" sz="900" dirty="0"/>
          </a:p>
        </p:txBody>
      </p:sp>
      <p:sp>
        <p:nvSpPr>
          <p:cNvPr id="180" name="Text 171"/>
          <p:cNvSpPr txBox="1"/>
          <p:nvPr/>
        </p:nvSpPr>
        <p:spPr>
          <a:xfrm>
            <a:off x="5449824" y="4818888"/>
            <a:ext cx="1261872" cy="502920"/>
          </a:xfrm>
          <a:prstGeom prst="rect">
            <a:avLst/>
          </a:prstGeom>
          <a:noFill/>
          <a:ln/>
        </p:spPr>
        <p:txBody>
          <a:bodyPr wrap="square" lIns="0" tIns="0" rIns="0" bIns="0" rtlCol="0" anchor="t"/>
          <a:lstStyle/>
          <a:p>
            <a:pPr algn="ctr" indent="0" marL="0">
              <a:buNone/>
            </a:pPr>
            <a:r>
              <a:rPr lang="en-US" sz="1500" b="1" dirty="0">
                <a:solidFill>
                  <a:srgbClr val="17325C"/>
                </a:solidFill>
                <a:latin typeface="Calibri" pitchFamily="34" charset="0"/>
                <a:ea typeface="Calibri" pitchFamily="34" charset="-122"/>
                <a:cs typeface="Calibri" pitchFamily="34" charset="-120"/>
              </a:rPr>
              <a:t>1.7x</a:t>
            </a:r>
            <a:endParaRPr lang="en-US" sz="1400" dirty="0"/>
          </a:p>
          <a:p>
            <a:pPr algn="ctr" indent="0" marL="0">
              <a:buNone/>
            </a:pPr>
            <a:r>
              <a:rPr lang="en-US" sz="800" dirty="0">
                <a:solidFill>
                  <a:srgbClr val="5B6573"/>
                </a:solidFill>
                <a:latin typeface="Calibri" pitchFamily="34" charset="0"/>
                <a:ea typeface="Calibri" pitchFamily="34" charset="-122"/>
                <a:cs typeface="Calibri" pitchFamily="34" charset="-120"/>
              </a:rPr>
              <a:t>LTV/CAC 3.6x</a:t>
            </a:r>
            <a:endParaRPr lang="en-US" sz="1400" dirty="0"/>
          </a:p>
        </p:txBody>
      </p:sp>
      <p:sp>
        <p:nvSpPr>
          <p:cNvPr id="181" name="Shape 172"/>
          <p:cNvSpPr/>
          <p:nvPr/>
        </p:nvSpPr>
        <p:spPr>
          <a:xfrm>
            <a:off x="6766560" y="4553712"/>
            <a:ext cx="1261872" cy="237744"/>
          </a:xfrm>
          <a:prstGeom prst="rect">
            <a:avLst/>
          </a:prstGeom>
          <a:solidFill>
            <a:srgbClr val="6B7280"/>
          </a:solidFill>
          <a:ln/>
        </p:spPr>
      </p:sp>
      <p:sp>
        <p:nvSpPr>
          <p:cNvPr id="182" name="Text 173"/>
          <p:cNvSpPr txBox="1"/>
          <p:nvPr/>
        </p:nvSpPr>
        <p:spPr>
          <a:xfrm>
            <a:off x="6766560" y="4553712"/>
            <a:ext cx="12618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BULL</a:t>
            </a:r>
            <a:endParaRPr lang="en-US" sz="900" dirty="0"/>
          </a:p>
        </p:txBody>
      </p:sp>
      <p:sp>
        <p:nvSpPr>
          <p:cNvPr id="183" name="Text 174"/>
          <p:cNvSpPr txBox="1"/>
          <p:nvPr/>
        </p:nvSpPr>
        <p:spPr>
          <a:xfrm>
            <a:off x="6766560" y="4818888"/>
            <a:ext cx="1261872" cy="502920"/>
          </a:xfrm>
          <a:prstGeom prst="rect">
            <a:avLst/>
          </a:prstGeom>
          <a:noFill/>
          <a:ln/>
        </p:spPr>
        <p:txBody>
          <a:bodyPr wrap="square" lIns="0" tIns="0" rIns="0" bIns="0" rtlCol="0" anchor="t"/>
          <a:lstStyle/>
          <a:p>
            <a:pPr algn="ctr" indent="0" marL="0">
              <a:buNone/>
            </a:pPr>
            <a:r>
              <a:rPr lang="en-US" sz="1500" b="1" dirty="0">
                <a:solidFill>
                  <a:srgbClr val="17325C"/>
                </a:solidFill>
                <a:latin typeface="Calibri" pitchFamily="34" charset="0"/>
                <a:ea typeface="Calibri" pitchFamily="34" charset="-122"/>
                <a:cs typeface="Calibri" pitchFamily="34" charset="-120"/>
              </a:rPr>
              <a:t>3.9x</a:t>
            </a:r>
            <a:endParaRPr lang="en-US" sz="1400" dirty="0"/>
          </a:p>
          <a:p>
            <a:pPr algn="ctr" indent="0" marL="0">
              <a:buNone/>
            </a:pPr>
            <a:r>
              <a:rPr lang="en-US" sz="800" dirty="0">
                <a:solidFill>
                  <a:srgbClr val="5B6573"/>
                </a:solidFill>
                <a:latin typeface="Calibri" pitchFamily="34" charset="0"/>
                <a:ea typeface="Calibri" pitchFamily="34" charset="-122"/>
                <a:cs typeface="Calibri" pitchFamily="34" charset="-120"/>
              </a:rPr>
              <a:t>LTV/CAC 10x</a:t>
            </a:r>
            <a:endParaRPr lang="en-US" sz="1400" dirty="0"/>
          </a:p>
        </p:txBody>
      </p:sp>
      <p:sp>
        <p:nvSpPr>
          <p:cNvPr id="184" name="Text 175"/>
          <p:cNvSpPr txBox="1"/>
          <p:nvPr/>
        </p:nvSpPr>
        <p:spPr>
          <a:xfrm>
            <a:off x="4160520" y="5349240"/>
            <a:ext cx="3886200" cy="411480"/>
          </a:xfrm>
          <a:prstGeom prst="rect">
            <a:avLst/>
          </a:prstGeom>
          <a:noFill/>
          <a:ln/>
        </p:spPr>
        <p:txBody>
          <a:bodyPr wrap="square" lIns="0" tIns="0" rIns="0" bIns="0" rtlCol="0" anchor="t"/>
          <a:lstStyle/>
          <a:p>
            <a:pPr algn="l" indent="0" marL="0">
              <a:buNone/>
            </a:pPr>
            <a:r>
              <a:rPr lang="en-US" sz="850" i="1" dirty="0">
                <a:solidFill>
                  <a:srgbClr val="5B6573"/>
                </a:solidFill>
                <a:latin typeface="Calibri" pitchFamily="34" charset="0"/>
                <a:ea typeface="Calibri" pitchFamily="34" charset="-122"/>
                <a:cs typeface="Calibri" pitchFamily="34" charset="-120"/>
              </a:rPr>
              <a:t>Bear and Bull move 13 inputs. Every input at its worst gives 0.09x: a survival test, not a forecast.</a:t>
            </a:r>
            <a:endParaRPr lang="en-US" sz="850" dirty="0"/>
          </a:p>
        </p:txBody>
      </p:sp>
      <p:sp>
        <p:nvSpPr>
          <p:cNvPr id="185" name="Shape 176"/>
          <p:cNvSpPr/>
          <p:nvPr/>
        </p:nvSpPr>
        <p:spPr>
          <a:xfrm rot="120000">
            <a:off x="10104120" y="694944"/>
            <a:ext cx="1691640" cy="384048"/>
          </a:xfrm>
          <a:prstGeom prst="rect">
            <a:avLst/>
          </a:prstGeom>
          <a:solidFill>
            <a:srgbClr val="C9CED6">
              <a:alpha val="45000"/>
            </a:srgbClr>
          </a:solidFill>
          <a:ln/>
        </p:spPr>
      </p:sp>
      <p:sp>
        <p:nvSpPr>
          <p:cNvPr id="186" name="Shape 177"/>
          <p:cNvSpPr/>
          <p:nvPr/>
        </p:nvSpPr>
        <p:spPr>
          <a:xfrm rot="120000">
            <a:off x="10058400" y="640080"/>
            <a:ext cx="1691640" cy="384048"/>
          </a:xfrm>
          <a:prstGeom prst="rect">
            <a:avLst/>
          </a:prstGeom>
          <a:solidFill>
            <a:srgbClr val="F7BFD0"/>
          </a:solidFill>
          <a:ln/>
        </p:spPr>
      </p:sp>
      <p:sp>
        <p:nvSpPr>
          <p:cNvPr id="187" name="Text 178"/>
          <p:cNvSpPr txBox="1"/>
          <p:nvPr/>
        </p:nvSpPr>
        <p:spPr>
          <a:xfrm rot="120000">
            <a:off x="10113264" y="676656"/>
            <a:ext cx="1581912" cy="329184"/>
          </a:xfrm>
          <a:prstGeom prst="rect">
            <a:avLst/>
          </a:prstGeom>
          <a:noFill/>
          <a:ln/>
        </p:spPr>
        <p:txBody>
          <a:bodyPr wrap="square" lIns="0" tIns="0" rIns="0" bIns="0" rtlCol="0" anchor="ctr"/>
          <a:lstStyle/>
          <a:p>
            <a:pPr algn="ctr" indent="0" marL="0">
              <a:buNone/>
            </a:pPr>
            <a:r>
              <a:rPr lang="en-US" sz="850" dirty="0">
                <a:solidFill>
                  <a:srgbClr val="8A2C4B"/>
                </a:solidFill>
                <a:latin typeface="Segoe Print" pitchFamily="34" charset="0"/>
                <a:ea typeface="Segoe Print" pitchFamily="34" charset="-122"/>
                <a:cs typeface="Segoe Print" pitchFamily="34" charset="-120"/>
              </a:rPr>
              <a:t>value = fees + time + admissions</a:t>
            </a:r>
            <a:endParaRPr lang="en-US" sz="850" dirty="0"/>
          </a:p>
        </p:txBody>
      </p:sp>
      <p:pic>
        <p:nvPicPr>
          <p:cNvPr id="188" name="Image 6" descr="D:\Professional Work\Business\FC_Case_Dhruvi\presentation\source\assets\doodle_tape.png">    </p:cNvPr>
          <p:cNvPicPr>
            <a:picLocks noChangeAspect="1"/>
          </p:cNvPicPr>
          <p:nvPr/>
        </p:nvPicPr>
        <p:blipFill>
          <a:blip r:embed="rId7"/>
          <a:stretch>
            <a:fillRect/>
          </a:stretch>
        </p:blipFill>
        <p:spPr>
          <a:xfrm rot="72000">
            <a:off x="10629900" y="548640"/>
            <a:ext cx="548640" cy="173736"/>
          </a:xfrm>
          <a:prstGeom prst="rect">
            <a:avLst/>
          </a:prstGeom>
        </p:spPr>
      </p:pic>
      <p:sp>
        <p:nvSpPr>
          <p:cNvPr id="189" name="Text 179"/>
          <p:cNvSpPr txBox="1"/>
          <p:nvPr/>
        </p:nvSpPr>
        <p:spPr>
          <a:xfrm>
            <a:off x="8266176" y="2167128"/>
            <a:ext cx="3456432"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WHERE ₹3.6 A STUDENT GOES</a:t>
            </a:r>
            <a:endParaRPr lang="en-US" sz="1250" dirty="0"/>
          </a:p>
        </p:txBody>
      </p:sp>
      <p:sp>
        <p:nvSpPr>
          <p:cNvPr id="190" name="Shape 180"/>
          <p:cNvSpPr/>
          <p:nvPr/>
        </p:nvSpPr>
        <p:spPr>
          <a:xfrm>
            <a:off x="8266176" y="2459736"/>
            <a:ext cx="3456432" cy="10973"/>
          </a:xfrm>
          <a:prstGeom prst="rect">
            <a:avLst/>
          </a:prstGeom>
          <a:solidFill>
            <a:srgbClr val="C9D6E8"/>
          </a:solidFill>
          <a:ln/>
        </p:spPr>
      </p:sp>
      <p:sp>
        <p:nvSpPr>
          <p:cNvPr id="191" name="Shape 181"/>
          <p:cNvSpPr/>
          <p:nvPr/>
        </p:nvSpPr>
        <p:spPr>
          <a:xfrm>
            <a:off x="8266176" y="2450592"/>
            <a:ext cx="2194560" cy="27432"/>
          </a:xfrm>
          <a:prstGeom prst="rect">
            <a:avLst/>
          </a:prstGeom>
          <a:solidFill>
            <a:srgbClr val="1F4A82"/>
          </a:solidFill>
          <a:ln/>
        </p:spPr>
      </p:sp>
      <p:sp>
        <p:nvSpPr>
          <p:cNvPr id="192" name="Shape 182"/>
          <p:cNvSpPr/>
          <p:nvPr/>
        </p:nvSpPr>
        <p:spPr>
          <a:xfrm>
            <a:off x="8321040" y="2542032"/>
            <a:ext cx="502920" cy="495300"/>
          </a:xfrm>
          <a:prstGeom prst="rect">
            <a:avLst/>
          </a:prstGeom>
          <a:solidFill>
            <a:srgbClr val="1F4A82"/>
          </a:solidFill>
          <a:ln/>
        </p:spPr>
      </p:sp>
      <p:sp>
        <p:nvSpPr>
          <p:cNvPr id="193" name="Shape 183"/>
          <p:cNvSpPr/>
          <p:nvPr/>
        </p:nvSpPr>
        <p:spPr>
          <a:xfrm>
            <a:off x="8321040" y="3037332"/>
            <a:ext cx="502920" cy="396240"/>
          </a:xfrm>
          <a:prstGeom prst="rect">
            <a:avLst/>
          </a:prstGeom>
          <a:solidFill>
            <a:srgbClr val="2E6DB4"/>
          </a:solidFill>
          <a:ln/>
        </p:spPr>
      </p:sp>
      <p:sp>
        <p:nvSpPr>
          <p:cNvPr id="194" name="Shape 184"/>
          <p:cNvSpPr/>
          <p:nvPr/>
        </p:nvSpPr>
        <p:spPr>
          <a:xfrm>
            <a:off x="8321040" y="3433572"/>
            <a:ext cx="502920" cy="346710"/>
          </a:xfrm>
          <a:prstGeom prst="rect">
            <a:avLst/>
          </a:prstGeom>
          <a:solidFill>
            <a:srgbClr val="5B8DC9"/>
          </a:solidFill>
          <a:ln/>
        </p:spPr>
      </p:sp>
      <p:sp>
        <p:nvSpPr>
          <p:cNvPr id="195" name="Shape 185"/>
          <p:cNvSpPr/>
          <p:nvPr/>
        </p:nvSpPr>
        <p:spPr>
          <a:xfrm>
            <a:off x="8321040" y="3780282"/>
            <a:ext cx="502920" cy="247650"/>
          </a:xfrm>
          <a:prstGeom prst="rect">
            <a:avLst/>
          </a:prstGeom>
          <a:solidFill>
            <a:srgbClr val="8FB0D8"/>
          </a:solidFill>
          <a:ln/>
        </p:spPr>
      </p:sp>
      <p:sp>
        <p:nvSpPr>
          <p:cNvPr id="196" name="Shape 186"/>
          <p:cNvSpPr/>
          <p:nvPr/>
        </p:nvSpPr>
        <p:spPr>
          <a:xfrm>
            <a:off x="8321040" y="4027932"/>
            <a:ext cx="502920" cy="247650"/>
          </a:xfrm>
          <a:prstGeom prst="rect">
            <a:avLst/>
          </a:prstGeom>
          <a:solidFill>
            <a:srgbClr val="B9CFE8"/>
          </a:solidFill>
          <a:ln/>
        </p:spPr>
      </p:sp>
      <p:sp>
        <p:nvSpPr>
          <p:cNvPr id="197" name="Shape 187"/>
          <p:cNvSpPr/>
          <p:nvPr/>
        </p:nvSpPr>
        <p:spPr>
          <a:xfrm>
            <a:off x="8321040" y="4275582"/>
            <a:ext cx="502920" cy="49530"/>
          </a:xfrm>
          <a:prstGeom prst="rect">
            <a:avLst/>
          </a:prstGeom>
          <a:solidFill>
            <a:srgbClr val="DDE7F4"/>
          </a:solidFill>
          <a:ln/>
        </p:spPr>
      </p:sp>
      <p:sp>
        <p:nvSpPr>
          <p:cNvPr id="198" name="Shape 188"/>
          <p:cNvSpPr/>
          <p:nvPr/>
        </p:nvSpPr>
        <p:spPr>
          <a:xfrm>
            <a:off x="8961120" y="2587752"/>
            <a:ext cx="146304" cy="146304"/>
          </a:xfrm>
          <a:prstGeom prst="rect">
            <a:avLst/>
          </a:prstGeom>
          <a:solidFill>
            <a:srgbClr val="1F4A82"/>
          </a:solidFill>
          <a:ln/>
        </p:spPr>
      </p:sp>
      <p:sp>
        <p:nvSpPr>
          <p:cNvPr id="199" name="Text 189"/>
          <p:cNvSpPr txBox="1"/>
          <p:nvPr/>
        </p:nvSpPr>
        <p:spPr>
          <a:xfrm>
            <a:off x="9162288" y="2523744"/>
            <a:ext cx="2560320" cy="274320"/>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₹1.0  </a:t>
            </a:r>
            <a:pPr algn="l" indent="0" marL="0">
              <a:buNone/>
            </a:pPr>
            <a:r>
              <a:rPr lang="en-US" sz="900" dirty="0">
                <a:solidFill>
                  <a:srgbClr val="1F2937"/>
                </a:solidFill>
                <a:latin typeface="Calibri" pitchFamily="34" charset="0"/>
                <a:ea typeface="Calibri" pitchFamily="34" charset="-122"/>
                <a:cs typeface="Calibri" pitchFamily="34" charset="-120"/>
              </a:rPr>
              <a:t>WhatsApp messages</a:t>
            </a:r>
            <a:endParaRPr lang="en-US" sz="900" dirty="0"/>
          </a:p>
        </p:txBody>
      </p:sp>
      <p:sp>
        <p:nvSpPr>
          <p:cNvPr id="200" name="Shape 190"/>
          <p:cNvSpPr/>
          <p:nvPr/>
        </p:nvSpPr>
        <p:spPr>
          <a:xfrm>
            <a:off x="8961120" y="2889504"/>
            <a:ext cx="146304" cy="146304"/>
          </a:xfrm>
          <a:prstGeom prst="rect">
            <a:avLst/>
          </a:prstGeom>
          <a:solidFill>
            <a:srgbClr val="2E6DB4"/>
          </a:solidFill>
          <a:ln/>
        </p:spPr>
      </p:sp>
      <p:sp>
        <p:nvSpPr>
          <p:cNvPr id="201" name="Text 191"/>
          <p:cNvSpPr txBox="1"/>
          <p:nvPr/>
        </p:nvSpPr>
        <p:spPr>
          <a:xfrm>
            <a:off x="9162288" y="2825496"/>
            <a:ext cx="2560320" cy="274320"/>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₹0.8  </a:t>
            </a:r>
            <a:pPr algn="l" indent="0" marL="0">
              <a:buNone/>
            </a:pPr>
            <a:r>
              <a:rPr lang="en-US" sz="900" dirty="0">
                <a:solidFill>
                  <a:srgbClr val="1F2937"/>
                </a:solidFill>
                <a:latin typeface="Calibri" pitchFamily="34" charset="0"/>
                <a:ea typeface="Calibri" pitchFamily="34" charset="-122"/>
                <a:cs typeface="Calibri" pitchFamily="34" charset="-120"/>
              </a:rPr>
              <a:t>Compute and storage</a:t>
            </a:r>
            <a:endParaRPr lang="en-US" sz="900" dirty="0"/>
          </a:p>
        </p:txBody>
      </p:sp>
      <p:sp>
        <p:nvSpPr>
          <p:cNvPr id="202" name="Shape 192"/>
          <p:cNvSpPr/>
          <p:nvPr/>
        </p:nvSpPr>
        <p:spPr>
          <a:xfrm>
            <a:off x="8961120" y="3191256"/>
            <a:ext cx="146304" cy="146304"/>
          </a:xfrm>
          <a:prstGeom prst="rect">
            <a:avLst/>
          </a:prstGeom>
          <a:solidFill>
            <a:srgbClr val="5B8DC9"/>
          </a:solidFill>
          <a:ln/>
        </p:spPr>
      </p:sp>
      <p:sp>
        <p:nvSpPr>
          <p:cNvPr id="203" name="Text 193"/>
          <p:cNvSpPr txBox="1"/>
          <p:nvPr/>
        </p:nvSpPr>
        <p:spPr>
          <a:xfrm>
            <a:off x="9162288" y="3127248"/>
            <a:ext cx="2560320" cy="274320"/>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₹0.7  </a:t>
            </a:r>
            <a:pPr algn="l" indent="0" marL="0">
              <a:buNone/>
            </a:pPr>
            <a:r>
              <a:rPr lang="en-US" sz="900" dirty="0">
                <a:solidFill>
                  <a:srgbClr val="1F2937"/>
                </a:solidFill>
                <a:latin typeface="Calibri" pitchFamily="34" charset="0"/>
                <a:ea typeface="Calibri" pitchFamily="34" charset="-122"/>
                <a:cs typeface="Calibri" pitchFamily="34" charset="-120"/>
              </a:rPr>
              <a:t>AI-written reports</a:t>
            </a:r>
            <a:endParaRPr lang="en-US" sz="900" dirty="0"/>
          </a:p>
        </p:txBody>
      </p:sp>
      <p:sp>
        <p:nvSpPr>
          <p:cNvPr id="204" name="Shape 194"/>
          <p:cNvSpPr/>
          <p:nvPr/>
        </p:nvSpPr>
        <p:spPr>
          <a:xfrm>
            <a:off x="8961120" y="3493008"/>
            <a:ext cx="146304" cy="146304"/>
          </a:xfrm>
          <a:prstGeom prst="rect">
            <a:avLst/>
          </a:prstGeom>
          <a:solidFill>
            <a:srgbClr val="8FB0D8"/>
          </a:solidFill>
          <a:ln/>
        </p:spPr>
      </p:sp>
      <p:sp>
        <p:nvSpPr>
          <p:cNvPr id="205" name="Text 195"/>
          <p:cNvSpPr txBox="1"/>
          <p:nvPr/>
        </p:nvSpPr>
        <p:spPr>
          <a:xfrm>
            <a:off x="9162288" y="3429000"/>
            <a:ext cx="2560320" cy="274320"/>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₹0.5  </a:t>
            </a:r>
            <a:pPr algn="l" indent="0" marL="0">
              <a:buNone/>
            </a:pPr>
            <a:r>
              <a:rPr lang="en-US" sz="900" dirty="0">
                <a:solidFill>
                  <a:srgbClr val="1F2937"/>
                </a:solidFill>
                <a:latin typeface="Calibri" pitchFamily="34" charset="0"/>
                <a:ea typeface="Calibri" pitchFamily="34" charset="-122"/>
                <a:cs typeface="Calibri" pitchFamily="34" charset="-120"/>
              </a:rPr>
              <a:t>Servers and database</a:t>
            </a:r>
            <a:endParaRPr lang="en-US" sz="900" dirty="0"/>
          </a:p>
        </p:txBody>
      </p:sp>
      <p:sp>
        <p:nvSpPr>
          <p:cNvPr id="206" name="Shape 196"/>
          <p:cNvSpPr/>
          <p:nvPr/>
        </p:nvSpPr>
        <p:spPr>
          <a:xfrm>
            <a:off x="8961120" y="3794760"/>
            <a:ext cx="146304" cy="146304"/>
          </a:xfrm>
          <a:prstGeom prst="rect">
            <a:avLst/>
          </a:prstGeom>
          <a:solidFill>
            <a:srgbClr val="B9CFE8"/>
          </a:solidFill>
          <a:ln/>
        </p:spPr>
      </p:sp>
      <p:sp>
        <p:nvSpPr>
          <p:cNvPr id="207" name="Text 197"/>
          <p:cNvSpPr txBox="1"/>
          <p:nvPr/>
        </p:nvSpPr>
        <p:spPr>
          <a:xfrm>
            <a:off x="9162288" y="3730752"/>
            <a:ext cx="2560320" cy="274320"/>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₹0.5  </a:t>
            </a:r>
            <a:pPr algn="l" indent="0" marL="0">
              <a:buNone/>
            </a:pPr>
            <a:r>
              <a:rPr lang="en-US" sz="900" dirty="0">
                <a:solidFill>
                  <a:srgbClr val="1F2937"/>
                </a:solidFill>
                <a:latin typeface="Calibri" pitchFamily="34" charset="0"/>
                <a:ea typeface="Calibri" pitchFamily="34" charset="-122"/>
                <a:cs typeface="Calibri" pitchFamily="34" charset="-120"/>
              </a:rPr>
              <a:t>Legal and compliance</a:t>
            </a:r>
            <a:endParaRPr lang="en-US" sz="900" dirty="0"/>
          </a:p>
        </p:txBody>
      </p:sp>
      <p:sp>
        <p:nvSpPr>
          <p:cNvPr id="208" name="Shape 198"/>
          <p:cNvSpPr/>
          <p:nvPr/>
        </p:nvSpPr>
        <p:spPr>
          <a:xfrm>
            <a:off x="8961120" y="4096512"/>
            <a:ext cx="146304" cy="146304"/>
          </a:xfrm>
          <a:prstGeom prst="rect">
            <a:avLst/>
          </a:prstGeom>
          <a:solidFill>
            <a:srgbClr val="DDE7F4"/>
          </a:solidFill>
          <a:ln/>
        </p:spPr>
      </p:sp>
      <p:sp>
        <p:nvSpPr>
          <p:cNvPr id="209" name="Text 199"/>
          <p:cNvSpPr txBox="1"/>
          <p:nvPr/>
        </p:nvSpPr>
        <p:spPr>
          <a:xfrm>
            <a:off x="9162288" y="4032504"/>
            <a:ext cx="2560320" cy="274320"/>
          </a:xfrm>
          <a:prstGeom prst="rect">
            <a:avLst/>
          </a:prstGeom>
          <a:noFill/>
          <a:ln/>
        </p:spPr>
        <p:txBody>
          <a:bodyPr wrap="square" lIns="0" tIns="0" rIns="0" bIns="0" rtlCol="0" anchor="ctr"/>
          <a:lstStyle/>
          <a:p>
            <a:pPr algn="l" indent="0" marL="0">
              <a:buNone/>
            </a:pPr>
            <a:r>
              <a:rPr lang="en-US" sz="900" b="1" dirty="0">
                <a:solidFill>
                  <a:srgbClr val="17325C"/>
                </a:solidFill>
                <a:latin typeface="Calibri" pitchFamily="34" charset="0"/>
                <a:ea typeface="Calibri" pitchFamily="34" charset="-122"/>
                <a:cs typeface="Calibri" pitchFamily="34" charset="-120"/>
              </a:rPr>
              <a:t>₹0.1  </a:t>
            </a:r>
            <a:pPr algn="l" indent="0" marL="0">
              <a:buNone/>
            </a:pPr>
            <a:r>
              <a:rPr lang="en-US" sz="900" dirty="0">
                <a:solidFill>
                  <a:srgbClr val="1F2937"/>
                </a:solidFill>
                <a:latin typeface="Calibri" pitchFamily="34" charset="0"/>
                <a:ea typeface="Calibri" pitchFamily="34" charset="-122"/>
                <a:cs typeface="Calibri" pitchFamily="34" charset="-120"/>
              </a:rPr>
              <a:t>Consent checks</a:t>
            </a:r>
            <a:endParaRPr lang="en-US" sz="900" dirty="0"/>
          </a:p>
        </p:txBody>
      </p:sp>
      <p:sp>
        <p:nvSpPr>
          <p:cNvPr id="210" name="Shape 200"/>
          <p:cNvSpPr/>
          <p:nvPr/>
        </p:nvSpPr>
        <p:spPr>
          <a:xfrm>
            <a:off x="8266176" y="4434840"/>
            <a:ext cx="1325880" cy="237744"/>
          </a:xfrm>
          <a:prstGeom prst="rect">
            <a:avLst/>
          </a:prstGeom>
          <a:solidFill>
            <a:srgbClr val="1F4A82"/>
          </a:solidFill>
          <a:ln/>
        </p:spPr>
      </p:sp>
      <p:sp>
        <p:nvSpPr>
          <p:cNvPr id="211" name="Text 201"/>
          <p:cNvSpPr txBox="1"/>
          <p:nvPr/>
        </p:nvSpPr>
        <p:spPr>
          <a:xfrm>
            <a:off x="8311896" y="4434840"/>
            <a:ext cx="1234440" cy="237744"/>
          </a:xfrm>
          <a:prstGeom prst="rect">
            <a:avLst/>
          </a:prstGeom>
          <a:noFill/>
          <a:ln/>
        </p:spPr>
        <p:txBody>
          <a:bodyPr wrap="square" lIns="0" tIns="0" rIns="0" bIns="0"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Per institute</a:t>
            </a:r>
            <a:endParaRPr lang="en-US" sz="850" dirty="0"/>
          </a:p>
        </p:txBody>
      </p:sp>
      <p:sp>
        <p:nvSpPr>
          <p:cNvPr id="212" name="Shape 202"/>
          <p:cNvSpPr/>
          <p:nvPr/>
        </p:nvSpPr>
        <p:spPr>
          <a:xfrm>
            <a:off x="9592056" y="4434840"/>
            <a:ext cx="731520" cy="237744"/>
          </a:xfrm>
          <a:prstGeom prst="rect">
            <a:avLst/>
          </a:prstGeom>
          <a:solidFill>
            <a:srgbClr val="5B6573"/>
          </a:solidFill>
          <a:ln/>
        </p:spPr>
      </p:sp>
      <p:sp>
        <p:nvSpPr>
          <p:cNvPr id="213" name="Text 203"/>
          <p:cNvSpPr txBox="1"/>
          <p:nvPr/>
        </p:nvSpPr>
        <p:spPr>
          <a:xfrm>
            <a:off x="9637776" y="4434840"/>
            <a:ext cx="64008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Guide</a:t>
            </a:r>
            <a:endParaRPr lang="en-US" sz="850" dirty="0"/>
          </a:p>
        </p:txBody>
      </p:sp>
      <p:sp>
        <p:nvSpPr>
          <p:cNvPr id="214" name="Shape 204"/>
          <p:cNvSpPr/>
          <p:nvPr/>
        </p:nvSpPr>
        <p:spPr>
          <a:xfrm>
            <a:off x="10323576" y="4434840"/>
            <a:ext cx="1399032" cy="237744"/>
          </a:xfrm>
          <a:prstGeom prst="rect">
            <a:avLst/>
          </a:prstGeom>
          <a:solidFill>
            <a:srgbClr val="1F4A82"/>
          </a:solidFill>
          <a:ln/>
        </p:spPr>
      </p:sp>
      <p:sp>
        <p:nvSpPr>
          <p:cNvPr id="215" name="Text 205"/>
          <p:cNvSpPr txBox="1"/>
          <p:nvPr/>
        </p:nvSpPr>
        <p:spPr>
          <a:xfrm>
            <a:off x="10369296" y="4434840"/>
            <a:ext cx="130759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Pragati</a:t>
            </a:r>
            <a:endParaRPr lang="en-US" sz="850" dirty="0"/>
          </a:p>
        </p:txBody>
      </p:sp>
      <p:sp>
        <p:nvSpPr>
          <p:cNvPr id="216" name="Shape 206"/>
          <p:cNvSpPr/>
          <p:nvPr/>
        </p:nvSpPr>
        <p:spPr>
          <a:xfrm>
            <a:off x="8266176" y="4672584"/>
            <a:ext cx="1325880" cy="237744"/>
          </a:xfrm>
          <a:prstGeom prst="rect">
            <a:avLst/>
          </a:prstGeom>
          <a:solidFill>
            <a:srgbClr val="F1F7F3"/>
          </a:solidFill>
          <a:ln/>
        </p:spPr>
      </p:sp>
      <p:sp>
        <p:nvSpPr>
          <p:cNvPr id="217" name="Text 207"/>
          <p:cNvSpPr txBox="1"/>
          <p:nvPr/>
        </p:nvSpPr>
        <p:spPr>
          <a:xfrm>
            <a:off x="8311896" y="4672584"/>
            <a:ext cx="1234440" cy="237744"/>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LTV ÷ CAC</a:t>
            </a:r>
            <a:endParaRPr lang="en-US" sz="850" dirty="0"/>
          </a:p>
        </p:txBody>
      </p:sp>
      <p:sp>
        <p:nvSpPr>
          <p:cNvPr id="218" name="Shape 208"/>
          <p:cNvSpPr/>
          <p:nvPr/>
        </p:nvSpPr>
        <p:spPr>
          <a:xfrm>
            <a:off x="9592056" y="4672584"/>
            <a:ext cx="731520" cy="237744"/>
          </a:xfrm>
          <a:prstGeom prst="rect">
            <a:avLst/>
          </a:prstGeom>
          <a:solidFill>
            <a:srgbClr val="F1F7F3"/>
          </a:solidFill>
          <a:ln/>
        </p:spPr>
      </p:sp>
      <p:sp>
        <p:nvSpPr>
          <p:cNvPr id="219" name="Text 209"/>
          <p:cNvSpPr txBox="1"/>
          <p:nvPr/>
        </p:nvSpPr>
        <p:spPr>
          <a:xfrm>
            <a:off x="9637776" y="4672584"/>
            <a:ext cx="640080"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10.7x</a:t>
            </a:r>
            <a:endParaRPr lang="en-US" sz="850" dirty="0"/>
          </a:p>
        </p:txBody>
      </p:sp>
      <p:sp>
        <p:nvSpPr>
          <p:cNvPr id="220" name="Shape 210"/>
          <p:cNvSpPr/>
          <p:nvPr/>
        </p:nvSpPr>
        <p:spPr>
          <a:xfrm>
            <a:off x="10323576" y="4672584"/>
            <a:ext cx="1399032" cy="237744"/>
          </a:xfrm>
          <a:prstGeom prst="rect">
            <a:avLst/>
          </a:prstGeom>
          <a:solidFill>
            <a:srgbClr val="F1F7F3"/>
          </a:solidFill>
          <a:ln/>
        </p:spPr>
      </p:sp>
      <p:sp>
        <p:nvSpPr>
          <p:cNvPr id="221" name="Text 211"/>
          <p:cNvSpPr txBox="1"/>
          <p:nvPr/>
        </p:nvSpPr>
        <p:spPr>
          <a:xfrm>
            <a:off x="10369296" y="4672584"/>
            <a:ext cx="1307592" cy="237744"/>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3.6x</a:t>
            </a:r>
            <a:endParaRPr lang="en-US" sz="850" dirty="0"/>
          </a:p>
        </p:txBody>
      </p:sp>
      <p:sp>
        <p:nvSpPr>
          <p:cNvPr id="222" name="Shape 212"/>
          <p:cNvSpPr/>
          <p:nvPr/>
        </p:nvSpPr>
        <p:spPr>
          <a:xfrm>
            <a:off x="8266176" y="4910328"/>
            <a:ext cx="3456432" cy="0"/>
          </a:xfrm>
          <a:prstGeom prst="line">
            <a:avLst/>
          </a:prstGeom>
          <a:noFill/>
          <a:ln w="6350">
            <a:solidFill>
              <a:srgbClr val="E3E8E4"/>
            </a:solidFill>
            <a:prstDash val="solid"/>
          </a:ln>
        </p:spPr>
      </p:sp>
      <p:sp>
        <p:nvSpPr>
          <p:cNvPr id="223" name="Shape 213"/>
          <p:cNvSpPr/>
          <p:nvPr/>
        </p:nvSpPr>
        <p:spPr>
          <a:xfrm>
            <a:off x="8266176" y="4910328"/>
            <a:ext cx="1325880" cy="237744"/>
          </a:xfrm>
          <a:prstGeom prst="rect">
            <a:avLst/>
          </a:prstGeom>
          <a:solidFill>
            <a:srgbClr val="FFFFFF"/>
          </a:solidFill>
          <a:ln/>
        </p:spPr>
      </p:sp>
      <p:sp>
        <p:nvSpPr>
          <p:cNvPr id="224" name="Text 214"/>
          <p:cNvSpPr txBox="1"/>
          <p:nvPr/>
        </p:nvSpPr>
        <p:spPr>
          <a:xfrm>
            <a:off x="8311896" y="4910328"/>
            <a:ext cx="1234440" cy="237744"/>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Payback</a:t>
            </a:r>
            <a:endParaRPr lang="en-US" sz="850" dirty="0"/>
          </a:p>
        </p:txBody>
      </p:sp>
      <p:sp>
        <p:nvSpPr>
          <p:cNvPr id="225" name="Shape 215"/>
          <p:cNvSpPr/>
          <p:nvPr/>
        </p:nvSpPr>
        <p:spPr>
          <a:xfrm>
            <a:off x="9592056" y="4910328"/>
            <a:ext cx="731520" cy="237744"/>
          </a:xfrm>
          <a:prstGeom prst="rect">
            <a:avLst/>
          </a:prstGeom>
          <a:solidFill>
            <a:srgbClr val="FFFFFF"/>
          </a:solidFill>
          <a:ln/>
        </p:spPr>
      </p:sp>
      <p:sp>
        <p:nvSpPr>
          <p:cNvPr id="226" name="Text 216"/>
          <p:cNvSpPr txBox="1"/>
          <p:nvPr/>
        </p:nvSpPr>
        <p:spPr>
          <a:xfrm>
            <a:off x="9637776" y="4910328"/>
            <a:ext cx="640080"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3.1 mo</a:t>
            </a:r>
            <a:endParaRPr lang="en-US" sz="850" dirty="0"/>
          </a:p>
        </p:txBody>
      </p:sp>
      <p:sp>
        <p:nvSpPr>
          <p:cNvPr id="227" name="Shape 217"/>
          <p:cNvSpPr/>
          <p:nvPr/>
        </p:nvSpPr>
        <p:spPr>
          <a:xfrm>
            <a:off x="10323576" y="4910328"/>
            <a:ext cx="1399032" cy="237744"/>
          </a:xfrm>
          <a:prstGeom prst="rect">
            <a:avLst/>
          </a:prstGeom>
          <a:solidFill>
            <a:srgbClr val="FFFFFF"/>
          </a:solidFill>
          <a:ln/>
        </p:spPr>
      </p:sp>
      <p:sp>
        <p:nvSpPr>
          <p:cNvPr id="228" name="Text 218"/>
          <p:cNvSpPr txBox="1"/>
          <p:nvPr/>
        </p:nvSpPr>
        <p:spPr>
          <a:xfrm>
            <a:off x="10369296" y="4910328"/>
            <a:ext cx="1307592" cy="237744"/>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5.7 mo</a:t>
            </a:r>
            <a:endParaRPr lang="en-US" sz="850" dirty="0"/>
          </a:p>
        </p:txBody>
      </p:sp>
      <p:sp>
        <p:nvSpPr>
          <p:cNvPr id="229" name="Shape 219"/>
          <p:cNvSpPr/>
          <p:nvPr/>
        </p:nvSpPr>
        <p:spPr>
          <a:xfrm>
            <a:off x="8266176" y="5148072"/>
            <a:ext cx="3456432" cy="0"/>
          </a:xfrm>
          <a:prstGeom prst="line">
            <a:avLst/>
          </a:prstGeom>
          <a:noFill/>
          <a:ln w="6350">
            <a:solidFill>
              <a:srgbClr val="E3E8E4"/>
            </a:solidFill>
            <a:prstDash val="solid"/>
          </a:ln>
        </p:spPr>
      </p:sp>
      <p:sp>
        <p:nvSpPr>
          <p:cNvPr id="230" name="Shape 220"/>
          <p:cNvSpPr/>
          <p:nvPr/>
        </p:nvSpPr>
        <p:spPr>
          <a:xfrm>
            <a:off x="8266176" y="5148072"/>
            <a:ext cx="1325880" cy="237744"/>
          </a:xfrm>
          <a:prstGeom prst="rect">
            <a:avLst/>
          </a:prstGeom>
          <a:solidFill>
            <a:srgbClr val="F1F7F3"/>
          </a:solidFill>
          <a:ln/>
        </p:spPr>
      </p:sp>
      <p:sp>
        <p:nvSpPr>
          <p:cNvPr id="231" name="Text 221"/>
          <p:cNvSpPr txBox="1"/>
          <p:nvPr/>
        </p:nvSpPr>
        <p:spPr>
          <a:xfrm>
            <a:off x="8311896" y="5148072"/>
            <a:ext cx="1234440" cy="237744"/>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CAC, sales</a:t>
            </a:r>
            <a:endParaRPr lang="en-US" sz="850" dirty="0"/>
          </a:p>
        </p:txBody>
      </p:sp>
      <p:sp>
        <p:nvSpPr>
          <p:cNvPr id="232" name="Shape 222"/>
          <p:cNvSpPr/>
          <p:nvPr/>
        </p:nvSpPr>
        <p:spPr>
          <a:xfrm>
            <a:off x="9592056" y="5148072"/>
            <a:ext cx="731520" cy="237744"/>
          </a:xfrm>
          <a:prstGeom prst="rect">
            <a:avLst/>
          </a:prstGeom>
          <a:solidFill>
            <a:srgbClr val="F1F7F3"/>
          </a:solidFill>
          <a:ln/>
        </p:spPr>
      </p:sp>
      <p:sp>
        <p:nvSpPr>
          <p:cNvPr id="233" name="Text 223"/>
          <p:cNvSpPr txBox="1"/>
          <p:nvPr/>
        </p:nvSpPr>
        <p:spPr>
          <a:xfrm>
            <a:off x="9637776" y="5148072"/>
            <a:ext cx="640080"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₹25,000</a:t>
            </a:r>
            <a:endParaRPr lang="en-US" sz="850" dirty="0"/>
          </a:p>
        </p:txBody>
      </p:sp>
      <p:sp>
        <p:nvSpPr>
          <p:cNvPr id="234" name="Shape 224"/>
          <p:cNvSpPr/>
          <p:nvPr/>
        </p:nvSpPr>
        <p:spPr>
          <a:xfrm>
            <a:off x="10323576" y="5148072"/>
            <a:ext cx="1399032" cy="237744"/>
          </a:xfrm>
          <a:prstGeom prst="rect">
            <a:avLst/>
          </a:prstGeom>
          <a:solidFill>
            <a:srgbClr val="F1F7F3"/>
          </a:solidFill>
          <a:ln/>
        </p:spPr>
      </p:sp>
      <p:sp>
        <p:nvSpPr>
          <p:cNvPr id="235" name="Text 225"/>
          <p:cNvSpPr txBox="1"/>
          <p:nvPr/>
        </p:nvSpPr>
        <p:spPr>
          <a:xfrm>
            <a:off x="10369296" y="5148072"/>
            <a:ext cx="1307592" cy="237744"/>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₹15,567</a:t>
            </a:r>
            <a:endParaRPr lang="en-US" sz="850" dirty="0"/>
          </a:p>
        </p:txBody>
      </p:sp>
      <p:sp>
        <p:nvSpPr>
          <p:cNvPr id="236" name="Shape 226"/>
          <p:cNvSpPr/>
          <p:nvPr/>
        </p:nvSpPr>
        <p:spPr>
          <a:xfrm>
            <a:off x="8266176" y="5385816"/>
            <a:ext cx="3456432" cy="0"/>
          </a:xfrm>
          <a:prstGeom prst="line">
            <a:avLst/>
          </a:prstGeom>
          <a:noFill/>
          <a:ln w="6350">
            <a:solidFill>
              <a:srgbClr val="E3E8E4"/>
            </a:solidFill>
            <a:prstDash val="solid"/>
          </a:ln>
        </p:spPr>
      </p:sp>
      <p:sp>
        <p:nvSpPr>
          <p:cNvPr id="237" name="Shape 227"/>
          <p:cNvSpPr/>
          <p:nvPr/>
        </p:nvSpPr>
        <p:spPr>
          <a:xfrm>
            <a:off x="8266176" y="5385816"/>
            <a:ext cx="1325880" cy="237744"/>
          </a:xfrm>
          <a:prstGeom prst="rect">
            <a:avLst/>
          </a:prstGeom>
          <a:solidFill>
            <a:srgbClr val="FFFFFF"/>
          </a:solidFill>
          <a:ln/>
        </p:spPr>
      </p:sp>
      <p:sp>
        <p:nvSpPr>
          <p:cNvPr id="238" name="Text 228"/>
          <p:cNvSpPr txBox="1"/>
          <p:nvPr/>
        </p:nvSpPr>
        <p:spPr>
          <a:xfrm>
            <a:off x="8311896" y="5385816"/>
            <a:ext cx="1234440" cy="237744"/>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Logo retention</a:t>
            </a:r>
            <a:endParaRPr lang="en-US" sz="850" dirty="0"/>
          </a:p>
        </p:txBody>
      </p:sp>
      <p:sp>
        <p:nvSpPr>
          <p:cNvPr id="239" name="Shape 229"/>
          <p:cNvSpPr/>
          <p:nvPr/>
        </p:nvSpPr>
        <p:spPr>
          <a:xfrm>
            <a:off x="9592056" y="5385816"/>
            <a:ext cx="731520" cy="237744"/>
          </a:xfrm>
          <a:prstGeom prst="rect">
            <a:avLst/>
          </a:prstGeom>
          <a:solidFill>
            <a:srgbClr val="FFFFFF"/>
          </a:solidFill>
          <a:ln/>
        </p:spPr>
      </p:sp>
      <p:sp>
        <p:nvSpPr>
          <p:cNvPr id="240" name="Text 230"/>
          <p:cNvSpPr txBox="1"/>
          <p:nvPr/>
        </p:nvSpPr>
        <p:spPr>
          <a:xfrm>
            <a:off x="9637776" y="5385816"/>
            <a:ext cx="640080"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69 %</a:t>
            </a:r>
            <a:endParaRPr lang="en-US" sz="850" dirty="0"/>
          </a:p>
        </p:txBody>
      </p:sp>
      <p:sp>
        <p:nvSpPr>
          <p:cNvPr id="241" name="Shape 231"/>
          <p:cNvSpPr/>
          <p:nvPr/>
        </p:nvSpPr>
        <p:spPr>
          <a:xfrm>
            <a:off x="10323576" y="5385816"/>
            <a:ext cx="1399032" cy="237744"/>
          </a:xfrm>
          <a:prstGeom prst="rect">
            <a:avLst/>
          </a:prstGeom>
          <a:solidFill>
            <a:srgbClr val="FFFFFF"/>
          </a:solidFill>
          <a:ln/>
        </p:spPr>
      </p:sp>
      <p:sp>
        <p:nvSpPr>
          <p:cNvPr id="242" name="Text 232"/>
          <p:cNvSpPr txBox="1"/>
          <p:nvPr/>
        </p:nvSpPr>
        <p:spPr>
          <a:xfrm>
            <a:off x="10369296" y="5385816"/>
            <a:ext cx="1307592" cy="237744"/>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64 %</a:t>
            </a:r>
            <a:endParaRPr lang="en-US" sz="850" dirty="0"/>
          </a:p>
        </p:txBody>
      </p:sp>
      <p:sp>
        <p:nvSpPr>
          <p:cNvPr id="243" name="Shape 233"/>
          <p:cNvSpPr/>
          <p:nvPr/>
        </p:nvSpPr>
        <p:spPr>
          <a:xfrm>
            <a:off x="8266176" y="5623560"/>
            <a:ext cx="3456432" cy="0"/>
          </a:xfrm>
          <a:prstGeom prst="line">
            <a:avLst/>
          </a:prstGeom>
          <a:noFill/>
          <a:ln w="6350">
            <a:solidFill>
              <a:srgbClr val="E3E8E4"/>
            </a:solidFill>
            <a:prstDash val="solid"/>
          </a:ln>
        </p:spPr>
      </p:sp>
      <p:sp>
        <p:nvSpPr>
          <p:cNvPr id="244" name="Shape 234"/>
          <p:cNvSpPr/>
          <p:nvPr/>
        </p:nvSpPr>
        <p:spPr>
          <a:xfrm>
            <a:off x="8284464" y="5596128"/>
            <a:ext cx="877824" cy="164592"/>
          </a:xfrm>
          <a:prstGeom prst="roundRect">
            <a:avLst>
              <a:gd name="adj" fmla="val 50000"/>
            </a:avLst>
          </a:prstGeom>
          <a:solidFill>
            <a:srgbClr val="FFFFFF"/>
          </a:solidFill>
          <a:ln w="12700">
            <a:solidFill>
              <a:srgbClr val="5B6573"/>
            </a:solidFill>
            <a:prstDash val="solid"/>
          </a:ln>
        </p:spPr>
      </p:sp>
      <p:sp>
        <p:nvSpPr>
          <p:cNvPr id="245" name="Text 235"/>
          <p:cNvSpPr txBox="1"/>
          <p:nvPr/>
        </p:nvSpPr>
        <p:spPr>
          <a:xfrm>
            <a:off x="8284464" y="5596128"/>
            <a:ext cx="877824" cy="164592"/>
          </a:xfrm>
          <a:prstGeom prst="rect">
            <a:avLst/>
          </a:prstGeom>
          <a:noFill/>
          <a:ln/>
        </p:spPr>
        <p:txBody>
          <a:bodyPr wrap="square" lIns="0" tIns="0" rIns="0" bIns="0" rtlCol="0" anchor="ctr"/>
          <a:lstStyle/>
          <a:p>
            <a:pPr algn="ctr" indent="0" marL="0">
              <a:buNone/>
            </a:pPr>
            <a:r>
              <a:rPr lang="en-US" sz="700" b="1" spc="100" kern="0" dirty="0">
                <a:solidFill>
                  <a:srgbClr val="5B6573"/>
                </a:solidFill>
                <a:latin typeface="Calibri" pitchFamily="34" charset="0"/>
                <a:ea typeface="Calibri" pitchFamily="34" charset="-122"/>
                <a:cs typeface="Calibri" pitchFamily="34" charset="-120"/>
              </a:rPr>
              <a:t>MODEL OUTPUT</a:t>
            </a:r>
            <a:endParaRPr lang="en-US" sz="700" dirty="0"/>
          </a:p>
        </p:txBody>
      </p:sp>
      <p:sp>
        <p:nvSpPr>
          <p:cNvPr id="246" name="Shape 236"/>
          <p:cNvSpPr/>
          <p:nvPr/>
        </p:nvSpPr>
        <p:spPr>
          <a:xfrm>
            <a:off x="411480" y="5916168"/>
            <a:ext cx="11368735" cy="457200"/>
          </a:xfrm>
          <a:prstGeom prst="rect">
            <a:avLst/>
          </a:prstGeom>
          <a:solidFill>
            <a:srgbClr val="1F4A82"/>
          </a:solidFill>
          <a:ln/>
        </p:spPr>
      </p:sp>
      <p:sp>
        <p:nvSpPr>
          <p:cNvPr id="247" name="Text 237"/>
          <p:cNvSpPr txBox="1"/>
          <p:nvPr/>
        </p:nvSpPr>
        <p:spPr>
          <a:xfrm>
            <a:off x="548640" y="5916168"/>
            <a:ext cx="11094415" cy="45720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Our base case is deliberately below the guide's: </a:t>
            </a:r>
            <a:pPr algn="ctr" indent="0" marL="0">
              <a:buNone/>
            </a:pPr>
            <a:r>
              <a:rPr lang="en-US" sz="1100" b="1" dirty="0">
                <a:solidFill>
                  <a:srgbClr val="F1D9A0"/>
                </a:solidFill>
                <a:latin typeface="Calibri" pitchFamily="34" charset="0"/>
                <a:ea typeface="Calibri" pitchFamily="34" charset="-122"/>
                <a:cs typeface="Calibri" pitchFamily="34" charset="-120"/>
              </a:rPr>
              <a:t>4.0 % not 25 %, ₹30 not ₹40, 3.6x not 10.7x.</a:t>
            </a:r>
            <a:pPr algn="ctr" indent="0" marL="0">
              <a:buNone/>
            </a:pPr>
            <a:r>
              <a:rPr lang="en-US" sz="1100" dirty="0">
                <a:solidFill>
                  <a:srgbClr val="FFFFFF"/>
                </a:solidFill>
                <a:latin typeface="Calibri" pitchFamily="34" charset="0"/>
                <a:ea typeface="Calibri" pitchFamily="34" charset="-122"/>
                <a:cs typeface="Calibri" pitchFamily="34" charset="-120"/>
              </a:rPr>
              <a:t> It breaks even if it keeps 5.5 students a year or wins 1.5 extra admissions.</a:t>
            </a:r>
            <a:endParaRPr lang="en-US" sz="1100" dirty="0"/>
          </a:p>
        </p:txBody>
      </p:sp>
      <p:sp>
        <p:nvSpPr>
          <p:cNvPr id="248" name="Text 238"/>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financial model v1.1 (Mid institute, 400 students, Base; CFO audit 22 Oct 2026). Model output from sourced and assumed inputs, not measured; willingness to pay is untested. ₹3.6 = all-in cost to serve.</a:t>
            </a:r>
            <a:endParaRPr lang="en-US" sz="850" dirty="0"/>
          </a:p>
        </p:txBody>
      </p:sp>
      <p:pic>
        <p:nvPicPr>
          <p:cNvPr id="249" name="Image 7" descr="hand-drawn circle_c">    </p:cNvPr>
          <p:cNvPicPr>
            <a:picLocks noChangeAspect="1"/>
          </p:cNvPicPr>
          <p:nvPr/>
        </p:nvPicPr>
        <p:blipFill>
          <a:blip r:embed="rId8"/>
          <a:stretch>
            <a:fillRect/>
          </a:stretch>
        </p:blipFill>
        <p:spPr>
          <a:xfrm>
            <a:off x="347472" y="1078992"/>
            <a:ext cx="1554480" cy="713232"/>
          </a:xfrm>
          <a:prstGeom prst="rect">
            <a:avLst/>
          </a:prstGeom>
        </p:spPr>
      </p:pic>
      <p:pic>
        <p:nvPicPr>
          <p:cNvPr id="250" name="Image 8" descr="owner cursor">    </p:cNvPr>
          <p:cNvPicPr>
            <a:picLocks noChangeAspect="1"/>
          </p:cNvPicPr>
          <p:nvPr/>
        </p:nvPicPr>
        <p:blipFill>
          <a:blip r:embed="rId9"/>
          <a:stretch>
            <a:fillRect/>
          </a:stretch>
        </p:blipFill>
        <p:spPr>
          <a:xfrm>
            <a:off x="10881360" y="1463040"/>
            <a:ext cx="777240" cy="329184"/>
          </a:xfrm>
          <a:prstGeom prst="rect">
            <a:avLst/>
          </a:prstGeom>
        </p:spPr>
      </p:pic>
      <p:pic>
        <p:nvPicPr>
          <p:cNvPr id="252" name="Image 9" descr="FaClipboardList icon">    </p:cNvPr>
          <p:cNvPicPr>
            <a:picLocks noChangeAspect="1"/>
          </p:cNvPicPr>
          <p:nvPr/>
        </p:nvPicPr>
        <p:blipFill>
          <a:blip r:embed="rId10"/>
          <a:stretch>
            <a:fillRect/>
          </a:stretch>
        </p:blipFill>
        <p:spPr>
          <a:xfrm>
            <a:off x="521208" y="100584"/>
            <a:ext cx="182880" cy="182880"/>
          </a:xfrm>
          <a:prstGeom prst="rect">
            <a:avLst/>
          </a:prstGeom>
        </p:spPr>
      </p:pic>
      <p:pic>
        <p:nvPicPr>
          <p:cNvPr id="253" name="Image 10" descr="FaTriangleExclamation icon">    </p:cNvPr>
          <p:cNvPicPr>
            <a:picLocks noChangeAspect="1"/>
          </p:cNvPicPr>
          <p:nvPr/>
        </p:nvPicPr>
        <p:blipFill>
          <a:blip r:embed="rId11"/>
          <a:stretch>
            <a:fillRect/>
          </a:stretch>
        </p:blipFill>
        <p:spPr>
          <a:xfrm>
            <a:off x="2084032" y="100584"/>
            <a:ext cx="182880" cy="182880"/>
          </a:xfrm>
          <a:prstGeom prst="rect">
            <a:avLst/>
          </a:prstGeom>
        </p:spPr>
      </p:pic>
      <p:pic>
        <p:nvPicPr>
          <p:cNvPr id="254" name="Image 11" descr="FaMobileScreen icon">    </p:cNvPr>
          <p:cNvPicPr>
            <a:picLocks noChangeAspect="1"/>
          </p:cNvPicPr>
          <p:nvPr/>
        </p:nvPicPr>
        <p:blipFill>
          <a:blip r:embed="rId12"/>
          <a:stretch>
            <a:fillRect/>
          </a:stretch>
        </p:blipFill>
        <p:spPr>
          <a:xfrm>
            <a:off x="3482264" y="100584"/>
            <a:ext cx="182880" cy="182880"/>
          </a:xfrm>
          <a:prstGeom prst="rect">
            <a:avLst/>
          </a:prstGeom>
        </p:spPr>
      </p:pic>
      <p:pic>
        <p:nvPicPr>
          <p:cNvPr id="255" name="Image 12" descr="FaGears icon">    </p:cNvPr>
          <p:cNvPicPr>
            <a:picLocks noChangeAspect="1"/>
          </p:cNvPicPr>
          <p:nvPr/>
        </p:nvPicPr>
        <p:blipFill>
          <a:blip r:embed="rId13"/>
          <a:stretch>
            <a:fillRect/>
          </a:stretch>
        </p:blipFill>
        <p:spPr>
          <a:xfrm>
            <a:off x="4880496" y="100584"/>
            <a:ext cx="182880" cy="182880"/>
          </a:xfrm>
          <a:prstGeom prst="rect">
            <a:avLst/>
          </a:prstGeom>
        </p:spPr>
      </p:pic>
      <p:pic>
        <p:nvPicPr>
          <p:cNvPr id="256" name="Image 13" descr="FaShieldHalved icon">    </p:cNvPr>
          <p:cNvPicPr>
            <a:picLocks noChangeAspect="1"/>
          </p:cNvPicPr>
          <p:nvPr/>
        </p:nvPicPr>
        <p:blipFill>
          <a:blip r:embed="rId14"/>
          <a:stretch>
            <a:fillRect/>
          </a:stretch>
        </p:blipFill>
        <p:spPr>
          <a:xfrm>
            <a:off x="6278728" y="100584"/>
            <a:ext cx="182880" cy="182880"/>
          </a:xfrm>
          <a:prstGeom prst="rect">
            <a:avLst/>
          </a:prstGeom>
        </p:spPr>
      </p:pic>
      <p:pic>
        <p:nvPicPr>
          <p:cNvPr id="257" name="Image 14" descr="FaBullseye icon">    </p:cNvPr>
          <p:cNvPicPr>
            <a:picLocks noChangeAspect="1"/>
          </p:cNvPicPr>
          <p:nvPr/>
        </p:nvPicPr>
        <p:blipFill>
          <a:blip r:embed="rId15"/>
          <a:stretch>
            <a:fillRect/>
          </a:stretch>
        </p:blipFill>
        <p:spPr>
          <a:xfrm>
            <a:off x="9075191" y="100584"/>
            <a:ext cx="182880" cy="182880"/>
          </a:xfrm>
          <a:prstGeom prst="rect">
            <a:avLst/>
          </a:prstGeom>
        </p:spPr>
      </p:pic>
      <p:pic>
        <p:nvPicPr>
          <p:cNvPr id="258" name="Image 15" descr="FaBookOpen icon">    </p:cNvPr>
          <p:cNvPicPr>
            <a:picLocks noChangeAspect="1"/>
          </p:cNvPicPr>
          <p:nvPr/>
        </p:nvPicPr>
        <p:blipFill>
          <a:blip r:embed="rId16"/>
          <a:stretch>
            <a:fillRect/>
          </a:stretch>
        </p:blipFill>
        <p:spPr>
          <a:xfrm>
            <a:off x="10473423"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D4A24C"/>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globe">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GO-TO-MARKET, MOAT AND ROADMAP</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Start in Patna with a free trial on last year's Excel, then grow city by city; the shared question bank is the moat</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2468880" y="1115568"/>
            <a:ext cx="3102864" cy="182880"/>
          </a:xfrm>
          <a:prstGeom prst="rect">
            <a:avLst/>
          </a:prstGeom>
          <a:solidFill>
            <a:srgbClr val="17325C"/>
          </a:solidFill>
          <a:ln/>
        </p:spPr>
      </p:sp>
      <p:sp>
        <p:nvSpPr>
          <p:cNvPr id="26" name="Text 22"/>
          <p:cNvSpPr txBox="1"/>
          <p:nvPr/>
        </p:nvSpPr>
        <p:spPr>
          <a:xfrm>
            <a:off x="2468880" y="1115568"/>
            <a:ext cx="3102864"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FY27</a:t>
            </a:r>
            <a:endParaRPr lang="en-US" sz="850" dirty="0"/>
          </a:p>
        </p:txBody>
      </p:sp>
      <p:sp>
        <p:nvSpPr>
          <p:cNvPr id="27" name="Shape 23"/>
          <p:cNvSpPr/>
          <p:nvPr/>
        </p:nvSpPr>
        <p:spPr>
          <a:xfrm>
            <a:off x="5571744" y="1115568"/>
            <a:ext cx="6205728" cy="182880"/>
          </a:xfrm>
          <a:prstGeom prst="rect">
            <a:avLst/>
          </a:prstGeom>
          <a:solidFill>
            <a:srgbClr val="1F4A82"/>
          </a:solidFill>
          <a:ln/>
        </p:spPr>
      </p:sp>
      <p:sp>
        <p:nvSpPr>
          <p:cNvPr id="28" name="Text 24"/>
          <p:cNvSpPr txBox="1"/>
          <p:nvPr/>
        </p:nvSpPr>
        <p:spPr>
          <a:xfrm>
            <a:off x="5571744" y="1115568"/>
            <a:ext cx="6205728"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FY28</a:t>
            </a:r>
            <a:endParaRPr lang="en-US" sz="850" dirty="0"/>
          </a:p>
        </p:txBody>
      </p:sp>
      <p:sp>
        <p:nvSpPr>
          <p:cNvPr id="29" name="Shape 25"/>
          <p:cNvSpPr/>
          <p:nvPr/>
        </p:nvSpPr>
        <p:spPr>
          <a:xfrm>
            <a:off x="2468880" y="1298448"/>
            <a:ext cx="1533144" cy="201168"/>
          </a:xfrm>
          <a:prstGeom prst="rect">
            <a:avLst/>
          </a:prstGeom>
          <a:solidFill>
            <a:srgbClr val="E3ECF7"/>
          </a:solidFill>
          <a:ln/>
        </p:spPr>
      </p:sp>
      <p:sp>
        <p:nvSpPr>
          <p:cNvPr id="30" name="Text 26"/>
          <p:cNvSpPr txBox="1"/>
          <p:nvPr/>
        </p:nvSpPr>
        <p:spPr>
          <a:xfrm>
            <a:off x="2468880" y="1298448"/>
            <a:ext cx="1551432" cy="201168"/>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Oct–Dec 26</a:t>
            </a:r>
            <a:endParaRPr lang="en-US" sz="850" dirty="0"/>
          </a:p>
        </p:txBody>
      </p:sp>
      <p:sp>
        <p:nvSpPr>
          <p:cNvPr id="31" name="Shape 27"/>
          <p:cNvSpPr/>
          <p:nvPr/>
        </p:nvSpPr>
        <p:spPr>
          <a:xfrm>
            <a:off x="4020312" y="1298448"/>
            <a:ext cx="1533144" cy="201168"/>
          </a:xfrm>
          <a:prstGeom prst="rect">
            <a:avLst/>
          </a:prstGeom>
          <a:solidFill>
            <a:srgbClr val="E3ECF7"/>
          </a:solidFill>
          <a:ln/>
        </p:spPr>
      </p:sp>
      <p:sp>
        <p:nvSpPr>
          <p:cNvPr id="32" name="Text 28"/>
          <p:cNvSpPr txBox="1"/>
          <p:nvPr/>
        </p:nvSpPr>
        <p:spPr>
          <a:xfrm>
            <a:off x="4020312" y="1298448"/>
            <a:ext cx="1551432" cy="201168"/>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Jan–Mar 27</a:t>
            </a:r>
            <a:endParaRPr lang="en-US" sz="850" dirty="0"/>
          </a:p>
        </p:txBody>
      </p:sp>
      <p:sp>
        <p:nvSpPr>
          <p:cNvPr id="33" name="Shape 29"/>
          <p:cNvSpPr/>
          <p:nvPr/>
        </p:nvSpPr>
        <p:spPr>
          <a:xfrm>
            <a:off x="5571744" y="1298448"/>
            <a:ext cx="1533144" cy="201168"/>
          </a:xfrm>
          <a:prstGeom prst="rect">
            <a:avLst/>
          </a:prstGeom>
          <a:solidFill>
            <a:srgbClr val="E3ECF7"/>
          </a:solidFill>
          <a:ln/>
        </p:spPr>
      </p:sp>
      <p:sp>
        <p:nvSpPr>
          <p:cNvPr id="34" name="Text 30"/>
          <p:cNvSpPr txBox="1"/>
          <p:nvPr/>
        </p:nvSpPr>
        <p:spPr>
          <a:xfrm>
            <a:off x="5571744" y="1298448"/>
            <a:ext cx="1551432" cy="201168"/>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Apr–Jun 27</a:t>
            </a:r>
            <a:endParaRPr lang="en-US" sz="850" dirty="0"/>
          </a:p>
        </p:txBody>
      </p:sp>
      <p:sp>
        <p:nvSpPr>
          <p:cNvPr id="35" name="Shape 31"/>
          <p:cNvSpPr/>
          <p:nvPr/>
        </p:nvSpPr>
        <p:spPr>
          <a:xfrm>
            <a:off x="7123176" y="1298448"/>
            <a:ext cx="1533144" cy="201168"/>
          </a:xfrm>
          <a:prstGeom prst="rect">
            <a:avLst/>
          </a:prstGeom>
          <a:solidFill>
            <a:srgbClr val="E3ECF7"/>
          </a:solidFill>
          <a:ln/>
        </p:spPr>
      </p:sp>
      <p:sp>
        <p:nvSpPr>
          <p:cNvPr id="36" name="Text 32"/>
          <p:cNvSpPr txBox="1"/>
          <p:nvPr/>
        </p:nvSpPr>
        <p:spPr>
          <a:xfrm>
            <a:off x="7123176" y="1298448"/>
            <a:ext cx="1551432" cy="201168"/>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Jul–Sep 27</a:t>
            </a:r>
            <a:endParaRPr lang="en-US" sz="850" dirty="0"/>
          </a:p>
        </p:txBody>
      </p:sp>
      <p:sp>
        <p:nvSpPr>
          <p:cNvPr id="37" name="Shape 33"/>
          <p:cNvSpPr/>
          <p:nvPr/>
        </p:nvSpPr>
        <p:spPr>
          <a:xfrm>
            <a:off x="8674608" y="1298448"/>
            <a:ext cx="1533144" cy="201168"/>
          </a:xfrm>
          <a:prstGeom prst="rect">
            <a:avLst/>
          </a:prstGeom>
          <a:solidFill>
            <a:srgbClr val="E3ECF7"/>
          </a:solidFill>
          <a:ln/>
        </p:spPr>
      </p:sp>
      <p:sp>
        <p:nvSpPr>
          <p:cNvPr id="38" name="Text 34"/>
          <p:cNvSpPr txBox="1"/>
          <p:nvPr/>
        </p:nvSpPr>
        <p:spPr>
          <a:xfrm>
            <a:off x="8674608" y="1298448"/>
            <a:ext cx="1551432" cy="201168"/>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Oct–Dec 27</a:t>
            </a:r>
            <a:endParaRPr lang="en-US" sz="850" dirty="0"/>
          </a:p>
        </p:txBody>
      </p:sp>
      <p:sp>
        <p:nvSpPr>
          <p:cNvPr id="39" name="Shape 35"/>
          <p:cNvSpPr/>
          <p:nvPr/>
        </p:nvSpPr>
        <p:spPr>
          <a:xfrm>
            <a:off x="10226040" y="1298448"/>
            <a:ext cx="1533144" cy="201168"/>
          </a:xfrm>
          <a:prstGeom prst="rect">
            <a:avLst/>
          </a:prstGeom>
          <a:solidFill>
            <a:srgbClr val="E3ECF7"/>
          </a:solidFill>
          <a:ln/>
        </p:spPr>
      </p:sp>
      <p:sp>
        <p:nvSpPr>
          <p:cNvPr id="40" name="Text 36"/>
          <p:cNvSpPr txBox="1"/>
          <p:nvPr/>
        </p:nvSpPr>
        <p:spPr>
          <a:xfrm>
            <a:off x="10226040" y="1298448"/>
            <a:ext cx="1551432" cy="201168"/>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Jan–Mar 28</a:t>
            </a:r>
            <a:endParaRPr lang="en-US" sz="850" dirty="0"/>
          </a:p>
        </p:txBody>
      </p:sp>
      <p:sp>
        <p:nvSpPr>
          <p:cNvPr id="41" name="Shape 37"/>
          <p:cNvSpPr/>
          <p:nvPr/>
        </p:nvSpPr>
        <p:spPr>
          <a:xfrm>
            <a:off x="411480" y="1545336"/>
            <a:ext cx="11368735" cy="242316"/>
          </a:xfrm>
          <a:prstGeom prst="rect">
            <a:avLst/>
          </a:prstGeom>
          <a:solidFill>
            <a:srgbClr val="F4F7FB"/>
          </a:solidFill>
          <a:ln/>
        </p:spPr>
      </p:sp>
      <p:sp>
        <p:nvSpPr>
          <p:cNvPr id="42" name="Text 38"/>
          <p:cNvSpPr txBox="1"/>
          <p:nvPr/>
        </p:nvSpPr>
        <p:spPr>
          <a:xfrm>
            <a:off x="457200" y="1554480"/>
            <a:ext cx="640080" cy="219456"/>
          </a:xfrm>
          <a:prstGeom prst="rect">
            <a:avLst/>
          </a:prstGeom>
          <a:noFill/>
          <a:ln/>
        </p:spPr>
        <p:txBody>
          <a:bodyPr wrap="square" lIns="0" tIns="0" rIns="0" bIns="0" rtlCol="0" anchor="ctr"/>
          <a:lstStyle/>
          <a:p>
            <a:pPr algn="l" indent="0" marL="0">
              <a:buNone/>
            </a:pPr>
            <a:r>
              <a:rPr lang="en-US" sz="750" b="1" spc="50" kern="0" dirty="0">
                <a:solidFill>
                  <a:srgbClr val="5B6573"/>
                </a:solidFill>
                <a:latin typeface="Calibri" pitchFamily="34" charset="0"/>
                <a:ea typeface="Calibri" pitchFamily="34" charset="-122"/>
                <a:cs typeface="Calibri" pitchFamily="34" charset="-120"/>
              </a:rPr>
              <a:t>TECH</a:t>
            </a:r>
            <a:endParaRPr lang="en-US" sz="750" dirty="0"/>
          </a:p>
        </p:txBody>
      </p:sp>
      <p:sp>
        <p:nvSpPr>
          <p:cNvPr id="43" name="Text 39"/>
          <p:cNvSpPr txBox="1"/>
          <p:nvPr/>
        </p:nvSpPr>
        <p:spPr>
          <a:xfrm>
            <a:off x="1143000" y="1554480"/>
            <a:ext cx="1371600" cy="21945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Validate on public data</a:t>
            </a:r>
            <a:endParaRPr lang="en-US" sz="850" dirty="0"/>
          </a:p>
        </p:txBody>
      </p:sp>
      <p:sp>
        <p:nvSpPr>
          <p:cNvPr id="44" name="Shape 40"/>
          <p:cNvSpPr/>
          <p:nvPr/>
        </p:nvSpPr>
        <p:spPr>
          <a:xfrm>
            <a:off x="2468880" y="1581912"/>
            <a:ext cx="1514856" cy="164592"/>
          </a:xfrm>
          <a:prstGeom prst="rect">
            <a:avLst/>
          </a:prstGeom>
          <a:solidFill>
            <a:srgbClr val="1F4A82"/>
          </a:solidFill>
          <a:ln/>
        </p:spPr>
      </p:sp>
      <p:sp>
        <p:nvSpPr>
          <p:cNvPr id="45" name="Text 41"/>
          <p:cNvSpPr txBox="1"/>
          <p:nvPr/>
        </p:nvSpPr>
        <p:spPr>
          <a:xfrm>
            <a:off x="457200" y="1796796"/>
            <a:ext cx="640080" cy="219456"/>
          </a:xfrm>
          <a:prstGeom prst="rect">
            <a:avLst/>
          </a:prstGeom>
          <a:noFill/>
          <a:ln/>
        </p:spPr>
        <p:txBody>
          <a:bodyPr wrap="square" lIns="0" tIns="0" rIns="0" bIns="0" rtlCol="0" anchor="ctr"/>
          <a:lstStyle/>
          <a:p>
            <a:pPr algn="l" indent="0" marL="0">
              <a:buNone/>
            </a:pPr>
            <a:r>
              <a:rPr lang="en-US" sz="750" b="1" spc="50" kern="0" dirty="0">
                <a:solidFill>
                  <a:srgbClr val="5B6573"/>
                </a:solidFill>
                <a:latin typeface="Calibri" pitchFamily="34" charset="0"/>
                <a:ea typeface="Calibri" pitchFamily="34" charset="-122"/>
                <a:cs typeface="Calibri" pitchFamily="34" charset="-120"/>
              </a:rPr>
              <a:t>TECH</a:t>
            </a:r>
            <a:endParaRPr lang="en-US" sz="750" dirty="0"/>
          </a:p>
        </p:txBody>
      </p:sp>
      <p:sp>
        <p:nvSpPr>
          <p:cNvPr id="46" name="Text 42"/>
          <p:cNvSpPr txBox="1"/>
          <p:nvPr/>
        </p:nvSpPr>
        <p:spPr>
          <a:xfrm>
            <a:off x="1143000" y="1796796"/>
            <a:ext cx="1371600" cy="21945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Prototype and phone app</a:t>
            </a:r>
            <a:endParaRPr lang="en-US" sz="850" dirty="0"/>
          </a:p>
        </p:txBody>
      </p:sp>
      <p:sp>
        <p:nvSpPr>
          <p:cNvPr id="47" name="Shape 43"/>
          <p:cNvSpPr/>
          <p:nvPr/>
        </p:nvSpPr>
        <p:spPr>
          <a:xfrm>
            <a:off x="2934310" y="1824228"/>
            <a:ext cx="2600858" cy="164592"/>
          </a:xfrm>
          <a:prstGeom prst="rect">
            <a:avLst/>
          </a:prstGeom>
          <a:solidFill>
            <a:srgbClr val="2E6DB4"/>
          </a:solidFill>
          <a:ln/>
        </p:spPr>
      </p:sp>
      <p:sp>
        <p:nvSpPr>
          <p:cNvPr id="48" name="Shape 44"/>
          <p:cNvSpPr/>
          <p:nvPr/>
        </p:nvSpPr>
        <p:spPr>
          <a:xfrm>
            <a:off x="411480" y="2029968"/>
            <a:ext cx="11368735" cy="242316"/>
          </a:xfrm>
          <a:prstGeom prst="rect">
            <a:avLst/>
          </a:prstGeom>
          <a:solidFill>
            <a:srgbClr val="F4F7FB"/>
          </a:solidFill>
          <a:ln/>
        </p:spPr>
      </p:sp>
      <p:sp>
        <p:nvSpPr>
          <p:cNvPr id="49" name="Text 45"/>
          <p:cNvSpPr txBox="1"/>
          <p:nvPr/>
        </p:nvSpPr>
        <p:spPr>
          <a:xfrm>
            <a:off x="457200" y="2039112"/>
            <a:ext cx="640080" cy="219456"/>
          </a:xfrm>
          <a:prstGeom prst="rect">
            <a:avLst/>
          </a:prstGeom>
          <a:noFill/>
          <a:ln/>
        </p:spPr>
        <p:txBody>
          <a:bodyPr wrap="square" lIns="0" tIns="0" rIns="0" bIns="0" rtlCol="0" anchor="ctr"/>
          <a:lstStyle/>
          <a:p>
            <a:pPr algn="l" indent="0" marL="0">
              <a:buNone/>
            </a:pPr>
            <a:r>
              <a:rPr lang="en-US" sz="750" b="1" spc="50" kern="0" dirty="0">
                <a:solidFill>
                  <a:srgbClr val="5B6573"/>
                </a:solidFill>
                <a:latin typeface="Calibri" pitchFamily="34" charset="0"/>
                <a:ea typeface="Calibri" pitchFamily="34" charset="-122"/>
                <a:cs typeface="Calibri" pitchFamily="34" charset="-120"/>
              </a:rPr>
              <a:t>PILOTS</a:t>
            </a:r>
            <a:endParaRPr lang="en-US" sz="750" dirty="0"/>
          </a:p>
        </p:txBody>
      </p:sp>
      <p:sp>
        <p:nvSpPr>
          <p:cNvPr id="50" name="Text 46"/>
          <p:cNvSpPr txBox="1"/>
          <p:nvPr/>
        </p:nvSpPr>
        <p:spPr>
          <a:xfrm>
            <a:off x="1143000" y="2039112"/>
            <a:ext cx="1371600" cy="21945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Free retro-pilots (2)</a:t>
            </a:r>
            <a:endParaRPr lang="en-US" sz="850" dirty="0"/>
          </a:p>
        </p:txBody>
      </p:sp>
      <p:sp>
        <p:nvSpPr>
          <p:cNvPr id="51" name="Shape 47"/>
          <p:cNvSpPr/>
          <p:nvPr/>
        </p:nvSpPr>
        <p:spPr>
          <a:xfrm>
            <a:off x="4020312" y="2066544"/>
            <a:ext cx="1514856" cy="164592"/>
          </a:xfrm>
          <a:prstGeom prst="rect">
            <a:avLst/>
          </a:prstGeom>
          <a:solidFill>
            <a:srgbClr val="1F4A82"/>
          </a:solidFill>
          <a:ln/>
        </p:spPr>
      </p:sp>
      <p:sp>
        <p:nvSpPr>
          <p:cNvPr id="52" name="Text 48"/>
          <p:cNvSpPr txBox="1"/>
          <p:nvPr/>
        </p:nvSpPr>
        <p:spPr>
          <a:xfrm>
            <a:off x="457200" y="2281428"/>
            <a:ext cx="640080" cy="219456"/>
          </a:xfrm>
          <a:prstGeom prst="rect">
            <a:avLst/>
          </a:prstGeom>
          <a:noFill/>
          <a:ln/>
        </p:spPr>
        <p:txBody>
          <a:bodyPr wrap="square" lIns="0" tIns="0" rIns="0" bIns="0" rtlCol="0" anchor="ctr"/>
          <a:lstStyle/>
          <a:p>
            <a:pPr algn="l" indent="0" marL="0">
              <a:buNone/>
            </a:pPr>
            <a:r>
              <a:rPr lang="en-US" sz="750" b="1" spc="50" kern="0" dirty="0">
                <a:solidFill>
                  <a:srgbClr val="5B6573"/>
                </a:solidFill>
                <a:latin typeface="Calibri" pitchFamily="34" charset="0"/>
                <a:ea typeface="Calibri" pitchFamily="34" charset="-122"/>
                <a:cs typeface="Calibri" pitchFamily="34" charset="-120"/>
              </a:rPr>
              <a:t>PILOTS</a:t>
            </a:r>
            <a:endParaRPr lang="en-US" sz="750" dirty="0"/>
          </a:p>
        </p:txBody>
      </p:sp>
      <p:sp>
        <p:nvSpPr>
          <p:cNvPr id="53" name="Text 49"/>
          <p:cNvSpPr txBox="1"/>
          <p:nvPr/>
        </p:nvSpPr>
        <p:spPr>
          <a:xfrm>
            <a:off x="1143000" y="2281428"/>
            <a:ext cx="1371600" cy="21945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Paid pilots + controls</a:t>
            </a:r>
            <a:endParaRPr lang="en-US" sz="850" dirty="0"/>
          </a:p>
        </p:txBody>
      </p:sp>
      <p:sp>
        <p:nvSpPr>
          <p:cNvPr id="54" name="Shape 50"/>
          <p:cNvSpPr/>
          <p:nvPr/>
        </p:nvSpPr>
        <p:spPr>
          <a:xfrm>
            <a:off x="5571744" y="2308860"/>
            <a:ext cx="1514856" cy="164592"/>
          </a:xfrm>
          <a:prstGeom prst="rect">
            <a:avLst/>
          </a:prstGeom>
          <a:solidFill>
            <a:srgbClr val="2E6DB4"/>
          </a:solidFill>
          <a:ln/>
        </p:spPr>
      </p:sp>
      <p:sp>
        <p:nvSpPr>
          <p:cNvPr id="55" name="Shape 51"/>
          <p:cNvSpPr/>
          <p:nvPr/>
        </p:nvSpPr>
        <p:spPr>
          <a:xfrm>
            <a:off x="411480" y="2514600"/>
            <a:ext cx="11368735" cy="242316"/>
          </a:xfrm>
          <a:prstGeom prst="rect">
            <a:avLst/>
          </a:prstGeom>
          <a:solidFill>
            <a:srgbClr val="F4F7FB"/>
          </a:solidFill>
          <a:ln/>
        </p:spPr>
      </p:sp>
      <p:sp>
        <p:nvSpPr>
          <p:cNvPr id="56" name="Text 52"/>
          <p:cNvSpPr txBox="1"/>
          <p:nvPr/>
        </p:nvSpPr>
        <p:spPr>
          <a:xfrm>
            <a:off x="457200" y="2523744"/>
            <a:ext cx="640080" cy="219456"/>
          </a:xfrm>
          <a:prstGeom prst="rect">
            <a:avLst/>
          </a:prstGeom>
          <a:noFill/>
          <a:ln/>
        </p:spPr>
        <p:txBody>
          <a:bodyPr wrap="square" lIns="0" tIns="0" rIns="0" bIns="0" rtlCol="0" anchor="ctr"/>
          <a:lstStyle/>
          <a:p>
            <a:pPr algn="l" indent="0" marL="0">
              <a:buNone/>
            </a:pPr>
            <a:r>
              <a:rPr lang="en-US" sz="750" b="1" spc="50" kern="0" dirty="0">
                <a:solidFill>
                  <a:srgbClr val="5B6573"/>
                </a:solidFill>
                <a:latin typeface="Calibri" pitchFamily="34" charset="0"/>
                <a:ea typeface="Calibri" pitchFamily="34" charset="-122"/>
                <a:cs typeface="Calibri" pitchFamily="34" charset="-120"/>
              </a:rPr>
              <a:t>SALES</a:t>
            </a:r>
            <a:endParaRPr lang="en-US" sz="750" dirty="0"/>
          </a:p>
        </p:txBody>
      </p:sp>
      <p:sp>
        <p:nvSpPr>
          <p:cNvPr id="57" name="Text 53"/>
          <p:cNvSpPr txBox="1"/>
          <p:nvPr/>
        </p:nvSpPr>
        <p:spPr>
          <a:xfrm>
            <a:off x="1143000" y="2523744"/>
            <a:ext cx="1371600" cy="21945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Demos before admissions</a:t>
            </a:r>
            <a:endParaRPr lang="en-US" sz="850" dirty="0"/>
          </a:p>
        </p:txBody>
      </p:sp>
      <p:sp>
        <p:nvSpPr>
          <p:cNvPr id="58" name="Shape 54"/>
          <p:cNvSpPr/>
          <p:nvPr/>
        </p:nvSpPr>
        <p:spPr>
          <a:xfrm>
            <a:off x="4485742" y="2551176"/>
            <a:ext cx="1980286" cy="164592"/>
          </a:xfrm>
          <a:prstGeom prst="rect">
            <a:avLst/>
          </a:prstGeom>
          <a:solidFill>
            <a:srgbClr val="5B8DC9"/>
          </a:solidFill>
          <a:ln/>
        </p:spPr>
      </p:sp>
      <p:sp>
        <p:nvSpPr>
          <p:cNvPr id="59" name="Text 55"/>
          <p:cNvSpPr txBox="1"/>
          <p:nvPr/>
        </p:nvSpPr>
        <p:spPr>
          <a:xfrm>
            <a:off x="457200" y="2766060"/>
            <a:ext cx="640080" cy="219456"/>
          </a:xfrm>
          <a:prstGeom prst="rect">
            <a:avLst/>
          </a:prstGeom>
          <a:noFill/>
          <a:ln/>
        </p:spPr>
        <p:txBody>
          <a:bodyPr wrap="square" lIns="0" tIns="0" rIns="0" bIns="0" rtlCol="0" anchor="ctr"/>
          <a:lstStyle/>
          <a:p>
            <a:pPr algn="l" indent="0" marL="0">
              <a:buNone/>
            </a:pPr>
            <a:r>
              <a:rPr lang="en-US" sz="750" b="1" spc="50" kern="0" dirty="0">
                <a:solidFill>
                  <a:srgbClr val="5B6573"/>
                </a:solidFill>
                <a:latin typeface="Calibri" pitchFamily="34" charset="0"/>
                <a:ea typeface="Calibri" pitchFamily="34" charset="-122"/>
                <a:cs typeface="Calibri" pitchFamily="34" charset="-120"/>
              </a:rPr>
              <a:t>SALES</a:t>
            </a:r>
            <a:endParaRPr lang="en-US" sz="750" dirty="0"/>
          </a:p>
        </p:txBody>
      </p:sp>
      <p:sp>
        <p:nvSpPr>
          <p:cNvPr id="60" name="Text 56"/>
          <p:cNvSpPr txBox="1"/>
          <p:nvPr/>
        </p:nvSpPr>
        <p:spPr>
          <a:xfrm>
            <a:off x="1143000" y="2766060"/>
            <a:ext cx="1371600" cy="21945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First paying institutes</a:t>
            </a:r>
            <a:endParaRPr lang="en-US" sz="850" dirty="0"/>
          </a:p>
        </p:txBody>
      </p:sp>
      <p:sp>
        <p:nvSpPr>
          <p:cNvPr id="61" name="Shape 57"/>
          <p:cNvSpPr/>
          <p:nvPr/>
        </p:nvSpPr>
        <p:spPr>
          <a:xfrm>
            <a:off x="6347460" y="2793492"/>
            <a:ext cx="2290572" cy="164592"/>
          </a:xfrm>
          <a:prstGeom prst="rect">
            <a:avLst/>
          </a:prstGeom>
          <a:solidFill>
            <a:srgbClr val="1F4A82"/>
          </a:solidFill>
          <a:ln/>
        </p:spPr>
      </p:sp>
      <p:sp>
        <p:nvSpPr>
          <p:cNvPr id="62" name="Shape 58"/>
          <p:cNvSpPr/>
          <p:nvPr/>
        </p:nvSpPr>
        <p:spPr>
          <a:xfrm>
            <a:off x="411480" y="2999232"/>
            <a:ext cx="11368735" cy="242316"/>
          </a:xfrm>
          <a:prstGeom prst="rect">
            <a:avLst/>
          </a:prstGeom>
          <a:solidFill>
            <a:srgbClr val="F4F7FB"/>
          </a:solidFill>
          <a:ln/>
        </p:spPr>
      </p:sp>
      <p:sp>
        <p:nvSpPr>
          <p:cNvPr id="63" name="Text 59"/>
          <p:cNvSpPr txBox="1"/>
          <p:nvPr/>
        </p:nvSpPr>
        <p:spPr>
          <a:xfrm>
            <a:off x="457200" y="3008376"/>
            <a:ext cx="640080" cy="219456"/>
          </a:xfrm>
          <a:prstGeom prst="rect">
            <a:avLst/>
          </a:prstGeom>
          <a:noFill/>
          <a:ln/>
        </p:spPr>
        <p:txBody>
          <a:bodyPr wrap="square" lIns="0" tIns="0" rIns="0" bIns="0" rtlCol="0" anchor="ctr"/>
          <a:lstStyle/>
          <a:p>
            <a:pPr algn="l" indent="0" marL="0">
              <a:buNone/>
            </a:pPr>
            <a:r>
              <a:rPr lang="en-US" sz="750" b="1" spc="50" kern="0" dirty="0">
                <a:solidFill>
                  <a:srgbClr val="5B6573"/>
                </a:solidFill>
                <a:latin typeface="Calibri" pitchFamily="34" charset="0"/>
                <a:ea typeface="Calibri" pitchFamily="34" charset="-122"/>
                <a:cs typeface="Calibri" pitchFamily="34" charset="-120"/>
              </a:rPr>
              <a:t>SCALE</a:t>
            </a:r>
            <a:endParaRPr lang="en-US" sz="750" dirty="0"/>
          </a:p>
        </p:txBody>
      </p:sp>
      <p:sp>
        <p:nvSpPr>
          <p:cNvPr id="64" name="Text 60"/>
          <p:cNvSpPr txBox="1"/>
          <p:nvPr/>
        </p:nvSpPr>
        <p:spPr>
          <a:xfrm>
            <a:off x="1143000" y="3008376"/>
            <a:ext cx="1371600" cy="21945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Bihar, UP, Jharkhand</a:t>
            </a:r>
            <a:endParaRPr lang="en-US" sz="850" dirty="0"/>
          </a:p>
        </p:txBody>
      </p:sp>
      <p:sp>
        <p:nvSpPr>
          <p:cNvPr id="65" name="Shape 61"/>
          <p:cNvSpPr/>
          <p:nvPr/>
        </p:nvSpPr>
        <p:spPr>
          <a:xfrm>
            <a:off x="7898892" y="3035808"/>
            <a:ext cx="3842004" cy="164592"/>
          </a:xfrm>
          <a:prstGeom prst="rect">
            <a:avLst/>
          </a:prstGeom>
          <a:solidFill>
            <a:srgbClr val="2E6DB4"/>
          </a:solidFill>
          <a:ln/>
        </p:spPr>
      </p:sp>
      <p:sp>
        <p:nvSpPr>
          <p:cNvPr id="66" name="Text 62"/>
          <p:cNvSpPr txBox="1"/>
          <p:nvPr/>
        </p:nvSpPr>
        <p:spPr>
          <a:xfrm>
            <a:off x="457200" y="3250692"/>
            <a:ext cx="640080" cy="219456"/>
          </a:xfrm>
          <a:prstGeom prst="rect">
            <a:avLst/>
          </a:prstGeom>
          <a:noFill/>
          <a:ln/>
        </p:spPr>
        <p:txBody>
          <a:bodyPr wrap="square" lIns="0" tIns="0" rIns="0" bIns="0" rtlCol="0" anchor="ctr"/>
          <a:lstStyle/>
          <a:p>
            <a:pPr algn="l" indent="0" marL="0">
              <a:buNone/>
            </a:pPr>
            <a:r>
              <a:rPr lang="en-US" sz="750" b="1" spc="50" kern="0" dirty="0">
                <a:solidFill>
                  <a:srgbClr val="5B6573"/>
                </a:solidFill>
                <a:latin typeface="Calibri" pitchFamily="34" charset="0"/>
                <a:ea typeface="Calibri" pitchFamily="34" charset="-122"/>
                <a:cs typeface="Calibri" pitchFamily="34" charset="-120"/>
              </a:rPr>
              <a:t>MONEY</a:t>
            </a:r>
            <a:endParaRPr lang="en-US" sz="750" dirty="0"/>
          </a:p>
        </p:txBody>
      </p:sp>
      <p:sp>
        <p:nvSpPr>
          <p:cNvPr id="67" name="Text 63"/>
          <p:cNvSpPr txBox="1"/>
          <p:nvPr/>
        </p:nvSpPr>
        <p:spPr>
          <a:xfrm>
            <a:off x="1143000" y="3250692"/>
            <a:ext cx="1371600" cy="219456"/>
          </a:xfrm>
          <a:prstGeom prst="rect">
            <a:avLst/>
          </a:prstGeom>
          <a:noFill/>
          <a:ln/>
        </p:spPr>
        <p:txBody>
          <a:bodyPr wrap="square" lIns="0" tIns="0" rIns="0" bIns="0" rtlCol="0" anchor="ctr"/>
          <a:lstStyle/>
          <a:p>
            <a:pPr algn="l" indent="0" marL="0">
              <a:buNone/>
            </a:pPr>
            <a:r>
              <a:rPr lang="en-US" sz="850" dirty="0">
                <a:solidFill>
                  <a:srgbClr val="1F2937"/>
                </a:solidFill>
                <a:latin typeface="Calibri" pitchFamily="34" charset="0"/>
                <a:ea typeface="Calibri" pitchFamily="34" charset="-122"/>
                <a:cs typeface="Calibri" pitchFamily="34" charset="-120"/>
              </a:rPr>
              <a:t>Raise ₹45 L</a:t>
            </a:r>
            <a:endParaRPr lang="en-US" sz="850" dirty="0"/>
          </a:p>
        </p:txBody>
      </p:sp>
      <p:sp>
        <p:nvSpPr>
          <p:cNvPr id="68" name="Shape 64"/>
          <p:cNvSpPr/>
          <p:nvPr/>
        </p:nvSpPr>
        <p:spPr>
          <a:xfrm>
            <a:off x="4796028" y="3278124"/>
            <a:ext cx="1204570" cy="164592"/>
          </a:xfrm>
          <a:prstGeom prst="rect">
            <a:avLst/>
          </a:prstGeom>
          <a:solidFill>
            <a:srgbClr val="D4A24C"/>
          </a:solidFill>
          <a:ln/>
        </p:spPr>
      </p:sp>
      <p:sp>
        <p:nvSpPr>
          <p:cNvPr id="69" name="Shape 65"/>
          <p:cNvSpPr/>
          <p:nvPr/>
        </p:nvSpPr>
        <p:spPr>
          <a:xfrm>
            <a:off x="4011168" y="1517904"/>
            <a:ext cx="0" cy="1975104"/>
          </a:xfrm>
          <a:prstGeom prst="line">
            <a:avLst/>
          </a:prstGeom>
          <a:noFill/>
          <a:ln w="6350">
            <a:solidFill>
              <a:srgbClr val="D5DEEA"/>
            </a:solidFill>
            <a:prstDash val="solid"/>
          </a:ln>
        </p:spPr>
      </p:sp>
      <p:sp>
        <p:nvSpPr>
          <p:cNvPr id="70" name="Shape 66"/>
          <p:cNvSpPr/>
          <p:nvPr/>
        </p:nvSpPr>
        <p:spPr>
          <a:xfrm>
            <a:off x="5562600" y="1517904"/>
            <a:ext cx="0" cy="1975104"/>
          </a:xfrm>
          <a:prstGeom prst="line">
            <a:avLst/>
          </a:prstGeom>
          <a:noFill/>
          <a:ln w="6350">
            <a:solidFill>
              <a:srgbClr val="D5DEEA"/>
            </a:solidFill>
            <a:prstDash val="solid"/>
          </a:ln>
        </p:spPr>
      </p:sp>
      <p:sp>
        <p:nvSpPr>
          <p:cNvPr id="71" name="Shape 67"/>
          <p:cNvSpPr/>
          <p:nvPr/>
        </p:nvSpPr>
        <p:spPr>
          <a:xfrm>
            <a:off x="7114032" y="1517904"/>
            <a:ext cx="0" cy="1975104"/>
          </a:xfrm>
          <a:prstGeom prst="line">
            <a:avLst/>
          </a:prstGeom>
          <a:noFill/>
          <a:ln w="6350">
            <a:solidFill>
              <a:srgbClr val="D5DEEA"/>
            </a:solidFill>
            <a:prstDash val="solid"/>
          </a:ln>
        </p:spPr>
      </p:sp>
      <p:sp>
        <p:nvSpPr>
          <p:cNvPr id="72" name="Shape 68"/>
          <p:cNvSpPr/>
          <p:nvPr/>
        </p:nvSpPr>
        <p:spPr>
          <a:xfrm>
            <a:off x="8665464" y="1517904"/>
            <a:ext cx="0" cy="1975104"/>
          </a:xfrm>
          <a:prstGeom prst="line">
            <a:avLst/>
          </a:prstGeom>
          <a:noFill/>
          <a:ln w="6350">
            <a:solidFill>
              <a:srgbClr val="D5DEEA"/>
            </a:solidFill>
            <a:prstDash val="solid"/>
          </a:ln>
        </p:spPr>
      </p:sp>
      <p:sp>
        <p:nvSpPr>
          <p:cNvPr id="73" name="Shape 69"/>
          <p:cNvSpPr/>
          <p:nvPr/>
        </p:nvSpPr>
        <p:spPr>
          <a:xfrm>
            <a:off x="10216896" y="1517904"/>
            <a:ext cx="0" cy="1975104"/>
          </a:xfrm>
          <a:prstGeom prst="line">
            <a:avLst/>
          </a:prstGeom>
          <a:noFill/>
          <a:ln w="6350">
            <a:solidFill>
              <a:srgbClr val="D5DEEA"/>
            </a:solidFill>
            <a:prstDash val="solid"/>
          </a:ln>
        </p:spPr>
      </p:sp>
      <p:sp>
        <p:nvSpPr>
          <p:cNvPr id="74" name="Text 70"/>
          <p:cNvSpPr txBox="1"/>
          <p:nvPr/>
        </p:nvSpPr>
        <p:spPr>
          <a:xfrm>
            <a:off x="448056" y="3657600"/>
            <a:ext cx="388620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WHERE WE SELL FIRST</a:t>
            </a:r>
            <a:endParaRPr lang="en-US" sz="1250" dirty="0"/>
          </a:p>
        </p:txBody>
      </p:sp>
      <p:sp>
        <p:nvSpPr>
          <p:cNvPr id="75" name="Shape 71"/>
          <p:cNvSpPr/>
          <p:nvPr/>
        </p:nvSpPr>
        <p:spPr>
          <a:xfrm>
            <a:off x="448056" y="3950208"/>
            <a:ext cx="3886200" cy="10973"/>
          </a:xfrm>
          <a:prstGeom prst="rect">
            <a:avLst/>
          </a:prstGeom>
          <a:solidFill>
            <a:srgbClr val="C9D6E8"/>
          </a:solidFill>
          <a:ln/>
        </p:spPr>
      </p:sp>
      <p:sp>
        <p:nvSpPr>
          <p:cNvPr id="76" name="Shape 72"/>
          <p:cNvSpPr/>
          <p:nvPr/>
        </p:nvSpPr>
        <p:spPr>
          <a:xfrm>
            <a:off x="448056" y="3941064"/>
            <a:ext cx="2194560" cy="27432"/>
          </a:xfrm>
          <a:prstGeom prst="rect">
            <a:avLst/>
          </a:prstGeom>
          <a:solidFill>
            <a:srgbClr val="1F4A82"/>
          </a:solidFill>
          <a:ln/>
        </p:spPr>
      </p:sp>
      <p:sp>
        <p:nvSpPr>
          <p:cNvPr id="77" name="Shape 73"/>
          <p:cNvSpPr/>
          <p:nvPr/>
        </p:nvSpPr>
        <p:spPr>
          <a:xfrm>
            <a:off x="4443984" y="3685032"/>
            <a:ext cx="0" cy="2670048"/>
          </a:xfrm>
          <a:prstGeom prst="line">
            <a:avLst/>
          </a:prstGeom>
          <a:noFill/>
          <a:ln w="12700">
            <a:solidFill>
              <a:srgbClr val="8FA9CC"/>
            </a:solidFill>
            <a:prstDash val="dash"/>
          </a:ln>
        </p:spPr>
      </p:sp>
      <p:pic>
        <p:nvPicPr>
          <p:cNvPr id="78" name="Image 1" descr="Map of India: target states shaded, cities by tier">    </p:cNvPr>
          <p:cNvPicPr>
            <a:picLocks noChangeAspect="1"/>
          </p:cNvPicPr>
          <p:nvPr/>
        </p:nvPicPr>
        <p:blipFill>
          <a:blip r:embed="rId2"/>
          <a:stretch>
            <a:fillRect/>
          </a:stretch>
        </p:blipFill>
        <p:spPr>
          <a:xfrm>
            <a:off x="731520" y="4041648"/>
            <a:ext cx="1417320" cy="1591056"/>
          </a:xfrm>
          <a:prstGeom prst="rect">
            <a:avLst/>
          </a:prstGeom>
        </p:spPr>
      </p:pic>
      <p:sp>
        <p:nvSpPr>
          <p:cNvPr id="79" name="Text 74"/>
          <p:cNvSpPr txBox="1"/>
          <p:nvPr/>
        </p:nvSpPr>
        <p:spPr>
          <a:xfrm>
            <a:off x="2606040" y="4069080"/>
            <a:ext cx="1737360" cy="310896"/>
          </a:xfrm>
          <a:prstGeom prst="rect">
            <a:avLst/>
          </a:prstGeom>
          <a:noFill/>
          <a:ln/>
        </p:spPr>
        <p:txBody>
          <a:bodyPr wrap="square" lIns="0" tIns="0" rIns="0" bIns="0" rtlCol="0" anchor="ctr"/>
          <a:lstStyle/>
          <a:p>
            <a:pPr algn="l" indent="0" marL="0">
              <a:buNone/>
            </a:pPr>
            <a:r>
              <a:rPr lang="en-US" sz="1000" b="1" dirty="0">
                <a:solidFill>
                  <a:srgbClr val="B5832A"/>
                </a:solidFill>
                <a:latin typeface="Calibri" pitchFamily="34" charset="0"/>
                <a:ea typeface="Calibri" pitchFamily="34" charset="-122"/>
                <a:cs typeface="Calibri" pitchFamily="34" charset="-120"/>
              </a:rPr>
              <a:t>① </a:t>
            </a:r>
            <a:pPr algn="l" indent="0" marL="0">
              <a:buNone/>
            </a:pPr>
            <a:r>
              <a:rPr lang="en-US" sz="900" b="1" dirty="0">
                <a:solidFill>
                  <a:srgbClr val="17325C"/>
                </a:solidFill>
                <a:latin typeface="Calibri" pitchFamily="34" charset="0"/>
                <a:ea typeface="Calibri" pitchFamily="34" charset="-122"/>
                <a:cs typeface="Calibri" pitchFamily="34" charset="-120"/>
              </a:rPr>
              <a:t>Patna</a:t>
            </a:r>
            <a:pPr algn="l" indent="0" marL="0">
              <a:buNone/>
            </a:pPr>
            <a:r>
              <a:rPr lang="en-US" sz="800" dirty="0">
                <a:solidFill>
                  <a:srgbClr val="5B6573"/>
                </a:solidFill>
                <a:latin typeface="Calibri" pitchFamily="34" charset="0"/>
                <a:ea typeface="Calibri" pitchFamily="34" charset="-122"/>
                <a:cs typeface="Calibri" pitchFamily="34" charset="-120"/>
              </a:rPr>
              <a:t> free retro-pilots</a:t>
            </a:r>
            <a:endParaRPr lang="en-US" sz="1400" dirty="0"/>
          </a:p>
        </p:txBody>
      </p:sp>
      <p:sp>
        <p:nvSpPr>
          <p:cNvPr id="80" name="Text 75"/>
          <p:cNvSpPr txBox="1"/>
          <p:nvPr/>
        </p:nvSpPr>
        <p:spPr>
          <a:xfrm>
            <a:off x="2606040" y="4398264"/>
            <a:ext cx="1737360" cy="310896"/>
          </a:xfrm>
          <a:prstGeom prst="rect">
            <a:avLst/>
          </a:prstGeom>
          <a:noFill/>
          <a:ln/>
        </p:spPr>
        <p:txBody>
          <a:bodyPr wrap="square" lIns="0" tIns="0" rIns="0" bIns="0" rtlCol="0" anchor="ctr"/>
          <a:lstStyle/>
          <a:p>
            <a:pPr algn="l" indent="0" marL="0">
              <a:buNone/>
            </a:pPr>
            <a:r>
              <a:rPr lang="en-US" sz="1000" b="1" dirty="0">
                <a:solidFill>
                  <a:srgbClr val="B5832A"/>
                </a:solidFill>
                <a:latin typeface="Calibri" pitchFamily="34" charset="0"/>
                <a:ea typeface="Calibri" pitchFamily="34" charset="-122"/>
                <a:cs typeface="Calibri" pitchFamily="34" charset="-120"/>
              </a:rPr>
              <a:t>② </a:t>
            </a:r>
            <a:pPr algn="l" indent="0" marL="0">
              <a:buNone/>
            </a:pPr>
            <a:r>
              <a:rPr lang="en-US" sz="900" b="1" dirty="0">
                <a:solidFill>
                  <a:srgbClr val="17325C"/>
                </a:solidFill>
                <a:latin typeface="Calibri" pitchFamily="34" charset="0"/>
                <a:ea typeface="Calibri" pitchFamily="34" charset="-122"/>
                <a:cs typeface="Calibri" pitchFamily="34" charset="-120"/>
              </a:rPr>
              <a:t>Lucknow</a:t>
            </a:r>
            <a:pPr algn="l" indent="0" marL="0">
              <a:buNone/>
            </a:pPr>
            <a:r>
              <a:rPr lang="en-US" sz="800" dirty="0">
                <a:solidFill>
                  <a:srgbClr val="5B6573"/>
                </a:solidFill>
                <a:latin typeface="Calibri" pitchFamily="34" charset="0"/>
                <a:ea typeface="Calibri" pitchFamily="34" charset="-122"/>
                <a:cs typeface="Calibri" pitchFamily="34" charset="-120"/>
              </a:rPr>
              <a:t> paid pilots</a:t>
            </a:r>
            <a:endParaRPr lang="en-US" sz="1400" dirty="0"/>
          </a:p>
        </p:txBody>
      </p:sp>
      <p:sp>
        <p:nvSpPr>
          <p:cNvPr id="81" name="Text 76"/>
          <p:cNvSpPr txBox="1"/>
          <p:nvPr/>
        </p:nvSpPr>
        <p:spPr>
          <a:xfrm>
            <a:off x="2606040" y="4727448"/>
            <a:ext cx="1737360" cy="310896"/>
          </a:xfrm>
          <a:prstGeom prst="rect">
            <a:avLst/>
          </a:prstGeom>
          <a:noFill/>
          <a:ln/>
        </p:spPr>
        <p:txBody>
          <a:bodyPr wrap="square" lIns="0" tIns="0" rIns="0" bIns="0" rtlCol="0" anchor="ctr"/>
          <a:lstStyle/>
          <a:p>
            <a:pPr algn="l" indent="0" marL="0">
              <a:buNone/>
            </a:pPr>
            <a:r>
              <a:rPr lang="en-US" sz="1000" b="1" dirty="0">
                <a:solidFill>
                  <a:srgbClr val="B5832A"/>
                </a:solidFill>
                <a:latin typeface="Calibri" pitchFamily="34" charset="0"/>
                <a:ea typeface="Calibri" pitchFamily="34" charset="-122"/>
                <a:cs typeface="Calibri" pitchFamily="34" charset="-120"/>
              </a:rPr>
              <a:t>③ </a:t>
            </a:r>
            <a:pPr algn="l" indent="0" marL="0">
              <a:buNone/>
            </a:pPr>
            <a:r>
              <a:rPr lang="en-US" sz="900" b="1" dirty="0">
                <a:solidFill>
                  <a:srgbClr val="17325C"/>
                </a:solidFill>
                <a:latin typeface="Calibri" pitchFamily="34" charset="0"/>
                <a:ea typeface="Calibri" pitchFamily="34" charset="-122"/>
                <a:cs typeface="Calibri" pitchFamily="34" charset="-120"/>
              </a:rPr>
              <a:t>Ranchi</a:t>
            </a:r>
            <a:pPr algn="l" indent="0" marL="0">
              <a:buNone/>
            </a:pPr>
            <a:r>
              <a:rPr lang="en-US" sz="800" dirty="0">
                <a:solidFill>
                  <a:srgbClr val="5B6573"/>
                </a:solidFill>
                <a:latin typeface="Calibri" pitchFamily="34" charset="0"/>
                <a:ea typeface="Calibri" pitchFamily="34" charset="-122"/>
                <a:cs typeface="Calibri" pitchFamily="34" charset="-120"/>
              </a:rPr>
              <a:t> FY28</a:t>
            </a:r>
            <a:endParaRPr lang="en-US" sz="1400" dirty="0"/>
          </a:p>
        </p:txBody>
      </p:sp>
      <p:sp>
        <p:nvSpPr>
          <p:cNvPr id="82" name="Text 77"/>
          <p:cNvSpPr txBox="1"/>
          <p:nvPr/>
        </p:nvSpPr>
        <p:spPr>
          <a:xfrm>
            <a:off x="2606040" y="5056632"/>
            <a:ext cx="1737360" cy="310896"/>
          </a:xfrm>
          <a:prstGeom prst="rect">
            <a:avLst/>
          </a:prstGeom>
          <a:noFill/>
          <a:ln/>
        </p:spPr>
        <p:txBody>
          <a:bodyPr wrap="square" lIns="0" tIns="0" rIns="0" bIns="0" rtlCol="0" anchor="ctr"/>
          <a:lstStyle/>
          <a:p>
            <a:pPr algn="l" indent="0" marL="0">
              <a:buNone/>
            </a:pPr>
            <a:r>
              <a:rPr lang="en-US" sz="1000" b="1" dirty="0">
                <a:solidFill>
                  <a:srgbClr val="B5832A"/>
                </a:solidFill>
                <a:latin typeface="Calibri" pitchFamily="34" charset="0"/>
                <a:ea typeface="Calibri" pitchFamily="34" charset="-122"/>
                <a:cs typeface="Calibri" pitchFamily="34" charset="-120"/>
              </a:rPr>
              <a:t>④ </a:t>
            </a:r>
            <a:pPr algn="l" indent="0" marL="0">
              <a:buNone/>
            </a:pPr>
            <a:r>
              <a:rPr lang="en-US" sz="900" b="1" dirty="0">
                <a:solidFill>
                  <a:srgbClr val="17325C"/>
                </a:solidFill>
                <a:latin typeface="Calibri" pitchFamily="34" charset="0"/>
                <a:ea typeface="Calibri" pitchFamily="34" charset="-122"/>
                <a:cs typeface="Calibri" pitchFamily="34" charset="-120"/>
              </a:rPr>
              <a:t>Raj. and MP</a:t>
            </a:r>
            <a:pPr algn="l" indent="0" marL="0">
              <a:buNone/>
            </a:pPr>
            <a:r>
              <a:rPr lang="en-US" sz="800" dirty="0">
                <a:solidFill>
                  <a:srgbClr val="5B6573"/>
                </a:solidFill>
                <a:latin typeface="Calibri" pitchFamily="34" charset="0"/>
                <a:ea typeface="Calibri" pitchFamily="34" charset="-122"/>
                <a:cs typeface="Calibri" pitchFamily="34" charset="-120"/>
              </a:rPr>
              <a:t> after FY28</a:t>
            </a:r>
            <a:endParaRPr lang="en-US" sz="1400" dirty="0"/>
          </a:p>
        </p:txBody>
      </p:sp>
      <p:sp>
        <p:nvSpPr>
          <p:cNvPr id="83" name="Text 78"/>
          <p:cNvSpPr txBox="1"/>
          <p:nvPr/>
        </p:nvSpPr>
        <p:spPr>
          <a:xfrm>
            <a:off x="502920" y="5687568"/>
            <a:ext cx="3749040" cy="329184"/>
          </a:xfrm>
          <a:prstGeom prst="rect">
            <a:avLst/>
          </a:prstGeom>
          <a:noFill/>
          <a:ln/>
        </p:spPr>
        <p:txBody>
          <a:bodyPr wrap="square" lIns="0" tIns="0" rIns="0" bIns="0" rtlCol="0" anchor="t"/>
          <a:lstStyle/>
          <a:p>
            <a:pPr algn="l" indent="0" marL="0">
              <a:buNone/>
            </a:pPr>
            <a:r>
              <a:rPr lang="en-US" sz="900" b="1" dirty="0">
                <a:solidFill>
                  <a:srgbClr val="1F4A82"/>
                </a:solidFill>
                <a:latin typeface="Calibri" pitchFamily="34" charset="0"/>
                <a:ea typeface="Calibri" pitchFamily="34" charset="-122"/>
                <a:cs typeface="Calibri" pitchFamily="34" charset="-120"/>
              </a:rPr>
              <a:t>1,180 addressable institutes in five states; 58 paying by year 3 = 4.9 %</a:t>
            </a:r>
            <a:endParaRPr lang="en-US" sz="900" dirty="0"/>
          </a:p>
        </p:txBody>
      </p:sp>
      <p:sp>
        <p:nvSpPr>
          <p:cNvPr id="84" name="Text 79"/>
          <p:cNvSpPr txBox="1"/>
          <p:nvPr/>
        </p:nvSpPr>
        <p:spPr>
          <a:xfrm>
            <a:off x="502920" y="6035040"/>
            <a:ext cx="3749040" cy="237744"/>
          </a:xfrm>
          <a:prstGeom prst="rect">
            <a:avLst/>
          </a:prstGeom>
          <a:noFill/>
          <a:ln/>
        </p:spPr>
        <p:txBody>
          <a:bodyPr wrap="square" lIns="0" tIns="0" rIns="0" bIns="0" rtlCol="0" anchor="t"/>
          <a:lstStyle/>
          <a:p>
            <a:pPr algn="l" indent="0" marL="0">
              <a:buNone/>
            </a:pPr>
            <a:r>
              <a:rPr lang="en-US" sz="800" i="1" dirty="0">
                <a:solidFill>
                  <a:srgbClr val="5B6573"/>
                </a:solidFill>
                <a:latin typeface="Calibri" pitchFamily="34" charset="0"/>
                <a:ea typeface="Calibri" pitchFamily="34" charset="-122"/>
                <a:cs typeface="Calibri" pitchFamily="34" charset="-120"/>
              </a:rPr>
              <a:t>State split is our derived allocation (assumption).</a:t>
            </a:r>
            <a:endParaRPr lang="en-US" sz="800" dirty="0"/>
          </a:p>
        </p:txBody>
      </p:sp>
      <p:sp>
        <p:nvSpPr>
          <p:cNvPr id="85" name="Text 80"/>
          <p:cNvSpPr txBox="1"/>
          <p:nvPr/>
        </p:nvSpPr>
        <p:spPr>
          <a:xfrm>
            <a:off x="4562856" y="3657600"/>
            <a:ext cx="374904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COMPETITION AND MOAT</a:t>
            </a:r>
            <a:endParaRPr lang="en-US" sz="1250" dirty="0"/>
          </a:p>
        </p:txBody>
      </p:sp>
      <p:sp>
        <p:nvSpPr>
          <p:cNvPr id="86" name="Shape 81"/>
          <p:cNvSpPr/>
          <p:nvPr/>
        </p:nvSpPr>
        <p:spPr>
          <a:xfrm>
            <a:off x="4562856" y="3950208"/>
            <a:ext cx="3749040" cy="10973"/>
          </a:xfrm>
          <a:prstGeom prst="rect">
            <a:avLst/>
          </a:prstGeom>
          <a:solidFill>
            <a:srgbClr val="C9D6E8"/>
          </a:solidFill>
          <a:ln/>
        </p:spPr>
      </p:sp>
      <p:sp>
        <p:nvSpPr>
          <p:cNvPr id="87" name="Shape 82"/>
          <p:cNvSpPr/>
          <p:nvPr/>
        </p:nvSpPr>
        <p:spPr>
          <a:xfrm>
            <a:off x="4562856" y="3941064"/>
            <a:ext cx="2194560" cy="27432"/>
          </a:xfrm>
          <a:prstGeom prst="rect">
            <a:avLst/>
          </a:prstGeom>
          <a:solidFill>
            <a:srgbClr val="1F4A82"/>
          </a:solidFill>
          <a:ln/>
        </p:spPr>
      </p:sp>
      <p:sp>
        <p:nvSpPr>
          <p:cNvPr id="88" name="Shape 83"/>
          <p:cNvSpPr/>
          <p:nvPr/>
        </p:nvSpPr>
        <p:spPr>
          <a:xfrm>
            <a:off x="8421624" y="3685032"/>
            <a:ext cx="0" cy="2670048"/>
          </a:xfrm>
          <a:prstGeom prst="line">
            <a:avLst/>
          </a:prstGeom>
          <a:noFill/>
          <a:ln w="12700">
            <a:solidFill>
              <a:srgbClr val="8FA9CC"/>
            </a:solidFill>
            <a:prstDash val="dash"/>
          </a:ln>
        </p:spPr>
      </p:sp>
      <p:sp>
        <p:nvSpPr>
          <p:cNvPr id="89" name="Shape 84"/>
          <p:cNvSpPr/>
          <p:nvPr/>
        </p:nvSpPr>
        <p:spPr>
          <a:xfrm>
            <a:off x="4572000" y="4005072"/>
            <a:ext cx="914400" cy="228600"/>
          </a:xfrm>
          <a:prstGeom prst="rect">
            <a:avLst/>
          </a:prstGeom>
          <a:solidFill>
            <a:srgbClr val="1F4A82"/>
          </a:solidFill>
          <a:ln/>
        </p:spPr>
      </p:sp>
      <p:sp>
        <p:nvSpPr>
          <p:cNvPr id="90" name="Text 85"/>
          <p:cNvSpPr txBox="1"/>
          <p:nvPr/>
        </p:nvSpPr>
        <p:spPr>
          <a:xfrm>
            <a:off x="4617720" y="4005072"/>
            <a:ext cx="822960" cy="228600"/>
          </a:xfrm>
          <a:prstGeom prst="rect">
            <a:avLst/>
          </a:prstGeom>
          <a:noFill/>
          <a:ln/>
        </p:spPr>
        <p:txBody>
          <a:bodyPr wrap="square" lIns="0" tIns="0" rIns="0" bIns="0" rtlCol="0" anchor="ctr"/>
          <a:lstStyle/>
          <a:p>
            <a:pPr algn="l" indent="0" marL="0">
              <a:buNone/>
            </a:pPr>
            <a:endParaRPr lang="en-US" sz="800" dirty="0"/>
          </a:p>
        </p:txBody>
      </p:sp>
      <p:sp>
        <p:nvSpPr>
          <p:cNvPr id="91" name="Shape 86"/>
          <p:cNvSpPr/>
          <p:nvPr/>
        </p:nvSpPr>
        <p:spPr>
          <a:xfrm>
            <a:off x="5486400" y="4005072"/>
            <a:ext cx="640080" cy="228600"/>
          </a:xfrm>
          <a:prstGeom prst="rect">
            <a:avLst/>
          </a:prstGeom>
          <a:solidFill>
            <a:srgbClr val="1F4A82"/>
          </a:solidFill>
          <a:ln/>
        </p:spPr>
      </p:sp>
      <p:sp>
        <p:nvSpPr>
          <p:cNvPr id="92" name="Text 87"/>
          <p:cNvSpPr txBox="1"/>
          <p:nvPr/>
        </p:nvSpPr>
        <p:spPr>
          <a:xfrm>
            <a:off x="5532120" y="4005072"/>
            <a:ext cx="54864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a:t>
            </a:r>
            <a:endParaRPr lang="en-US" sz="800" dirty="0"/>
          </a:p>
        </p:txBody>
      </p:sp>
      <p:sp>
        <p:nvSpPr>
          <p:cNvPr id="93" name="Shape 88"/>
          <p:cNvSpPr/>
          <p:nvPr/>
        </p:nvSpPr>
        <p:spPr>
          <a:xfrm>
            <a:off x="6126480" y="4005072"/>
            <a:ext cx="457200" cy="228600"/>
          </a:xfrm>
          <a:prstGeom prst="rect">
            <a:avLst/>
          </a:prstGeom>
          <a:solidFill>
            <a:srgbClr val="1F4A82"/>
          </a:solidFill>
          <a:ln/>
        </p:spPr>
      </p:sp>
      <p:sp>
        <p:nvSpPr>
          <p:cNvPr id="94" name="Text 89"/>
          <p:cNvSpPr txBox="1"/>
          <p:nvPr/>
        </p:nvSpPr>
        <p:spPr>
          <a:xfrm>
            <a:off x="6172200" y="4005072"/>
            <a:ext cx="36576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OMR</a:t>
            </a:r>
            <a:endParaRPr lang="en-US" sz="800" dirty="0"/>
          </a:p>
        </p:txBody>
      </p:sp>
      <p:sp>
        <p:nvSpPr>
          <p:cNvPr id="95" name="Shape 90"/>
          <p:cNvSpPr/>
          <p:nvPr/>
        </p:nvSpPr>
        <p:spPr>
          <a:xfrm>
            <a:off x="6583680" y="4005072"/>
            <a:ext cx="594360" cy="228600"/>
          </a:xfrm>
          <a:prstGeom prst="rect">
            <a:avLst/>
          </a:prstGeom>
          <a:solidFill>
            <a:srgbClr val="1F4A82"/>
          </a:solidFill>
          <a:ln/>
        </p:spPr>
      </p:sp>
      <p:sp>
        <p:nvSpPr>
          <p:cNvPr id="96" name="Text 91"/>
          <p:cNvSpPr txBox="1"/>
          <p:nvPr/>
        </p:nvSpPr>
        <p:spPr>
          <a:xfrm>
            <a:off x="6629400" y="4005072"/>
            <a:ext cx="50292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Topics</a:t>
            </a:r>
            <a:endParaRPr lang="en-US" sz="800" dirty="0"/>
          </a:p>
        </p:txBody>
      </p:sp>
      <p:sp>
        <p:nvSpPr>
          <p:cNvPr id="97" name="Shape 92"/>
          <p:cNvSpPr/>
          <p:nvPr/>
        </p:nvSpPr>
        <p:spPr>
          <a:xfrm>
            <a:off x="7178040" y="4005072"/>
            <a:ext cx="594360" cy="228600"/>
          </a:xfrm>
          <a:prstGeom prst="rect">
            <a:avLst/>
          </a:prstGeom>
          <a:solidFill>
            <a:srgbClr val="1F4A82"/>
          </a:solidFill>
          <a:ln/>
        </p:spPr>
      </p:sp>
      <p:sp>
        <p:nvSpPr>
          <p:cNvPr id="98" name="Text 93"/>
          <p:cNvSpPr txBox="1"/>
          <p:nvPr/>
        </p:nvSpPr>
        <p:spPr>
          <a:xfrm>
            <a:off x="7223760" y="4005072"/>
            <a:ext cx="50292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Report</a:t>
            </a:r>
            <a:endParaRPr lang="en-US" sz="800" dirty="0"/>
          </a:p>
        </p:txBody>
      </p:sp>
      <p:sp>
        <p:nvSpPr>
          <p:cNvPr id="99" name="Shape 94"/>
          <p:cNvSpPr/>
          <p:nvPr/>
        </p:nvSpPr>
        <p:spPr>
          <a:xfrm>
            <a:off x="7772400" y="4005072"/>
            <a:ext cx="548640" cy="228600"/>
          </a:xfrm>
          <a:prstGeom prst="rect">
            <a:avLst/>
          </a:prstGeom>
          <a:solidFill>
            <a:srgbClr val="1F4A82"/>
          </a:solidFill>
          <a:ln/>
        </p:spPr>
      </p:sp>
      <p:sp>
        <p:nvSpPr>
          <p:cNvPr id="100" name="Text 95"/>
          <p:cNvSpPr txBox="1"/>
          <p:nvPr/>
        </p:nvSpPr>
        <p:spPr>
          <a:xfrm>
            <a:off x="7818120" y="4005072"/>
            <a:ext cx="45720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Hindi</a:t>
            </a:r>
            <a:endParaRPr lang="en-US" sz="800" dirty="0"/>
          </a:p>
        </p:txBody>
      </p:sp>
      <p:sp>
        <p:nvSpPr>
          <p:cNvPr id="101" name="Shape 96"/>
          <p:cNvSpPr/>
          <p:nvPr/>
        </p:nvSpPr>
        <p:spPr>
          <a:xfrm>
            <a:off x="4572000" y="4233672"/>
            <a:ext cx="914400" cy="228600"/>
          </a:xfrm>
          <a:prstGeom prst="rect">
            <a:avLst/>
          </a:prstGeom>
          <a:solidFill>
            <a:srgbClr val="FFFFFF"/>
          </a:solidFill>
          <a:ln/>
        </p:spPr>
      </p:sp>
      <p:sp>
        <p:nvSpPr>
          <p:cNvPr id="102" name="Text 97"/>
          <p:cNvSpPr txBox="1"/>
          <p:nvPr/>
        </p:nvSpPr>
        <p:spPr>
          <a:xfrm>
            <a:off x="4617720" y="4233672"/>
            <a:ext cx="822960"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Classplus</a:t>
            </a:r>
            <a:endParaRPr lang="en-US" sz="850" dirty="0"/>
          </a:p>
        </p:txBody>
      </p:sp>
      <p:sp>
        <p:nvSpPr>
          <p:cNvPr id="103" name="Shape 98"/>
          <p:cNvSpPr/>
          <p:nvPr/>
        </p:nvSpPr>
        <p:spPr>
          <a:xfrm>
            <a:off x="5486400" y="4233672"/>
            <a:ext cx="640080" cy="228600"/>
          </a:xfrm>
          <a:prstGeom prst="rect">
            <a:avLst/>
          </a:prstGeom>
          <a:solidFill>
            <a:srgbClr val="FFFFFF"/>
          </a:solidFill>
          <a:ln/>
        </p:spPr>
      </p:sp>
      <p:sp>
        <p:nvSpPr>
          <p:cNvPr id="104" name="Text 99"/>
          <p:cNvSpPr txBox="1"/>
          <p:nvPr/>
        </p:nvSpPr>
        <p:spPr>
          <a:xfrm>
            <a:off x="5532120" y="4233672"/>
            <a:ext cx="548640"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4–7</a:t>
            </a:r>
            <a:endParaRPr lang="en-US" sz="850" dirty="0"/>
          </a:p>
        </p:txBody>
      </p:sp>
      <p:sp>
        <p:nvSpPr>
          <p:cNvPr id="105" name="Shape 100"/>
          <p:cNvSpPr/>
          <p:nvPr/>
        </p:nvSpPr>
        <p:spPr>
          <a:xfrm>
            <a:off x="6126480" y="4233672"/>
            <a:ext cx="457200" cy="228600"/>
          </a:xfrm>
          <a:prstGeom prst="rect">
            <a:avLst/>
          </a:prstGeom>
          <a:solidFill>
            <a:srgbClr val="F1E8D3"/>
          </a:solidFill>
          <a:ln/>
        </p:spPr>
      </p:sp>
      <p:sp>
        <p:nvSpPr>
          <p:cNvPr id="106" name="Text 101"/>
          <p:cNvSpPr txBox="1"/>
          <p:nvPr/>
        </p:nvSpPr>
        <p:spPr>
          <a:xfrm>
            <a:off x="6172200" y="4233672"/>
            <a:ext cx="365760" cy="228600"/>
          </a:xfrm>
          <a:prstGeom prst="rect">
            <a:avLst/>
          </a:prstGeom>
          <a:noFill/>
          <a:ln/>
        </p:spPr>
        <p:txBody>
          <a:bodyPr wrap="square" lIns="0" tIns="0" rIns="0" bIns="0" rtlCol="0" anchor="ctr"/>
          <a:lstStyle/>
          <a:p>
            <a:pPr algn="ctr" indent="0" marL="0">
              <a:buNone/>
            </a:pPr>
            <a:r>
              <a:rPr lang="en-US" sz="850" b="1" dirty="0">
                <a:solidFill>
                  <a:srgbClr val="5B6573"/>
                </a:solidFill>
                <a:latin typeface="Calibri" pitchFamily="34" charset="0"/>
                <a:ea typeface="Calibri" pitchFamily="34" charset="-122"/>
                <a:cs typeface="Calibri" pitchFamily="34" charset="-120"/>
              </a:rPr>
              <a:t>?</a:t>
            </a:r>
            <a:endParaRPr lang="en-US" sz="850" dirty="0"/>
          </a:p>
        </p:txBody>
      </p:sp>
      <p:sp>
        <p:nvSpPr>
          <p:cNvPr id="107" name="Shape 102"/>
          <p:cNvSpPr/>
          <p:nvPr/>
        </p:nvSpPr>
        <p:spPr>
          <a:xfrm>
            <a:off x="6583680" y="4233672"/>
            <a:ext cx="594360" cy="228600"/>
          </a:xfrm>
          <a:prstGeom prst="rect">
            <a:avLst/>
          </a:prstGeom>
          <a:solidFill>
            <a:srgbClr val="F1E8D3"/>
          </a:solidFill>
          <a:ln/>
        </p:spPr>
      </p:sp>
      <p:sp>
        <p:nvSpPr>
          <p:cNvPr id="108" name="Text 103"/>
          <p:cNvSpPr txBox="1"/>
          <p:nvPr/>
        </p:nvSpPr>
        <p:spPr>
          <a:xfrm>
            <a:off x="6629400" y="4233672"/>
            <a:ext cx="502920" cy="228600"/>
          </a:xfrm>
          <a:prstGeom prst="rect">
            <a:avLst/>
          </a:prstGeom>
          <a:noFill/>
          <a:ln/>
        </p:spPr>
        <p:txBody>
          <a:bodyPr wrap="square" lIns="0" tIns="0" rIns="0" bIns="0" rtlCol="0" anchor="ctr"/>
          <a:lstStyle/>
          <a:p>
            <a:pPr algn="ctr" indent="0" marL="0">
              <a:buNone/>
            </a:pPr>
            <a:r>
              <a:rPr lang="en-US" sz="850" b="1" dirty="0">
                <a:solidFill>
                  <a:srgbClr val="5B6573"/>
                </a:solidFill>
                <a:latin typeface="Calibri" pitchFamily="34" charset="0"/>
                <a:ea typeface="Calibri" pitchFamily="34" charset="-122"/>
                <a:cs typeface="Calibri" pitchFamily="34" charset="-120"/>
              </a:rPr>
              <a:t>?</a:t>
            </a:r>
            <a:endParaRPr lang="en-US" sz="850" dirty="0"/>
          </a:p>
        </p:txBody>
      </p:sp>
      <p:sp>
        <p:nvSpPr>
          <p:cNvPr id="109" name="Shape 104"/>
          <p:cNvSpPr/>
          <p:nvPr/>
        </p:nvSpPr>
        <p:spPr>
          <a:xfrm>
            <a:off x="7178040" y="4233672"/>
            <a:ext cx="594360" cy="228600"/>
          </a:xfrm>
          <a:prstGeom prst="rect">
            <a:avLst/>
          </a:prstGeom>
          <a:solidFill>
            <a:srgbClr val="F1E8D3"/>
          </a:solidFill>
          <a:ln/>
        </p:spPr>
      </p:sp>
      <p:sp>
        <p:nvSpPr>
          <p:cNvPr id="110" name="Text 105"/>
          <p:cNvSpPr txBox="1"/>
          <p:nvPr/>
        </p:nvSpPr>
        <p:spPr>
          <a:xfrm>
            <a:off x="7223760" y="4233672"/>
            <a:ext cx="502920" cy="228600"/>
          </a:xfrm>
          <a:prstGeom prst="rect">
            <a:avLst/>
          </a:prstGeom>
          <a:noFill/>
          <a:ln/>
        </p:spPr>
        <p:txBody>
          <a:bodyPr wrap="square" lIns="0" tIns="0" rIns="0" bIns="0" rtlCol="0" anchor="ctr"/>
          <a:lstStyle/>
          <a:p>
            <a:pPr algn="ctr" indent="0" marL="0">
              <a:buNone/>
            </a:pPr>
            <a:r>
              <a:rPr lang="en-US" sz="850" b="1" dirty="0">
                <a:solidFill>
                  <a:srgbClr val="5B6573"/>
                </a:solidFill>
                <a:latin typeface="Calibri" pitchFamily="34" charset="0"/>
                <a:ea typeface="Calibri" pitchFamily="34" charset="-122"/>
                <a:cs typeface="Calibri" pitchFamily="34" charset="-120"/>
              </a:rPr>
              <a:t>?</a:t>
            </a:r>
            <a:endParaRPr lang="en-US" sz="850" dirty="0"/>
          </a:p>
        </p:txBody>
      </p:sp>
      <p:sp>
        <p:nvSpPr>
          <p:cNvPr id="111" name="Shape 106"/>
          <p:cNvSpPr/>
          <p:nvPr/>
        </p:nvSpPr>
        <p:spPr>
          <a:xfrm>
            <a:off x="7772400" y="4233672"/>
            <a:ext cx="548640" cy="228600"/>
          </a:xfrm>
          <a:prstGeom prst="rect">
            <a:avLst/>
          </a:prstGeom>
          <a:solidFill>
            <a:srgbClr val="F1E8D3"/>
          </a:solidFill>
          <a:ln/>
        </p:spPr>
      </p:sp>
      <p:sp>
        <p:nvSpPr>
          <p:cNvPr id="112" name="Text 107"/>
          <p:cNvSpPr txBox="1"/>
          <p:nvPr/>
        </p:nvSpPr>
        <p:spPr>
          <a:xfrm>
            <a:off x="7818120" y="4233672"/>
            <a:ext cx="457200" cy="228600"/>
          </a:xfrm>
          <a:prstGeom prst="rect">
            <a:avLst/>
          </a:prstGeom>
          <a:noFill/>
          <a:ln/>
        </p:spPr>
        <p:txBody>
          <a:bodyPr wrap="square" lIns="0" tIns="0" rIns="0" bIns="0" rtlCol="0" anchor="ctr"/>
          <a:lstStyle/>
          <a:p>
            <a:pPr algn="ctr" indent="0" marL="0">
              <a:buNone/>
            </a:pPr>
            <a:r>
              <a:rPr lang="en-US" sz="850" b="1" dirty="0">
                <a:solidFill>
                  <a:srgbClr val="5B6573"/>
                </a:solidFill>
                <a:latin typeface="Calibri" pitchFamily="34" charset="0"/>
                <a:ea typeface="Calibri" pitchFamily="34" charset="-122"/>
                <a:cs typeface="Calibri" pitchFamily="34" charset="-120"/>
              </a:rPr>
              <a:t>?</a:t>
            </a:r>
            <a:endParaRPr lang="en-US" sz="850" dirty="0"/>
          </a:p>
        </p:txBody>
      </p:sp>
      <p:sp>
        <p:nvSpPr>
          <p:cNvPr id="113" name="Shape 108"/>
          <p:cNvSpPr/>
          <p:nvPr/>
        </p:nvSpPr>
        <p:spPr>
          <a:xfrm>
            <a:off x="4572000" y="4462272"/>
            <a:ext cx="3749040" cy="0"/>
          </a:xfrm>
          <a:prstGeom prst="line">
            <a:avLst/>
          </a:prstGeom>
          <a:noFill/>
          <a:ln w="6350">
            <a:solidFill>
              <a:srgbClr val="E3E8E4"/>
            </a:solidFill>
            <a:prstDash val="solid"/>
          </a:ln>
        </p:spPr>
      </p:sp>
      <p:sp>
        <p:nvSpPr>
          <p:cNvPr id="114" name="Shape 109"/>
          <p:cNvSpPr/>
          <p:nvPr/>
        </p:nvSpPr>
        <p:spPr>
          <a:xfrm>
            <a:off x="4572000" y="4462272"/>
            <a:ext cx="914400" cy="228600"/>
          </a:xfrm>
          <a:prstGeom prst="rect">
            <a:avLst/>
          </a:prstGeom>
          <a:solidFill>
            <a:srgbClr val="FFFFFF"/>
          </a:solidFill>
          <a:ln/>
        </p:spPr>
      </p:sp>
      <p:sp>
        <p:nvSpPr>
          <p:cNvPr id="115" name="Text 110"/>
          <p:cNvSpPr txBox="1"/>
          <p:nvPr/>
        </p:nvSpPr>
        <p:spPr>
          <a:xfrm>
            <a:off x="4617720" y="4462272"/>
            <a:ext cx="822960"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Fedena</a:t>
            </a:r>
            <a:endParaRPr lang="en-US" sz="850" dirty="0"/>
          </a:p>
        </p:txBody>
      </p:sp>
      <p:sp>
        <p:nvSpPr>
          <p:cNvPr id="116" name="Shape 111"/>
          <p:cNvSpPr/>
          <p:nvPr/>
        </p:nvSpPr>
        <p:spPr>
          <a:xfrm>
            <a:off x="5486400" y="4462272"/>
            <a:ext cx="640080" cy="228600"/>
          </a:xfrm>
          <a:prstGeom prst="rect">
            <a:avLst/>
          </a:prstGeom>
          <a:solidFill>
            <a:srgbClr val="FFFFFF"/>
          </a:solidFill>
          <a:ln/>
        </p:spPr>
      </p:sp>
      <p:sp>
        <p:nvSpPr>
          <p:cNvPr id="117" name="Text 112"/>
          <p:cNvSpPr txBox="1"/>
          <p:nvPr/>
        </p:nvSpPr>
        <p:spPr>
          <a:xfrm>
            <a:off x="5532120" y="4462272"/>
            <a:ext cx="548640"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10–21</a:t>
            </a:r>
            <a:endParaRPr lang="en-US" sz="850" dirty="0"/>
          </a:p>
        </p:txBody>
      </p:sp>
      <p:sp>
        <p:nvSpPr>
          <p:cNvPr id="118" name="Shape 113"/>
          <p:cNvSpPr/>
          <p:nvPr/>
        </p:nvSpPr>
        <p:spPr>
          <a:xfrm>
            <a:off x="6126480" y="4462272"/>
            <a:ext cx="457200" cy="228600"/>
          </a:xfrm>
          <a:prstGeom prst="rect">
            <a:avLst/>
          </a:prstGeom>
          <a:solidFill>
            <a:srgbClr val="F4F7FB"/>
          </a:solidFill>
          <a:ln/>
        </p:spPr>
      </p:sp>
      <p:sp>
        <p:nvSpPr>
          <p:cNvPr id="119" name="Text 114"/>
          <p:cNvSpPr txBox="1"/>
          <p:nvPr/>
        </p:nvSpPr>
        <p:spPr>
          <a:xfrm>
            <a:off x="6172200" y="4462272"/>
            <a:ext cx="365760" cy="228600"/>
          </a:xfrm>
          <a:prstGeom prst="rect">
            <a:avLst/>
          </a:prstGeom>
          <a:noFill/>
          <a:ln/>
        </p:spPr>
        <p:txBody>
          <a:bodyPr wrap="square" lIns="0" tIns="0" rIns="0" bIns="0" rtlCol="0" anchor="ctr"/>
          <a:lstStyle/>
          <a:p>
            <a:pPr algn="ctr" indent="0" marL="0">
              <a:buNone/>
            </a:pPr>
            <a:r>
              <a:rPr lang="en-US" sz="850" b="1" dirty="0">
                <a:solidFill>
                  <a:srgbClr val="5B6573"/>
                </a:solidFill>
                <a:latin typeface="Calibri" pitchFamily="34" charset="0"/>
                <a:ea typeface="Calibri" pitchFamily="34" charset="-122"/>
                <a:cs typeface="Calibri" pitchFamily="34" charset="-120"/>
              </a:rPr>
              <a:t>no</a:t>
            </a:r>
            <a:endParaRPr lang="en-US" sz="850" dirty="0"/>
          </a:p>
        </p:txBody>
      </p:sp>
      <p:sp>
        <p:nvSpPr>
          <p:cNvPr id="120" name="Shape 115"/>
          <p:cNvSpPr/>
          <p:nvPr/>
        </p:nvSpPr>
        <p:spPr>
          <a:xfrm>
            <a:off x="6583680" y="4462272"/>
            <a:ext cx="594360" cy="228600"/>
          </a:xfrm>
          <a:prstGeom prst="rect">
            <a:avLst/>
          </a:prstGeom>
          <a:solidFill>
            <a:srgbClr val="F1E8D3"/>
          </a:solidFill>
          <a:ln/>
        </p:spPr>
      </p:sp>
      <p:sp>
        <p:nvSpPr>
          <p:cNvPr id="121" name="Text 116"/>
          <p:cNvSpPr txBox="1"/>
          <p:nvPr/>
        </p:nvSpPr>
        <p:spPr>
          <a:xfrm>
            <a:off x="6629400" y="4462272"/>
            <a:ext cx="502920" cy="228600"/>
          </a:xfrm>
          <a:prstGeom prst="rect">
            <a:avLst/>
          </a:prstGeom>
          <a:noFill/>
          <a:ln/>
        </p:spPr>
        <p:txBody>
          <a:bodyPr wrap="square" lIns="0" tIns="0" rIns="0" bIns="0" rtlCol="0" anchor="ctr"/>
          <a:lstStyle/>
          <a:p>
            <a:pPr algn="ctr" indent="0" marL="0">
              <a:buNone/>
            </a:pPr>
            <a:r>
              <a:rPr lang="en-US" sz="850" b="1" dirty="0">
                <a:solidFill>
                  <a:srgbClr val="5B6573"/>
                </a:solidFill>
                <a:latin typeface="Calibri" pitchFamily="34" charset="0"/>
                <a:ea typeface="Calibri" pitchFamily="34" charset="-122"/>
                <a:cs typeface="Calibri" pitchFamily="34" charset="-120"/>
              </a:rPr>
              <a:t>?</a:t>
            </a:r>
            <a:endParaRPr lang="en-US" sz="850" dirty="0"/>
          </a:p>
        </p:txBody>
      </p:sp>
      <p:sp>
        <p:nvSpPr>
          <p:cNvPr id="122" name="Shape 117"/>
          <p:cNvSpPr/>
          <p:nvPr/>
        </p:nvSpPr>
        <p:spPr>
          <a:xfrm>
            <a:off x="7178040" y="4462272"/>
            <a:ext cx="594360" cy="228600"/>
          </a:xfrm>
          <a:prstGeom prst="rect">
            <a:avLst/>
          </a:prstGeom>
          <a:solidFill>
            <a:srgbClr val="D6E4F5"/>
          </a:solidFill>
          <a:ln/>
        </p:spPr>
      </p:sp>
      <p:sp>
        <p:nvSpPr>
          <p:cNvPr id="123" name="Text 118"/>
          <p:cNvSpPr txBox="1"/>
          <p:nvPr/>
        </p:nvSpPr>
        <p:spPr>
          <a:xfrm>
            <a:off x="7223760" y="4462272"/>
            <a:ext cx="502920" cy="228600"/>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yes</a:t>
            </a:r>
            <a:endParaRPr lang="en-US" sz="850" dirty="0"/>
          </a:p>
        </p:txBody>
      </p:sp>
      <p:sp>
        <p:nvSpPr>
          <p:cNvPr id="124" name="Shape 119"/>
          <p:cNvSpPr/>
          <p:nvPr/>
        </p:nvSpPr>
        <p:spPr>
          <a:xfrm>
            <a:off x="7772400" y="4462272"/>
            <a:ext cx="548640" cy="228600"/>
          </a:xfrm>
          <a:prstGeom prst="rect">
            <a:avLst/>
          </a:prstGeom>
          <a:solidFill>
            <a:srgbClr val="F1E8D3"/>
          </a:solidFill>
          <a:ln/>
        </p:spPr>
      </p:sp>
      <p:sp>
        <p:nvSpPr>
          <p:cNvPr id="125" name="Text 120"/>
          <p:cNvSpPr txBox="1"/>
          <p:nvPr/>
        </p:nvSpPr>
        <p:spPr>
          <a:xfrm>
            <a:off x="7818120" y="4462272"/>
            <a:ext cx="457200" cy="228600"/>
          </a:xfrm>
          <a:prstGeom prst="rect">
            <a:avLst/>
          </a:prstGeom>
          <a:noFill/>
          <a:ln/>
        </p:spPr>
        <p:txBody>
          <a:bodyPr wrap="square" lIns="0" tIns="0" rIns="0" bIns="0" rtlCol="0" anchor="ctr"/>
          <a:lstStyle/>
          <a:p>
            <a:pPr algn="ctr" indent="0" marL="0">
              <a:buNone/>
            </a:pPr>
            <a:r>
              <a:rPr lang="en-US" sz="850" b="1" dirty="0">
                <a:solidFill>
                  <a:srgbClr val="5B6573"/>
                </a:solidFill>
                <a:latin typeface="Calibri" pitchFamily="34" charset="0"/>
                <a:ea typeface="Calibri" pitchFamily="34" charset="-122"/>
                <a:cs typeface="Calibri" pitchFamily="34" charset="-120"/>
              </a:rPr>
              <a:t>?</a:t>
            </a:r>
            <a:endParaRPr lang="en-US" sz="850" dirty="0"/>
          </a:p>
        </p:txBody>
      </p:sp>
      <p:sp>
        <p:nvSpPr>
          <p:cNvPr id="126" name="Shape 121"/>
          <p:cNvSpPr/>
          <p:nvPr/>
        </p:nvSpPr>
        <p:spPr>
          <a:xfrm>
            <a:off x="4572000" y="4690872"/>
            <a:ext cx="3749040" cy="0"/>
          </a:xfrm>
          <a:prstGeom prst="line">
            <a:avLst/>
          </a:prstGeom>
          <a:noFill/>
          <a:ln w="6350">
            <a:solidFill>
              <a:srgbClr val="E3E8E4"/>
            </a:solidFill>
            <a:prstDash val="solid"/>
          </a:ln>
        </p:spPr>
      </p:sp>
      <p:sp>
        <p:nvSpPr>
          <p:cNvPr id="127" name="Shape 122"/>
          <p:cNvSpPr/>
          <p:nvPr/>
        </p:nvSpPr>
        <p:spPr>
          <a:xfrm>
            <a:off x="4572000" y="4690872"/>
            <a:ext cx="914400" cy="228600"/>
          </a:xfrm>
          <a:prstGeom prst="rect">
            <a:avLst/>
          </a:prstGeom>
          <a:solidFill>
            <a:srgbClr val="FFFFFF"/>
          </a:solidFill>
          <a:ln/>
        </p:spPr>
      </p:sp>
      <p:sp>
        <p:nvSpPr>
          <p:cNvPr id="128" name="Text 123"/>
          <p:cNvSpPr txBox="1"/>
          <p:nvPr/>
        </p:nvSpPr>
        <p:spPr>
          <a:xfrm>
            <a:off x="4617720" y="4690872"/>
            <a:ext cx="822960" cy="228600"/>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Teachmint</a:t>
            </a:r>
            <a:endParaRPr lang="en-US" sz="850" dirty="0"/>
          </a:p>
        </p:txBody>
      </p:sp>
      <p:sp>
        <p:nvSpPr>
          <p:cNvPr id="129" name="Shape 124"/>
          <p:cNvSpPr/>
          <p:nvPr/>
        </p:nvSpPr>
        <p:spPr>
          <a:xfrm>
            <a:off x="5486400" y="4690872"/>
            <a:ext cx="640080" cy="228600"/>
          </a:xfrm>
          <a:prstGeom prst="rect">
            <a:avLst/>
          </a:prstGeom>
          <a:solidFill>
            <a:srgbClr val="FFFFFF"/>
          </a:solidFill>
          <a:ln/>
        </p:spPr>
      </p:sp>
      <p:sp>
        <p:nvSpPr>
          <p:cNvPr id="130" name="Text 125"/>
          <p:cNvSpPr txBox="1"/>
          <p:nvPr/>
        </p:nvSpPr>
        <p:spPr>
          <a:xfrm>
            <a:off x="5532120" y="4690872"/>
            <a:ext cx="548640" cy="228600"/>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20–40</a:t>
            </a:r>
            <a:endParaRPr lang="en-US" sz="850" dirty="0"/>
          </a:p>
        </p:txBody>
      </p:sp>
      <p:sp>
        <p:nvSpPr>
          <p:cNvPr id="131" name="Shape 126"/>
          <p:cNvSpPr/>
          <p:nvPr/>
        </p:nvSpPr>
        <p:spPr>
          <a:xfrm>
            <a:off x="6126480" y="4690872"/>
            <a:ext cx="457200" cy="228600"/>
          </a:xfrm>
          <a:prstGeom prst="rect">
            <a:avLst/>
          </a:prstGeom>
          <a:solidFill>
            <a:srgbClr val="F1E8D3"/>
          </a:solidFill>
          <a:ln/>
        </p:spPr>
      </p:sp>
      <p:sp>
        <p:nvSpPr>
          <p:cNvPr id="132" name="Text 127"/>
          <p:cNvSpPr txBox="1"/>
          <p:nvPr/>
        </p:nvSpPr>
        <p:spPr>
          <a:xfrm>
            <a:off x="6172200" y="4690872"/>
            <a:ext cx="365760" cy="228600"/>
          </a:xfrm>
          <a:prstGeom prst="rect">
            <a:avLst/>
          </a:prstGeom>
          <a:noFill/>
          <a:ln/>
        </p:spPr>
        <p:txBody>
          <a:bodyPr wrap="square" lIns="0" tIns="0" rIns="0" bIns="0" rtlCol="0" anchor="ctr"/>
          <a:lstStyle/>
          <a:p>
            <a:pPr algn="ctr" indent="0" marL="0">
              <a:buNone/>
            </a:pPr>
            <a:r>
              <a:rPr lang="en-US" sz="850" b="1" dirty="0">
                <a:solidFill>
                  <a:srgbClr val="5B6573"/>
                </a:solidFill>
                <a:latin typeface="Calibri" pitchFamily="34" charset="0"/>
                <a:ea typeface="Calibri" pitchFamily="34" charset="-122"/>
                <a:cs typeface="Calibri" pitchFamily="34" charset="-120"/>
              </a:rPr>
              <a:t>?</a:t>
            </a:r>
            <a:endParaRPr lang="en-US" sz="850" dirty="0"/>
          </a:p>
        </p:txBody>
      </p:sp>
      <p:sp>
        <p:nvSpPr>
          <p:cNvPr id="133" name="Shape 128"/>
          <p:cNvSpPr/>
          <p:nvPr/>
        </p:nvSpPr>
        <p:spPr>
          <a:xfrm>
            <a:off x="6583680" y="4690872"/>
            <a:ext cx="594360" cy="228600"/>
          </a:xfrm>
          <a:prstGeom prst="rect">
            <a:avLst/>
          </a:prstGeom>
          <a:solidFill>
            <a:srgbClr val="F1E8D3"/>
          </a:solidFill>
          <a:ln/>
        </p:spPr>
      </p:sp>
      <p:sp>
        <p:nvSpPr>
          <p:cNvPr id="134" name="Text 129"/>
          <p:cNvSpPr txBox="1"/>
          <p:nvPr/>
        </p:nvSpPr>
        <p:spPr>
          <a:xfrm>
            <a:off x="6629400" y="4690872"/>
            <a:ext cx="502920" cy="228600"/>
          </a:xfrm>
          <a:prstGeom prst="rect">
            <a:avLst/>
          </a:prstGeom>
          <a:noFill/>
          <a:ln/>
        </p:spPr>
        <p:txBody>
          <a:bodyPr wrap="square" lIns="0" tIns="0" rIns="0" bIns="0" rtlCol="0" anchor="ctr"/>
          <a:lstStyle/>
          <a:p>
            <a:pPr algn="ctr" indent="0" marL="0">
              <a:buNone/>
            </a:pPr>
            <a:r>
              <a:rPr lang="en-US" sz="850" b="1" dirty="0">
                <a:solidFill>
                  <a:srgbClr val="5B6573"/>
                </a:solidFill>
                <a:latin typeface="Calibri" pitchFamily="34" charset="0"/>
                <a:ea typeface="Calibri" pitchFamily="34" charset="-122"/>
                <a:cs typeface="Calibri" pitchFamily="34" charset="-120"/>
              </a:rPr>
              <a:t>?</a:t>
            </a:r>
            <a:endParaRPr lang="en-US" sz="850" dirty="0"/>
          </a:p>
        </p:txBody>
      </p:sp>
      <p:sp>
        <p:nvSpPr>
          <p:cNvPr id="135" name="Shape 130"/>
          <p:cNvSpPr/>
          <p:nvPr/>
        </p:nvSpPr>
        <p:spPr>
          <a:xfrm>
            <a:off x="7178040" y="4690872"/>
            <a:ext cx="594360" cy="228600"/>
          </a:xfrm>
          <a:prstGeom prst="rect">
            <a:avLst/>
          </a:prstGeom>
          <a:solidFill>
            <a:srgbClr val="D6E4F5"/>
          </a:solidFill>
          <a:ln/>
        </p:spPr>
      </p:sp>
      <p:sp>
        <p:nvSpPr>
          <p:cNvPr id="136" name="Text 131"/>
          <p:cNvSpPr txBox="1"/>
          <p:nvPr/>
        </p:nvSpPr>
        <p:spPr>
          <a:xfrm>
            <a:off x="7223760" y="4690872"/>
            <a:ext cx="502920" cy="228600"/>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yes</a:t>
            </a:r>
            <a:endParaRPr lang="en-US" sz="850" dirty="0"/>
          </a:p>
        </p:txBody>
      </p:sp>
      <p:sp>
        <p:nvSpPr>
          <p:cNvPr id="137" name="Shape 132"/>
          <p:cNvSpPr/>
          <p:nvPr/>
        </p:nvSpPr>
        <p:spPr>
          <a:xfrm>
            <a:off x="7772400" y="4690872"/>
            <a:ext cx="548640" cy="228600"/>
          </a:xfrm>
          <a:prstGeom prst="rect">
            <a:avLst/>
          </a:prstGeom>
          <a:solidFill>
            <a:srgbClr val="D6E4F5"/>
          </a:solidFill>
          <a:ln/>
        </p:spPr>
      </p:sp>
      <p:sp>
        <p:nvSpPr>
          <p:cNvPr id="138" name="Text 133"/>
          <p:cNvSpPr txBox="1"/>
          <p:nvPr/>
        </p:nvSpPr>
        <p:spPr>
          <a:xfrm>
            <a:off x="7818120" y="4690872"/>
            <a:ext cx="457200" cy="228600"/>
          </a:xfrm>
          <a:prstGeom prst="rect">
            <a:avLst/>
          </a:prstGeom>
          <a:noFill/>
          <a:ln/>
        </p:spPr>
        <p:txBody>
          <a:bodyPr wrap="square" lIns="0" tIns="0" rIns="0" bIns="0" rtlCol="0" anchor="ctr"/>
          <a:lstStyle/>
          <a:p>
            <a:pPr algn="ctr" indent="0" marL="0">
              <a:buNone/>
            </a:pPr>
            <a:r>
              <a:rPr lang="en-US" sz="850" b="1" dirty="0">
                <a:solidFill>
                  <a:srgbClr val="1F4A82"/>
                </a:solidFill>
                <a:latin typeface="Calibri" pitchFamily="34" charset="0"/>
                <a:ea typeface="Calibri" pitchFamily="34" charset="-122"/>
                <a:cs typeface="Calibri" pitchFamily="34" charset="-120"/>
              </a:rPr>
              <a:t>yes</a:t>
            </a:r>
            <a:endParaRPr lang="en-US" sz="850" dirty="0"/>
          </a:p>
        </p:txBody>
      </p:sp>
      <p:sp>
        <p:nvSpPr>
          <p:cNvPr id="139" name="Shape 134"/>
          <p:cNvSpPr/>
          <p:nvPr/>
        </p:nvSpPr>
        <p:spPr>
          <a:xfrm>
            <a:off x="4572000" y="4919472"/>
            <a:ext cx="3749040" cy="0"/>
          </a:xfrm>
          <a:prstGeom prst="line">
            <a:avLst/>
          </a:prstGeom>
          <a:noFill/>
          <a:ln w="6350">
            <a:solidFill>
              <a:srgbClr val="E3E8E4"/>
            </a:solidFill>
            <a:prstDash val="solid"/>
          </a:ln>
        </p:spPr>
      </p:sp>
      <p:sp>
        <p:nvSpPr>
          <p:cNvPr id="140" name="Shape 135"/>
          <p:cNvSpPr/>
          <p:nvPr/>
        </p:nvSpPr>
        <p:spPr>
          <a:xfrm>
            <a:off x="4572000" y="4919472"/>
            <a:ext cx="914400" cy="228600"/>
          </a:xfrm>
          <a:prstGeom prst="rect">
            <a:avLst/>
          </a:prstGeom>
          <a:solidFill>
            <a:srgbClr val="1F4A82"/>
          </a:solidFill>
          <a:ln/>
        </p:spPr>
      </p:sp>
      <p:sp>
        <p:nvSpPr>
          <p:cNvPr id="141" name="Text 136"/>
          <p:cNvSpPr txBox="1"/>
          <p:nvPr/>
        </p:nvSpPr>
        <p:spPr>
          <a:xfrm>
            <a:off x="4617720" y="4919472"/>
            <a:ext cx="822960" cy="228600"/>
          </a:xfrm>
          <a:prstGeom prst="rect">
            <a:avLst/>
          </a:prstGeom>
          <a:noFill/>
          <a:ln/>
        </p:spPr>
        <p:txBody>
          <a:bodyPr wrap="square" lIns="0" tIns="0" rIns="0" bIns="0"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Pragati</a:t>
            </a:r>
            <a:endParaRPr lang="en-US" sz="850" dirty="0"/>
          </a:p>
        </p:txBody>
      </p:sp>
      <p:sp>
        <p:nvSpPr>
          <p:cNvPr id="142" name="Shape 137"/>
          <p:cNvSpPr/>
          <p:nvPr/>
        </p:nvSpPr>
        <p:spPr>
          <a:xfrm>
            <a:off x="5486400" y="4919472"/>
            <a:ext cx="640080" cy="228600"/>
          </a:xfrm>
          <a:prstGeom prst="rect">
            <a:avLst/>
          </a:prstGeom>
          <a:solidFill>
            <a:srgbClr val="1F4A82"/>
          </a:solidFill>
          <a:ln/>
        </p:spPr>
      </p:sp>
      <p:sp>
        <p:nvSpPr>
          <p:cNvPr id="143" name="Text 138"/>
          <p:cNvSpPr txBox="1"/>
          <p:nvPr/>
        </p:nvSpPr>
        <p:spPr>
          <a:xfrm>
            <a:off x="5532120" y="4919472"/>
            <a:ext cx="548640"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30</a:t>
            </a:r>
            <a:endParaRPr lang="en-US" sz="850" dirty="0"/>
          </a:p>
        </p:txBody>
      </p:sp>
      <p:sp>
        <p:nvSpPr>
          <p:cNvPr id="144" name="Shape 139"/>
          <p:cNvSpPr/>
          <p:nvPr/>
        </p:nvSpPr>
        <p:spPr>
          <a:xfrm>
            <a:off x="6126480" y="4919472"/>
            <a:ext cx="457200" cy="228600"/>
          </a:xfrm>
          <a:prstGeom prst="rect">
            <a:avLst/>
          </a:prstGeom>
          <a:solidFill>
            <a:srgbClr val="1F4A82"/>
          </a:solidFill>
          <a:ln/>
        </p:spPr>
      </p:sp>
      <p:sp>
        <p:nvSpPr>
          <p:cNvPr id="145" name="Text 140"/>
          <p:cNvSpPr txBox="1"/>
          <p:nvPr/>
        </p:nvSpPr>
        <p:spPr>
          <a:xfrm>
            <a:off x="6172200" y="4919472"/>
            <a:ext cx="365760"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yes</a:t>
            </a:r>
            <a:endParaRPr lang="en-US" sz="850" dirty="0"/>
          </a:p>
        </p:txBody>
      </p:sp>
      <p:sp>
        <p:nvSpPr>
          <p:cNvPr id="146" name="Shape 141"/>
          <p:cNvSpPr/>
          <p:nvPr/>
        </p:nvSpPr>
        <p:spPr>
          <a:xfrm>
            <a:off x="6583680" y="4919472"/>
            <a:ext cx="594360" cy="228600"/>
          </a:xfrm>
          <a:prstGeom prst="rect">
            <a:avLst/>
          </a:prstGeom>
          <a:solidFill>
            <a:srgbClr val="1F4A82"/>
          </a:solidFill>
          <a:ln/>
        </p:spPr>
      </p:sp>
      <p:sp>
        <p:nvSpPr>
          <p:cNvPr id="147" name="Text 142"/>
          <p:cNvSpPr txBox="1"/>
          <p:nvPr/>
        </p:nvSpPr>
        <p:spPr>
          <a:xfrm>
            <a:off x="6629400" y="4919472"/>
            <a:ext cx="502920"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yes</a:t>
            </a:r>
            <a:endParaRPr lang="en-US" sz="850" dirty="0"/>
          </a:p>
        </p:txBody>
      </p:sp>
      <p:sp>
        <p:nvSpPr>
          <p:cNvPr id="148" name="Shape 143"/>
          <p:cNvSpPr/>
          <p:nvPr/>
        </p:nvSpPr>
        <p:spPr>
          <a:xfrm>
            <a:off x="7178040" y="4919472"/>
            <a:ext cx="594360" cy="228600"/>
          </a:xfrm>
          <a:prstGeom prst="rect">
            <a:avLst/>
          </a:prstGeom>
          <a:solidFill>
            <a:srgbClr val="1F4A82"/>
          </a:solidFill>
          <a:ln/>
        </p:spPr>
      </p:sp>
      <p:sp>
        <p:nvSpPr>
          <p:cNvPr id="149" name="Text 144"/>
          <p:cNvSpPr txBox="1"/>
          <p:nvPr/>
        </p:nvSpPr>
        <p:spPr>
          <a:xfrm>
            <a:off x="7223760" y="4919472"/>
            <a:ext cx="502920"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yes</a:t>
            </a:r>
            <a:endParaRPr lang="en-US" sz="850" dirty="0"/>
          </a:p>
        </p:txBody>
      </p:sp>
      <p:sp>
        <p:nvSpPr>
          <p:cNvPr id="150" name="Shape 145"/>
          <p:cNvSpPr/>
          <p:nvPr/>
        </p:nvSpPr>
        <p:spPr>
          <a:xfrm>
            <a:off x="7772400" y="4919472"/>
            <a:ext cx="548640" cy="228600"/>
          </a:xfrm>
          <a:prstGeom prst="rect">
            <a:avLst/>
          </a:prstGeom>
          <a:solidFill>
            <a:srgbClr val="1F4A82"/>
          </a:solidFill>
          <a:ln/>
        </p:spPr>
      </p:sp>
      <p:sp>
        <p:nvSpPr>
          <p:cNvPr id="151" name="Text 146"/>
          <p:cNvSpPr txBox="1"/>
          <p:nvPr/>
        </p:nvSpPr>
        <p:spPr>
          <a:xfrm>
            <a:off x="7818120" y="4919472"/>
            <a:ext cx="457200" cy="2286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yes</a:t>
            </a:r>
            <a:endParaRPr lang="en-US" sz="850" dirty="0"/>
          </a:p>
        </p:txBody>
      </p:sp>
      <p:sp>
        <p:nvSpPr>
          <p:cNvPr id="152" name="Shape 147"/>
          <p:cNvSpPr/>
          <p:nvPr/>
        </p:nvSpPr>
        <p:spPr>
          <a:xfrm>
            <a:off x="4572000" y="5148072"/>
            <a:ext cx="3749040" cy="0"/>
          </a:xfrm>
          <a:prstGeom prst="line">
            <a:avLst/>
          </a:prstGeom>
          <a:noFill/>
          <a:ln w="6350">
            <a:solidFill>
              <a:srgbClr val="E3E8E4"/>
            </a:solidFill>
            <a:prstDash val="solid"/>
          </a:ln>
        </p:spPr>
      </p:sp>
      <p:sp>
        <p:nvSpPr>
          <p:cNvPr id="153" name="Text 148"/>
          <p:cNvSpPr txBox="1"/>
          <p:nvPr/>
        </p:nvSpPr>
        <p:spPr>
          <a:xfrm>
            <a:off x="4572000" y="5230368"/>
            <a:ext cx="3749040" cy="164592"/>
          </a:xfrm>
          <a:prstGeom prst="rect">
            <a:avLst/>
          </a:prstGeom>
          <a:noFill/>
          <a:ln/>
        </p:spPr>
        <p:txBody>
          <a:bodyPr wrap="square" lIns="0" tIns="0" rIns="0" bIns="0" rtlCol="0" anchor="t"/>
          <a:lstStyle/>
          <a:p>
            <a:pPr algn="l" indent="0" marL="0">
              <a:buNone/>
            </a:pPr>
            <a:r>
              <a:rPr lang="en-US" sz="750" i="1" dirty="0">
                <a:solidFill>
                  <a:srgbClr val="5B6573"/>
                </a:solidFill>
                <a:latin typeface="Calibri" pitchFamily="34" charset="0"/>
                <a:ea typeface="Calibri" pitchFamily="34" charset="-122"/>
                <a:cs typeface="Calibri" pitchFamily="34" charset="-120"/>
              </a:rPr>
              <a:t>yes: in listing · no: not shown · ?: not verifiable</a:t>
            </a:r>
            <a:endParaRPr lang="en-US" sz="750" dirty="0"/>
          </a:p>
        </p:txBody>
      </p:sp>
      <p:sp>
        <p:nvSpPr>
          <p:cNvPr id="154" name="Shape 149"/>
          <p:cNvSpPr/>
          <p:nvPr/>
        </p:nvSpPr>
        <p:spPr>
          <a:xfrm>
            <a:off x="4572000" y="5440680"/>
            <a:ext cx="1015990" cy="402336"/>
          </a:xfrm>
          <a:prstGeom prst="homePlate">
            <a:avLst/>
          </a:prstGeom>
          <a:solidFill>
            <a:srgbClr val="1F4A82"/>
          </a:solidFill>
          <a:ln w="25400">
            <a:solidFill>
              <a:srgbClr val="FFFFFF"/>
            </a:solidFill>
            <a:prstDash val="solid"/>
          </a:ln>
        </p:spPr>
      </p:sp>
      <p:sp>
        <p:nvSpPr>
          <p:cNvPr id="155" name="Text 150"/>
          <p:cNvSpPr txBox="1"/>
          <p:nvPr/>
        </p:nvSpPr>
        <p:spPr>
          <a:xfrm>
            <a:off x="4700016" y="5440680"/>
            <a:ext cx="741670"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More institutes</a:t>
            </a:r>
            <a:endParaRPr lang="en-US" sz="800" dirty="0"/>
          </a:p>
        </p:txBody>
      </p:sp>
      <p:sp>
        <p:nvSpPr>
          <p:cNvPr id="156" name="Shape 151"/>
          <p:cNvSpPr/>
          <p:nvPr/>
        </p:nvSpPr>
        <p:spPr>
          <a:xfrm>
            <a:off x="5483017" y="5440680"/>
            <a:ext cx="1015990" cy="402336"/>
          </a:xfrm>
          <a:prstGeom prst="chevron">
            <a:avLst/>
          </a:prstGeom>
          <a:solidFill>
            <a:srgbClr val="2E6DB4"/>
          </a:solidFill>
          <a:ln w="25400">
            <a:solidFill>
              <a:srgbClr val="FFFFFF"/>
            </a:solidFill>
            <a:prstDash val="solid"/>
          </a:ln>
        </p:spPr>
      </p:sp>
      <p:sp>
        <p:nvSpPr>
          <p:cNvPr id="157" name="Text 152"/>
          <p:cNvSpPr txBox="1"/>
          <p:nvPr/>
        </p:nvSpPr>
        <p:spPr>
          <a:xfrm>
            <a:off x="5647609" y="5440680"/>
            <a:ext cx="705094"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More answers</a:t>
            </a:r>
            <a:endParaRPr lang="en-US" sz="800" dirty="0"/>
          </a:p>
        </p:txBody>
      </p:sp>
      <p:sp>
        <p:nvSpPr>
          <p:cNvPr id="158" name="Shape 153"/>
          <p:cNvSpPr/>
          <p:nvPr/>
        </p:nvSpPr>
        <p:spPr>
          <a:xfrm>
            <a:off x="6394033" y="5440680"/>
            <a:ext cx="1015990" cy="402336"/>
          </a:xfrm>
          <a:prstGeom prst="chevron">
            <a:avLst/>
          </a:prstGeom>
          <a:solidFill>
            <a:srgbClr val="1F4A82"/>
          </a:solidFill>
          <a:ln w="25400">
            <a:solidFill>
              <a:srgbClr val="FFFFFF"/>
            </a:solidFill>
            <a:prstDash val="solid"/>
          </a:ln>
        </p:spPr>
      </p:sp>
      <p:sp>
        <p:nvSpPr>
          <p:cNvPr id="159" name="Text 154"/>
          <p:cNvSpPr txBox="1"/>
          <p:nvPr/>
        </p:nvSpPr>
        <p:spPr>
          <a:xfrm>
            <a:off x="6558625" y="5440680"/>
            <a:ext cx="705094"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Sharper difficulty</a:t>
            </a:r>
            <a:endParaRPr lang="en-US" sz="800" dirty="0"/>
          </a:p>
        </p:txBody>
      </p:sp>
      <p:sp>
        <p:nvSpPr>
          <p:cNvPr id="160" name="Shape 155"/>
          <p:cNvSpPr/>
          <p:nvPr/>
        </p:nvSpPr>
        <p:spPr>
          <a:xfrm>
            <a:off x="7305050" y="5440680"/>
            <a:ext cx="1015990" cy="402336"/>
          </a:xfrm>
          <a:prstGeom prst="chevron">
            <a:avLst/>
          </a:prstGeom>
          <a:solidFill>
            <a:srgbClr val="5B8DC9"/>
          </a:solidFill>
          <a:ln w="25400">
            <a:solidFill>
              <a:srgbClr val="FFFFFF"/>
            </a:solidFill>
            <a:prstDash val="solid"/>
          </a:ln>
        </p:spPr>
      </p:sp>
      <p:sp>
        <p:nvSpPr>
          <p:cNvPr id="161" name="Text 156"/>
          <p:cNvSpPr txBox="1"/>
          <p:nvPr/>
        </p:nvSpPr>
        <p:spPr>
          <a:xfrm>
            <a:off x="7469642" y="5440680"/>
            <a:ext cx="705094"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Better lists</a:t>
            </a:r>
            <a:endParaRPr lang="en-US" sz="800" dirty="0"/>
          </a:p>
        </p:txBody>
      </p:sp>
      <p:sp>
        <p:nvSpPr>
          <p:cNvPr id="162" name="Text 157"/>
          <p:cNvSpPr txBox="1"/>
          <p:nvPr/>
        </p:nvSpPr>
        <p:spPr>
          <a:xfrm>
            <a:off x="4572000" y="5897880"/>
            <a:ext cx="3749040" cy="365760"/>
          </a:xfrm>
          <a:prstGeom prst="rect">
            <a:avLst/>
          </a:prstGeom>
          <a:noFill/>
          <a:ln/>
        </p:spPr>
        <p:txBody>
          <a:bodyPr wrap="square" lIns="0" tIns="0" rIns="0" bIns="0" rtlCol="0" anchor="t"/>
          <a:lstStyle/>
          <a:p>
            <a:pPr algn="l" indent="0" marL="0">
              <a:buNone/>
            </a:pPr>
            <a:r>
              <a:rPr lang="en-US" sz="850" i="1" dirty="0">
                <a:solidFill>
                  <a:srgbClr val="1F2937"/>
                </a:solidFill>
                <a:latin typeface="Calibri" pitchFamily="34" charset="0"/>
                <a:ea typeface="Calibri" pitchFamily="34" charset="-122"/>
                <a:cs typeface="Calibri" pitchFamily="34" charset="-120"/>
              </a:rPr>
              <a:t>Weak below about 200 institutes: early wins come from time saved.</a:t>
            </a:r>
            <a:endParaRPr lang="en-US" sz="850" dirty="0"/>
          </a:p>
        </p:txBody>
      </p:sp>
      <p:sp>
        <p:nvSpPr>
          <p:cNvPr id="163" name="Text 158"/>
          <p:cNvSpPr txBox="1"/>
          <p:nvPr/>
        </p:nvSpPr>
        <p:spPr>
          <a:xfrm>
            <a:off x="8540496" y="3657600"/>
            <a:ext cx="3182112"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BY INSTITUTE SIZE, AND YEAR 3</a:t>
            </a:r>
            <a:endParaRPr lang="en-US" sz="1250" dirty="0"/>
          </a:p>
        </p:txBody>
      </p:sp>
      <p:sp>
        <p:nvSpPr>
          <p:cNvPr id="164" name="Shape 159"/>
          <p:cNvSpPr/>
          <p:nvPr/>
        </p:nvSpPr>
        <p:spPr>
          <a:xfrm>
            <a:off x="8540496" y="3950208"/>
            <a:ext cx="3182112" cy="10973"/>
          </a:xfrm>
          <a:prstGeom prst="rect">
            <a:avLst/>
          </a:prstGeom>
          <a:solidFill>
            <a:srgbClr val="C9D6E8"/>
          </a:solidFill>
          <a:ln/>
        </p:spPr>
      </p:sp>
      <p:sp>
        <p:nvSpPr>
          <p:cNvPr id="165" name="Shape 160"/>
          <p:cNvSpPr/>
          <p:nvPr/>
        </p:nvSpPr>
        <p:spPr>
          <a:xfrm>
            <a:off x="8540496" y="3941064"/>
            <a:ext cx="2194560" cy="27432"/>
          </a:xfrm>
          <a:prstGeom prst="rect">
            <a:avLst/>
          </a:prstGeom>
          <a:solidFill>
            <a:srgbClr val="1F4A82"/>
          </a:solidFill>
          <a:ln/>
        </p:spPr>
      </p:sp>
      <p:sp>
        <p:nvSpPr>
          <p:cNvPr id="166" name="Shape 161"/>
          <p:cNvSpPr/>
          <p:nvPr/>
        </p:nvSpPr>
        <p:spPr>
          <a:xfrm>
            <a:off x="8540496" y="4005072"/>
            <a:ext cx="1280160" cy="237744"/>
          </a:xfrm>
          <a:prstGeom prst="rect">
            <a:avLst/>
          </a:prstGeom>
          <a:solidFill>
            <a:srgbClr val="1F4A82"/>
          </a:solidFill>
          <a:ln/>
        </p:spPr>
      </p:sp>
      <p:sp>
        <p:nvSpPr>
          <p:cNvPr id="167" name="Text 162"/>
          <p:cNvSpPr txBox="1"/>
          <p:nvPr/>
        </p:nvSpPr>
        <p:spPr>
          <a:xfrm>
            <a:off x="8586216" y="4005072"/>
            <a:ext cx="1188720" cy="237744"/>
          </a:xfrm>
          <a:prstGeom prst="rect">
            <a:avLst/>
          </a:prstGeom>
          <a:noFill/>
          <a:ln/>
        </p:spPr>
        <p:txBody>
          <a:bodyPr wrap="square" lIns="0" tIns="0" rIns="0" bIns="0"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Base</a:t>
            </a:r>
            <a:endParaRPr lang="en-US" sz="850" dirty="0"/>
          </a:p>
        </p:txBody>
      </p:sp>
      <p:sp>
        <p:nvSpPr>
          <p:cNvPr id="168" name="Shape 163"/>
          <p:cNvSpPr/>
          <p:nvPr/>
        </p:nvSpPr>
        <p:spPr>
          <a:xfrm>
            <a:off x="9820656" y="4005072"/>
            <a:ext cx="621792" cy="237744"/>
          </a:xfrm>
          <a:prstGeom prst="rect">
            <a:avLst/>
          </a:prstGeom>
          <a:solidFill>
            <a:srgbClr val="5B6573"/>
          </a:solidFill>
          <a:ln/>
        </p:spPr>
      </p:sp>
      <p:sp>
        <p:nvSpPr>
          <p:cNvPr id="169" name="Text 164"/>
          <p:cNvSpPr txBox="1"/>
          <p:nvPr/>
        </p:nvSpPr>
        <p:spPr>
          <a:xfrm>
            <a:off x="9866376" y="4005072"/>
            <a:ext cx="5303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Small</a:t>
            </a:r>
            <a:endParaRPr lang="en-US" sz="850" dirty="0"/>
          </a:p>
        </p:txBody>
      </p:sp>
      <p:sp>
        <p:nvSpPr>
          <p:cNvPr id="170" name="Shape 165"/>
          <p:cNvSpPr/>
          <p:nvPr/>
        </p:nvSpPr>
        <p:spPr>
          <a:xfrm>
            <a:off x="10442448" y="4005072"/>
            <a:ext cx="621792" cy="237744"/>
          </a:xfrm>
          <a:prstGeom prst="rect">
            <a:avLst/>
          </a:prstGeom>
          <a:solidFill>
            <a:srgbClr val="1F4A82"/>
          </a:solidFill>
          <a:ln/>
        </p:spPr>
      </p:sp>
      <p:sp>
        <p:nvSpPr>
          <p:cNvPr id="171" name="Text 166"/>
          <p:cNvSpPr txBox="1"/>
          <p:nvPr/>
        </p:nvSpPr>
        <p:spPr>
          <a:xfrm>
            <a:off x="10488168" y="4005072"/>
            <a:ext cx="5303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Mid</a:t>
            </a:r>
            <a:endParaRPr lang="en-US" sz="850" dirty="0"/>
          </a:p>
        </p:txBody>
      </p:sp>
      <p:sp>
        <p:nvSpPr>
          <p:cNvPr id="172" name="Shape 167"/>
          <p:cNvSpPr/>
          <p:nvPr/>
        </p:nvSpPr>
        <p:spPr>
          <a:xfrm>
            <a:off x="11064240" y="4005072"/>
            <a:ext cx="658368" cy="237744"/>
          </a:xfrm>
          <a:prstGeom prst="rect">
            <a:avLst/>
          </a:prstGeom>
          <a:solidFill>
            <a:srgbClr val="5B6573"/>
          </a:solidFill>
          <a:ln/>
        </p:spPr>
      </p:sp>
      <p:sp>
        <p:nvSpPr>
          <p:cNvPr id="173" name="Text 168"/>
          <p:cNvSpPr txBox="1"/>
          <p:nvPr/>
        </p:nvSpPr>
        <p:spPr>
          <a:xfrm>
            <a:off x="11109960" y="4005072"/>
            <a:ext cx="566928"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Large</a:t>
            </a:r>
            <a:endParaRPr lang="en-US" sz="850" dirty="0"/>
          </a:p>
        </p:txBody>
      </p:sp>
      <p:sp>
        <p:nvSpPr>
          <p:cNvPr id="174" name="Shape 169"/>
          <p:cNvSpPr/>
          <p:nvPr/>
        </p:nvSpPr>
        <p:spPr>
          <a:xfrm>
            <a:off x="8540496" y="4242816"/>
            <a:ext cx="1280160" cy="237744"/>
          </a:xfrm>
          <a:prstGeom prst="rect">
            <a:avLst/>
          </a:prstGeom>
          <a:solidFill>
            <a:srgbClr val="F1F7F3"/>
          </a:solidFill>
          <a:ln/>
        </p:spPr>
      </p:sp>
      <p:sp>
        <p:nvSpPr>
          <p:cNvPr id="175" name="Text 170"/>
          <p:cNvSpPr txBox="1"/>
          <p:nvPr/>
        </p:nvSpPr>
        <p:spPr>
          <a:xfrm>
            <a:off x="8586216" y="4242816"/>
            <a:ext cx="1188720" cy="237744"/>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Students</a:t>
            </a:r>
            <a:endParaRPr lang="en-US" sz="850" dirty="0"/>
          </a:p>
        </p:txBody>
      </p:sp>
      <p:sp>
        <p:nvSpPr>
          <p:cNvPr id="176" name="Shape 171"/>
          <p:cNvSpPr/>
          <p:nvPr/>
        </p:nvSpPr>
        <p:spPr>
          <a:xfrm>
            <a:off x="9820656" y="4242816"/>
            <a:ext cx="621792" cy="237744"/>
          </a:xfrm>
          <a:prstGeom prst="rect">
            <a:avLst/>
          </a:prstGeom>
          <a:solidFill>
            <a:srgbClr val="F1F7F3"/>
          </a:solidFill>
          <a:ln/>
        </p:spPr>
      </p:sp>
      <p:sp>
        <p:nvSpPr>
          <p:cNvPr id="177" name="Text 172"/>
          <p:cNvSpPr txBox="1"/>
          <p:nvPr/>
        </p:nvSpPr>
        <p:spPr>
          <a:xfrm>
            <a:off x="9866376" y="4242816"/>
            <a:ext cx="530352"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180</a:t>
            </a:r>
            <a:endParaRPr lang="en-US" sz="850" dirty="0"/>
          </a:p>
        </p:txBody>
      </p:sp>
      <p:sp>
        <p:nvSpPr>
          <p:cNvPr id="178" name="Shape 173"/>
          <p:cNvSpPr/>
          <p:nvPr/>
        </p:nvSpPr>
        <p:spPr>
          <a:xfrm>
            <a:off x="10442448" y="4242816"/>
            <a:ext cx="621792" cy="237744"/>
          </a:xfrm>
          <a:prstGeom prst="rect">
            <a:avLst/>
          </a:prstGeom>
          <a:solidFill>
            <a:srgbClr val="F1F7F3"/>
          </a:solidFill>
          <a:ln/>
        </p:spPr>
      </p:sp>
      <p:sp>
        <p:nvSpPr>
          <p:cNvPr id="179" name="Text 174"/>
          <p:cNvSpPr txBox="1"/>
          <p:nvPr/>
        </p:nvSpPr>
        <p:spPr>
          <a:xfrm>
            <a:off x="10488168" y="4242816"/>
            <a:ext cx="530352"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400</a:t>
            </a:r>
            <a:endParaRPr lang="en-US" sz="850" dirty="0"/>
          </a:p>
        </p:txBody>
      </p:sp>
      <p:sp>
        <p:nvSpPr>
          <p:cNvPr id="180" name="Shape 175"/>
          <p:cNvSpPr/>
          <p:nvPr/>
        </p:nvSpPr>
        <p:spPr>
          <a:xfrm>
            <a:off x="11064240" y="4242816"/>
            <a:ext cx="658368" cy="237744"/>
          </a:xfrm>
          <a:prstGeom prst="rect">
            <a:avLst/>
          </a:prstGeom>
          <a:solidFill>
            <a:srgbClr val="F1F7F3"/>
          </a:solidFill>
          <a:ln/>
        </p:spPr>
      </p:sp>
      <p:sp>
        <p:nvSpPr>
          <p:cNvPr id="181" name="Text 176"/>
          <p:cNvSpPr txBox="1"/>
          <p:nvPr/>
        </p:nvSpPr>
        <p:spPr>
          <a:xfrm>
            <a:off x="11109960" y="4242816"/>
            <a:ext cx="566928"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1,200</a:t>
            </a:r>
            <a:endParaRPr lang="en-US" sz="850" dirty="0"/>
          </a:p>
        </p:txBody>
      </p:sp>
      <p:sp>
        <p:nvSpPr>
          <p:cNvPr id="182" name="Shape 177"/>
          <p:cNvSpPr/>
          <p:nvPr/>
        </p:nvSpPr>
        <p:spPr>
          <a:xfrm>
            <a:off x="8540496" y="4480560"/>
            <a:ext cx="3182112" cy="0"/>
          </a:xfrm>
          <a:prstGeom prst="line">
            <a:avLst/>
          </a:prstGeom>
          <a:noFill/>
          <a:ln w="6350">
            <a:solidFill>
              <a:srgbClr val="E3E8E4"/>
            </a:solidFill>
            <a:prstDash val="solid"/>
          </a:ln>
        </p:spPr>
      </p:sp>
      <p:sp>
        <p:nvSpPr>
          <p:cNvPr id="183" name="Shape 178"/>
          <p:cNvSpPr/>
          <p:nvPr/>
        </p:nvSpPr>
        <p:spPr>
          <a:xfrm>
            <a:off x="8540496" y="4480560"/>
            <a:ext cx="1280160" cy="237744"/>
          </a:xfrm>
          <a:prstGeom prst="rect">
            <a:avLst/>
          </a:prstGeom>
          <a:solidFill>
            <a:srgbClr val="FFFFFF"/>
          </a:solidFill>
          <a:ln/>
        </p:spPr>
      </p:sp>
      <p:sp>
        <p:nvSpPr>
          <p:cNvPr id="184" name="Text 179"/>
          <p:cNvSpPr txBox="1"/>
          <p:nvPr/>
        </p:nvSpPr>
        <p:spPr>
          <a:xfrm>
            <a:off x="8586216" y="4480560"/>
            <a:ext cx="1188720" cy="237744"/>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Owner return</a:t>
            </a:r>
            <a:endParaRPr lang="en-US" sz="850" dirty="0"/>
          </a:p>
        </p:txBody>
      </p:sp>
      <p:sp>
        <p:nvSpPr>
          <p:cNvPr id="185" name="Shape 180"/>
          <p:cNvSpPr/>
          <p:nvPr/>
        </p:nvSpPr>
        <p:spPr>
          <a:xfrm>
            <a:off x="9820656" y="4480560"/>
            <a:ext cx="621792" cy="237744"/>
          </a:xfrm>
          <a:prstGeom prst="rect">
            <a:avLst/>
          </a:prstGeom>
          <a:solidFill>
            <a:srgbClr val="FFFFFF"/>
          </a:solidFill>
          <a:ln/>
        </p:spPr>
      </p:sp>
      <p:sp>
        <p:nvSpPr>
          <p:cNvPr id="186" name="Text 181"/>
          <p:cNvSpPr txBox="1"/>
          <p:nvPr/>
        </p:nvSpPr>
        <p:spPr>
          <a:xfrm>
            <a:off x="9866376" y="4480560"/>
            <a:ext cx="530352"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1.6x</a:t>
            </a:r>
            <a:endParaRPr lang="en-US" sz="850" dirty="0"/>
          </a:p>
        </p:txBody>
      </p:sp>
      <p:sp>
        <p:nvSpPr>
          <p:cNvPr id="187" name="Shape 182"/>
          <p:cNvSpPr/>
          <p:nvPr/>
        </p:nvSpPr>
        <p:spPr>
          <a:xfrm>
            <a:off x="10442448" y="4480560"/>
            <a:ext cx="621792" cy="237744"/>
          </a:xfrm>
          <a:prstGeom prst="rect">
            <a:avLst/>
          </a:prstGeom>
          <a:solidFill>
            <a:srgbClr val="D6E4F5"/>
          </a:solidFill>
          <a:ln/>
        </p:spPr>
      </p:sp>
      <p:sp>
        <p:nvSpPr>
          <p:cNvPr id="188" name="Text 183"/>
          <p:cNvSpPr txBox="1"/>
          <p:nvPr/>
        </p:nvSpPr>
        <p:spPr>
          <a:xfrm>
            <a:off x="10488168" y="4480560"/>
            <a:ext cx="530352" cy="237744"/>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1.7x</a:t>
            </a:r>
            <a:endParaRPr lang="en-US" sz="850" dirty="0"/>
          </a:p>
        </p:txBody>
      </p:sp>
      <p:sp>
        <p:nvSpPr>
          <p:cNvPr id="189" name="Shape 184"/>
          <p:cNvSpPr/>
          <p:nvPr/>
        </p:nvSpPr>
        <p:spPr>
          <a:xfrm>
            <a:off x="11064240" y="4480560"/>
            <a:ext cx="658368" cy="237744"/>
          </a:xfrm>
          <a:prstGeom prst="rect">
            <a:avLst/>
          </a:prstGeom>
          <a:solidFill>
            <a:srgbClr val="FFFFFF"/>
          </a:solidFill>
          <a:ln/>
        </p:spPr>
      </p:sp>
      <p:sp>
        <p:nvSpPr>
          <p:cNvPr id="190" name="Text 185"/>
          <p:cNvSpPr txBox="1"/>
          <p:nvPr/>
        </p:nvSpPr>
        <p:spPr>
          <a:xfrm>
            <a:off x="11109960" y="4480560"/>
            <a:ext cx="566928"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2.1x</a:t>
            </a:r>
            <a:endParaRPr lang="en-US" sz="850" dirty="0"/>
          </a:p>
        </p:txBody>
      </p:sp>
      <p:sp>
        <p:nvSpPr>
          <p:cNvPr id="191" name="Shape 186"/>
          <p:cNvSpPr/>
          <p:nvPr/>
        </p:nvSpPr>
        <p:spPr>
          <a:xfrm>
            <a:off x="8540496" y="4718304"/>
            <a:ext cx="3182112" cy="0"/>
          </a:xfrm>
          <a:prstGeom prst="line">
            <a:avLst/>
          </a:prstGeom>
          <a:noFill/>
          <a:ln w="6350">
            <a:solidFill>
              <a:srgbClr val="E3E8E4"/>
            </a:solidFill>
            <a:prstDash val="solid"/>
          </a:ln>
        </p:spPr>
      </p:sp>
      <p:sp>
        <p:nvSpPr>
          <p:cNvPr id="192" name="Shape 187"/>
          <p:cNvSpPr/>
          <p:nvPr/>
        </p:nvSpPr>
        <p:spPr>
          <a:xfrm>
            <a:off x="8540496" y="4718304"/>
            <a:ext cx="1280160" cy="237744"/>
          </a:xfrm>
          <a:prstGeom prst="rect">
            <a:avLst/>
          </a:prstGeom>
          <a:solidFill>
            <a:srgbClr val="F1F7F3"/>
          </a:solidFill>
          <a:ln/>
        </p:spPr>
      </p:sp>
      <p:sp>
        <p:nvSpPr>
          <p:cNvPr id="193" name="Text 188"/>
          <p:cNvSpPr txBox="1"/>
          <p:nvPr/>
        </p:nvSpPr>
        <p:spPr>
          <a:xfrm>
            <a:off x="8586216" y="4718304"/>
            <a:ext cx="1188720" cy="237744"/>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LTV÷CAC, field</a:t>
            </a:r>
            <a:endParaRPr lang="en-US" sz="850" dirty="0"/>
          </a:p>
        </p:txBody>
      </p:sp>
      <p:sp>
        <p:nvSpPr>
          <p:cNvPr id="194" name="Shape 189"/>
          <p:cNvSpPr/>
          <p:nvPr/>
        </p:nvSpPr>
        <p:spPr>
          <a:xfrm>
            <a:off x="9820656" y="4718304"/>
            <a:ext cx="621792" cy="237744"/>
          </a:xfrm>
          <a:prstGeom prst="rect">
            <a:avLst/>
          </a:prstGeom>
          <a:solidFill>
            <a:srgbClr val="F1F7F3"/>
          </a:solidFill>
          <a:ln/>
        </p:spPr>
      </p:sp>
      <p:sp>
        <p:nvSpPr>
          <p:cNvPr id="195" name="Text 190"/>
          <p:cNvSpPr txBox="1"/>
          <p:nvPr/>
        </p:nvSpPr>
        <p:spPr>
          <a:xfrm>
            <a:off x="9866376" y="4718304"/>
            <a:ext cx="530352"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1.5x</a:t>
            </a:r>
            <a:endParaRPr lang="en-US" sz="850" dirty="0"/>
          </a:p>
        </p:txBody>
      </p:sp>
      <p:sp>
        <p:nvSpPr>
          <p:cNvPr id="196" name="Shape 191"/>
          <p:cNvSpPr/>
          <p:nvPr/>
        </p:nvSpPr>
        <p:spPr>
          <a:xfrm>
            <a:off x="10442448" y="4718304"/>
            <a:ext cx="621792" cy="237744"/>
          </a:xfrm>
          <a:prstGeom prst="rect">
            <a:avLst/>
          </a:prstGeom>
          <a:solidFill>
            <a:srgbClr val="D6E4F5"/>
          </a:solidFill>
          <a:ln/>
        </p:spPr>
      </p:sp>
      <p:sp>
        <p:nvSpPr>
          <p:cNvPr id="197" name="Text 192"/>
          <p:cNvSpPr txBox="1"/>
          <p:nvPr/>
        </p:nvSpPr>
        <p:spPr>
          <a:xfrm>
            <a:off x="10488168" y="4718304"/>
            <a:ext cx="530352" cy="237744"/>
          </a:xfrm>
          <a:prstGeom prst="rect">
            <a:avLst/>
          </a:prstGeom>
          <a:noFill/>
          <a:ln/>
        </p:spPr>
        <p:txBody>
          <a:bodyPr wrap="square" lIns="0" tIns="0" rIns="0" bIns="0" rtlCol="0" anchor="ctr"/>
          <a:lstStyle/>
          <a:p>
            <a:pPr algn="ctr" indent="0" marL="0">
              <a:buNone/>
            </a:pPr>
            <a:r>
              <a:rPr lang="en-US" sz="850" b="1" dirty="0">
                <a:solidFill>
                  <a:srgbClr val="1F2937"/>
                </a:solidFill>
                <a:latin typeface="Calibri" pitchFamily="34" charset="0"/>
                <a:ea typeface="Calibri" pitchFamily="34" charset="-122"/>
                <a:cs typeface="Calibri" pitchFamily="34" charset="-120"/>
              </a:rPr>
              <a:t>3.6x</a:t>
            </a:r>
            <a:endParaRPr lang="en-US" sz="850" dirty="0"/>
          </a:p>
        </p:txBody>
      </p:sp>
      <p:sp>
        <p:nvSpPr>
          <p:cNvPr id="198" name="Shape 193"/>
          <p:cNvSpPr/>
          <p:nvPr/>
        </p:nvSpPr>
        <p:spPr>
          <a:xfrm>
            <a:off x="11064240" y="4718304"/>
            <a:ext cx="658368" cy="237744"/>
          </a:xfrm>
          <a:prstGeom prst="rect">
            <a:avLst/>
          </a:prstGeom>
          <a:solidFill>
            <a:srgbClr val="F1F7F3"/>
          </a:solidFill>
          <a:ln/>
        </p:spPr>
      </p:sp>
      <p:sp>
        <p:nvSpPr>
          <p:cNvPr id="199" name="Text 194"/>
          <p:cNvSpPr txBox="1"/>
          <p:nvPr/>
        </p:nvSpPr>
        <p:spPr>
          <a:xfrm>
            <a:off x="11109960" y="4718304"/>
            <a:ext cx="566928"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9.2x</a:t>
            </a:r>
            <a:endParaRPr lang="en-US" sz="850" dirty="0"/>
          </a:p>
        </p:txBody>
      </p:sp>
      <p:sp>
        <p:nvSpPr>
          <p:cNvPr id="200" name="Shape 195"/>
          <p:cNvSpPr/>
          <p:nvPr/>
        </p:nvSpPr>
        <p:spPr>
          <a:xfrm>
            <a:off x="8540496" y="4956048"/>
            <a:ext cx="3182112" cy="0"/>
          </a:xfrm>
          <a:prstGeom prst="line">
            <a:avLst/>
          </a:prstGeom>
          <a:noFill/>
          <a:ln w="6350">
            <a:solidFill>
              <a:srgbClr val="E3E8E4"/>
            </a:solidFill>
            <a:prstDash val="solid"/>
          </a:ln>
        </p:spPr>
      </p:sp>
      <p:sp>
        <p:nvSpPr>
          <p:cNvPr id="201" name="Shape 196"/>
          <p:cNvSpPr/>
          <p:nvPr/>
        </p:nvSpPr>
        <p:spPr>
          <a:xfrm>
            <a:off x="8540496" y="4956048"/>
            <a:ext cx="1280160" cy="237744"/>
          </a:xfrm>
          <a:prstGeom prst="rect">
            <a:avLst/>
          </a:prstGeom>
          <a:solidFill>
            <a:srgbClr val="FFFFFF"/>
          </a:solidFill>
          <a:ln/>
        </p:spPr>
      </p:sp>
      <p:sp>
        <p:nvSpPr>
          <p:cNvPr id="202" name="Text 197"/>
          <p:cNvSpPr txBox="1"/>
          <p:nvPr/>
        </p:nvSpPr>
        <p:spPr>
          <a:xfrm>
            <a:off x="8586216" y="4956048"/>
            <a:ext cx="1188720" cy="237744"/>
          </a:xfrm>
          <a:prstGeom prst="rect">
            <a:avLst/>
          </a:prstGeom>
          <a:noFill/>
          <a:ln/>
        </p:spPr>
        <p:txBody>
          <a:bodyPr wrap="square" lIns="0" tIns="0" rIns="0" bIns="0" rtlCol="0" anchor="ctr"/>
          <a:lstStyle/>
          <a:p>
            <a:pPr algn="l" indent="0" marL="0">
              <a:buNone/>
            </a:pPr>
            <a:r>
              <a:rPr lang="en-US" sz="850" b="1" dirty="0">
                <a:solidFill>
                  <a:srgbClr val="1F2937"/>
                </a:solidFill>
                <a:latin typeface="Calibri" pitchFamily="34" charset="0"/>
                <a:ea typeface="Calibri" pitchFamily="34" charset="-122"/>
                <a:cs typeface="Calibri" pitchFamily="34" charset="-120"/>
              </a:rPr>
              <a:t>LTV÷CAC, partner</a:t>
            </a:r>
            <a:endParaRPr lang="en-US" sz="850" dirty="0"/>
          </a:p>
        </p:txBody>
      </p:sp>
      <p:sp>
        <p:nvSpPr>
          <p:cNvPr id="203" name="Shape 198"/>
          <p:cNvSpPr/>
          <p:nvPr/>
        </p:nvSpPr>
        <p:spPr>
          <a:xfrm>
            <a:off x="9820656" y="4956048"/>
            <a:ext cx="621792" cy="237744"/>
          </a:xfrm>
          <a:prstGeom prst="rect">
            <a:avLst/>
          </a:prstGeom>
          <a:solidFill>
            <a:srgbClr val="FFFFFF"/>
          </a:solidFill>
          <a:ln/>
        </p:spPr>
      </p:sp>
      <p:sp>
        <p:nvSpPr>
          <p:cNvPr id="204" name="Text 199"/>
          <p:cNvSpPr txBox="1"/>
          <p:nvPr/>
        </p:nvSpPr>
        <p:spPr>
          <a:xfrm>
            <a:off x="9866376" y="4956048"/>
            <a:ext cx="530352"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3.4x</a:t>
            </a:r>
            <a:endParaRPr lang="en-US" sz="850" dirty="0"/>
          </a:p>
        </p:txBody>
      </p:sp>
      <p:sp>
        <p:nvSpPr>
          <p:cNvPr id="205" name="Shape 200"/>
          <p:cNvSpPr/>
          <p:nvPr/>
        </p:nvSpPr>
        <p:spPr>
          <a:xfrm>
            <a:off x="10442448" y="4956048"/>
            <a:ext cx="621792" cy="237744"/>
          </a:xfrm>
          <a:prstGeom prst="rect">
            <a:avLst/>
          </a:prstGeom>
          <a:solidFill>
            <a:srgbClr val="FFFFFF"/>
          </a:solidFill>
          <a:ln/>
        </p:spPr>
      </p:sp>
      <p:sp>
        <p:nvSpPr>
          <p:cNvPr id="206" name="Text 201"/>
          <p:cNvSpPr txBox="1"/>
          <p:nvPr/>
        </p:nvSpPr>
        <p:spPr>
          <a:xfrm>
            <a:off x="10488168" y="4956048"/>
            <a:ext cx="530352"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4.9x</a:t>
            </a:r>
            <a:endParaRPr lang="en-US" sz="850" dirty="0"/>
          </a:p>
        </p:txBody>
      </p:sp>
      <p:sp>
        <p:nvSpPr>
          <p:cNvPr id="207" name="Shape 202"/>
          <p:cNvSpPr/>
          <p:nvPr/>
        </p:nvSpPr>
        <p:spPr>
          <a:xfrm>
            <a:off x="11064240" y="4956048"/>
            <a:ext cx="658368" cy="237744"/>
          </a:xfrm>
          <a:prstGeom prst="rect">
            <a:avLst/>
          </a:prstGeom>
          <a:solidFill>
            <a:srgbClr val="FFFFFF"/>
          </a:solidFill>
          <a:ln/>
        </p:spPr>
      </p:sp>
      <p:sp>
        <p:nvSpPr>
          <p:cNvPr id="208" name="Text 203"/>
          <p:cNvSpPr txBox="1"/>
          <p:nvPr/>
        </p:nvSpPr>
        <p:spPr>
          <a:xfrm>
            <a:off x="11109960" y="4956048"/>
            <a:ext cx="566928" cy="237744"/>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6.1x</a:t>
            </a:r>
            <a:endParaRPr lang="en-US" sz="850" dirty="0"/>
          </a:p>
        </p:txBody>
      </p:sp>
      <p:sp>
        <p:nvSpPr>
          <p:cNvPr id="209" name="Shape 204"/>
          <p:cNvSpPr/>
          <p:nvPr/>
        </p:nvSpPr>
        <p:spPr>
          <a:xfrm>
            <a:off x="8540496" y="5193792"/>
            <a:ext cx="3182112" cy="0"/>
          </a:xfrm>
          <a:prstGeom prst="line">
            <a:avLst/>
          </a:prstGeom>
          <a:noFill/>
          <a:ln w="6350">
            <a:solidFill>
              <a:srgbClr val="E3E8E4"/>
            </a:solidFill>
            <a:prstDash val="solid"/>
          </a:ln>
        </p:spPr>
      </p:sp>
      <p:sp>
        <p:nvSpPr>
          <p:cNvPr id="210" name="Shape 205"/>
          <p:cNvSpPr/>
          <p:nvPr/>
        </p:nvSpPr>
        <p:spPr>
          <a:xfrm>
            <a:off x="8540496" y="5285232"/>
            <a:ext cx="1024128" cy="566928"/>
          </a:xfrm>
          <a:prstGeom prst="rect">
            <a:avLst/>
          </a:prstGeom>
          <a:solidFill>
            <a:srgbClr val="1F4A82"/>
          </a:solidFill>
          <a:ln/>
        </p:spPr>
      </p:sp>
      <p:sp>
        <p:nvSpPr>
          <p:cNvPr id="211" name="Text 206"/>
          <p:cNvSpPr txBox="1"/>
          <p:nvPr/>
        </p:nvSpPr>
        <p:spPr>
          <a:xfrm>
            <a:off x="8540496" y="5285232"/>
            <a:ext cx="10241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58</a:t>
            </a:r>
            <a:endParaRPr lang="en-US" sz="1400" dirty="0"/>
          </a:p>
          <a:p>
            <a:pPr algn="ctr" indent="0" marL="0">
              <a:buNone/>
            </a:pPr>
            <a:r>
              <a:rPr lang="en-US" sz="750" dirty="0">
                <a:solidFill>
                  <a:srgbClr val="C9DBF0"/>
                </a:solidFill>
                <a:latin typeface="Calibri" pitchFamily="34" charset="0"/>
                <a:ea typeface="Calibri" pitchFamily="34" charset="-122"/>
                <a:cs typeface="Calibri" pitchFamily="34" charset="-120"/>
              </a:rPr>
              <a:t>paying institutes</a:t>
            </a:r>
            <a:endParaRPr lang="en-US" sz="1400" dirty="0"/>
          </a:p>
        </p:txBody>
      </p:sp>
      <p:sp>
        <p:nvSpPr>
          <p:cNvPr id="212" name="Shape 207"/>
          <p:cNvSpPr/>
          <p:nvPr/>
        </p:nvSpPr>
        <p:spPr>
          <a:xfrm>
            <a:off x="9619488" y="5285232"/>
            <a:ext cx="1024128" cy="566928"/>
          </a:xfrm>
          <a:prstGeom prst="rect">
            <a:avLst/>
          </a:prstGeom>
          <a:solidFill>
            <a:srgbClr val="1F4A82"/>
          </a:solidFill>
          <a:ln/>
        </p:spPr>
      </p:sp>
      <p:sp>
        <p:nvSpPr>
          <p:cNvPr id="213" name="Text 208"/>
          <p:cNvSpPr txBox="1"/>
          <p:nvPr/>
        </p:nvSpPr>
        <p:spPr>
          <a:xfrm>
            <a:off x="9619488" y="5285232"/>
            <a:ext cx="10241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₹65 L</a:t>
            </a:r>
            <a:endParaRPr lang="en-US" sz="1400" dirty="0"/>
          </a:p>
          <a:p>
            <a:pPr algn="ctr" indent="0" marL="0">
              <a:buNone/>
            </a:pPr>
            <a:r>
              <a:rPr lang="en-US" sz="750" dirty="0">
                <a:solidFill>
                  <a:srgbClr val="C9DBF0"/>
                </a:solidFill>
                <a:latin typeface="Calibri" pitchFamily="34" charset="0"/>
                <a:ea typeface="Calibri" pitchFamily="34" charset="-122"/>
                <a:cs typeface="Calibri" pitchFamily="34" charset="-120"/>
              </a:rPr>
              <a:t>revenue, year 3</a:t>
            </a:r>
            <a:endParaRPr lang="en-US" sz="1400" dirty="0"/>
          </a:p>
        </p:txBody>
      </p:sp>
      <p:sp>
        <p:nvSpPr>
          <p:cNvPr id="214" name="Shape 209"/>
          <p:cNvSpPr/>
          <p:nvPr/>
        </p:nvSpPr>
        <p:spPr>
          <a:xfrm>
            <a:off x="10698480" y="5285232"/>
            <a:ext cx="1024128" cy="566928"/>
          </a:xfrm>
          <a:prstGeom prst="rect">
            <a:avLst/>
          </a:prstGeom>
          <a:solidFill>
            <a:srgbClr val="1F4A82"/>
          </a:solidFill>
          <a:ln/>
        </p:spPr>
      </p:sp>
      <p:sp>
        <p:nvSpPr>
          <p:cNvPr id="215" name="Text 210"/>
          <p:cNvSpPr txBox="1"/>
          <p:nvPr/>
        </p:nvSpPr>
        <p:spPr>
          <a:xfrm>
            <a:off x="10698480" y="5285232"/>
            <a:ext cx="10241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Month 16</a:t>
            </a:r>
            <a:endParaRPr lang="en-US" sz="1400" dirty="0"/>
          </a:p>
          <a:p>
            <a:pPr algn="ctr" indent="0" marL="0">
              <a:buNone/>
            </a:pPr>
            <a:r>
              <a:rPr lang="en-US" sz="750" dirty="0">
                <a:solidFill>
                  <a:srgbClr val="C9DBF0"/>
                </a:solidFill>
                <a:latin typeface="Calibri" pitchFamily="34" charset="0"/>
                <a:ea typeface="Calibri" pitchFamily="34" charset="-122"/>
                <a:cs typeface="Calibri" pitchFamily="34" charset="-120"/>
              </a:rPr>
              <a:t>break-even</a:t>
            </a:r>
            <a:endParaRPr lang="en-US" sz="1400" dirty="0"/>
          </a:p>
        </p:txBody>
      </p:sp>
      <p:sp>
        <p:nvSpPr>
          <p:cNvPr id="216" name="Text 211"/>
          <p:cNvSpPr txBox="1"/>
          <p:nvPr/>
        </p:nvSpPr>
        <p:spPr>
          <a:xfrm>
            <a:off x="8540496" y="5897880"/>
            <a:ext cx="3108960" cy="201168"/>
          </a:xfrm>
          <a:prstGeom prst="rect">
            <a:avLst/>
          </a:prstGeom>
          <a:noFill/>
          <a:ln/>
        </p:spPr>
        <p:txBody>
          <a:bodyPr wrap="square" lIns="0" tIns="0" rIns="0" bIns="0" rtlCol="0" anchor="t"/>
          <a:lstStyle/>
          <a:p>
            <a:pPr algn="l" indent="0" marL="0">
              <a:buNone/>
            </a:pPr>
            <a:r>
              <a:rPr lang="en-US" sz="800" i="1" dirty="0">
                <a:solidFill>
                  <a:srgbClr val="5B6573"/>
                </a:solidFill>
                <a:latin typeface="Calibri" pitchFamily="34" charset="0"/>
                <a:ea typeface="Calibri" pitchFamily="34" charset="-122"/>
                <a:cs typeface="Calibri" pitchFamily="34" charset="-120"/>
              </a:rPr>
              <a:t>Year 3, Base case. Needs ₹45 L.</a:t>
            </a:r>
            <a:endParaRPr lang="en-US" sz="800" dirty="0"/>
          </a:p>
        </p:txBody>
      </p:sp>
      <p:sp>
        <p:nvSpPr>
          <p:cNvPr id="217" name="Text 212"/>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vendor listings (financial/research R1; ? means not verifiable, not absent); financial model v1.1 (field vs channel economics; 3-year projection); roadmap dates are our plan.</a:t>
            </a:r>
            <a:endParaRPr lang="en-US" sz="850" dirty="0"/>
          </a:p>
        </p:txBody>
      </p:sp>
      <p:pic>
        <p:nvPicPr>
          <p:cNvPr id="218" name="Image 2" descr="owner cursor">    </p:cNvPr>
          <p:cNvPicPr>
            <a:picLocks noChangeAspect="1"/>
          </p:cNvPicPr>
          <p:nvPr/>
        </p:nvPicPr>
        <p:blipFill>
          <a:blip r:embed="rId3"/>
          <a:stretch>
            <a:fillRect/>
          </a:stretch>
        </p:blipFill>
        <p:spPr>
          <a:xfrm>
            <a:off x="3657600" y="4754880"/>
            <a:ext cx="777240" cy="329184"/>
          </a:xfrm>
          <a:prstGeom prst="rect">
            <a:avLst/>
          </a:prstGeom>
        </p:spPr>
      </p:pic>
      <p:sp>
        <p:nvSpPr>
          <p:cNvPr id="219" name="Shape 213"/>
          <p:cNvSpPr/>
          <p:nvPr/>
        </p:nvSpPr>
        <p:spPr>
          <a:xfrm>
            <a:off x="2514600" y="3511296"/>
            <a:ext cx="457200" cy="182880"/>
          </a:xfrm>
          <a:prstGeom prst="roundRect">
            <a:avLst>
              <a:gd name="adj" fmla="val 50000"/>
            </a:avLst>
          </a:prstGeom>
          <a:solidFill>
            <a:srgbClr val="E0584A"/>
          </a:solidFill>
          <a:ln/>
        </p:spPr>
      </p:sp>
      <p:sp>
        <p:nvSpPr>
          <p:cNvPr id="220" name="Text 214"/>
          <p:cNvSpPr txBox="1"/>
          <p:nvPr/>
        </p:nvSpPr>
        <p:spPr>
          <a:xfrm>
            <a:off x="2514600" y="3511296"/>
            <a:ext cx="457200" cy="182880"/>
          </a:xfrm>
          <a:prstGeom prst="rect">
            <a:avLst/>
          </a:prstGeom>
          <a:noFill/>
          <a:ln/>
        </p:spPr>
        <p:txBody>
          <a:bodyPr wrap="square" lIns="0" tIns="0" rIns="0" bIns="0" rtlCol="0" anchor="ctr"/>
          <a:lstStyle/>
          <a:p>
            <a:pPr algn="ctr" indent="0" marL="0">
              <a:buNone/>
            </a:pPr>
            <a:r>
              <a:rPr lang="en-US" sz="750" b="1" spc="60" kern="0" dirty="0">
                <a:solidFill>
                  <a:srgbClr val="FFFFFF"/>
                </a:solidFill>
                <a:latin typeface="Calibri" pitchFamily="34" charset="0"/>
                <a:ea typeface="Calibri" pitchFamily="34" charset="-122"/>
                <a:cs typeface="Calibri" pitchFamily="34" charset="-120"/>
              </a:rPr>
              <a:t>NOW</a:t>
            </a:r>
            <a:endParaRPr lang="en-US" sz="750" dirty="0"/>
          </a:p>
        </p:txBody>
      </p:sp>
      <p:sp>
        <p:nvSpPr>
          <p:cNvPr id="221" name="Shape 215"/>
          <p:cNvSpPr/>
          <p:nvPr/>
        </p:nvSpPr>
        <p:spPr>
          <a:xfrm>
            <a:off x="4023360" y="3511296"/>
            <a:ext cx="457200" cy="182880"/>
          </a:xfrm>
          <a:prstGeom prst="roundRect">
            <a:avLst>
              <a:gd name="adj" fmla="val 50000"/>
            </a:avLst>
          </a:prstGeom>
          <a:solidFill>
            <a:srgbClr val="2E6DB4"/>
          </a:solidFill>
          <a:ln/>
        </p:spPr>
      </p:sp>
      <p:sp>
        <p:nvSpPr>
          <p:cNvPr id="222" name="Text 216"/>
          <p:cNvSpPr txBox="1"/>
          <p:nvPr/>
        </p:nvSpPr>
        <p:spPr>
          <a:xfrm>
            <a:off x="4023360" y="3511296"/>
            <a:ext cx="457200" cy="182880"/>
          </a:xfrm>
          <a:prstGeom prst="rect">
            <a:avLst/>
          </a:prstGeom>
          <a:noFill/>
          <a:ln/>
        </p:spPr>
        <p:txBody>
          <a:bodyPr wrap="square" lIns="0" tIns="0" rIns="0" bIns="0" rtlCol="0" anchor="ctr"/>
          <a:lstStyle/>
          <a:p>
            <a:pPr algn="ctr" indent="0" marL="0">
              <a:buNone/>
            </a:pPr>
            <a:r>
              <a:rPr lang="en-US" sz="750" b="1" spc="60" kern="0" dirty="0">
                <a:solidFill>
                  <a:srgbClr val="FFFFFF"/>
                </a:solidFill>
                <a:latin typeface="Calibri" pitchFamily="34" charset="0"/>
                <a:ea typeface="Calibri" pitchFamily="34" charset="-122"/>
                <a:cs typeface="Calibri" pitchFamily="34" charset="-120"/>
              </a:rPr>
              <a:t>NEXT</a:t>
            </a:r>
            <a:endParaRPr lang="en-US" sz="750" dirty="0"/>
          </a:p>
        </p:txBody>
      </p:sp>
      <p:sp>
        <p:nvSpPr>
          <p:cNvPr id="223" name="Shape 217"/>
          <p:cNvSpPr/>
          <p:nvPr/>
        </p:nvSpPr>
        <p:spPr>
          <a:xfrm>
            <a:off x="7315200" y="3511296"/>
            <a:ext cx="548640" cy="182880"/>
          </a:xfrm>
          <a:prstGeom prst="roundRect">
            <a:avLst>
              <a:gd name="adj" fmla="val 50000"/>
            </a:avLst>
          </a:prstGeom>
          <a:solidFill>
            <a:srgbClr val="6B7280"/>
          </a:solidFill>
          <a:ln/>
        </p:spPr>
      </p:sp>
      <p:sp>
        <p:nvSpPr>
          <p:cNvPr id="224" name="Text 218"/>
          <p:cNvSpPr txBox="1"/>
          <p:nvPr/>
        </p:nvSpPr>
        <p:spPr>
          <a:xfrm>
            <a:off x="7315200" y="3511296"/>
            <a:ext cx="548640" cy="182880"/>
          </a:xfrm>
          <a:prstGeom prst="rect">
            <a:avLst/>
          </a:prstGeom>
          <a:noFill/>
          <a:ln/>
        </p:spPr>
        <p:txBody>
          <a:bodyPr wrap="square" lIns="0" tIns="0" rIns="0" bIns="0" rtlCol="0" anchor="ctr"/>
          <a:lstStyle/>
          <a:p>
            <a:pPr algn="ctr" indent="0" marL="0">
              <a:buNone/>
            </a:pPr>
            <a:r>
              <a:rPr lang="en-US" sz="750" b="1" spc="60" kern="0" dirty="0">
                <a:solidFill>
                  <a:srgbClr val="FFFFFF"/>
                </a:solidFill>
                <a:latin typeface="Calibri" pitchFamily="34" charset="0"/>
                <a:ea typeface="Calibri" pitchFamily="34" charset="-122"/>
                <a:cs typeface="Calibri" pitchFamily="34" charset="-120"/>
              </a:rPr>
              <a:t>LATER</a:t>
            </a:r>
            <a:endParaRPr lang="en-US" sz="750" dirty="0"/>
          </a:p>
        </p:txBody>
      </p:sp>
      <p:pic>
        <p:nvPicPr>
          <p:cNvPr id="226" name="Image 3" descr="FaClipboardList icon">    </p:cNvPr>
          <p:cNvPicPr>
            <a:picLocks noChangeAspect="1"/>
          </p:cNvPicPr>
          <p:nvPr/>
        </p:nvPicPr>
        <p:blipFill>
          <a:blip r:embed="rId4"/>
          <a:stretch>
            <a:fillRect/>
          </a:stretch>
        </p:blipFill>
        <p:spPr>
          <a:xfrm>
            <a:off x="521208" y="100584"/>
            <a:ext cx="182880" cy="182880"/>
          </a:xfrm>
          <a:prstGeom prst="rect">
            <a:avLst/>
          </a:prstGeom>
        </p:spPr>
      </p:pic>
      <p:pic>
        <p:nvPicPr>
          <p:cNvPr id="227" name="Image 4" descr="FaTriangleExclamation icon">    </p:cNvPr>
          <p:cNvPicPr>
            <a:picLocks noChangeAspect="1"/>
          </p:cNvPicPr>
          <p:nvPr/>
        </p:nvPicPr>
        <p:blipFill>
          <a:blip r:embed="rId5"/>
          <a:stretch>
            <a:fillRect/>
          </a:stretch>
        </p:blipFill>
        <p:spPr>
          <a:xfrm>
            <a:off x="2084032" y="100584"/>
            <a:ext cx="182880" cy="182880"/>
          </a:xfrm>
          <a:prstGeom prst="rect">
            <a:avLst/>
          </a:prstGeom>
        </p:spPr>
      </p:pic>
      <p:pic>
        <p:nvPicPr>
          <p:cNvPr id="228" name="Image 5" descr="FaMobileScreen icon">    </p:cNvPr>
          <p:cNvPicPr>
            <a:picLocks noChangeAspect="1"/>
          </p:cNvPicPr>
          <p:nvPr/>
        </p:nvPicPr>
        <p:blipFill>
          <a:blip r:embed="rId6"/>
          <a:stretch>
            <a:fillRect/>
          </a:stretch>
        </p:blipFill>
        <p:spPr>
          <a:xfrm>
            <a:off x="3482264" y="100584"/>
            <a:ext cx="182880" cy="182880"/>
          </a:xfrm>
          <a:prstGeom prst="rect">
            <a:avLst/>
          </a:prstGeom>
        </p:spPr>
      </p:pic>
      <p:pic>
        <p:nvPicPr>
          <p:cNvPr id="229" name="Image 6" descr="FaGears icon">    </p:cNvPr>
          <p:cNvPicPr>
            <a:picLocks noChangeAspect="1"/>
          </p:cNvPicPr>
          <p:nvPr/>
        </p:nvPicPr>
        <p:blipFill>
          <a:blip r:embed="rId7"/>
          <a:stretch>
            <a:fillRect/>
          </a:stretch>
        </p:blipFill>
        <p:spPr>
          <a:xfrm>
            <a:off x="4880496" y="100584"/>
            <a:ext cx="182880" cy="182880"/>
          </a:xfrm>
          <a:prstGeom prst="rect">
            <a:avLst/>
          </a:prstGeom>
        </p:spPr>
      </p:pic>
      <p:pic>
        <p:nvPicPr>
          <p:cNvPr id="230" name="Image 7" descr="FaShieldHalved icon">    </p:cNvPr>
          <p:cNvPicPr>
            <a:picLocks noChangeAspect="1"/>
          </p:cNvPicPr>
          <p:nvPr/>
        </p:nvPicPr>
        <p:blipFill>
          <a:blip r:embed="rId8"/>
          <a:stretch>
            <a:fillRect/>
          </a:stretch>
        </p:blipFill>
        <p:spPr>
          <a:xfrm>
            <a:off x="6278728" y="100584"/>
            <a:ext cx="182880" cy="182880"/>
          </a:xfrm>
          <a:prstGeom prst="rect">
            <a:avLst/>
          </a:prstGeom>
        </p:spPr>
      </p:pic>
      <p:pic>
        <p:nvPicPr>
          <p:cNvPr id="231" name="Image 8" descr="FaBullseye icon">    </p:cNvPr>
          <p:cNvPicPr>
            <a:picLocks noChangeAspect="1"/>
          </p:cNvPicPr>
          <p:nvPr/>
        </p:nvPicPr>
        <p:blipFill>
          <a:blip r:embed="rId9"/>
          <a:stretch>
            <a:fillRect/>
          </a:stretch>
        </p:blipFill>
        <p:spPr>
          <a:xfrm>
            <a:off x="9075191" y="100584"/>
            <a:ext cx="182880" cy="182880"/>
          </a:xfrm>
          <a:prstGeom prst="rect">
            <a:avLst/>
          </a:prstGeom>
        </p:spPr>
      </p:pic>
      <p:pic>
        <p:nvPicPr>
          <p:cNvPr id="232" name="Image 9" descr="FaBookOpen icon">    </p:cNvPr>
          <p:cNvPicPr>
            <a:picLocks noChangeAspect="1"/>
          </p:cNvPicPr>
          <p:nvPr/>
        </p:nvPicPr>
        <p:blipFill>
          <a:blip r:embed="rId10"/>
          <a:stretch>
            <a:fillRect/>
          </a:stretch>
        </p:blipFill>
        <p:spPr>
          <a:xfrm>
            <a:off x="10473423"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line-chart">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1: SCENARIOS AND SENSITIVITY</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Scenarios and sensitivity: what the model says when inputs move (Mid institute, 400 students)</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70432"/>
            <a:ext cx="256032" cy="256032"/>
          </a:xfrm>
          <a:prstGeom prst="rect">
            <a:avLst/>
          </a:prstGeom>
          <a:solidFill>
            <a:srgbClr val="1F4A82"/>
          </a:solidFill>
          <a:ln/>
        </p:spPr>
      </p:sp>
      <p:sp>
        <p:nvSpPr>
          <p:cNvPr id="26" name="Text 22"/>
          <p:cNvSpPr txBox="1"/>
          <p:nvPr/>
        </p:nvSpPr>
        <p:spPr>
          <a:xfrm>
            <a:off x="411480" y="117043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a:t>
            </a:r>
            <a:endParaRPr lang="en-US" sz="1150" dirty="0"/>
          </a:p>
        </p:txBody>
      </p:sp>
      <p:sp>
        <p:nvSpPr>
          <p:cNvPr id="27" name="Text 23"/>
          <p:cNvSpPr txBox="1"/>
          <p:nvPr/>
        </p:nvSpPr>
        <p:spPr>
          <a:xfrm>
            <a:off x="740664" y="1170432"/>
            <a:ext cx="634593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SCENARIOS (BEAR AND BULL MOVE 13 DRIVERS; STRESS MOVES ALL)</a:t>
            </a:r>
            <a:endParaRPr lang="en-US" sz="1200" dirty="0"/>
          </a:p>
        </p:txBody>
      </p:sp>
      <p:sp>
        <p:nvSpPr>
          <p:cNvPr id="28" name="Shape 24"/>
          <p:cNvSpPr/>
          <p:nvPr/>
        </p:nvSpPr>
        <p:spPr>
          <a:xfrm>
            <a:off x="411480" y="1481328"/>
            <a:ext cx="2331720" cy="256032"/>
          </a:xfrm>
          <a:prstGeom prst="rect">
            <a:avLst/>
          </a:prstGeom>
          <a:solidFill>
            <a:srgbClr val="1F4A82"/>
          </a:solidFill>
          <a:ln/>
        </p:spPr>
      </p:sp>
      <p:sp>
        <p:nvSpPr>
          <p:cNvPr id="29" name="Text 25"/>
          <p:cNvSpPr txBox="1"/>
          <p:nvPr/>
        </p:nvSpPr>
        <p:spPr>
          <a:xfrm>
            <a:off x="457200" y="1481328"/>
            <a:ext cx="2240280" cy="256032"/>
          </a:xfrm>
          <a:prstGeom prst="rect">
            <a:avLst/>
          </a:prstGeom>
          <a:noFill/>
          <a:ln/>
        </p:spPr>
        <p:txBody>
          <a:bodyPr wrap="square" lIns="0" tIns="0" rIns="0" bIns="0" rtlCol="0" anchor="ctr"/>
          <a:lstStyle/>
          <a:p>
            <a:pPr algn="l" indent="0" marL="0">
              <a:buNone/>
            </a:pPr>
            <a:endParaRPr lang="en-US" sz="950" dirty="0"/>
          </a:p>
        </p:txBody>
      </p:sp>
      <p:sp>
        <p:nvSpPr>
          <p:cNvPr id="30" name="Shape 26"/>
          <p:cNvSpPr/>
          <p:nvPr/>
        </p:nvSpPr>
        <p:spPr>
          <a:xfrm>
            <a:off x="2743200" y="1481328"/>
            <a:ext cx="713232" cy="256032"/>
          </a:xfrm>
          <a:prstGeom prst="rect">
            <a:avLst/>
          </a:prstGeom>
          <a:solidFill>
            <a:srgbClr val="5B6573"/>
          </a:solidFill>
          <a:ln/>
        </p:spPr>
      </p:sp>
      <p:sp>
        <p:nvSpPr>
          <p:cNvPr id="31" name="Text 27"/>
          <p:cNvSpPr txBox="1"/>
          <p:nvPr/>
        </p:nvSpPr>
        <p:spPr>
          <a:xfrm>
            <a:off x="2788920" y="1481328"/>
            <a:ext cx="62179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Guide</a:t>
            </a:r>
            <a:endParaRPr lang="en-US" sz="950" dirty="0"/>
          </a:p>
        </p:txBody>
      </p:sp>
      <p:sp>
        <p:nvSpPr>
          <p:cNvPr id="32" name="Shape 28"/>
          <p:cNvSpPr/>
          <p:nvPr/>
        </p:nvSpPr>
        <p:spPr>
          <a:xfrm>
            <a:off x="3456432" y="1481328"/>
            <a:ext cx="685800" cy="256032"/>
          </a:xfrm>
          <a:prstGeom prst="rect">
            <a:avLst/>
          </a:prstGeom>
          <a:solidFill>
            <a:srgbClr val="5B6573"/>
          </a:solidFill>
          <a:ln/>
        </p:spPr>
      </p:sp>
      <p:sp>
        <p:nvSpPr>
          <p:cNvPr id="33" name="Text 29"/>
          <p:cNvSpPr txBox="1"/>
          <p:nvPr/>
        </p:nvSpPr>
        <p:spPr>
          <a:xfrm>
            <a:off x="3502152" y="1481328"/>
            <a:ext cx="59436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Bear</a:t>
            </a:r>
            <a:endParaRPr lang="en-US" sz="950" dirty="0"/>
          </a:p>
        </p:txBody>
      </p:sp>
      <p:sp>
        <p:nvSpPr>
          <p:cNvPr id="34" name="Shape 30"/>
          <p:cNvSpPr/>
          <p:nvPr/>
        </p:nvSpPr>
        <p:spPr>
          <a:xfrm>
            <a:off x="4142232" y="1481328"/>
            <a:ext cx="777240" cy="256032"/>
          </a:xfrm>
          <a:prstGeom prst="rect">
            <a:avLst/>
          </a:prstGeom>
          <a:solidFill>
            <a:srgbClr val="1F4A82"/>
          </a:solidFill>
          <a:ln/>
        </p:spPr>
      </p:sp>
      <p:sp>
        <p:nvSpPr>
          <p:cNvPr id="35" name="Text 31"/>
          <p:cNvSpPr txBox="1"/>
          <p:nvPr/>
        </p:nvSpPr>
        <p:spPr>
          <a:xfrm>
            <a:off x="4187952" y="1481328"/>
            <a:ext cx="6858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Base</a:t>
            </a:r>
            <a:endParaRPr lang="en-US" sz="950" dirty="0"/>
          </a:p>
        </p:txBody>
      </p:sp>
      <p:sp>
        <p:nvSpPr>
          <p:cNvPr id="36" name="Shape 32"/>
          <p:cNvSpPr/>
          <p:nvPr/>
        </p:nvSpPr>
        <p:spPr>
          <a:xfrm>
            <a:off x="4919472" y="1481328"/>
            <a:ext cx="685800" cy="256032"/>
          </a:xfrm>
          <a:prstGeom prst="rect">
            <a:avLst/>
          </a:prstGeom>
          <a:solidFill>
            <a:srgbClr val="5B6573"/>
          </a:solidFill>
          <a:ln/>
        </p:spPr>
      </p:sp>
      <p:sp>
        <p:nvSpPr>
          <p:cNvPr id="37" name="Text 33"/>
          <p:cNvSpPr txBox="1"/>
          <p:nvPr/>
        </p:nvSpPr>
        <p:spPr>
          <a:xfrm>
            <a:off x="4965192" y="1481328"/>
            <a:ext cx="59436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Bull</a:t>
            </a:r>
            <a:endParaRPr lang="en-US" sz="950" dirty="0"/>
          </a:p>
        </p:txBody>
      </p:sp>
      <p:sp>
        <p:nvSpPr>
          <p:cNvPr id="38" name="Shape 34"/>
          <p:cNvSpPr/>
          <p:nvPr/>
        </p:nvSpPr>
        <p:spPr>
          <a:xfrm>
            <a:off x="5605272" y="1481328"/>
            <a:ext cx="731520" cy="256032"/>
          </a:xfrm>
          <a:prstGeom prst="rect">
            <a:avLst/>
          </a:prstGeom>
          <a:solidFill>
            <a:srgbClr val="5B6573"/>
          </a:solidFill>
          <a:ln/>
        </p:spPr>
      </p:sp>
      <p:sp>
        <p:nvSpPr>
          <p:cNvPr id="39" name="Text 35"/>
          <p:cNvSpPr txBox="1"/>
          <p:nvPr/>
        </p:nvSpPr>
        <p:spPr>
          <a:xfrm>
            <a:off x="5650992" y="1481328"/>
            <a:ext cx="64008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Stress</a:t>
            </a:r>
            <a:endParaRPr lang="en-US" sz="950" dirty="0"/>
          </a:p>
        </p:txBody>
      </p:sp>
      <p:sp>
        <p:nvSpPr>
          <p:cNvPr id="40" name="Shape 36"/>
          <p:cNvSpPr/>
          <p:nvPr/>
        </p:nvSpPr>
        <p:spPr>
          <a:xfrm>
            <a:off x="411480" y="1737360"/>
            <a:ext cx="2331720" cy="274320"/>
          </a:xfrm>
          <a:prstGeom prst="rect">
            <a:avLst/>
          </a:prstGeom>
          <a:solidFill>
            <a:srgbClr val="F1F7F3"/>
          </a:solidFill>
          <a:ln/>
        </p:spPr>
      </p:sp>
      <p:sp>
        <p:nvSpPr>
          <p:cNvPr id="41" name="Text 37"/>
          <p:cNvSpPr txBox="1"/>
          <p:nvPr/>
        </p:nvSpPr>
        <p:spPr>
          <a:xfrm>
            <a:off x="457200" y="173736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Dropout reduction</a:t>
            </a:r>
            <a:endParaRPr lang="en-US" sz="950" dirty="0"/>
          </a:p>
        </p:txBody>
      </p:sp>
      <p:sp>
        <p:nvSpPr>
          <p:cNvPr id="42" name="Shape 38"/>
          <p:cNvSpPr/>
          <p:nvPr/>
        </p:nvSpPr>
        <p:spPr>
          <a:xfrm>
            <a:off x="2743200" y="1737360"/>
            <a:ext cx="713232" cy="274320"/>
          </a:xfrm>
          <a:prstGeom prst="rect">
            <a:avLst/>
          </a:prstGeom>
          <a:solidFill>
            <a:srgbClr val="F1F7F3"/>
          </a:solidFill>
          <a:ln/>
        </p:spPr>
      </p:sp>
      <p:sp>
        <p:nvSpPr>
          <p:cNvPr id="43" name="Text 39"/>
          <p:cNvSpPr txBox="1"/>
          <p:nvPr/>
        </p:nvSpPr>
        <p:spPr>
          <a:xfrm>
            <a:off x="2788920" y="173736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25 %</a:t>
            </a:r>
            <a:endParaRPr lang="en-US" sz="950" dirty="0"/>
          </a:p>
        </p:txBody>
      </p:sp>
      <p:sp>
        <p:nvSpPr>
          <p:cNvPr id="44" name="Shape 40"/>
          <p:cNvSpPr/>
          <p:nvPr/>
        </p:nvSpPr>
        <p:spPr>
          <a:xfrm>
            <a:off x="3456432" y="1737360"/>
            <a:ext cx="685800" cy="274320"/>
          </a:xfrm>
          <a:prstGeom prst="rect">
            <a:avLst/>
          </a:prstGeom>
          <a:solidFill>
            <a:srgbClr val="F1F7F3"/>
          </a:solidFill>
          <a:ln/>
        </p:spPr>
      </p:sp>
      <p:sp>
        <p:nvSpPr>
          <p:cNvPr id="45" name="Text 41"/>
          <p:cNvSpPr txBox="1"/>
          <p:nvPr/>
        </p:nvSpPr>
        <p:spPr>
          <a:xfrm>
            <a:off x="3502152" y="173736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1.0 %</a:t>
            </a:r>
            <a:endParaRPr lang="en-US" sz="950" dirty="0"/>
          </a:p>
        </p:txBody>
      </p:sp>
      <p:sp>
        <p:nvSpPr>
          <p:cNvPr id="46" name="Shape 42"/>
          <p:cNvSpPr/>
          <p:nvPr/>
        </p:nvSpPr>
        <p:spPr>
          <a:xfrm>
            <a:off x="4142232" y="1737360"/>
            <a:ext cx="777240" cy="274320"/>
          </a:xfrm>
          <a:prstGeom prst="rect">
            <a:avLst/>
          </a:prstGeom>
          <a:solidFill>
            <a:srgbClr val="D6E4F5"/>
          </a:solidFill>
          <a:ln/>
        </p:spPr>
      </p:sp>
      <p:sp>
        <p:nvSpPr>
          <p:cNvPr id="47" name="Text 43"/>
          <p:cNvSpPr txBox="1"/>
          <p:nvPr/>
        </p:nvSpPr>
        <p:spPr>
          <a:xfrm>
            <a:off x="4187952" y="173736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4.0 %</a:t>
            </a:r>
            <a:endParaRPr lang="en-US" sz="950" dirty="0"/>
          </a:p>
        </p:txBody>
      </p:sp>
      <p:sp>
        <p:nvSpPr>
          <p:cNvPr id="48" name="Shape 44"/>
          <p:cNvSpPr/>
          <p:nvPr/>
        </p:nvSpPr>
        <p:spPr>
          <a:xfrm>
            <a:off x="4919472" y="1737360"/>
            <a:ext cx="685800" cy="274320"/>
          </a:xfrm>
          <a:prstGeom prst="rect">
            <a:avLst/>
          </a:prstGeom>
          <a:solidFill>
            <a:srgbClr val="F1F7F3"/>
          </a:solidFill>
          <a:ln/>
        </p:spPr>
      </p:sp>
      <p:sp>
        <p:nvSpPr>
          <p:cNvPr id="49" name="Text 45"/>
          <p:cNvSpPr txBox="1"/>
          <p:nvPr/>
        </p:nvSpPr>
        <p:spPr>
          <a:xfrm>
            <a:off x="4965192" y="173736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11.3 %</a:t>
            </a:r>
            <a:endParaRPr lang="en-US" sz="950" dirty="0"/>
          </a:p>
        </p:txBody>
      </p:sp>
      <p:sp>
        <p:nvSpPr>
          <p:cNvPr id="50" name="Shape 46"/>
          <p:cNvSpPr/>
          <p:nvPr/>
        </p:nvSpPr>
        <p:spPr>
          <a:xfrm>
            <a:off x="5605272" y="1737360"/>
            <a:ext cx="731520" cy="274320"/>
          </a:xfrm>
          <a:prstGeom prst="rect">
            <a:avLst/>
          </a:prstGeom>
          <a:solidFill>
            <a:srgbClr val="F1F7F3"/>
          </a:solidFill>
          <a:ln/>
        </p:spPr>
      </p:sp>
      <p:sp>
        <p:nvSpPr>
          <p:cNvPr id="51" name="Text 47"/>
          <p:cNvSpPr txBox="1"/>
          <p:nvPr/>
        </p:nvSpPr>
        <p:spPr>
          <a:xfrm>
            <a:off x="5650992" y="173736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0.6 %</a:t>
            </a:r>
            <a:endParaRPr lang="en-US" sz="950" dirty="0"/>
          </a:p>
        </p:txBody>
      </p:sp>
      <p:sp>
        <p:nvSpPr>
          <p:cNvPr id="52" name="Shape 48"/>
          <p:cNvSpPr/>
          <p:nvPr/>
        </p:nvSpPr>
        <p:spPr>
          <a:xfrm>
            <a:off x="411480" y="2011680"/>
            <a:ext cx="5925312" cy="0"/>
          </a:xfrm>
          <a:prstGeom prst="line">
            <a:avLst/>
          </a:prstGeom>
          <a:noFill/>
          <a:ln w="6350">
            <a:solidFill>
              <a:srgbClr val="E3E8E4"/>
            </a:solidFill>
            <a:prstDash val="solid"/>
          </a:ln>
        </p:spPr>
      </p:sp>
      <p:sp>
        <p:nvSpPr>
          <p:cNvPr id="53" name="Shape 49"/>
          <p:cNvSpPr/>
          <p:nvPr/>
        </p:nvSpPr>
        <p:spPr>
          <a:xfrm>
            <a:off x="411480" y="2011680"/>
            <a:ext cx="2331720" cy="274320"/>
          </a:xfrm>
          <a:prstGeom prst="rect">
            <a:avLst/>
          </a:prstGeom>
          <a:solidFill>
            <a:srgbClr val="FFFFFF"/>
          </a:solidFill>
          <a:ln/>
        </p:spPr>
      </p:sp>
      <p:sp>
        <p:nvSpPr>
          <p:cNvPr id="54" name="Text 50"/>
          <p:cNvSpPr txBox="1"/>
          <p:nvPr/>
        </p:nvSpPr>
        <p:spPr>
          <a:xfrm>
            <a:off x="457200" y="201168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Students kept a year</a:t>
            </a:r>
            <a:endParaRPr lang="en-US" sz="950" dirty="0"/>
          </a:p>
        </p:txBody>
      </p:sp>
      <p:sp>
        <p:nvSpPr>
          <p:cNvPr id="55" name="Shape 51"/>
          <p:cNvSpPr/>
          <p:nvPr/>
        </p:nvSpPr>
        <p:spPr>
          <a:xfrm>
            <a:off x="2743200" y="2011680"/>
            <a:ext cx="713232" cy="274320"/>
          </a:xfrm>
          <a:prstGeom prst="rect">
            <a:avLst/>
          </a:prstGeom>
          <a:solidFill>
            <a:srgbClr val="FFFFFF"/>
          </a:solidFill>
          <a:ln/>
        </p:spPr>
      </p:sp>
      <p:sp>
        <p:nvSpPr>
          <p:cNvPr id="56" name="Text 52"/>
          <p:cNvSpPr txBox="1"/>
          <p:nvPr/>
        </p:nvSpPr>
        <p:spPr>
          <a:xfrm>
            <a:off x="2788920" y="201168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12.0</a:t>
            </a:r>
            <a:endParaRPr lang="en-US" sz="950" dirty="0"/>
          </a:p>
        </p:txBody>
      </p:sp>
      <p:sp>
        <p:nvSpPr>
          <p:cNvPr id="57" name="Shape 53"/>
          <p:cNvSpPr/>
          <p:nvPr/>
        </p:nvSpPr>
        <p:spPr>
          <a:xfrm>
            <a:off x="3456432" y="2011680"/>
            <a:ext cx="685800" cy="274320"/>
          </a:xfrm>
          <a:prstGeom prst="rect">
            <a:avLst/>
          </a:prstGeom>
          <a:solidFill>
            <a:srgbClr val="FFFFFF"/>
          </a:solidFill>
          <a:ln/>
        </p:spPr>
      </p:sp>
      <p:sp>
        <p:nvSpPr>
          <p:cNvPr id="58" name="Text 54"/>
          <p:cNvSpPr txBox="1"/>
          <p:nvPr/>
        </p:nvSpPr>
        <p:spPr>
          <a:xfrm>
            <a:off x="3502152" y="201168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0.3</a:t>
            </a:r>
            <a:endParaRPr lang="en-US" sz="950" dirty="0"/>
          </a:p>
        </p:txBody>
      </p:sp>
      <p:sp>
        <p:nvSpPr>
          <p:cNvPr id="59" name="Shape 55"/>
          <p:cNvSpPr/>
          <p:nvPr/>
        </p:nvSpPr>
        <p:spPr>
          <a:xfrm>
            <a:off x="4142232" y="2011680"/>
            <a:ext cx="777240" cy="274320"/>
          </a:xfrm>
          <a:prstGeom prst="rect">
            <a:avLst/>
          </a:prstGeom>
          <a:solidFill>
            <a:srgbClr val="D6E4F5"/>
          </a:solidFill>
          <a:ln/>
        </p:spPr>
      </p:sp>
      <p:sp>
        <p:nvSpPr>
          <p:cNvPr id="60" name="Text 56"/>
          <p:cNvSpPr txBox="1"/>
          <p:nvPr/>
        </p:nvSpPr>
        <p:spPr>
          <a:xfrm>
            <a:off x="4187952" y="201168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1.9</a:t>
            </a:r>
            <a:endParaRPr lang="en-US" sz="950" dirty="0"/>
          </a:p>
        </p:txBody>
      </p:sp>
      <p:sp>
        <p:nvSpPr>
          <p:cNvPr id="61" name="Shape 57"/>
          <p:cNvSpPr/>
          <p:nvPr/>
        </p:nvSpPr>
        <p:spPr>
          <a:xfrm>
            <a:off x="4919472" y="2011680"/>
            <a:ext cx="685800" cy="274320"/>
          </a:xfrm>
          <a:prstGeom prst="rect">
            <a:avLst/>
          </a:prstGeom>
          <a:solidFill>
            <a:srgbClr val="FFFFFF"/>
          </a:solidFill>
          <a:ln/>
        </p:spPr>
      </p:sp>
      <p:sp>
        <p:nvSpPr>
          <p:cNvPr id="62" name="Text 58"/>
          <p:cNvSpPr txBox="1"/>
          <p:nvPr/>
        </p:nvSpPr>
        <p:spPr>
          <a:xfrm>
            <a:off x="4965192" y="201168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8.2</a:t>
            </a:r>
            <a:endParaRPr lang="en-US" sz="950" dirty="0"/>
          </a:p>
        </p:txBody>
      </p:sp>
      <p:sp>
        <p:nvSpPr>
          <p:cNvPr id="63" name="Shape 59"/>
          <p:cNvSpPr/>
          <p:nvPr/>
        </p:nvSpPr>
        <p:spPr>
          <a:xfrm>
            <a:off x="5605272" y="2011680"/>
            <a:ext cx="731520" cy="274320"/>
          </a:xfrm>
          <a:prstGeom prst="rect">
            <a:avLst/>
          </a:prstGeom>
          <a:solidFill>
            <a:srgbClr val="FFFFFF"/>
          </a:solidFill>
          <a:ln/>
        </p:spPr>
      </p:sp>
      <p:sp>
        <p:nvSpPr>
          <p:cNvPr id="64" name="Text 60"/>
          <p:cNvSpPr txBox="1"/>
          <p:nvPr/>
        </p:nvSpPr>
        <p:spPr>
          <a:xfrm>
            <a:off x="5650992" y="201168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0.2</a:t>
            </a:r>
            <a:endParaRPr lang="en-US" sz="950" dirty="0"/>
          </a:p>
        </p:txBody>
      </p:sp>
      <p:sp>
        <p:nvSpPr>
          <p:cNvPr id="65" name="Shape 61"/>
          <p:cNvSpPr/>
          <p:nvPr/>
        </p:nvSpPr>
        <p:spPr>
          <a:xfrm>
            <a:off x="411480" y="2286000"/>
            <a:ext cx="5925312" cy="0"/>
          </a:xfrm>
          <a:prstGeom prst="line">
            <a:avLst/>
          </a:prstGeom>
          <a:noFill/>
          <a:ln w="6350">
            <a:solidFill>
              <a:srgbClr val="E3E8E4"/>
            </a:solidFill>
            <a:prstDash val="solid"/>
          </a:ln>
        </p:spPr>
      </p:sp>
      <p:sp>
        <p:nvSpPr>
          <p:cNvPr id="66" name="Shape 62"/>
          <p:cNvSpPr/>
          <p:nvPr/>
        </p:nvSpPr>
        <p:spPr>
          <a:xfrm>
            <a:off x="411480" y="2286000"/>
            <a:ext cx="2331720" cy="274320"/>
          </a:xfrm>
          <a:prstGeom prst="rect">
            <a:avLst/>
          </a:prstGeom>
          <a:solidFill>
            <a:srgbClr val="F1F7F3"/>
          </a:solidFill>
          <a:ln/>
        </p:spPr>
      </p:sp>
      <p:sp>
        <p:nvSpPr>
          <p:cNvPr id="67" name="Text 63"/>
          <p:cNvSpPr txBox="1"/>
          <p:nvPr/>
        </p:nvSpPr>
        <p:spPr>
          <a:xfrm>
            <a:off x="457200" y="228600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Return, all benefits</a:t>
            </a:r>
            <a:endParaRPr lang="en-US" sz="950" dirty="0"/>
          </a:p>
        </p:txBody>
      </p:sp>
      <p:sp>
        <p:nvSpPr>
          <p:cNvPr id="68" name="Shape 64"/>
          <p:cNvSpPr/>
          <p:nvPr/>
        </p:nvSpPr>
        <p:spPr>
          <a:xfrm>
            <a:off x="2743200" y="2286000"/>
            <a:ext cx="713232" cy="274320"/>
          </a:xfrm>
          <a:prstGeom prst="rect">
            <a:avLst/>
          </a:prstGeom>
          <a:solidFill>
            <a:srgbClr val="F1F7F3"/>
          </a:solidFill>
          <a:ln/>
        </p:spPr>
      </p:sp>
      <p:sp>
        <p:nvSpPr>
          <p:cNvPr id="69" name="Text 65"/>
          <p:cNvSpPr txBox="1"/>
          <p:nvPr/>
        </p:nvSpPr>
        <p:spPr>
          <a:xfrm>
            <a:off x="2788920" y="228600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2.25x</a:t>
            </a:r>
            <a:endParaRPr lang="en-US" sz="950" dirty="0"/>
          </a:p>
        </p:txBody>
      </p:sp>
      <p:sp>
        <p:nvSpPr>
          <p:cNvPr id="70" name="Shape 66"/>
          <p:cNvSpPr/>
          <p:nvPr/>
        </p:nvSpPr>
        <p:spPr>
          <a:xfrm>
            <a:off x="3456432" y="2286000"/>
            <a:ext cx="685800" cy="274320"/>
          </a:xfrm>
          <a:prstGeom prst="rect">
            <a:avLst/>
          </a:prstGeom>
          <a:solidFill>
            <a:srgbClr val="F1F7F3"/>
          </a:solidFill>
          <a:ln/>
        </p:spPr>
      </p:sp>
      <p:sp>
        <p:nvSpPr>
          <p:cNvPr id="71" name="Text 67"/>
          <p:cNvSpPr txBox="1"/>
          <p:nvPr/>
        </p:nvSpPr>
        <p:spPr>
          <a:xfrm>
            <a:off x="3502152" y="228600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0.37x</a:t>
            </a:r>
            <a:endParaRPr lang="en-US" sz="950" dirty="0"/>
          </a:p>
        </p:txBody>
      </p:sp>
      <p:sp>
        <p:nvSpPr>
          <p:cNvPr id="72" name="Shape 68"/>
          <p:cNvSpPr/>
          <p:nvPr/>
        </p:nvSpPr>
        <p:spPr>
          <a:xfrm>
            <a:off x="4142232" y="2286000"/>
            <a:ext cx="777240" cy="274320"/>
          </a:xfrm>
          <a:prstGeom prst="rect">
            <a:avLst/>
          </a:prstGeom>
          <a:solidFill>
            <a:srgbClr val="D6E4F5"/>
          </a:solidFill>
          <a:ln/>
        </p:spPr>
      </p:sp>
      <p:sp>
        <p:nvSpPr>
          <p:cNvPr id="73" name="Text 69"/>
          <p:cNvSpPr txBox="1"/>
          <p:nvPr/>
        </p:nvSpPr>
        <p:spPr>
          <a:xfrm>
            <a:off x="4187952" y="228600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1.7x</a:t>
            </a:r>
            <a:endParaRPr lang="en-US" sz="950" dirty="0"/>
          </a:p>
        </p:txBody>
      </p:sp>
      <p:sp>
        <p:nvSpPr>
          <p:cNvPr id="74" name="Shape 70"/>
          <p:cNvSpPr/>
          <p:nvPr/>
        </p:nvSpPr>
        <p:spPr>
          <a:xfrm>
            <a:off x="4919472" y="2286000"/>
            <a:ext cx="685800" cy="274320"/>
          </a:xfrm>
          <a:prstGeom prst="rect">
            <a:avLst/>
          </a:prstGeom>
          <a:solidFill>
            <a:srgbClr val="F1F7F3"/>
          </a:solidFill>
          <a:ln/>
        </p:spPr>
      </p:sp>
      <p:sp>
        <p:nvSpPr>
          <p:cNvPr id="75" name="Text 71"/>
          <p:cNvSpPr txBox="1"/>
          <p:nvPr/>
        </p:nvSpPr>
        <p:spPr>
          <a:xfrm>
            <a:off x="4965192" y="228600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3.9x</a:t>
            </a:r>
            <a:endParaRPr lang="en-US" sz="950" dirty="0"/>
          </a:p>
        </p:txBody>
      </p:sp>
      <p:sp>
        <p:nvSpPr>
          <p:cNvPr id="76" name="Shape 72"/>
          <p:cNvSpPr/>
          <p:nvPr/>
        </p:nvSpPr>
        <p:spPr>
          <a:xfrm>
            <a:off x="5605272" y="2286000"/>
            <a:ext cx="731520" cy="274320"/>
          </a:xfrm>
          <a:prstGeom prst="rect">
            <a:avLst/>
          </a:prstGeom>
          <a:solidFill>
            <a:srgbClr val="F1F7F3"/>
          </a:solidFill>
          <a:ln/>
        </p:spPr>
      </p:sp>
      <p:sp>
        <p:nvSpPr>
          <p:cNvPr id="77" name="Text 73"/>
          <p:cNvSpPr txBox="1"/>
          <p:nvPr/>
        </p:nvSpPr>
        <p:spPr>
          <a:xfrm>
            <a:off x="5650992" y="228600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0.09x</a:t>
            </a:r>
            <a:endParaRPr lang="en-US" sz="950" dirty="0"/>
          </a:p>
        </p:txBody>
      </p:sp>
      <p:sp>
        <p:nvSpPr>
          <p:cNvPr id="78" name="Shape 74"/>
          <p:cNvSpPr/>
          <p:nvPr/>
        </p:nvSpPr>
        <p:spPr>
          <a:xfrm>
            <a:off x="411480" y="2560320"/>
            <a:ext cx="5925312" cy="0"/>
          </a:xfrm>
          <a:prstGeom prst="line">
            <a:avLst/>
          </a:prstGeom>
          <a:noFill/>
          <a:ln w="6350">
            <a:solidFill>
              <a:srgbClr val="E3E8E4"/>
            </a:solidFill>
            <a:prstDash val="solid"/>
          </a:ln>
        </p:spPr>
      </p:sp>
      <p:sp>
        <p:nvSpPr>
          <p:cNvPr id="79" name="Shape 75"/>
          <p:cNvSpPr/>
          <p:nvPr/>
        </p:nvSpPr>
        <p:spPr>
          <a:xfrm>
            <a:off x="411480" y="2560320"/>
            <a:ext cx="2331720" cy="274320"/>
          </a:xfrm>
          <a:prstGeom prst="rect">
            <a:avLst/>
          </a:prstGeom>
          <a:solidFill>
            <a:srgbClr val="FFFFFF"/>
          </a:solidFill>
          <a:ln/>
        </p:spPr>
      </p:sp>
      <p:sp>
        <p:nvSpPr>
          <p:cNvPr id="80" name="Text 76"/>
          <p:cNvSpPr txBox="1"/>
          <p:nvPr/>
        </p:nvSpPr>
        <p:spPr>
          <a:xfrm>
            <a:off x="457200" y="256032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Return, fees + staff time</a:t>
            </a:r>
            <a:endParaRPr lang="en-US" sz="950" dirty="0"/>
          </a:p>
        </p:txBody>
      </p:sp>
      <p:sp>
        <p:nvSpPr>
          <p:cNvPr id="81" name="Shape 77"/>
          <p:cNvSpPr/>
          <p:nvPr/>
        </p:nvSpPr>
        <p:spPr>
          <a:xfrm>
            <a:off x="2743200" y="2560320"/>
            <a:ext cx="713232" cy="274320"/>
          </a:xfrm>
          <a:prstGeom prst="rect">
            <a:avLst/>
          </a:prstGeom>
          <a:solidFill>
            <a:srgbClr val="FFFFFF"/>
          </a:solidFill>
          <a:ln/>
        </p:spPr>
      </p:sp>
      <p:sp>
        <p:nvSpPr>
          <p:cNvPr id="82" name="Text 78"/>
          <p:cNvSpPr txBox="1"/>
          <p:nvPr/>
        </p:nvSpPr>
        <p:spPr>
          <a:xfrm>
            <a:off x="2788920" y="256032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2.25x</a:t>
            </a:r>
            <a:endParaRPr lang="en-US" sz="950" dirty="0"/>
          </a:p>
        </p:txBody>
      </p:sp>
      <p:sp>
        <p:nvSpPr>
          <p:cNvPr id="83" name="Shape 79"/>
          <p:cNvSpPr/>
          <p:nvPr/>
        </p:nvSpPr>
        <p:spPr>
          <a:xfrm>
            <a:off x="3456432" y="2560320"/>
            <a:ext cx="685800" cy="274320"/>
          </a:xfrm>
          <a:prstGeom prst="rect">
            <a:avLst/>
          </a:prstGeom>
          <a:solidFill>
            <a:srgbClr val="FFFFFF"/>
          </a:solidFill>
          <a:ln/>
        </p:spPr>
      </p:sp>
      <p:sp>
        <p:nvSpPr>
          <p:cNvPr id="84" name="Text 80"/>
          <p:cNvSpPr txBox="1"/>
          <p:nvPr/>
        </p:nvSpPr>
        <p:spPr>
          <a:xfrm>
            <a:off x="3502152" y="256032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0.37x</a:t>
            </a:r>
            <a:endParaRPr lang="en-US" sz="950" dirty="0"/>
          </a:p>
        </p:txBody>
      </p:sp>
      <p:sp>
        <p:nvSpPr>
          <p:cNvPr id="85" name="Shape 81"/>
          <p:cNvSpPr/>
          <p:nvPr/>
        </p:nvSpPr>
        <p:spPr>
          <a:xfrm>
            <a:off x="4142232" y="2560320"/>
            <a:ext cx="777240" cy="274320"/>
          </a:xfrm>
          <a:prstGeom prst="rect">
            <a:avLst/>
          </a:prstGeom>
          <a:solidFill>
            <a:srgbClr val="D6E4F5"/>
          </a:solidFill>
          <a:ln/>
        </p:spPr>
      </p:sp>
      <p:sp>
        <p:nvSpPr>
          <p:cNvPr id="86" name="Text 82"/>
          <p:cNvSpPr txBox="1"/>
          <p:nvPr/>
        </p:nvSpPr>
        <p:spPr>
          <a:xfrm>
            <a:off x="4187952" y="256032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0.55x</a:t>
            </a:r>
            <a:endParaRPr lang="en-US" sz="950" dirty="0"/>
          </a:p>
        </p:txBody>
      </p:sp>
      <p:sp>
        <p:nvSpPr>
          <p:cNvPr id="87" name="Shape 83"/>
          <p:cNvSpPr/>
          <p:nvPr/>
        </p:nvSpPr>
        <p:spPr>
          <a:xfrm>
            <a:off x="4919472" y="2560320"/>
            <a:ext cx="685800" cy="274320"/>
          </a:xfrm>
          <a:prstGeom prst="rect">
            <a:avLst/>
          </a:prstGeom>
          <a:solidFill>
            <a:srgbClr val="FFFFFF"/>
          </a:solidFill>
          <a:ln/>
        </p:spPr>
      </p:sp>
      <p:sp>
        <p:nvSpPr>
          <p:cNvPr id="88" name="Text 84"/>
          <p:cNvSpPr txBox="1"/>
          <p:nvPr/>
        </p:nvSpPr>
        <p:spPr>
          <a:xfrm>
            <a:off x="4965192" y="256032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1.3x</a:t>
            </a:r>
            <a:endParaRPr lang="en-US" sz="950" dirty="0"/>
          </a:p>
        </p:txBody>
      </p:sp>
      <p:sp>
        <p:nvSpPr>
          <p:cNvPr id="89" name="Shape 85"/>
          <p:cNvSpPr/>
          <p:nvPr/>
        </p:nvSpPr>
        <p:spPr>
          <a:xfrm>
            <a:off x="5605272" y="2560320"/>
            <a:ext cx="731520" cy="274320"/>
          </a:xfrm>
          <a:prstGeom prst="rect">
            <a:avLst/>
          </a:prstGeom>
          <a:solidFill>
            <a:srgbClr val="FFFFFF"/>
          </a:solidFill>
          <a:ln/>
        </p:spPr>
      </p:sp>
      <p:sp>
        <p:nvSpPr>
          <p:cNvPr id="90" name="Text 86"/>
          <p:cNvSpPr txBox="1"/>
          <p:nvPr/>
        </p:nvSpPr>
        <p:spPr>
          <a:xfrm>
            <a:off x="5650992" y="256032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0.09x</a:t>
            </a:r>
            <a:endParaRPr lang="en-US" sz="950" dirty="0"/>
          </a:p>
        </p:txBody>
      </p:sp>
      <p:sp>
        <p:nvSpPr>
          <p:cNvPr id="91" name="Shape 87"/>
          <p:cNvSpPr/>
          <p:nvPr/>
        </p:nvSpPr>
        <p:spPr>
          <a:xfrm>
            <a:off x="411480" y="2834640"/>
            <a:ext cx="5925312" cy="0"/>
          </a:xfrm>
          <a:prstGeom prst="line">
            <a:avLst/>
          </a:prstGeom>
          <a:noFill/>
          <a:ln w="6350">
            <a:solidFill>
              <a:srgbClr val="E3E8E4"/>
            </a:solidFill>
            <a:prstDash val="solid"/>
          </a:ln>
        </p:spPr>
      </p:sp>
      <p:sp>
        <p:nvSpPr>
          <p:cNvPr id="92" name="Shape 88"/>
          <p:cNvSpPr/>
          <p:nvPr/>
        </p:nvSpPr>
        <p:spPr>
          <a:xfrm>
            <a:off x="411480" y="2834640"/>
            <a:ext cx="2331720" cy="274320"/>
          </a:xfrm>
          <a:prstGeom prst="rect">
            <a:avLst/>
          </a:prstGeom>
          <a:solidFill>
            <a:srgbClr val="F1F7F3"/>
          </a:solidFill>
          <a:ln/>
        </p:spPr>
      </p:sp>
      <p:sp>
        <p:nvSpPr>
          <p:cNvPr id="93" name="Text 89"/>
          <p:cNvSpPr txBox="1"/>
          <p:nvPr/>
        </p:nvSpPr>
        <p:spPr>
          <a:xfrm>
            <a:off x="457200" y="283464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Students to keep to break even</a:t>
            </a:r>
            <a:endParaRPr lang="en-US" sz="950" dirty="0"/>
          </a:p>
        </p:txBody>
      </p:sp>
      <p:sp>
        <p:nvSpPr>
          <p:cNvPr id="94" name="Shape 90"/>
          <p:cNvSpPr/>
          <p:nvPr/>
        </p:nvSpPr>
        <p:spPr>
          <a:xfrm>
            <a:off x="2743200" y="2834640"/>
            <a:ext cx="713232" cy="274320"/>
          </a:xfrm>
          <a:prstGeom prst="rect">
            <a:avLst/>
          </a:prstGeom>
          <a:solidFill>
            <a:srgbClr val="F1F7F3"/>
          </a:solidFill>
          <a:ln/>
        </p:spPr>
      </p:sp>
      <p:sp>
        <p:nvSpPr>
          <p:cNvPr id="95" name="Text 91"/>
          <p:cNvSpPr txBox="1"/>
          <p:nvPr/>
        </p:nvSpPr>
        <p:spPr>
          <a:xfrm>
            <a:off x="2788920" y="283464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5.3</a:t>
            </a:r>
            <a:endParaRPr lang="en-US" sz="950" dirty="0"/>
          </a:p>
        </p:txBody>
      </p:sp>
      <p:sp>
        <p:nvSpPr>
          <p:cNvPr id="96" name="Shape 92"/>
          <p:cNvSpPr/>
          <p:nvPr/>
        </p:nvSpPr>
        <p:spPr>
          <a:xfrm>
            <a:off x="3456432" y="2834640"/>
            <a:ext cx="685800" cy="274320"/>
          </a:xfrm>
          <a:prstGeom prst="rect">
            <a:avLst/>
          </a:prstGeom>
          <a:solidFill>
            <a:srgbClr val="F1F7F3"/>
          </a:solidFill>
          <a:ln/>
        </p:spPr>
      </p:sp>
      <p:sp>
        <p:nvSpPr>
          <p:cNvPr id="97" name="Text 93"/>
          <p:cNvSpPr txBox="1"/>
          <p:nvPr/>
        </p:nvSpPr>
        <p:spPr>
          <a:xfrm>
            <a:off x="3502152" y="283464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3.8</a:t>
            </a:r>
            <a:endParaRPr lang="en-US" sz="950" dirty="0"/>
          </a:p>
        </p:txBody>
      </p:sp>
      <p:sp>
        <p:nvSpPr>
          <p:cNvPr id="98" name="Shape 94"/>
          <p:cNvSpPr/>
          <p:nvPr/>
        </p:nvSpPr>
        <p:spPr>
          <a:xfrm>
            <a:off x="4142232" y="2834640"/>
            <a:ext cx="777240" cy="274320"/>
          </a:xfrm>
          <a:prstGeom prst="rect">
            <a:avLst/>
          </a:prstGeom>
          <a:solidFill>
            <a:srgbClr val="D6E4F5"/>
          </a:solidFill>
          <a:ln/>
        </p:spPr>
      </p:sp>
      <p:sp>
        <p:nvSpPr>
          <p:cNvPr id="99" name="Text 95"/>
          <p:cNvSpPr txBox="1"/>
          <p:nvPr/>
        </p:nvSpPr>
        <p:spPr>
          <a:xfrm>
            <a:off x="4187952" y="283464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5.5</a:t>
            </a:r>
            <a:endParaRPr lang="en-US" sz="950" dirty="0"/>
          </a:p>
        </p:txBody>
      </p:sp>
      <p:sp>
        <p:nvSpPr>
          <p:cNvPr id="100" name="Shape 96"/>
          <p:cNvSpPr/>
          <p:nvPr/>
        </p:nvSpPr>
        <p:spPr>
          <a:xfrm>
            <a:off x="4919472" y="2834640"/>
            <a:ext cx="685800" cy="274320"/>
          </a:xfrm>
          <a:prstGeom prst="rect">
            <a:avLst/>
          </a:prstGeom>
          <a:solidFill>
            <a:srgbClr val="F1F7F3"/>
          </a:solidFill>
          <a:ln/>
        </p:spPr>
      </p:sp>
      <p:sp>
        <p:nvSpPr>
          <p:cNvPr id="101" name="Text 97"/>
          <p:cNvSpPr txBox="1"/>
          <p:nvPr/>
        </p:nvSpPr>
        <p:spPr>
          <a:xfrm>
            <a:off x="4965192" y="283464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7.2</a:t>
            </a:r>
            <a:endParaRPr lang="en-US" sz="950" dirty="0"/>
          </a:p>
        </p:txBody>
      </p:sp>
      <p:sp>
        <p:nvSpPr>
          <p:cNvPr id="102" name="Shape 98"/>
          <p:cNvSpPr/>
          <p:nvPr/>
        </p:nvSpPr>
        <p:spPr>
          <a:xfrm>
            <a:off x="5605272" y="2834640"/>
            <a:ext cx="731520" cy="274320"/>
          </a:xfrm>
          <a:prstGeom prst="rect">
            <a:avLst/>
          </a:prstGeom>
          <a:solidFill>
            <a:srgbClr val="F1F7F3"/>
          </a:solidFill>
          <a:ln/>
        </p:spPr>
      </p:sp>
      <p:sp>
        <p:nvSpPr>
          <p:cNvPr id="103" name="Text 99"/>
          <p:cNvSpPr txBox="1"/>
          <p:nvPr/>
        </p:nvSpPr>
        <p:spPr>
          <a:xfrm>
            <a:off x="5650992" y="283464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11.7</a:t>
            </a:r>
            <a:endParaRPr lang="en-US" sz="950" dirty="0"/>
          </a:p>
        </p:txBody>
      </p:sp>
      <p:sp>
        <p:nvSpPr>
          <p:cNvPr id="104" name="Shape 100"/>
          <p:cNvSpPr/>
          <p:nvPr/>
        </p:nvSpPr>
        <p:spPr>
          <a:xfrm>
            <a:off x="411480" y="3108960"/>
            <a:ext cx="5925312" cy="0"/>
          </a:xfrm>
          <a:prstGeom prst="line">
            <a:avLst/>
          </a:prstGeom>
          <a:noFill/>
          <a:ln w="6350">
            <a:solidFill>
              <a:srgbClr val="E3E8E4"/>
            </a:solidFill>
            <a:prstDash val="solid"/>
          </a:ln>
        </p:spPr>
      </p:sp>
      <p:sp>
        <p:nvSpPr>
          <p:cNvPr id="105" name="Shape 101"/>
          <p:cNvSpPr/>
          <p:nvPr/>
        </p:nvSpPr>
        <p:spPr>
          <a:xfrm>
            <a:off x="411480" y="3108960"/>
            <a:ext cx="2331720" cy="274320"/>
          </a:xfrm>
          <a:prstGeom prst="rect">
            <a:avLst/>
          </a:prstGeom>
          <a:solidFill>
            <a:srgbClr val="FFFFFF"/>
          </a:solidFill>
          <a:ln/>
        </p:spPr>
      </p:sp>
      <p:sp>
        <p:nvSpPr>
          <p:cNvPr id="106" name="Text 102"/>
          <p:cNvSpPr txBox="1"/>
          <p:nvPr/>
        </p:nvSpPr>
        <p:spPr>
          <a:xfrm>
            <a:off x="457200" y="310896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CAC, sales and marketing</a:t>
            </a:r>
            <a:endParaRPr lang="en-US" sz="950" dirty="0"/>
          </a:p>
        </p:txBody>
      </p:sp>
      <p:sp>
        <p:nvSpPr>
          <p:cNvPr id="107" name="Shape 103"/>
          <p:cNvSpPr/>
          <p:nvPr/>
        </p:nvSpPr>
        <p:spPr>
          <a:xfrm>
            <a:off x="2743200" y="3108960"/>
            <a:ext cx="713232" cy="274320"/>
          </a:xfrm>
          <a:prstGeom prst="rect">
            <a:avLst/>
          </a:prstGeom>
          <a:solidFill>
            <a:srgbClr val="FFFFFF"/>
          </a:solidFill>
          <a:ln/>
        </p:spPr>
      </p:sp>
      <p:sp>
        <p:nvSpPr>
          <p:cNvPr id="108" name="Text 104"/>
          <p:cNvSpPr txBox="1"/>
          <p:nvPr/>
        </p:nvSpPr>
        <p:spPr>
          <a:xfrm>
            <a:off x="2788920" y="310896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₹25,000</a:t>
            </a:r>
            <a:endParaRPr lang="en-US" sz="950" dirty="0"/>
          </a:p>
        </p:txBody>
      </p:sp>
      <p:sp>
        <p:nvSpPr>
          <p:cNvPr id="109" name="Shape 105"/>
          <p:cNvSpPr/>
          <p:nvPr/>
        </p:nvSpPr>
        <p:spPr>
          <a:xfrm>
            <a:off x="3456432" y="3108960"/>
            <a:ext cx="685800" cy="274320"/>
          </a:xfrm>
          <a:prstGeom prst="rect">
            <a:avLst/>
          </a:prstGeom>
          <a:solidFill>
            <a:srgbClr val="FFFFFF"/>
          </a:solidFill>
          <a:ln/>
        </p:spPr>
      </p:sp>
      <p:sp>
        <p:nvSpPr>
          <p:cNvPr id="110" name="Text 106"/>
          <p:cNvSpPr txBox="1"/>
          <p:nvPr/>
        </p:nvSpPr>
        <p:spPr>
          <a:xfrm>
            <a:off x="3502152" y="310896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₹44,889</a:t>
            </a:r>
            <a:endParaRPr lang="en-US" sz="950" dirty="0"/>
          </a:p>
        </p:txBody>
      </p:sp>
      <p:sp>
        <p:nvSpPr>
          <p:cNvPr id="111" name="Shape 107"/>
          <p:cNvSpPr/>
          <p:nvPr/>
        </p:nvSpPr>
        <p:spPr>
          <a:xfrm>
            <a:off x="4142232" y="3108960"/>
            <a:ext cx="777240" cy="274320"/>
          </a:xfrm>
          <a:prstGeom prst="rect">
            <a:avLst/>
          </a:prstGeom>
          <a:solidFill>
            <a:srgbClr val="D6E4F5"/>
          </a:solidFill>
          <a:ln/>
        </p:spPr>
      </p:sp>
      <p:sp>
        <p:nvSpPr>
          <p:cNvPr id="112" name="Text 108"/>
          <p:cNvSpPr txBox="1"/>
          <p:nvPr/>
        </p:nvSpPr>
        <p:spPr>
          <a:xfrm>
            <a:off x="4187952" y="310896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₹15,567</a:t>
            </a:r>
            <a:endParaRPr lang="en-US" sz="950" dirty="0"/>
          </a:p>
        </p:txBody>
      </p:sp>
      <p:sp>
        <p:nvSpPr>
          <p:cNvPr id="113" name="Shape 109"/>
          <p:cNvSpPr/>
          <p:nvPr/>
        </p:nvSpPr>
        <p:spPr>
          <a:xfrm>
            <a:off x="4919472" y="3108960"/>
            <a:ext cx="685800" cy="274320"/>
          </a:xfrm>
          <a:prstGeom prst="rect">
            <a:avLst/>
          </a:prstGeom>
          <a:solidFill>
            <a:srgbClr val="FFFFFF"/>
          </a:solidFill>
          <a:ln/>
        </p:spPr>
      </p:sp>
      <p:sp>
        <p:nvSpPr>
          <p:cNvPr id="114" name="Text 110"/>
          <p:cNvSpPr txBox="1"/>
          <p:nvPr/>
        </p:nvSpPr>
        <p:spPr>
          <a:xfrm>
            <a:off x="4965192" y="310896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₹8,386</a:t>
            </a:r>
            <a:endParaRPr lang="en-US" sz="950" dirty="0"/>
          </a:p>
        </p:txBody>
      </p:sp>
      <p:sp>
        <p:nvSpPr>
          <p:cNvPr id="115" name="Shape 111"/>
          <p:cNvSpPr/>
          <p:nvPr/>
        </p:nvSpPr>
        <p:spPr>
          <a:xfrm>
            <a:off x="5605272" y="3108960"/>
            <a:ext cx="731520" cy="274320"/>
          </a:xfrm>
          <a:prstGeom prst="rect">
            <a:avLst/>
          </a:prstGeom>
          <a:solidFill>
            <a:srgbClr val="FFFFFF"/>
          </a:solidFill>
          <a:ln/>
        </p:spPr>
      </p:sp>
      <p:sp>
        <p:nvSpPr>
          <p:cNvPr id="116" name="Text 112"/>
          <p:cNvSpPr txBox="1"/>
          <p:nvPr/>
        </p:nvSpPr>
        <p:spPr>
          <a:xfrm>
            <a:off x="5650992" y="310896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₹65,111</a:t>
            </a:r>
            <a:endParaRPr lang="en-US" sz="950" dirty="0"/>
          </a:p>
        </p:txBody>
      </p:sp>
      <p:sp>
        <p:nvSpPr>
          <p:cNvPr id="117" name="Shape 113"/>
          <p:cNvSpPr/>
          <p:nvPr/>
        </p:nvSpPr>
        <p:spPr>
          <a:xfrm>
            <a:off x="411480" y="3383280"/>
            <a:ext cx="5925312" cy="0"/>
          </a:xfrm>
          <a:prstGeom prst="line">
            <a:avLst/>
          </a:prstGeom>
          <a:noFill/>
          <a:ln w="6350">
            <a:solidFill>
              <a:srgbClr val="E3E8E4"/>
            </a:solidFill>
            <a:prstDash val="solid"/>
          </a:ln>
        </p:spPr>
      </p:sp>
      <p:sp>
        <p:nvSpPr>
          <p:cNvPr id="118" name="Shape 114"/>
          <p:cNvSpPr/>
          <p:nvPr/>
        </p:nvSpPr>
        <p:spPr>
          <a:xfrm>
            <a:off x="411480" y="3383280"/>
            <a:ext cx="2331720" cy="274320"/>
          </a:xfrm>
          <a:prstGeom prst="rect">
            <a:avLst/>
          </a:prstGeom>
          <a:solidFill>
            <a:srgbClr val="F1F7F3"/>
          </a:solidFill>
          <a:ln/>
        </p:spPr>
      </p:sp>
      <p:sp>
        <p:nvSpPr>
          <p:cNvPr id="119" name="Text 115"/>
          <p:cNvSpPr txBox="1"/>
          <p:nvPr/>
        </p:nvSpPr>
        <p:spPr>
          <a:xfrm>
            <a:off x="457200" y="338328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LTV ÷ CAC, discounted</a:t>
            </a:r>
            <a:endParaRPr lang="en-US" sz="950" dirty="0"/>
          </a:p>
        </p:txBody>
      </p:sp>
      <p:sp>
        <p:nvSpPr>
          <p:cNvPr id="120" name="Shape 116"/>
          <p:cNvSpPr/>
          <p:nvPr/>
        </p:nvSpPr>
        <p:spPr>
          <a:xfrm>
            <a:off x="2743200" y="3383280"/>
            <a:ext cx="713232" cy="274320"/>
          </a:xfrm>
          <a:prstGeom prst="rect">
            <a:avLst/>
          </a:prstGeom>
          <a:solidFill>
            <a:srgbClr val="F1F7F3"/>
          </a:solidFill>
          <a:ln/>
        </p:spPr>
      </p:sp>
      <p:sp>
        <p:nvSpPr>
          <p:cNvPr id="121" name="Text 117"/>
          <p:cNvSpPr txBox="1"/>
          <p:nvPr/>
        </p:nvSpPr>
        <p:spPr>
          <a:xfrm>
            <a:off x="2788920" y="338328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10.7x</a:t>
            </a:r>
            <a:endParaRPr lang="en-US" sz="950" dirty="0"/>
          </a:p>
        </p:txBody>
      </p:sp>
      <p:sp>
        <p:nvSpPr>
          <p:cNvPr id="122" name="Shape 118"/>
          <p:cNvSpPr/>
          <p:nvPr/>
        </p:nvSpPr>
        <p:spPr>
          <a:xfrm>
            <a:off x="3456432" y="3383280"/>
            <a:ext cx="685800" cy="274320"/>
          </a:xfrm>
          <a:prstGeom prst="rect">
            <a:avLst/>
          </a:prstGeom>
          <a:solidFill>
            <a:srgbClr val="F1F7F3"/>
          </a:solidFill>
          <a:ln/>
        </p:spPr>
      </p:sp>
      <p:sp>
        <p:nvSpPr>
          <p:cNvPr id="123" name="Text 119"/>
          <p:cNvSpPr txBox="1"/>
          <p:nvPr/>
        </p:nvSpPr>
        <p:spPr>
          <a:xfrm>
            <a:off x="3502152" y="338328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0.75x</a:t>
            </a:r>
            <a:endParaRPr lang="en-US" sz="950" dirty="0"/>
          </a:p>
        </p:txBody>
      </p:sp>
      <p:sp>
        <p:nvSpPr>
          <p:cNvPr id="124" name="Shape 120"/>
          <p:cNvSpPr/>
          <p:nvPr/>
        </p:nvSpPr>
        <p:spPr>
          <a:xfrm>
            <a:off x="4142232" y="3383280"/>
            <a:ext cx="777240" cy="274320"/>
          </a:xfrm>
          <a:prstGeom prst="rect">
            <a:avLst/>
          </a:prstGeom>
          <a:solidFill>
            <a:srgbClr val="D6E4F5"/>
          </a:solidFill>
          <a:ln/>
        </p:spPr>
      </p:sp>
      <p:sp>
        <p:nvSpPr>
          <p:cNvPr id="125" name="Text 121"/>
          <p:cNvSpPr txBox="1"/>
          <p:nvPr/>
        </p:nvSpPr>
        <p:spPr>
          <a:xfrm>
            <a:off x="4187952" y="338328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3.6x</a:t>
            </a:r>
            <a:endParaRPr lang="en-US" sz="950" dirty="0"/>
          </a:p>
        </p:txBody>
      </p:sp>
      <p:sp>
        <p:nvSpPr>
          <p:cNvPr id="126" name="Shape 122"/>
          <p:cNvSpPr/>
          <p:nvPr/>
        </p:nvSpPr>
        <p:spPr>
          <a:xfrm>
            <a:off x="4919472" y="3383280"/>
            <a:ext cx="685800" cy="274320"/>
          </a:xfrm>
          <a:prstGeom prst="rect">
            <a:avLst/>
          </a:prstGeom>
          <a:solidFill>
            <a:srgbClr val="F1F7F3"/>
          </a:solidFill>
          <a:ln/>
        </p:spPr>
      </p:sp>
      <p:sp>
        <p:nvSpPr>
          <p:cNvPr id="127" name="Text 123"/>
          <p:cNvSpPr txBox="1"/>
          <p:nvPr/>
        </p:nvSpPr>
        <p:spPr>
          <a:xfrm>
            <a:off x="4965192" y="338328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10x</a:t>
            </a:r>
            <a:endParaRPr lang="en-US" sz="950" dirty="0"/>
          </a:p>
        </p:txBody>
      </p:sp>
      <p:sp>
        <p:nvSpPr>
          <p:cNvPr id="128" name="Shape 124"/>
          <p:cNvSpPr/>
          <p:nvPr/>
        </p:nvSpPr>
        <p:spPr>
          <a:xfrm>
            <a:off x="5605272" y="3383280"/>
            <a:ext cx="731520" cy="274320"/>
          </a:xfrm>
          <a:prstGeom prst="rect">
            <a:avLst/>
          </a:prstGeom>
          <a:solidFill>
            <a:srgbClr val="F1F7F3"/>
          </a:solidFill>
          <a:ln/>
        </p:spPr>
      </p:sp>
      <p:sp>
        <p:nvSpPr>
          <p:cNvPr id="129" name="Text 125"/>
          <p:cNvSpPr txBox="1"/>
          <p:nvPr/>
        </p:nvSpPr>
        <p:spPr>
          <a:xfrm>
            <a:off x="5650992" y="338328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-0.11x</a:t>
            </a:r>
            <a:endParaRPr lang="en-US" sz="950" dirty="0"/>
          </a:p>
        </p:txBody>
      </p:sp>
      <p:sp>
        <p:nvSpPr>
          <p:cNvPr id="130" name="Shape 126"/>
          <p:cNvSpPr/>
          <p:nvPr/>
        </p:nvSpPr>
        <p:spPr>
          <a:xfrm>
            <a:off x="411480" y="3657600"/>
            <a:ext cx="5925312" cy="0"/>
          </a:xfrm>
          <a:prstGeom prst="line">
            <a:avLst/>
          </a:prstGeom>
          <a:noFill/>
          <a:ln w="6350">
            <a:solidFill>
              <a:srgbClr val="E3E8E4"/>
            </a:solidFill>
            <a:prstDash val="solid"/>
          </a:ln>
        </p:spPr>
      </p:sp>
      <p:sp>
        <p:nvSpPr>
          <p:cNvPr id="131" name="Shape 127"/>
          <p:cNvSpPr/>
          <p:nvPr/>
        </p:nvSpPr>
        <p:spPr>
          <a:xfrm>
            <a:off x="411480" y="3657600"/>
            <a:ext cx="2331720" cy="274320"/>
          </a:xfrm>
          <a:prstGeom prst="rect">
            <a:avLst/>
          </a:prstGeom>
          <a:solidFill>
            <a:srgbClr val="FFFFFF"/>
          </a:solidFill>
          <a:ln/>
        </p:spPr>
      </p:sp>
      <p:sp>
        <p:nvSpPr>
          <p:cNvPr id="132" name="Text 128"/>
          <p:cNvSpPr txBox="1"/>
          <p:nvPr/>
        </p:nvSpPr>
        <p:spPr>
          <a:xfrm>
            <a:off x="457200" y="365760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LTV ÷ CAC, undiscounted</a:t>
            </a:r>
            <a:endParaRPr lang="en-US" sz="950" dirty="0"/>
          </a:p>
        </p:txBody>
      </p:sp>
      <p:sp>
        <p:nvSpPr>
          <p:cNvPr id="133" name="Shape 129"/>
          <p:cNvSpPr/>
          <p:nvPr/>
        </p:nvSpPr>
        <p:spPr>
          <a:xfrm>
            <a:off x="2743200" y="3657600"/>
            <a:ext cx="713232" cy="274320"/>
          </a:xfrm>
          <a:prstGeom prst="rect">
            <a:avLst/>
          </a:prstGeom>
          <a:solidFill>
            <a:srgbClr val="FFFFFF"/>
          </a:solidFill>
          <a:ln/>
        </p:spPr>
      </p:sp>
      <p:sp>
        <p:nvSpPr>
          <p:cNvPr id="134" name="Text 130"/>
          <p:cNvSpPr txBox="1"/>
          <p:nvPr/>
        </p:nvSpPr>
        <p:spPr>
          <a:xfrm>
            <a:off x="2788920" y="365760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10.7x</a:t>
            </a:r>
            <a:endParaRPr lang="en-US" sz="950" dirty="0"/>
          </a:p>
        </p:txBody>
      </p:sp>
      <p:sp>
        <p:nvSpPr>
          <p:cNvPr id="135" name="Shape 131"/>
          <p:cNvSpPr/>
          <p:nvPr/>
        </p:nvSpPr>
        <p:spPr>
          <a:xfrm>
            <a:off x="3456432" y="3657600"/>
            <a:ext cx="685800" cy="274320"/>
          </a:xfrm>
          <a:prstGeom prst="rect">
            <a:avLst/>
          </a:prstGeom>
          <a:solidFill>
            <a:srgbClr val="FFFFFF"/>
          </a:solidFill>
          <a:ln/>
        </p:spPr>
      </p:sp>
      <p:sp>
        <p:nvSpPr>
          <p:cNvPr id="136" name="Text 132"/>
          <p:cNvSpPr txBox="1"/>
          <p:nvPr/>
        </p:nvSpPr>
        <p:spPr>
          <a:xfrm>
            <a:off x="3502152" y="365760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0.93x</a:t>
            </a:r>
            <a:endParaRPr lang="en-US" sz="950" dirty="0"/>
          </a:p>
        </p:txBody>
      </p:sp>
      <p:sp>
        <p:nvSpPr>
          <p:cNvPr id="137" name="Shape 133"/>
          <p:cNvSpPr/>
          <p:nvPr/>
        </p:nvSpPr>
        <p:spPr>
          <a:xfrm>
            <a:off x="4142232" y="3657600"/>
            <a:ext cx="777240" cy="274320"/>
          </a:xfrm>
          <a:prstGeom prst="rect">
            <a:avLst/>
          </a:prstGeom>
          <a:solidFill>
            <a:srgbClr val="D6E4F5"/>
          </a:solidFill>
          <a:ln/>
        </p:spPr>
      </p:sp>
      <p:sp>
        <p:nvSpPr>
          <p:cNvPr id="138" name="Text 134"/>
          <p:cNvSpPr txBox="1"/>
          <p:nvPr/>
        </p:nvSpPr>
        <p:spPr>
          <a:xfrm>
            <a:off x="4187952" y="365760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4.8x</a:t>
            </a:r>
            <a:endParaRPr lang="en-US" sz="950" dirty="0"/>
          </a:p>
        </p:txBody>
      </p:sp>
      <p:sp>
        <p:nvSpPr>
          <p:cNvPr id="139" name="Shape 135"/>
          <p:cNvSpPr/>
          <p:nvPr/>
        </p:nvSpPr>
        <p:spPr>
          <a:xfrm>
            <a:off x="4919472" y="3657600"/>
            <a:ext cx="685800" cy="274320"/>
          </a:xfrm>
          <a:prstGeom prst="rect">
            <a:avLst/>
          </a:prstGeom>
          <a:solidFill>
            <a:srgbClr val="FFFFFF"/>
          </a:solidFill>
          <a:ln/>
        </p:spPr>
      </p:sp>
      <p:sp>
        <p:nvSpPr>
          <p:cNvPr id="140" name="Text 136"/>
          <p:cNvSpPr txBox="1"/>
          <p:nvPr/>
        </p:nvSpPr>
        <p:spPr>
          <a:xfrm>
            <a:off x="4965192" y="365760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15x</a:t>
            </a:r>
            <a:endParaRPr lang="en-US" sz="950" dirty="0"/>
          </a:p>
        </p:txBody>
      </p:sp>
      <p:sp>
        <p:nvSpPr>
          <p:cNvPr id="141" name="Shape 137"/>
          <p:cNvSpPr/>
          <p:nvPr/>
        </p:nvSpPr>
        <p:spPr>
          <a:xfrm>
            <a:off x="5605272" y="3657600"/>
            <a:ext cx="731520" cy="274320"/>
          </a:xfrm>
          <a:prstGeom prst="rect">
            <a:avLst/>
          </a:prstGeom>
          <a:solidFill>
            <a:srgbClr val="FFFFFF"/>
          </a:solidFill>
          <a:ln/>
        </p:spPr>
      </p:sp>
      <p:sp>
        <p:nvSpPr>
          <p:cNvPr id="142" name="Text 138"/>
          <p:cNvSpPr txBox="1"/>
          <p:nvPr/>
        </p:nvSpPr>
        <p:spPr>
          <a:xfrm>
            <a:off x="5650992" y="365760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-0.13x</a:t>
            </a:r>
            <a:endParaRPr lang="en-US" sz="950" dirty="0"/>
          </a:p>
        </p:txBody>
      </p:sp>
      <p:sp>
        <p:nvSpPr>
          <p:cNvPr id="143" name="Shape 139"/>
          <p:cNvSpPr/>
          <p:nvPr/>
        </p:nvSpPr>
        <p:spPr>
          <a:xfrm>
            <a:off x="411480" y="3931920"/>
            <a:ext cx="5925312" cy="0"/>
          </a:xfrm>
          <a:prstGeom prst="line">
            <a:avLst/>
          </a:prstGeom>
          <a:noFill/>
          <a:ln w="6350">
            <a:solidFill>
              <a:srgbClr val="E3E8E4"/>
            </a:solidFill>
            <a:prstDash val="solid"/>
          </a:ln>
        </p:spPr>
      </p:sp>
      <p:sp>
        <p:nvSpPr>
          <p:cNvPr id="144" name="Shape 140"/>
          <p:cNvSpPr/>
          <p:nvPr/>
        </p:nvSpPr>
        <p:spPr>
          <a:xfrm>
            <a:off x="411480" y="3931920"/>
            <a:ext cx="2331720" cy="274320"/>
          </a:xfrm>
          <a:prstGeom prst="rect">
            <a:avLst/>
          </a:prstGeom>
          <a:solidFill>
            <a:srgbClr val="F1F7F3"/>
          </a:solidFill>
          <a:ln/>
        </p:spPr>
      </p:sp>
      <p:sp>
        <p:nvSpPr>
          <p:cNvPr id="145" name="Text 141"/>
          <p:cNvSpPr txBox="1"/>
          <p:nvPr/>
        </p:nvSpPr>
        <p:spPr>
          <a:xfrm>
            <a:off x="457200" y="3931920"/>
            <a:ext cx="224028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Payback, simple (months)</a:t>
            </a:r>
            <a:endParaRPr lang="en-US" sz="950" dirty="0"/>
          </a:p>
        </p:txBody>
      </p:sp>
      <p:sp>
        <p:nvSpPr>
          <p:cNvPr id="146" name="Shape 142"/>
          <p:cNvSpPr/>
          <p:nvPr/>
        </p:nvSpPr>
        <p:spPr>
          <a:xfrm>
            <a:off x="2743200" y="3931920"/>
            <a:ext cx="713232" cy="274320"/>
          </a:xfrm>
          <a:prstGeom prst="rect">
            <a:avLst/>
          </a:prstGeom>
          <a:solidFill>
            <a:srgbClr val="F1F7F3"/>
          </a:solidFill>
          <a:ln/>
        </p:spPr>
      </p:sp>
      <p:sp>
        <p:nvSpPr>
          <p:cNvPr id="147" name="Text 143"/>
          <p:cNvSpPr txBox="1"/>
          <p:nvPr/>
        </p:nvSpPr>
        <p:spPr>
          <a:xfrm>
            <a:off x="2788920" y="3931920"/>
            <a:ext cx="62179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3.1</a:t>
            </a:r>
            <a:endParaRPr lang="en-US" sz="950" dirty="0"/>
          </a:p>
        </p:txBody>
      </p:sp>
      <p:sp>
        <p:nvSpPr>
          <p:cNvPr id="148" name="Shape 144"/>
          <p:cNvSpPr/>
          <p:nvPr/>
        </p:nvSpPr>
        <p:spPr>
          <a:xfrm>
            <a:off x="3456432" y="3931920"/>
            <a:ext cx="685800" cy="274320"/>
          </a:xfrm>
          <a:prstGeom prst="rect">
            <a:avLst/>
          </a:prstGeom>
          <a:solidFill>
            <a:srgbClr val="F1F7F3"/>
          </a:solidFill>
          <a:ln/>
        </p:spPr>
      </p:sp>
      <p:sp>
        <p:nvSpPr>
          <p:cNvPr id="149" name="Text 145"/>
          <p:cNvSpPr txBox="1"/>
          <p:nvPr/>
        </p:nvSpPr>
        <p:spPr>
          <a:xfrm>
            <a:off x="3502152" y="393192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21.1</a:t>
            </a:r>
            <a:endParaRPr lang="en-US" sz="950" dirty="0"/>
          </a:p>
        </p:txBody>
      </p:sp>
      <p:sp>
        <p:nvSpPr>
          <p:cNvPr id="150" name="Shape 146"/>
          <p:cNvSpPr/>
          <p:nvPr/>
        </p:nvSpPr>
        <p:spPr>
          <a:xfrm>
            <a:off x="4142232" y="3931920"/>
            <a:ext cx="777240" cy="274320"/>
          </a:xfrm>
          <a:prstGeom prst="rect">
            <a:avLst/>
          </a:prstGeom>
          <a:solidFill>
            <a:srgbClr val="D6E4F5"/>
          </a:solidFill>
          <a:ln/>
        </p:spPr>
      </p:sp>
      <p:sp>
        <p:nvSpPr>
          <p:cNvPr id="151" name="Text 147"/>
          <p:cNvSpPr txBox="1"/>
          <p:nvPr/>
        </p:nvSpPr>
        <p:spPr>
          <a:xfrm>
            <a:off x="4187952" y="3931920"/>
            <a:ext cx="68580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5.7</a:t>
            </a:r>
            <a:endParaRPr lang="en-US" sz="950" dirty="0"/>
          </a:p>
        </p:txBody>
      </p:sp>
      <p:sp>
        <p:nvSpPr>
          <p:cNvPr id="152" name="Shape 148"/>
          <p:cNvSpPr/>
          <p:nvPr/>
        </p:nvSpPr>
        <p:spPr>
          <a:xfrm>
            <a:off x="4919472" y="3931920"/>
            <a:ext cx="685800" cy="274320"/>
          </a:xfrm>
          <a:prstGeom prst="rect">
            <a:avLst/>
          </a:prstGeom>
          <a:solidFill>
            <a:srgbClr val="F1F7F3"/>
          </a:solidFill>
          <a:ln/>
        </p:spPr>
      </p:sp>
      <p:sp>
        <p:nvSpPr>
          <p:cNvPr id="153" name="Text 149"/>
          <p:cNvSpPr txBox="1"/>
          <p:nvPr/>
        </p:nvSpPr>
        <p:spPr>
          <a:xfrm>
            <a:off x="4965192" y="3931920"/>
            <a:ext cx="59436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2.6</a:t>
            </a:r>
            <a:endParaRPr lang="en-US" sz="950" dirty="0"/>
          </a:p>
        </p:txBody>
      </p:sp>
      <p:sp>
        <p:nvSpPr>
          <p:cNvPr id="154" name="Shape 150"/>
          <p:cNvSpPr/>
          <p:nvPr/>
        </p:nvSpPr>
        <p:spPr>
          <a:xfrm>
            <a:off x="5605272" y="3931920"/>
            <a:ext cx="731520" cy="274320"/>
          </a:xfrm>
          <a:prstGeom prst="rect">
            <a:avLst/>
          </a:prstGeom>
          <a:solidFill>
            <a:srgbClr val="F1F7F3"/>
          </a:solidFill>
          <a:ln/>
        </p:spPr>
      </p:sp>
      <p:sp>
        <p:nvSpPr>
          <p:cNvPr id="155" name="Text 151"/>
          <p:cNvSpPr txBox="1"/>
          <p:nvPr/>
        </p:nvSpPr>
        <p:spPr>
          <a:xfrm>
            <a:off x="5650992" y="3931920"/>
            <a:ext cx="64008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never</a:t>
            </a:r>
            <a:endParaRPr lang="en-US" sz="950" dirty="0"/>
          </a:p>
        </p:txBody>
      </p:sp>
      <p:sp>
        <p:nvSpPr>
          <p:cNvPr id="156" name="Shape 152"/>
          <p:cNvSpPr/>
          <p:nvPr/>
        </p:nvSpPr>
        <p:spPr>
          <a:xfrm>
            <a:off x="411480" y="4206240"/>
            <a:ext cx="5925312" cy="0"/>
          </a:xfrm>
          <a:prstGeom prst="line">
            <a:avLst/>
          </a:prstGeom>
          <a:noFill/>
          <a:ln w="6350">
            <a:solidFill>
              <a:srgbClr val="E3E8E4"/>
            </a:solidFill>
            <a:prstDash val="solid"/>
          </a:ln>
        </p:spPr>
      </p:sp>
      <p:sp>
        <p:nvSpPr>
          <p:cNvPr id="157" name="Shape 153"/>
          <p:cNvSpPr/>
          <p:nvPr/>
        </p:nvSpPr>
        <p:spPr>
          <a:xfrm>
            <a:off x="411480" y="4370832"/>
            <a:ext cx="256032" cy="256032"/>
          </a:xfrm>
          <a:prstGeom prst="rect">
            <a:avLst/>
          </a:prstGeom>
          <a:solidFill>
            <a:srgbClr val="1F4A82"/>
          </a:solidFill>
          <a:ln/>
        </p:spPr>
      </p:sp>
      <p:sp>
        <p:nvSpPr>
          <p:cNvPr id="158" name="Text 154"/>
          <p:cNvSpPr txBox="1"/>
          <p:nvPr/>
        </p:nvSpPr>
        <p:spPr>
          <a:xfrm>
            <a:off x="411480" y="437083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a:t>
            </a:r>
            <a:endParaRPr lang="en-US" sz="1150" dirty="0"/>
          </a:p>
        </p:txBody>
      </p:sp>
      <p:sp>
        <p:nvSpPr>
          <p:cNvPr id="159" name="Text 155"/>
          <p:cNvSpPr txBox="1"/>
          <p:nvPr/>
        </p:nvSpPr>
        <p:spPr>
          <a:xfrm>
            <a:off x="740664" y="4370832"/>
            <a:ext cx="634593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OWNER'S RETURN BY PRICE AND DROPOUT REDUCTION</a:t>
            </a:r>
            <a:endParaRPr lang="en-US" sz="1200" dirty="0"/>
          </a:p>
        </p:txBody>
      </p:sp>
      <p:sp>
        <p:nvSpPr>
          <p:cNvPr id="160" name="Text 156"/>
          <p:cNvSpPr txBox="1"/>
          <p:nvPr/>
        </p:nvSpPr>
        <p:spPr>
          <a:xfrm>
            <a:off x="868680" y="46177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₹20</a:t>
            </a:r>
            <a:endParaRPr lang="en-US" sz="900" dirty="0"/>
          </a:p>
        </p:txBody>
      </p:sp>
      <p:sp>
        <p:nvSpPr>
          <p:cNvPr id="161" name="Text 157"/>
          <p:cNvSpPr txBox="1"/>
          <p:nvPr/>
        </p:nvSpPr>
        <p:spPr>
          <a:xfrm>
            <a:off x="1581912" y="46177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₹30</a:t>
            </a:r>
            <a:endParaRPr lang="en-US" sz="900" dirty="0"/>
          </a:p>
        </p:txBody>
      </p:sp>
      <p:sp>
        <p:nvSpPr>
          <p:cNvPr id="162" name="Text 158"/>
          <p:cNvSpPr txBox="1"/>
          <p:nvPr/>
        </p:nvSpPr>
        <p:spPr>
          <a:xfrm>
            <a:off x="2295144" y="46177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₹40</a:t>
            </a:r>
            <a:endParaRPr lang="en-US" sz="900" dirty="0"/>
          </a:p>
        </p:txBody>
      </p:sp>
      <p:sp>
        <p:nvSpPr>
          <p:cNvPr id="163" name="Text 159"/>
          <p:cNvSpPr txBox="1"/>
          <p:nvPr/>
        </p:nvSpPr>
        <p:spPr>
          <a:xfrm>
            <a:off x="3008376" y="46177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₹50</a:t>
            </a:r>
            <a:endParaRPr lang="en-US" sz="900" dirty="0"/>
          </a:p>
        </p:txBody>
      </p:sp>
      <p:sp>
        <p:nvSpPr>
          <p:cNvPr id="164" name="Text 160"/>
          <p:cNvSpPr txBox="1"/>
          <p:nvPr/>
        </p:nvSpPr>
        <p:spPr>
          <a:xfrm>
            <a:off x="3721608" y="46177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₹60</a:t>
            </a:r>
            <a:endParaRPr lang="en-US" sz="900" dirty="0"/>
          </a:p>
        </p:txBody>
      </p:sp>
      <p:sp>
        <p:nvSpPr>
          <p:cNvPr id="165" name="Text 161"/>
          <p:cNvSpPr txBox="1"/>
          <p:nvPr/>
        </p:nvSpPr>
        <p:spPr>
          <a:xfrm>
            <a:off x="4434840" y="46177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₹80</a:t>
            </a:r>
            <a:endParaRPr lang="en-US" sz="900" dirty="0"/>
          </a:p>
        </p:txBody>
      </p:sp>
      <p:sp>
        <p:nvSpPr>
          <p:cNvPr id="166" name="Text 162"/>
          <p:cNvSpPr txBox="1"/>
          <p:nvPr/>
        </p:nvSpPr>
        <p:spPr>
          <a:xfrm>
            <a:off x="411480" y="4864608"/>
            <a:ext cx="457200" cy="22860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5 %</a:t>
            </a:r>
            <a:endParaRPr lang="en-US" sz="900" dirty="0"/>
          </a:p>
        </p:txBody>
      </p:sp>
      <p:sp>
        <p:nvSpPr>
          <p:cNvPr id="167" name="Shape 163"/>
          <p:cNvSpPr/>
          <p:nvPr/>
        </p:nvSpPr>
        <p:spPr>
          <a:xfrm>
            <a:off x="882396" y="4878324"/>
            <a:ext cx="685800" cy="201168"/>
          </a:xfrm>
          <a:prstGeom prst="rect">
            <a:avLst/>
          </a:prstGeom>
          <a:solidFill>
            <a:srgbClr val="80A7D6"/>
          </a:solidFill>
          <a:ln/>
        </p:spPr>
      </p:sp>
      <p:sp>
        <p:nvSpPr>
          <p:cNvPr id="168" name="Text 164"/>
          <p:cNvSpPr txBox="1"/>
          <p:nvPr/>
        </p:nvSpPr>
        <p:spPr>
          <a:xfrm>
            <a:off x="868680" y="4864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2.4x</a:t>
            </a:r>
            <a:endParaRPr lang="en-US" sz="900" dirty="0"/>
          </a:p>
        </p:txBody>
      </p:sp>
      <p:sp>
        <p:nvSpPr>
          <p:cNvPr id="169" name="Shape 165"/>
          <p:cNvSpPr/>
          <p:nvPr/>
        </p:nvSpPr>
        <p:spPr>
          <a:xfrm>
            <a:off x="1595628" y="4878324"/>
            <a:ext cx="685800" cy="201168"/>
          </a:xfrm>
          <a:prstGeom prst="rect">
            <a:avLst/>
          </a:prstGeom>
          <a:solidFill>
            <a:srgbClr val="A9C3E3"/>
          </a:solidFill>
          <a:ln/>
        </p:spPr>
      </p:sp>
      <p:sp>
        <p:nvSpPr>
          <p:cNvPr id="170" name="Text 166"/>
          <p:cNvSpPr txBox="1"/>
          <p:nvPr/>
        </p:nvSpPr>
        <p:spPr>
          <a:xfrm>
            <a:off x="1581912" y="4864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1.8x</a:t>
            </a:r>
            <a:endParaRPr lang="en-US" sz="900" dirty="0"/>
          </a:p>
        </p:txBody>
      </p:sp>
      <p:sp>
        <p:nvSpPr>
          <p:cNvPr id="171" name="Shape 167"/>
          <p:cNvSpPr/>
          <p:nvPr/>
        </p:nvSpPr>
        <p:spPr>
          <a:xfrm>
            <a:off x="2308860" y="4878324"/>
            <a:ext cx="685800" cy="201168"/>
          </a:xfrm>
          <a:prstGeom prst="rect">
            <a:avLst/>
          </a:prstGeom>
          <a:solidFill>
            <a:srgbClr val="C4D6EC"/>
          </a:solidFill>
          <a:ln/>
        </p:spPr>
      </p:sp>
      <p:sp>
        <p:nvSpPr>
          <p:cNvPr id="172" name="Text 168"/>
          <p:cNvSpPr txBox="1"/>
          <p:nvPr/>
        </p:nvSpPr>
        <p:spPr>
          <a:xfrm>
            <a:off x="2295144" y="4864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1.4x</a:t>
            </a:r>
            <a:endParaRPr lang="en-US" sz="900" dirty="0"/>
          </a:p>
        </p:txBody>
      </p:sp>
      <p:sp>
        <p:nvSpPr>
          <p:cNvPr id="173" name="Shape 169"/>
          <p:cNvSpPr/>
          <p:nvPr/>
        </p:nvSpPr>
        <p:spPr>
          <a:xfrm>
            <a:off x="3022092" y="4878324"/>
            <a:ext cx="685800" cy="201168"/>
          </a:xfrm>
          <a:prstGeom prst="rect">
            <a:avLst/>
          </a:prstGeom>
          <a:solidFill>
            <a:srgbClr val="D2E0F1"/>
          </a:solidFill>
          <a:ln/>
        </p:spPr>
      </p:sp>
      <p:sp>
        <p:nvSpPr>
          <p:cNvPr id="174" name="Text 170"/>
          <p:cNvSpPr txBox="1"/>
          <p:nvPr/>
        </p:nvSpPr>
        <p:spPr>
          <a:xfrm>
            <a:off x="3008376" y="4864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1.2x</a:t>
            </a:r>
            <a:endParaRPr lang="en-US" sz="900" dirty="0"/>
          </a:p>
        </p:txBody>
      </p:sp>
      <p:sp>
        <p:nvSpPr>
          <p:cNvPr id="175" name="Shape 171"/>
          <p:cNvSpPr/>
          <p:nvPr/>
        </p:nvSpPr>
        <p:spPr>
          <a:xfrm>
            <a:off x="3735324" y="4878324"/>
            <a:ext cx="685800" cy="201168"/>
          </a:xfrm>
          <a:prstGeom prst="rect">
            <a:avLst/>
          </a:prstGeom>
          <a:solidFill>
            <a:srgbClr val="DFE9F6"/>
          </a:solidFill>
          <a:ln/>
        </p:spPr>
      </p:sp>
      <p:sp>
        <p:nvSpPr>
          <p:cNvPr id="176" name="Text 172"/>
          <p:cNvSpPr txBox="1"/>
          <p:nvPr/>
        </p:nvSpPr>
        <p:spPr>
          <a:xfrm>
            <a:off x="3721608" y="4864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1.0x</a:t>
            </a:r>
            <a:endParaRPr lang="en-US" sz="900" dirty="0"/>
          </a:p>
        </p:txBody>
      </p:sp>
      <p:sp>
        <p:nvSpPr>
          <p:cNvPr id="177" name="Shape 173"/>
          <p:cNvSpPr/>
          <p:nvPr/>
        </p:nvSpPr>
        <p:spPr>
          <a:xfrm>
            <a:off x="4448556" y="4878324"/>
            <a:ext cx="685800" cy="201168"/>
          </a:xfrm>
          <a:prstGeom prst="rect">
            <a:avLst/>
          </a:prstGeom>
          <a:solidFill>
            <a:srgbClr val="ECF2FA"/>
          </a:solidFill>
          <a:ln/>
        </p:spPr>
      </p:sp>
      <p:sp>
        <p:nvSpPr>
          <p:cNvPr id="178" name="Text 174"/>
          <p:cNvSpPr txBox="1"/>
          <p:nvPr/>
        </p:nvSpPr>
        <p:spPr>
          <a:xfrm>
            <a:off x="4434840" y="4864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0.8x</a:t>
            </a:r>
            <a:endParaRPr lang="en-US" sz="900" dirty="0"/>
          </a:p>
        </p:txBody>
      </p:sp>
      <p:sp>
        <p:nvSpPr>
          <p:cNvPr id="179" name="Text 175"/>
          <p:cNvSpPr txBox="1"/>
          <p:nvPr/>
        </p:nvSpPr>
        <p:spPr>
          <a:xfrm>
            <a:off x="411480" y="5093208"/>
            <a:ext cx="457200" cy="22860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8 %</a:t>
            </a:r>
            <a:endParaRPr lang="en-US" sz="900" dirty="0"/>
          </a:p>
        </p:txBody>
      </p:sp>
      <p:sp>
        <p:nvSpPr>
          <p:cNvPr id="180" name="Shape 176"/>
          <p:cNvSpPr/>
          <p:nvPr/>
        </p:nvSpPr>
        <p:spPr>
          <a:xfrm>
            <a:off x="882396" y="5106924"/>
            <a:ext cx="685800" cy="201168"/>
          </a:xfrm>
          <a:prstGeom prst="rect">
            <a:avLst/>
          </a:prstGeom>
          <a:solidFill>
            <a:srgbClr val="6C99CF"/>
          </a:solidFill>
          <a:ln/>
        </p:spPr>
      </p:sp>
      <p:sp>
        <p:nvSpPr>
          <p:cNvPr id="181" name="Text 177"/>
          <p:cNvSpPr txBox="1"/>
          <p:nvPr/>
        </p:nvSpPr>
        <p:spPr>
          <a:xfrm>
            <a:off x="868680" y="50932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2.7x</a:t>
            </a:r>
            <a:endParaRPr lang="en-US" sz="900" dirty="0"/>
          </a:p>
        </p:txBody>
      </p:sp>
      <p:sp>
        <p:nvSpPr>
          <p:cNvPr id="182" name="Shape 178"/>
          <p:cNvSpPr/>
          <p:nvPr/>
        </p:nvSpPr>
        <p:spPr>
          <a:xfrm>
            <a:off x="1595628" y="5106924"/>
            <a:ext cx="685800" cy="201168"/>
          </a:xfrm>
          <a:prstGeom prst="rect">
            <a:avLst/>
          </a:prstGeom>
          <a:solidFill>
            <a:srgbClr val="95B5DC"/>
          </a:solidFill>
          <a:ln/>
        </p:spPr>
      </p:sp>
      <p:sp>
        <p:nvSpPr>
          <p:cNvPr id="183" name="Text 179"/>
          <p:cNvSpPr txBox="1"/>
          <p:nvPr/>
        </p:nvSpPr>
        <p:spPr>
          <a:xfrm>
            <a:off x="1581912" y="50932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2.1x</a:t>
            </a:r>
            <a:endParaRPr lang="en-US" sz="900" dirty="0"/>
          </a:p>
        </p:txBody>
      </p:sp>
      <p:sp>
        <p:nvSpPr>
          <p:cNvPr id="184" name="Shape 180"/>
          <p:cNvSpPr/>
          <p:nvPr/>
        </p:nvSpPr>
        <p:spPr>
          <a:xfrm>
            <a:off x="2308860" y="5106924"/>
            <a:ext cx="685800" cy="201168"/>
          </a:xfrm>
          <a:prstGeom prst="rect">
            <a:avLst/>
          </a:prstGeom>
          <a:solidFill>
            <a:srgbClr val="B0C8E6"/>
          </a:solidFill>
          <a:ln/>
        </p:spPr>
      </p:sp>
      <p:sp>
        <p:nvSpPr>
          <p:cNvPr id="185" name="Text 181"/>
          <p:cNvSpPr txBox="1"/>
          <p:nvPr/>
        </p:nvSpPr>
        <p:spPr>
          <a:xfrm>
            <a:off x="2295144" y="50932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1.7x</a:t>
            </a:r>
            <a:endParaRPr lang="en-US" sz="900" dirty="0"/>
          </a:p>
        </p:txBody>
      </p:sp>
      <p:sp>
        <p:nvSpPr>
          <p:cNvPr id="186" name="Shape 182"/>
          <p:cNvSpPr/>
          <p:nvPr/>
        </p:nvSpPr>
        <p:spPr>
          <a:xfrm>
            <a:off x="3022092" y="5106924"/>
            <a:ext cx="685800" cy="201168"/>
          </a:xfrm>
          <a:prstGeom prst="rect">
            <a:avLst/>
          </a:prstGeom>
          <a:solidFill>
            <a:srgbClr val="C4D6EC"/>
          </a:solidFill>
          <a:ln/>
        </p:spPr>
      </p:sp>
      <p:sp>
        <p:nvSpPr>
          <p:cNvPr id="187" name="Text 183"/>
          <p:cNvSpPr txBox="1"/>
          <p:nvPr/>
        </p:nvSpPr>
        <p:spPr>
          <a:xfrm>
            <a:off x="3008376" y="50932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1.4x</a:t>
            </a:r>
            <a:endParaRPr lang="en-US" sz="900" dirty="0"/>
          </a:p>
        </p:txBody>
      </p:sp>
      <p:sp>
        <p:nvSpPr>
          <p:cNvPr id="188" name="Shape 184"/>
          <p:cNvSpPr/>
          <p:nvPr/>
        </p:nvSpPr>
        <p:spPr>
          <a:xfrm>
            <a:off x="3735324" y="5106924"/>
            <a:ext cx="685800" cy="201168"/>
          </a:xfrm>
          <a:prstGeom prst="rect">
            <a:avLst/>
          </a:prstGeom>
          <a:solidFill>
            <a:srgbClr val="D2E0F1"/>
          </a:solidFill>
          <a:ln/>
        </p:spPr>
      </p:sp>
      <p:sp>
        <p:nvSpPr>
          <p:cNvPr id="189" name="Text 185"/>
          <p:cNvSpPr txBox="1"/>
          <p:nvPr/>
        </p:nvSpPr>
        <p:spPr>
          <a:xfrm>
            <a:off x="3721608" y="50932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1.2x</a:t>
            </a:r>
            <a:endParaRPr lang="en-US" sz="900" dirty="0"/>
          </a:p>
        </p:txBody>
      </p:sp>
      <p:sp>
        <p:nvSpPr>
          <p:cNvPr id="190" name="Shape 186"/>
          <p:cNvSpPr/>
          <p:nvPr/>
        </p:nvSpPr>
        <p:spPr>
          <a:xfrm>
            <a:off x="4448556" y="5106924"/>
            <a:ext cx="685800" cy="201168"/>
          </a:xfrm>
          <a:prstGeom prst="rect">
            <a:avLst/>
          </a:prstGeom>
          <a:solidFill>
            <a:srgbClr val="E5EDF7"/>
          </a:solidFill>
          <a:ln/>
        </p:spPr>
      </p:sp>
      <p:sp>
        <p:nvSpPr>
          <p:cNvPr id="191" name="Text 187"/>
          <p:cNvSpPr txBox="1"/>
          <p:nvPr/>
        </p:nvSpPr>
        <p:spPr>
          <a:xfrm>
            <a:off x="4434840" y="50932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0.9x</a:t>
            </a:r>
            <a:endParaRPr lang="en-US" sz="900" dirty="0"/>
          </a:p>
        </p:txBody>
      </p:sp>
      <p:sp>
        <p:nvSpPr>
          <p:cNvPr id="192" name="Text 188"/>
          <p:cNvSpPr txBox="1"/>
          <p:nvPr/>
        </p:nvSpPr>
        <p:spPr>
          <a:xfrm>
            <a:off x="411480" y="5321808"/>
            <a:ext cx="457200" cy="22860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11 %</a:t>
            </a:r>
            <a:endParaRPr lang="en-US" sz="900" dirty="0"/>
          </a:p>
        </p:txBody>
      </p:sp>
      <p:sp>
        <p:nvSpPr>
          <p:cNvPr id="193" name="Shape 189"/>
          <p:cNvSpPr/>
          <p:nvPr/>
        </p:nvSpPr>
        <p:spPr>
          <a:xfrm>
            <a:off x="882396" y="5335524"/>
            <a:ext cx="685800" cy="201168"/>
          </a:xfrm>
          <a:prstGeom prst="rect">
            <a:avLst/>
          </a:prstGeom>
          <a:solidFill>
            <a:srgbClr val="5585C0"/>
          </a:solidFill>
          <a:ln/>
        </p:spPr>
      </p:sp>
      <p:sp>
        <p:nvSpPr>
          <p:cNvPr id="194" name="Text 190"/>
          <p:cNvSpPr txBox="1"/>
          <p:nvPr/>
        </p:nvSpPr>
        <p:spPr>
          <a:xfrm>
            <a:off x="868680" y="53218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3.1x</a:t>
            </a:r>
            <a:endParaRPr lang="en-US" sz="900" dirty="0"/>
          </a:p>
        </p:txBody>
      </p:sp>
      <p:sp>
        <p:nvSpPr>
          <p:cNvPr id="195" name="Shape 191"/>
          <p:cNvSpPr/>
          <p:nvPr/>
        </p:nvSpPr>
        <p:spPr>
          <a:xfrm>
            <a:off x="1595628" y="5335524"/>
            <a:ext cx="685800" cy="201168"/>
          </a:xfrm>
          <a:prstGeom prst="rect">
            <a:avLst/>
          </a:prstGeom>
          <a:solidFill>
            <a:srgbClr val="87ACD8"/>
          </a:solidFill>
          <a:ln/>
        </p:spPr>
      </p:sp>
      <p:sp>
        <p:nvSpPr>
          <p:cNvPr id="196" name="Text 192"/>
          <p:cNvSpPr txBox="1"/>
          <p:nvPr/>
        </p:nvSpPr>
        <p:spPr>
          <a:xfrm>
            <a:off x="1581912" y="53218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2.3x</a:t>
            </a:r>
            <a:endParaRPr lang="en-US" sz="900" dirty="0"/>
          </a:p>
        </p:txBody>
      </p:sp>
      <p:sp>
        <p:nvSpPr>
          <p:cNvPr id="197" name="Shape 193"/>
          <p:cNvSpPr/>
          <p:nvPr/>
        </p:nvSpPr>
        <p:spPr>
          <a:xfrm>
            <a:off x="2308860" y="5335524"/>
            <a:ext cx="685800" cy="201168"/>
          </a:xfrm>
          <a:prstGeom prst="rect">
            <a:avLst/>
          </a:prstGeom>
          <a:solidFill>
            <a:srgbClr val="A2BFE1"/>
          </a:solidFill>
          <a:ln/>
        </p:spPr>
      </p:sp>
      <p:sp>
        <p:nvSpPr>
          <p:cNvPr id="198" name="Text 194"/>
          <p:cNvSpPr txBox="1"/>
          <p:nvPr/>
        </p:nvSpPr>
        <p:spPr>
          <a:xfrm>
            <a:off x="2295144" y="53218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1.9x</a:t>
            </a:r>
            <a:endParaRPr lang="en-US" sz="900" dirty="0"/>
          </a:p>
        </p:txBody>
      </p:sp>
      <p:sp>
        <p:nvSpPr>
          <p:cNvPr id="199" name="Shape 195"/>
          <p:cNvSpPr/>
          <p:nvPr/>
        </p:nvSpPr>
        <p:spPr>
          <a:xfrm>
            <a:off x="3022092" y="5335524"/>
            <a:ext cx="685800" cy="201168"/>
          </a:xfrm>
          <a:prstGeom prst="rect">
            <a:avLst/>
          </a:prstGeom>
          <a:solidFill>
            <a:srgbClr val="B6CDE8"/>
          </a:solidFill>
          <a:ln/>
        </p:spPr>
      </p:sp>
      <p:sp>
        <p:nvSpPr>
          <p:cNvPr id="200" name="Text 196"/>
          <p:cNvSpPr txBox="1"/>
          <p:nvPr/>
        </p:nvSpPr>
        <p:spPr>
          <a:xfrm>
            <a:off x="3008376" y="53218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1.6x</a:t>
            </a:r>
            <a:endParaRPr lang="en-US" sz="900" dirty="0"/>
          </a:p>
        </p:txBody>
      </p:sp>
      <p:sp>
        <p:nvSpPr>
          <p:cNvPr id="201" name="Shape 197"/>
          <p:cNvSpPr/>
          <p:nvPr/>
        </p:nvSpPr>
        <p:spPr>
          <a:xfrm>
            <a:off x="3735324" y="5335524"/>
            <a:ext cx="685800" cy="201168"/>
          </a:xfrm>
          <a:prstGeom prst="rect">
            <a:avLst/>
          </a:prstGeom>
          <a:solidFill>
            <a:srgbClr val="CBDBEF"/>
          </a:solidFill>
          <a:ln/>
        </p:spPr>
      </p:sp>
      <p:sp>
        <p:nvSpPr>
          <p:cNvPr id="202" name="Text 198"/>
          <p:cNvSpPr txBox="1"/>
          <p:nvPr/>
        </p:nvSpPr>
        <p:spPr>
          <a:xfrm>
            <a:off x="3721608" y="53218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1.3x</a:t>
            </a:r>
            <a:endParaRPr lang="en-US" sz="900" dirty="0"/>
          </a:p>
        </p:txBody>
      </p:sp>
      <p:sp>
        <p:nvSpPr>
          <p:cNvPr id="203" name="Shape 199"/>
          <p:cNvSpPr/>
          <p:nvPr/>
        </p:nvSpPr>
        <p:spPr>
          <a:xfrm>
            <a:off x="4448556" y="5335524"/>
            <a:ext cx="685800" cy="201168"/>
          </a:xfrm>
          <a:prstGeom prst="rect">
            <a:avLst/>
          </a:prstGeom>
          <a:solidFill>
            <a:srgbClr val="DFE9F6"/>
          </a:solidFill>
          <a:ln/>
        </p:spPr>
      </p:sp>
      <p:sp>
        <p:nvSpPr>
          <p:cNvPr id="204" name="Text 200"/>
          <p:cNvSpPr txBox="1"/>
          <p:nvPr/>
        </p:nvSpPr>
        <p:spPr>
          <a:xfrm>
            <a:off x="4434840" y="53218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1.0x</a:t>
            </a:r>
            <a:endParaRPr lang="en-US" sz="900" dirty="0"/>
          </a:p>
        </p:txBody>
      </p:sp>
      <p:sp>
        <p:nvSpPr>
          <p:cNvPr id="205" name="Text 201"/>
          <p:cNvSpPr txBox="1"/>
          <p:nvPr/>
        </p:nvSpPr>
        <p:spPr>
          <a:xfrm>
            <a:off x="411480" y="5550408"/>
            <a:ext cx="457200" cy="22860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15 %</a:t>
            </a:r>
            <a:endParaRPr lang="en-US" sz="900" dirty="0"/>
          </a:p>
        </p:txBody>
      </p:sp>
      <p:sp>
        <p:nvSpPr>
          <p:cNvPr id="206" name="Shape 202"/>
          <p:cNvSpPr/>
          <p:nvPr/>
        </p:nvSpPr>
        <p:spPr>
          <a:xfrm>
            <a:off x="882396" y="5564124"/>
            <a:ext cx="685800" cy="201168"/>
          </a:xfrm>
          <a:prstGeom prst="rect">
            <a:avLst/>
          </a:prstGeom>
          <a:solidFill>
            <a:srgbClr val="426BA0"/>
          </a:solidFill>
          <a:ln/>
        </p:spPr>
      </p:sp>
      <p:sp>
        <p:nvSpPr>
          <p:cNvPr id="207" name="Text 203"/>
          <p:cNvSpPr txBox="1"/>
          <p:nvPr/>
        </p:nvSpPr>
        <p:spPr>
          <a:xfrm>
            <a:off x="868680" y="55504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3.6x</a:t>
            </a:r>
            <a:endParaRPr lang="en-US" sz="900" dirty="0"/>
          </a:p>
        </p:txBody>
      </p:sp>
      <p:sp>
        <p:nvSpPr>
          <p:cNvPr id="208" name="Shape 204"/>
          <p:cNvSpPr/>
          <p:nvPr/>
        </p:nvSpPr>
        <p:spPr>
          <a:xfrm>
            <a:off x="1595628" y="5564124"/>
            <a:ext cx="685800" cy="201168"/>
          </a:xfrm>
          <a:prstGeom prst="rect">
            <a:avLst/>
          </a:prstGeom>
          <a:solidFill>
            <a:srgbClr val="6C99CF"/>
          </a:solidFill>
          <a:ln/>
        </p:spPr>
      </p:sp>
      <p:sp>
        <p:nvSpPr>
          <p:cNvPr id="209" name="Text 205"/>
          <p:cNvSpPr txBox="1"/>
          <p:nvPr/>
        </p:nvSpPr>
        <p:spPr>
          <a:xfrm>
            <a:off x="1581912" y="55504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2.7x</a:t>
            </a:r>
            <a:endParaRPr lang="en-US" sz="900" dirty="0"/>
          </a:p>
        </p:txBody>
      </p:sp>
      <p:sp>
        <p:nvSpPr>
          <p:cNvPr id="210" name="Shape 206"/>
          <p:cNvSpPr/>
          <p:nvPr/>
        </p:nvSpPr>
        <p:spPr>
          <a:xfrm>
            <a:off x="2308860" y="5564124"/>
            <a:ext cx="685800" cy="201168"/>
          </a:xfrm>
          <a:prstGeom prst="rect">
            <a:avLst/>
          </a:prstGeom>
          <a:solidFill>
            <a:srgbClr val="95B5DC"/>
          </a:solidFill>
          <a:ln/>
        </p:spPr>
      </p:sp>
      <p:sp>
        <p:nvSpPr>
          <p:cNvPr id="211" name="Text 207"/>
          <p:cNvSpPr txBox="1"/>
          <p:nvPr/>
        </p:nvSpPr>
        <p:spPr>
          <a:xfrm>
            <a:off x="2295144" y="55504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2.1x</a:t>
            </a:r>
            <a:endParaRPr lang="en-US" sz="900" dirty="0"/>
          </a:p>
        </p:txBody>
      </p:sp>
      <p:sp>
        <p:nvSpPr>
          <p:cNvPr id="212" name="Shape 208"/>
          <p:cNvSpPr/>
          <p:nvPr/>
        </p:nvSpPr>
        <p:spPr>
          <a:xfrm>
            <a:off x="3022092" y="5564124"/>
            <a:ext cx="685800" cy="201168"/>
          </a:xfrm>
          <a:prstGeom prst="rect">
            <a:avLst/>
          </a:prstGeom>
          <a:solidFill>
            <a:srgbClr val="A9C3E3"/>
          </a:solidFill>
          <a:ln/>
        </p:spPr>
      </p:sp>
      <p:sp>
        <p:nvSpPr>
          <p:cNvPr id="213" name="Text 209"/>
          <p:cNvSpPr txBox="1"/>
          <p:nvPr/>
        </p:nvSpPr>
        <p:spPr>
          <a:xfrm>
            <a:off x="3008376" y="55504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1.8x</a:t>
            </a:r>
            <a:endParaRPr lang="en-US" sz="900" dirty="0"/>
          </a:p>
        </p:txBody>
      </p:sp>
      <p:sp>
        <p:nvSpPr>
          <p:cNvPr id="214" name="Shape 210"/>
          <p:cNvSpPr/>
          <p:nvPr/>
        </p:nvSpPr>
        <p:spPr>
          <a:xfrm>
            <a:off x="3735324" y="5564124"/>
            <a:ext cx="685800" cy="201168"/>
          </a:xfrm>
          <a:prstGeom prst="rect">
            <a:avLst/>
          </a:prstGeom>
          <a:solidFill>
            <a:srgbClr val="BDD1EA"/>
          </a:solidFill>
          <a:ln/>
        </p:spPr>
      </p:sp>
      <p:sp>
        <p:nvSpPr>
          <p:cNvPr id="215" name="Text 211"/>
          <p:cNvSpPr txBox="1"/>
          <p:nvPr/>
        </p:nvSpPr>
        <p:spPr>
          <a:xfrm>
            <a:off x="3721608" y="55504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1.5x</a:t>
            </a:r>
            <a:endParaRPr lang="en-US" sz="900" dirty="0"/>
          </a:p>
        </p:txBody>
      </p:sp>
      <p:sp>
        <p:nvSpPr>
          <p:cNvPr id="216" name="Shape 212"/>
          <p:cNvSpPr/>
          <p:nvPr/>
        </p:nvSpPr>
        <p:spPr>
          <a:xfrm>
            <a:off x="4448556" y="5564124"/>
            <a:ext cx="685800" cy="201168"/>
          </a:xfrm>
          <a:prstGeom prst="rect">
            <a:avLst/>
          </a:prstGeom>
          <a:solidFill>
            <a:srgbClr val="D2E0F1"/>
          </a:solidFill>
          <a:ln/>
        </p:spPr>
      </p:sp>
      <p:sp>
        <p:nvSpPr>
          <p:cNvPr id="217" name="Text 213"/>
          <p:cNvSpPr txBox="1"/>
          <p:nvPr/>
        </p:nvSpPr>
        <p:spPr>
          <a:xfrm>
            <a:off x="4434840" y="55504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1.2x</a:t>
            </a:r>
            <a:endParaRPr lang="en-US" sz="900" dirty="0"/>
          </a:p>
        </p:txBody>
      </p:sp>
      <p:sp>
        <p:nvSpPr>
          <p:cNvPr id="218" name="Text 214"/>
          <p:cNvSpPr txBox="1"/>
          <p:nvPr/>
        </p:nvSpPr>
        <p:spPr>
          <a:xfrm>
            <a:off x="411480" y="5779008"/>
            <a:ext cx="457200" cy="22860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20 %</a:t>
            </a:r>
            <a:endParaRPr lang="en-US" sz="900" dirty="0"/>
          </a:p>
        </p:txBody>
      </p:sp>
      <p:sp>
        <p:nvSpPr>
          <p:cNvPr id="219" name="Shape 215"/>
          <p:cNvSpPr/>
          <p:nvPr/>
        </p:nvSpPr>
        <p:spPr>
          <a:xfrm>
            <a:off x="882396" y="5792724"/>
            <a:ext cx="685800" cy="201168"/>
          </a:xfrm>
          <a:prstGeom prst="rect">
            <a:avLst/>
          </a:prstGeom>
          <a:solidFill>
            <a:srgbClr val="2E5181"/>
          </a:solidFill>
          <a:ln/>
        </p:spPr>
      </p:sp>
      <p:sp>
        <p:nvSpPr>
          <p:cNvPr id="220" name="Text 216"/>
          <p:cNvSpPr txBox="1"/>
          <p:nvPr/>
        </p:nvSpPr>
        <p:spPr>
          <a:xfrm>
            <a:off x="868680" y="57790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4.1x</a:t>
            </a:r>
            <a:endParaRPr lang="en-US" sz="900" dirty="0"/>
          </a:p>
        </p:txBody>
      </p:sp>
      <p:sp>
        <p:nvSpPr>
          <p:cNvPr id="221" name="Shape 217"/>
          <p:cNvSpPr/>
          <p:nvPr/>
        </p:nvSpPr>
        <p:spPr>
          <a:xfrm>
            <a:off x="1595628" y="5792724"/>
            <a:ext cx="685800" cy="201168"/>
          </a:xfrm>
          <a:prstGeom prst="rect">
            <a:avLst/>
          </a:prstGeom>
          <a:solidFill>
            <a:srgbClr val="5585C0"/>
          </a:solidFill>
          <a:ln/>
        </p:spPr>
      </p:sp>
      <p:sp>
        <p:nvSpPr>
          <p:cNvPr id="222" name="Text 218"/>
          <p:cNvSpPr txBox="1"/>
          <p:nvPr/>
        </p:nvSpPr>
        <p:spPr>
          <a:xfrm>
            <a:off x="1581912" y="57790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3.1x</a:t>
            </a:r>
            <a:endParaRPr lang="en-US" sz="900" dirty="0"/>
          </a:p>
        </p:txBody>
      </p:sp>
      <p:sp>
        <p:nvSpPr>
          <p:cNvPr id="223" name="Shape 219"/>
          <p:cNvSpPr/>
          <p:nvPr/>
        </p:nvSpPr>
        <p:spPr>
          <a:xfrm>
            <a:off x="2308860" y="5792724"/>
            <a:ext cx="685800" cy="201168"/>
          </a:xfrm>
          <a:prstGeom prst="rect">
            <a:avLst/>
          </a:prstGeom>
          <a:solidFill>
            <a:srgbClr val="79A2D3"/>
          </a:solidFill>
          <a:ln/>
        </p:spPr>
      </p:sp>
      <p:sp>
        <p:nvSpPr>
          <p:cNvPr id="224" name="Text 220"/>
          <p:cNvSpPr txBox="1"/>
          <p:nvPr/>
        </p:nvSpPr>
        <p:spPr>
          <a:xfrm>
            <a:off x="2295144" y="57790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2.5x</a:t>
            </a:r>
            <a:endParaRPr lang="en-US" sz="900" dirty="0"/>
          </a:p>
        </p:txBody>
      </p:sp>
      <p:sp>
        <p:nvSpPr>
          <p:cNvPr id="225" name="Shape 221"/>
          <p:cNvSpPr/>
          <p:nvPr/>
        </p:nvSpPr>
        <p:spPr>
          <a:xfrm>
            <a:off x="3022092" y="5792724"/>
            <a:ext cx="685800" cy="201168"/>
          </a:xfrm>
          <a:prstGeom prst="rect">
            <a:avLst/>
          </a:prstGeom>
          <a:solidFill>
            <a:srgbClr val="95B5DC"/>
          </a:solidFill>
          <a:ln/>
        </p:spPr>
      </p:sp>
      <p:sp>
        <p:nvSpPr>
          <p:cNvPr id="226" name="Text 222"/>
          <p:cNvSpPr txBox="1"/>
          <p:nvPr/>
        </p:nvSpPr>
        <p:spPr>
          <a:xfrm>
            <a:off x="3008376" y="57790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2.1x</a:t>
            </a:r>
            <a:endParaRPr lang="en-US" sz="900" dirty="0"/>
          </a:p>
        </p:txBody>
      </p:sp>
      <p:sp>
        <p:nvSpPr>
          <p:cNvPr id="227" name="Shape 223"/>
          <p:cNvSpPr/>
          <p:nvPr/>
        </p:nvSpPr>
        <p:spPr>
          <a:xfrm>
            <a:off x="3735324" y="5792724"/>
            <a:ext cx="685800" cy="201168"/>
          </a:xfrm>
          <a:prstGeom prst="rect">
            <a:avLst/>
          </a:prstGeom>
          <a:solidFill>
            <a:srgbClr val="A9C3E3"/>
          </a:solidFill>
          <a:ln/>
        </p:spPr>
      </p:sp>
      <p:sp>
        <p:nvSpPr>
          <p:cNvPr id="228" name="Text 224"/>
          <p:cNvSpPr txBox="1"/>
          <p:nvPr/>
        </p:nvSpPr>
        <p:spPr>
          <a:xfrm>
            <a:off x="3721608" y="57790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1.8x</a:t>
            </a:r>
            <a:endParaRPr lang="en-US" sz="900" dirty="0"/>
          </a:p>
        </p:txBody>
      </p:sp>
      <p:sp>
        <p:nvSpPr>
          <p:cNvPr id="229" name="Shape 225"/>
          <p:cNvSpPr/>
          <p:nvPr/>
        </p:nvSpPr>
        <p:spPr>
          <a:xfrm>
            <a:off x="4448556" y="5792724"/>
            <a:ext cx="685800" cy="201168"/>
          </a:xfrm>
          <a:prstGeom prst="rect">
            <a:avLst/>
          </a:prstGeom>
          <a:solidFill>
            <a:srgbClr val="C4D6EC"/>
          </a:solidFill>
          <a:ln/>
        </p:spPr>
      </p:sp>
      <p:sp>
        <p:nvSpPr>
          <p:cNvPr id="230" name="Text 226"/>
          <p:cNvSpPr txBox="1"/>
          <p:nvPr/>
        </p:nvSpPr>
        <p:spPr>
          <a:xfrm>
            <a:off x="4434840" y="57790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1.4x</a:t>
            </a:r>
            <a:endParaRPr lang="en-US" sz="900" dirty="0"/>
          </a:p>
        </p:txBody>
      </p:sp>
      <p:sp>
        <p:nvSpPr>
          <p:cNvPr id="231" name="Text 227"/>
          <p:cNvSpPr txBox="1"/>
          <p:nvPr/>
        </p:nvSpPr>
        <p:spPr>
          <a:xfrm>
            <a:off x="411480" y="6007608"/>
            <a:ext cx="457200" cy="228600"/>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25 %</a:t>
            </a:r>
            <a:endParaRPr lang="en-US" sz="900" dirty="0"/>
          </a:p>
        </p:txBody>
      </p:sp>
      <p:sp>
        <p:nvSpPr>
          <p:cNvPr id="232" name="Shape 228"/>
          <p:cNvSpPr/>
          <p:nvPr/>
        </p:nvSpPr>
        <p:spPr>
          <a:xfrm>
            <a:off x="882396" y="6021324"/>
            <a:ext cx="685800" cy="201168"/>
          </a:xfrm>
          <a:prstGeom prst="rect">
            <a:avLst/>
          </a:prstGeom>
          <a:solidFill>
            <a:srgbClr val="17325C"/>
          </a:solidFill>
          <a:ln/>
        </p:spPr>
      </p:sp>
      <p:sp>
        <p:nvSpPr>
          <p:cNvPr id="233" name="Text 229"/>
          <p:cNvSpPr txBox="1"/>
          <p:nvPr/>
        </p:nvSpPr>
        <p:spPr>
          <a:xfrm>
            <a:off x="868680" y="60076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4.7x</a:t>
            </a:r>
            <a:endParaRPr lang="en-US" sz="900" dirty="0"/>
          </a:p>
        </p:txBody>
      </p:sp>
      <p:sp>
        <p:nvSpPr>
          <p:cNvPr id="234" name="Shape 230"/>
          <p:cNvSpPr/>
          <p:nvPr/>
        </p:nvSpPr>
        <p:spPr>
          <a:xfrm>
            <a:off x="1595628" y="6021324"/>
            <a:ext cx="685800" cy="201168"/>
          </a:xfrm>
          <a:prstGeom prst="rect">
            <a:avLst/>
          </a:prstGeom>
          <a:solidFill>
            <a:srgbClr val="426BA0"/>
          </a:solidFill>
          <a:ln/>
        </p:spPr>
      </p:sp>
      <p:sp>
        <p:nvSpPr>
          <p:cNvPr id="235" name="Text 231"/>
          <p:cNvSpPr txBox="1"/>
          <p:nvPr/>
        </p:nvSpPr>
        <p:spPr>
          <a:xfrm>
            <a:off x="1581912" y="60076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3.6x</a:t>
            </a:r>
            <a:endParaRPr lang="en-US" sz="900" dirty="0"/>
          </a:p>
        </p:txBody>
      </p:sp>
      <p:sp>
        <p:nvSpPr>
          <p:cNvPr id="236" name="Shape 232"/>
          <p:cNvSpPr/>
          <p:nvPr/>
        </p:nvSpPr>
        <p:spPr>
          <a:xfrm>
            <a:off x="2308860" y="6021324"/>
            <a:ext cx="685800" cy="201168"/>
          </a:xfrm>
          <a:prstGeom prst="rect">
            <a:avLst/>
          </a:prstGeom>
          <a:solidFill>
            <a:srgbClr val="6594CC"/>
          </a:solidFill>
          <a:ln/>
        </p:spPr>
      </p:sp>
      <p:sp>
        <p:nvSpPr>
          <p:cNvPr id="237" name="Text 233"/>
          <p:cNvSpPr txBox="1"/>
          <p:nvPr/>
        </p:nvSpPr>
        <p:spPr>
          <a:xfrm>
            <a:off x="2295144" y="6007608"/>
            <a:ext cx="713232" cy="22860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2.8x</a:t>
            </a:r>
            <a:endParaRPr lang="en-US" sz="900" dirty="0"/>
          </a:p>
        </p:txBody>
      </p:sp>
      <p:sp>
        <p:nvSpPr>
          <p:cNvPr id="238" name="Shape 234"/>
          <p:cNvSpPr/>
          <p:nvPr/>
        </p:nvSpPr>
        <p:spPr>
          <a:xfrm>
            <a:off x="3022092" y="6021324"/>
            <a:ext cx="685800" cy="201168"/>
          </a:xfrm>
          <a:prstGeom prst="rect">
            <a:avLst/>
          </a:prstGeom>
          <a:solidFill>
            <a:srgbClr val="80A7D6"/>
          </a:solidFill>
          <a:ln/>
        </p:spPr>
      </p:sp>
      <p:sp>
        <p:nvSpPr>
          <p:cNvPr id="239" name="Text 235"/>
          <p:cNvSpPr txBox="1"/>
          <p:nvPr/>
        </p:nvSpPr>
        <p:spPr>
          <a:xfrm>
            <a:off x="3008376" y="6007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2.4x</a:t>
            </a:r>
            <a:endParaRPr lang="en-US" sz="900" dirty="0"/>
          </a:p>
        </p:txBody>
      </p:sp>
      <p:sp>
        <p:nvSpPr>
          <p:cNvPr id="240" name="Shape 236"/>
          <p:cNvSpPr/>
          <p:nvPr/>
        </p:nvSpPr>
        <p:spPr>
          <a:xfrm>
            <a:off x="3735324" y="6021324"/>
            <a:ext cx="685800" cy="201168"/>
          </a:xfrm>
          <a:prstGeom prst="rect">
            <a:avLst/>
          </a:prstGeom>
          <a:solidFill>
            <a:srgbClr val="9BBADF"/>
          </a:solidFill>
          <a:ln/>
        </p:spPr>
      </p:sp>
      <p:sp>
        <p:nvSpPr>
          <p:cNvPr id="241" name="Text 237"/>
          <p:cNvSpPr txBox="1"/>
          <p:nvPr/>
        </p:nvSpPr>
        <p:spPr>
          <a:xfrm>
            <a:off x="3721608" y="6007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2.0x</a:t>
            </a:r>
            <a:endParaRPr lang="en-US" sz="900" dirty="0"/>
          </a:p>
        </p:txBody>
      </p:sp>
      <p:sp>
        <p:nvSpPr>
          <p:cNvPr id="242" name="Shape 238"/>
          <p:cNvSpPr/>
          <p:nvPr/>
        </p:nvSpPr>
        <p:spPr>
          <a:xfrm>
            <a:off x="4448556" y="6021324"/>
            <a:ext cx="685800" cy="201168"/>
          </a:xfrm>
          <a:prstGeom prst="rect">
            <a:avLst/>
          </a:prstGeom>
          <a:solidFill>
            <a:srgbClr val="B6CDE8"/>
          </a:solidFill>
          <a:ln/>
        </p:spPr>
      </p:sp>
      <p:sp>
        <p:nvSpPr>
          <p:cNvPr id="243" name="Text 239"/>
          <p:cNvSpPr txBox="1"/>
          <p:nvPr/>
        </p:nvSpPr>
        <p:spPr>
          <a:xfrm>
            <a:off x="4434840" y="6007608"/>
            <a:ext cx="713232" cy="228600"/>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1.6x</a:t>
            </a:r>
            <a:endParaRPr lang="en-US" sz="900" dirty="0"/>
          </a:p>
        </p:txBody>
      </p:sp>
      <p:sp>
        <p:nvSpPr>
          <p:cNvPr id="244" name="Shape 240"/>
          <p:cNvSpPr/>
          <p:nvPr/>
        </p:nvSpPr>
        <p:spPr>
          <a:xfrm>
            <a:off x="7315200" y="1170432"/>
            <a:ext cx="256032" cy="256032"/>
          </a:xfrm>
          <a:prstGeom prst="rect">
            <a:avLst/>
          </a:prstGeom>
          <a:solidFill>
            <a:srgbClr val="1F4A82"/>
          </a:solidFill>
          <a:ln/>
        </p:spPr>
      </p:sp>
      <p:sp>
        <p:nvSpPr>
          <p:cNvPr id="245" name="Text 241"/>
          <p:cNvSpPr txBox="1"/>
          <p:nvPr/>
        </p:nvSpPr>
        <p:spPr>
          <a:xfrm>
            <a:off x="7315200" y="117043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endParaRPr lang="en-US" sz="1150" dirty="0"/>
          </a:p>
        </p:txBody>
      </p:sp>
      <p:sp>
        <p:nvSpPr>
          <p:cNvPr id="246" name="Text 242"/>
          <p:cNvSpPr txBox="1"/>
          <p:nvPr/>
        </p:nvSpPr>
        <p:spPr>
          <a:xfrm>
            <a:off x="7644384" y="1170432"/>
            <a:ext cx="413583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WHAT MOVES THE OWNER'S RETURN (BASE 1.7x)</a:t>
            </a:r>
            <a:endParaRPr lang="en-US" sz="1200" dirty="0"/>
          </a:p>
        </p:txBody>
      </p:sp>
      <p:sp>
        <p:nvSpPr>
          <p:cNvPr id="247" name="Text 243"/>
          <p:cNvSpPr txBox="1"/>
          <p:nvPr/>
        </p:nvSpPr>
        <p:spPr>
          <a:xfrm>
            <a:off x="7315200" y="1517904"/>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Admissions uplift 0–3 %</a:t>
            </a:r>
            <a:endParaRPr lang="en-US" sz="900" dirty="0"/>
          </a:p>
        </p:txBody>
      </p:sp>
      <p:sp>
        <p:nvSpPr>
          <p:cNvPr id="248" name="Shape 244"/>
          <p:cNvSpPr/>
          <p:nvPr/>
        </p:nvSpPr>
        <p:spPr>
          <a:xfrm>
            <a:off x="9146919" y="1563624"/>
            <a:ext cx="723419" cy="182880"/>
          </a:xfrm>
          <a:prstGeom prst="rect">
            <a:avLst/>
          </a:prstGeom>
          <a:solidFill>
            <a:srgbClr val="8FB0D8"/>
          </a:solidFill>
          <a:ln/>
        </p:spPr>
      </p:sp>
      <p:sp>
        <p:nvSpPr>
          <p:cNvPr id="249" name="Shape 245"/>
          <p:cNvSpPr/>
          <p:nvPr/>
        </p:nvSpPr>
        <p:spPr>
          <a:xfrm>
            <a:off x="9870338" y="1563624"/>
            <a:ext cx="1509745" cy="182880"/>
          </a:xfrm>
          <a:prstGeom prst="rect">
            <a:avLst/>
          </a:prstGeom>
          <a:solidFill>
            <a:srgbClr val="1F4A82"/>
          </a:solidFill>
          <a:ln/>
        </p:spPr>
      </p:sp>
      <p:sp>
        <p:nvSpPr>
          <p:cNvPr id="250" name="Text 246"/>
          <p:cNvSpPr txBox="1"/>
          <p:nvPr/>
        </p:nvSpPr>
        <p:spPr>
          <a:xfrm>
            <a:off x="8762871" y="1517904"/>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0.55x</a:t>
            </a:r>
            <a:endParaRPr lang="en-US" sz="800" dirty="0"/>
          </a:p>
        </p:txBody>
      </p:sp>
      <p:sp>
        <p:nvSpPr>
          <p:cNvPr id="251" name="Text 247"/>
          <p:cNvSpPr txBox="1"/>
          <p:nvPr/>
        </p:nvSpPr>
        <p:spPr>
          <a:xfrm>
            <a:off x="11407515" y="1517904"/>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4.1x</a:t>
            </a:r>
            <a:endParaRPr lang="en-US" sz="800" dirty="0"/>
          </a:p>
        </p:txBody>
      </p:sp>
      <p:sp>
        <p:nvSpPr>
          <p:cNvPr id="252" name="Text 248"/>
          <p:cNvSpPr txBox="1"/>
          <p:nvPr/>
        </p:nvSpPr>
        <p:spPr>
          <a:xfrm>
            <a:off x="7315200" y="1847088"/>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Price ₹40 to ₹20</a:t>
            </a:r>
            <a:endParaRPr lang="en-US" sz="900" dirty="0"/>
          </a:p>
        </p:txBody>
      </p:sp>
      <p:sp>
        <p:nvSpPr>
          <p:cNvPr id="253" name="Shape 249"/>
          <p:cNvSpPr/>
          <p:nvPr/>
        </p:nvSpPr>
        <p:spPr>
          <a:xfrm>
            <a:off x="9681620" y="1892808"/>
            <a:ext cx="188718" cy="182880"/>
          </a:xfrm>
          <a:prstGeom prst="rect">
            <a:avLst/>
          </a:prstGeom>
          <a:solidFill>
            <a:srgbClr val="8FB0D8"/>
          </a:solidFill>
          <a:ln/>
        </p:spPr>
      </p:sp>
      <p:sp>
        <p:nvSpPr>
          <p:cNvPr id="254" name="Shape 250"/>
          <p:cNvSpPr/>
          <p:nvPr/>
        </p:nvSpPr>
        <p:spPr>
          <a:xfrm>
            <a:off x="9870338" y="1892808"/>
            <a:ext cx="377436" cy="182880"/>
          </a:xfrm>
          <a:prstGeom prst="rect">
            <a:avLst/>
          </a:prstGeom>
          <a:solidFill>
            <a:srgbClr val="1F4A82"/>
          </a:solidFill>
          <a:ln/>
        </p:spPr>
      </p:sp>
      <p:sp>
        <p:nvSpPr>
          <p:cNvPr id="255" name="Text 251"/>
          <p:cNvSpPr txBox="1"/>
          <p:nvPr/>
        </p:nvSpPr>
        <p:spPr>
          <a:xfrm>
            <a:off x="9297572" y="1847088"/>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1.4x</a:t>
            </a:r>
            <a:endParaRPr lang="en-US" sz="800" dirty="0"/>
          </a:p>
        </p:txBody>
      </p:sp>
      <p:sp>
        <p:nvSpPr>
          <p:cNvPr id="256" name="Text 252"/>
          <p:cNvSpPr txBox="1"/>
          <p:nvPr/>
        </p:nvSpPr>
        <p:spPr>
          <a:xfrm>
            <a:off x="10275207" y="1847088"/>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2.3x</a:t>
            </a:r>
            <a:endParaRPr lang="en-US" sz="800" dirty="0"/>
          </a:p>
        </p:txBody>
      </p:sp>
      <p:sp>
        <p:nvSpPr>
          <p:cNvPr id="257" name="Text 253"/>
          <p:cNvSpPr txBox="1"/>
          <p:nvPr/>
        </p:nvSpPr>
        <p:spPr>
          <a:xfrm>
            <a:off x="7315200" y="2176272"/>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Annual fee ₹70k to ₹1.2 L</a:t>
            </a:r>
            <a:endParaRPr lang="en-US" sz="900" dirty="0"/>
          </a:p>
        </p:txBody>
      </p:sp>
      <p:sp>
        <p:nvSpPr>
          <p:cNvPr id="258" name="Shape 254"/>
          <p:cNvSpPr/>
          <p:nvPr/>
        </p:nvSpPr>
        <p:spPr>
          <a:xfrm>
            <a:off x="9681620" y="2221992"/>
            <a:ext cx="188718" cy="182880"/>
          </a:xfrm>
          <a:prstGeom prst="rect">
            <a:avLst/>
          </a:prstGeom>
          <a:solidFill>
            <a:srgbClr val="8FB0D8"/>
          </a:solidFill>
          <a:ln/>
        </p:spPr>
      </p:sp>
      <p:sp>
        <p:nvSpPr>
          <p:cNvPr id="259" name="Shape 255"/>
          <p:cNvSpPr/>
          <p:nvPr/>
        </p:nvSpPr>
        <p:spPr>
          <a:xfrm>
            <a:off x="9870338" y="2221992"/>
            <a:ext cx="251624" cy="182880"/>
          </a:xfrm>
          <a:prstGeom prst="rect">
            <a:avLst/>
          </a:prstGeom>
          <a:solidFill>
            <a:srgbClr val="1F4A82"/>
          </a:solidFill>
          <a:ln/>
        </p:spPr>
      </p:sp>
      <p:sp>
        <p:nvSpPr>
          <p:cNvPr id="260" name="Text 256"/>
          <p:cNvSpPr txBox="1"/>
          <p:nvPr/>
        </p:nvSpPr>
        <p:spPr>
          <a:xfrm>
            <a:off x="9297572" y="2176272"/>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1.4x</a:t>
            </a:r>
            <a:endParaRPr lang="en-US" sz="800" dirty="0"/>
          </a:p>
        </p:txBody>
      </p:sp>
      <p:sp>
        <p:nvSpPr>
          <p:cNvPr id="261" name="Text 257"/>
          <p:cNvSpPr txBox="1"/>
          <p:nvPr/>
        </p:nvSpPr>
        <p:spPr>
          <a:xfrm>
            <a:off x="10149395" y="2176272"/>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2.1x</a:t>
            </a:r>
            <a:endParaRPr lang="en-US" sz="800" dirty="0"/>
          </a:p>
        </p:txBody>
      </p:sp>
      <p:sp>
        <p:nvSpPr>
          <p:cNvPr id="262" name="Text 258"/>
          <p:cNvSpPr txBox="1"/>
          <p:nvPr/>
        </p:nvSpPr>
        <p:spPr>
          <a:xfrm>
            <a:off x="7315200" y="2505456"/>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Mentor minutes per call</a:t>
            </a:r>
            <a:endParaRPr lang="en-US" sz="900" dirty="0"/>
          </a:p>
        </p:txBody>
      </p:sp>
      <p:sp>
        <p:nvSpPr>
          <p:cNvPr id="263" name="Shape 259"/>
          <p:cNvSpPr/>
          <p:nvPr/>
        </p:nvSpPr>
        <p:spPr>
          <a:xfrm>
            <a:off x="9681620" y="2551176"/>
            <a:ext cx="188718" cy="182880"/>
          </a:xfrm>
          <a:prstGeom prst="rect">
            <a:avLst/>
          </a:prstGeom>
          <a:solidFill>
            <a:srgbClr val="8FB0D8"/>
          </a:solidFill>
          <a:ln/>
        </p:spPr>
      </p:sp>
      <p:sp>
        <p:nvSpPr>
          <p:cNvPr id="264" name="Shape 260"/>
          <p:cNvSpPr/>
          <p:nvPr/>
        </p:nvSpPr>
        <p:spPr>
          <a:xfrm>
            <a:off x="9870338" y="2551176"/>
            <a:ext cx="188718" cy="182880"/>
          </a:xfrm>
          <a:prstGeom prst="rect">
            <a:avLst/>
          </a:prstGeom>
          <a:solidFill>
            <a:srgbClr val="1F4A82"/>
          </a:solidFill>
          <a:ln/>
        </p:spPr>
      </p:sp>
      <p:sp>
        <p:nvSpPr>
          <p:cNvPr id="265" name="Text 261"/>
          <p:cNvSpPr txBox="1"/>
          <p:nvPr/>
        </p:nvSpPr>
        <p:spPr>
          <a:xfrm>
            <a:off x="9297572" y="2505456"/>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1.4x</a:t>
            </a:r>
            <a:endParaRPr lang="en-US" sz="800" dirty="0"/>
          </a:p>
        </p:txBody>
      </p:sp>
      <p:sp>
        <p:nvSpPr>
          <p:cNvPr id="266" name="Text 262"/>
          <p:cNvSpPr txBox="1"/>
          <p:nvPr/>
        </p:nvSpPr>
        <p:spPr>
          <a:xfrm>
            <a:off x="10086488" y="2505456"/>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2x</a:t>
            </a:r>
            <a:endParaRPr lang="en-US" sz="800" dirty="0"/>
          </a:p>
        </p:txBody>
      </p:sp>
      <p:sp>
        <p:nvSpPr>
          <p:cNvPr id="267" name="Text 263"/>
          <p:cNvSpPr txBox="1"/>
          <p:nvPr/>
        </p:nvSpPr>
        <p:spPr>
          <a:xfrm>
            <a:off x="7315200" y="2834640"/>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Outreach effect 5–30 %</a:t>
            </a:r>
            <a:endParaRPr lang="en-US" sz="900" dirty="0"/>
          </a:p>
        </p:txBody>
      </p:sp>
      <p:sp>
        <p:nvSpPr>
          <p:cNvPr id="268" name="Shape 264"/>
          <p:cNvSpPr/>
          <p:nvPr/>
        </p:nvSpPr>
        <p:spPr>
          <a:xfrm>
            <a:off x="9744526" y="2880360"/>
            <a:ext cx="125812" cy="182880"/>
          </a:xfrm>
          <a:prstGeom prst="rect">
            <a:avLst/>
          </a:prstGeom>
          <a:solidFill>
            <a:srgbClr val="8FB0D8"/>
          </a:solidFill>
          <a:ln/>
        </p:spPr>
      </p:sp>
      <p:sp>
        <p:nvSpPr>
          <p:cNvPr id="269" name="Shape 265"/>
          <p:cNvSpPr/>
          <p:nvPr/>
        </p:nvSpPr>
        <p:spPr>
          <a:xfrm>
            <a:off x="9870338" y="2880360"/>
            <a:ext cx="251624" cy="182880"/>
          </a:xfrm>
          <a:prstGeom prst="rect">
            <a:avLst/>
          </a:prstGeom>
          <a:solidFill>
            <a:srgbClr val="1F4A82"/>
          </a:solidFill>
          <a:ln/>
        </p:spPr>
      </p:sp>
      <p:sp>
        <p:nvSpPr>
          <p:cNvPr id="270" name="Text 266"/>
          <p:cNvSpPr txBox="1"/>
          <p:nvPr/>
        </p:nvSpPr>
        <p:spPr>
          <a:xfrm>
            <a:off x="9360478" y="2834640"/>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1.5x</a:t>
            </a:r>
            <a:endParaRPr lang="en-US" sz="800" dirty="0"/>
          </a:p>
        </p:txBody>
      </p:sp>
      <p:sp>
        <p:nvSpPr>
          <p:cNvPr id="271" name="Text 267"/>
          <p:cNvSpPr txBox="1"/>
          <p:nvPr/>
        </p:nvSpPr>
        <p:spPr>
          <a:xfrm>
            <a:off x="10149395" y="2834640"/>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2.1x</a:t>
            </a:r>
            <a:endParaRPr lang="en-US" sz="800" dirty="0"/>
          </a:p>
        </p:txBody>
      </p:sp>
      <p:sp>
        <p:nvSpPr>
          <p:cNvPr id="272" name="Text 268"/>
          <p:cNvSpPr txBox="1"/>
          <p:nvPr/>
        </p:nvSpPr>
        <p:spPr>
          <a:xfrm>
            <a:off x="7315200" y="3163824"/>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Precision of the flag</a:t>
            </a:r>
            <a:endParaRPr lang="en-US" sz="900" dirty="0"/>
          </a:p>
        </p:txBody>
      </p:sp>
      <p:sp>
        <p:nvSpPr>
          <p:cNvPr id="273" name="Shape 269"/>
          <p:cNvSpPr/>
          <p:nvPr/>
        </p:nvSpPr>
        <p:spPr>
          <a:xfrm>
            <a:off x="9744526" y="3209544"/>
            <a:ext cx="125812" cy="182880"/>
          </a:xfrm>
          <a:prstGeom prst="rect">
            <a:avLst/>
          </a:prstGeom>
          <a:solidFill>
            <a:srgbClr val="8FB0D8"/>
          </a:solidFill>
          <a:ln/>
        </p:spPr>
      </p:sp>
      <p:sp>
        <p:nvSpPr>
          <p:cNvPr id="274" name="Shape 270"/>
          <p:cNvSpPr/>
          <p:nvPr/>
        </p:nvSpPr>
        <p:spPr>
          <a:xfrm>
            <a:off x="9870338" y="3209544"/>
            <a:ext cx="125812" cy="182880"/>
          </a:xfrm>
          <a:prstGeom prst="rect">
            <a:avLst/>
          </a:prstGeom>
          <a:solidFill>
            <a:srgbClr val="1F4A82"/>
          </a:solidFill>
          <a:ln/>
        </p:spPr>
      </p:sp>
      <p:sp>
        <p:nvSpPr>
          <p:cNvPr id="275" name="Text 271"/>
          <p:cNvSpPr txBox="1"/>
          <p:nvPr/>
        </p:nvSpPr>
        <p:spPr>
          <a:xfrm>
            <a:off x="9360478" y="3163824"/>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1.5x</a:t>
            </a:r>
            <a:endParaRPr lang="en-US" sz="800" dirty="0"/>
          </a:p>
        </p:txBody>
      </p:sp>
      <p:sp>
        <p:nvSpPr>
          <p:cNvPr id="276" name="Text 272"/>
          <p:cNvSpPr txBox="1"/>
          <p:nvPr/>
        </p:nvSpPr>
        <p:spPr>
          <a:xfrm>
            <a:off x="10023582" y="3163824"/>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1.9x</a:t>
            </a:r>
            <a:endParaRPr lang="en-US" sz="800" dirty="0"/>
          </a:p>
        </p:txBody>
      </p:sp>
      <p:sp>
        <p:nvSpPr>
          <p:cNvPr id="277" name="Text 273"/>
          <p:cNvSpPr txBox="1"/>
          <p:nvPr/>
        </p:nvSpPr>
        <p:spPr>
          <a:xfrm>
            <a:off x="7315200" y="3493008"/>
            <a:ext cx="173736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Months before first flag</a:t>
            </a:r>
            <a:endParaRPr lang="en-US" sz="900" dirty="0"/>
          </a:p>
        </p:txBody>
      </p:sp>
      <p:sp>
        <p:nvSpPr>
          <p:cNvPr id="278" name="Shape 274"/>
          <p:cNvSpPr/>
          <p:nvPr/>
        </p:nvSpPr>
        <p:spPr>
          <a:xfrm>
            <a:off x="9807432" y="3538728"/>
            <a:ext cx="62906" cy="182880"/>
          </a:xfrm>
          <a:prstGeom prst="rect">
            <a:avLst/>
          </a:prstGeom>
          <a:solidFill>
            <a:srgbClr val="8FB0D8"/>
          </a:solidFill>
          <a:ln/>
        </p:spPr>
      </p:sp>
      <p:sp>
        <p:nvSpPr>
          <p:cNvPr id="279" name="Shape 275"/>
          <p:cNvSpPr/>
          <p:nvPr/>
        </p:nvSpPr>
        <p:spPr>
          <a:xfrm>
            <a:off x="9870338" y="3538728"/>
            <a:ext cx="62906" cy="182880"/>
          </a:xfrm>
          <a:prstGeom prst="rect">
            <a:avLst/>
          </a:prstGeom>
          <a:solidFill>
            <a:srgbClr val="1F4A82"/>
          </a:solidFill>
          <a:ln/>
        </p:spPr>
      </p:sp>
      <p:sp>
        <p:nvSpPr>
          <p:cNvPr id="280" name="Text 276"/>
          <p:cNvSpPr txBox="1"/>
          <p:nvPr/>
        </p:nvSpPr>
        <p:spPr>
          <a:xfrm>
            <a:off x="9423384" y="3493008"/>
            <a:ext cx="365760" cy="274320"/>
          </a:xfrm>
          <a:prstGeom prst="rect">
            <a:avLst/>
          </a:prstGeom>
          <a:noFill/>
          <a:ln/>
        </p:spPr>
        <p:txBody>
          <a:bodyPr wrap="square" lIns="0" tIns="0" rIns="0" bIns="0" rtlCol="0" anchor="ctr"/>
          <a:lstStyle/>
          <a:p>
            <a:pPr algn="r" indent="0" marL="0">
              <a:buNone/>
            </a:pPr>
            <a:r>
              <a:rPr lang="en-US" sz="800" dirty="0">
                <a:solidFill>
                  <a:srgbClr val="5B6573"/>
                </a:solidFill>
                <a:latin typeface="Calibri" pitchFamily="34" charset="0"/>
                <a:ea typeface="Calibri" pitchFamily="34" charset="-122"/>
                <a:cs typeface="Calibri" pitchFamily="34" charset="-120"/>
              </a:rPr>
              <a:t>1.6x</a:t>
            </a:r>
            <a:endParaRPr lang="en-US" sz="800" dirty="0"/>
          </a:p>
        </p:txBody>
      </p:sp>
      <p:sp>
        <p:nvSpPr>
          <p:cNvPr id="281" name="Text 277"/>
          <p:cNvSpPr txBox="1"/>
          <p:nvPr/>
        </p:nvSpPr>
        <p:spPr>
          <a:xfrm>
            <a:off x="9960676" y="3493008"/>
            <a:ext cx="365760" cy="274320"/>
          </a:xfrm>
          <a:prstGeom prst="rect">
            <a:avLst/>
          </a:prstGeom>
          <a:noFill/>
          <a:ln/>
        </p:spPr>
        <p:txBody>
          <a:bodyPr wrap="square" lIns="0" tIns="0" rIns="0" bIns="0" rtlCol="0" anchor="ctr"/>
          <a:lstStyle/>
          <a:p>
            <a:pPr algn="l" indent="0" marL="0">
              <a:buNone/>
            </a:pPr>
            <a:r>
              <a:rPr lang="en-US" sz="800" dirty="0">
                <a:solidFill>
                  <a:srgbClr val="5B6573"/>
                </a:solidFill>
                <a:latin typeface="Calibri" pitchFamily="34" charset="0"/>
                <a:ea typeface="Calibri" pitchFamily="34" charset="-122"/>
                <a:cs typeface="Calibri" pitchFamily="34" charset="-120"/>
              </a:rPr>
              <a:t>1.8x</a:t>
            </a:r>
            <a:endParaRPr lang="en-US" sz="800" dirty="0"/>
          </a:p>
        </p:txBody>
      </p:sp>
      <p:sp>
        <p:nvSpPr>
          <p:cNvPr id="282" name="Shape 278"/>
          <p:cNvSpPr/>
          <p:nvPr/>
        </p:nvSpPr>
        <p:spPr>
          <a:xfrm>
            <a:off x="9861194" y="1481328"/>
            <a:ext cx="18288" cy="2331720"/>
          </a:xfrm>
          <a:prstGeom prst="rect">
            <a:avLst/>
          </a:prstGeom>
          <a:solidFill>
            <a:srgbClr val="17325C"/>
          </a:solidFill>
          <a:ln/>
        </p:spPr>
      </p:sp>
      <p:sp>
        <p:nvSpPr>
          <p:cNvPr id="283" name="Shape 279"/>
          <p:cNvSpPr/>
          <p:nvPr/>
        </p:nvSpPr>
        <p:spPr>
          <a:xfrm>
            <a:off x="7315200" y="3913632"/>
            <a:ext cx="256032" cy="256032"/>
          </a:xfrm>
          <a:prstGeom prst="rect">
            <a:avLst/>
          </a:prstGeom>
          <a:solidFill>
            <a:srgbClr val="1F4A82"/>
          </a:solidFill>
          <a:ln/>
        </p:spPr>
      </p:sp>
      <p:sp>
        <p:nvSpPr>
          <p:cNvPr id="284" name="Text 280"/>
          <p:cNvSpPr txBox="1"/>
          <p:nvPr/>
        </p:nvSpPr>
        <p:spPr>
          <a:xfrm>
            <a:off x="7315200" y="391363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a:t>
            </a:r>
            <a:endParaRPr lang="en-US" sz="1150" dirty="0"/>
          </a:p>
        </p:txBody>
      </p:sp>
      <p:sp>
        <p:nvSpPr>
          <p:cNvPr id="285" name="Text 281"/>
          <p:cNvSpPr txBox="1"/>
          <p:nvPr/>
        </p:nvSpPr>
        <p:spPr>
          <a:xfrm>
            <a:off x="7644384" y="3913632"/>
            <a:ext cx="413583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OUR LTV ÷ CAC BY CHURN AND ACQUISITION COST</a:t>
            </a:r>
            <a:endParaRPr lang="en-US" sz="1200" dirty="0"/>
          </a:p>
        </p:txBody>
      </p:sp>
      <p:sp>
        <p:nvSpPr>
          <p:cNvPr id="286" name="Text 282"/>
          <p:cNvSpPr txBox="1"/>
          <p:nvPr/>
        </p:nvSpPr>
        <p:spPr>
          <a:xfrm>
            <a:off x="7772400" y="41605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1 %</a:t>
            </a:r>
            <a:endParaRPr lang="en-US" sz="900" dirty="0"/>
          </a:p>
        </p:txBody>
      </p:sp>
      <p:sp>
        <p:nvSpPr>
          <p:cNvPr id="287" name="Text 283"/>
          <p:cNvSpPr txBox="1"/>
          <p:nvPr/>
        </p:nvSpPr>
        <p:spPr>
          <a:xfrm>
            <a:off x="8485632" y="41605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2 %</a:t>
            </a:r>
            <a:endParaRPr lang="en-US" sz="900" dirty="0"/>
          </a:p>
        </p:txBody>
      </p:sp>
      <p:sp>
        <p:nvSpPr>
          <p:cNvPr id="288" name="Text 284"/>
          <p:cNvSpPr txBox="1"/>
          <p:nvPr/>
        </p:nvSpPr>
        <p:spPr>
          <a:xfrm>
            <a:off x="9198864" y="41605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3 %</a:t>
            </a:r>
            <a:endParaRPr lang="en-US" sz="900" dirty="0"/>
          </a:p>
        </p:txBody>
      </p:sp>
      <p:sp>
        <p:nvSpPr>
          <p:cNvPr id="289" name="Text 285"/>
          <p:cNvSpPr txBox="1"/>
          <p:nvPr/>
        </p:nvSpPr>
        <p:spPr>
          <a:xfrm>
            <a:off x="9912096" y="41605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4 %</a:t>
            </a:r>
            <a:endParaRPr lang="en-US" sz="900" dirty="0"/>
          </a:p>
        </p:txBody>
      </p:sp>
      <p:sp>
        <p:nvSpPr>
          <p:cNvPr id="290" name="Text 286"/>
          <p:cNvSpPr txBox="1"/>
          <p:nvPr/>
        </p:nvSpPr>
        <p:spPr>
          <a:xfrm>
            <a:off x="10625328" y="4160520"/>
            <a:ext cx="713232" cy="237744"/>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5 %</a:t>
            </a:r>
            <a:endParaRPr lang="en-US" sz="900" dirty="0"/>
          </a:p>
        </p:txBody>
      </p:sp>
      <p:sp>
        <p:nvSpPr>
          <p:cNvPr id="291" name="Text 287"/>
          <p:cNvSpPr txBox="1"/>
          <p:nvPr/>
        </p:nvSpPr>
        <p:spPr>
          <a:xfrm>
            <a:off x="7315200" y="4407408"/>
            <a:ext cx="457200" cy="246888"/>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₹15k</a:t>
            </a:r>
            <a:endParaRPr lang="en-US" sz="900" dirty="0"/>
          </a:p>
        </p:txBody>
      </p:sp>
      <p:sp>
        <p:nvSpPr>
          <p:cNvPr id="292" name="Shape 288"/>
          <p:cNvSpPr/>
          <p:nvPr/>
        </p:nvSpPr>
        <p:spPr>
          <a:xfrm>
            <a:off x="7786116" y="4421124"/>
            <a:ext cx="685800" cy="219456"/>
          </a:xfrm>
          <a:prstGeom prst="rect">
            <a:avLst/>
          </a:prstGeom>
          <a:solidFill>
            <a:srgbClr val="17325C"/>
          </a:solidFill>
          <a:ln/>
        </p:spPr>
      </p:sp>
      <p:sp>
        <p:nvSpPr>
          <p:cNvPr id="293" name="Text 289"/>
          <p:cNvSpPr txBox="1"/>
          <p:nvPr/>
        </p:nvSpPr>
        <p:spPr>
          <a:xfrm>
            <a:off x="7772400" y="4407408"/>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11.0x</a:t>
            </a:r>
            <a:endParaRPr lang="en-US" sz="900" dirty="0"/>
          </a:p>
        </p:txBody>
      </p:sp>
      <p:sp>
        <p:nvSpPr>
          <p:cNvPr id="294" name="Shape 290"/>
          <p:cNvSpPr/>
          <p:nvPr/>
        </p:nvSpPr>
        <p:spPr>
          <a:xfrm>
            <a:off x="8499348" y="4421124"/>
            <a:ext cx="685800" cy="219456"/>
          </a:xfrm>
          <a:prstGeom prst="rect">
            <a:avLst/>
          </a:prstGeom>
          <a:solidFill>
            <a:srgbClr val="274876"/>
          </a:solidFill>
          <a:ln/>
        </p:spPr>
      </p:sp>
      <p:sp>
        <p:nvSpPr>
          <p:cNvPr id="295" name="Text 291"/>
          <p:cNvSpPr txBox="1"/>
          <p:nvPr/>
        </p:nvSpPr>
        <p:spPr>
          <a:xfrm>
            <a:off x="8485632" y="4407408"/>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10.0x</a:t>
            </a:r>
            <a:endParaRPr lang="en-US" sz="900" dirty="0"/>
          </a:p>
        </p:txBody>
      </p:sp>
      <p:sp>
        <p:nvSpPr>
          <p:cNvPr id="296" name="Shape 292"/>
          <p:cNvSpPr/>
          <p:nvPr/>
        </p:nvSpPr>
        <p:spPr>
          <a:xfrm>
            <a:off x="9212580" y="4421124"/>
            <a:ext cx="685800" cy="219456"/>
          </a:xfrm>
          <a:prstGeom prst="rect">
            <a:avLst/>
          </a:prstGeom>
          <a:solidFill>
            <a:srgbClr val="325788"/>
          </a:solidFill>
          <a:ln/>
        </p:spPr>
      </p:sp>
      <p:sp>
        <p:nvSpPr>
          <p:cNvPr id="297" name="Text 293"/>
          <p:cNvSpPr txBox="1"/>
          <p:nvPr/>
        </p:nvSpPr>
        <p:spPr>
          <a:xfrm>
            <a:off x="9198864" y="4407408"/>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9.3x</a:t>
            </a:r>
            <a:endParaRPr lang="en-US" sz="900" dirty="0"/>
          </a:p>
        </p:txBody>
      </p:sp>
      <p:sp>
        <p:nvSpPr>
          <p:cNvPr id="298" name="Shape 294"/>
          <p:cNvSpPr/>
          <p:nvPr/>
        </p:nvSpPr>
        <p:spPr>
          <a:xfrm>
            <a:off x="9925812" y="4421124"/>
            <a:ext cx="685800" cy="219456"/>
          </a:xfrm>
          <a:prstGeom prst="rect">
            <a:avLst/>
          </a:prstGeom>
          <a:solidFill>
            <a:srgbClr val="3F689C"/>
          </a:solidFill>
          <a:ln/>
        </p:spPr>
      </p:sp>
      <p:sp>
        <p:nvSpPr>
          <p:cNvPr id="299" name="Text 295"/>
          <p:cNvSpPr txBox="1"/>
          <p:nvPr/>
        </p:nvSpPr>
        <p:spPr>
          <a:xfrm>
            <a:off x="9912096" y="4407408"/>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8.5x</a:t>
            </a:r>
            <a:endParaRPr lang="en-US" sz="900" dirty="0"/>
          </a:p>
        </p:txBody>
      </p:sp>
      <p:sp>
        <p:nvSpPr>
          <p:cNvPr id="300" name="Shape 296"/>
          <p:cNvSpPr/>
          <p:nvPr/>
        </p:nvSpPr>
        <p:spPr>
          <a:xfrm>
            <a:off x="10639044" y="4421124"/>
            <a:ext cx="685800" cy="219456"/>
          </a:xfrm>
          <a:prstGeom prst="rect">
            <a:avLst/>
          </a:prstGeom>
          <a:solidFill>
            <a:srgbClr val="4A77AE"/>
          </a:solidFill>
          <a:ln/>
        </p:spPr>
      </p:sp>
      <p:sp>
        <p:nvSpPr>
          <p:cNvPr id="301" name="Text 297"/>
          <p:cNvSpPr txBox="1"/>
          <p:nvPr/>
        </p:nvSpPr>
        <p:spPr>
          <a:xfrm>
            <a:off x="10625328" y="4407408"/>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7.8x</a:t>
            </a:r>
            <a:endParaRPr lang="en-US" sz="900" dirty="0"/>
          </a:p>
        </p:txBody>
      </p:sp>
      <p:sp>
        <p:nvSpPr>
          <p:cNvPr id="302" name="Text 298"/>
          <p:cNvSpPr txBox="1"/>
          <p:nvPr/>
        </p:nvSpPr>
        <p:spPr>
          <a:xfrm>
            <a:off x="7315200" y="4654296"/>
            <a:ext cx="457200" cy="246888"/>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₹25k</a:t>
            </a:r>
            <a:endParaRPr lang="en-US" sz="900" dirty="0"/>
          </a:p>
        </p:txBody>
      </p:sp>
      <p:sp>
        <p:nvSpPr>
          <p:cNvPr id="303" name="Shape 299"/>
          <p:cNvSpPr/>
          <p:nvPr/>
        </p:nvSpPr>
        <p:spPr>
          <a:xfrm>
            <a:off x="7786116" y="4668012"/>
            <a:ext cx="685800" cy="219456"/>
          </a:xfrm>
          <a:prstGeom prst="rect">
            <a:avLst/>
          </a:prstGeom>
          <a:solidFill>
            <a:srgbClr val="598AC6"/>
          </a:solidFill>
          <a:ln/>
        </p:spPr>
      </p:sp>
      <p:sp>
        <p:nvSpPr>
          <p:cNvPr id="304" name="Text 300"/>
          <p:cNvSpPr txBox="1"/>
          <p:nvPr/>
        </p:nvSpPr>
        <p:spPr>
          <a:xfrm>
            <a:off x="7772400" y="4654296"/>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6.9x</a:t>
            </a:r>
            <a:endParaRPr lang="en-US" sz="900" dirty="0"/>
          </a:p>
        </p:txBody>
      </p:sp>
      <p:sp>
        <p:nvSpPr>
          <p:cNvPr id="305" name="Shape 301"/>
          <p:cNvSpPr/>
          <p:nvPr/>
        </p:nvSpPr>
        <p:spPr>
          <a:xfrm>
            <a:off x="8499348" y="4668012"/>
            <a:ext cx="685800" cy="219456"/>
          </a:xfrm>
          <a:prstGeom prst="rect">
            <a:avLst/>
          </a:prstGeom>
          <a:solidFill>
            <a:srgbClr val="6B98CE"/>
          </a:solidFill>
          <a:ln/>
        </p:spPr>
      </p:sp>
      <p:sp>
        <p:nvSpPr>
          <p:cNvPr id="306" name="Text 302"/>
          <p:cNvSpPr txBox="1"/>
          <p:nvPr/>
        </p:nvSpPr>
        <p:spPr>
          <a:xfrm>
            <a:off x="8485632" y="4654296"/>
            <a:ext cx="713232" cy="24688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6.2x</a:t>
            </a:r>
            <a:endParaRPr lang="en-US" sz="900" dirty="0"/>
          </a:p>
        </p:txBody>
      </p:sp>
      <p:sp>
        <p:nvSpPr>
          <p:cNvPr id="307" name="Shape 303"/>
          <p:cNvSpPr/>
          <p:nvPr/>
        </p:nvSpPr>
        <p:spPr>
          <a:xfrm>
            <a:off x="9212580" y="4668012"/>
            <a:ext cx="685800" cy="219456"/>
          </a:xfrm>
          <a:prstGeom prst="rect">
            <a:avLst/>
          </a:prstGeom>
          <a:solidFill>
            <a:srgbClr val="7CA4D4"/>
          </a:solidFill>
          <a:ln/>
        </p:spPr>
      </p:sp>
      <p:sp>
        <p:nvSpPr>
          <p:cNvPr id="308" name="Text 304"/>
          <p:cNvSpPr txBox="1"/>
          <p:nvPr/>
        </p:nvSpPr>
        <p:spPr>
          <a:xfrm>
            <a:off x="9198864" y="4654296"/>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5.6x</a:t>
            </a:r>
            <a:endParaRPr lang="en-US" sz="900" dirty="0"/>
          </a:p>
        </p:txBody>
      </p:sp>
      <p:sp>
        <p:nvSpPr>
          <p:cNvPr id="309" name="Shape 305"/>
          <p:cNvSpPr/>
          <p:nvPr/>
        </p:nvSpPr>
        <p:spPr>
          <a:xfrm>
            <a:off x="9925812" y="4668012"/>
            <a:ext cx="685800" cy="219456"/>
          </a:xfrm>
          <a:prstGeom prst="rect">
            <a:avLst/>
          </a:prstGeom>
          <a:solidFill>
            <a:srgbClr val="8AAED9"/>
          </a:solidFill>
          <a:ln/>
        </p:spPr>
      </p:sp>
      <p:sp>
        <p:nvSpPr>
          <p:cNvPr id="310" name="Text 306"/>
          <p:cNvSpPr txBox="1"/>
          <p:nvPr/>
        </p:nvSpPr>
        <p:spPr>
          <a:xfrm>
            <a:off x="9912096" y="4654296"/>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5.1x</a:t>
            </a:r>
            <a:endParaRPr lang="en-US" sz="900" dirty="0"/>
          </a:p>
        </p:txBody>
      </p:sp>
      <p:sp>
        <p:nvSpPr>
          <p:cNvPr id="311" name="Shape 307"/>
          <p:cNvSpPr/>
          <p:nvPr/>
        </p:nvSpPr>
        <p:spPr>
          <a:xfrm>
            <a:off x="10639044" y="4668012"/>
            <a:ext cx="685800" cy="219456"/>
          </a:xfrm>
          <a:prstGeom prst="rect">
            <a:avLst/>
          </a:prstGeom>
          <a:solidFill>
            <a:srgbClr val="95B5DD"/>
          </a:solidFill>
          <a:ln/>
        </p:spPr>
      </p:sp>
      <p:sp>
        <p:nvSpPr>
          <p:cNvPr id="312" name="Text 308"/>
          <p:cNvSpPr txBox="1"/>
          <p:nvPr/>
        </p:nvSpPr>
        <p:spPr>
          <a:xfrm>
            <a:off x="10625328" y="4654296"/>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4.7x</a:t>
            </a:r>
            <a:endParaRPr lang="en-US" sz="900" dirty="0"/>
          </a:p>
        </p:txBody>
      </p:sp>
      <p:sp>
        <p:nvSpPr>
          <p:cNvPr id="313" name="Text 309"/>
          <p:cNvSpPr txBox="1"/>
          <p:nvPr/>
        </p:nvSpPr>
        <p:spPr>
          <a:xfrm>
            <a:off x="7315200" y="4901184"/>
            <a:ext cx="457200" cy="246888"/>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₹35k</a:t>
            </a:r>
            <a:endParaRPr lang="en-US" sz="900" dirty="0"/>
          </a:p>
        </p:txBody>
      </p:sp>
      <p:sp>
        <p:nvSpPr>
          <p:cNvPr id="314" name="Shape 310"/>
          <p:cNvSpPr/>
          <p:nvPr/>
        </p:nvSpPr>
        <p:spPr>
          <a:xfrm>
            <a:off x="7786116" y="4914900"/>
            <a:ext cx="685800" cy="219456"/>
          </a:xfrm>
          <a:prstGeom prst="rect">
            <a:avLst/>
          </a:prstGeom>
          <a:solidFill>
            <a:srgbClr val="8FB2DB"/>
          </a:solidFill>
          <a:ln/>
        </p:spPr>
      </p:sp>
      <p:sp>
        <p:nvSpPr>
          <p:cNvPr id="315" name="Text 311"/>
          <p:cNvSpPr txBox="1"/>
          <p:nvPr/>
        </p:nvSpPr>
        <p:spPr>
          <a:xfrm>
            <a:off x="7772400" y="4901184"/>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4.9x</a:t>
            </a:r>
            <a:endParaRPr lang="en-US" sz="900" dirty="0"/>
          </a:p>
        </p:txBody>
      </p:sp>
      <p:sp>
        <p:nvSpPr>
          <p:cNvPr id="316" name="Shape 312"/>
          <p:cNvSpPr/>
          <p:nvPr/>
        </p:nvSpPr>
        <p:spPr>
          <a:xfrm>
            <a:off x="8499348" y="4914900"/>
            <a:ext cx="685800" cy="219456"/>
          </a:xfrm>
          <a:prstGeom prst="rect">
            <a:avLst/>
          </a:prstGeom>
          <a:solidFill>
            <a:srgbClr val="9DBBDF"/>
          </a:solidFill>
          <a:ln/>
        </p:spPr>
      </p:sp>
      <p:sp>
        <p:nvSpPr>
          <p:cNvPr id="317" name="Text 313"/>
          <p:cNvSpPr txBox="1"/>
          <p:nvPr/>
        </p:nvSpPr>
        <p:spPr>
          <a:xfrm>
            <a:off x="8485632" y="4901184"/>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4.4x</a:t>
            </a:r>
            <a:endParaRPr lang="en-US" sz="900" dirty="0"/>
          </a:p>
        </p:txBody>
      </p:sp>
      <p:sp>
        <p:nvSpPr>
          <p:cNvPr id="318" name="Shape 314"/>
          <p:cNvSpPr/>
          <p:nvPr/>
        </p:nvSpPr>
        <p:spPr>
          <a:xfrm>
            <a:off x="9212580" y="4914900"/>
            <a:ext cx="685800" cy="219456"/>
          </a:xfrm>
          <a:prstGeom prst="rect">
            <a:avLst/>
          </a:prstGeom>
          <a:solidFill>
            <a:srgbClr val="A9C3E3"/>
          </a:solidFill>
          <a:ln/>
        </p:spPr>
      </p:sp>
      <p:sp>
        <p:nvSpPr>
          <p:cNvPr id="319" name="Text 315"/>
          <p:cNvSpPr txBox="1"/>
          <p:nvPr/>
        </p:nvSpPr>
        <p:spPr>
          <a:xfrm>
            <a:off x="9198864" y="4901184"/>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4.0x</a:t>
            </a:r>
            <a:endParaRPr lang="en-US" sz="900" dirty="0"/>
          </a:p>
        </p:txBody>
      </p:sp>
      <p:sp>
        <p:nvSpPr>
          <p:cNvPr id="320" name="Shape 316"/>
          <p:cNvSpPr/>
          <p:nvPr/>
        </p:nvSpPr>
        <p:spPr>
          <a:xfrm>
            <a:off x="9925812" y="4914900"/>
            <a:ext cx="685800" cy="219456"/>
          </a:xfrm>
          <a:prstGeom prst="rect">
            <a:avLst/>
          </a:prstGeom>
          <a:solidFill>
            <a:srgbClr val="B4CBE7"/>
          </a:solidFill>
          <a:ln/>
        </p:spPr>
      </p:sp>
      <p:sp>
        <p:nvSpPr>
          <p:cNvPr id="321" name="Text 317"/>
          <p:cNvSpPr txBox="1"/>
          <p:nvPr/>
        </p:nvSpPr>
        <p:spPr>
          <a:xfrm>
            <a:off x="9912096" y="4901184"/>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3.6x</a:t>
            </a:r>
            <a:endParaRPr lang="en-US" sz="900" dirty="0"/>
          </a:p>
        </p:txBody>
      </p:sp>
      <p:sp>
        <p:nvSpPr>
          <p:cNvPr id="322" name="Shape 318"/>
          <p:cNvSpPr/>
          <p:nvPr/>
        </p:nvSpPr>
        <p:spPr>
          <a:xfrm>
            <a:off x="10639044" y="4914900"/>
            <a:ext cx="685800" cy="219456"/>
          </a:xfrm>
          <a:prstGeom prst="rect">
            <a:avLst/>
          </a:prstGeom>
          <a:solidFill>
            <a:srgbClr val="BCD1EA"/>
          </a:solidFill>
          <a:ln/>
        </p:spPr>
      </p:sp>
      <p:sp>
        <p:nvSpPr>
          <p:cNvPr id="323" name="Text 319"/>
          <p:cNvSpPr txBox="1"/>
          <p:nvPr/>
        </p:nvSpPr>
        <p:spPr>
          <a:xfrm>
            <a:off x="10625328" y="4901184"/>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3.3x</a:t>
            </a:r>
            <a:endParaRPr lang="en-US" sz="900" dirty="0"/>
          </a:p>
        </p:txBody>
      </p:sp>
      <p:sp>
        <p:nvSpPr>
          <p:cNvPr id="324" name="Text 320"/>
          <p:cNvSpPr txBox="1"/>
          <p:nvPr/>
        </p:nvSpPr>
        <p:spPr>
          <a:xfrm>
            <a:off x="7315200" y="5148072"/>
            <a:ext cx="457200" cy="246888"/>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₹50k</a:t>
            </a:r>
            <a:endParaRPr lang="en-US" sz="900" dirty="0"/>
          </a:p>
        </p:txBody>
      </p:sp>
      <p:sp>
        <p:nvSpPr>
          <p:cNvPr id="325" name="Shape 321"/>
          <p:cNvSpPr/>
          <p:nvPr/>
        </p:nvSpPr>
        <p:spPr>
          <a:xfrm>
            <a:off x="7786116" y="5161788"/>
            <a:ext cx="685800" cy="219456"/>
          </a:xfrm>
          <a:prstGeom prst="rect">
            <a:avLst/>
          </a:prstGeom>
          <a:solidFill>
            <a:srgbClr val="BACFE9"/>
          </a:solidFill>
          <a:ln/>
        </p:spPr>
      </p:sp>
      <p:sp>
        <p:nvSpPr>
          <p:cNvPr id="326" name="Text 322"/>
          <p:cNvSpPr txBox="1"/>
          <p:nvPr/>
        </p:nvSpPr>
        <p:spPr>
          <a:xfrm>
            <a:off x="7772400" y="5148072"/>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3.4x</a:t>
            </a:r>
            <a:endParaRPr lang="en-US" sz="900" dirty="0"/>
          </a:p>
        </p:txBody>
      </p:sp>
      <p:sp>
        <p:nvSpPr>
          <p:cNvPr id="327" name="Shape 323"/>
          <p:cNvSpPr/>
          <p:nvPr/>
        </p:nvSpPr>
        <p:spPr>
          <a:xfrm>
            <a:off x="8499348" y="5161788"/>
            <a:ext cx="685800" cy="219456"/>
          </a:xfrm>
          <a:prstGeom prst="rect">
            <a:avLst/>
          </a:prstGeom>
          <a:solidFill>
            <a:srgbClr val="C2D5EC"/>
          </a:solidFill>
          <a:ln/>
        </p:spPr>
      </p:sp>
      <p:sp>
        <p:nvSpPr>
          <p:cNvPr id="328" name="Text 324"/>
          <p:cNvSpPr txBox="1"/>
          <p:nvPr/>
        </p:nvSpPr>
        <p:spPr>
          <a:xfrm>
            <a:off x="8485632" y="5148072"/>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3.1x</a:t>
            </a:r>
            <a:endParaRPr lang="en-US" sz="900" dirty="0"/>
          </a:p>
        </p:txBody>
      </p:sp>
      <p:sp>
        <p:nvSpPr>
          <p:cNvPr id="329" name="Shape 325"/>
          <p:cNvSpPr/>
          <p:nvPr/>
        </p:nvSpPr>
        <p:spPr>
          <a:xfrm>
            <a:off x="9212580" y="5161788"/>
            <a:ext cx="685800" cy="219456"/>
          </a:xfrm>
          <a:prstGeom prst="rect">
            <a:avLst/>
          </a:prstGeom>
          <a:solidFill>
            <a:srgbClr val="CADBEF"/>
          </a:solidFill>
          <a:ln/>
        </p:spPr>
      </p:sp>
      <p:sp>
        <p:nvSpPr>
          <p:cNvPr id="330" name="Text 326"/>
          <p:cNvSpPr txBox="1"/>
          <p:nvPr/>
        </p:nvSpPr>
        <p:spPr>
          <a:xfrm>
            <a:off x="9198864" y="5148072"/>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2.8x</a:t>
            </a:r>
            <a:endParaRPr lang="en-US" sz="900" dirty="0"/>
          </a:p>
        </p:txBody>
      </p:sp>
      <p:sp>
        <p:nvSpPr>
          <p:cNvPr id="331" name="Shape 327"/>
          <p:cNvSpPr/>
          <p:nvPr/>
        </p:nvSpPr>
        <p:spPr>
          <a:xfrm>
            <a:off x="9925812" y="5161788"/>
            <a:ext cx="685800" cy="219456"/>
          </a:xfrm>
          <a:prstGeom prst="rect">
            <a:avLst/>
          </a:prstGeom>
          <a:solidFill>
            <a:srgbClr val="D3E0F1"/>
          </a:solidFill>
          <a:ln/>
        </p:spPr>
      </p:sp>
      <p:sp>
        <p:nvSpPr>
          <p:cNvPr id="332" name="Text 328"/>
          <p:cNvSpPr txBox="1"/>
          <p:nvPr/>
        </p:nvSpPr>
        <p:spPr>
          <a:xfrm>
            <a:off x="9912096" y="5148072"/>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2.5x</a:t>
            </a:r>
            <a:endParaRPr lang="en-US" sz="900" dirty="0"/>
          </a:p>
        </p:txBody>
      </p:sp>
      <p:sp>
        <p:nvSpPr>
          <p:cNvPr id="333" name="Shape 329"/>
          <p:cNvSpPr/>
          <p:nvPr/>
        </p:nvSpPr>
        <p:spPr>
          <a:xfrm>
            <a:off x="10639044" y="5161788"/>
            <a:ext cx="685800" cy="219456"/>
          </a:xfrm>
          <a:prstGeom prst="rect">
            <a:avLst/>
          </a:prstGeom>
          <a:solidFill>
            <a:srgbClr val="D8E4F3"/>
          </a:solidFill>
          <a:ln/>
        </p:spPr>
      </p:sp>
      <p:sp>
        <p:nvSpPr>
          <p:cNvPr id="334" name="Text 330"/>
          <p:cNvSpPr txBox="1"/>
          <p:nvPr/>
        </p:nvSpPr>
        <p:spPr>
          <a:xfrm>
            <a:off x="10625328" y="5148072"/>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2.3x</a:t>
            </a:r>
            <a:endParaRPr lang="en-US" sz="900" dirty="0"/>
          </a:p>
        </p:txBody>
      </p:sp>
      <p:sp>
        <p:nvSpPr>
          <p:cNvPr id="335" name="Text 331"/>
          <p:cNvSpPr txBox="1"/>
          <p:nvPr/>
        </p:nvSpPr>
        <p:spPr>
          <a:xfrm>
            <a:off x="7315200" y="5394960"/>
            <a:ext cx="457200" cy="246888"/>
          </a:xfrm>
          <a:prstGeom prst="rect">
            <a:avLst/>
          </a:prstGeom>
          <a:noFill/>
          <a:ln/>
        </p:spPr>
        <p:txBody>
          <a:bodyPr wrap="square" lIns="0" tIns="0" rIns="0" bIns="0" rtlCol="0" anchor="ctr"/>
          <a:lstStyle/>
          <a:p>
            <a:pPr algn="l" indent="0" marL="0">
              <a:buNone/>
            </a:pPr>
            <a:r>
              <a:rPr lang="en-US" sz="900" b="1" dirty="0">
                <a:solidFill>
                  <a:srgbClr val="5B6573"/>
                </a:solidFill>
                <a:latin typeface="Calibri" pitchFamily="34" charset="0"/>
                <a:ea typeface="Calibri" pitchFamily="34" charset="-122"/>
                <a:cs typeface="Calibri" pitchFamily="34" charset="-120"/>
              </a:rPr>
              <a:t>₹75k</a:t>
            </a:r>
            <a:endParaRPr lang="en-US" sz="900" dirty="0"/>
          </a:p>
        </p:txBody>
      </p:sp>
      <p:sp>
        <p:nvSpPr>
          <p:cNvPr id="336" name="Shape 332"/>
          <p:cNvSpPr/>
          <p:nvPr/>
        </p:nvSpPr>
        <p:spPr>
          <a:xfrm>
            <a:off x="7786116" y="5408676"/>
            <a:ext cx="685800" cy="219456"/>
          </a:xfrm>
          <a:prstGeom prst="rect">
            <a:avLst/>
          </a:prstGeom>
          <a:solidFill>
            <a:srgbClr val="D8E4F3"/>
          </a:solidFill>
          <a:ln/>
        </p:spPr>
      </p:sp>
      <p:sp>
        <p:nvSpPr>
          <p:cNvPr id="337" name="Text 333"/>
          <p:cNvSpPr txBox="1"/>
          <p:nvPr/>
        </p:nvSpPr>
        <p:spPr>
          <a:xfrm>
            <a:off x="7772400" y="5394960"/>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2.3x</a:t>
            </a:r>
            <a:endParaRPr lang="en-US" sz="900" dirty="0"/>
          </a:p>
        </p:txBody>
      </p:sp>
      <p:sp>
        <p:nvSpPr>
          <p:cNvPr id="338" name="Shape 334"/>
          <p:cNvSpPr/>
          <p:nvPr/>
        </p:nvSpPr>
        <p:spPr>
          <a:xfrm>
            <a:off x="8499348" y="5408676"/>
            <a:ext cx="685800" cy="219456"/>
          </a:xfrm>
          <a:prstGeom prst="rect">
            <a:avLst/>
          </a:prstGeom>
          <a:solidFill>
            <a:srgbClr val="DEE8F5"/>
          </a:solidFill>
          <a:ln/>
        </p:spPr>
      </p:sp>
      <p:sp>
        <p:nvSpPr>
          <p:cNvPr id="339" name="Text 335"/>
          <p:cNvSpPr txBox="1"/>
          <p:nvPr/>
        </p:nvSpPr>
        <p:spPr>
          <a:xfrm>
            <a:off x="8485632" y="5394960"/>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2.1x</a:t>
            </a:r>
            <a:endParaRPr lang="en-US" sz="900" dirty="0"/>
          </a:p>
        </p:txBody>
      </p:sp>
      <p:sp>
        <p:nvSpPr>
          <p:cNvPr id="340" name="Shape 336"/>
          <p:cNvSpPr/>
          <p:nvPr/>
        </p:nvSpPr>
        <p:spPr>
          <a:xfrm>
            <a:off x="9212580" y="5408676"/>
            <a:ext cx="685800" cy="219456"/>
          </a:xfrm>
          <a:prstGeom prst="rect">
            <a:avLst/>
          </a:prstGeom>
          <a:solidFill>
            <a:srgbClr val="E4ECF7"/>
          </a:solidFill>
          <a:ln/>
        </p:spPr>
      </p:sp>
      <p:sp>
        <p:nvSpPr>
          <p:cNvPr id="341" name="Text 337"/>
          <p:cNvSpPr txBox="1"/>
          <p:nvPr/>
        </p:nvSpPr>
        <p:spPr>
          <a:xfrm>
            <a:off x="9198864" y="5394960"/>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1.9x</a:t>
            </a:r>
            <a:endParaRPr lang="en-US" sz="900" dirty="0"/>
          </a:p>
        </p:txBody>
      </p:sp>
      <p:sp>
        <p:nvSpPr>
          <p:cNvPr id="342" name="Shape 338"/>
          <p:cNvSpPr/>
          <p:nvPr/>
        </p:nvSpPr>
        <p:spPr>
          <a:xfrm>
            <a:off x="9925812" y="5408676"/>
            <a:ext cx="685800" cy="219456"/>
          </a:xfrm>
          <a:prstGeom prst="rect">
            <a:avLst/>
          </a:prstGeom>
          <a:solidFill>
            <a:srgbClr val="E9F0F9"/>
          </a:solidFill>
          <a:ln/>
        </p:spPr>
      </p:sp>
      <p:sp>
        <p:nvSpPr>
          <p:cNvPr id="343" name="Text 339"/>
          <p:cNvSpPr txBox="1"/>
          <p:nvPr/>
        </p:nvSpPr>
        <p:spPr>
          <a:xfrm>
            <a:off x="9912096" y="5394960"/>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1.7x</a:t>
            </a:r>
            <a:endParaRPr lang="en-US" sz="900" dirty="0"/>
          </a:p>
        </p:txBody>
      </p:sp>
      <p:sp>
        <p:nvSpPr>
          <p:cNvPr id="344" name="Shape 340"/>
          <p:cNvSpPr/>
          <p:nvPr/>
        </p:nvSpPr>
        <p:spPr>
          <a:xfrm>
            <a:off x="10639044" y="5408676"/>
            <a:ext cx="685800" cy="219456"/>
          </a:xfrm>
          <a:prstGeom prst="rect">
            <a:avLst/>
          </a:prstGeom>
          <a:solidFill>
            <a:srgbClr val="ECF2FA"/>
          </a:solidFill>
          <a:ln/>
        </p:spPr>
      </p:sp>
      <p:sp>
        <p:nvSpPr>
          <p:cNvPr id="345" name="Text 341"/>
          <p:cNvSpPr txBox="1"/>
          <p:nvPr/>
        </p:nvSpPr>
        <p:spPr>
          <a:xfrm>
            <a:off x="10625328" y="5394960"/>
            <a:ext cx="713232" cy="246888"/>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1.6x</a:t>
            </a:r>
            <a:endParaRPr lang="en-US" sz="900" dirty="0"/>
          </a:p>
        </p:txBody>
      </p:sp>
      <p:sp>
        <p:nvSpPr>
          <p:cNvPr id="346" name="Text 342"/>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financial model v1.1 (Scenarios, Sensitivity). Model output from sourced and assumed inputs, not measured. Base marker on the churn grid is about ₹38k acquisition cost at 3 % churn.</a:t>
            </a:r>
            <a:endParaRPr lang="en-US" sz="850" dirty="0"/>
          </a:p>
        </p:txBody>
      </p:sp>
      <p:pic>
        <p:nvPicPr>
          <p:cNvPr id="347"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348"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349"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350"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351"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352"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353"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timeline">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2: THREE-YEAR PLAN AND SEGMENTS</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A three-year plan capped by the market, and how size changes the economics</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70432"/>
            <a:ext cx="256032" cy="256032"/>
          </a:xfrm>
          <a:prstGeom prst="rect">
            <a:avLst/>
          </a:prstGeom>
          <a:solidFill>
            <a:srgbClr val="1F4A82"/>
          </a:solidFill>
          <a:ln/>
        </p:spPr>
      </p:sp>
      <p:sp>
        <p:nvSpPr>
          <p:cNvPr id="26" name="Text 22"/>
          <p:cNvSpPr txBox="1"/>
          <p:nvPr/>
        </p:nvSpPr>
        <p:spPr>
          <a:xfrm>
            <a:off x="411480" y="117043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a:t>
            </a:r>
            <a:endParaRPr lang="en-US" sz="1150" dirty="0"/>
          </a:p>
        </p:txBody>
      </p:sp>
      <p:sp>
        <p:nvSpPr>
          <p:cNvPr id="27" name="Text 23"/>
          <p:cNvSpPr txBox="1"/>
          <p:nvPr/>
        </p:nvSpPr>
        <p:spPr>
          <a:xfrm>
            <a:off x="740664" y="1170432"/>
            <a:ext cx="543153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THREE-YEAR PROJECTION (₹)</a:t>
            </a:r>
            <a:endParaRPr lang="en-US" sz="1200" dirty="0"/>
          </a:p>
        </p:txBody>
      </p:sp>
      <p:sp>
        <p:nvSpPr>
          <p:cNvPr id="28" name="Shape 24"/>
          <p:cNvSpPr/>
          <p:nvPr/>
        </p:nvSpPr>
        <p:spPr>
          <a:xfrm>
            <a:off x="411480" y="1481328"/>
            <a:ext cx="2377440" cy="274320"/>
          </a:xfrm>
          <a:prstGeom prst="rect">
            <a:avLst/>
          </a:prstGeom>
          <a:solidFill>
            <a:srgbClr val="1F4A82"/>
          </a:solidFill>
          <a:ln/>
        </p:spPr>
      </p:sp>
      <p:sp>
        <p:nvSpPr>
          <p:cNvPr id="29" name="Text 25"/>
          <p:cNvSpPr txBox="1"/>
          <p:nvPr/>
        </p:nvSpPr>
        <p:spPr>
          <a:xfrm>
            <a:off x="457200" y="1481328"/>
            <a:ext cx="2286000" cy="274320"/>
          </a:xfrm>
          <a:prstGeom prst="rect">
            <a:avLst/>
          </a:prstGeom>
          <a:noFill/>
          <a:ln/>
        </p:spPr>
        <p:txBody>
          <a:bodyPr wrap="square" lIns="0" tIns="0" rIns="0" bIns="0" rtlCol="0" anchor="ctr"/>
          <a:lstStyle/>
          <a:p>
            <a:pPr algn="l" indent="0" marL="0">
              <a:buNone/>
            </a:pPr>
            <a:endParaRPr lang="en-US" sz="1000" dirty="0"/>
          </a:p>
        </p:txBody>
      </p:sp>
      <p:sp>
        <p:nvSpPr>
          <p:cNvPr id="30" name="Shape 26"/>
          <p:cNvSpPr/>
          <p:nvPr/>
        </p:nvSpPr>
        <p:spPr>
          <a:xfrm>
            <a:off x="2788920" y="1481328"/>
            <a:ext cx="1097280" cy="274320"/>
          </a:xfrm>
          <a:prstGeom prst="rect">
            <a:avLst/>
          </a:prstGeom>
          <a:solidFill>
            <a:srgbClr val="5B6573"/>
          </a:solidFill>
          <a:ln/>
        </p:spPr>
      </p:sp>
      <p:sp>
        <p:nvSpPr>
          <p:cNvPr id="31" name="Text 27"/>
          <p:cNvSpPr txBox="1"/>
          <p:nvPr/>
        </p:nvSpPr>
        <p:spPr>
          <a:xfrm>
            <a:off x="2834640" y="1481328"/>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Bear</a:t>
            </a:r>
            <a:endParaRPr lang="en-US" sz="1000" dirty="0"/>
          </a:p>
        </p:txBody>
      </p:sp>
      <p:sp>
        <p:nvSpPr>
          <p:cNvPr id="32" name="Shape 28"/>
          <p:cNvSpPr/>
          <p:nvPr/>
        </p:nvSpPr>
        <p:spPr>
          <a:xfrm>
            <a:off x="3886200" y="1481328"/>
            <a:ext cx="1188720" cy="274320"/>
          </a:xfrm>
          <a:prstGeom prst="rect">
            <a:avLst/>
          </a:prstGeom>
          <a:solidFill>
            <a:srgbClr val="1F4A82"/>
          </a:solidFill>
          <a:ln/>
        </p:spPr>
      </p:sp>
      <p:sp>
        <p:nvSpPr>
          <p:cNvPr id="33" name="Text 29"/>
          <p:cNvSpPr txBox="1"/>
          <p:nvPr/>
        </p:nvSpPr>
        <p:spPr>
          <a:xfrm>
            <a:off x="3931920" y="14813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Base</a:t>
            </a:r>
            <a:endParaRPr lang="en-US" sz="1000" dirty="0"/>
          </a:p>
        </p:txBody>
      </p:sp>
      <p:sp>
        <p:nvSpPr>
          <p:cNvPr id="34" name="Shape 30"/>
          <p:cNvSpPr/>
          <p:nvPr/>
        </p:nvSpPr>
        <p:spPr>
          <a:xfrm>
            <a:off x="5074920" y="1481328"/>
            <a:ext cx="1097280" cy="274320"/>
          </a:xfrm>
          <a:prstGeom prst="rect">
            <a:avLst/>
          </a:prstGeom>
          <a:solidFill>
            <a:srgbClr val="5B6573"/>
          </a:solidFill>
          <a:ln/>
        </p:spPr>
      </p:sp>
      <p:sp>
        <p:nvSpPr>
          <p:cNvPr id="35" name="Text 31"/>
          <p:cNvSpPr txBox="1"/>
          <p:nvPr/>
        </p:nvSpPr>
        <p:spPr>
          <a:xfrm>
            <a:off x="5120640" y="1481328"/>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Bull</a:t>
            </a:r>
            <a:endParaRPr lang="en-US" sz="1000" dirty="0"/>
          </a:p>
        </p:txBody>
      </p:sp>
      <p:sp>
        <p:nvSpPr>
          <p:cNvPr id="36" name="Shape 32"/>
          <p:cNvSpPr/>
          <p:nvPr/>
        </p:nvSpPr>
        <p:spPr>
          <a:xfrm>
            <a:off x="411480" y="1755648"/>
            <a:ext cx="2377440" cy="347472"/>
          </a:xfrm>
          <a:prstGeom prst="rect">
            <a:avLst/>
          </a:prstGeom>
          <a:solidFill>
            <a:srgbClr val="F1F7F3"/>
          </a:solidFill>
          <a:ln/>
        </p:spPr>
      </p:sp>
      <p:sp>
        <p:nvSpPr>
          <p:cNvPr id="37" name="Text 33"/>
          <p:cNvSpPr txBox="1"/>
          <p:nvPr/>
        </p:nvSpPr>
        <p:spPr>
          <a:xfrm>
            <a:off x="457200" y="1755648"/>
            <a:ext cx="2286000" cy="347472"/>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Revenue in year 3</a:t>
            </a:r>
            <a:endParaRPr lang="en-US" sz="1000" dirty="0"/>
          </a:p>
        </p:txBody>
      </p:sp>
      <p:sp>
        <p:nvSpPr>
          <p:cNvPr id="38" name="Shape 34"/>
          <p:cNvSpPr/>
          <p:nvPr/>
        </p:nvSpPr>
        <p:spPr>
          <a:xfrm>
            <a:off x="2788920" y="1755648"/>
            <a:ext cx="1097280" cy="347472"/>
          </a:xfrm>
          <a:prstGeom prst="rect">
            <a:avLst/>
          </a:prstGeom>
          <a:solidFill>
            <a:srgbClr val="F1F7F3"/>
          </a:solidFill>
          <a:ln/>
        </p:spPr>
      </p:sp>
      <p:sp>
        <p:nvSpPr>
          <p:cNvPr id="39" name="Text 35"/>
          <p:cNvSpPr txBox="1"/>
          <p:nvPr/>
        </p:nvSpPr>
        <p:spPr>
          <a:xfrm>
            <a:off x="2834640" y="1755648"/>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₹11.0 L</a:t>
            </a:r>
            <a:endParaRPr lang="en-US" sz="1000" dirty="0"/>
          </a:p>
        </p:txBody>
      </p:sp>
      <p:sp>
        <p:nvSpPr>
          <p:cNvPr id="40" name="Shape 36"/>
          <p:cNvSpPr/>
          <p:nvPr/>
        </p:nvSpPr>
        <p:spPr>
          <a:xfrm>
            <a:off x="3886200" y="1755648"/>
            <a:ext cx="1188720" cy="347472"/>
          </a:xfrm>
          <a:prstGeom prst="rect">
            <a:avLst/>
          </a:prstGeom>
          <a:solidFill>
            <a:srgbClr val="D6E4F5"/>
          </a:solidFill>
          <a:ln/>
        </p:spPr>
      </p:sp>
      <p:sp>
        <p:nvSpPr>
          <p:cNvPr id="41" name="Text 37"/>
          <p:cNvSpPr txBox="1"/>
          <p:nvPr/>
        </p:nvSpPr>
        <p:spPr>
          <a:xfrm>
            <a:off x="3931920" y="1755648"/>
            <a:ext cx="1097280" cy="347472"/>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₹65.3 L</a:t>
            </a:r>
            <a:endParaRPr lang="en-US" sz="1000" dirty="0"/>
          </a:p>
        </p:txBody>
      </p:sp>
      <p:sp>
        <p:nvSpPr>
          <p:cNvPr id="42" name="Shape 38"/>
          <p:cNvSpPr/>
          <p:nvPr/>
        </p:nvSpPr>
        <p:spPr>
          <a:xfrm>
            <a:off x="5074920" y="1755648"/>
            <a:ext cx="1097280" cy="347472"/>
          </a:xfrm>
          <a:prstGeom prst="rect">
            <a:avLst/>
          </a:prstGeom>
          <a:solidFill>
            <a:srgbClr val="F1F7F3"/>
          </a:solidFill>
          <a:ln/>
        </p:spPr>
      </p:sp>
      <p:sp>
        <p:nvSpPr>
          <p:cNvPr id="43" name="Text 39"/>
          <p:cNvSpPr txBox="1"/>
          <p:nvPr/>
        </p:nvSpPr>
        <p:spPr>
          <a:xfrm>
            <a:off x="5120640" y="1755648"/>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₹2.50 Cr</a:t>
            </a:r>
            <a:endParaRPr lang="en-US" sz="1000" dirty="0"/>
          </a:p>
        </p:txBody>
      </p:sp>
      <p:sp>
        <p:nvSpPr>
          <p:cNvPr id="44" name="Shape 40"/>
          <p:cNvSpPr/>
          <p:nvPr/>
        </p:nvSpPr>
        <p:spPr>
          <a:xfrm>
            <a:off x="411480" y="2103120"/>
            <a:ext cx="5760720" cy="0"/>
          </a:xfrm>
          <a:prstGeom prst="line">
            <a:avLst/>
          </a:prstGeom>
          <a:noFill/>
          <a:ln w="6350">
            <a:solidFill>
              <a:srgbClr val="E3E8E4"/>
            </a:solidFill>
            <a:prstDash val="solid"/>
          </a:ln>
        </p:spPr>
      </p:sp>
      <p:sp>
        <p:nvSpPr>
          <p:cNvPr id="45" name="Shape 41"/>
          <p:cNvSpPr/>
          <p:nvPr/>
        </p:nvSpPr>
        <p:spPr>
          <a:xfrm>
            <a:off x="411480" y="2103120"/>
            <a:ext cx="2377440" cy="347472"/>
          </a:xfrm>
          <a:prstGeom prst="rect">
            <a:avLst/>
          </a:prstGeom>
          <a:solidFill>
            <a:srgbClr val="FFFFFF"/>
          </a:solidFill>
          <a:ln/>
        </p:spPr>
      </p:sp>
      <p:sp>
        <p:nvSpPr>
          <p:cNvPr id="46" name="Text 42"/>
          <p:cNvSpPr txBox="1"/>
          <p:nvPr/>
        </p:nvSpPr>
        <p:spPr>
          <a:xfrm>
            <a:off x="457200" y="2103120"/>
            <a:ext cx="2286000" cy="347472"/>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EBITDA in year 3</a:t>
            </a:r>
            <a:endParaRPr lang="en-US" sz="1000" dirty="0"/>
          </a:p>
        </p:txBody>
      </p:sp>
      <p:sp>
        <p:nvSpPr>
          <p:cNvPr id="47" name="Shape 43"/>
          <p:cNvSpPr/>
          <p:nvPr/>
        </p:nvSpPr>
        <p:spPr>
          <a:xfrm>
            <a:off x="2788920" y="2103120"/>
            <a:ext cx="1097280" cy="347472"/>
          </a:xfrm>
          <a:prstGeom prst="rect">
            <a:avLst/>
          </a:prstGeom>
          <a:solidFill>
            <a:srgbClr val="FFFFFF"/>
          </a:solidFill>
          <a:ln/>
        </p:spPr>
      </p:sp>
      <p:sp>
        <p:nvSpPr>
          <p:cNvPr id="48" name="Text 44"/>
          <p:cNvSpPr txBox="1"/>
          <p:nvPr/>
        </p:nvSpPr>
        <p:spPr>
          <a:xfrm>
            <a:off x="2834640" y="2103120"/>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-₹30.2 L</a:t>
            </a:r>
            <a:endParaRPr lang="en-US" sz="1000" dirty="0"/>
          </a:p>
        </p:txBody>
      </p:sp>
      <p:sp>
        <p:nvSpPr>
          <p:cNvPr id="49" name="Shape 45"/>
          <p:cNvSpPr/>
          <p:nvPr/>
        </p:nvSpPr>
        <p:spPr>
          <a:xfrm>
            <a:off x="3886200" y="2103120"/>
            <a:ext cx="1188720" cy="347472"/>
          </a:xfrm>
          <a:prstGeom prst="rect">
            <a:avLst/>
          </a:prstGeom>
          <a:solidFill>
            <a:srgbClr val="D6E4F5"/>
          </a:solidFill>
          <a:ln/>
        </p:spPr>
      </p:sp>
      <p:sp>
        <p:nvSpPr>
          <p:cNvPr id="50" name="Text 46"/>
          <p:cNvSpPr txBox="1"/>
          <p:nvPr/>
        </p:nvSpPr>
        <p:spPr>
          <a:xfrm>
            <a:off x="3931920" y="2103120"/>
            <a:ext cx="1097280" cy="347472"/>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₹11.9 L</a:t>
            </a:r>
            <a:endParaRPr lang="en-US" sz="1000" dirty="0"/>
          </a:p>
        </p:txBody>
      </p:sp>
      <p:sp>
        <p:nvSpPr>
          <p:cNvPr id="51" name="Shape 47"/>
          <p:cNvSpPr/>
          <p:nvPr/>
        </p:nvSpPr>
        <p:spPr>
          <a:xfrm>
            <a:off x="5074920" y="2103120"/>
            <a:ext cx="1097280" cy="347472"/>
          </a:xfrm>
          <a:prstGeom prst="rect">
            <a:avLst/>
          </a:prstGeom>
          <a:solidFill>
            <a:srgbClr val="FFFFFF"/>
          </a:solidFill>
          <a:ln/>
        </p:spPr>
      </p:sp>
      <p:sp>
        <p:nvSpPr>
          <p:cNvPr id="52" name="Text 48"/>
          <p:cNvSpPr txBox="1"/>
          <p:nvPr/>
        </p:nvSpPr>
        <p:spPr>
          <a:xfrm>
            <a:off x="5120640" y="2103120"/>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₹1.26 Cr</a:t>
            </a:r>
            <a:endParaRPr lang="en-US" sz="1000" dirty="0"/>
          </a:p>
        </p:txBody>
      </p:sp>
      <p:sp>
        <p:nvSpPr>
          <p:cNvPr id="53" name="Shape 49"/>
          <p:cNvSpPr/>
          <p:nvPr/>
        </p:nvSpPr>
        <p:spPr>
          <a:xfrm>
            <a:off x="411480" y="2450592"/>
            <a:ext cx="5760720" cy="0"/>
          </a:xfrm>
          <a:prstGeom prst="line">
            <a:avLst/>
          </a:prstGeom>
          <a:noFill/>
          <a:ln w="6350">
            <a:solidFill>
              <a:srgbClr val="E3E8E4"/>
            </a:solidFill>
            <a:prstDash val="solid"/>
          </a:ln>
        </p:spPr>
      </p:sp>
      <p:sp>
        <p:nvSpPr>
          <p:cNvPr id="54" name="Shape 50"/>
          <p:cNvSpPr/>
          <p:nvPr/>
        </p:nvSpPr>
        <p:spPr>
          <a:xfrm>
            <a:off x="411480" y="2450592"/>
            <a:ext cx="2377440" cy="347472"/>
          </a:xfrm>
          <a:prstGeom prst="rect">
            <a:avLst/>
          </a:prstGeom>
          <a:solidFill>
            <a:srgbClr val="F1F7F3"/>
          </a:solidFill>
          <a:ln/>
        </p:spPr>
      </p:sp>
      <p:sp>
        <p:nvSpPr>
          <p:cNvPr id="55" name="Text 51"/>
          <p:cNvSpPr txBox="1"/>
          <p:nvPr/>
        </p:nvSpPr>
        <p:spPr>
          <a:xfrm>
            <a:off x="457200" y="2450592"/>
            <a:ext cx="2286000" cy="347472"/>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Paying institutes, end of year 3</a:t>
            </a:r>
            <a:endParaRPr lang="en-US" sz="1000" dirty="0"/>
          </a:p>
        </p:txBody>
      </p:sp>
      <p:sp>
        <p:nvSpPr>
          <p:cNvPr id="56" name="Shape 52"/>
          <p:cNvSpPr/>
          <p:nvPr/>
        </p:nvSpPr>
        <p:spPr>
          <a:xfrm>
            <a:off x="2788920" y="2450592"/>
            <a:ext cx="1097280" cy="347472"/>
          </a:xfrm>
          <a:prstGeom prst="rect">
            <a:avLst/>
          </a:prstGeom>
          <a:solidFill>
            <a:srgbClr val="F1F7F3"/>
          </a:solidFill>
          <a:ln/>
        </p:spPr>
      </p:sp>
      <p:sp>
        <p:nvSpPr>
          <p:cNvPr id="57" name="Text 53"/>
          <p:cNvSpPr txBox="1"/>
          <p:nvPr/>
        </p:nvSpPr>
        <p:spPr>
          <a:xfrm>
            <a:off x="2834640" y="2450592"/>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15</a:t>
            </a:r>
            <a:endParaRPr lang="en-US" sz="1000" dirty="0"/>
          </a:p>
        </p:txBody>
      </p:sp>
      <p:sp>
        <p:nvSpPr>
          <p:cNvPr id="58" name="Shape 54"/>
          <p:cNvSpPr/>
          <p:nvPr/>
        </p:nvSpPr>
        <p:spPr>
          <a:xfrm>
            <a:off x="3886200" y="2450592"/>
            <a:ext cx="1188720" cy="347472"/>
          </a:xfrm>
          <a:prstGeom prst="rect">
            <a:avLst/>
          </a:prstGeom>
          <a:solidFill>
            <a:srgbClr val="D6E4F5"/>
          </a:solidFill>
          <a:ln/>
        </p:spPr>
      </p:sp>
      <p:sp>
        <p:nvSpPr>
          <p:cNvPr id="59" name="Text 55"/>
          <p:cNvSpPr txBox="1"/>
          <p:nvPr/>
        </p:nvSpPr>
        <p:spPr>
          <a:xfrm>
            <a:off x="3931920" y="2450592"/>
            <a:ext cx="1097280" cy="347472"/>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58</a:t>
            </a:r>
            <a:endParaRPr lang="en-US" sz="1000" dirty="0"/>
          </a:p>
        </p:txBody>
      </p:sp>
      <p:sp>
        <p:nvSpPr>
          <p:cNvPr id="60" name="Shape 56"/>
          <p:cNvSpPr/>
          <p:nvPr/>
        </p:nvSpPr>
        <p:spPr>
          <a:xfrm>
            <a:off x="5074920" y="2450592"/>
            <a:ext cx="1097280" cy="347472"/>
          </a:xfrm>
          <a:prstGeom prst="rect">
            <a:avLst/>
          </a:prstGeom>
          <a:solidFill>
            <a:srgbClr val="F1F7F3"/>
          </a:solidFill>
          <a:ln/>
        </p:spPr>
      </p:sp>
      <p:sp>
        <p:nvSpPr>
          <p:cNvPr id="61" name="Text 57"/>
          <p:cNvSpPr txBox="1"/>
          <p:nvPr/>
        </p:nvSpPr>
        <p:spPr>
          <a:xfrm>
            <a:off x="5120640" y="2450592"/>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191</a:t>
            </a:r>
            <a:endParaRPr lang="en-US" sz="1000" dirty="0"/>
          </a:p>
        </p:txBody>
      </p:sp>
      <p:sp>
        <p:nvSpPr>
          <p:cNvPr id="62" name="Shape 58"/>
          <p:cNvSpPr/>
          <p:nvPr/>
        </p:nvSpPr>
        <p:spPr>
          <a:xfrm>
            <a:off x="411480" y="2798064"/>
            <a:ext cx="5760720" cy="0"/>
          </a:xfrm>
          <a:prstGeom prst="line">
            <a:avLst/>
          </a:prstGeom>
          <a:noFill/>
          <a:ln w="6350">
            <a:solidFill>
              <a:srgbClr val="E3E8E4"/>
            </a:solidFill>
            <a:prstDash val="solid"/>
          </a:ln>
        </p:spPr>
      </p:sp>
      <p:sp>
        <p:nvSpPr>
          <p:cNvPr id="63" name="Shape 59"/>
          <p:cNvSpPr/>
          <p:nvPr/>
        </p:nvSpPr>
        <p:spPr>
          <a:xfrm>
            <a:off x="411480" y="2798064"/>
            <a:ext cx="2377440" cy="347472"/>
          </a:xfrm>
          <a:prstGeom prst="rect">
            <a:avLst/>
          </a:prstGeom>
          <a:solidFill>
            <a:srgbClr val="FFFFFF"/>
          </a:solidFill>
          <a:ln/>
        </p:spPr>
      </p:sp>
      <p:sp>
        <p:nvSpPr>
          <p:cNvPr id="64" name="Text 60"/>
          <p:cNvSpPr txBox="1"/>
          <p:nvPr/>
        </p:nvSpPr>
        <p:spPr>
          <a:xfrm>
            <a:off x="457200" y="2798064"/>
            <a:ext cx="2286000" cy="347472"/>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Funding the model needs</a:t>
            </a:r>
            <a:endParaRPr lang="en-US" sz="1000" dirty="0"/>
          </a:p>
        </p:txBody>
      </p:sp>
      <p:sp>
        <p:nvSpPr>
          <p:cNvPr id="65" name="Shape 61"/>
          <p:cNvSpPr/>
          <p:nvPr/>
        </p:nvSpPr>
        <p:spPr>
          <a:xfrm>
            <a:off x="2788920" y="2798064"/>
            <a:ext cx="1097280" cy="347472"/>
          </a:xfrm>
          <a:prstGeom prst="rect">
            <a:avLst/>
          </a:prstGeom>
          <a:solidFill>
            <a:srgbClr val="FFFFFF"/>
          </a:solidFill>
          <a:ln/>
        </p:spPr>
      </p:sp>
      <p:sp>
        <p:nvSpPr>
          <p:cNvPr id="66" name="Text 62"/>
          <p:cNvSpPr txBox="1"/>
          <p:nvPr/>
        </p:nvSpPr>
        <p:spPr>
          <a:xfrm>
            <a:off x="2834640" y="2798064"/>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₹1.00 Cr</a:t>
            </a:r>
            <a:endParaRPr lang="en-US" sz="1000" dirty="0"/>
          </a:p>
        </p:txBody>
      </p:sp>
      <p:sp>
        <p:nvSpPr>
          <p:cNvPr id="67" name="Shape 63"/>
          <p:cNvSpPr/>
          <p:nvPr/>
        </p:nvSpPr>
        <p:spPr>
          <a:xfrm>
            <a:off x="3886200" y="2798064"/>
            <a:ext cx="1188720" cy="347472"/>
          </a:xfrm>
          <a:prstGeom prst="rect">
            <a:avLst/>
          </a:prstGeom>
          <a:solidFill>
            <a:srgbClr val="D6E4F5"/>
          </a:solidFill>
          <a:ln/>
        </p:spPr>
      </p:sp>
      <p:sp>
        <p:nvSpPr>
          <p:cNvPr id="68" name="Text 64"/>
          <p:cNvSpPr txBox="1"/>
          <p:nvPr/>
        </p:nvSpPr>
        <p:spPr>
          <a:xfrm>
            <a:off x="3931920" y="2798064"/>
            <a:ext cx="1097280" cy="347472"/>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₹45.0 L</a:t>
            </a:r>
            <a:endParaRPr lang="en-US" sz="1000" dirty="0"/>
          </a:p>
        </p:txBody>
      </p:sp>
      <p:sp>
        <p:nvSpPr>
          <p:cNvPr id="69" name="Shape 65"/>
          <p:cNvSpPr/>
          <p:nvPr/>
        </p:nvSpPr>
        <p:spPr>
          <a:xfrm>
            <a:off x="5074920" y="2798064"/>
            <a:ext cx="1097280" cy="347472"/>
          </a:xfrm>
          <a:prstGeom prst="rect">
            <a:avLst/>
          </a:prstGeom>
          <a:solidFill>
            <a:srgbClr val="FFFFFF"/>
          </a:solidFill>
          <a:ln/>
        </p:spPr>
      </p:sp>
      <p:sp>
        <p:nvSpPr>
          <p:cNvPr id="70" name="Text 66"/>
          <p:cNvSpPr txBox="1"/>
          <p:nvPr/>
        </p:nvSpPr>
        <p:spPr>
          <a:xfrm>
            <a:off x="5120640" y="2798064"/>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₹30.0 L</a:t>
            </a:r>
            <a:endParaRPr lang="en-US" sz="1000" dirty="0"/>
          </a:p>
        </p:txBody>
      </p:sp>
      <p:sp>
        <p:nvSpPr>
          <p:cNvPr id="71" name="Shape 67"/>
          <p:cNvSpPr/>
          <p:nvPr/>
        </p:nvSpPr>
        <p:spPr>
          <a:xfrm>
            <a:off x="411480" y="3145536"/>
            <a:ext cx="5760720" cy="0"/>
          </a:xfrm>
          <a:prstGeom prst="line">
            <a:avLst/>
          </a:prstGeom>
          <a:noFill/>
          <a:ln w="6350">
            <a:solidFill>
              <a:srgbClr val="E3E8E4"/>
            </a:solidFill>
            <a:prstDash val="solid"/>
          </a:ln>
        </p:spPr>
      </p:sp>
      <p:sp>
        <p:nvSpPr>
          <p:cNvPr id="72" name="Shape 68"/>
          <p:cNvSpPr/>
          <p:nvPr/>
        </p:nvSpPr>
        <p:spPr>
          <a:xfrm>
            <a:off x="411480" y="3145536"/>
            <a:ext cx="2377440" cy="347472"/>
          </a:xfrm>
          <a:prstGeom prst="rect">
            <a:avLst/>
          </a:prstGeom>
          <a:solidFill>
            <a:srgbClr val="F1F7F3"/>
          </a:solidFill>
          <a:ln/>
        </p:spPr>
      </p:sp>
      <p:sp>
        <p:nvSpPr>
          <p:cNvPr id="73" name="Text 69"/>
          <p:cNvSpPr txBox="1"/>
          <p:nvPr/>
        </p:nvSpPr>
        <p:spPr>
          <a:xfrm>
            <a:off x="457200" y="3145536"/>
            <a:ext cx="2286000" cy="347472"/>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Break-even month</a:t>
            </a:r>
            <a:endParaRPr lang="en-US" sz="1000" dirty="0"/>
          </a:p>
        </p:txBody>
      </p:sp>
      <p:sp>
        <p:nvSpPr>
          <p:cNvPr id="74" name="Shape 70"/>
          <p:cNvSpPr/>
          <p:nvPr/>
        </p:nvSpPr>
        <p:spPr>
          <a:xfrm>
            <a:off x="2788920" y="3145536"/>
            <a:ext cx="1097280" cy="347472"/>
          </a:xfrm>
          <a:prstGeom prst="rect">
            <a:avLst/>
          </a:prstGeom>
          <a:solidFill>
            <a:srgbClr val="F1F7F3"/>
          </a:solidFill>
          <a:ln/>
        </p:spPr>
      </p:sp>
      <p:sp>
        <p:nvSpPr>
          <p:cNvPr id="75" name="Text 71"/>
          <p:cNvSpPr txBox="1"/>
          <p:nvPr/>
        </p:nvSpPr>
        <p:spPr>
          <a:xfrm>
            <a:off x="2834640" y="3145536"/>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after 36</a:t>
            </a:r>
            <a:endParaRPr lang="en-US" sz="1000" dirty="0"/>
          </a:p>
        </p:txBody>
      </p:sp>
      <p:sp>
        <p:nvSpPr>
          <p:cNvPr id="76" name="Shape 72"/>
          <p:cNvSpPr/>
          <p:nvPr/>
        </p:nvSpPr>
        <p:spPr>
          <a:xfrm>
            <a:off x="3886200" y="3145536"/>
            <a:ext cx="1188720" cy="347472"/>
          </a:xfrm>
          <a:prstGeom prst="rect">
            <a:avLst/>
          </a:prstGeom>
          <a:solidFill>
            <a:srgbClr val="D6E4F5"/>
          </a:solidFill>
          <a:ln/>
        </p:spPr>
      </p:sp>
      <p:sp>
        <p:nvSpPr>
          <p:cNvPr id="77" name="Text 73"/>
          <p:cNvSpPr txBox="1"/>
          <p:nvPr/>
        </p:nvSpPr>
        <p:spPr>
          <a:xfrm>
            <a:off x="3931920" y="3145536"/>
            <a:ext cx="1097280" cy="347472"/>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16</a:t>
            </a:r>
            <a:endParaRPr lang="en-US" sz="1000" dirty="0"/>
          </a:p>
        </p:txBody>
      </p:sp>
      <p:sp>
        <p:nvSpPr>
          <p:cNvPr id="78" name="Shape 74"/>
          <p:cNvSpPr/>
          <p:nvPr/>
        </p:nvSpPr>
        <p:spPr>
          <a:xfrm>
            <a:off x="5074920" y="3145536"/>
            <a:ext cx="1097280" cy="347472"/>
          </a:xfrm>
          <a:prstGeom prst="rect">
            <a:avLst/>
          </a:prstGeom>
          <a:solidFill>
            <a:srgbClr val="F1F7F3"/>
          </a:solidFill>
          <a:ln/>
        </p:spPr>
      </p:sp>
      <p:sp>
        <p:nvSpPr>
          <p:cNvPr id="79" name="Text 75"/>
          <p:cNvSpPr txBox="1"/>
          <p:nvPr/>
        </p:nvSpPr>
        <p:spPr>
          <a:xfrm>
            <a:off x="5120640" y="3145536"/>
            <a:ext cx="1005840" cy="347472"/>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a:t>
            </a:r>
            <a:endParaRPr lang="en-US" sz="1000" dirty="0"/>
          </a:p>
        </p:txBody>
      </p:sp>
      <p:sp>
        <p:nvSpPr>
          <p:cNvPr id="80" name="Shape 76"/>
          <p:cNvSpPr/>
          <p:nvPr/>
        </p:nvSpPr>
        <p:spPr>
          <a:xfrm>
            <a:off x="411480" y="3493008"/>
            <a:ext cx="5760720" cy="0"/>
          </a:xfrm>
          <a:prstGeom prst="line">
            <a:avLst/>
          </a:prstGeom>
          <a:noFill/>
          <a:ln w="6350">
            <a:solidFill>
              <a:srgbClr val="E3E8E4"/>
            </a:solidFill>
            <a:prstDash val="solid"/>
          </a:ln>
        </p:spPr>
      </p:sp>
      <p:sp>
        <p:nvSpPr>
          <p:cNvPr id="81" name="Text 77"/>
          <p:cNvSpPr txBox="1"/>
          <p:nvPr/>
        </p:nvSpPr>
        <p:spPr>
          <a:xfrm>
            <a:off x="411480" y="3566160"/>
            <a:ext cx="5760720" cy="365760"/>
          </a:xfrm>
          <a:prstGeom prst="rect">
            <a:avLst/>
          </a:prstGeom>
          <a:noFill/>
          <a:ln/>
        </p:spPr>
        <p:txBody>
          <a:bodyPr wrap="square" lIns="0" tIns="0" rIns="0" bIns="0" rtlCol="0" anchor="t"/>
          <a:lstStyle/>
          <a:p>
            <a:pPr algn="l" indent="0" marL="0">
              <a:buNone/>
            </a:pPr>
            <a:r>
              <a:rPr lang="en-US" sz="900" i="1" dirty="0">
                <a:solidFill>
                  <a:srgbClr val="5B6573"/>
                </a:solidFill>
                <a:latin typeface="Calibri" pitchFamily="34" charset="0"/>
                <a:ea typeface="Calibri" pitchFamily="34" charset="-122"/>
                <a:cs typeface="Calibri" pitchFamily="34" charset="-120"/>
              </a:rPr>
              <a:t>Market cap: 1,180 addressable institutes in five states x 8 % penetration (derived, mostly assumption). Bear funding assumes no cost response.</a:t>
            </a:r>
            <a:endParaRPr lang="en-US" sz="900" dirty="0"/>
          </a:p>
        </p:txBody>
      </p:sp>
      <p:sp>
        <p:nvSpPr>
          <p:cNvPr id="82" name="Shape 78"/>
          <p:cNvSpPr/>
          <p:nvPr/>
        </p:nvSpPr>
        <p:spPr>
          <a:xfrm>
            <a:off x="411480" y="3977640"/>
            <a:ext cx="256032" cy="256032"/>
          </a:xfrm>
          <a:prstGeom prst="rect">
            <a:avLst/>
          </a:prstGeom>
          <a:solidFill>
            <a:srgbClr val="1F4A82"/>
          </a:solidFill>
          <a:ln/>
        </p:spPr>
      </p:sp>
      <p:sp>
        <p:nvSpPr>
          <p:cNvPr id="83" name="Text 79"/>
          <p:cNvSpPr txBox="1"/>
          <p:nvPr/>
        </p:nvSpPr>
        <p:spPr>
          <a:xfrm>
            <a:off x="411480" y="397764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a:t>
            </a:r>
            <a:endParaRPr lang="en-US" sz="1150" dirty="0"/>
          </a:p>
        </p:txBody>
      </p:sp>
      <p:sp>
        <p:nvSpPr>
          <p:cNvPr id="84" name="Text 80"/>
          <p:cNvSpPr txBox="1"/>
          <p:nvPr/>
        </p:nvSpPr>
        <p:spPr>
          <a:xfrm>
            <a:off x="740664" y="3977640"/>
            <a:ext cx="543153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BASE CASE, YEAR BY YEAR (₹ LAKH)</a:t>
            </a:r>
            <a:endParaRPr lang="en-US" sz="1200" dirty="0"/>
          </a:p>
        </p:txBody>
      </p:sp>
      <p:sp>
        <p:nvSpPr>
          <p:cNvPr id="85" name="Shape 81"/>
          <p:cNvSpPr/>
          <p:nvPr/>
        </p:nvSpPr>
        <p:spPr>
          <a:xfrm>
            <a:off x="777240" y="5254508"/>
            <a:ext cx="640080" cy="414772"/>
          </a:xfrm>
          <a:prstGeom prst="rect">
            <a:avLst/>
          </a:prstGeom>
          <a:solidFill>
            <a:srgbClr val="1F4A82"/>
          </a:solidFill>
          <a:ln/>
        </p:spPr>
      </p:sp>
      <p:sp>
        <p:nvSpPr>
          <p:cNvPr id="86" name="Text 82"/>
          <p:cNvSpPr txBox="1"/>
          <p:nvPr/>
        </p:nvSpPr>
        <p:spPr>
          <a:xfrm>
            <a:off x="685800" y="5016764"/>
            <a:ext cx="822960" cy="219456"/>
          </a:xfrm>
          <a:prstGeom prst="rect">
            <a:avLst/>
          </a:prstGeom>
          <a:noFill/>
          <a:ln/>
        </p:spPr>
        <p:txBody>
          <a:bodyPr wrap="square" lIns="0" tIns="0" rIns="0" bIns="0" rtlCol="0" anchor="t"/>
          <a:lstStyle/>
          <a:p>
            <a:pPr algn="ctr" indent="0" marL="0">
              <a:buNone/>
            </a:pPr>
            <a:r>
              <a:rPr lang="en-US" sz="1000" b="1" dirty="0">
                <a:solidFill>
                  <a:srgbClr val="17325C"/>
                </a:solidFill>
                <a:latin typeface="Calibri" pitchFamily="34" charset="0"/>
                <a:ea typeface="Calibri" pitchFamily="34" charset="-122"/>
                <a:cs typeface="Calibri" pitchFamily="34" charset="-120"/>
              </a:rPr>
              <a:t>₹18.9</a:t>
            </a:r>
            <a:endParaRPr lang="en-US" sz="1000" dirty="0"/>
          </a:p>
        </p:txBody>
      </p:sp>
      <p:sp>
        <p:nvSpPr>
          <p:cNvPr id="87" name="Shape 83"/>
          <p:cNvSpPr/>
          <p:nvPr/>
        </p:nvSpPr>
        <p:spPr>
          <a:xfrm>
            <a:off x="1490472" y="5669280"/>
            <a:ext cx="502920" cy="353324"/>
          </a:xfrm>
          <a:prstGeom prst="rect">
            <a:avLst/>
          </a:prstGeom>
          <a:solidFill>
            <a:srgbClr val="C0392B"/>
          </a:solidFill>
          <a:ln/>
        </p:spPr>
      </p:sp>
      <p:sp>
        <p:nvSpPr>
          <p:cNvPr id="88" name="Text 84"/>
          <p:cNvSpPr txBox="1"/>
          <p:nvPr/>
        </p:nvSpPr>
        <p:spPr>
          <a:xfrm>
            <a:off x="1399032" y="6031748"/>
            <a:ext cx="685800" cy="219456"/>
          </a:xfrm>
          <a:prstGeom prst="rect">
            <a:avLst/>
          </a:prstGeom>
          <a:noFill/>
          <a:ln/>
        </p:spPr>
        <p:txBody>
          <a:bodyPr wrap="square" lIns="0" tIns="0" rIns="0" bIns="0" rtlCol="0" anchor="t"/>
          <a:lstStyle/>
          <a:p>
            <a:pPr algn="ctr" indent="0" marL="0">
              <a:buNone/>
            </a:pPr>
            <a:r>
              <a:rPr lang="en-US" sz="900" dirty="0">
                <a:solidFill>
                  <a:srgbClr val="5B6573"/>
                </a:solidFill>
                <a:latin typeface="Calibri" pitchFamily="34" charset="0"/>
                <a:ea typeface="Calibri" pitchFamily="34" charset="-122"/>
                <a:cs typeface="Calibri" pitchFamily="34" charset="-120"/>
              </a:rPr>
              <a:t>-16.1</a:t>
            </a:r>
            <a:endParaRPr lang="en-US" sz="900" dirty="0"/>
          </a:p>
        </p:txBody>
      </p:sp>
      <p:sp>
        <p:nvSpPr>
          <p:cNvPr id="89" name="Text 85"/>
          <p:cNvSpPr txBox="1"/>
          <p:nvPr/>
        </p:nvSpPr>
        <p:spPr>
          <a:xfrm>
            <a:off x="548640" y="6108192"/>
            <a:ext cx="1737360" cy="201168"/>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Year 1  ·  28 institutes</a:t>
            </a:r>
            <a:endParaRPr lang="en-US" sz="900" dirty="0"/>
          </a:p>
        </p:txBody>
      </p:sp>
      <p:sp>
        <p:nvSpPr>
          <p:cNvPr id="90" name="Shape 86"/>
          <p:cNvSpPr/>
          <p:nvPr/>
        </p:nvSpPr>
        <p:spPr>
          <a:xfrm>
            <a:off x="2651760" y="4615891"/>
            <a:ext cx="640080" cy="1053389"/>
          </a:xfrm>
          <a:prstGeom prst="rect">
            <a:avLst/>
          </a:prstGeom>
          <a:solidFill>
            <a:srgbClr val="1F4A82"/>
          </a:solidFill>
          <a:ln/>
        </p:spPr>
      </p:sp>
      <p:sp>
        <p:nvSpPr>
          <p:cNvPr id="91" name="Text 87"/>
          <p:cNvSpPr txBox="1"/>
          <p:nvPr/>
        </p:nvSpPr>
        <p:spPr>
          <a:xfrm>
            <a:off x="2560320" y="4378147"/>
            <a:ext cx="822960" cy="219456"/>
          </a:xfrm>
          <a:prstGeom prst="rect">
            <a:avLst/>
          </a:prstGeom>
          <a:noFill/>
          <a:ln/>
        </p:spPr>
        <p:txBody>
          <a:bodyPr wrap="square" lIns="0" tIns="0" rIns="0" bIns="0" rtlCol="0" anchor="t"/>
          <a:lstStyle/>
          <a:p>
            <a:pPr algn="ctr" indent="0" marL="0">
              <a:buNone/>
            </a:pPr>
            <a:r>
              <a:rPr lang="en-US" sz="1000" b="1" dirty="0">
                <a:solidFill>
                  <a:srgbClr val="17325C"/>
                </a:solidFill>
                <a:latin typeface="Calibri" pitchFamily="34" charset="0"/>
                <a:ea typeface="Calibri" pitchFamily="34" charset="-122"/>
                <a:cs typeface="Calibri" pitchFamily="34" charset="-120"/>
              </a:rPr>
              <a:t>₹48</a:t>
            </a:r>
            <a:endParaRPr lang="en-US" sz="1000" dirty="0"/>
          </a:p>
        </p:txBody>
      </p:sp>
      <p:sp>
        <p:nvSpPr>
          <p:cNvPr id="92" name="Shape 88"/>
          <p:cNvSpPr/>
          <p:nvPr/>
        </p:nvSpPr>
        <p:spPr>
          <a:xfrm>
            <a:off x="3364992" y="5669280"/>
            <a:ext cx="502920" cy="19751"/>
          </a:xfrm>
          <a:prstGeom prst="rect">
            <a:avLst/>
          </a:prstGeom>
          <a:solidFill>
            <a:srgbClr val="C0392B"/>
          </a:solidFill>
          <a:ln/>
        </p:spPr>
      </p:sp>
      <p:sp>
        <p:nvSpPr>
          <p:cNvPr id="93" name="Text 89"/>
          <p:cNvSpPr txBox="1"/>
          <p:nvPr/>
        </p:nvSpPr>
        <p:spPr>
          <a:xfrm>
            <a:off x="3273552" y="5698175"/>
            <a:ext cx="685800" cy="219456"/>
          </a:xfrm>
          <a:prstGeom prst="rect">
            <a:avLst/>
          </a:prstGeom>
          <a:noFill/>
          <a:ln/>
        </p:spPr>
        <p:txBody>
          <a:bodyPr wrap="square" lIns="0" tIns="0" rIns="0" bIns="0" rtlCol="0" anchor="t"/>
          <a:lstStyle/>
          <a:p>
            <a:pPr algn="ctr" indent="0" marL="0">
              <a:buNone/>
            </a:pPr>
            <a:r>
              <a:rPr lang="en-US" sz="900" dirty="0">
                <a:solidFill>
                  <a:srgbClr val="5B6573"/>
                </a:solidFill>
                <a:latin typeface="Calibri" pitchFamily="34" charset="0"/>
                <a:ea typeface="Calibri" pitchFamily="34" charset="-122"/>
                <a:cs typeface="Calibri" pitchFamily="34" charset="-120"/>
              </a:rPr>
              <a:t>-0.9</a:t>
            </a:r>
            <a:endParaRPr lang="en-US" sz="900" dirty="0"/>
          </a:p>
        </p:txBody>
      </p:sp>
      <p:sp>
        <p:nvSpPr>
          <p:cNvPr id="94" name="Text 90"/>
          <p:cNvSpPr txBox="1"/>
          <p:nvPr/>
        </p:nvSpPr>
        <p:spPr>
          <a:xfrm>
            <a:off x="2423160" y="6108192"/>
            <a:ext cx="1737360" cy="201168"/>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Year 2  ·  51 institutes</a:t>
            </a:r>
            <a:endParaRPr lang="en-US" sz="900" dirty="0"/>
          </a:p>
        </p:txBody>
      </p:sp>
      <p:sp>
        <p:nvSpPr>
          <p:cNvPr id="95" name="Shape 91"/>
          <p:cNvSpPr/>
          <p:nvPr/>
        </p:nvSpPr>
        <p:spPr>
          <a:xfrm>
            <a:off x="4526280" y="4236232"/>
            <a:ext cx="640080" cy="1433048"/>
          </a:xfrm>
          <a:prstGeom prst="rect">
            <a:avLst/>
          </a:prstGeom>
          <a:solidFill>
            <a:srgbClr val="1F4A82"/>
          </a:solidFill>
          <a:ln/>
        </p:spPr>
      </p:sp>
      <p:sp>
        <p:nvSpPr>
          <p:cNvPr id="96" name="Text 92"/>
          <p:cNvSpPr txBox="1"/>
          <p:nvPr/>
        </p:nvSpPr>
        <p:spPr>
          <a:xfrm>
            <a:off x="4434840" y="3998488"/>
            <a:ext cx="822960" cy="219456"/>
          </a:xfrm>
          <a:prstGeom prst="rect">
            <a:avLst/>
          </a:prstGeom>
          <a:noFill/>
          <a:ln/>
        </p:spPr>
        <p:txBody>
          <a:bodyPr wrap="square" lIns="0" tIns="0" rIns="0" bIns="0" rtlCol="0" anchor="t"/>
          <a:lstStyle/>
          <a:p>
            <a:pPr algn="ctr" indent="0" marL="0">
              <a:buNone/>
            </a:pPr>
            <a:r>
              <a:rPr lang="en-US" sz="1000" b="1" dirty="0">
                <a:solidFill>
                  <a:srgbClr val="17325C"/>
                </a:solidFill>
                <a:latin typeface="Calibri" pitchFamily="34" charset="0"/>
                <a:ea typeface="Calibri" pitchFamily="34" charset="-122"/>
                <a:cs typeface="Calibri" pitchFamily="34" charset="-120"/>
              </a:rPr>
              <a:t>₹65.3</a:t>
            </a:r>
            <a:endParaRPr lang="en-US" sz="1000" dirty="0"/>
          </a:p>
        </p:txBody>
      </p:sp>
      <p:sp>
        <p:nvSpPr>
          <p:cNvPr id="97" name="Shape 93"/>
          <p:cNvSpPr/>
          <p:nvPr/>
        </p:nvSpPr>
        <p:spPr>
          <a:xfrm>
            <a:off x="5239512" y="5408127"/>
            <a:ext cx="502920" cy="261153"/>
          </a:xfrm>
          <a:prstGeom prst="rect">
            <a:avLst/>
          </a:prstGeom>
          <a:solidFill>
            <a:srgbClr val="5B8DC9"/>
          </a:solidFill>
          <a:ln/>
        </p:spPr>
      </p:sp>
      <p:sp>
        <p:nvSpPr>
          <p:cNvPr id="98" name="Text 94"/>
          <p:cNvSpPr txBox="1"/>
          <p:nvPr/>
        </p:nvSpPr>
        <p:spPr>
          <a:xfrm>
            <a:off x="5148072" y="5170383"/>
            <a:ext cx="685800" cy="219456"/>
          </a:xfrm>
          <a:prstGeom prst="rect">
            <a:avLst/>
          </a:prstGeom>
          <a:noFill/>
          <a:ln/>
        </p:spPr>
        <p:txBody>
          <a:bodyPr wrap="square" lIns="0" tIns="0" rIns="0" bIns="0" rtlCol="0" anchor="t"/>
          <a:lstStyle/>
          <a:p>
            <a:pPr algn="ctr" indent="0" marL="0">
              <a:buNone/>
            </a:pPr>
            <a:r>
              <a:rPr lang="en-US" sz="900" dirty="0">
                <a:solidFill>
                  <a:srgbClr val="5B6573"/>
                </a:solidFill>
                <a:latin typeface="Calibri" pitchFamily="34" charset="0"/>
                <a:ea typeface="Calibri" pitchFamily="34" charset="-122"/>
                <a:cs typeface="Calibri" pitchFamily="34" charset="-120"/>
              </a:rPr>
              <a:t>+11.9</a:t>
            </a:r>
            <a:endParaRPr lang="en-US" sz="900" dirty="0"/>
          </a:p>
        </p:txBody>
      </p:sp>
      <p:sp>
        <p:nvSpPr>
          <p:cNvPr id="99" name="Text 95"/>
          <p:cNvSpPr txBox="1"/>
          <p:nvPr/>
        </p:nvSpPr>
        <p:spPr>
          <a:xfrm>
            <a:off x="4297680" y="6108192"/>
            <a:ext cx="1737360" cy="201168"/>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Year 3  ·  58 institutes</a:t>
            </a:r>
            <a:endParaRPr lang="en-US" sz="900" dirty="0"/>
          </a:p>
        </p:txBody>
      </p:sp>
      <p:sp>
        <p:nvSpPr>
          <p:cNvPr id="100" name="Shape 96"/>
          <p:cNvSpPr/>
          <p:nvPr/>
        </p:nvSpPr>
        <p:spPr>
          <a:xfrm>
            <a:off x="411480" y="5669280"/>
            <a:ext cx="5760720" cy="13716"/>
          </a:xfrm>
          <a:prstGeom prst="rect">
            <a:avLst/>
          </a:prstGeom>
          <a:solidFill>
            <a:srgbClr val="9AA6B5"/>
          </a:solidFill>
          <a:ln/>
        </p:spPr>
      </p:sp>
      <p:sp>
        <p:nvSpPr>
          <p:cNvPr id="101" name="Shape 97"/>
          <p:cNvSpPr/>
          <p:nvPr/>
        </p:nvSpPr>
        <p:spPr>
          <a:xfrm>
            <a:off x="502920" y="6291072"/>
            <a:ext cx="128016" cy="128016"/>
          </a:xfrm>
          <a:prstGeom prst="rect">
            <a:avLst/>
          </a:prstGeom>
          <a:solidFill>
            <a:srgbClr val="1F4A82"/>
          </a:solidFill>
          <a:ln/>
        </p:spPr>
      </p:sp>
      <p:sp>
        <p:nvSpPr>
          <p:cNvPr id="102" name="Text 98"/>
          <p:cNvSpPr txBox="1"/>
          <p:nvPr/>
        </p:nvSpPr>
        <p:spPr>
          <a:xfrm>
            <a:off x="667512" y="6245352"/>
            <a:ext cx="731520" cy="219456"/>
          </a:xfrm>
          <a:prstGeom prst="rect">
            <a:avLst/>
          </a:prstGeom>
          <a:noFill/>
          <a:ln/>
        </p:spPr>
        <p:txBody>
          <a:bodyPr wrap="square" lIns="0" tIns="0" rIns="0" bIns="0" rtlCol="0" anchor="ctr"/>
          <a:lstStyle/>
          <a:p>
            <a:pPr algn="l" indent="0" marL="0">
              <a:buNone/>
            </a:pPr>
            <a:r>
              <a:rPr lang="en-US" sz="900" dirty="0">
                <a:solidFill>
                  <a:srgbClr val="5B6573"/>
                </a:solidFill>
                <a:latin typeface="Calibri" pitchFamily="34" charset="0"/>
                <a:ea typeface="Calibri" pitchFamily="34" charset="-122"/>
                <a:cs typeface="Calibri" pitchFamily="34" charset="-120"/>
              </a:rPr>
              <a:t>revenue</a:t>
            </a:r>
            <a:endParaRPr lang="en-US" sz="900" dirty="0"/>
          </a:p>
        </p:txBody>
      </p:sp>
      <p:sp>
        <p:nvSpPr>
          <p:cNvPr id="103" name="Shape 99"/>
          <p:cNvSpPr/>
          <p:nvPr/>
        </p:nvSpPr>
        <p:spPr>
          <a:xfrm>
            <a:off x="1600200" y="6291072"/>
            <a:ext cx="128016" cy="128016"/>
          </a:xfrm>
          <a:prstGeom prst="rect">
            <a:avLst/>
          </a:prstGeom>
          <a:solidFill>
            <a:srgbClr val="5B8DC9"/>
          </a:solidFill>
          <a:ln/>
        </p:spPr>
      </p:sp>
      <p:sp>
        <p:nvSpPr>
          <p:cNvPr id="104" name="Text 100"/>
          <p:cNvSpPr txBox="1"/>
          <p:nvPr/>
        </p:nvSpPr>
        <p:spPr>
          <a:xfrm>
            <a:off x="1764792" y="6245352"/>
            <a:ext cx="731520" cy="219456"/>
          </a:xfrm>
          <a:prstGeom prst="rect">
            <a:avLst/>
          </a:prstGeom>
          <a:noFill/>
          <a:ln/>
        </p:spPr>
        <p:txBody>
          <a:bodyPr wrap="square" lIns="0" tIns="0" rIns="0" bIns="0" rtlCol="0" anchor="ctr"/>
          <a:lstStyle/>
          <a:p>
            <a:pPr algn="l" indent="0" marL="0">
              <a:buNone/>
            </a:pPr>
            <a:r>
              <a:rPr lang="en-US" sz="900" dirty="0">
                <a:solidFill>
                  <a:srgbClr val="5B6573"/>
                </a:solidFill>
                <a:latin typeface="Calibri" pitchFamily="34" charset="0"/>
                <a:ea typeface="Calibri" pitchFamily="34" charset="-122"/>
                <a:cs typeface="Calibri" pitchFamily="34" charset="-120"/>
              </a:rPr>
              <a:t>EBITDA</a:t>
            </a:r>
            <a:endParaRPr lang="en-US" sz="900" dirty="0"/>
          </a:p>
        </p:txBody>
      </p:sp>
      <p:sp>
        <p:nvSpPr>
          <p:cNvPr id="105" name="Shape 101"/>
          <p:cNvSpPr/>
          <p:nvPr/>
        </p:nvSpPr>
        <p:spPr>
          <a:xfrm>
            <a:off x="6537960" y="1170432"/>
            <a:ext cx="256032" cy="256032"/>
          </a:xfrm>
          <a:prstGeom prst="rect">
            <a:avLst/>
          </a:prstGeom>
          <a:solidFill>
            <a:srgbClr val="1F4A82"/>
          </a:solidFill>
          <a:ln/>
        </p:spPr>
      </p:sp>
      <p:sp>
        <p:nvSpPr>
          <p:cNvPr id="106" name="Text 102"/>
          <p:cNvSpPr txBox="1"/>
          <p:nvPr/>
        </p:nvSpPr>
        <p:spPr>
          <a:xfrm>
            <a:off x="6537960" y="117043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endParaRPr lang="en-US" sz="1150" dirty="0"/>
          </a:p>
        </p:txBody>
      </p:sp>
      <p:sp>
        <p:nvSpPr>
          <p:cNvPr id="107" name="Text 103"/>
          <p:cNvSpPr txBox="1"/>
          <p:nvPr/>
        </p:nvSpPr>
        <p:spPr>
          <a:xfrm>
            <a:off x="6867144" y="1170432"/>
            <a:ext cx="488289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BY INSTITUTE SIZE (BASE)</a:t>
            </a:r>
            <a:endParaRPr lang="en-US" sz="1200" dirty="0"/>
          </a:p>
        </p:txBody>
      </p:sp>
      <p:sp>
        <p:nvSpPr>
          <p:cNvPr id="108" name="Shape 104"/>
          <p:cNvSpPr/>
          <p:nvPr/>
        </p:nvSpPr>
        <p:spPr>
          <a:xfrm>
            <a:off x="6537960" y="1481328"/>
            <a:ext cx="2194560" cy="274320"/>
          </a:xfrm>
          <a:prstGeom prst="rect">
            <a:avLst/>
          </a:prstGeom>
          <a:solidFill>
            <a:srgbClr val="1F4A82"/>
          </a:solidFill>
          <a:ln/>
        </p:spPr>
      </p:sp>
      <p:sp>
        <p:nvSpPr>
          <p:cNvPr id="109" name="Text 105"/>
          <p:cNvSpPr txBox="1"/>
          <p:nvPr/>
        </p:nvSpPr>
        <p:spPr>
          <a:xfrm>
            <a:off x="6583680" y="1481328"/>
            <a:ext cx="2103120" cy="274320"/>
          </a:xfrm>
          <a:prstGeom prst="rect">
            <a:avLst/>
          </a:prstGeom>
          <a:noFill/>
          <a:ln/>
        </p:spPr>
        <p:txBody>
          <a:bodyPr wrap="square" lIns="0" tIns="0" rIns="0" bIns="0" rtlCol="0" anchor="ctr"/>
          <a:lstStyle/>
          <a:p>
            <a:pPr algn="l" indent="0" marL="0">
              <a:buNone/>
            </a:pPr>
            <a:endParaRPr lang="en-US" sz="1000" dirty="0"/>
          </a:p>
        </p:txBody>
      </p:sp>
      <p:sp>
        <p:nvSpPr>
          <p:cNvPr id="110" name="Shape 106"/>
          <p:cNvSpPr/>
          <p:nvPr/>
        </p:nvSpPr>
        <p:spPr>
          <a:xfrm>
            <a:off x="8732520" y="1481328"/>
            <a:ext cx="1005840" cy="274320"/>
          </a:xfrm>
          <a:prstGeom prst="rect">
            <a:avLst/>
          </a:prstGeom>
          <a:solidFill>
            <a:srgbClr val="5B6573"/>
          </a:solidFill>
          <a:ln/>
        </p:spPr>
      </p:sp>
      <p:sp>
        <p:nvSpPr>
          <p:cNvPr id="111" name="Text 107"/>
          <p:cNvSpPr txBox="1"/>
          <p:nvPr/>
        </p:nvSpPr>
        <p:spPr>
          <a:xfrm>
            <a:off x="8778240" y="1481328"/>
            <a:ext cx="9144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Small</a:t>
            </a:r>
            <a:endParaRPr lang="en-US" sz="1000" dirty="0"/>
          </a:p>
        </p:txBody>
      </p:sp>
      <p:sp>
        <p:nvSpPr>
          <p:cNvPr id="112" name="Shape 108"/>
          <p:cNvSpPr/>
          <p:nvPr/>
        </p:nvSpPr>
        <p:spPr>
          <a:xfrm>
            <a:off x="9738360" y="1481328"/>
            <a:ext cx="1005840" cy="274320"/>
          </a:xfrm>
          <a:prstGeom prst="rect">
            <a:avLst/>
          </a:prstGeom>
          <a:solidFill>
            <a:srgbClr val="1F4A82"/>
          </a:solidFill>
          <a:ln/>
        </p:spPr>
      </p:sp>
      <p:sp>
        <p:nvSpPr>
          <p:cNvPr id="113" name="Text 109"/>
          <p:cNvSpPr txBox="1"/>
          <p:nvPr/>
        </p:nvSpPr>
        <p:spPr>
          <a:xfrm>
            <a:off x="9784080" y="1481328"/>
            <a:ext cx="9144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Mid</a:t>
            </a:r>
            <a:endParaRPr lang="en-US" sz="1000" dirty="0"/>
          </a:p>
        </p:txBody>
      </p:sp>
      <p:sp>
        <p:nvSpPr>
          <p:cNvPr id="114" name="Shape 110"/>
          <p:cNvSpPr/>
          <p:nvPr/>
        </p:nvSpPr>
        <p:spPr>
          <a:xfrm>
            <a:off x="10744200" y="1481328"/>
            <a:ext cx="987552" cy="274320"/>
          </a:xfrm>
          <a:prstGeom prst="rect">
            <a:avLst/>
          </a:prstGeom>
          <a:solidFill>
            <a:srgbClr val="5B6573"/>
          </a:solidFill>
          <a:ln/>
        </p:spPr>
      </p:sp>
      <p:sp>
        <p:nvSpPr>
          <p:cNvPr id="115" name="Text 111"/>
          <p:cNvSpPr txBox="1"/>
          <p:nvPr/>
        </p:nvSpPr>
        <p:spPr>
          <a:xfrm>
            <a:off x="10789920" y="1481328"/>
            <a:ext cx="89611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Large</a:t>
            </a:r>
            <a:endParaRPr lang="en-US" sz="1000" dirty="0"/>
          </a:p>
        </p:txBody>
      </p:sp>
      <p:sp>
        <p:nvSpPr>
          <p:cNvPr id="116" name="Shape 112"/>
          <p:cNvSpPr/>
          <p:nvPr/>
        </p:nvSpPr>
        <p:spPr>
          <a:xfrm>
            <a:off x="6537960" y="1755648"/>
            <a:ext cx="2194560" cy="338328"/>
          </a:xfrm>
          <a:prstGeom prst="rect">
            <a:avLst/>
          </a:prstGeom>
          <a:solidFill>
            <a:srgbClr val="F1F7F3"/>
          </a:solidFill>
          <a:ln/>
        </p:spPr>
      </p:sp>
      <p:sp>
        <p:nvSpPr>
          <p:cNvPr id="117" name="Text 113"/>
          <p:cNvSpPr txBox="1"/>
          <p:nvPr/>
        </p:nvSpPr>
        <p:spPr>
          <a:xfrm>
            <a:off x="6583680" y="1755648"/>
            <a:ext cx="2103120" cy="33832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Students</a:t>
            </a:r>
            <a:endParaRPr lang="en-US" sz="1000" dirty="0"/>
          </a:p>
        </p:txBody>
      </p:sp>
      <p:sp>
        <p:nvSpPr>
          <p:cNvPr id="118" name="Shape 114"/>
          <p:cNvSpPr/>
          <p:nvPr/>
        </p:nvSpPr>
        <p:spPr>
          <a:xfrm>
            <a:off x="8732520" y="1755648"/>
            <a:ext cx="1005840" cy="338328"/>
          </a:xfrm>
          <a:prstGeom prst="rect">
            <a:avLst/>
          </a:prstGeom>
          <a:solidFill>
            <a:srgbClr val="F1F7F3"/>
          </a:solidFill>
          <a:ln/>
        </p:spPr>
      </p:sp>
      <p:sp>
        <p:nvSpPr>
          <p:cNvPr id="119" name="Text 115"/>
          <p:cNvSpPr txBox="1"/>
          <p:nvPr/>
        </p:nvSpPr>
        <p:spPr>
          <a:xfrm>
            <a:off x="8778240" y="1755648"/>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180</a:t>
            </a:r>
            <a:endParaRPr lang="en-US" sz="1000" dirty="0"/>
          </a:p>
        </p:txBody>
      </p:sp>
      <p:sp>
        <p:nvSpPr>
          <p:cNvPr id="120" name="Shape 116"/>
          <p:cNvSpPr/>
          <p:nvPr/>
        </p:nvSpPr>
        <p:spPr>
          <a:xfrm>
            <a:off x="9738360" y="1755648"/>
            <a:ext cx="1005840" cy="338328"/>
          </a:xfrm>
          <a:prstGeom prst="rect">
            <a:avLst/>
          </a:prstGeom>
          <a:solidFill>
            <a:srgbClr val="F1F7F3"/>
          </a:solidFill>
          <a:ln/>
        </p:spPr>
      </p:sp>
      <p:sp>
        <p:nvSpPr>
          <p:cNvPr id="121" name="Text 117"/>
          <p:cNvSpPr txBox="1"/>
          <p:nvPr/>
        </p:nvSpPr>
        <p:spPr>
          <a:xfrm>
            <a:off x="9784080" y="1755648"/>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400</a:t>
            </a:r>
            <a:endParaRPr lang="en-US" sz="1000" dirty="0"/>
          </a:p>
        </p:txBody>
      </p:sp>
      <p:sp>
        <p:nvSpPr>
          <p:cNvPr id="122" name="Shape 118"/>
          <p:cNvSpPr/>
          <p:nvPr/>
        </p:nvSpPr>
        <p:spPr>
          <a:xfrm>
            <a:off x="10744200" y="1755648"/>
            <a:ext cx="987552" cy="338328"/>
          </a:xfrm>
          <a:prstGeom prst="rect">
            <a:avLst/>
          </a:prstGeom>
          <a:solidFill>
            <a:srgbClr val="F1F7F3"/>
          </a:solidFill>
          <a:ln/>
        </p:spPr>
      </p:sp>
      <p:sp>
        <p:nvSpPr>
          <p:cNvPr id="123" name="Text 119"/>
          <p:cNvSpPr txBox="1"/>
          <p:nvPr/>
        </p:nvSpPr>
        <p:spPr>
          <a:xfrm>
            <a:off x="10789920" y="1755648"/>
            <a:ext cx="896112"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1,200</a:t>
            </a:r>
            <a:endParaRPr lang="en-US" sz="1000" dirty="0"/>
          </a:p>
        </p:txBody>
      </p:sp>
      <p:sp>
        <p:nvSpPr>
          <p:cNvPr id="124" name="Shape 120"/>
          <p:cNvSpPr/>
          <p:nvPr/>
        </p:nvSpPr>
        <p:spPr>
          <a:xfrm>
            <a:off x="6537960" y="2093976"/>
            <a:ext cx="5193792" cy="0"/>
          </a:xfrm>
          <a:prstGeom prst="line">
            <a:avLst/>
          </a:prstGeom>
          <a:noFill/>
          <a:ln w="6350">
            <a:solidFill>
              <a:srgbClr val="E3E8E4"/>
            </a:solidFill>
            <a:prstDash val="solid"/>
          </a:ln>
        </p:spPr>
      </p:sp>
      <p:sp>
        <p:nvSpPr>
          <p:cNvPr id="125" name="Shape 121"/>
          <p:cNvSpPr/>
          <p:nvPr/>
        </p:nvSpPr>
        <p:spPr>
          <a:xfrm>
            <a:off x="6537960" y="2093976"/>
            <a:ext cx="2194560" cy="338328"/>
          </a:xfrm>
          <a:prstGeom prst="rect">
            <a:avLst/>
          </a:prstGeom>
          <a:solidFill>
            <a:srgbClr val="FFFFFF"/>
          </a:solidFill>
          <a:ln/>
        </p:spPr>
      </p:sp>
      <p:sp>
        <p:nvSpPr>
          <p:cNvPr id="126" name="Text 122"/>
          <p:cNvSpPr txBox="1"/>
          <p:nvPr/>
        </p:nvSpPr>
        <p:spPr>
          <a:xfrm>
            <a:off x="6583680" y="2093976"/>
            <a:ext cx="2103120" cy="33832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Annual fee per student</a:t>
            </a:r>
            <a:endParaRPr lang="en-US" sz="1000" dirty="0"/>
          </a:p>
        </p:txBody>
      </p:sp>
      <p:sp>
        <p:nvSpPr>
          <p:cNvPr id="127" name="Shape 123"/>
          <p:cNvSpPr/>
          <p:nvPr/>
        </p:nvSpPr>
        <p:spPr>
          <a:xfrm>
            <a:off x="8732520" y="2093976"/>
            <a:ext cx="1005840" cy="338328"/>
          </a:xfrm>
          <a:prstGeom prst="rect">
            <a:avLst/>
          </a:prstGeom>
          <a:solidFill>
            <a:srgbClr val="FFFFFF"/>
          </a:solidFill>
          <a:ln/>
        </p:spPr>
      </p:sp>
      <p:sp>
        <p:nvSpPr>
          <p:cNvPr id="128" name="Text 124"/>
          <p:cNvSpPr txBox="1"/>
          <p:nvPr/>
        </p:nvSpPr>
        <p:spPr>
          <a:xfrm>
            <a:off x="8778240" y="2093976"/>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₹60,000</a:t>
            </a:r>
            <a:endParaRPr lang="en-US" sz="1000" dirty="0"/>
          </a:p>
        </p:txBody>
      </p:sp>
      <p:sp>
        <p:nvSpPr>
          <p:cNvPr id="129" name="Shape 125"/>
          <p:cNvSpPr/>
          <p:nvPr/>
        </p:nvSpPr>
        <p:spPr>
          <a:xfrm>
            <a:off x="9738360" y="2093976"/>
            <a:ext cx="1005840" cy="338328"/>
          </a:xfrm>
          <a:prstGeom prst="rect">
            <a:avLst/>
          </a:prstGeom>
          <a:solidFill>
            <a:srgbClr val="FFFFFF"/>
          </a:solidFill>
          <a:ln/>
        </p:spPr>
      </p:sp>
      <p:sp>
        <p:nvSpPr>
          <p:cNvPr id="130" name="Text 126"/>
          <p:cNvSpPr txBox="1"/>
          <p:nvPr/>
        </p:nvSpPr>
        <p:spPr>
          <a:xfrm>
            <a:off x="9784080" y="2093976"/>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₹75,000</a:t>
            </a:r>
            <a:endParaRPr lang="en-US" sz="1000" dirty="0"/>
          </a:p>
        </p:txBody>
      </p:sp>
      <p:sp>
        <p:nvSpPr>
          <p:cNvPr id="131" name="Shape 127"/>
          <p:cNvSpPr/>
          <p:nvPr/>
        </p:nvSpPr>
        <p:spPr>
          <a:xfrm>
            <a:off x="10744200" y="2093976"/>
            <a:ext cx="987552" cy="338328"/>
          </a:xfrm>
          <a:prstGeom prst="rect">
            <a:avLst/>
          </a:prstGeom>
          <a:solidFill>
            <a:srgbClr val="FFFFFF"/>
          </a:solidFill>
          <a:ln/>
        </p:spPr>
      </p:sp>
      <p:sp>
        <p:nvSpPr>
          <p:cNvPr id="132" name="Text 128"/>
          <p:cNvSpPr txBox="1"/>
          <p:nvPr/>
        </p:nvSpPr>
        <p:spPr>
          <a:xfrm>
            <a:off x="10789920" y="2093976"/>
            <a:ext cx="896112"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₹1,00,000</a:t>
            </a:r>
            <a:endParaRPr lang="en-US" sz="1000" dirty="0"/>
          </a:p>
        </p:txBody>
      </p:sp>
      <p:sp>
        <p:nvSpPr>
          <p:cNvPr id="133" name="Shape 129"/>
          <p:cNvSpPr/>
          <p:nvPr/>
        </p:nvSpPr>
        <p:spPr>
          <a:xfrm>
            <a:off x="6537960" y="2432304"/>
            <a:ext cx="5193792" cy="0"/>
          </a:xfrm>
          <a:prstGeom prst="line">
            <a:avLst/>
          </a:prstGeom>
          <a:noFill/>
          <a:ln w="6350">
            <a:solidFill>
              <a:srgbClr val="E3E8E4"/>
            </a:solidFill>
            <a:prstDash val="solid"/>
          </a:ln>
        </p:spPr>
      </p:sp>
      <p:sp>
        <p:nvSpPr>
          <p:cNvPr id="134" name="Shape 130"/>
          <p:cNvSpPr/>
          <p:nvPr/>
        </p:nvSpPr>
        <p:spPr>
          <a:xfrm>
            <a:off x="6537960" y="2432304"/>
            <a:ext cx="2194560" cy="338328"/>
          </a:xfrm>
          <a:prstGeom prst="rect">
            <a:avLst/>
          </a:prstGeom>
          <a:solidFill>
            <a:srgbClr val="F1F7F3"/>
          </a:solidFill>
          <a:ln/>
        </p:spPr>
      </p:sp>
      <p:sp>
        <p:nvSpPr>
          <p:cNvPr id="135" name="Text 131"/>
          <p:cNvSpPr txBox="1"/>
          <p:nvPr/>
        </p:nvSpPr>
        <p:spPr>
          <a:xfrm>
            <a:off x="6583680" y="2432304"/>
            <a:ext cx="2103120" cy="33832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Return, all benefits</a:t>
            </a:r>
            <a:endParaRPr lang="en-US" sz="1000" dirty="0"/>
          </a:p>
        </p:txBody>
      </p:sp>
      <p:sp>
        <p:nvSpPr>
          <p:cNvPr id="136" name="Shape 132"/>
          <p:cNvSpPr/>
          <p:nvPr/>
        </p:nvSpPr>
        <p:spPr>
          <a:xfrm>
            <a:off x="8732520" y="2432304"/>
            <a:ext cx="1005840" cy="338328"/>
          </a:xfrm>
          <a:prstGeom prst="rect">
            <a:avLst/>
          </a:prstGeom>
          <a:solidFill>
            <a:srgbClr val="F1F7F3"/>
          </a:solidFill>
          <a:ln/>
        </p:spPr>
      </p:sp>
      <p:sp>
        <p:nvSpPr>
          <p:cNvPr id="137" name="Text 133"/>
          <p:cNvSpPr txBox="1"/>
          <p:nvPr/>
        </p:nvSpPr>
        <p:spPr>
          <a:xfrm>
            <a:off x="8778240" y="2432304"/>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1.6x</a:t>
            </a:r>
            <a:endParaRPr lang="en-US" sz="1000" dirty="0"/>
          </a:p>
        </p:txBody>
      </p:sp>
      <p:sp>
        <p:nvSpPr>
          <p:cNvPr id="138" name="Shape 134"/>
          <p:cNvSpPr/>
          <p:nvPr/>
        </p:nvSpPr>
        <p:spPr>
          <a:xfrm>
            <a:off x="9738360" y="2432304"/>
            <a:ext cx="1005840" cy="338328"/>
          </a:xfrm>
          <a:prstGeom prst="rect">
            <a:avLst/>
          </a:prstGeom>
          <a:solidFill>
            <a:srgbClr val="D6E4F5"/>
          </a:solidFill>
          <a:ln/>
        </p:spPr>
      </p:sp>
      <p:sp>
        <p:nvSpPr>
          <p:cNvPr id="139" name="Text 135"/>
          <p:cNvSpPr txBox="1"/>
          <p:nvPr/>
        </p:nvSpPr>
        <p:spPr>
          <a:xfrm>
            <a:off x="9784080" y="2432304"/>
            <a:ext cx="914400" cy="33832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1.7x</a:t>
            </a:r>
            <a:endParaRPr lang="en-US" sz="1000" dirty="0"/>
          </a:p>
        </p:txBody>
      </p:sp>
      <p:sp>
        <p:nvSpPr>
          <p:cNvPr id="140" name="Shape 136"/>
          <p:cNvSpPr/>
          <p:nvPr/>
        </p:nvSpPr>
        <p:spPr>
          <a:xfrm>
            <a:off x="10744200" y="2432304"/>
            <a:ext cx="987552" cy="338328"/>
          </a:xfrm>
          <a:prstGeom prst="rect">
            <a:avLst/>
          </a:prstGeom>
          <a:solidFill>
            <a:srgbClr val="F1F7F3"/>
          </a:solidFill>
          <a:ln/>
        </p:spPr>
      </p:sp>
      <p:sp>
        <p:nvSpPr>
          <p:cNvPr id="141" name="Text 137"/>
          <p:cNvSpPr txBox="1"/>
          <p:nvPr/>
        </p:nvSpPr>
        <p:spPr>
          <a:xfrm>
            <a:off x="10789920" y="2432304"/>
            <a:ext cx="896112"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2.1x</a:t>
            </a:r>
            <a:endParaRPr lang="en-US" sz="1000" dirty="0"/>
          </a:p>
        </p:txBody>
      </p:sp>
      <p:sp>
        <p:nvSpPr>
          <p:cNvPr id="142" name="Shape 138"/>
          <p:cNvSpPr/>
          <p:nvPr/>
        </p:nvSpPr>
        <p:spPr>
          <a:xfrm>
            <a:off x="6537960" y="2770632"/>
            <a:ext cx="5193792" cy="0"/>
          </a:xfrm>
          <a:prstGeom prst="line">
            <a:avLst/>
          </a:prstGeom>
          <a:noFill/>
          <a:ln w="6350">
            <a:solidFill>
              <a:srgbClr val="E3E8E4"/>
            </a:solidFill>
            <a:prstDash val="solid"/>
          </a:ln>
        </p:spPr>
      </p:sp>
      <p:sp>
        <p:nvSpPr>
          <p:cNvPr id="143" name="Shape 139"/>
          <p:cNvSpPr/>
          <p:nvPr/>
        </p:nvSpPr>
        <p:spPr>
          <a:xfrm>
            <a:off x="6537960" y="2770632"/>
            <a:ext cx="2194560" cy="338328"/>
          </a:xfrm>
          <a:prstGeom prst="rect">
            <a:avLst/>
          </a:prstGeom>
          <a:solidFill>
            <a:srgbClr val="FFFFFF"/>
          </a:solidFill>
          <a:ln/>
        </p:spPr>
      </p:sp>
      <p:sp>
        <p:nvSpPr>
          <p:cNvPr id="144" name="Text 140"/>
          <p:cNvSpPr txBox="1"/>
          <p:nvPr/>
        </p:nvSpPr>
        <p:spPr>
          <a:xfrm>
            <a:off x="6583680" y="2770632"/>
            <a:ext cx="2103120" cy="33832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LTV ÷ CAC, field sales</a:t>
            </a:r>
            <a:endParaRPr lang="en-US" sz="1000" dirty="0"/>
          </a:p>
        </p:txBody>
      </p:sp>
      <p:sp>
        <p:nvSpPr>
          <p:cNvPr id="145" name="Shape 141"/>
          <p:cNvSpPr/>
          <p:nvPr/>
        </p:nvSpPr>
        <p:spPr>
          <a:xfrm>
            <a:off x="8732520" y="2770632"/>
            <a:ext cx="1005840" cy="338328"/>
          </a:xfrm>
          <a:prstGeom prst="rect">
            <a:avLst/>
          </a:prstGeom>
          <a:solidFill>
            <a:srgbClr val="FFFFFF"/>
          </a:solidFill>
          <a:ln/>
        </p:spPr>
      </p:sp>
      <p:sp>
        <p:nvSpPr>
          <p:cNvPr id="146" name="Text 142"/>
          <p:cNvSpPr txBox="1"/>
          <p:nvPr/>
        </p:nvSpPr>
        <p:spPr>
          <a:xfrm>
            <a:off x="8778240" y="2770632"/>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1.5x</a:t>
            </a:r>
            <a:endParaRPr lang="en-US" sz="1000" dirty="0"/>
          </a:p>
        </p:txBody>
      </p:sp>
      <p:sp>
        <p:nvSpPr>
          <p:cNvPr id="147" name="Shape 143"/>
          <p:cNvSpPr/>
          <p:nvPr/>
        </p:nvSpPr>
        <p:spPr>
          <a:xfrm>
            <a:off x="9738360" y="2770632"/>
            <a:ext cx="1005840" cy="338328"/>
          </a:xfrm>
          <a:prstGeom prst="rect">
            <a:avLst/>
          </a:prstGeom>
          <a:solidFill>
            <a:srgbClr val="D6E4F5"/>
          </a:solidFill>
          <a:ln/>
        </p:spPr>
      </p:sp>
      <p:sp>
        <p:nvSpPr>
          <p:cNvPr id="148" name="Text 144"/>
          <p:cNvSpPr txBox="1"/>
          <p:nvPr/>
        </p:nvSpPr>
        <p:spPr>
          <a:xfrm>
            <a:off x="9784080" y="2770632"/>
            <a:ext cx="914400" cy="33832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3.6x</a:t>
            </a:r>
            <a:endParaRPr lang="en-US" sz="1000" dirty="0"/>
          </a:p>
        </p:txBody>
      </p:sp>
      <p:sp>
        <p:nvSpPr>
          <p:cNvPr id="149" name="Shape 145"/>
          <p:cNvSpPr/>
          <p:nvPr/>
        </p:nvSpPr>
        <p:spPr>
          <a:xfrm>
            <a:off x="10744200" y="2770632"/>
            <a:ext cx="987552" cy="338328"/>
          </a:xfrm>
          <a:prstGeom prst="rect">
            <a:avLst/>
          </a:prstGeom>
          <a:solidFill>
            <a:srgbClr val="FFFFFF"/>
          </a:solidFill>
          <a:ln/>
        </p:spPr>
      </p:sp>
      <p:sp>
        <p:nvSpPr>
          <p:cNvPr id="150" name="Text 146"/>
          <p:cNvSpPr txBox="1"/>
          <p:nvPr/>
        </p:nvSpPr>
        <p:spPr>
          <a:xfrm>
            <a:off x="10789920" y="2770632"/>
            <a:ext cx="896112"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9.2x</a:t>
            </a:r>
            <a:endParaRPr lang="en-US" sz="1000" dirty="0"/>
          </a:p>
        </p:txBody>
      </p:sp>
      <p:sp>
        <p:nvSpPr>
          <p:cNvPr id="151" name="Shape 147"/>
          <p:cNvSpPr/>
          <p:nvPr/>
        </p:nvSpPr>
        <p:spPr>
          <a:xfrm>
            <a:off x="6537960" y="3108960"/>
            <a:ext cx="5193792" cy="0"/>
          </a:xfrm>
          <a:prstGeom prst="line">
            <a:avLst/>
          </a:prstGeom>
          <a:noFill/>
          <a:ln w="6350">
            <a:solidFill>
              <a:srgbClr val="E3E8E4"/>
            </a:solidFill>
            <a:prstDash val="solid"/>
          </a:ln>
        </p:spPr>
      </p:sp>
      <p:sp>
        <p:nvSpPr>
          <p:cNvPr id="152" name="Shape 148"/>
          <p:cNvSpPr/>
          <p:nvPr/>
        </p:nvSpPr>
        <p:spPr>
          <a:xfrm>
            <a:off x="6537960" y="3108960"/>
            <a:ext cx="2194560" cy="338328"/>
          </a:xfrm>
          <a:prstGeom prst="rect">
            <a:avLst/>
          </a:prstGeom>
          <a:solidFill>
            <a:srgbClr val="F1F7F3"/>
          </a:solidFill>
          <a:ln/>
        </p:spPr>
      </p:sp>
      <p:sp>
        <p:nvSpPr>
          <p:cNvPr id="153" name="Text 149"/>
          <p:cNvSpPr txBox="1"/>
          <p:nvPr/>
        </p:nvSpPr>
        <p:spPr>
          <a:xfrm>
            <a:off x="6583680" y="3108960"/>
            <a:ext cx="2103120" cy="33832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LTV ÷ CAC, channel partner</a:t>
            </a:r>
            <a:endParaRPr lang="en-US" sz="1000" dirty="0"/>
          </a:p>
        </p:txBody>
      </p:sp>
      <p:sp>
        <p:nvSpPr>
          <p:cNvPr id="154" name="Shape 150"/>
          <p:cNvSpPr/>
          <p:nvPr/>
        </p:nvSpPr>
        <p:spPr>
          <a:xfrm>
            <a:off x="8732520" y="3108960"/>
            <a:ext cx="1005840" cy="338328"/>
          </a:xfrm>
          <a:prstGeom prst="rect">
            <a:avLst/>
          </a:prstGeom>
          <a:solidFill>
            <a:srgbClr val="F1F7F3"/>
          </a:solidFill>
          <a:ln/>
        </p:spPr>
      </p:sp>
      <p:sp>
        <p:nvSpPr>
          <p:cNvPr id="155" name="Text 151"/>
          <p:cNvSpPr txBox="1"/>
          <p:nvPr/>
        </p:nvSpPr>
        <p:spPr>
          <a:xfrm>
            <a:off x="8778240" y="3108960"/>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3.4x</a:t>
            </a:r>
            <a:endParaRPr lang="en-US" sz="1000" dirty="0"/>
          </a:p>
        </p:txBody>
      </p:sp>
      <p:sp>
        <p:nvSpPr>
          <p:cNvPr id="156" name="Shape 152"/>
          <p:cNvSpPr/>
          <p:nvPr/>
        </p:nvSpPr>
        <p:spPr>
          <a:xfrm>
            <a:off x="9738360" y="3108960"/>
            <a:ext cx="1005840" cy="338328"/>
          </a:xfrm>
          <a:prstGeom prst="rect">
            <a:avLst/>
          </a:prstGeom>
          <a:solidFill>
            <a:srgbClr val="F1F7F3"/>
          </a:solidFill>
          <a:ln/>
        </p:spPr>
      </p:sp>
      <p:sp>
        <p:nvSpPr>
          <p:cNvPr id="157" name="Text 153"/>
          <p:cNvSpPr txBox="1"/>
          <p:nvPr/>
        </p:nvSpPr>
        <p:spPr>
          <a:xfrm>
            <a:off x="9784080" y="3108960"/>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4.9x</a:t>
            </a:r>
            <a:endParaRPr lang="en-US" sz="1000" dirty="0"/>
          </a:p>
        </p:txBody>
      </p:sp>
      <p:sp>
        <p:nvSpPr>
          <p:cNvPr id="158" name="Shape 154"/>
          <p:cNvSpPr/>
          <p:nvPr/>
        </p:nvSpPr>
        <p:spPr>
          <a:xfrm>
            <a:off x="10744200" y="3108960"/>
            <a:ext cx="987552" cy="338328"/>
          </a:xfrm>
          <a:prstGeom prst="rect">
            <a:avLst/>
          </a:prstGeom>
          <a:solidFill>
            <a:srgbClr val="F1F7F3"/>
          </a:solidFill>
          <a:ln/>
        </p:spPr>
      </p:sp>
      <p:sp>
        <p:nvSpPr>
          <p:cNvPr id="159" name="Text 155"/>
          <p:cNvSpPr txBox="1"/>
          <p:nvPr/>
        </p:nvSpPr>
        <p:spPr>
          <a:xfrm>
            <a:off x="10789920" y="3108960"/>
            <a:ext cx="896112"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6.1x</a:t>
            </a:r>
            <a:endParaRPr lang="en-US" sz="1000" dirty="0"/>
          </a:p>
        </p:txBody>
      </p:sp>
      <p:sp>
        <p:nvSpPr>
          <p:cNvPr id="160" name="Shape 156"/>
          <p:cNvSpPr/>
          <p:nvPr/>
        </p:nvSpPr>
        <p:spPr>
          <a:xfrm>
            <a:off x="6537960" y="3447288"/>
            <a:ext cx="5193792" cy="0"/>
          </a:xfrm>
          <a:prstGeom prst="line">
            <a:avLst/>
          </a:prstGeom>
          <a:noFill/>
          <a:ln w="6350">
            <a:solidFill>
              <a:srgbClr val="E3E8E4"/>
            </a:solidFill>
            <a:prstDash val="solid"/>
          </a:ln>
        </p:spPr>
      </p:sp>
      <p:sp>
        <p:nvSpPr>
          <p:cNvPr id="161" name="Shape 157"/>
          <p:cNvSpPr/>
          <p:nvPr/>
        </p:nvSpPr>
        <p:spPr>
          <a:xfrm>
            <a:off x="6537960" y="3447288"/>
            <a:ext cx="2194560" cy="338328"/>
          </a:xfrm>
          <a:prstGeom prst="rect">
            <a:avLst/>
          </a:prstGeom>
          <a:solidFill>
            <a:srgbClr val="FFFFFF"/>
          </a:solidFill>
          <a:ln/>
        </p:spPr>
      </p:sp>
      <p:sp>
        <p:nvSpPr>
          <p:cNvPr id="162" name="Text 158"/>
          <p:cNvSpPr txBox="1"/>
          <p:nvPr/>
        </p:nvSpPr>
        <p:spPr>
          <a:xfrm>
            <a:off x="6583680" y="3447288"/>
            <a:ext cx="2103120" cy="33832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Payback, months</a:t>
            </a:r>
            <a:endParaRPr lang="en-US" sz="1000" dirty="0"/>
          </a:p>
        </p:txBody>
      </p:sp>
      <p:sp>
        <p:nvSpPr>
          <p:cNvPr id="163" name="Shape 159"/>
          <p:cNvSpPr/>
          <p:nvPr/>
        </p:nvSpPr>
        <p:spPr>
          <a:xfrm>
            <a:off x="8732520" y="3447288"/>
            <a:ext cx="1005840" cy="338328"/>
          </a:xfrm>
          <a:prstGeom prst="rect">
            <a:avLst/>
          </a:prstGeom>
          <a:solidFill>
            <a:srgbClr val="FFFFFF"/>
          </a:solidFill>
          <a:ln/>
        </p:spPr>
      </p:sp>
      <p:sp>
        <p:nvSpPr>
          <p:cNvPr id="164" name="Text 160"/>
          <p:cNvSpPr txBox="1"/>
          <p:nvPr/>
        </p:nvSpPr>
        <p:spPr>
          <a:xfrm>
            <a:off x="8778240" y="3447288"/>
            <a:ext cx="914400"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19</a:t>
            </a:r>
            <a:endParaRPr lang="en-US" sz="1000" dirty="0"/>
          </a:p>
        </p:txBody>
      </p:sp>
      <p:sp>
        <p:nvSpPr>
          <p:cNvPr id="165" name="Shape 161"/>
          <p:cNvSpPr/>
          <p:nvPr/>
        </p:nvSpPr>
        <p:spPr>
          <a:xfrm>
            <a:off x="9738360" y="3447288"/>
            <a:ext cx="1005840" cy="338328"/>
          </a:xfrm>
          <a:prstGeom prst="rect">
            <a:avLst/>
          </a:prstGeom>
          <a:solidFill>
            <a:srgbClr val="D6E4F5"/>
          </a:solidFill>
          <a:ln/>
        </p:spPr>
      </p:sp>
      <p:sp>
        <p:nvSpPr>
          <p:cNvPr id="166" name="Text 162"/>
          <p:cNvSpPr txBox="1"/>
          <p:nvPr/>
        </p:nvSpPr>
        <p:spPr>
          <a:xfrm>
            <a:off x="9784080" y="3447288"/>
            <a:ext cx="914400" cy="33832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6</a:t>
            </a:r>
            <a:endParaRPr lang="en-US" sz="1000" dirty="0"/>
          </a:p>
        </p:txBody>
      </p:sp>
      <p:sp>
        <p:nvSpPr>
          <p:cNvPr id="167" name="Shape 163"/>
          <p:cNvSpPr/>
          <p:nvPr/>
        </p:nvSpPr>
        <p:spPr>
          <a:xfrm>
            <a:off x="10744200" y="3447288"/>
            <a:ext cx="987552" cy="338328"/>
          </a:xfrm>
          <a:prstGeom prst="rect">
            <a:avLst/>
          </a:prstGeom>
          <a:solidFill>
            <a:srgbClr val="FFFFFF"/>
          </a:solidFill>
          <a:ln/>
        </p:spPr>
      </p:sp>
      <p:sp>
        <p:nvSpPr>
          <p:cNvPr id="168" name="Text 164"/>
          <p:cNvSpPr txBox="1"/>
          <p:nvPr/>
        </p:nvSpPr>
        <p:spPr>
          <a:xfrm>
            <a:off x="10789920" y="3447288"/>
            <a:ext cx="896112" cy="33832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a:t>
            </a:r>
            <a:endParaRPr lang="en-US" sz="1000" dirty="0"/>
          </a:p>
        </p:txBody>
      </p:sp>
      <p:sp>
        <p:nvSpPr>
          <p:cNvPr id="169" name="Shape 165"/>
          <p:cNvSpPr/>
          <p:nvPr/>
        </p:nvSpPr>
        <p:spPr>
          <a:xfrm>
            <a:off x="6537960" y="3785616"/>
            <a:ext cx="5193792" cy="0"/>
          </a:xfrm>
          <a:prstGeom prst="line">
            <a:avLst/>
          </a:prstGeom>
          <a:noFill/>
          <a:ln w="6350">
            <a:solidFill>
              <a:srgbClr val="E3E8E4"/>
            </a:solidFill>
            <a:prstDash val="solid"/>
          </a:ln>
        </p:spPr>
      </p:sp>
      <p:sp>
        <p:nvSpPr>
          <p:cNvPr id="170" name="Shape 166"/>
          <p:cNvSpPr/>
          <p:nvPr/>
        </p:nvSpPr>
        <p:spPr>
          <a:xfrm>
            <a:off x="6537960" y="3977640"/>
            <a:ext cx="5239512" cy="2194560"/>
          </a:xfrm>
          <a:prstGeom prst="rect">
            <a:avLst/>
          </a:prstGeom>
          <a:solidFill>
            <a:srgbClr val="F4F7FB"/>
          </a:solidFill>
          <a:ln/>
        </p:spPr>
      </p:sp>
      <p:sp>
        <p:nvSpPr>
          <p:cNvPr id="171" name="Text 167"/>
          <p:cNvSpPr txBox="1"/>
          <p:nvPr/>
        </p:nvSpPr>
        <p:spPr>
          <a:xfrm>
            <a:off x="6675120" y="4041648"/>
            <a:ext cx="4937760" cy="256032"/>
          </a:xfrm>
          <a:prstGeom prst="rect">
            <a:avLst/>
          </a:prstGeom>
          <a:noFill/>
          <a:ln/>
        </p:spPr>
        <p:txBody>
          <a:bodyPr wrap="square" lIns="0" tIns="0" rIns="0" bIns="0" rtlCol="0" anchor="t"/>
          <a:lstStyle/>
          <a:p>
            <a:pPr algn="l" indent="0" marL="0">
              <a:buNone/>
            </a:pPr>
            <a:r>
              <a:rPr lang="en-US" sz="1050" b="1" spc="50" kern="0" dirty="0">
                <a:solidFill>
                  <a:srgbClr val="1F4A82"/>
                </a:solidFill>
                <a:latin typeface="Calibri" pitchFamily="34" charset="0"/>
                <a:ea typeface="Calibri" pitchFamily="34" charset="-122"/>
                <a:cs typeface="Calibri" pitchFamily="34" charset="-120"/>
              </a:rPr>
              <a:t>WHAT THIS MEANS FOR GO-TO-MARKET</a:t>
            </a:r>
            <a:endParaRPr lang="en-US" sz="1050" dirty="0"/>
          </a:p>
        </p:txBody>
      </p:sp>
      <p:sp>
        <p:nvSpPr>
          <p:cNvPr id="172" name="Text 168"/>
          <p:cNvSpPr txBox="1"/>
          <p:nvPr/>
        </p:nvSpPr>
        <p:spPr>
          <a:xfrm>
            <a:off x="6675120" y="4370832"/>
            <a:ext cx="4937760" cy="1737360"/>
          </a:xfrm>
          <a:prstGeom prst="rect">
            <a:avLst/>
          </a:prstGeom>
          <a:noFill/>
          <a:ln/>
        </p:spPr>
        <p:txBody>
          <a:bodyPr wrap="square" lIns="0" tIns="0" rIns="0" bIns="0" rtlCol="0" anchor="t"/>
          <a:lstStyle/>
          <a:p>
            <a:pPr algn="l" marL="152400" indent="-1524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Mid and large institutes: field sales pays.</a:t>
            </a:r>
            <a:endParaRPr lang="en-US" sz="1050" dirty="0"/>
          </a:p>
          <a:p>
            <a:pPr algn="l" marL="152400" indent="-1524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Small institutes: channel partners, not reps.</a:t>
            </a:r>
            <a:endParaRPr lang="en-US" sz="1050" dirty="0"/>
          </a:p>
          <a:p>
            <a:pPr algn="l" marL="152400" indent="-1524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One field rep at 8 % of the market.</a:t>
            </a:r>
            <a:endParaRPr lang="en-US" sz="1050" dirty="0"/>
          </a:p>
          <a:p>
            <a:pPr algn="l" marL="152400" indent="-1524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Raise ₹45 L, break even in month 16.</a:t>
            </a:r>
            <a:endParaRPr lang="en-US" sz="1050" dirty="0"/>
          </a:p>
          <a:p>
            <a:pPr algn="l" marL="152400" indent="-1524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Bear case needs ₹1 Cr: we stop if pilots fail.</a:t>
            </a:r>
            <a:endParaRPr lang="en-US" sz="1050" dirty="0"/>
          </a:p>
        </p:txBody>
      </p:sp>
      <p:sp>
        <p:nvSpPr>
          <p:cNvPr id="173" name="Text 169"/>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financial model v1.1 (Projection, Scenarios; Bear, Base, Bull). Model output from sourced and assumed inputs; willingness to pay is untested. 1 Cr = 100 lakh (L).</a:t>
            </a:r>
            <a:endParaRPr lang="en-US" sz="850" dirty="0"/>
          </a:p>
        </p:txBody>
      </p:sp>
      <p:pic>
        <p:nvPicPr>
          <p:cNvPr id="174"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175"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176"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177"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178"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179"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180"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database">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3: DATA MODEL AND QUESTION TAGGING</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31 tables in five groups, all isolated per institute</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88720"/>
            <a:ext cx="3703320" cy="301752"/>
          </a:xfrm>
          <a:prstGeom prst="rect">
            <a:avLst/>
          </a:prstGeom>
          <a:solidFill>
            <a:srgbClr val="1F4A82"/>
          </a:solidFill>
          <a:ln/>
        </p:spPr>
      </p:sp>
      <p:sp>
        <p:nvSpPr>
          <p:cNvPr id="26" name="Text 22"/>
          <p:cNvSpPr txBox="1"/>
          <p:nvPr/>
        </p:nvSpPr>
        <p:spPr>
          <a:xfrm>
            <a:off x="521208" y="1188720"/>
            <a:ext cx="34838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PEOPLE</a:t>
            </a:r>
            <a:endParaRPr lang="en-US" sz="1200" dirty="0"/>
          </a:p>
        </p:txBody>
      </p:sp>
      <p:sp>
        <p:nvSpPr>
          <p:cNvPr id="27" name="Shape 23"/>
          <p:cNvSpPr/>
          <p:nvPr/>
        </p:nvSpPr>
        <p:spPr>
          <a:xfrm>
            <a:off x="4169664" y="1188720"/>
            <a:ext cx="0" cy="1920240"/>
          </a:xfrm>
          <a:prstGeom prst="line">
            <a:avLst/>
          </a:prstGeom>
          <a:noFill/>
          <a:ln w="12700">
            <a:solidFill>
              <a:srgbClr val="8FA9CC"/>
            </a:solidFill>
            <a:prstDash val="dash"/>
          </a:ln>
        </p:spPr>
      </p:sp>
      <p:sp>
        <p:nvSpPr>
          <p:cNvPr id="28" name="Text 24"/>
          <p:cNvSpPr txBox="1"/>
          <p:nvPr/>
        </p:nvSpPr>
        <p:spPr>
          <a:xfrm>
            <a:off x="548640" y="1645920"/>
            <a:ext cx="3429000" cy="13716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institutes, users, students, guardians, batches, batch_changes, consents, legal_settings</a:t>
            </a:r>
            <a:endParaRPr lang="en-US" sz="1200" dirty="0"/>
          </a:p>
        </p:txBody>
      </p:sp>
      <p:sp>
        <p:nvSpPr>
          <p:cNvPr id="29" name="Shape 25"/>
          <p:cNvSpPr/>
          <p:nvPr/>
        </p:nvSpPr>
        <p:spPr>
          <a:xfrm>
            <a:off x="4233672" y="1188720"/>
            <a:ext cx="3703320" cy="301752"/>
          </a:xfrm>
          <a:prstGeom prst="rect">
            <a:avLst/>
          </a:prstGeom>
          <a:solidFill>
            <a:srgbClr val="2E6DB4"/>
          </a:solidFill>
          <a:ln/>
        </p:spPr>
      </p:sp>
      <p:sp>
        <p:nvSpPr>
          <p:cNvPr id="30" name="Text 26"/>
          <p:cNvSpPr txBox="1"/>
          <p:nvPr/>
        </p:nvSpPr>
        <p:spPr>
          <a:xfrm>
            <a:off x="4343400" y="1188720"/>
            <a:ext cx="34838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LEARNING</a:t>
            </a:r>
            <a:endParaRPr lang="en-US" sz="1200" dirty="0"/>
          </a:p>
        </p:txBody>
      </p:sp>
      <p:sp>
        <p:nvSpPr>
          <p:cNvPr id="31" name="Shape 27"/>
          <p:cNvSpPr/>
          <p:nvPr/>
        </p:nvSpPr>
        <p:spPr>
          <a:xfrm>
            <a:off x="7991856" y="1188720"/>
            <a:ext cx="0" cy="1920240"/>
          </a:xfrm>
          <a:prstGeom prst="line">
            <a:avLst/>
          </a:prstGeom>
          <a:noFill/>
          <a:ln w="12700">
            <a:solidFill>
              <a:srgbClr val="8FA9CC"/>
            </a:solidFill>
            <a:prstDash val="dash"/>
          </a:ln>
        </p:spPr>
      </p:sp>
      <p:sp>
        <p:nvSpPr>
          <p:cNvPr id="32" name="Text 28"/>
          <p:cNvSpPr txBox="1"/>
          <p:nvPr/>
        </p:nvSpPr>
        <p:spPr>
          <a:xfrm>
            <a:off x="4370832" y="1645920"/>
            <a:ext cx="3429000" cy="13716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topics, topic_prereqs, questions, question_topics, item_params, tests, test_questions, answer_keys, marking_schemes</a:t>
            </a:r>
            <a:endParaRPr lang="en-US" sz="1200" dirty="0"/>
          </a:p>
        </p:txBody>
      </p:sp>
      <p:sp>
        <p:nvSpPr>
          <p:cNvPr id="33" name="Shape 29"/>
          <p:cNvSpPr/>
          <p:nvPr/>
        </p:nvSpPr>
        <p:spPr>
          <a:xfrm>
            <a:off x="8055864" y="1188720"/>
            <a:ext cx="3703320" cy="301752"/>
          </a:xfrm>
          <a:prstGeom prst="rect">
            <a:avLst/>
          </a:prstGeom>
          <a:solidFill>
            <a:srgbClr val="1F4A82"/>
          </a:solidFill>
          <a:ln/>
        </p:spPr>
      </p:sp>
      <p:sp>
        <p:nvSpPr>
          <p:cNvPr id="34" name="Text 30"/>
          <p:cNvSpPr txBox="1"/>
          <p:nvPr/>
        </p:nvSpPr>
        <p:spPr>
          <a:xfrm>
            <a:off x="8165592" y="1188720"/>
            <a:ext cx="34838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RESULTS</a:t>
            </a:r>
            <a:endParaRPr lang="en-US" sz="1200" dirty="0"/>
          </a:p>
        </p:txBody>
      </p:sp>
      <p:sp>
        <p:nvSpPr>
          <p:cNvPr id="35" name="Text 31"/>
          <p:cNvSpPr txBox="1"/>
          <p:nvPr/>
        </p:nvSpPr>
        <p:spPr>
          <a:xfrm>
            <a:off x="8193024" y="1645920"/>
            <a:ext cx="3429000" cy="13716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responses, test_totals, attendance, fees, engagement</a:t>
            </a:r>
            <a:endParaRPr lang="en-US" sz="1200" dirty="0"/>
          </a:p>
        </p:txBody>
      </p:sp>
      <p:sp>
        <p:nvSpPr>
          <p:cNvPr id="36" name="Text 32"/>
          <p:cNvSpPr txBox="1"/>
          <p:nvPr/>
        </p:nvSpPr>
        <p:spPr>
          <a:xfrm>
            <a:off x="448056" y="3264408"/>
            <a:ext cx="361188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INTELLIGENCE</a:t>
            </a:r>
            <a:endParaRPr lang="en-US" sz="1250" dirty="0"/>
          </a:p>
        </p:txBody>
      </p:sp>
      <p:sp>
        <p:nvSpPr>
          <p:cNvPr id="37" name="Shape 33"/>
          <p:cNvSpPr/>
          <p:nvPr/>
        </p:nvSpPr>
        <p:spPr>
          <a:xfrm>
            <a:off x="448056" y="3557016"/>
            <a:ext cx="3611880" cy="10973"/>
          </a:xfrm>
          <a:prstGeom prst="rect">
            <a:avLst/>
          </a:prstGeom>
          <a:solidFill>
            <a:srgbClr val="C9D6E8"/>
          </a:solidFill>
          <a:ln/>
        </p:spPr>
      </p:sp>
      <p:sp>
        <p:nvSpPr>
          <p:cNvPr id="38" name="Shape 34"/>
          <p:cNvSpPr/>
          <p:nvPr/>
        </p:nvSpPr>
        <p:spPr>
          <a:xfrm>
            <a:off x="448056" y="3547872"/>
            <a:ext cx="2194560" cy="27432"/>
          </a:xfrm>
          <a:prstGeom prst="rect">
            <a:avLst/>
          </a:prstGeom>
          <a:solidFill>
            <a:srgbClr val="1F4A82"/>
          </a:solidFill>
          <a:ln/>
        </p:spPr>
      </p:sp>
      <p:sp>
        <p:nvSpPr>
          <p:cNvPr id="39" name="Shape 35"/>
          <p:cNvSpPr/>
          <p:nvPr/>
        </p:nvSpPr>
        <p:spPr>
          <a:xfrm>
            <a:off x="4169664" y="3291840"/>
            <a:ext cx="0" cy="1874520"/>
          </a:xfrm>
          <a:prstGeom prst="line">
            <a:avLst/>
          </a:prstGeom>
          <a:noFill/>
          <a:ln w="12700">
            <a:solidFill>
              <a:srgbClr val="8FA9CC"/>
            </a:solidFill>
            <a:prstDash val="dash"/>
          </a:ln>
        </p:spPr>
      </p:sp>
      <p:sp>
        <p:nvSpPr>
          <p:cNvPr id="40" name="Text 36"/>
          <p:cNvSpPr txBox="1"/>
          <p:nvPr/>
        </p:nvSpPr>
        <p:spPr>
          <a:xfrm>
            <a:off x="548640" y="3703320"/>
            <a:ext cx="3429000" cy="13716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mastery_snapshots, risk_scores, predictions, interventions, reports, model_registry</a:t>
            </a:r>
            <a:endParaRPr lang="en-US" sz="1200" dirty="0"/>
          </a:p>
        </p:txBody>
      </p:sp>
      <p:sp>
        <p:nvSpPr>
          <p:cNvPr id="41" name="Text 37"/>
          <p:cNvSpPr txBox="1"/>
          <p:nvPr/>
        </p:nvSpPr>
        <p:spPr>
          <a:xfrm>
            <a:off x="4270248" y="3264408"/>
            <a:ext cx="361188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OPERATIONS</a:t>
            </a:r>
            <a:endParaRPr lang="en-US" sz="1250" dirty="0"/>
          </a:p>
        </p:txBody>
      </p:sp>
      <p:sp>
        <p:nvSpPr>
          <p:cNvPr id="42" name="Shape 38"/>
          <p:cNvSpPr/>
          <p:nvPr/>
        </p:nvSpPr>
        <p:spPr>
          <a:xfrm>
            <a:off x="4270248" y="3557016"/>
            <a:ext cx="3611880" cy="10973"/>
          </a:xfrm>
          <a:prstGeom prst="rect">
            <a:avLst/>
          </a:prstGeom>
          <a:solidFill>
            <a:srgbClr val="C9D6E8"/>
          </a:solidFill>
          <a:ln/>
        </p:spPr>
      </p:sp>
      <p:sp>
        <p:nvSpPr>
          <p:cNvPr id="43" name="Shape 39"/>
          <p:cNvSpPr/>
          <p:nvPr/>
        </p:nvSpPr>
        <p:spPr>
          <a:xfrm>
            <a:off x="4270248" y="3547872"/>
            <a:ext cx="2194560" cy="27432"/>
          </a:xfrm>
          <a:prstGeom prst="rect">
            <a:avLst/>
          </a:prstGeom>
          <a:solidFill>
            <a:srgbClr val="1F4A82"/>
          </a:solidFill>
          <a:ln/>
        </p:spPr>
      </p:sp>
      <p:sp>
        <p:nvSpPr>
          <p:cNvPr id="44" name="Shape 40"/>
          <p:cNvSpPr/>
          <p:nvPr/>
        </p:nvSpPr>
        <p:spPr>
          <a:xfrm>
            <a:off x="7991856" y="3291840"/>
            <a:ext cx="0" cy="1874520"/>
          </a:xfrm>
          <a:prstGeom prst="line">
            <a:avLst/>
          </a:prstGeom>
          <a:noFill/>
          <a:ln w="12700">
            <a:solidFill>
              <a:srgbClr val="8FA9CC"/>
            </a:solidFill>
            <a:prstDash val="dash"/>
          </a:ln>
        </p:spPr>
      </p:sp>
      <p:sp>
        <p:nvSpPr>
          <p:cNvPr id="45" name="Text 41"/>
          <p:cNvSpPr txBox="1"/>
          <p:nvPr/>
        </p:nvSpPr>
        <p:spPr>
          <a:xfrm>
            <a:off x="4370832" y="3703320"/>
            <a:ext cx="3429000" cy="13716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ingest_jobs, omr_templates, audit_log</a:t>
            </a:r>
            <a:endParaRPr lang="en-US" sz="1200" dirty="0"/>
          </a:p>
        </p:txBody>
      </p:sp>
      <p:sp>
        <p:nvSpPr>
          <p:cNvPr id="46" name="Text 42"/>
          <p:cNvSpPr txBox="1"/>
          <p:nvPr/>
        </p:nvSpPr>
        <p:spPr>
          <a:xfrm>
            <a:off x="8092440" y="3493008"/>
            <a:ext cx="361188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DELIBERATELY NOT STORED</a:t>
            </a:r>
            <a:endParaRPr lang="en-US" sz="1250" dirty="0"/>
          </a:p>
        </p:txBody>
      </p:sp>
      <p:sp>
        <p:nvSpPr>
          <p:cNvPr id="47" name="Shape 43"/>
          <p:cNvSpPr/>
          <p:nvPr/>
        </p:nvSpPr>
        <p:spPr>
          <a:xfrm>
            <a:off x="8092440" y="3785616"/>
            <a:ext cx="3611880" cy="10973"/>
          </a:xfrm>
          <a:prstGeom prst="rect">
            <a:avLst/>
          </a:prstGeom>
          <a:solidFill>
            <a:srgbClr val="C9D6E8"/>
          </a:solidFill>
          <a:ln/>
        </p:spPr>
      </p:sp>
      <p:sp>
        <p:nvSpPr>
          <p:cNvPr id="48" name="Shape 44"/>
          <p:cNvSpPr/>
          <p:nvPr/>
        </p:nvSpPr>
        <p:spPr>
          <a:xfrm>
            <a:off x="8092440" y="3776472"/>
            <a:ext cx="2194560" cy="27432"/>
          </a:xfrm>
          <a:prstGeom prst="rect">
            <a:avLst/>
          </a:prstGeom>
          <a:solidFill>
            <a:srgbClr val="1F4A82"/>
          </a:solidFill>
          <a:ln/>
        </p:spPr>
      </p:sp>
      <p:sp>
        <p:nvSpPr>
          <p:cNvPr id="49" name="Text 45"/>
          <p:cNvSpPr txBox="1"/>
          <p:nvPr/>
        </p:nvSpPr>
        <p:spPr>
          <a:xfrm>
            <a:off x="8238744" y="3840480"/>
            <a:ext cx="3383280" cy="1097280"/>
          </a:xfrm>
          <a:prstGeom prst="rect">
            <a:avLst/>
          </a:prstGeom>
          <a:noFill/>
          <a:ln/>
        </p:spPr>
        <p:txBody>
          <a:bodyPr wrap="square" lIns="0" tIns="0" rIns="0" bIns="0" rtlCol="0" anchor="t"/>
          <a:lstStyle/>
          <a:p>
            <a:pPr algn="l" marL="152400" indent="-1524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Counselling notes or mental-health information</a:t>
            </a:r>
            <a:endParaRPr lang="en-US" sz="1100" dirty="0"/>
          </a:p>
          <a:p>
            <a:pPr algn="l" marL="152400" indent="-1524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ID document images</a:t>
            </a:r>
            <a:endParaRPr lang="en-US" sz="1100" dirty="0"/>
          </a:p>
          <a:p>
            <a:pPr algn="l" marL="152400" indent="-1524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Student photographs</a:t>
            </a:r>
            <a:endParaRPr lang="en-US" sz="1100" dirty="0"/>
          </a:p>
          <a:p>
            <a:pPr algn="l" marL="152400" indent="-1524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Any public rank</a:t>
            </a:r>
            <a:endParaRPr lang="en-US" sz="1100" dirty="0"/>
          </a:p>
        </p:txBody>
      </p:sp>
      <p:sp>
        <p:nvSpPr>
          <p:cNvPr id="50" name="Text 46"/>
          <p:cNvSpPr txBox="1"/>
          <p:nvPr/>
        </p:nvSpPr>
        <p:spPr>
          <a:xfrm>
            <a:off x="411480" y="5074920"/>
            <a:ext cx="7315200" cy="219456"/>
          </a:xfrm>
          <a:prstGeom prst="rect">
            <a:avLst/>
          </a:prstGeom>
          <a:noFill/>
          <a:ln/>
        </p:spPr>
        <p:txBody>
          <a:bodyPr wrap="square" lIns="0" tIns="0" rIns="0" bIns="0" rtlCol="0" anchor="t"/>
          <a:lstStyle/>
          <a:p>
            <a:pPr algn="l" indent="0" marL="0">
              <a:buNone/>
            </a:pPr>
            <a:r>
              <a:rPr lang="en-US" sz="1000" b="1" spc="50" kern="0" dirty="0">
                <a:solidFill>
                  <a:srgbClr val="1F4A82"/>
                </a:solidFill>
                <a:latin typeface="Calibri" pitchFamily="34" charset="0"/>
                <a:ea typeface="Calibri" pitchFamily="34" charset="-122"/>
                <a:cs typeface="Calibri" pitchFamily="34" charset="-120"/>
              </a:rPr>
              <a:t>HOW EVERY QUESTION GETS ITS TOPIC (SO TAGGING COSTS FALL AS WE GROW)</a:t>
            </a:r>
            <a:endParaRPr lang="en-US" sz="1000" dirty="0"/>
          </a:p>
        </p:txBody>
      </p:sp>
      <p:sp>
        <p:nvSpPr>
          <p:cNvPr id="51" name="Shape 47"/>
          <p:cNvSpPr/>
          <p:nvPr/>
        </p:nvSpPr>
        <p:spPr>
          <a:xfrm>
            <a:off x="411480" y="5330952"/>
            <a:ext cx="1559015" cy="457200"/>
          </a:xfrm>
          <a:prstGeom prst="homePlate">
            <a:avLst/>
          </a:prstGeom>
          <a:solidFill>
            <a:srgbClr val="1F4A82"/>
          </a:solidFill>
          <a:ln w="25400">
            <a:solidFill>
              <a:srgbClr val="FFFFFF"/>
            </a:solidFill>
            <a:prstDash val="solid"/>
          </a:ln>
        </p:spPr>
      </p:sp>
      <p:sp>
        <p:nvSpPr>
          <p:cNvPr id="52" name="Text 48"/>
          <p:cNvSpPr txBox="1"/>
          <p:nvPr/>
        </p:nvSpPr>
        <p:spPr>
          <a:xfrm>
            <a:off x="539496" y="5330952"/>
            <a:ext cx="1266407"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Question text</a:t>
            </a:r>
            <a:endParaRPr lang="en-US" sz="900" dirty="0"/>
          </a:p>
        </p:txBody>
      </p:sp>
      <p:sp>
        <p:nvSpPr>
          <p:cNvPr id="53" name="Shape 49"/>
          <p:cNvSpPr/>
          <p:nvPr/>
        </p:nvSpPr>
        <p:spPr>
          <a:xfrm>
            <a:off x="1850526" y="5330952"/>
            <a:ext cx="1559015" cy="457200"/>
          </a:xfrm>
          <a:prstGeom prst="chevron">
            <a:avLst/>
          </a:prstGeom>
          <a:solidFill>
            <a:srgbClr val="2E6DB4"/>
          </a:solidFill>
          <a:ln w="25400">
            <a:solidFill>
              <a:srgbClr val="FFFFFF"/>
            </a:solidFill>
            <a:prstDash val="solid"/>
          </a:ln>
        </p:spPr>
      </p:sp>
      <p:sp>
        <p:nvSpPr>
          <p:cNvPr id="54" name="Text 50"/>
          <p:cNvSpPr txBox="1"/>
          <p:nvPr/>
        </p:nvSpPr>
        <p:spPr>
          <a:xfrm>
            <a:off x="2033406" y="5330952"/>
            <a:ext cx="1211543"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Shortlist</a:t>
            </a:r>
            <a:endParaRPr lang="en-US" sz="1400" dirty="0"/>
          </a:p>
          <a:p>
            <a:pPr algn="ctr" indent="0" marL="0">
              <a:buNone/>
            </a:pPr>
            <a:r>
              <a:rPr lang="en-US" sz="650" dirty="0">
                <a:solidFill>
                  <a:srgbClr val="FFFFFF"/>
                </a:solidFill>
                <a:latin typeface="Calibri" pitchFamily="34" charset="0"/>
                <a:ea typeface="Calibri" pitchFamily="34" charset="-122"/>
                <a:cs typeface="Calibri" pitchFamily="34" charset="-120"/>
              </a:rPr>
              <a:t>embedding</a:t>
            </a:r>
            <a:endParaRPr lang="en-US" sz="1400" dirty="0"/>
          </a:p>
        </p:txBody>
      </p:sp>
      <p:sp>
        <p:nvSpPr>
          <p:cNvPr id="55" name="Shape 51"/>
          <p:cNvSpPr/>
          <p:nvPr/>
        </p:nvSpPr>
        <p:spPr>
          <a:xfrm>
            <a:off x="3289572" y="5330952"/>
            <a:ext cx="1559015" cy="457200"/>
          </a:xfrm>
          <a:prstGeom prst="chevron">
            <a:avLst/>
          </a:prstGeom>
          <a:solidFill>
            <a:srgbClr val="1F4A82"/>
          </a:solidFill>
          <a:ln w="25400">
            <a:solidFill>
              <a:srgbClr val="FFFFFF"/>
            </a:solidFill>
            <a:prstDash val="solid"/>
          </a:ln>
        </p:spPr>
      </p:sp>
      <p:sp>
        <p:nvSpPr>
          <p:cNvPr id="56" name="Text 52"/>
          <p:cNvSpPr txBox="1"/>
          <p:nvPr/>
        </p:nvSpPr>
        <p:spPr>
          <a:xfrm>
            <a:off x="3472452" y="5330952"/>
            <a:ext cx="1211543"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Local model picks</a:t>
            </a:r>
            <a:endParaRPr lang="en-US" sz="900" dirty="0"/>
          </a:p>
        </p:txBody>
      </p:sp>
      <p:sp>
        <p:nvSpPr>
          <p:cNvPr id="57" name="Shape 53"/>
          <p:cNvSpPr/>
          <p:nvPr/>
        </p:nvSpPr>
        <p:spPr>
          <a:xfrm>
            <a:off x="4728618" y="5330952"/>
            <a:ext cx="1559015" cy="457200"/>
          </a:xfrm>
          <a:prstGeom prst="chevron">
            <a:avLst/>
          </a:prstGeom>
          <a:solidFill>
            <a:srgbClr val="5B8DC9"/>
          </a:solidFill>
          <a:ln w="25400">
            <a:solidFill>
              <a:srgbClr val="FFFFFF"/>
            </a:solidFill>
            <a:prstDash val="solid"/>
          </a:ln>
        </p:spPr>
      </p:sp>
      <p:sp>
        <p:nvSpPr>
          <p:cNvPr id="58" name="Text 54"/>
          <p:cNvSpPr txBox="1"/>
          <p:nvPr/>
        </p:nvSpPr>
        <p:spPr>
          <a:xfrm>
            <a:off x="4911498" y="5330952"/>
            <a:ext cx="1211543"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Teacher 1-tap</a:t>
            </a:r>
            <a:endParaRPr lang="en-US" sz="900" dirty="0"/>
          </a:p>
        </p:txBody>
      </p:sp>
      <p:sp>
        <p:nvSpPr>
          <p:cNvPr id="59" name="Shape 55"/>
          <p:cNvSpPr/>
          <p:nvPr/>
        </p:nvSpPr>
        <p:spPr>
          <a:xfrm>
            <a:off x="6167665" y="5330952"/>
            <a:ext cx="1559015" cy="457200"/>
          </a:xfrm>
          <a:prstGeom prst="chevron">
            <a:avLst/>
          </a:prstGeom>
          <a:solidFill>
            <a:srgbClr val="1F4A82"/>
          </a:solidFill>
          <a:ln w="25400">
            <a:solidFill>
              <a:srgbClr val="FFFFFF"/>
            </a:solidFill>
            <a:prstDash val="solid"/>
          </a:ln>
        </p:spPr>
      </p:sp>
      <p:sp>
        <p:nvSpPr>
          <p:cNvPr id="60" name="Text 56"/>
          <p:cNvSpPr txBox="1"/>
          <p:nvPr/>
        </p:nvSpPr>
        <p:spPr>
          <a:xfrm>
            <a:off x="6350545" y="5330952"/>
            <a:ext cx="1211543"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Shared bank</a:t>
            </a:r>
            <a:endParaRPr lang="en-US" sz="900" dirty="0"/>
          </a:p>
        </p:txBody>
      </p:sp>
      <p:sp>
        <p:nvSpPr>
          <p:cNvPr id="61" name="Shape 57"/>
          <p:cNvSpPr/>
          <p:nvPr/>
        </p:nvSpPr>
        <p:spPr>
          <a:xfrm>
            <a:off x="411480" y="5852160"/>
            <a:ext cx="11368735" cy="310896"/>
          </a:xfrm>
          <a:prstGeom prst="rect">
            <a:avLst/>
          </a:prstGeom>
          <a:solidFill>
            <a:srgbClr val="1F4A82"/>
          </a:solidFill>
          <a:ln/>
        </p:spPr>
      </p:sp>
      <p:sp>
        <p:nvSpPr>
          <p:cNvPr id="62" name="Text 58"/>
          <p:cNvSpPr txBox="1"/>
          <p:nvPr/>
        </p:nvSpPr>
        <p:spPr>
          <a:xfrm>
            <a:off x="548640" y="5852160"/>
            <a:ext cx="11094415"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Row-level security on every tenant table; another institute sees 0 rows (tested on PostgreSQL 16)</a:t>
            </a:r>
            <a:endParaRPr lang="en-US" sz="1200" dirty="0"/>
          </a:p>
        </p:txBody>
      </p:sp>
      <p:sp>
        <p:nvSpPr>
          <p:cNvPr id="63" name="Text 59"/>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technical/contracts/schema.sql. Synthetic data: 4 institutes, 3 academic years, known ground truth.</a:t>
            </a:r>
            <a:endParaRPr lang="en-US" sz="850" dirty="0"/>
          </a:p>
        </p:txBody>
      </p:sp>
      <p:pic>
        <p:nvPicPr>
          <p:cNvPr id="64"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65"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66"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67"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68"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69"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70"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rules">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4: LEGAL BASIS</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The rules we design against, and what we do about each</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15568"/>
            <a:ext cx="11368735" cy="5212080"/>
          </a:xfrm>
          <a:prstGeom prst="rect">
            <a:avLst/>
          </a:prstGeom>
          <a:solidFill>
            <a:srgbClr val="FFFFFF"/>
          </a:solidFill>
          <a:ln w="12700">
            <a:solidFill>
              <a:srgbClr val="C9D6E8"/>
            </a:solidFill>
            <a:prstDash val="solid"/>
          </a:ln>
        </p:spPr>
      </p:sp>
      <p:sp>
        <p:nvSpPr>
          <p:cNvPr id="26" name="Shape 22"/>
          <p:cNvSpPr/>
          <p:nvPr/>
        </p:nvSpPr>
        <p:spPr>
          <a:xfrm>
            <a:off x="502920" y="1234440"/>
            <a:ext cx="3017520" cy="310896"/>
          </a:xfrm>
          <a:prstGeom prst="rect">
            <a:avLst/>
          </a:prstGeom>
          <a:solidFill>
            <a:srgbClr val="1F4A82"/>
          </a:solidFill>
          <a:ln/>
        </p:spPr>
      </p:sp>
      <p:sp>
        <p:nvSpPr>
          <p:cNvPr id="27" name="Text 23"/>
          <p:cNvSpPr txBox="1"/>
          <p:nvPr/>
        </p:nvSpPr>
        <p:spPr>
          <a:xfrm>
            <a:off x="548640" y="1234440"/>
            <a:ext cx="292608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Rule</a:t>
            </a:r>
            <a:endParaRPr lang="en-US" sz="1100" dirty="0"/>
          </a:p>
        </p:txBody>
      </p:sp>
      <p:sp>
        <p:nvSpPr>
          <p:cNvPr id="28" name="Shape 24"/>
          <p:cNvSpPr/>
          <p:nvPr/>
        </p:nvSpPr>
        <p:spPr>
          <a:xfrm>
            <a:off x="3520440" y="1234440"/>
            <a:ext cx="8138160" cy="310896"/>
          </a:xfrm>
          <a:prstGeom prst="rect">
            <a:avLst/>
          </a:prstGeom>
          <a:solidFill>
            <a:srgbClr val="1F4A82"/>
          </a:solidFill>
          <a:ln/>
        </p:spPr>
      </p:sp>
      <p:sp>
        <p:nvSpPr>
          <p:cNvPr id="29" name="Text 25"/>
          <p:cNvSpPr txBox="1"/>
          <p:nvPr/>
        </p:nvSpPr>
        <p:spPr>
          <a:xfrm>
            <a:off x="3566160" y="1234440"/>
            <a:ext cx="80467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Our response</a:t>
            </a:r>
            <a:endParaRPr lang="en-US" sz="1100" dirty="0"/>
          </a:p>
        </p:txBody>
      </p:sp>
      <p:sp>
        <p:nvSpPr>
          <p:cNvPr id="30" name="Shape 26"/>
          <p:cNvSpPr/>
          <p:nvPr/>
        </p:nvSpPr>
        <p:spPr>
          <a:xfrm>
            <a:off x="502920" y="1545336"/>
            <a:ext cx="3017520" cy="566928"/>
          </a:xfrm>
          <a:prstGeom prst="rect">
            <a:avLst/>
          </a:prstGeom>
          <a:solidFill>
            <a:srgbClr val="F1F7F3"/>
          </a:solidFill>
          <a:ln/>
        </p:spPr>
      </p:sp>
      <p:sp>
        <p:nvSpPr>
          <p:cNvPr id="31" name="Text 27"/>
          <p:cNvSpPr txBox="1"/>
          <p:nvPr/>
        </p:nvSpPr>
        <p:spPr>
          <a:xfrm>
            <a:off x="548640" y="1545336"/>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DPDP Act s.9(1), Rule 10</a:t>
            </a:r>
            <a:endParaRPr lang="en-US" sz="1100" dirty="0"/>
          </a:p>
        </p:txBody>
      </p:sp>
      <p:sp>
        <p:nvSpPr>
          <p:cNvPr id="32" name="Shape 28"/>
          <p:cNvSpPr/>
          <p:nvPr/>
        </p:nvSpPr>
        <p:spPr>
          <a:xfrm>
            <a:off x="3520440" y="1545336"/>
            <a:ext cx="8138160" cy="566928"/>
          </a:xfrm>
          <a:prstGeom prst="rect">
            <a:avLst/>
          </a:prstGeom>
          <a:solidFill>
            <a:srgbClr val="F1F7F3"/>
          </a:solidFill>
          <a:ln/>
        </p:spPr>
      </p:sp>
      <p:sp>
        <p:nvSpPr>
          <p:cNvPr id="33" name="Text 29"/>
          <p:cNvSpPr txBox="1"/>
          <p:nvPr/>
        </p:nvSpPr>
        <p:spPr>
          <a:xfrm>
            <a:off x="3566160" y="1545336"/>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Verifiable parental consent before processing a minor's data: ID checked at the admission desk, consent recorded per purpose.</a:t>
            </a:r>
            <a:endParaRPr lang="en-US" sz="1100" dirty="0"/>
          </a:p>
        </p:txBody>
      </p:sp>
      <p:sp>
        <p:nvSpPr>
          <p:cNvPr id="34" name="Shape 30"/>
          <p:cNvSpPr/>
          <p:nvPr/>
        </p:nvSpPr>
        <p:spPr>
          <a:xfrm>
            <a:off x="502920" y="2112264"/>
            <a:ext cx="11155680" cy="0"/>
          </a:xfrm>
          <a:prstGeom prst="line">
            <a:avLst/>
          </a:prstGeom>
          <a:noFill/>
          <a:ln w="6350">
            <a:solidFill>
              <a:srgbClr val="E3E8E4"/>
            </a:solidFill>
            <a:prstDash val="solid"/>
          </a:ln>
        </p:spPr>
      </p:sp>
      <p:sp>
        <p:nvSpPr>
          <p:cNvPr id="35" name="Shape 31"/>
          <p:cNvSpPr/>
          <p:nvPr/>
        </p:nvSpPr>
        <p:spPr>
          <a:xfrm>
            <a:off x="502920" y="2112264"/>
            <a:ext cx="3017520" cy="566928"/>
          </a:xfrm>
          <a:prstGeom prst="rect">
            <a:avLst/>
          </a:prstGeom>
          <a:solidFill>
            <a:srgbClr val="FFFFFF"/>
          </a:solidFill>
          <a:ln/>
        </p:spPr>
      </p:sp>
      <p:sp>
        <p:nvSpPr>
          <p:cNvPr id="36" name="Text 32"/>
          <p:cNvSpPr txBox="1"/>
          <p:nvPr/>
        </p:nvSpPr>
        <p:spPr>
          <a:xfrm>
            <a:off x="548640" y="2112264"/>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DPDP Act s.9(3)</a:t>
            </a:r>
            <a:endParaRPr lang="en-US" sz="1100" dirty="0"/>
          </a:p>
        </p:txBody>
      </p:sp>
      <p:sp>
        <p:nvSpPr>
          <p:cNvPr id="37" name="Shape 33"/>
          <p:cNvSpPr/>
          <p:nvPr/>
        </p:nvSpPr>
        <p:spPr>
          <a:xfrm>
            <a:off x="3520440" y="2112264"/>
            <a:ext cx="8138160" cy="566928"/>
          </a:xfrm>
          <a:prstGeom prst="rect">
            <a:avLst/>
          </a:prstGeom>
          <a:solidFill>
            <a:srgbClr val="FFFFFF"/>
          </a:solidFill>
          <a:ln/>
        </p:spPr>
      </p:sp>
      <p:sp>
        <p:nvSpPr>
          <p:cNvPr id="38" name="Text 34"/>
          <p:cNvSpPr txBox="1"/>
          <p:nvPr/>
        </p:nvSpPr>
        <p:spPr>
          <a:xfrm>
            <a:off x="3566160" y="2112264"/>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No tracking or behavioural monitoring of children: under 18, academic support uses a model; dropout and fee signals use plain rules.</a:t>
            </a:r>
            <a:endParaRPr lang="en-US" sz="1100" dirty="0"/>
          </a:p>
        </p:txBody>
      </p:sp>
      <p:sp>
        <p:nvSpPr>
          <p:cNvPr id="39" name="Shape 35"/>
          <p:cNvSpPr/>
          <p:nvPr/>
        </p:nvSpPr>
        <p:spPr>
          <a:xfrm>
            <a:off x="502920" y="2679192"/>
            <a:ext cx="11155680" cy="0"/>
          </a:xfrm>
          <a:prstGeom prst="line">
            <a:avLst/>
          </a:prstGeom>
          <a:noFill/>
          <a:ln w="6350">
            <a:solidFill>
              <a:srgbClr val="E3E8E4"/>
            </a:solidFill>
            <a:prstDash val="solid"/>
          </a:ln>
        </p:spPr>
      </p:sp>
      <p:sp>
        <p:nvSpPr>
          <p:cNvPr id="40" name="Shape 36"/>
          <p:cNvSpPr/>
          <p:nvPr/>
        </p:nvSpPr>
        <p:spPr>
          <a:xfrm>
            <a:off x="502920" y="2679192"/>
            <a:ext cx="3017520" cy="566928"/>
          </a:xfrm>
          <a:prstGeom prst="rect">
            <a:avLst/>
          </a:prstGeom>
          <a:solidFill>
            <a:srgbClr val="F1F7F3"/>
          </a:solidFill>
          <a:ln/>
        </p:spPr>
      </p:sp>
      <p:sp>
        <p:nvSpPr>
          <p:cNvPr id="41" name="Text 37"/>
          <p:cNvSpPr txBox="1"/>
          <p:nvPr/>
        </p:nvSpPr>
        <p:spPr>
          <a:xfrm>
            <a:off x="548640" y="2679192"/>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Fourth Schedule, educational institutions</a:t>
            </a:r>
            <a:endParaRPr lang="en-US" sz="1100" dirty="0"/>
          </a:p>
        </p:txBody>
      </p:sp>
      <p:sp>
        <p:nvSpPr>
          <p:cNvPr id="42" name="Shape 38"/>
          <p:cNvSpPr/>
          <p:nvPr/>
        </p:nvSpPr>
        <p:spPr>
          <a:xfrm>
            <a:off x="3520440" y="2679192"/>
            <a:ext cx="8138160" cy="566928"/>
          </a:xfrm>
          <a:prstGeom prst="rect">
            <a:avLst/>
          </a:prstGeom>
          <a:solidFill>
            <a:srgbClr val="F1F7F3"/>
          </a:solidFill>
          <a:ln/>
        </p:spPr>
      </p:sp>
      <p:sp>
        <p:nvSpPr>
          <p:cNvPr id="43" name="Text 39"/>
          <p:cNvSpPr txBox="1"/>
          <p:nvPr/>
        </p:nvSpPr>
        <p:spPr>
          <a:xfrm>
            <a:off x="3566160" y="2679192"/>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Narrow and purpose-limited, so we do not rely on it for consent.</a:t>
            </a:r>
            <a:endParaRPr lang="en-US" sz="1100" dirty="0"/>
          </a:p>
        </p:txBody>
      </p:sp>
      <p:sp>
        <p:nvSpPr>
          <p:cNvPr id="44" name="Shape 40"/>
          <p:cNvSpPr/>
          <p:nvPr/>
        </p:nvSpPr>
        <p:spPr>
          <a:xfrm>
            <a:off x="502920" y="3246120"/>
            <a:ext cx="11155680" cy="0"/>
          </a:xfrm>
          <a:prstGeom prst="line">
            <a:avLst/>
          </a:prstGeom>
          <a:noFill/>
          <a:ln w="6350">
            <a:solidFill>
              <a:srgbClr val="E3E8E4"/>
            </a:solidFill>
            <a:prstDash val="solid"/>
          </a:ln>
        </p:spPr>
      </p:sp>
      <p:sp>
        <p:nvSpPr>
          <p:cNvPr id="45" name="Shape 41"/>
          <p:cNvSpPr/>
          <p:nvPr/>
        </p:nvSpPr>
        <p:spPr>
          <a:xfrm>
            <a:off x="502920" y="3246120"/>
            <a:ext cx="3017520" cy="566928"/>
          </a:xfrm>
          <a:prstGeom prst="rect">
            <a:avLst/>
          </a:prstGeom>
          <a:solidFill>
            <a:srgbClr val="FFFFFF"/>
          </a:solidFill>
          <a:ln/>
        </p:spPr>
      </p:sp>
      <p:sp>
        <p:nvSpPr>
          <p:cNvPr id="46" name="Text 42"/>
          <p:cNvSpPr txBox="1"/>
          <p:nvPr/>
        </p:nvSpPr>
        <p:spPr>
          <a:xfrm>
            <a:off x="548640" y="3246120"/>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DPDP Rules, Rules 6 and 7</a:t>
            </a:r>
            <a:endParaRPr lang="en-US" sz="1100" dirty="0"/>
          </a:p>
        </p:txBody>
      </p:sp>
      <p:sp>
        <p:nvSpPr>
          <p:cNvPr id="47" name="Shape 43"/>
          <p:cNvSpPr/>
          <p:nvPr/>
        </p:nvSpPr>
        <p:spPr>
          <a:xfrm>
            <a:off x="3520440" y="3246120"/>
            <a:ext cx="8138160" cy="566928"/>
          </a:xfrm>
          <a:prstGeom prst="rect">
            <a:avLst/>
          </a:prstGeom>
          <a:solidFill>
            <a:srgbClr val="FFFFFF"/>
          </a:solidFill>
          <a:ln/>
        </p:spPr>
      </p:sp>
      <p:sp>
        <p:nvSpPr>
          <p:cNvPr id="48" name="Text 44"/>
          <p:cNvSpPr txBox="1"/>
          <p:nvPr/>
        </p:nvSpPr>
        <p:spPr>
          <a:xfrm>
            <a:off x="3566160" y="3246120"/>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Encryption, access control, logs kept one year, breach notice to the institute within hours.</a:t>
            </a:r>
            <a:endParaRPr lang="en-US" sz="1100" dirty="0"/>
          </a:p>
        </p:txBody>
      </p:sp>
      <p:sp>
        <p:nvSpPr>
          <p:cNvPr id="49" name="Shape 45"/>
          <p:cNvSpPr/>
          <p:nvPr/>
        </p:nvSpPr>
        <p:spPr>
          <a:xfrm>
            <a:off x="502920" y="3813048"/>
            <a:ext cx="11155680" cy="0"/>
          </a:xfrm>
          <a:prstGeom prst="line">
            <a:avLst/>
          </a:prstGeom>
          <a:noFill/>
          <a:ln w="6350">
            <a:solidFill>
              <a:srgbClr val="E3E8E4"/>
            </a:solidFill>
            <a:prstDash val="solid"/>
          </a:ln>
        </p:spPr>
      </p:sp>
      <p:sp>
        <p:nvSpPr>
          <p:cNvPr id="50" name="Shape 46"/>
          <p:cNvSpPr/>
          <p:nvPr/>
        </p:nvSpPr>
        <p:spPr>
          <a:xfrm>
            <a:off x="502920" y="3813048"/>
            <a:ext cx="3017520" cy="566928"/>
          </a:xfrm>
          <a:prstGeom prst="rect">
            <a:avLst/>
          </a:prstGeom>
          <a:solidFill>
            <a:srgbClr val="F1F7F3"/>
          </a:solidFill>
          <a:ln/>
        </p:spPr>
      </p:sp>
      <p:sp>
        <p:nvSpPr>
          <p:cNvPr id="51" name="Text 47"/>
          <p:cNvSpPr txBox="1"/>
          <p:nvPr/>
        </p:nvSpPr>
        <p:spPr>
          <a:xfrm>
            <a:off x="548640" y="3813048"/>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MoE Guidelines 2024, cl. 10.2(xi)</a:t>
            </a:r>
            <a:endParaRPr lang="en-US" sz="1100" dirty="0"/>
          </a:p>
        </p:txBody>
      </p:sp>
      <p:sp>
        <p:nvSpPr>
          <p:cNvPr id="52" name="Shape 48"/>
          <p:cNvSpPr/>
          <p:nvPr/>
        </p:nvSpPr>
        <p:spPr>
          <a:xfrm>
            <a:off x="3520440" y="3813048"/>
            <a:ext cx="8138160" cy="566928"/>
          </a:xfrm>
          <a:prstGeom prst="rect">
            <a:avLst/>
          </a:prstGeom>
          <a:solidFill>
            <a:srgbClr val="F1F7F3"/>
          </a:solidFill>
          <a:ln/>
        </p:spPr>
      </p:sp>
      <p:sp>
        <p:nvSpPr>
          <p:cNvPr id="53" name="Text 49"/>
          <p:cNvSpPr txBox="1"/>
          <p:nvPr/>
        </p:nvSpPr>
        <p:spPr>
          <a:xfrm>
            <a:off x="3566160" y="3813048"/>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Results stay private; early warning leads to counselling, never public ranks.</a:t>
            </a:r>
            <a:endParaRPr lang="en-US" sz="1100" dirty="0"/>
          </a:p>
        </p:txBody>
      </p:sp>
      <p:sp>
        <p:nvSpPr>
          <p:cNvPr id="54" name="Shape 50"/>
          <p:cNvSpPr/>
          <p:nvPr/>
        </p:nvSpPr>
        <p:spPr>
          <a:xfrm>
            <a:off x="502920" y="4379976"/>
            <a:ext cx="11155680" cy="0"/>
          </a:xfrm>
          <a:prstGeom prst="line">
            <a:avLst/>
          </a:prstGeom>
          <a:noFill/>
          <a:ln w="6350">
            <a:solidFill>
              <a:srgbClr val="E3E8E4"/>
            </a:solidFill>
            <a:prstDash val="solid"/>
          </a:ln>
        </p:spPr>
      </p:sp>
      <p:sp>
        <p:nvSpPr>
          <p:cNvPr id="55" name="Shape 51"/>
          <p:cNvSpPr/>
          <p:nvPr/>
        </p:nvSpPr>
        <p:spPr>
          <a:xfrm>
            <a:off x="502920" y="4379976"/>
            <a:ext cx="3017520" cy="566928"/>
          </a:xfrm>
          <a:prstGeom prst="rect">
            <a:avLst/>
          </a:prstGeom>
          <a:solidFill>
            <a:srgbClr val="FFFFFF"/>
          </a:solidFill>
          <a:ln/>
        </p:spPr>
      </p:sp>
      <p:sp>
        <p:nvSpPr>
          <p:cNvPr id="56" name="Text 52"/>
          <p:cNvSpPr txBox="1"/>
          <p:nvPr/>
        </p:nvSpPr>
        <p:spPr>
          <a:xfrm>
            <a:off x="548640" y="4379976"/>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MoE Guidelines 2024, cl. 12(vii)</a:t>
            </a:r>
            <a:endParaRPr lang="en-US" sz="1100" dirty="0"/>
          </a:p>
        </p:txBody>
      </p:sp>
      <p:sp>
        <p:nvSpPr>
          <p:cNvPr id="57" name="Shape 53"/>
          <p:cNvSpPr/>
          <p:nvPr/>
        </p:nvSpPr>
        <p:spPr>
          <a:xfrm>
            <a:off x="3520440" y="4379976"/>
            <a:ext cx="8138160" cy="566928"/>
          </a:xfrm>
          <a:prstGeom prst="rect">
            <a:avLst/>
          </a:prstGeom>
          <a:solidFill>
            <a:srgbClr val="FFFFFF"/>
          </a:solidFill>
          <a:ln/>
        </p:spPr>
      </p:sp>
      <p:sp>
        <p:nvSpPr>
          <p:cNvPr id="58" name="Text 54"/>
          <p:cNvSpPr txBox="1"/>
          <p:nvPr/>
        </p:nvSpPr>
        <p:spPr>
          <a:xfrm>
            <a:off x="3566160" y="4379976"/>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No batch moves based on performance; remedial help is an extra session.</a:t>
            </a:r>
            <a:endParaRPr lang="en-US" sz="1100" dirty="0"/>
          </a:p>
        </p:txBody>
      </p:sp>
      <p:sp>
        <p:nvSpPr>
          <p:cNvPr id="59" name="Shape 55"/>
          <p:cNvSpPr/>
          <p:nvPr/>
        </p:nvSpPr>
        <p:spPr>
          <a:xfrm>
            <a:off x="502920" y="4946904"/>
            <a:ext cx="11155680" cy="0"/>
          </a:xfrm>
          <a:prstGeom prst="line">
            <a:avLst/>
          </a:prstGeom>
          <a:noFill/>
          <a:ln w="6350">
            <a:solidFill>
              <a:srgbClr val="E3E8E4"/>
            </a:solidFill>
            <a:prstDash val="solid"/>
          </a:ln>
        </p:spPr>
      </p:sp>
      <p:sp>
        <p:nvSpPr>
          <p:cNvPr id="60" name="Shape 56"/>
          <p:cNvSpPr/>
          <p:nvPr/>
        </p:nvSpPr>
        <p:spPr>
          <a:xfrm>
            <a:off x="502920" y="4946904"/>
            <a:ext cx="3017520" cy="566928"/>
          </a:xfrm>
          <a:prstGeom prst="rect">
            <a:avLst/>
          </a:prstGeom>
          <a:solidFill>
            <a:srgbClr val="F1F7F3"/>
          </a:solidFill>
          <a:ln/>
        </p:spPr>
      </p:sp>
      <p:sp>
        <p:nvSpPr>
          <p:cNvPr id="61" name="Text 57"/>
          <p:cNvSpPr txBox="1"/>
          <p:nvPr/>
        </p:nvSpPr>
        <p:spPr>
          <a:xfrm>
            <a:off x="548640" y="4946904"/>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MoE Guidelines 2024, cl. 8(iv), 10.1</a:t>
            </a:r>
            <a:endParaRPr lang="en-US" sz="1100" dirty="0"/>
          </a:p>
        </p:txBody>
      </p:sp>
      <p:sp>
        <p:nvSpPr>
          <p:cNvPr id="62" name="Shape 58"/>
          <p:cNvSpPr/>
          <p:nvPr/>
        </p:nvSpPr>
        <p:spPr>
          <a:xfrm>
            <a:off x="3520440" y="4946904"/>
            <a:ext cx="8138160" cy="566928"/>
          </a:xfrm>
          <a:prstGeom prst="rect">
            <a:avLst/>
          </a:prstGeom>
          <a:solidFill>
            <a:srgbClr val="F1F7F3"/>
          </a:solidFill>
          <a:ln/>
        </p:spPr>
      </p:sp>
      <p:sp>
        <p:nvSpPr>
          <p:cNvPr id="63" name="Text 59"/>
          <p:cNvSpPr txBox="1"/>
          <p:nvPr/>
        </p:nvSpPr>
        <p:spPr>
          <a:xfrm>
            <a:off x="3566160" y="4946904"/>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Pro-rata refund within 10 days; no test the day after the weekly off.</a:t>
            </a:r>
            <a:endParaRPr lang="en-US" sz="1100" dirty="0"/>
          </a:p>
        </p:txBody>
      </p:sp>
      <p:sp>
        <p:nvSpPr>
          <p:cNvPr id="64" name="Shape 60"/>
          <p:cNvSpPr/>
          <p:nvPr/>
        </p:nvSpPr>
        <p:spPr>
          <a:xfrm>
            <a:off x="502920" y="5513832"/>
            <a:ext cx="11155680" cy="0"/>
          </a:xfrm>
          <a:prstGeom prst="line">
            <a:avLst/>
          </a:prstGeom>
          <a:noFill/>
          <a:ln w="6350">
            <a:solidFill>
              <a:srgbClr val="E3E8E4"/>
            </a:solidFill>
            <a:prstDash val="solid"/>
          </a:ln>
        </p:spPr>
      </p:sp>
      <p:sp>
        <p:nvSpPr>
          <p:cNvPr id="65" name="Shape 61"/>
          <p:cNvSpPr/>
          <p:nvPr/>
        </p:nvSpPr>
        <p:spPr>
          <a:xfrm>
            <a:off x="502920" y="5513832"/>
            <a:ext cx="3017520" cy="566928"/>
          </a:xfrm>
          <a:prstGeom prst="rect">
            <a:avLst/>
          </a:prstGeom>
          <a:solidFill>
            <a:srgbClr val="FFFFFF"/>
          </a:solidFill>
          <a:ln/>
        </p:spPr>
      </p:sp>
      <p:sp>
        <p:nvSpPr>
          <p:cNvPr id="66" name="Text 62"/>
          <p:cNvSpPr txBox="1"/>
          <p:nvPr/>
        </p:nvSpPr>
        <p:spPr>
          <a:xfrm>
            <a:off x="548640" y="5513832"/>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Rajasthan Act 2025, s.6(2)(d)</a:t>
            </a:r>
            <a:endParaRPr lang="en-US" sz="1100" dirty="0"/>
          </a:p>
        </p:txBody>
      </p:sp>
      <p:sp>
        <p:nvSpPr>
          <p:cNvPr id="67" name="Shape 63"/>
          <p:cNvSpPr/>
          <p:nvPr/>
        </p:nvSpPr>
        <p:spPr>
          <a:xfrm>
            <a:off x="3520440" y="5513832"/>
            <a:ext cx="8138160" cy="566928"/>
          </a:xfrm>
          <a:prstGeom prst="rect">
            <a:avLst/>
          </a:prstGeom>
          <a:solidFill>
            <a:srgbClr val="FFFFFF"/>
          </a:solidFill>
          <a:ln/>
        </p:spPr>
      </p:sp>
      <p:sp>
        <p:nvSpPr>
          <p:cNvPr id="68" name="Text 64"/>
          <p:cNvSpPr txBox="1"/>
          <p:nvPr/>
        </p:nvSpPr>
        <p:spPr>
          <a:xfrm>
            <a:off x="3566160" y="5513832"/>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Fee plans support four or more equal instalments.</a:t>
            </a:r>
            <a:endParaRPr lang="en-US" sz="1100" dirty="0"/>
          </a:p>
        </p:txBody>
      </p:sp>
      <p:sp>
        <p:nvSpPr>
          <p:cNvPr id="69" name="Shape 65"/>
          <p:cNvSpPr/>
          <p:nvPr/>
        </p:nvSpPr>
        <p:spPr>
          <a:xfrm>
            <a:off x="502920" y="6080760"/>
            <a:ext cx="11155680" cy="0"/>
          </a:xfrm>
          <a:prstGeom prst="line">
            <a:avLst/>
          </a:prstGeom>
          <a:noFill/>
          <a:ln w="6350">
            <a:solidFill>
              <a:srgbClr val="E3E8E4"/>
            </a:solidFill>
            <a:prstDash val="solid"/>
          </a:ln>
        </p:spPr>
      </p:sp>
      <p:sp>
        <p:nvSpPr>
          <p:cNvPr id="70" name="Text 66"/>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DPDP Act 2023, DPDP Rules 2025, MoE Guidelines 2024, Rajasthan Coaching Centres Act 2025 (technical/docs/TECH_PLAN.md, section 24). Not legal advice.</a:t>
            </a:r>
            <a:endParaRPr lang="en-US" sz="850" dirty="0"/>
          </a:p>
        </p:txBody>
      </p:sp>
      <p:pic>
        <p:nvPicPr>
          <p:cNvPr id="71"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72"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73"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74"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75"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76"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77"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survey">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5: MODEL CARD AND GO-LIVE GATES</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How we will know each model works before an institute relies on it</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15568"/>
            <a:ext cx="256032" cy="256032"/>
          </a:xfrm>
          <a:prstGeom prst="rect">
            <a:avLst/>
          </a:prstGeom>
          <a:solidFill>
            <a:srgbClr val="1F4A82"/>
          </a:solidFill>
          <a:ln/>
        </p:spPr>
      </p:sp>
      <p:sp>
        <p:nvSpPr>
          <p:cNvPr id="26" name="Text 22"/>
          <p:cNvSpPr txBox="1"/>
          <p:nvPr/>
        </p:nvSpPr>
        <p:spPr>
          <a:xfrm>
            <a:off x="411480" y="11155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a:t>
            </a:r>
            <a:endParaRPr lang="en-US" sz="1150" dirty="0"/>
          </a:p>
        </p:txBody>
      </p:sp>
      <p:sp>
        <p:nvSpPr>
          <p:cNvPr id="27" name="Text 23"/>
          <p:cNvSpPr txBox="1"/>
          <p:nvPr/>
        </p:nvSpPr>
        <p:spPr>
          <a:xfrm>
            <a:off x="740664" y="1115568"/>
            <a:ext cx="33284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HOW WE SPLIT AND COMPARE</a:t>
            </a:r>
            <a:endParaRPr lang="en-US" sz="1200" dirty="0"/>
          </a:p>
        </p:txBody>
      </p:sp>
      <p:sp>
        <p:nvSpPr>
          <p:cNvPr id="28" name="Shape 24"/>
          <p:cNvSpPr/>
          <p:nvPr/>
        </p:nvSpPr>
        <p:spPr>
          <a:xfrm>
            <a:off x="411480" y="1463040"/>
            <a:ext cx="73152" cy="530352"/>
          </a:xfrm>
          <a:prstGeom prst="rect">
            <a:avLst/>
          </a:prstGeom>
          <a:solidFill>
            <a:srgbClr val="1F4A82"/>
          </a:solidFill>
          <a:ln/>
        </p:spPr>
      </p:sp>
      <p:sp>
        <p:nvSpPr>
          <p:cNvPr id="29" name="Text 25"/>
          <p:cNvSpPr txBox="1"/>
          <p:nvPr/>
        </p:nvSpPr>
        <p:spPr>
          <a:xfrm>
            <a:off x="576072" y="1463040"/>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By student and by year</a:t>
            </a:r>
            <a:endParaRPr lang="en-US" sz="1050" dirty="0"/>
          </a:p>
        </p:txBody>
      </p:sp>
      <p:sp>
        <p:nvSpPr>
          <p:cNvPr id="30" name="Text 26"/>
          <p:cNvSpPr txBox="1"/>
          <p:nvPr/>
        </p:nvSpPr>
        <p:spPr>
          <a:xfrm>
            <a:off x="576072" y="1682496"/>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Features use only data before the as-of date; never split by row.</a:t>
            </a:r>
            <a:endParaRPr lang="en-US" sz="900" dirty="0"/>
          </a:p>
        </p:txBody>
      </p:sp>
      <p:sp>
        <p:nvSpPr>
          <p:cNvPr id="31" name="Shape 27"/>
          <p:cNvSpPr/>
          <p:nvPr/>
        </p:nvSpPr>
        <p:spPr>
          <a:xfrm>
            <a:off x="411480" y="2066544"/>
            <a:ext cx="73152" cy="530352"/>
          </a:xfrm>
          <a:prstGeom prst="rect">
            <a:avLst/>
          </a:prstGeom>
          <a:solidFill>
            <a:srgbClr val="1F4A82"/>
          </a:solidFill>
          <a:ln/>
        </p:spPr>
      </p:sp>
      <p:sp>
        <p:nvSpPr>
          <p:cNvPr id="32" name="Text 28"/>
          <p:cNvSpPr txBox="1"/>
          <p:nvPr/>
        </p:nvSpPr>
        <p:spPr>
          <a:xfrm>
            <a:off x="576072" y="2066544"/>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Baselines at equal workload</a:t>
            </a:r>
            <a:endParaRPr lang="en-US" sz="1050" dirty="0"/>
          </a:p>
        </p:txBody>
      </p:sp>
      <p:sp>
        <p:nvSpPr>
          <p:cNvPr id="33" name="Text 29"/>
          <p:cNvSpPr txBox="1"/>
          <p:nvPr/>
        </p:nvSpPr>
        <p:spPr>
          <a:xfrm>
            <a:off x="576072" y="2286000"/>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Each model sits beside the institute's own rule at the same weekly list size.</a:t>
            </a:r>
            <a:endParaRPr lang="en-US" sz="900" dirty="0"/>
          </a:p>
        </p:txBody>
      </p:sp>
      <p:sp>
        <p:nvSpPr>
          <p:cNvPr id="34" name="Shape 30"/>
          <p:cNvSpPr/>
          <p:nvPr/>
        </p:nvSpPr>
        <p:spPr>
          <a:xfrm>
            <a:off x="411480" y="2670048"/>
            <a:ext cx="73152" cy="530352"/>
          </a:xfrm>
          <a:prstGeom prst="rect">
            <a:avLst/>
          </a:prstGeom>
          <a:solidFill>
            <a:srgbClr val="1F4A82"/>
          </a:solidFill>
          <a:ln/>
        </p:spPr>
      </p:sp>
      <p:sp>
        <p:nvSpPr>
          <p:cNvPr id="35" name="Text 31"/>
          <p:cNvSpPr txBox="1"/>
          <p:nvPr/>
        </p:nvSpPr>
        <p:spPr>
          <a:xfrm>
            <a:off x="576072" y="2670048"/>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Uncertainty</a:t>
            </a:r>
            <a:endParaRPr lang="en-US" sz="1050" dirty="0"/>
          </a:p>
        </p:txBody>
      </p:sp>
      <p:sp>
        <p:nvSpPr>
          <p:cNvPr id="36" name="Text 32"/>
          <p:cNvSpPr txBox="1"/>
          <p:nvPr/>
        </p:nvSpPr>
        <p:spPr>
          <a:xfrm>
            <a:off x="576072" y="2889504"/>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Bootstrap intervals over students; three generator seeds; event counts shown.</a:t>
            </a:r>
            <a:endParaRPr lang="en-US" sz="900" dirty="0"/>
          </a:p>
        </p:txBody>
      </p:sp>
      <p:sp>
        <p:nvSpPr>
          <p:cNvPr id="37" name="Shape 33"/>
          <p:cNvSpPr/>
          <p:nvPr/>
        </p:nvSpPr>
        <p:spPr>
          <a:xfrm>
            <a:off x="411480" y="3273552"/>
            <a:ext cx="73152" cy="530352"/>
          </a:xfrm>
          <a:prstGeom prst="rect">
            <a:avLst/>
          </a:prstGeom>
          <a:solidFill>
            <a:srgbClr val="1F4A82"/>
          </a:solidFill>
          <a:ln/>
        </p:spPr>
      </p:sp>
      <p:sp>
        <p:nvSpPr>
          <p:cNvPr id="38" name="Text 34"/>
          <p:cNvSpPr txBox="1"/>
          <p:nvPr/>
        </p:nvSpPr>
        <p:spPr>
          <a:xfrm>
            <a:off x="576072" y="3273552"/>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Stress tests</a:t>
            </a:r>
            <a:endParaRPr lang="en-US" sz="1050" dirty="0"/>
          </a:p>
        </p:txBody>
      </p:sp>
      <p:sp>
        <p:nvSpPr>
          <p:cNvPr id="39" name="Text 35"/>
          <p:cNvSpPr txBox="1"/>
          <p:nvPr/>
        </p:nvSpPr>
        <p:spPr>
          <a:xfrm>
            <a:off x="576072" y="3493008"/>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Misspecified generators, a held-out institute, an independent attack on the report checker.</a:t>
            </a:r>
            <a:endParaRPr lang="en-US" sz="900" dirty="0"/>
          </a:p>
        </p:txBody>
      </p:sp>
      <p:sp>
        <p:nvSpPr>
          <p:cNvPr id="40" name="Shape 36"/>
          <p:cNvSpPr/>
          <p:nvPr/>
        </p:nvSpPr>
        <p:spPr>
          <a:xfrm>
            <a:off x="411480" y="3877056"/>
            <a:ext cx="73152" cy="530352"/>
          </a:xfrm>
          <a:prstGeom prst="rect">
            <a:avLst/>
          </a:prstGeom>
          <a:solidFill>
            <a:srgbClr val="1F4A82"/>
          </a:solidFill>
          <a:ln/>
        </p:spPr>
      </p:sp>
      <p:sp>
        <p:nvSpPr>
          <p:cNvPr id="41" name="Text 37"/>
          <p:cNvSpPr txBox="1"/>
          <p:nvPr/>
        </p:nvSpPr>
        <p:spPr>
          <a:xfrm>
            <a:off x="576072" y="3877056"/>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Honest misses</a:t>
            </a:r>
            <a:endParaRPr lang="en-US" sz="1050" dirty="0"/>
          </a:p>
        </p:txBody>
      </p:sp>
      <p:sp>
        <p:nvSpPr>
          <p:cNvPr id="42" name="Text 38"/>
          <p:cNvSpPr txBox="1"/>
          <p:nvPr/>
        </p:nvSpPr>
        <p:spPr>
          <a:xfrm>
            <a:off x="576072" y="4096512"/>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A missed gate is reported with its cause; gates are never moved to pass.</a:t>
            </a:r>
            <a:endParaRPr lang="en-US" sz="900" dirty="0"/>
          </a:p>
        </p:txBody>
      </p:sp>
      <p:sp>
        <p:nvSpPr>
          <p:cNvPr id="43" name="Shape 39"/>
          <p:cNvSpPr/>
          <p:nvPr/>
        </p:nvSpPr>
        <p:spPr>
          <a:xfrm>
            <a:off x="411480" y="4553712"/>
            <a:ext cx="256032" cy="256032"/>
          </a:xfrm>
          <a:prstGeom prst="rect">
            <a:avLst/>
          </a:prstGeom>
          <a:solidFill>
            <a:srgbClr val="1F4A82"/>
          </a:solidFill>
          <a:ln/>
        </p:spPr>
      </p:sp>
      <p:sp>
        <p:nvSpPr>
          <p:cNvPr id="44" name="Text 40"/>
          <p:cNvSpPr txBox="1"/>
          <p:nvPr/>
        </p:nvSpPr>
        <p:spPr>
          <a:xfrm>
            <a:off x="411480" y="455371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endParaRPr lang="en-US" sz="1150" dirty="0"/>
          </a:p>
        </p:txBody>
      </p:sp>
      <p:sp>
        <p:nvSpPr>
          <p:cNvPr id="45" name="Text 41"/>
          <p:cNvSpPr txBox="1"/>
          <p:nvPr/>
        </p:nvSpPr>
        <p:spPr>
          <a:xfrm>
            <a:off x="740664" y="4553712"/>
            <a:ext cx="33284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KNOWN LIMITATIONS, STATED</a:t>
            </a:r>
            <a:endParaRPr lang="en-US" sz="1200" dirty="0"/>
          </a:p>
        </p:txBody>
      </p:sp>
      <p:sp>
        <p:nvSpPr>
          <p:cNvPr id="46" name="Text 42"/>
          <p:cNvSpPr txBox="1"/>
          <p:nvPr/>
        </p:nvSpPr>
        <p:spPr>
          <a:xfrm>
            <a:off x="411480" y="4864608"/>
            <a:ext cx="3657600" cy="1371600"/>
          </a:xfrm>
          <a:prstGeom prst="rect">
            <a:avLst/>
          </a:prstGeom>
          <a:noFill/>
          <a:ln/>
        </p:spPr>
        <p:txBody>
          <a:bodyPr wrap="square" lIns="0" tIns="0" rIns="0" bIns="0" rtlCol="0" anchor="t"/>
          <a:lstStyle/>
          <a:p>
            <a:pPr algn="l" marL="152400" indent="-1524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Synthetic data proves the pipeline, not real-world accuracy.</a:t>
            </a:r>
            <a:endParaRPr lang="en-US" sz="950" dirty="0"/>
          </a:p>
          <a:p>
            <a:pPr algn="l" marL="152400" indent="-1524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OULAD is a UK online university; ASSISTments is US school maths.</a:t>
            </a:r>
            <a:endParaRPr lang="en-US" sz="950" dirty="0"/>
          </a:p>
          <a:p>
            <a:pPr algn="l" marL="152400" indent="-1524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The percentile mapping is an editable assumption table until real mock-vs-exam pairs exist.</a:t>
            </a:r>
            <a:endParaRPr lang="en-US" sz="950" dirty="0"/>
          </a:p>
        </p:txBody>
      </p:sp>
      <p:sp>
        <p:nvSpPr>
          <p:cNvPr id="47" name="Shape 43"/>
          <p:cNvSpPr/>
          <p:nvPr/>
        </p:nvSpPr>
        <p:spPr>
          <a:xfrm>
            <a:off x="4343400" y="1115568"/>
            <a:ext cx="256032" cy="256032"/>
          </a:xfrm>
          <a:prstGeom prst="rect">
            <a:avLst/>
          </a:prstGeom>
          <a:solidFill>
            <a:srgbClr val="1F4A82"/>
          </a:solidFill>
          <a:ln/>
        </p:spPr>
      </p:sp>
      <p:sp>
        <p:nvSpPr>
          <p:cNvPr id="48" name="Text 44"/>
          <p:cNvSpPr txBox="1"/>
          <p:nvPr/>
        </p:nvSpPr>
        <p:spPr>
          <a:xfrm>
            <a:off x="4343400" y="11155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a:t>
            </a:r>
            <a:endParaRPr lang="en-US" sz="1150" dirty="0"/>
          </a:p>
        </p:txBody>
      </p:sp>
      <p:sp>
        <p:nvSpPr>
          <p:cNvPr id="49" name="Text 45"/>
          <p:cNvSpPr txBox="1"/>
          <p:nvPr/>
        </p:nvSpPr>
        <p:spPr>
          <a:xfrm>
            <a:off x="4672584" y="1115568"/>
            <a:ext cx="710763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METRICS AND GATES (FROM contracts/metrics_bars.yaml)</a:t>
            </a:r>
            <a:endParaRPr lang="en-US" sz="1200" dirty="0"/>
          </a:p>
        </p:txBody>
      </p:sp>
      <p:sp>
        <p:nvSpPr>
          <p:cNvPr id="50" name="Shape 46"/>
          <p:cNvSpPr/>
          <p:nvPr/>
        </p:nvSpPr>
        <p:spPr>
          <a:xfrm>
            <a:off x="4343400" y="1444752"/>
            <a:ext cx="1417320" cy="274320"/>
          </a:xfrm>
          <a:prstGeom prst="rect">
            <a:avLst/>
          </a:prstGeom>
          <a:solidFill>
            <a:srgbClr val="1F4A82"/>
          </a:solidFill>
          <a:ln/>
        </p:spPr>
      </p:sp>
      <p:sp>
        <p:nvSpPr>
          <p:cNvPr id="51" name="Text 47"/>
          <p:cNvSpPr txBox="1"/>
          <p:nvPr/>
        </p:nvSpPr>
        <p:spPr>
          <a:xfrm>
            <a:off x="4389120" y="1444752"/>
            <a:ext cx="132588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Component</a:t>
            </a:r>
            <a:endParaRPr lang="en-US" sz="950" dirty="0"/>
          </a:p>
        </p:txBody>
      </p:sp>
      <p:sp>
        <p:nvSpPr>
          <p:cNvPr id="52" name="Shape 48"/>
          <p:cNvSpPr/>
          <p:nvPr/>
        </p:nvSpPr>
        <p:spPr>
          <a:xfrm>
            <a:off x="5760720" y="1444752"/>
            <a:ext cx="3291840" cy="274320"/>
          </a:xfrm>
          <a:prstGeom prst="rect">
            <a:avLst/>
          </a:prstGeom>
          <a:solidFill>
            <a:srgbClr val="1F4A82"/>
          </a:solidFill>
          <a:ln/>
        </p:spPr>
      </p:sp>
      <p:sp>
        <p:nvSpPr>
          <p:cNvPr id="53" name="Text 49"/>
          <p:cNvSpPr txBox="1"/>
          <p:nvPr/>
        </p:nvSpPr>
        <p:spPr>
          <a:xfrm>
            <a:off x="5806440" y="1444752"/>
            <a:ext cx="32004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Metric</a:t>
            </a:r>
            <a:endParaRPr lang="en-US" sz="950" dirty="0"/>
          </a:p>
        </p:txBody>
      </p:sp>
      <p:sp>
        <p:nvSpPr>
          <p:cNvPr id="54" name="Shape 50"/>
          <p:cNvSpPr/>
          <p:nvPr/>
        </p:nvSpPr>
        <p:spPr>
          <a:xfrm>
            <a:off x="9052560" y="1444752"/>
            <a:ext cx="1051560" cy="274320"/>
          </a:xfrm>
          <a:prstGeom prst="rect">
            <a:avLst/>
          </a:prstGeom>
          <a:solidFill>
            <a:srgbClr val="1F4A82"/>
          </a:solidFill>
          <a:ln/>
        </p:spPr>
      </p:sp>
      <p:sp>
        <p:nvSpPr>
          <p:cNvPr id="55" name="Text 51"/>
          <p:cNvSpPr txBox="1"/>
          <p:nvPr/>
        </p:nvSpPr>
        <p:spPr>
          <a:xfrm>
            <a:off x="9098280" y="1444752"/>
            <a:ext cx="9601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Gate</a:t>
            </a:r>
            <a:endParaRPr lang="en-US" sz="950" dirty="0"/>
          </a:p>
        </p:txBody>
      </p:sp>
      <p:sp>
        <p:nvSpPr>
          <p:cNvPr id="56" name="Shape 52"/>
          <p:cNvSpPr/>
          <p:nvPr/>
        </p:nvSpPr>
        <p:spPr>
          <a:xfrm>
            <a:off x="10104120" y="1444752"/>
            <a:ext cx="1676095" cy="274320"/>
          </a:xfrm>
          <a:prstGeom prst="rect">
            <a:avLst/>
          </a:prstGeom>
          <a:solidFill>
            <a:srgbClr val="1F4A82"/>
          </a:solidFill>
          <a:ln/>
        </p:spPr>
      </p:sp>
      <p:sp>
        <p:nvSpPr>
          <p:cNvPr id="57" name="Text 53"/>
          <p:cNvSpPr txBox="1"/>
          <p:nvPr/>
        </p:nvSpPr>
        <p:spPr>
          <a:xfrm>
            <a:off x="10149840" y="1444752"/>
            <a:ext cx="1584655"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Status</a:t>
            </a:r>
            <a:endParaRPr lang="en-US" sz="950" dirty="0"/>
          </a:p>
        </p:txBody>
      </p:sp>
      <p:sp>
        <p:nvSpPr>
          <p:cNvPr id="58" name="Shape 54"/>
          <p:cNvSpPr/>
          <p:nvPr/>
        </p:nvSpPr>
        <p:spPr>
          <a:xfrm>
            <a:off x="4343400" y="1719072"/>
            <a:ext cx="1417320" cy="384048"/>
          </a:xfrm>
          <a:prstGeom prst="rect">
            <a:avLst/>
          </a:prstGeom>
          <a:solidFill>
            <a:srgbClr val="F1F7F3"/>
          </a:solidFill>
          <a:ln/>
        </p:spPr>
      </p:sp>
      <p:sp>
        <p:nvSpPr>
          <p:cNvPr id="59" name="Text 55"/>
          <p:cNvSpPr txBox="1"/>
          <p:nvPr/>
        </p:nvSpPr>
        <p:spPr>
          <a:xfrm>
            <a:off x="4389120" y="1719072"/>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Difficulty (IRT)</a:t>
            </a:r>
            <a:endParaRPr lang="en-US" sz="950" dirty="0"/>
          </a:p>
        </p:txBody>
      </p:sp>
      <p:sp>
        <p:nvSpPr>
          <p:cNvPr id="60" name="Shape 56"/>
          <p:cNvSpPr/>
          <p:nvPr/>
        </p:nvSpPr>
        <p:spPr>
          <a:xfrm>
            <a:off x="5760720" y="1719072"/>
            <a:ext cx="3291840" cy="384048"/>
          </a:xfrm>
          <a:prstGeom prst="rect">
            <a:avLst/>
          </a:prstGeom>
          <a:solidFill>
            <a:srgbClr val="F1F7F3"/>
          </a:solidFill>
          <a:ln/>
        </p:spPr>
      </p:sp>
      <p:sp>
        <p:nvSpPr>
          <p:cNvPr id="61" name="Text 57"/>
          <p:cNvSpPr txBox="1"/>
          <p:nvPr/>
        </p:nvSpPr>
        <p:spPr>
          <a:xfrm>
            <a:off x="5806440" y="1719072"/>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Recovery r(b̂, b) at 60 answers per item; at 30 answers</a:t>
            </a:r>
            <a:endParaRPr lang="en-US" sz="950" dirty="0"/>
          </a:p>
        </p:txBody>
      </p:sp>
      <p:sp>
        <p:nvSpPr>
          <p:cNvPr id="62" name="Shape 58"/>
          <p:cNvSpPr/>
          <p:nvPr/>
        </p:nvSpPr>
        <p:spPr>
          <a:xfrm>
            <a:off x="9052560" y="1719072"/>
            <a:ext cx="1051560" cy="384048"/>
          </a:xfrm>
          <a:prstGeom prst="rect">
            <a:avLst/>
          </a:prstGeom>
          <a:solidFill>
            <a:srgbClr val="F1F7F3"/>
          </a:solidFill>
          <a:ln/>
        </p:spPr>
      </p:sp>
      <p:sp>
        <p:nvSpPr>
          <p:cNvPr id="63" name="Text 59"/>
          <p:cNvSpPr txBox="1"/>
          <p:nvPr/>
        </p:nvSpPr>
        <p:spPr>
          <a:xfrm>
            <a:off x="9098280" y="1719072"/>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0.90; ≥ 0.85</a:t>
            </a:r>
            <a:endParaRPr lang="en-US" sz="950" dirty="0"/>
          </a:p>
        </p:txBody>
      </p:sp>
      <p:sp>
        <p:nvSpPr>
          <p:cNvPr id="64" name="Shape 60"/>
          <p:cNvSpPr/>
          <p:nvPr/>
        </p:nvSpPr>
        <p:spPr>
          <a:xfrm>
            <a:off x="10104120" y="1719072"/>
            <a:ext cx="1676095" cy="384048"/>
          </a:xfrm>
          <a:prstGeom prst="rect">
            <a:avLst/>
          </a:prstGeom>
          <a:solidFill>
            <a:srgbClr val="F1E8D3"/>
          </a:solidFill>
          <a:ln/>
        </p:spPr>
      </p:sp>
      <p:sp>
        <p:nvSpPr>
          <p:cNvPr id="65" name="Text 61"/>
          <p:cNvSpPr txBox="1"/>
          <p:nvPr/>
        </p:nvSpPr>
        <p:spPr>
          <a:xfrm>
            <a:off x="10149840" y="1719072"/>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66" name="Shape 62"/>
          <p:cNvSpPr/>
          <p:nvPr/>
        </p:nvSpPr>
        <p:spPr>
          <a:xfrm>
            <a:off x="4343400" y="2103120"/>
            <a:ext cx="7436815" cy="0"/>
          </a:xfrm>
          <a:prstGeom prst="line">
            <a:avLst/>
          </a:prstGeom>
          <a:noFill/>
          <a:ln w="6350">
            <a:solidFill>
              <a:srgbClr val="E3E8E4"/>
            </a:solidFill>
            <a:prstDash val="solid"/>
          </a:ln>
        </p:spPr>
      </p:sp>
      <p:sp>
        <p:nvSpPr>
          <p:cNvPr id="67" name="Shape 63"/>
          <p:cNvSpPr/>
          <p:nvPr/>
        </p:nvSpPr>
        <p:spPr>
          <a:xfrm>
            <a:off x="4343400" y="2103120"/>
            <a:ext cx="1417320" cy="384048"/>
          </a:xfrm>
          <a:prstGeom prst="rect">
            <a:avLst/>
          </a:prstGeom>
          <a:solidFill>
            <a:srgbClr val="FFFFFF"/>
          </a:solidFill>
          <a:ln/>
        </p:spPr>
      </p:sp>
      <p:sp>
        <p:nvSpPr>
          <p:cNvPr id="68" name="Text 64"/>
          <p:cNvSpPr txBox="1"/>
          <p:nvPr/>
        </p:nvSpPr>
        <p:spPr>
          <a:xfrm>
            <a:off x="4389120" y="2103120"/>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Wrong-key detector</a:t>
            </a:r>
            <a:endParaRPr lang="en-US" sz="950" dirty="0"/>
          </a:p>
        </p:txBody>
      </p:sp>
      <p:sp>
        <p:nvSpPr>
          <p:cNvPr id="69" name="Shape 65"/>
          <p:cNvSpPr/>
          <p:nvPr/>
        </p:nvSpPr>
        <p:spPr>
          <a:xfrm>
            <a:off x="5760720" y="2103120"/>
            <a:ext cx="3291840" cy="384048"/>
          </a:xfrm>
          <a:prstGeom prst="rect">
            <a:avLst/>
          </a:prstGeom>
          <a:solidFill>
            <a:srgbClr val="FFFFFF"/>
          </a:solidFill>
          <a:ln/>
        </p:spPr>
      </p:sp>
      <p:sp>
        <p:nvSpPr>
          <p:cNvPr id="70" name="Text 66"/>
          <p:cNvSpPr txBox="1"/>
          <p:nvPr/>
        </p:nvSpPr>
        <p:spPr>
          <a:xfrm>
            <a:off x="5806440" y="2103120"/>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Recall on planted wrong keys; false flags per 300 items</a:t>
            </a:r>
            <a:endParaRPr lang="en-US" sz="950" dirty="0"/>
          </a:p>
        </p:txBody>
      </p:sp>
      <p:sp>
        <p:nvSpPr>
          <p:cNvPr id="71" name="Shape 67"/>
          <p:cNvSpPr/>
          <p:nvPr/>
        </p:nvSpPr>
        <p:spPr>
          <a:xfrm>
            <a:off x="9052560" y="2103120"/>
            <a:ext cx="1051560" cy="384048"/>
          </a:xfrm>
          <a:prstGeom prst="rect">
            <a:avLst/>
          </a:prstGeom>
          <a:solidFill>
            <a:srgbClr val="FFFFFF"/>
          </a:solidFill>
          <a:ln/>
        </p:spPr>
      </p:sp>
      <p:sp>
        <p:nvSpPr>
          <p:cNvPr id="72" name="Text 68"/>
          <p:cNvSpPr txBox="1"/>
          <p:nvPr/>
        </p:nvSpPr>
        <p:spPr>
          <a:xfrm>
            <a:off x="9098280" y="2103120"/>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0.80; ≤ 2</a:t>
            </a:r>
            <a:endParaRPr lang="en-US" sz="950" dirty="0"/>
          </a:p>
        </p:txBody>
      </p:sp>
      <p:sp>
        <p:nvSpPr>
          <p:cNvPr id="73" name="Shape 69"/>
          <p:cNvSpPr/>
          <p:nvPr/>
        </p:nvSpPr>
        <p:spPr>
          <a:xfrm>
            <a:off x="10104120" y="2103120"/>
            <a:ext cx="1676095" cy="384048"/>
          </a:xfrm>
          <a:prstGeom prst="rect">
            <a:avLst/>
          </a:prstGeom>
          <a:solidFill>
            <a:srgbClr val="F1E8D3"/>
          </a:solidFill>
          <a:ln/>
        </p:spPr>
      </p:sp>
      <p:sp>
        <p:nvSpPr>
          <p:cNvPr id="74" name="Text 70"/>
          <p:cNvSpPr txBox="1"/>
          <p:nvPr/>
        </p:nvSpPr>
        <p:spPr>
          <a:xfrm>
            <a:off x="10149840" y="2103120"/>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75" name="Shape 71"/>
          <p:cNvSpPr/>
          <p:nvPr/>
        </p:nvSpPr>
        <p:spPr>
          <a:xfrm>
            <a:off x="4343400" y="2487168"/>
            <a:ext cx="7436815" cy="0"/>
          </a:xfrm>
          <a:prstGeom prst="line">
            <a:avLst/>
          </a:prstGeom>
          <a:noFill/>
          <a:ln w="6350">
            <a:solidFill>
              <a:srgbClr val="E3E8E4"/>
            </a:solidFill>
            <a:prstDash val="solid"/>
          </a:ln>
        </p:spPr>
      </p:sp>
      <p:sp>
        <p:nvSpPr>
          <p:cNvPr id="76" name="Shape 72"/>
          <p:cNvSpPr/>
          <p:nvPr/>
        </p:nvSpPr>
        <p:spPr>
          <a:xfrm>
            <a:off x="4343400" y="2487168"/>
            <a:ext cx="1417320" cy="384048"/>
          </a:xfrm>
          <a:prstGeom prst="rect">
            <a:avLst/>
          </a:prstGeom>
          <a:solidFill>
            <a:srgbClr val="F1F7F3"/>
          </a:solidFill>
          <a:ln/>
        </p:spPr>
      </p:sp>
      <p:sp>
        <p:nvSpPr>
          <p:cNvPr id="77" name="Text 73"/>
          <p:cNvSpPr txBox="1"/>
          <p:nvPr/>
        </p:nvSpPr>
        <p:spPr>
          <a:xfrm>
            <a:off x="4389120" y="2487168"/>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Topic mastery</a:t>
            </a:r>
            <a:endParaRPr lang="en-US" sz="950" dirty="0"/>
          </a:p>
        </p:txBody>
      </p:sp>
      <p:sp>
        <p:nvSpPr>
          <p:cNvPr id="78" name="Shape 74"/>
          <p:cNvSpPr/>
          <p:nvPr/>
        </p:nvSpPr>
        <p:spPr>
          <a:xfrm>
            <a:off x="5760720" y="2487168"/>
            <a:ext cx="3291840" cy="384048"/>
          </a:xfrm>
          <a:prstGeom prst="rect">
            <a:avLst/>
          </a:prstGeom>
          <a:solidFill>
            <a:srgbClr val="F1F7F3"/>
          </a:solidFill>
          <a:ln/>
        </p:spPr>
      </p:sp>
      <p:sp>
        <p:nvSpPr>
          <p:cNvPr id="79" name="Text 75"/>
          <p:cNvSpPr txBox="1"/>
          <p:nvPr/>
        </p:nvSpPr>
        <p:spPr>
          <a:xfrm>
            <a:off x="5806440" y="2487168"/>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Ability recovery r; next-test AUC vs raw % and BKT</a:t>
            </a:r>
            <a:endParaRPr lang="en-US" sz="950" dirty="0"/>
          </a:p>
        </p:txBody>
      </p:sp>
      <p:sp>
        <p:nvSpPr>
          <p:cNvPr id="80" name="Shape 76"/>
          <p:cNvSpPr/>
          <p:nvPr/>
        </p:nvSpPr>
        <p:spPr>
          <a:xfrm>
            <a:off x="9052560" y="2487168"/>
            <a:ext cx="1051560" cy="384048"/>
          </a:xfrm>
          <a:prstGeom prst="rect">
            <a:avLst/>
          </a:prstGeom>
          <a:solidFill>
            <a:srgbClr val="F1F7F3"/>
          </a:solidFill>
          <a:ln/>
        </p:spPr>
      </p:sp>
      <p:sp>
        <p:nvSpPr>
          <p:cNvPr id="81" name="Text 77"/>
          <p:cNvSpPr txBox="1"/>
          <p:nvPr/>
        </p:nvSpPr>
        <p:spPr>
          <a:xfrm>
            <a:off x="9098280" y="2487168"/>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0.80; better</a:t>
            </a:r>
            <a:endParaRPr lang="en-US" sz="950" dirty="0"/>
          </a:p>
        </p:txBody>
      </p:sp>
      <p:sp>
        <p:nvSpPr>
          <p:cNvPr id="82" name="Shape 78"/>
          <p:cNvSpPr/>
          <p:nvPr/>
        </p:nvSpPr>
        <p:spPr>
          <a:xfrm>
            <a:off x="10104120" y="2487168"/>
            <a:ext cx="1676095" cy="384048"/>
          </a:xfrm>
          <a:prstGeom prst="rect">
            <a:avLst/>
          </a:prstGeom>
          <a:solidFill>
            <a:srgbClr val="F1E8D3"/>
          </a:solidFill>
          <a:ln/>
        </p:spPr>
      </p:sp>
      <p:sp>
        <p:nvSpPr>
          <p:cNvPr id="83" name="Text 79"/>
          <p:cNvSpPr txBox="1"/>
          <p:nvPr/>
        </p:nvSpPr>
        <p:spPr>
          <a:xfrm>
            <a:off x="10149840" y="2487168"/>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84" name="Shape 80"/>
          <p:cNvSpPr/>
          <p:nvPr/>
        </p:nvSpPr>
        <p:spPr>
          <a:xfrm>
            <a:off x="4343400" y="2871216"/>
            <a:ext cx="7436815" cy="0"/>
          </a:xfrm>
          <a:prstGeom prst="line">
            <a:avLst/>
          </a:prstGeom>
          <a:noFill/>
          <a:ln w="6350">
            <a:solidFill>
              <a:srgbClr val="E3E8E4"/>
            </a:solidFill>
            <a:prstDash val="solid"/>
          </a:ln>
        </p:spPr>
      </p:sp>
      <p:sp>
        <p:nvSpPr>
          <p:cNvPr id="85" name="Shape 81"/>
          <p:cNvSpPr/>
          <p:nvPr/>
        </p:nvSpPr>
        <p:spPr>
          <a:xfrm>
            <a:off x="4343400" y="2871216"/>
            <a:ext cx="1417320" cy="384048"/>
          </a:xfrm>
          <a:prstGeom prst="rect">
            <a:avLst/>
          </a:prstGeom>
          <a:solidFill>
            <a:srgbClr val="FFFFFF"/>
          </a:solidFill>
          <a:ln/>
        </p:spPr>
      </p:sp>
      <p:sp>
        <p:nvSpPr>
          <p:cNvPr id="86" name="Text 82"/>
          <p:cNvSpPr txBox="1"/>
          <p:nvPr/>
        </p:nvSpPr>
        <p:spPr>
          <a:xfrm>
            <a:off x="4389120" y="2871216"/>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Knowledge tracing</a:t>
            </a:r>
            <a:endParaRPr lang="en-US" sz="950" dirty="0"/>
          </a:p>
        </p:txBody>
      </p:sp>
      <p:sp>
        <p:nvSpPr>
          <p:cNvPr id="87" name="Shape 83"/>
          <p:cNvSpPr/>
          <p:nvPr/>
        </p:nvSpPr>
        <p:spPr>
          <a:xfrm>
            <a:off x="5760720" y="2871216"/>
            <a:ext cx="3291840" cy="384048"/>
          </a:xfrm>
          <a:prstGeom prst="rect">
            <a:avLst/>
          </a:prstGeom>
          <a:solidFill>
            <a:srgbClr val="FFFFFF"/>
          </a:solidFill>
          <a:ln/>
        </p:spPr>
      </p:sp>
      <p:sp>
        <p:nvSpPr>
          <p:cNvPr id="88" name="Text 84"/>
          <p:cNvSpPr txBox="1"/>
          <p:nvPr/>
        </p:nvSpPr>
        <p:spPr>
          <a:xfrm>
            <a:off x="5806440" y="2871216"/>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Next-answer AUC, ASSISTments 2009 (public)</a:t>
            </a:r>
            <a:endParaRPr lang="en-US" sz="950" dirty="0"/>
          </a:p>
        </p:txBody>
      </p:sp>
      <p:sp>
        <p:nvSpPr>
          <p:cNvPr id="89" name="Shape 85"/>
          <p:cNvSpPr/>
          <p:nvPr/>
        </p:nvSpPr>
        <p:spPr>
          <a:xfrm>
            <a:off x="9052560" y="2871216"/>
            <a:ext cx="1051560" cy="384048"/>
          </a:xfrm>
          <a:prstGeom prst="rect">
            <a:avLst/>
          </a:prstGeom>
          <a:solidFill>
            <a:srgbClr val="FFFFFF"/>
          </a:solidFill>
          <a:ln/>
        </p:spPr>
      </p:sp>
      <p:sp>
        <p:nvSpPr>
          <p:cNvPr id="90" name="Text 86"/>
          <p:cNvSpPr txBox="1"/>
          <p:nvPr/>
        </p:nvSpPr>
        <p:spPr>
          <a:xfrm>
            <a:off x="9098280" y="2871216"/>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report</a:t>
            </a:r>
            <a:endParaRPr lang="en-US" sz="950" dirty="0"/>
          </a:p>
        </p:txBody>
      </p:sp>
      <p:sp>
        <p:nvSpPr>
          <p:cNvPr id="91" name="Shape 87"/>
          <p:cNvSpPr/>
          <p:nvPr/>
        </p:nvSpPr>
        <p:spPr>
          <a:xfrm>
            <a:off x="10104120" y="2871216"/>
            <a:ext cx="1676095" cy="384048"/>
          </a:xfrm>
          <a:prstGeom prst="rect">
            <a:avLst/>
          </a:prstGeom>
          <a:solidFill>
            <a:srgbClr val="D6E4F5"/>
          </a:solidFill>
          <a:ln/>
        </p:spPr>
      </p:sp>
      <p:sp>
        <p:nvSpPr>
          <p:cNvPr id="92" name="Text 88"/>
          <p:cNvSpPr txBox="1"/>
          <p:nvPr/>
        </p:nvSpPr>
        <p:spPr>
          <a:xfrm>
            <a:off x="10149840" y="2871216"/>
            <a:ext cx="1584655" cy="384048"/>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0.763</a:t>
            </a:r>
            <a:endParaRPr lang="en-US" sz="950" dirty="0"/>
          </a:p>
        </p:txBody>
      </p:sp>
      <p:sp>
        <p:nvSpPr>
          <p:cNvPr id="93" name="Shape 89"/>
          <p:cNvSpPr/>
          <p:nvPr/>
        </p:nvSpPr>
        <p:spPr>
          <a:xfrm>
            <a:off x="4343400" y="3255264"/>
            <a:ext cx="7436815" cy="0"/>
          </a:xfrm>
          <a:prstGeom prst="line">
            <a:avLst/>
          </a:prstGeom>
          <a:noFill/>
          <a:ln w="6350">
            <a:solidFill>
              <a:srgbClr val="E3E8E4"/>
            </a:solidFill>
            <a:prstDash val="solid"/>
          </a:ln>
        </p:spPr>
      </p:sp>
      <p:sp>
        <p:nvSpPr>
          <p:cNvPr id="94" name="Shape 90"/>
          <p:cNvSpPr/>
          <p:nvPr/>
        </p:nvSpPr>
        <p:spPr>
          <a:xfrm>
            <a:off x="4343400" y="3255264"/>
            <a:ext cx="1417320" cy="384048"/>
          </a:xfrm>
          <a:prstGeom prst="rect">
            <a:avLst/>
          </a:prstGeom>
          <a:solidFill>
            <a:srgbClr val="F1F7F3"/>
          </a:solidFill>
          <a:ln/>
        </p:spPr>
      </p:sp>
      <p:sp>
        <p:nvSpPr>
          <p:cNvPr id="95" name="Text 91"/>
          <p:cNvSpPr txBox="1"/>
          <p:nvPr/>
        </p:nvSpPr>
        <p:spPr>
          <a:xfrm>
            <a:off x="4389120" y="3255264"/>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Early warning</a:t>
            </a:r>
            <a:endParaRPr lang="en-US" sz="950" dirty="0"/>
          </a:p>
        </p:txBody>
      </p:sp>
      <p:sp>
        <p:nvSpPr>
          <p:cNvPr id="96" name="Shape 92"/>
          <p:cNvSpPr/>
          <p:nvPr/>
        </p:nvSpPr>
        <p:spPr>
          <a:xfrm>
            <a:off x="5760720" y="3255264"/>
            <a:ext cx="3291840" cy="384048"/>
          </a:xfrm>
          <a:prstGeom prst="rect">
            <a:avLst/>
          </a:prstGeom>
          <a:solidFill>
            <a:srgbClr val="F1F7F3"/>
          </a:solidFill>
          <a:ln/>
        </p:spPr>
      </p:sp>
      <p:sp>
        <p:nvSpPr>
          <p:cNvPr id="97" name="Text 93"/>
          <p:cNvSpPr txBox="1"/>
          <p:nvPr/>
        </p:nvSpPr>
        <p:spPr>
          <a:xfrm>
            <a:off x="5806440" y="3255264"/>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AUC-PR vs institute rule; precision at capacity vs rule</a:t>
            </a:r>
            <a:endParaRPr lang="en-US" sz="950" dirty="0"/>
          </a:p>
        </p:txBody>
      </p:sp>
      <p:sp>
        <p:nvSpPr>
          <p:cNvPr id="98" name="Shape 94"/>
          <p:cNvSpPr/>
          <p:nvPr/>
        </p:nvSpPr>
        <p:spPr>
          <a:xfrm>
            <a:off x="9052560" y="3255264"/>
            <a:ext cx="1051560" cy="384048"/>
          </a:xfrm>
          <a:prstGeom prst="rect">
            <a:avLst/>
          </a:prstGeom>
          <a:solidFill>
            <a:srgbClr val="F1F7F3"/>
          </a:solidFill>
          <a:ln/>
        </p:spPr>
      </p:sp>
      <p:sp>
        <p:nvSpPr>
          <p:cNvPr id="99" name="Text 95"/>
          <p:cNvSpPr txBox="1"/>
          <p:nvPr/>
        </p:nvSpPr>
        <p:spPr>
          <a:xfrm>
            <a:off x="9098280" y="3255264"/>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+30 %; +25 %</a:t>
            </a:r>
            <a:endParaRPr lang="en-US" sz="950" dirty="0"/>
          </a:p>
        </p:txBody>
      </p:sp>
      <p:sp>
        <p:nvSpPr>
          <p:cNvPr id="100" name="Shape 96"/>
          <p:cNvSpPr/>
          <p:nvPr/>
        </p:nvSpPr>
        <p:spPr>
          <a:xfrm>
            <a:off x="10104120" y="3255264"/>
            <a:ext cx="1676095" cy="384048"/>
          </a:xfrm>
          <a:prstGeom prst="rect">
            <a:avLst/>
          </a:prstGeom>
          <a:solidFill>
            <a:srgbClr val="F1E8D3"/>
          </a:solidFill>
          <a:ln/>
        </p:spPr>
      </p:sp>
      <p:sp>
        <p:nvSpPr>
          <p:cNvPr id="101" name="Text 97"/>
          <p:cNvSpPr txBox="1"/>
          <p:nvPr/>
        </p:nvSpPr>
        <p:spPr>
          <a:xfrm>
            <a:off x="10149840" y="3255264"/>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02" name="Shape 98"/>
          <p:cNvSpPr/>
          <p:nvPr/>
        </p:nvSpPr>
        <p:spPr>
          <a:xfrm>
            <a:off x="4343400" y="3639312"/>
            <a:ext cx="7436815" cy="0"/>
          </a:xfrm>
          <a:prstGeom prst="line">
            <a:avLst/>
          </a:prstGeom>
          <a:noFill/>
          <a:ln w="6350">
            <a:solidFill>
              <a:srgbClr val="E3E8E4"/>
            </a:solidFill>
            <a:prstDash val="solid"/>
          </a:ln>
        </p:spPr>
      </p:sp>
      <p:sp>
        <p:nvSpPr>
          <p:cNvPr id="103" name="Shape 99"/>
          <p:cNvSpPr/>
          <p:nvPr/>
        </p:nvSpPr>
        <p:spPr>
          <a:xfrm>
            <a:off x="4343400" y="3639312"/>
            <a:ext cx="1417320" cy="384048"/>
          </a:xfrm>
          <a:prstGeom prst="rect">
            <a:avLst/>
          </a:prstGeom>
          <a:solidFill>
            <a:srgbClr val="FFFFFF"/>
          </a:solidFill>
          <a:ln/>
        </p:spPr>
      </p:sp>
      <p:sp>
        <p:nvSpPr>
          <p:cNvPr id="104" name="Text 100"/>
          <p:cNvSpPr txBox="1"/>
          <p:nvPr/>
        </p:nvSpPr>
        <p:spPr>
          <a:xfrm>
            <a:off x="4389120" y="3639312"/>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Early warning</a:t>
            </a:r>
            <a:endParaRPr lang="en-US" sz="950" dirty="0"/>
          </a:p>
        </p:txBody>
      </p:sp>
      <p:sp>
        <p:nvSpPr>
          <p:cNvPr id="105" name="Shape 101"/>
          <p:cNvSpPr/>
          <p:nvPr/>
        </p:nvSpPr>
        <p:spPr>
          <a:xfrm>
            <a:off x="5760720" y="3639312"/>
            <a:ext cx="3291840" cy="384048"/>
          </a:xfrm>
          <a:prstGeom prst="rect">
            <a:avLst/>
          </a:prstGeom>
          <a:solidFill>
            <a:srgbClr val="FFFFFF"/>
          </a:solidFill>
          <a:ln/>
        </p:spPr>
      </p:sp>
      <p:sp>
        <p:nvSpPr>
          <p:cNvPr id="106" name="Text 102"/>
          <p:cNvSpPr txBox="1"/>
          <p:nvPr/>
        </p:nvSpPr>
        <p:spPr>
          <a:xfrm>
            <a:off x="5806440" y="3639312"/>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Calibration error (public: OULAD day 28)</a:t>
            </a:r>
            <a:endParaRPr lang="en-US" sz="950" dirty="0"/>
          </a:p>
        </p:txBody>
      </p:sp>
      <p:sp>
        <p:nvSpPr>
          <p:cNvPr id="107" name="Shape 103"/>
          <p:cNvSpPr/>
          <p:nvPr/>
        </p:nvSpPr>
        <p:spPr>
          <a:xfrm>
            <a:off x="9052560" y="3639312"/>
            <a:ext cx="1051560" cy="384048"/>
          </a:xfrm>
          <a:prstGeom prst="rect">
            <a:avLst/>
          </a:prstGeom>
          <a:solidFill>
            <a:srgbClr val="FFFFFF"/>
          </a:solidFill>
          <a:ln/>
        </p:spPr>
      </p:sp>
      <p:sp>
        <p:nvSpPr>
          <p:cNvPr id="108" name="Text 104"/>
          <p:cNvSpPr txBox="1"/>
          <p:nvPr/>
        </p:nvSpPr>
        <p:spPr>
          <a:xfrm>
            <a:off x="9098280" y="3639312"/>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&lt; 0.05</a:t>
            </a:r>
            <a:endParaRPr lang="en-US" sz="950" dirty="0"/>
          </a:p>
        </p:txBody>
      </p:sp>
      <p:sp>
        <p:nvSpPr>
          <p:cNvPr id="109" name="Shape 105"/>
          <p:cNvSpPr/>
          <p:nvPr/>
        </p:nvSpPr>
        <p:spPr>
          <a:xfrm>
            <a:off x="10104120" y="3639312"/>
            <a:ext cx="1676095" cy="384048"/>
          </a:xfrm>
          <a:prstGeom prst="rect">
            <a:avLst/>
          </a:prstGeom>
          <a:solidFill>
            <a:srgbClr val="D6E4F5"/>
          </a:solidFill>
          <a:ln/>
        </p:spPr>
      </p:sp>
      <p:sp>
        <p:nvSpPr>
          <p:cNvPr id="110" name="Text 106"/>
          <p:cNvSpPr txBox="1"/>
          <p:nvPr/>
        </p:nvSpPr>
        <p:spPr>
          <a:xfrm>
            <a:off x="10149840" y="3639312"/>
            <a:ext cx="1584655" cy="384048"/>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0.009</a:t>
            </a:r>
            <a:endParaRPr lang="en-US" sz="950" dirty="0"/>
          </a:p>
        </p:txBody>
      </p:sp>
      <p:sp>
        <p:nvSpPr>
          <p:cNvPr id="111" name="Shape 107"/>
          <p:cNvSpPr/>
          <p:nvPr/>
        </p:nvSpPr>
        <p:spPr>
          <a:xfrm>
            <a:off x="4343400" y="4023360"/>
            <a:ext cx="7436815" cy="0"/>
          </a:xfrm>
          <a:prstGeom prst="line">
            <a:avLst/>
          </a:prstGeom>
          <a:noFill/>
          <a:ln w="6350">
            <a:solidFill>
              <a:srgbClr val="E3E8E4"/>
            </a:solidFill>
            <a:prstDash val="solid"/>
          </a:ln>
        </p:spPr>
      </p:sp>
      <p:sp>
        <p:nvSpPr>
          <p:cNvPr id="112" name="Shape 108"/>
          <p:cNvSpPr/>
          <p:nvPr/>
        </p:nvSpPr>
        <p:spPr>
          <a:xfrm>
            <a:off x="4343400" y="4023360"/>
            <a:ext cx="1417320" cy="384048"/>
          </a:xfrm>
          <a:prstGeom prst="rect">
            <a:avLst/>
          </a:prstGeom>
          <a:solidFill>
            <a:srgbClr val="F1F7F3"/>
          </a:solidFill>
          <a:ln/>
        </p:spPr>
      </p:sp>
      <p:sp>
        <p:nvSpPr>
          <p:cNvPr id="113" name="Text 109"/>
          <p:cNvSpPr txBox="1"/>
          <p:nvPr/>
        </p:nvSpPr>
        <p:spPr>
          <a:xfrm>
            <a:off x="4389120" y="4023360"/>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Early warning</a:t>
            </a:r>
            <a:endParaRPr lang="en-US" sz="950" dirty="0"/>
          </a:p>
        </p:txBody>
      </p:sp>
      <p:sp>
        <p:nvSpPr>
          <p:cNvPr id="114" name="Shape 110"/>
          <p:cNvSpPr/>
          <p:nvPr/>
        </p:nvSpPr>
        <p:spPr>
          <a:xfrm>
            <a:off x="5760720" y="4023360"/>
            <a:ext cx="3291840" cy="384048"/>
          </a:xfrm>
          <a:prstGeom prst="rect">
            <a:avLst/>
          </a:prstGeom>
          <a:solidFill>
            <a:srgbClr val="F1F7F3"/>
          </a:solidFill>
          <a:ln/>
        </p:spPr>
      </p:sp>
      <p:sp>
        <p:nvSpPr>
          <p:cNvPr id="115" name="Text 111"/>
          <p:cNvSpPr txBox="1"/>
          <p:nvPr/>
        </p:nvSpPr>
        <p:spPr>
          <a:xfrm>
            <a:off x="5806440" y="4023360"/>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Median lead time before a student leaves</a:t>
            </a:r>
            <a:endParaRPr lang="en-US" sz="950" dirty="0"/>
          </a:p>
        </p:txBody>
      </p:sp>
      <p:sp>
        <p:nvSpPr>
          <p:cNvPr id="116" name="Shape 112"/>
          <p:cNvSpPr/>
          <p:nvPr/>
        </p:nvSpPr>
        <p:spPr>
          <a:xfrm>
            <a:off x="9052560" y="4023360"/>
            <a:ext cx="1051560" cy="384048"/>
          </a:xfrm>
          <a:prstGeom prst="rect">
            <a:avLst/>
          </a:prstGeom>
          <a:solidFill>
            <a:srgbClr val="F1F7F3"/>
          </a:solidFill>
          <a:ln/>
        </p:spPr>
      </p:sp>
      <p:sp>
        <p:nvSpPr>
          <p:cNvPr id="117" name="Text 113"/>
          <p:cNvSpPr txBox="1"/>
          <p:nvPr/>
        </p:nvSpPr>
        <p:spPr>
          <a:xfrm>
            <a:off x="9098280" y="4023360"/>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21 days</a:t>
            </a:r>
            <a:endParaRPr lang="en-US" sz="950" dirty="0"/>
          </a:p>
        </p:txBody>
      </p:sp>
      <p:sp>
        <p:nvSpPr>
          <p:cNvPr id="118" name="Shape 114"/>
          <p:cNvSpPr/>
          <p:nvPr/>
        </p:nvSpPr>
        <p:spPr>
          <a:xfrm>
            <a:off x="10104120" y="4023360"/>
            <a:ext cx="1676095" cy="384048"/>
          </a:xfrm>
          <a:prstGeom prst="rect">
            <a:avLst/>
          </a:prstGeom>
          <a:solidFill>
            <a:srgbClr val="F1E8D3"/>
          </a:solidFill>
          <a:ln/>
        </p:spPr>
      </p:sp>
      <p:sp>
        <p:nvSpPr>
          <p:cNvPr id="119" name="Text 115"/>
          <p:cNvSpPr txBox="1"/>
          <p:nvPr/>
        </p:nvSpPr>
        <p:spPr>
          <a:xfrm>
            <a:off x="10149840" y="4023360"/>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20" name="Shape 116"/>
          <p:cNvSpPr/>
          <p:nvPr/>
        </p:nvSpPr>
        <p:spPr>
          <a:xfrm>
            <a:off x="4343400" y="4407408"/>
            <a:ext cx="7436815" cy="0"/>
          </a:xfrm>
          <a:prstGeom prst="line">
            <a:avLst/>
          </a:prstGeom>
          <a:noFill/>
          <a:ln w="6350">
            <a:solidFill>
              <a:srgbClr val="E3E8E4"/>
            </a:solidFill>
            <a:prstDash val="solid"/>
          </a:ln>
        </p:spPr>
      </p:sp>
      <p:sp>
        <p:nvSpPr>
          <p:cNvPr id="121" name="Shape 117"/>
          <p:cNvSpPr/>
          <p:nvPr/>
        </p:nvSpPr>
        <p:spPr>
          <a:xfrm>
            <a:off x="4343400" y="4407408"/>
            <a:ext cx="1417320" cy="384048"/>
          </a:xfrm>
          <a:prstGeom prst="rect">
            <a:avLst/>
          </a:prstGeom>
          <a:solidFill>
            <a:srgbClr val="FFFFFF"/>
          </a:solidFill>
          <a:ln/>
        </p:spPr>
      </p:sp>
      <p:sp>
        <p:nvSpPr>
          <p:cNvPr id="122" name="Text 118"/>
          <p:cNvSpPr txBox="1"/>
          <p:nvPr/>
        </p:nvSpPr>
        <p:spPr>
          <a:xfrm>
            <a:off x="4389120" y="4407408"/>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Withdrawal, public</a:t>
            </a:r>
            <a:endParaRPr lang="en-US" sz="950" dirty="0"/>
          </a:p>
        </p:txBody>
      </p:sp>
      <p:sp>
        <p:nvSpPr>
          <p:cNvPr id="123" name="Shape 119"/>
          <p:cNvSpPr/>
          <p:nvPr/>
        </p:nvSpPr>
        <p:spPr>
          <a:xfrm>
            <a:off x="5760720" y="4407408"/>
            <a:ext cx="3291840" cy="384048"/>
          </a:xfrm>
          <a:prstGeom prst="rect">
            <a:avLst/>
          </a:prstGeom>
          <a:solidFill>
            <a:srgbClr val="FFFFFF"/>
          </a:solidFill>
          <a:ln/>
        </p:spPr>
      </p:sp>
      <p:sp>
        <p:nvSpPr>
          <p:cNvPr id="124" name="Text 120"/>
          <p:cNvSpPr txBox="1"/>
          <p:nvPr/>
        </p:nvSpPr>
        <p:spPr>
          <a:xfrm>
            <a:off x="5806440" y="4407408"/>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OULAD day-28 AUC, student-grouped 5-fold</a:t>
            </a:r>
            <a:endParaRPr lang="en-US" sz="950" dirty="0"/>
          </a:p>
        </p:txBody>
      </p:sp>
      <p:sp>
        <p:nvSpPr>
          <p:cNvPr id="125" name="Shape 121"/>
          <p:cNvSpPr/>
          <p:nvPr/>
        </p:nvSpPr>
        <p:spPr>
          <a:xfrm>
            <a:off x="9052560" y="4407408"/>
            <a:ext cx="1051560" cy="384048"/>
          </a:xfrm>
          <a:prstGeom prst="rect">
            <a:avLst/>
          </a:prstGeom>
          <a:solidFill>
            <a:srgbClr val="FFFFFF"/>
          </a:solidFill>
          <a:ln/>
        </p:spPr>
      </p:sp>
      <p:sp>
        <p:nvSpPr>
          <p:cNvPr id="126" name="Text 122"/>
          <p:cNvSpPr txBox="1"/>
          <p:nvPr/>
        </p:nvSpPr>
        <p:spPr>
          <a:xfrm>
            <a:off x="9098280" y="4407408"/>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report</a:t>
            </a:r>
            <a:endParaRPr lang="en-US" sz="950" dirty="0"/>
          </a:p>
        </p:txBody>
      </p:sp>
      <p:sp>
        <p:nvSpPr>
          <p:cNvPr id="127" name="Shape 123"/>
          <p:cNvSpPr/>
          <p:nvPr/>
        </p:nvSpPr>
        <p:spPr>
          <a:xfrm>
            <a:off x="10104120" y="4407408"/>
            <a:ext cx="1676095" cy="384048"/>
          </a:xfrm>
          <a:prstGeom prst="rect">
            <a:avLst/>
          </a:prstGeom>
          <a:solidFill>
            <a:srgbClr val="D6E4F5"/>
          </a:solidFill>
          <a:ln/>
        </p:spPr>
      </p:sp>
      <p:sp>
        <p:nvSpPr>
          <p:cNvPr id="128" name="Text 124"/>
          <p:cNvSpPr txBox="1"/>
          <p:nvPr/>
        </p:nvSpPr>
        <p:spPr>
          <a:xfrm>
            <a:off x="10149840" y="4407408"/>
            <a:ext cx="1584655" cy="384048"/>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0.706</a:t>
            </a:r>
            <a:endParaRPr lang="en-US" sz="950" dirty="0"/>
          </a:p>
        </p:txBody>
      </p:sp>
      <p:sp>
        <p:nvSpPr>
          <p:cNvPr id="129" name="Shape 125"/>
          <p:cNvSpPr/>
          <p:nvPr/>
        </p:nvSpPr>
        <p:spPr>
          <a:xfrm>
            <a:off x="4343400" y="4791456"/>
            <a:ext cx="7436815" cy="0"/>
          </a:xfrm>
          <a:prstGeom prst="line">
            <a:avLst/>
          </a:prstGeom>
          <a:noFill/>
          <a:ln w="6350">
            <a:solidFill>
              <a:srgbClr val="E3E8E4"/>
            </a:solidFill>
            <a:prstDash val="solid"/>
          </a:ln>
        </p:spPr>
      </p:sp>
      <p:sp>
        <p:nvSpPr>
          <p:cNvPr id="130" name="Shape 126"/>
          <p:cNvSpPr/>
          <p:nvPr/>
        </p:nvSpPr>
        <p:spPr>
          <a:xfrm>
            <a:off x="4343400" y="4791456"/>
            <a:ext cx="1417320" cy="384048"/>
          </a:xfrm>
          <a:prstGeom prst="rect">
            <a:avLst/>
          </a:prstGeom>
          <a:solidFill>
            <a:srgbClr val="F1F7F3"/>
          </a:solidFill>
          <a:ln/>
        </p:spPr>
      </p:sp>
      <p:sp>
        <p:nvSpPr>
          <p:cNvPr id="131" name="Text 127"/>
          <p:cNvSpPr txBox="1"/>
          <p:nvPr/>
        </p:nvSpPr>
        <p:spPr>
          <a:xfrm>
            <a:off x="4389120" y="4791456"/>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Fairness</a:t>
            </a:r>
            <a:endParaRPr lang="en-US" sz="950" dirty="0"/>
          </a:p>
        </p:txBody>
      </p:sp>
      <p:sp>
        <p:nvSpPr>
          <p:cNvPr id="132" name="Shape 128"/>
          <p:cNvSpPr/>
          <p:nvPr/>
        </p:nvSpPr>
        <p:spPr>
          <a:xfrm>
            <a:off x="5760720" y="4791456"/>
            <a:ext cx="3291840" cy="384048"/>
          </a:xfrm>
          <a:prstGeom prst="rect">
            <a:avLst/>
          </a:prstGeom>
          <a:solidFill>
            <a:srgbClr val="F1F7F3"/>
          </a:solidFill>
          <a:ln/>
        </p:spPr>
      </p:sp>
      <p:sp>
        <p:nvSpPr>
          <p:cNvPr id="133" name="Text 129"/>
          <p:cNvSpPr txBox="1"/>
          <p:nvPr/>
        </p:nvSpPr>
        <p:spPr>
          <a:xfrm>
            <a:off x="5806440" y="4791456"/>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Largest recall gap across slices (gender, city tier)</a:t>
            </a:r>
            <a:endParaRPr lang="en-US" sz="950" dirty="0"/>
          </a:p>
        </p:txBody>
      </p:sp>
      <p:sp>
        <p:nvSpPr>
          <p:cNvPr id="134" name="Shape 130"/>
          <p:cNvSpPr/>
          <p:nvPr/>
        </p:nvSpPr>
        <p:spPr>
          <a:xfrm>
            <a:off x="9052560" y="4791456"/>
            <a:ext cx="1051560" cy="384048"/>
          </a:xfrm>
          <a:prstGeom prst="rect">
            <a:avLst/>
          </a:prstGeom>
          <a:solidFill>
            <a:srgbClr val="F1F7F3"/>
          </a:solidFill>
          <a:ln/>
        </p:spPr>
      </p:sp>
      <p:sp>
        <p:nvSpPr>
          <p:cNvPr id="135" name="Text 131"/>
          <p:cNvSpPr txBox="1"/>
          <p:nvPr/>
        </p:nvSpPr>
        <p:spPr>
          <a:xfrm>
            <a:off x="9098280" y="4791456"/>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0.10</a:t>
            </a:r>
            <a:endParaRPr lang="en-US" sz="950" dirty="0"/>
          </a:p>
        </p:txBody>
      </p:sp>
      <p:sp>
        <p:nvSpPr>
          <p:cNvPr id="136" name="Shape 132"/>
          <p:cNvSpPr/>
          <p:nvPr/>
        </p:nvSpPr>
        <p:spPr>
          <a:xfrm>
            <a:off x="10104120" y="4791456"/>
            <a:ext cx="1676095" cy="384048"/>
          </a:xfrm>
          <a:prstGeom prst="rect">
            <a:avLst/>
          </a:prstGeom>
          <a:solidFill>
            <a:srgbClr val="F1E8D3"/>
          </a:solidFill>
          <a:ln/>
        </p:spPr>
      </p:sp>
      <p:sp>
        <p:nvSpPr>
          <p:cNvPr id="137" name="Text 133"/>
          <p:cNvSpPr txBox="1"/>
          <p:nvPr/>
        </p:nvSpPr>
        <p:spPr>
          <a:xfrm>
            <a:off x="10149840" y="4791456"/>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38" name="Shape 134"/>
          <p:cNvSpPr/>
          <p:nvPr/>
        </p:nvSpPr>
        <p:spPr>
          <a:xfrm>
            <a:off x="4343400" y="5175504"/>
            <a:ext cx="7436815" cy="0"/>
          </a:xfrm>
          <a:prstGeom prst="line">
            <a:avLst/>
          </a:prstGeom>
          <a:noFill/>
          <a:ln w="6350">
            <a:solidFill>
              <a:srgbClr val="E3E8E4"/>
            </a:solidFill>
            <a:prstDash val="solid"/>
          </a:ln>
        </p:spPr>
      </p:sp>
      <p:sp>
        <p:nvSpPr>
          <p:cNvPr id="139" name="Shape 135"/>
          <p:cNvSpPr/>
          <p:nvPr/>
        </p:nvSpPr>
        <p:spPr>
          <a:xfrm>
            <a:off x="4343400" y="5175504"/>
            <a:ext cx="1417320" cy="384048"/>
          </a:xfrm>
          <a:prstGeom prst="rect">
            <a:avLst/>
          </a:prstGeom>
          <a:solidFill>
            <a:srgbClr val="FFFFFF"/>
          </a:solidFill>
          <a:ln/>
        </p:spPr>
      </p:sp>
      <p:sp>
        <p:nvSpPr>
          <p:cNvPr id="140" name="Text 136"/>
          <p:cNvSpPr txBox="1"/>
          <p:nvPr/>
        </p:nvSpPr>
        <p:spPr>
          <a:xfrm>
            <a:off x="4389120" y="5175504"/>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Percentile range</a:t>
            </a:r>
            <a:endParaRPr lang="en-US" sz="950" dirty="0"/>
          </a:p>
        </p:txBody>
      </p:sp>
      <p:sp>
        <p:nvSpPr>
          <p:cNvPr id="141" name="Shape 137"/>
          <p:cNvSpPr/>
          <p:nvPr/>
        </p:nvSpPr>
        <p:spPr>
          <a:xfrm>
            <a:off x="5760720" y="5175504"/>
            <a:ext cx="3291840" cy="384048"/>
          </a:xfrm>
          <a:prstGeom prst="rect">
            <a:avLst/>
          </a:prstGeom>
          <a:solidFill>
            <a:srgbClr val="FFFFFF"/>
          </a:solidFill>
          <a:ln/>
        </p:spPr>
      </p:sp>
      <p:sp>
        <p:nvSpPr>
          <p:cNvPr id="142" name="Text 138"/>
          <p:cNvSpPr txBox="1"/>
          <p:nvPr/>
        </p:nvSpPr>
        <p:spPr>
          <a:xfrm>
            <a:off x="5806440" y="5175504"/>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Coverage of the 80 % band</a:t>
            </a:r>
            <a:endParaRPr lang="en-US" sz="950" dirty="0"/>
          </a:p>
        </p:txBody>
      </p:sp>
      <p:sp>
        <p:nvSpPr>
          <p:cNvPr id="143" name="Shape 139"/>
          <p:cNvSpPr/>
          <p:nvPr/>
        </p:nvSpPr>
        <p:spPr>
          <a:xfrm>
            <a:off x="9052560" y="5175504"/>
            <a:ext cx="1051560" cy="384048"/>
          </a:xfrm>
          <a:prstGeom prst="rect">
            <a:avLst/>
          </a:prstGeom>
          <a:solidFill>
            <a:srgbClr val="FFFFFF"/>
          </a:solidFill>
          <a:ln/>
        </p:spPr>
      </p:sp>
      <p:sp>
        <p:nvSpPr>
          <p:cNvPr id="144" name="Text 140"/>
          <p:cNvSpPr txBox="1"/>
          <p:nvPr/>
        </p:nvSpPr>
        <p:spPr>
          <a:xfrm>
            <a:off x="9098280" y="5175504"/>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77 to 83 %</a:t>
            </a:r>
            <a:endParaRPr lang="en-US" sz="950" dirty="0"/>
          </a:p>
        </p:txBody>
      </p:sp>
      <p:sp>
        <p:nvSpPr>
          <p:cNvPr id="145" name="Shape 141"/>
          <p:cNvSpPr/>
          <p:nvPr/>
        </p:nvSpPr>
        <p:spPr>
          <a:xfrm>
            <a:off x="10104120" y="5175504"/>
            <a:ext cx="1676095" cy="384048"/>
          </a:xfrm>
          <a:prstGeom prst="rect">
            <a:avLst/>
          </a:prstGeom>
          <a:solidFill>
            <a:srgbClr val="F1E8D3"/>
          </a:solidFill>
          <a:ln/>
        </p:spPr>
      </p:sp>
      <p:sp>
        <p:nvSpPr>
          <p:cNvPr id="146" name="Text 142"/>
          <p:cNvSpPr txBox="1"/>
          <p:nvPr/>
        </p:nvSpPr>
        <p:spPr>
          <a:xfrm>
            <a:off x="10149840" y="5175504"/>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47" name="Shape 143"/>
          <p:cNvSpPr/>
          <p:nvPr/>
        </p:nvSpPr>
        <p:spPr>
          <a:xfrm>
            <a:off x="4343400" y="5559552"/>
            <a:ext cx="7436815" cy="0"/>
          </a:xfrm>
          <a:prstGeom prst="line">
            <a:avLst/>
          </a:prstGeom>
          <a:noFill/>
          <a:ln w="6350">
            <a:solidFill>
              <a:srgbClr val="E3E8E4"/>
            </a:solidFill>
            <a:prstDash val="solid"/>
          </a:ln>
        </p:spPr>
      </p:sp>
      <p:sp>
        <p:nvSpPr>
          <p:cNvPr id="148" name="Shape 144"/>
          <p:cNvSpPr/>
          <p:nvPr/>
        </p:nvSpPr>
        <p:spPr>
          <a:xfrm>
            <a:off x="4343400" y="5559552"/>
            <a:ext cx="1417320" cy="384048"/>
          </a:xfrm>
          <a:prstGeom prst="rect">
            <a:avLst/>
          </a:prstGeom>
          <a:solidFill>
            <a:srgbClr val="F1F7F3"/>
          </a:solidFill>
          <a:ln/>
        </p:spPr>
      </p:sp>
      <p:sp>
        <p:nvSpPr>
          <p:cNvPr id="149" name="Text 145"/>
          <p:cNvSpPr txBox="1"/>
          <p:nvPr/>
        </p:nvSpPr>
        <p:spPr>
          <a:xfrm>
            <a:off x="4389120" y="5559552"/>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Parent reports</a:t>
            </a:r>
            <a:endParaRPr lang="en-US" sz="950" dirty="0"/>
          </a:p>
        </p:txBody>
      </p:sp>
      <p:sp>
        <p:nvSpPr>
          <p:cNvPr id="150" name="Shape 146"/>
          <p:cNvSpPr/>
          <p:nvPr/>
        </p:nvSpPr>
        <p:spPr>
          <a:xfrm>
            <a:off x="5760720" y="5559552"/>
            <a:ext cx="3291840" cy="384048"/>
          </a:xfrm>
          <a:prstGeom prst="rect">
            <a:avLst/>
          </a:prstGeom>
          <a:solidFill>
            <a:srgbClr val="F1F7F3"/>
          </a:solidFill>
          <a:ln/>
        </p:spPr>
      </p:sp>
      <p:sp>
        <p:nvSpPr>
          <p:cNvPr id="151" name="Text 147"/>
          <p:cNvSpPr txBox="1"/>
          <p:nvPr/>
        </p:nvSpPr>
        <p:spPr>
          <a:xfrm>
            <a:off x="5806440" y="5559552"/>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Numbers matching the facts; independent attack passes</a:t>
            </a:r>
            <a:endParaRPr lang="en-US" sz="950" dirty="0"/>
          </a:p>
        </p:txBody>
      </p:sp>
      <p:sp>
        <p:nvSpPr>
          <p:cNvPr id="152" name="Shape 148"/>
          <p:cNvSpPr/>
          <p:nvPr/>
        </p:nvSpPr>
        <p:spPr>
          <a:xfrm>
            <a:off x="9052560" y="5559552"/>
            <a:ext cx="1051560" cy="384048"/>
          </a:xfrm>
          <a:prstGeom prst="rect">
            <a:avLst/>
          </a:prstGeom>
          <a:solidFill>
            <a:srgbClr val="F1F7F3"/>
          </a:solidFill>
          <a:ln/>
        </p:spPr>
      </p:sp>
      <p:sp>
        <p:nvSpPr>
          <p:cNvPr id="153" name="Text 149"/>
          <p:cNvSpPr txBox="1"/>
          <p:nvPr/>
        </p:nvSpPr>
        <p:spPr>
          <a:xfrm>
            <a:off x="9098280" y="5559552"/>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100 %</a:t>
            </a:r>
            <a:endParaRPr lang="en-US" sz="950" dirty="0"/>
          </a:p>
        </p:txBody>
      </p:sp>
      <p:sp>
        <p:nvSpPr>
          <p:cNvPr id="154" name="Shape 150"/>
          <p:cNvSpPr/>
          <p:nvPr/>
        </p:nvSpPr>
        <p:spPr>
          <a:xfrm>
            <a:off x="10104120" y="5559552"/>
            <a:ext cx="1676095" cy="384048"/>
          </a:xfrm>
          <a:prstGeom prst="rect">
            <a:avLst/>
          </a:prstGeom>
          <a:solidFill>
            <a:srgbClr val="F1E8D3"/>
          </a:solidFill>
          <a:ln/>
        </p:spPr>
      </p:sp>
      <p:sp>
        <p:nvSpPr>
          <p:cNvPr id="155" name="Text 151"/>
          <p:cNvSpPr txBox="1"/>
          <p:nvPr/>
        </p:nvSpPr>
        <p:spPr>
          <a:xfrm>
            <a:off x="10149840" y="5559552"/>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56" name="Shape 152"/>
          <p:cNvSpPr/>
          <p:nvPr/>
        </p:nvSpPr>
        <p:spPr>
          <a:xfrm>
            <a:off x="4343400" y="5943600"/>
            <a:ext cx="7436815" cy="0"/>
          </a:xfrm>
          <a:prstGeom prst="line">
            <a:avLst/>
          </a:prstGeom>
          <a:noFill/>
          <a:ln w="6350">
            <a:solidFill>
              <a:srgbClr val="E3E8E4"/>
            </a:solidFill>
            <a:prstDash val="solid"/>
          </a:ln>
        </p:spPr>
      </p:sp>
      <p:sp>
        <p:nvSpPr>
          <p:cNvPr id="157" name="Text 153"/>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technical/contracts/metrics_bars.yaml, technical/docs/agent_prompts/R1_00_COMMON.md, ml/public_validation. Pending gates are filled from metrics.json by technical/scripts/deck_numbers.py.</a:t>
            </a:r>
            <a:endParaRPr lang="en-US" sz="850" dirty="0"/>
          </a:p>
        </p:txBody>
      </p:sp>
      <p:pic>
        <p:nvPicPr>
          <p:cNvPr id="158"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159"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160"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161"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162"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163"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164"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questions">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6: CASE QUESTIONS, ANSWERED</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Where the case's twelve questions are answered, and how strong the evidence is</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88720"/>
            <a:ext cx="411480" cy="292608"/>
          </a:xfrm>
          <a:prstGeom prst="rect">
            <a:avLst/>
          </a:prstGeom>
          <a:solidFill>
            <a:srgbClr val="1F4A82"/>
          </a:solidFill>
          <a:ln/>
        </p:spPr>
      </p:sp>
      <p:sp>
        <p:nvSpPr>
          <p:cNvPr id="26" name="Text 22"/>
          <p:cNvSpPr txBox="1"/>
          <p:nvPr/>
        </p:nvSpPr>
        <p:spPr>
          <a:xfrm>
            <a:off x="457200" y="1188720"/>
            <a:ext cx="32004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p>
        </p:txBody>
      </p:sp>
      <p:sp>
        <p:nvSpPr>
          <p:cNvPr id="27" name="Shape 23"/>
          <p:cNvSpPr/>
          <p:nvPr/>
        </p:nvSpPr>
        <p:spPr>
          <a:xfrm>
            <a:off x="822960" y="1188720"/>
            <a:ext cx="2926080" cy="292608"/>
          </a:xfrm>
          <a:prstGeom prst="rect">
            <a:avLst/>
          </a:prstGeom>
          <a:solidFill>
            <a:srgbClr val="1F4A82"/>
          </a:solidFill>
          <a:ln/>
        </p:spPr>
      </p:sp>
      <p:sp>
        <p:nvSpPr>
          <p:cNvPr id="28" name="Text 24"/>
          <p:cNvSpPr txBox="1"/>
          <p:nvPr/>
        </p:nvSpPr>
        <p:spPr>
          <a:xfrm>
            <a:off x="868680" y="1188720"/>
            <a:ext cx="283464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Technology (70 %)</a:t>
            </a:r>
            <a:endParaRPr lang="en-US" sz="950" dirty="0"/>
          </a:p>
        </p:txBody>
      </p:sp>
      <p:sp>
        <p:nvSpPr>
          <p:cNvPr id="29" name="Shape 25"/>
          <p:cNvSpPr/>
          <p:nvPr/>
        </p:nvSpPr>
        <p:spPr>
          <a:xfrm>
            <a:off x="3749040" y="1188720"/>
            <a:ext cx="1600200" cy="292608"/>
          </a:xfrm>
          <a:prstGeom prst="rect">
            <a:avLst/>
          </a:prstGeom>
          <a:solidFill>
            <a:srgbClr val="1F4A82"/>
          </a:solidFill>
          <a:ln/>
        </p:spPr>
      </p:sp>
      <p:sp>
        <p:nvSpPr>
          <p:cNvPr id="30" name="Text 26"/>
          <p:cNvSpPr txBox="1"/>
          <p:nvPr/>
        </p:nvSpPr>
        <p:spPr>
          <a:xfrm>
            <a:off x="3794760" y="1188720"/>
            <a:ext cx="150876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Where</a:t>
            </a:r>
            <a:endParaRPr lang="en-US" sz="950" dirty="0"/>
          </a:p>
        </p:txBody>
      </p:sp>
      <p:sp>
        <p:nvSpPr>
          <p:cNvPr id="31" name="Shape 27"/>
          <p:cNvSpPr/>
          <p:nvPr/>
        </p:nvSpPr>
        <p:spPr>
          <a:xfrm>
            <a:off x="5349240" y="1188720"/>
            <a:ext cx="777240" cy="292608"/>
          </a:xfrm>
          <a:prstGeom prst="rect">
            <a:avLst/>
          </a:prstGeom>
          <a:solidFill>
            <a:srgbClr val="1F4A82"/>
          </a:solidFill>
          <a:ln/>
        </p:spPr>
      </p:sp>
      <p:sp>
        <p:nvSpPr>
          <p:cNvPr id="32" name="Text 28"/>
          <p:cNvSpPr txBox="1"/>
          <p:nvPr/>
        </p:nvSpPr>
        <p:spPr>
          <a:xfrm>
            <a:off x="5394960" y="1188720"/>
            <a:ext cx="68580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Evidence</a:t>
            </a:r>
            <a:endParaRPr lang="en-US" sz="950" dirty="0"/>
          </a:p>
        </p:txBody>
      </p:sp>
      <p:sp>
        <p:nvSpPr>
          <p:cNvPr id="33" name="Shape 29"/>
          <p:cNvSpPr/>
          <p:nvPr/>
        </p:nvSpPr>
        <p:spPr>
          <a:xfrm>
            <a:off x="411480" y="1481328"/>
            <a:ext cx="411480" cy="475488"/>
          </a:xfrm>
          <a:prstGeom prst="rect">
            <a:avLst/>
          </a:prstGeom>
          <a:solidFill>
            <a:srgbClr val="F1F7F3"/>
          </a:solidFill>
          <a:ln/>
        </p:spPr>
      </p:sp>
      <p:sp>
        <p:nvSpPr>
          <p:cNvPr id="34" name="Text 30"/>
          <p:cNvSpPr txBox="1"/>
          <p:nvPr/>
        </p:nvSpPr>
        <p:spPr>
          <a:xfrm>
            <a:off x="457200" y="1481328"/>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T1</a:t>
            </a:r>
            <a:endParaRPr lang="en-US" sz="950" dirty="0"/>
          </a:p>
        </p:txBody>
      </p:sp>
      <p:sp>
        <p:nvSpPr>
          <p:cNvPr id="35" name="Shape 31"/>
          <p:cNvSpPr/>
          <p:nvPr/>
        </p:nvSpPr>
        <p:spPr>
          <a:xfrm>
            <a:off x="822960" y="1481328"/>
            <a:ext cx="2926080" cy="475488"/>
          </a:xfrm>
          <a:prstGeom prst="rect">
            <a:avLst/>
          </a:prstGeom>
          <a:solidFill>
            <a:srgbClr val="F1F7F3"/>
          </a:solidFill>
          <a:ln/>
        </p:spPr>
      </p:sp>
      <p:sp>
        <p:nvSpPr>
          <p:cNvPr id="36" name="Text 32"/>
          <p:cNvSpPr txBox="1"/>
          <p:nvPr/>
        </p:nvSpPr>
        <p:spPr>
          <a:xfrm>
            <a:off x="868680" y="1481328"/>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Data capture, offline, low effort</a:t>
            </a:r>
            <a:endParaRPr lang="en-US" sz="950" dirty="0"/>
          </a:p>
        </p:txBody>
      </p:sp>
      <p:sp>
        <p:nvSpPr>
          <p:cNvPr id="37" name="Shape 33"/>
          <p:cNvSpPr/>
          <p:nvPr/>
        </p:nvSpPr>
        <p:spPr>
          <a:xfrm>
            <a:off x="3749040" y="1481328"/>
            <a:ext cx="1600200" cy="475488"/>
          </a:xfrm>
          <a:prstGeom prst="rect">
            <a:avLst/>
          </a:prstGeom>
          <a:solidFill>
            <a:srgbClr val="F1F7F3"/>
          </a:solidFill>
          <a:ln/>
        </p:spPr>
      </p:sp>
      <p:sp>
        <p:nvSpPr>
          <p:cNvPr id="38" name="Text 34"/>
          <p:cNvSpPr txBox="1"/>
          <p:nvPr/>
        </p:nvSpPr>
        <p:spPr>
          <a:xfrm>
            <a:off x="3794760" y="1481328"/>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Slides 5, 6</a:t>
            </a:r>
            <a:endParaRPr lang="en-US" sz="950" dirty="0"/>
          </a:p>
        </p:txBody>
      </p:sp>
      <p:sp>
        <p:nvSpPr>
          <p:cNvPr id="39" name="Shape 35"/>
          <p:cNvSpPr/>
          <p:nvPr/>
        </p:nvSpPr>
        <p:spPr>
          <a:xfrm>
            <a:off x="5349240" y="1481328"/>
            <a:ext cx="777240" cy="475488"/>
          </a:xfrm>
          <a:prstGeom prst="rect">
            <a:avLst/>
          </a:prstGeom>
          <a:solidFill>
            <a:srgbClr val="2E6DB4"/>
          </a:solidFill>
          <a:ln/>
        </p:spPr>
      </p:sp>
      <p:sp>
        <p:nvSpPr>
          <p:cNvPr id="40" name="Text 36"/>
          <p:cNvSpPr txBox="1"/>
          <p:nvPr/>
        </p:nvSpPr>
        <p:spPr>
          <a:xfrm>
            <a:off x="5394960" y="1481328"/>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Designed</a:t>
            </a:r>
            <a:endParaRPr lang="en-US" sz="950" dirty="0"/>
          </a:p>
        </p:txBody>
      </p:sp>
      <p:sp>
        <p:nvSpPr>
          <p:cNvPr id="41" name="Shape 37"/>
          <p:cNvSpPr/>
          <p:nvPr/>
        </p:nvSpPr>
        <p:spPr>
          <a:xfrm>
            <a:off x="411480" y="1956816"/>
            <a:ext cx="5715000" cy="0"/>
          </a:xfrm>
          <a:prstGeom prst="line">
            <a:avLst/>
          </a:prstGeom>
          <a:noFill/>
          <a:ln w="6350">
            <a:solidFill>
              <a:srgbClr val="E3E8E4"/>
            </a:solidFill>
            <a:prstDash val="solid"/>
          </a:ln>
        </p:spPr>
      </p:sp>
      <p:sp>
        <p:nvSpPr>
          <p:cNvPr id="42" name="Shape 38"/>
          <p:cNvSpPr/>
          <p:nvPr/>
        </p:nvSpPr>
        <p:spPr>
          <a:xfrm>
            <a:off x="411480" y="1956816"/>
            <a:ext cx="411480" cy="475488"/>
          </a:xfrm>
          <a:prstGeom prst="rect">
            <a:avLst/>
          </a:prstGeom>
          <a:solidFill>
            <a:srgbClr val="FFFFFF"/>
          </a:solidFill>
          <a:ln/>
        </p:spPr>
      </p:sp>
      <p:sp>
        <p:nvSpPr>
          <p:cNvPr id="43" name="Text 39"/>
          <p:cNvSpPr txBox="1"/>
          <p:nvPr/>
        </p:nvSpPr>
        <p:spPr>
          <a:xfrm>
            <a:off x="457200" y="1956816"/>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T2</a:t>
            </a:r>
            <a:endParaRPr lang="en-US" sz="950" dirty="0"/>
          </a:p>
        </p:txBody>
      </p:sp>
      <p:sp>
        <p:nvSpPr>
          <p:cNvPr id="44" name="Shape 40"/>
          <p:cNvSpPr/>
          <p:nvPr/>
        </p:nvSpPr>
        <p:spPr>
          <a:xfrm>
            <a:off x="822960" y="1956816"/>
            <a:ext cx="2926080" cy="475488"/>
          </a:xfrm>
          <a:prstGeom prst="rect">
            <a:avLst/>
          </a:prstGeom>
          <a:solidFill>
            <a:srgbClr val="FFFFFF"/>
          </a:solidFill>
          <a:ln/>
        </p:spPr>
      </p:sp>
      <p:sp>
        <p:nvSpPr>
          <p:cNvPr id="45" name="Text 41"/>
          <p:cNvSpPr txBox="1"/>
          <p:nvPr/>
        </p:nvSpPr>
        <p:spPr>
          <a:xfrm>
            <a:off x="868680" y="1956816"/>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Data model; tagging questions to topics</a:t>
            </a:r>
            <a:endParaRPr lang="en-US" sz="950" dirty="0"/>
          </a:p>
        </p:txBody>
      </p:sp>
      <p:sp>
        <p:nvSpPr>
          <p:cNvPr id="46" name="Shape 42"/>
          <p:cNvSpPr/>
          <p:nvPr/>
        </p:nvSpPr>
        <p:spPr>
          <a:xfrm>
            <a:off x="3749040" y="1956816"/>
            <a:ext cx="1600200" cy="475488"/>
          </a:xfrm>
          <a:prstGeom prst="rect">
            <a:avLst/>
          </a:prstGeom>
          <a:solidFill>
            <a:srgbClr val="FFFFFF"/>
          </a:solidFill>
          <a:ln/>
        </p:spPr>
      </p:sp>
      <p:sp>
        <p:nvSpPr>
          <p:cNvPr id="47" name="Text 43"/>
          <p:cNvSpPr txBox="1"/>
          <p:nvPr/>
        </p:nvSpPr>
        <p:spPr>
          <a:xfrm>
            <a:off x="3794760" y="1956816"/>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Appendix 3</a:t>
            </a:r>
            <a:endParaRPr lang="en-US" sz="950" dirty="0"/>
          </a:p>
        </p:txBody>
      </p:sp>
      <p:sp>
        <p:nvSpPr>
          <p:cNvPr id="48" name="Shape 44"/>
          <p:cNvSpPr/>
          <p:nvPr/>
        </p:nvSpPr>
        <p:spPr>
          <a:xfrm>
            <a:off x="5349240" y="1956816"/>
            <a:ext cx="777240" cy="475488"/>
          </a:xfrm>
          <a:prstGeom prst="rect">
            <a:avLst/>
          </a:prstGeom>
          <a:solidFill>
            <a:srgbClr val="1F4A82"/>
          </a:solidFill>
          <a:ln/>
        </p:spPr>
      </p:sp>
      <p:sp>
        <p:nvSpPr>
          <p:cNvPr id="49" name="Text 45"/>
          <p:cNvSpPr txBox="1"/>
          <p:nvPr/>
        </p:nvSpPr>
        <p:spPr>
          <a:xfrm>
            <a:off x="5394960" y="1956816"/>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Built</a:t>
            </a:r>
            <a:endParaRPr lang="en-US" sz="950" dirty="0"/>
          </a:p>
        </p:txBody>
      </p:sp>
      <p:sp>
        <p:nvSpPr>
          <p:cNvPr id="50" name="Shape 46"/>
          <p:cNvSpPr/>
          <p:nvPr/>
        </p:nvSpPr>
        <p:spPr>
          <a:xfrm>
            <a:off x="411480" y="2432304"/>
            <a:ext cx="5715000" cy="0"/>
          </a:xfrm>
          <a:prstGeom prst="line">
            <a:avLst/>
          </a:prstGeom>
          <a:noFill/>
          <a:ln w="6350">
            <a:solidFill>
              <a:srgbClr val="E3E8E4"/>
            </a:solidFill>
            <a:prstDash val="solid"/>
          </a:ln>
        </p:spPr>
      </p:sp>
      <p:sp>
        <p:nvSpPr>
          <p:cNvPr id="51" name="Shape 47"/>
          <p:cNvSpPr/>
          <p:nvPr/>
        </p:nvSpPr>
        <p:spPr>
          <a:xfrm>
            <a:off x="411480" y="2432304"/>
            <a:ext cx="411480" cy="475488"/>
          </a:xfrm>
          <a:prstGeom prst="rect">
            <a:avLst/>
          </a:prstGeom>
          <a:solidFill>
            <a:srgbClr val="F1F7F3"/>
          </a:solidFill>
          <a:ln/>
        </p:spPr>
      </p:sp>
      <p:sp>
        <p:nvSpPr>
          <p:cNvPr id="52" name="Text 48"/>
          <p:cNvSpPr txBox="1"/>
          <p:nvPr/>
        </p:nvSpPr>
        <p:spPr>
          <a:xfrm>
            <a:off x="457200" y="2432304"/>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T3</a:t>
            </a:r>
            <a:endParaRPr lang="en-US" sz="950" dirty="0"/>
          </a:p>
        </p:txBody>
      </p:sp>
      <p:sp>
        <p:nvSpPr>
          <p:cNvPr id="53" name="Shape 49"/>
          <p:cNvSpPr/>
          <p:nvPr/>
        </p:nvSpPr>
        <p:spPr>
          <a:xfrm>
            <a:off x="822960" y="2432304"/>
            <a:ext cx="2926080" cy="475488"/>
          </a:xfrm>
          <a:prstGeom prst="rect">
            <a:avLst/>
          </a:prstGeom>
          <a:solidFill>
            <a:srgbClr val="F1F7F3"/>
          </a:solidFill>
          <a:ln/>
        </p:spPr>
      </p:sp>
      <p:sp>
        <p:nvSpPr>
          <p:cNvPr id="54" name="Text 50"/>
          <p:cNvSpPr txBox="1"/>
          <p:nvPr/>
        </p:nvSpPr>
        <p:spPr>
          <a:xfrm>
            <a:off x="868680" y="2432304"/>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Mastery and question difficulty</a:t>
            </a:r>
            <a:endParaRPr lang="en-US" sz="950" dirty="0"/>
          </a:p>
        </p:txBody>
      </p:sp>
      <p:sp>
        <p:nvSpPr>
          <p:cNvPr id="55" name="Shape 51"/>
          <p:cNvSpPr/>
          <p:nvPr/>
        </p:nvSpPr>
        <p:spPr>
          <a:xfrm>
            <a:off x="3749040" y="2432304"/>
            <a:ext cx="1600200" cy="475488"/>
          </a:xfrm>
          <a:prstGeom prst="rect">
            <a:avLst/>
          </a:prstGeom>
          <a:solidFill>
            <a:srgbClr val="F1F7F3"/>
          </a:solidFill>
          <a:ln/>
        </p:spPr>
      </p:sp>
      <p:sp>
        <p:nvSpPr>
          <p:cNvPr id="56" name="Text 52"/>
          <p:cNvSpPr txBox="1"/>
          <p:nvPr/>
        </p:nvSpPr>
        <p:spPr>
          <a:xfrm>
            <a:off x="3794760" y="2432304"/>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7</a:t>
            </a:r>
            <a:endParaRPr lang="en-US" sz="950" dirty="0"/>
          </a:p>
        </p:txBody>
      </p:sp>
      <p:sp>
        <p:nvSpPr>
          <p:cNvPr id="57" name="Shape 53"/>
          <p:cNvSpPr/>
          <p:nvPr/>
        </p:nvSpPr>
        <p:spPr>
          <a:xfrm>
            <a:off x="5349240" y="2432304"/>
            <a:ext cx="777240" cy="475488"/>
          </a:xfrm>
          <a:prstGeom prst="rect">
            <a:avLst/>
          </a:prstGeom>
          <a:solidFill>
            <a:srgbClr val="1F4A82"/>
          </a:solidFill>
          <a:ln/>
        </p:spPr>
      </p:sp>
      <p:sp>
        <p:nvSpPr>
          <p:cNvPr id="58" name="Text 54"/>
          <p:cNvSpPr txBox="1"/>
          <p:nvPr/>
        </p:nvSpPr>
        <p:spPr>
          <a:xfrm>
            <a:off x="5394960" y="2432304"/>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Measured</a:t>
            </a:r>
            <a:endParaRPr lang="en-US" sz="950" dirty="0"/>
          </a:p>
        </p:txBody>
      </p:sp>
      <p:sp>
        <p:nvSpPr>
          <p:cNvPr id="59" name="Shape 55"/>
          <p:cNvSpPr/>
          <p:nvPr/>
        </p:nvSpPr>
        <p:spPr>
          <a:xfrm>
            <a:off x="411480" y="2907792"/>
            <a:ext cx="5715000" cy="0"/>
          </a:xfrm>
          <a:prstGeom prst="line">
            <a:avLst/>
          </a:prstGeom>
          <a:noFill/>
          <a:ln w="6350">
            <a:solidFill>
              <a:srgbClr val="E3E8E4"/>
            </a:solidFill>
            <a:prstDash val="solid"/>
          </a:ln>
        </p:spPr>
      </p:sp>
      <p:sp>
        <p:nvSpPr>
          <p:cNvPr id="60" name="Shape 56"/>
          <p:cNvSpPr/>
          <p:nvPr/>
        </p:nvSpPr>
        <p:spPr>
          <a:xfrm>
            <a:off x="411480" y="2907792"/>
            <a:ext cx="411480" cy="475488"/>
          </a:xfrm>
          <a:prstGeom prst="rect">
            <a:avLst/>
          </a:prstGeom>
          <a:solidFill>
            <a:srgbClr val="FFFFFF"/>
          </a:solidFill>
          <a:ln/>
        </p:spPr>
      </p:sp>
      <p:sp>
        <p:nvSpPr>
          <p:cNvPr id="61" name="Text 57"/>
          <p:cNvSpPr txBox="1"/>
          <p:nvPr/>
        </p:nvSpPr>
        <p:spPr>
          <a:xfrm>
            <a:off x="457200" y="2907792"/>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T4</a:t>
            </a:r>
            <a:endParaRPr lang="en-US" sz="950" dirty="0"/>
          </a:p>
        </p:txBody>
      </p:sp>
      <p:sp>
        <p:nvSpPr>
          <p:cNvPr id="62" name="Shape 58"/>
          <p:cNvSpPr/>
          <p:nvPr/>
        </p:nvSpPr>
        <p:spPr>
          <a:xfrm>
            <a:off x="822960" y="2907792"/>
            <a:ext cx="2926080" cy="475488"/>
          </a:xfrm>
          <a:prstGeom prst="rect">
            <a:avLst/>
          </a:prstGeom>
          <a:solidFill>
            <a:srgbClr val="FFFFFF"/>
          </a:solidFill>
          <a:ln/>
        </p:spPr>
      </p:sp>
      <p:sp>
        <p:nvSpPr>
          <p:cNvPr id="63" name="Text 59"/>
          <p:cNvSpPr txBox="1"/>
          <p:nvPr/>
        </p:nvSpPr>
        <p:spPr>
          <a:xfrm>
            <a:off x="868680" y="2907792"/>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Early warning: dropout, behind, fees</a:t>
            </a:r>
            <a:endParaRPr lang="en-US" sz="950" dirty="0"/>
          </a:p>
        </p:txBody>
      </p:sp>
      <p:sp>
        <p:nvSpPr>
          <p:cNvPr id="64" name="Shape 60"/>
          <p:cNvSpPr/>
          <p:nvPr/>
        </p:nvSpPr>
        <p:spPr>
          <a:xfrm>
            <a:off x="3749040" y="2907792"/>
            <a:ext cx="1600200" cy="475488"/>
          </a:xfrm>
          <a:prstGeom prst="rect">
            <a:avLst/>
          </a:prstGeom>
          <a:solidFill>
            <a:srgbClr val="FFFFFF"/>
          </a:solidFill>
          <a:ln/>
        </p:spPr>
      </p:sp>
      <p:sp>
        <p:nvSpPr>
          <p:cNvPr id="65" name="Text 61"/>
          <p:cNvSpPr txBox="1"/>
          <p:nvPr/>
        </p:nvSpPr>
        <p:spPr>
          <a:xfrm>
            <a:off x="3794760" y="2907792"/>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8</a:t>
            </a:r>
            <a:endParaRPr lang="en-US" sz="950" dirty="0"/>
          </a:p>
        </p:txBody>
      </p:sp>
      <p:sp>
        <p:nvSpPr>
          <p:cNvPr id="66" name="Shape 62"/>
          <p:cNvSpPr/>
          <p:nvPr/>
        </p:nvSpPr>
        <p:spPr>
          <a:xfrm>
            <a:off x="5349240" y="2907792"/>
            <a:ext cx="777240" cy="475488"/>
          </a:xfrm>
          <a:prstGeom prst="rect">
            <a:avLst/>
          </a:prstGeom>
          <a:solidFill>
            <a:srgbClr val="1F4A82"/>
          </a:solidFill>
          <a:ln/>
        </p:spPr>
      </p:sp>
      <p:sp>
        <p:nvSpPr>
          <p:cNvPr id="67" name="Text 63"/>
          <p:cNvSpPr txBox="1"/>
          <p:nvPr/>
        </p:nvSpPr>
        <p:spPr>
          <a:xfrm>
            <a:off x="5394960" y="2907792"/>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Measured</a:t>
            </a:r>
            <a:endParaRPr lang="en-US" sz="950" dirty="0"/>
          </a:p>
        </p:txBody>
      </p:sp>
      <p:sp>
        <p:nvSpPr>
          <p:cNvPr id="68" name="Shape 64"/>
          <p:cNvSpPr/>
          <p:nvPr/>
        </p:nvSpPr>
        <p:spPr>
          <a:xfrm>
            <a:off x="411480" y="3383280"/>
            <a:ext cx="5715000" cy="0"/>
          </a:xfrm>
          <a:prstGeom prst="line">
            <a:avLst/>
          </a:prstGeom>
          <a:noFill/>
          <a:ln w="6350">
            <a:solidFill>
              <a:srgbClr val="E3E8E4"/>
            </a:solidFill>
            <a:prstDash val="solid"/>
          </a:ln>
        </p:spPr>
      </p:sp>
      <p:sp>
        <p:nvSpPr>
          <p:cNvPr id="69" name="Shape 65"/>
          <p:cNvSpPr/>
          <p:nvPr/>
        </p:nvSpPr>
        <p:spPr>
          <a:xfrm>
            <a:off x="411480" y="3383280"/>
            <a:ext cx="411480" cy="475488"/>
          </a:xfrm>
          <a:prstGeom prst="rect">
            <a:avLst/>
          </a:prstGeom>
          <a:solidFill>
            <a:srgbClr val="F1F7F3"/>
          </a:solidFill>
          <a:ln/>
        </p:spPr>
      </p:sp>
      <p:sp>
        <p:nvSpPr>
          <p:cNvPr id="70" name="Text 66"/>
          <p:cNvSpPr txBox="1"/>
          <p:nvPr/>
        </p:nvSpPr>
        <p:spPr>
          <a:xfrm>
            <a:off x="457200" y="3383280"/>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T5</a:t>
            </a:r>
            <a:endParaRPr lang="en-US" sz="950" dirty="0"/>
          </a:p>
        </p:txBody>
      </p:sp>
      <p:sp>
        <p:nvSpPr>
          <p:cNvPr id="71" name="Shape 67"/>
          <p:cNvSpPr/>
          <p:nvPr/>
        </p:nvSpPr>
        <p:spPr>
          <a:xfrm>
            <a:off x="822960" y="3383280"/>
            <a:ext cx="2926080" cy="475488"/>
          </a:xfrm>
          <a:prstGeom prst="rect">
            <a:avLst/>
          </a:prstGeom>
          <a:solidFill>
            <a:srgbClr val="F1F7F3"/>
          </a:solidFill>
          <a:ln/>
        </p:spPr>
      </p:sp>
      <p:sp>
        <p:nvSpPr>
          <p:cNvPr id="72" name="Text 68"/>
          <p:cNvSpPr txBox="1"/>
          <p:nvPr/>
        </p:nvSpPr>
        <p:spPr>
          <a:xfrm>
            <a:off x="868680" y="3383280"/>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Percentile range, honest uncertainty</a:t>
            </a:r>
            <a:endParaRPr lang="en-US" sz="950" dirty="0"/>
          </a:p>
        </p:txBody>
      </p:sp>
      <p:sp>
        <p:nvSpPr>
          <p:cNvPr id="73" name="Shape 69"/>
          <p:cNvSpPr/>
          <p:nvPr/>
        </p:nvSpPr>
        <p:spPr>
          <a:xfrm>
            <a:off x="3749040" y="3383280"/>
            <a:ext cx="1600200" cy="475488"/>
          </a:xfrm>
          <a:prstGeom prst="rect">
            <a:avLst/>
          </a:prstGeom>
          <a:solidFill>
            <a:srgbClr val="F1F7F3"/>
          </a:solidFill>
          <a:ln/>
        </p:spPr>
      </p:sp>
      <p:sp>
        <p:nvSpPr>
          <p:cNvPr id="74" name="Text 70"/>
          <p:cNvSpPr txBox="1"/>
          <p:nvPr/>
        </p:nvSpPr>
        <p:spPr>
          <a:xfrm>
            <a:off x="3794760" y="3383280"/>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9</a:t>
            </a:r>
            <a:endParaRPr lang="en-US" sz="950" dirty="0"/>
          </a:p>
        </p:txBody>
      </p:sp>
      <p:sp>
        <p:nvSpPr>
          <p:cNvPr id="75" name="Shape 71"/>
          <p:cNvSpPr/>
          <p:nvPr/>
        </p:nvSpPr>
        <p:spPr>
          <a:xfrm>
            <a:off x="5349240" y="3383280"/>
            <a:ext cx="777240" cy="475488"/>
          </a:xfrm>
          <a:prstGeom prst="rect">
            <a:avLst/>
          </a:prstGeom>
          <a:solidFill>
            <a:srgbClr val="2E6DB4"/>
          </a:solidFill>
          <a:ln/>
        </p:spPr>
      </p:sp>
      <p:sp>
        <p:nvSpPr>
          <p:cNvPr id="76" name="Text 72"/>
          <p:cNvSpPr txBox="1"/>
          <p:nvPr/>
        </p:nvSpPr>
        <p:spPr>
          <a:xfrm>
            <a:off x="5394960" y="3383280"/>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Designed</a:t>
            </a:r>
            <a:endParaRPr lang="en-US" sz="950" dirty="0"/>
          </a:p>
        </p:txBody>
      </p:sp>
      <p:sp>
        <p:nvSpPr>
          <p:cNvPr id="77" name="Shape 73"/>
          <p:cNvSpPr/>
          <p:nvPr/>
        </p:nvSpPr>
        <p:spPr>
          <a:xfrm>
            <a:off x="411480" y="3858768"/>
            <a:ext cx="5715000" cy="0"/>
          </a:xfrm>
          <a:prstGeom prst="line">
            <a:avLst/>
          </a:prstGeom>
          <a:noFill/>
          <a:ln w="6350">
            <a:solidFill>
              <a:srgbClr val="E3E8E4"/>
            </a:solidFill>
            <a:prstDash val="solid"/>
          </a:ln>
        </p:spPr>
      </p:sp>
      <p:sp>
        <p:nvSpPr>
          <p:cNvPr id="78" name="Shape 74"/>
          <p:cNvSpPr/>
          <p:nvPr/>
        </p:nvSpPr>
        <p:spPr>
          <a:xfrm>
            <a:off x="411480" y="3858768"/>
            <a:ext cx="411480" cy="475488"/>
          </a:xfrm>
          <a:prstGeom prst="rect">
            <a:avLst/>
          </a:prstGeom>
          <a:solidFill>
            <a:srgbClr val="FFFFFF"/>
          </a:solidFill>
          <a:ln/>
        </p:spPr>
      </p:sp>
      <p:sp>
        <p:nvSpPr>
          <p:cNvPr id="79" name="Text 75"/>
          <p:cNvSpPr txBox="1"/>
          <p:nvPr/>
        </p:nvSpPr>
        <p:spPr>
          <a:xfrm>
            <a:off x="457200" y="3858768"/>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T6</a:t>
            </a:r>
            <a:endParaRPr lang="en-US" sz="950" dirty="0"/>
          </a:p>
        </p:txBody>
      </p:sp>
      <p:sp>
        <p:nvSpPr>
          <p:cNvPr id="80" name="Shape 76"/>
          <p:cNvSpPr/>
          <p:nvPr/>
        </p:nvSpPr>
        <p:spPr>
          <a:xfrm>
            <a:off x="822960" y="3858768"/>
            <a:ext cx="2926080" cy="475488"/>
          </a:xfrm>
          <a:prstGeom prst="rect">
            <a:avLst/>
          </a:prstGeom>
          <a:solidFill>
            <a:srgbClr val="FFFFFF"/>
          </a:solidFill>
          <a:ln/>
        </p:spPr>
      </p:sp>
      <p:sp>
        <p:nvSpPr>
          <p:cNvPr id="81" name="Text 77"/>
          <p:cNvSpPr txBox="1"/>
          <p:nvPr/>
        </p:nvSpPr>
        <p:spPr>
          <a:xfrm>
            <a:off x="868680" y="3858768"/>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GenAI: reports, plans, doubts</a:t>
            </a:r>
            <a:endParaRPr lang="en-US" sz="950" dirty="0"/>
          </a:p>
        </p:txBody>
      </p:sp>
      <p:sp>
        <p:nvSpPr>
          <p:cNvPr id="82" name="Shape 78"/>
          <p:cNvSpPr/>
          <p:nvPr/>
        </p:nvSpPr>
        <p:spPr>
          <a:xfrm>
            <a:off x="3749040" y="3858768"/>
            <a:ext cx="1600200" cy="475488"/>
          </a:xfrm>
          <a:prstGeom prst="rect">
            <a:avLst/>
          </a:prstGeom>
          <a:solidFill>
            <a:srgbClr val="FFFFFF"/>
          </a:solidFill>
          <a:ln/>
        </p:spPr>
      </p:sp>
      <p:sp>
        <p:nvSpPr>
          <p:cNvPr id="83" name="Text 79"/>
          <p:cNvSpPr txBox="1"/>
          <p:nvPr/>
        </p:nvSpPr>
        <p:spPr>
          <a:xfrm>
            <a:off x="3794760" y="3858768"/>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9</a:t>
            </a:r>
            <a:endParaRPr lang="en-US" sz="950" dirty="0"/>
          </a:p>
        </p:txBody>
      </p:sp>
      <p:sp>
        <p:nvSpPr>
          <p:cNvPr id="84" name="Shape 80"/>
          <p:cNvSpPr/>
          <p:nvPr/>
        </p:nvSpPr>
        <p:spPr>
          <a:xfrm>
            <a:off x="5349240" y="3858768"/>
            <a:ext cx="777240" cy="475488"/>
          </a:xfrm>
          <a:prstGeom prst="rect">
            <a:avLst/>
          </a:prstGeom>
          <a:solidFill>
            <a:srgbClr val="1F4A82"/>
          </a:solidFill>
          <a:ln/>
        </p:spPr>
      </p:sp>
      <p:sp>
        <p:nvSpPr>
          <p:cNvPr id="85" name="Text 81"/>
          <p:cNvSpPr txBox="1"/>
          <p:nvPr/>
        </p:nvSpPr>
        <p:spPr>
          <a:xfrm>
            <a:off x="5394960" y="3858768"/>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Built</a:t>
            </a:r>
            <a:endParaRPr lang="en-US" sz="950" dirty="0"/>
          </a:p>
        </p:txBody>
      </p:sp>
      <p:sp>
        <p:nvSpPr>
          <p:cNvPr id="86" name="Shape 82"/>
          <p:cNvSpPr/>
          <p:nvPr/>
        </p:nvSpPr>
        <p:spPr>
          <a:xfrm>
            <a:off x="411480" y="4334256"/>
            <a:ext cx="5715000" cy="0"/>
          </a:xfrm>
          <a:prstGeom prst="line">
            <a:avLst/>
          </a:prstGeom>
          <a:noFill/>
          <a:ln w="6350">
            <a:solidFill>
              <a:srgbClr val="E3E8E4"/>
            </a:solidFill>
            <a:prstDash val="solid"/>
          </a:ln>
        </p:spPr>
      </p:sp>
      <p:sp>
        <p:nvSpPr>
          <p:cNvPr id="87" name="Shape 83"/>
          <p:cNvSpPr/>
          <p:nvPr/>
        </p:nvSpPr>
        <p:spPr>
          <a:xfrm>
            <a:off x="411480" y="4334256"/>
            <a:ext cx="411480" cy="475488"/>
          </a:xfrm>
          <a:prstGeom prst="rect">
            <a:avLst/>
          </a:prstGeom>
          <a:solidFill>
            <a:srgbClr val="F1F7F3"/>
          </a:solidFill>
          <a:ln/>
        </p:spPr>
      </p:sp>
      <p:sp>
        <p:nvSpPr>
          <p:cNvPr id="88" name="Text 84"/>
          <p:cNvSpPr txBox="1"/>
          <p:nvPr/>
        </p:nvSpPr>
        <p:spPr>
          <a:xfrm>
            <a:off x="457200" y="4334256"/>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T7</a:t>
            </a:r>
            <a:endParaRPr lang="en-US" sz="950" dirty="0"/>
          </a:p>
        </p:txBody>
      </p:sp>
      <p:sp>
        <p:nvSpPr>
          <p:cNvPr id="89" name="Shape 85"/>
          <p:cNvSpPr/>
          <p:nvPr/>
        </p:nvSpPr>
        <p:spPr>
          <a:xfrm>
            <a:off x="822960" y="4334256"/>
            <a:ext cx="2926080" cy="475488"/>
          </a:xfrm>
          <a:prstGeom prst="rect">
            <a:avLst/>
          </a:prstGeom>
          <a:solidFill>
            <a:srgbClr val="F1F7F3"/>
          </a:solidFill>
          <a:ln/>
        </p:spPr>
      </p:sp>
      <p:sp>
        <p:nvSpPr>
          <p:cNvPr id="90" name="Text 86"/>
          <p:cNvSpPr txBox="1"/>
          <p:nvPr/>
        </p:nvSpPr>
        <p:spPr>
          <a:xfrm>
            <a:off x="868680" y="4334256"/>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Multi-tenant, secure, low-cost</a:t>
            </a:r>
            <a:endParaRPr lang="en-US" sz="950" dirty="0"/>
          </a:p>
        </p:txBody>
      </p:sp>
      <p:sp>
        <p:nvSpPr>
          <p:cNvPr id="91" name="Shape 87"/>
          <p:cNvSpPr/>
          <p:nvPr/>
        </p:nvSpPr>
        <p:spPr>
          <a:xfrm>
            <a:off x="3749040" y="4334256"/>
            <a:ext cx="1600200" cy="475488"/>
          </a:xfrm>
          <a:prstGeom prst="rect">
            <a:avLst/>
          </a:prstGeom>
          <a:solidFill>
            <a:srgbClr val="F1F7F3"/>
          </a:solidFill>
          <a:ln/>
        </p:spPr>
      </p:sp>
      <p:sp>
        <p:nvSpPr>
          <p:cNvPr id="92" name="Text 88"/>
          <p:cNvSpPr txBox="1"/>
          <p:nvPr/>
        </p:nvSpPr>
        <p:spPr>
          <a:xfrm>
            <a:off x="3794760" y="4334256"/>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Slides 5, 11</a:t>
            </a:r>
            <a:endParaRPr lang="en-US" sz="950" dirty="0"/>
          </a:p>
        </p:txBody>
      </p:sp>
      <p:sp>
        <p:nvSpPr>
          <p:cNvPr id="93" name="Shape 89"/>
          <p:cNvSpPr/>
          <p:nvPr/>
        </p:nvSpPr>
        <p:spPr>
          <a:xfrm>
            <a:off x="5349240" y="4334256"/>
            <a:ext cx="777240" cy="475488"/>
          </a:xfrm>
          <a:prstGeom prst="rect">
            <a:avLst/>
          </a:prstGeom>
          <a:solidFill>
            <a:srgbClr val="1F4A82"/>
          </a:solidFill>
          <a:ln/>
        </p:spPr>
      </p:sp>
      <p:sp>
        <p:nvSpPr>
          <p:cNvPr id="94" name="Text 90"/>
          <p:cNvSpPr txBox="1"/>
          <p:nvPr/>
        </p:nvSpPr>
        <p:spPr>
          <a:xfrm>
            <a:off x="5394960" y="4334256"/>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Built</a:t>
            </a:r>
            <a:endParaRPr lang="en-US" sz="950" dirty="0"/>
          </a:p>
        </p:txBody>
      </p:sp>
      <p:sp>
        <p:nvSpPr>
          <p:cNvPr id="95" name="Shape 91"/>
          <p:cNvSpPr/>
          <p:nvPr/>
        </p:nvSpPr>
        <p:spPr>
          <a:xfrm>
            <a:off x="411480" y="4809744"/>
            <a:ext cx="5715000" cy="0"/>
          </a:xfrm>
          <a:prstGeom prst="line">
            <a:avLst/>
          </a:prstGeom>
          <a:noFill/>
          <a:ln w="6350">
            <a:solidFill>
              <a:srgbClr val="E3E8E4"/>
            </a:solidFill>
            <a:prstDash val="solid"/>
          </a:ln>
        </p:spPr>
      </p:sp>
      <p:sp>
        <p:nvSpPr>
          <p:cNvPr id="96" name="Shape 92"/>
          <p:cNvSpPr/>
          <p:nvPr/>
        </p:nvSpPr>
        <p:spPr>
          <a:xfrm>
            <a:off x="411480" y="4809744"/>
            <a:ext cx="411480" cy="475488"/>
          </a:xfrm>
          <a:prstGeom prst="rect">
            <a:avLst/>
          </a:prstGeom>
          <a:solidFill>
            <a:srgbClr val="FFFFFF"/>
          </a:solidFill>
          <a:ln/>
        </p:spPr>
      </p:sp>
      <p:sp>
        <p:nvSpPr>
          <p:cNvPr id="97" name="Text 93"/>
          <p:cNvSpPr txBox="1"/>
          <p:nvPr/>
        </p:nvSpPr>
        <p:spPr>
          <a:xfrm>
            <a:off x="457200" y="4809744"/>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T8</a:t>
            </a:r>
            <a:endParaRPr lang="en-US" sz="950" dirty="0"/>
          </a:p>
        </p:txBody>
      </p:sp>
      <p:sp>
        <p:nvSpPr>
          <p:cNvPr id="98" name="Shape 94"/>
          <p:cNvSpPr/>
          <p:nvPr/>
        </p:nvSpPr>
        <p:spPr>
          <a:xfrm>
            <a:off x="822960" y="4809744"/>
            <a:ext cx="2926080" cy="475488"/>
          </a:xfrm>
          <a:prstGeom prst="rect">
            <a:avLst/>
          </a:prstGeom>
          <a:solidFill>
            <a:srgbClr val="FFFFFF"/>
          </a:solidFill>
          <a:ln/>
        </p:spPr>
      </p:sp>
      <p:sp>
        <p:nvSpPr>
          <p:cNvPr id="99" name="Text 95"/>
          <p:cNvSpPr txBox="1"/>
          <p:nvPr/>
        </p:nvSpPr>
        <p:spPr>
          <a:xfrm>
            <a:off x="868680" y="4809744"/>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Privacy and safety for minors</a:t>
            </a:r>
            <a:endParaRPr lang="en-US" sz="950" dirty="0"/>
          </a:p>
        </p:txBody>
      </p:sp>
      <p:sp>
        <p:nvSpPr>
          <p:cNvPr id="100" name="Shape 96"/>
          <p:cNvSpPr/>
          <p:nvPr/>
        </p:nvSpPr>
        <p:spPr>
          <a:xfrm>
            <a:off x="3749040" y="4809744"/>
            <a:ext cx="1600200" cy="475488"/>
          </a:xfrm>
          <a:prstGeom prst="rect">
            <a:avLst/>
          </a:prstGeom>
          <a:solidFill>
            <a:srgbClr val="FFFFFF"/>
          </a:solidFill>
          <a:ln/>
        </p:spPr>
      </p:sp>
      <p:sp>
        <p:nvSpPr>
          <p:cNvPr id="101" name="Text 97"/>
          <p:cNvSpPr txBox="1"/>
          <p:nvPr/>
        </p:nvSpPr>
        <p:spPr>
          <a:xfrm>
            <a:off x="3794760" y="4809744"/>
            <a:ext cx="1508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10, App. 4</a:t>
            </a:r>
            <a:endParaRPr lang="en-US" sz="950" dirty="0"/>
          </a:p>
        </p:txBody>
      </p:sp>
      <p:sp>
        <p:nvSpPr>
          <p:cNvPr id="102" name="Shape 98"/>
          <p:cNvSpPr/>
          <p:nvPr/>
        </p:nvSpPr>
        <p:spPr>
          <a:xfrm>
            <a:off x="5349240" y="4809744"/>
            <a:ext cx="777240" cy="475488"/>
          </a:xfrm>
          <a:prstGeom prst="rect">
            <a:avLst/>
          </a:prstGeom>
          <a:solidFill>
            <a:srgbClr val="1F4A82"/>
          </a:solidFill>
          <a:ln/>
        </p:spPr>
      </p:sp>
      <p:sp>
        <p:nvSpPr>
          <p:cNvPr id="103" name="Text 99"/>
          <p:cNvSpPr txBox="1"/>
          <p:nvPr/>
        </p:nvSpPr>
        <p:spPr>
          <a:xfrm>
            <a:off x="5394960" y="4809744"/>
            <a:ext cx="6858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Built</a:t>
            </a:r>
            <a:endParaRPr lang="en-US" sz="950" dirty="0"/>
          </a:p>
        </p:txBody>
      </p:sp>
      <p:sp>
        <p:nvSpPr>
          <p:cNvPr id="104" name="Shape 100"/>
          <p:cNvSpPr/>
          <p:nvPr/>
        </p:nvSpPr>
        <p:spPr>
          <a:xfrm>
            <a:off x="411480" y="5285232"/>
            <a:ext cx="5715000" cy="0"/>
          </a:xfrm>
          <a:prstGeom prst="line">
            <a:avLst/>
          </a:prstGeom>
          <a:noFill/>
          <a:ln w="6350">
            <a:solidFill>
              <a:srgbClr val="E3E8E4"/>
            </a:solidFill>
            <a:prstDash val="solid"/>
          </a:ln>
        </p:spPr>
      </p:sp>
      <p:sp>
        <p:nvSpPr>
          <p:cNvPr id="105" name="Shape 101"/>
          <p:cNvSpPr/>
          <p:nvPr/>
        </p:nvSpPr>
        <p:spPr>
          <a:xfrm>
            <a:off x="6355080" y="1188720"/>
            <a:ext cx="411480" cy="292608"/>
          </a:xfrm>
          <a:prstGeom prst="rect">
            <a:avLst/>
          </a:prstGeom>
          <a:solidFill>
            <a:srgbClr val="1F4A82"/>
          </a:solidFill>
          <a:ln/>
        </p:spPr>
      </p:sp>
      <p:sp>
        <p:nvSpPr>
          <p:cNvPr id="106" name="Text 102"/>
          <p:cNvSpPr txBox="1"/>
          <p:nvPr/>
        </p:nvSpPr>
        <p:spPr>
          <a:xfrm>
            <a:off x="6400800" y="1188720"/>
            <a:ext cx="32004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p>
        </p:txBody>
      </p:sp>
      <p:sp>
        <p:nvSpPr>
          <p:cNvPr id="107" name="Shape 103"/>
          <p:cNvSpPr/>
          <p:nvPr/>
        </p:nvSpPr>
        <p:spPr>
          <a:xfrm>
            <a:off x="6766560" y="1188720"/>
            <a:ext cx="2743200" cy="292608"/>
          </a:xfrm>
          <a:prstGeom prst="rect">
            <a:avLst/>
          </a:prstGeom>
          <a:solidFill>
            <a:srgbClr val="1F4A82"/>
          </a:solidFill>
          <a:ln/>
        </p:spPr>
      </p:sp>
      <p:sp>
        <p:nvSpPr>
          <p:cNvPr id="108" name="Text 104"/>
          <p:cNvSpPr txBox="1"/>
          <p:nvPr/>
        </p:nvSpPr>
        <p:spPr>
          <a:xfrm>
            <a:off x="6812280" y="1188720"/>
            <a:ext cx="265176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Market (30 %) and deliverables</a:t>
            </a:r>
            <a:endParaRPr lang="en-US" sz="950" dirty="0"/>
          </a:p>
        </p:txBody>
      </p:sp>
      <p:sp>
        <p:nvSpPr>
          <p:cNvPr id="109" name="Shape 105"/>
          <p:cNvSpPr/>
          <p:nvPr/>
        </p:nvSpPr>
        <p:spPr>
          <a:xfrm>
            <a:off x="9509760" y="1188720"/>
            <a:ext cx="1691640" cy="292608"/>
          </a:xfrm>
          <a:prstGeom prst="rect">
            <a:avLst/>
          </a:prstGeom>
          <a:solidFill>
            <a:srgbClr val="1F4A82"/>
          </a:solidFill>
          <a:ln/>
        </p:spPr>
      </p:sp>
      <p:sp>
        <p:nvSpPr>
          <p:cNvPr id="110" name="Text 106"/>
          <p:cNvSpPr txBox="1"/>
          <p:nvPr/>
        </p:nvSpPr>
        <p:spPr>
          <a:xfrm>
            <a:off x="9555480" y="1188720"/>
            <a:ext cx="160020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Where</a:t>
            </a:r>
            <a:endParaRPr lang="en-US" sz="950" dirty="0"/>
          </a:p>
        </p:txBody>
      </p:sp>
      <p:sp>
        <p:nvSpPr>
          <p:cNvPr id="111" name="Shape 107"/>
          <p:cNvSpPr/>
          <p:nvPr/>
        </p:nvSpPr>
        <p:spPr>
          <a:xfrm>
            <a:off x="11201400" y="1188720"/>
            <a:ext cx="868680" cy="292608"/>
          </a:xfrm>
          <a:prstGeom prst="rect">
            <a:avLst/>
          </a:prstGeom>
          <a:solidFill>
            <a:srgbClr val="1F4A82"/>
          </a:solidFill>
          <a:ln/>
        </p:spPr>
      </p:sp>
      <p:sp>
        <p:nvSpPr>
          <p:cNvPr id="112" name="Text 108"/>
          <p:cNvSpPr txBox="1"/>
          <p:nvPr/>
        </p:nvSpPr>
        <p:spPr>
          <a:xfrm>
            <a:off x="11247120" y="1188720"/>
            <a:ext cx="7772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Evidence</a:t>
            </a:r>
            <a:endParaRPr lang="en-US" sz="950" dirty="0"/>
          </a:p>
        </p:txBody>
      </p:sp>
      <p:sp>
        <p:nvSpPr>
          <p:cNvPr id="113" name="Shape 109"/>
          <p:cNvSpPr/>
          <p:nvPr/>
        </p:nvSpPr>
        <p:spPr>
          <a:xfrm>
            <a:off x="6355080" y="1481328"/>
            <a:ext cx="411480" cy="475488"/>
          </a:xfrm>
          <a:prstGeom prst="rect">
            <a:avLst/>
          </a:prstGeom>
          <a:solidFill>
            <a:srgbClr val="F1F7F3"/>
          </a:solidFill>
          <a:ln/>
        </p:spPr>
      </p:sp>
      <p:sp>
        <p:nvSpPr>
          <p:cNvPr id="114" name="Text 110"/>
          <p:cNvSpPr txBox="1"/>
          <p:nvPr/>
        </p:nvSpPr>
        <p:spPr>
          <a:xfrm>
            <a:off x="6400800" y="1481328"/>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B1</a:t>
            </a:r>
            <a:endParaRPr lang="en-US" sz="950" dirty="0"/>
          </a:p>
        </p:txBody>
      </p:sp>
      <p:sp>
        <p:nvSpPr>
          <p:cNvPr id="115" name="Shape 111"/>
          <p:cNvSpPr/>
          <p:nvPr/>
        </p:nvSpPr>
        <p:spPr>
          <a:xfrm>
            <a:off x="6766560" y="1481328"/>
            <a:ext cx="2743200" cy="475488"/>
          </a:xfrm>
          <a:prstGeom prst="rect">
            <a:avLst/>
          </a:prstGeom>
          <a:solidFill>
            <a:srgbClr val="F1F7F3"/>
          </a:solidFill>
          <a:ln/>
        </p:spPr>
      </p:sp>
      <p:sp>
        <p:nvSpPr>
          <p:cNvPr id="116" name="Text 112"/>
          <p:cNvSpPr txBox="1"/>
          <p:nvPr/>
        </p:nvSpPr>
        <p:spPr>
          <a:xfrm>
            <a:off x="6812280" y="1481328"/>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Buyer and measurable return</a:t>
            </a:r>
            <a:endParaRPr lang="en-US" sz="950" dirty="0"/>
          </a:p>
        </p:txBody>
      </p:sp>
      <p:sp>
        <p:nvSpPr>
          <p:cNvPr id="117" name="Shape 113"/>
          <p:cNvSpPr/>
          <p:nvPr/>
        </p:nvSpPr>
        <p:spPr>
          <a:xfrm>
            <a:off x="9509760" y="1481328"/>
            <a:ext cx="1691640" cy="475488"/>
          </a:xfrm>
          <a:prstGeom prst="rect">
            <a:avLst/>
          </a:prstGeom>
          <a:solidFill>
            <a:srgbClr val="F1F7F3"/>
          </a:solidFill>
          <a:ln/>
        </p:spPr>
      </p:sp>
      <p:sp>
        <p:nvSpPr>
          <p:cNvPr id="118" name="Text 114"/>
          <p:cNvSpPr txBox="1"/>
          <p:nvPr/>
        </p:nvSpPr>
        <p:spPr>
          <a:xfrm>
            <a:off x="9555480" y="1481328"/>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11, App. 1</a:t>
            </a:r>
            <a:endParaRPr lang="en-US" sz="950" dirty="0"/>
          </a:p>
        </p:txBody>
      </p:sp>
      <p:sp>
        <p:nvSpPr>
          <p:cNvPr id="119" name="Shape 115"/>
          <p:cNvSpPr/>
          <p:nvPr/>
        </p:nvSpPr>
        <p:spPr>
          <a:xfrm>
            <a:off x="11201400" y="1481328"/>
            <a:ext cx="868680" cy="475488"/>
          </a:xfrm>
          <a:prstGeom prst="rect">
            <a:avLst/>
          </a:prstGeom>
          <a:solidFill>
            <a:srgbClr val="B5832A"/>
          </a:solidFill>
          <a:ln/>
        </p:spPr>
      </p:sp>
      <p:sp>
        <p:nvSpPr>
          <p:cNvPr id="120" name="Text 116"/>
          <p:cNvSpPr txBox="1"/>
          <p:nvPr/>
        </p:nvSpPr>
        <p:spPr>
          <a:xfrm>
            <a:off x="11247120" y="1481328"/>
            <a:ext cx="77724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Assumption</a:t>
            </a:r>
            <a:endParaRPr lang="en-US" sz="950" dirty="0"/>
          </a:p>
        </p:txBody>
      </p:sp>
      <p:sp>
        <p:nvSpPr>
          <p:cNvPr id="121" name="Shape 117"/>
          <p:cNvSpPr/>
          <p:nvPr/>
        </p:nvSpPr>
        <p:spPr>
          <a:xfrm>
            <a:off x="6355080" y="1956816"/>
            <a:ext cx="5715000" cy="0"/>
          </a:xfrm>
          <a:prstGeom prst="line">
            <a:avLst/>
          </a:prstGeom>
          <a:noFill/>
          <a:ln w="6350">
            <a:solidFill>
              <a:srgbClr val="E3E8E4"/>
            </a:solidFill>
            <a:prstDash val="solid"/>
          </a:ln>
        </p:spPr>
      </p:sp>
      <p:sp>
        <p:nvSpPr>
          <p:cNvPr id="122" name="Shape 118"/>
          <p:cNvSpPr/>
          <p:nvPr/>
        </p:nvSpPr>
        <p:spPr>
          <a:xfrm>
            <a:off x="6355080" y="1956816"/>
            <a:ext cx="411480" cy="475488"/>
          </a:xfrm>
          <a:prstGeom prst="rect">
            <a:avLst/>
          </a:prstGeom>
          <a:solidFill>
            <a:srgbClr val="FFFFFF"/>
          </a:solidFill>
          <a:ln/>
        </p:spPr>
      </p:sp>
      <p:sp>
        <p:nvSpPr>
          <p:cNvPr id="123" name="Text 119"/>
          <p:cNvSpPr txBox="1"/>
          <p:nvPr/>
        </p:nvSpPr>
        <p:spPr>
          <a:xfrm>
            <a:off x="6400800" y="1956816"/>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B2</a:t>
            </a:r>
            <a:endParaRPr lang="en-US" sz="950" dirty="0"/>
          </a:p>
        </p:txBody>
      </p:sp>
      <p:sp>
        <p:nvSpPr>
          <p:cNvPr id="124" name="Shape 120"/>
          <p:cNvSpPr/>
          <p:nvPr/>
        </p:nvSpPr>
        <p:spPr>
          <a:xfrm>
            <a:off x="6766560" y="1956816"/>
            <a:ext cx="2743200" cy="475488"/>
          </a:xfrm>
          <a:prstGeom prst="rect">
            <a:avLst/>
          </a:prstGeom>
          <a:solidFill>
            <a:srgbClr val="FFFFFF"/>
          </a:solidFill>
          <a:ln/>
        </p:spPr>
      </p:sp>
      <p:sp>
        <p:nvSpPr>
          <p:cNvPr id="125" name="Text 121"/>
          <p:cNvSpPr txBox="1"/>
          <p:nvPr/>
        </p:nvSpPr>
        <p:spPr>
          <a:xfrm>
            <a:off x="6812280" y="1956816"/>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Pricing, CAC, payback, churn, LTV</a:t>
            </a:r>
            <a:endParaRPr lang="en-US" sz="950" dirty="0"/>
          </a:p>
        </p:txBody>
      </p:sp>
      <p:sp>
        <p:nvSpPr>
          <p:cNvPr id="126" name="Shape 122"/>
          <p:cNvSpPr/>
          <p:nvPr/>
        </p:nvSpPr>
        <p:spPr>
          <a:xfrm>
            <a:off x="9509760" y="1956816"/>
            <a:ext cx="1691640" cy="475488"/>
          </a:xfrm>
          <a:prstGeom prst="rect">
            <a:avLst/>
          </a:prstGeom>
          <a:solidFill>
            <a:srgbClr val="FFFFFF"/>
          </a:solidFill>
          <a:ln/>
        </p:spPr>
      </p:sp>
      <p:sp>
        <p:nvSpPr>
          <p:cNvPr id="127" name="Text 123"/>
          <p:cNvSpPr txBox="1"/>
          <p:nvPr/>
        </p:nvSpPr>
        <p:spPr>
          <a:xfrm>
            <a:off x="9555480" y="1956816"/>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11, App. 1–2</a:t>
            </a:r>
            <a:endParaRPr lang="en-US" sz="950" dirty="0"/>
          </a:p>
        </p:txBody>
      </p:sp>
      <p:sp>
        <p:nvSpPr>
          <p:cNvPr id="128" name="Shape 124"/>
          <p:cNvSpPr/>
          <p:nvPr/>
        </p:nvSpPr>
        <p:spPr>
          <a:xfrm>
            <a:off x="11201400" y="1956816"/>
            <a:ext cx="868680" cy="475488"/>
          </a:xfrm>
          <a:prstGeom prst="rect">
            <a:avLst/>
          </a:prstGeom>
          <a:solidFill>
            <a:srgbClr val="B5832A"/>
          </a:solidFill>
          <a:ln/>
        </p:spPr>
      </p:sp>
      <p:sp>
        <p:nvSpPr>
          <p:cNvPr id="129" name="Text 125"/>
          <p:cNvSpPr txBox="1"/>
          <p:nvPr/>
        </p:nvSpPr>
        <p:spPr>
          <a:xfrm>
            <a:off x="11247120" y="1956816"/>
            <a:ext cx="77724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Assumption</a:t>
            </a:r>
            <a:endParaRPr lang="en-US" sz="950" dirty="0"/>
          </a:p>
        </p:txBody>
      </p:sp>
      <p:sp>
        <p:nvSpPr>
          <p:cNvPr id="130" name="Shape 126"/>
          <p:cNvSpPr/>
          <p:nvPr/>
        </p:nvSpPr>
        <p:spPr>
          <a:xfrm>
            <a:off x="6355080" y="2432304"/>
            <a:ext cx="5715000" cy="0"/>
          </a:xfrm>
          <a:prstGeom prst="line">
            <a:avLst/>
          </a:prstGeom>
          <a:noFill/>
          <a:ln w="6350">
            <a:solidFill>
              <a:srgbClr val="E3E8E4"/>
            </a:solidFill>
            <a:prstDash val="solid"/>
          </a:ln>
        </p:spPr>
      </p:sp>
      <p:sp>
        <p:nvSpPr>
          <p:cNvPr id="131" name="Shape 127"/>
          <p:cNvSpPr/>
          <p:nvPr/>
        </p:nvSpPr>
        <p:spPr>
          <a:xfrm>
            <a:off x="6355080" y="2432304"/>
            <a:ext cx="411480" cy="475488"/>
          </a:xfrm>
          <a:prstGeom prst="rect">
            <a:avLst/>
          </a:prstGeom>
          <a:solidFill>
            <a:srgbClr val="F1F7F3"/>
          </a:solidFill>
          <a:ln/>
        </p:spPr>
      </p:sp>
      <p:sp>
        <p:nvSpPr>
          <p:cNvPr id="132" name="Text 128"/>
          <p:cNvSpPr txBox="1"/>
          <p:nvPr/>
        </p:nvSpPr>
        <p:spPr>
          <a:xfrm>
            <a:off x="6400800" y="2432304"/>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B3</a:t>
            </a:r>
            <a:endParaRPr lang="en-US" sz="950" dirty="0"/>
          </a:p>
        </p:txBody>
      </p:sp>
      <p:sp>
        <p:nvSpPr>
          <p:cNvPr id="133" name="Shape 129"/>
          <p:cNvSpPr/>
          <p:nvPr/>
        </p:nvSpPr>
        <p:spPr>
          <a:xfrm>
            <a:off x="6766560" y="2432304"/>
            <a:ext cx="2743200" cy="475488"/>
          </a:xfrm>
          <a:prstGeom prst="rect">
            <a:avLst/>
          </a:prstGeom>
          <a:solidFill>
            <a:srgbClr val="F1F7F3"/>
          </a:solidFill>
          <a:ln/>
        </p:spPr>
      </p:sp>
      <p:sp>
        <p:nvSpPr>
          <p:cNvPr id="134" name="Text 130"/>
          <p:cNvSpPr txBox="1"/>
          <p:nvPr/>
        </p:nvSpPr>
        <p:spPr>
          <a:xfrm>
            <a:off x="6812280" y="2432304"/>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Cities, sizes, channels</a:t>
            </a:r>
            <a:endParaRPr lang="en-US" sz="950" dirty="0"/>
          </a:p>
        </p:txBody>
      </p:sp>
      <p:sp>
        <p:nvSpPr>
          <p:cNvPr id="135" name="Shape 131"/>
          <p:cNvSpPr/>
          <p:nvPr/>
        </p:nvSpPr>
        <p:spPr>
          <a:xfrm>
            <a:off x="9509760" y="2432304"/>
            <a:ext cx="1691640" cy="475488"/>
          </a:xfrm>
          <a:prstGeom prst="rect">
            <a:avLst/>
          </a:prstGeom>
          <a:solidFill>
            <a:srgbClr val="F1F7F3"/>
          </a:solidFill>
          <a:ln/>
        </p:spPr>
      </p:sp>
      <p:sp>
        <p:nvSpPr>
          <p:cNvPr id="136" name="Text 132"/>
          <p:cNvSpPr txBox="1"/>
          <p:nvPr/>
        </p:nvSpPr>
        <p:spPr>
          <a:xfrm>
            <a:off x="9555480" y="2432304"/>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12</a:t>
            </a:r>
            <a:endParaRPr lang="en-US" sz="950" dirty="0"/>
          </a:p>
        </p:txBody>
      </p:sp>
      <p:sp>
        <p:nvSpPr>
          <p:cNvPr id="137" name="Shape 133"/>
          <p:cNvSpPr/>
          <p:nvPr/>
        </p:nvSpPr>
        <p:spPr>
          <a:xfrm>
            <a:off x="11201400" y="2432304"/>
            <a:ext cx="868680" cy="475488"/>
          </a:xfrm>
          <a:prstGeom prst="rect">
            <a:avLst/>
          </a:prstGeom>
          <a:solidFill>
            <a:srgbClr val="B5832A"/>
          </a:solidFill>
          <a:ln/>
        </p:spPr>
      </p:sp>
      <p:sp>
        <p:nvSpPr>
          <p:cNvPr id="138" name="Text 134"/>
          <p:cNvSpPr txBox="1"/>
          <p:nvPr/>
        </p:nvSpPr>
        <p:spPr>
          <a:xfrm>
            <a:off x="11247120" y="2432304"/>
            <a:ext cx="77724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Assumption</a:t>
            </a:r>
            <a:endParaRPr lang="en-US" sz="950" dirty="0"/>
          </a:p>
        </p:txBody>
      </p:sp>
      <p:sp>
        <p:nvSpPr>
          <p:cNvPr id="139" name="Shape 135"/>
          <p:cNvSpPr/>
          <p:nvPr/>
        </p:nvSpPr>
        <p:spPr>
          <a:xfrm>
            <a:off x="6355080" y="2907792"/>
            <a:ext cx="5715000" cy="0"/>
          </a:xfrm>
          <a:prstGeom prst="line">
            <a:avLst/>
          </a:prstGeom>
          <a:noFill/>
          <a:ln w="6350">
            <a:solidFill>
              <a:srgbClr val="E3E8E4"/>
            </a:solidFill>
            <a:prstDash val="solid"/>
          </a:ln>
        </p:spPr>
      </p:sp>
      <p:sp>
        <p:nvSpPr>
          <p:cNvPr id="140" name="Shape 136"/>
          <p:cNvSpPr/>
          <p:nvPr/>
        </p:nvSpPr>
        <p:spPr>
          <a:xfrm>
            <a:off x="6355080" y="2907792"/>
            <a:ext cx="411480" cy="475488"/>
          </a:xfrm>
          <a:prstGeom prst="rect">
            <a:avLst/>
          </a:prstGeom>
          <a:solidFill>
            <a:srgbClr val="FFFFFF"/>
          </a:solidFill>
          <a:ln/>
        </p:spPr>
      </p:sp>
      <p:sp>
        <p:nvSpPr>
          <p:cNvPr id="141" name="Text 137"/>
          <p:cNvSpPr txBox="1"/>
          <p:nvPr/>
        </p:nvSpPr>
        <p:spPr>
          <a:xfrm>
            <a:off x="6400800" y="2907792"/>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B4</a:t>
            </a:r>
            <a:endParaRPr lang="en-US" sz="950" dirty="0"/>
          </a:p>
        </p:txBody>
      </p:sp>
      <p:sp>
        <p:nvSpPr>
          <p:cNvPr id="142" name="Shape 138"/>
          <p:cNvSpPr/>
          <p:nvPr/>
        </p:nvSpPr>
        <p:spPr>
          <a:xfrm>
            <a:off x="6766560" y="2907792"/>
            <a:ext cx="2743200" cy="475488"/>
          </a:xfrm>
          <a:prstGeom prst="rect">
            <a:avLst/>
          </a:prstGeom>
          <a:solidFill>
            <a:srgbClr val="FFFFFF"/>
          </a:solidFill>
          <a:ln/>
        </p:spPr>
      </p:sp>
      <p:sp>
        <p:nvSpPr>
          <p:cNvPr id="143" name="Text 139"/>
          <p:cNvSpPr txBox="1"/>
          <p:nvPr/>
        </p:nvSpPr>
        <p:spPr>
          <a:xfrm>
            <a:off x="6812280" y="2907792"/>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Competition and a growing moat</a:t>
            </a:r>
            <a:endParaRPr lang="en-US" sz="950" dirty="0"/>
          </a:p>
        </p:txBody>
      </p:sp>
      <p:sp>
        <p:nvSpPr>
          <p:cNvPr id="144" name="Shape 140"/>
          <p:cNvSpPr/>
          <p:nvPr/>
        </p:nvSpPr>
        <p:spPr>
          <a:xfrm>
            <a:off x="9509760" y="2907792"/>
            <a:ext cx="1691640" cy="475488"/>
          </a:xfrm>
          <a:prstGeom prst="rect">
            <a:avLst/>
          </a:prstGeom>
          <a:solidFill>
            <a:srgbClr val="FFFFFF"/>
          </a:solidFill>
          <a:ln/>
        </p:spPr>
      </p:sp>
      <p:sp>
        <p:nvSpPr>
          <p:cNvPr id="145" name="Text 141"/>
          <p:cNvSpPr txBox="1"/>
          <p:nvPr/>
        </p:nvSpPr>
        <p:spPr>
          <a:xfrm>
            <a:off x="9555480" y="2907792"/>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12</a:t>
            </a:r>
            <a:endParaRPr lang="en-US" sz="950" dirty="0"/>
          </a:p>
        </p:txBody>
      </p:sp>
      <p:sp>
        <p:nvSpPr>
          <p:cNvPr id="146" name="Shape 142"/>
          <p:cNvSpPr/>
          <p:nvPr/>
        </p:nvSpPr>
        <p:spPr>
          <a:xfrm>
            <a:off x="11201400" y="2907792"/>
            <a:ext cx="868680" cy="475488"/>
          </a:xfrm>
          <a:prstGeom prst="rect">
            <a:avLst/>
          </a:prstGeom>
          <a:solidFill>
            <a:srgbClr val="2E6DB4"/>
          </a:solidFill>
          <a:ln/>
        </p:spPr>
      </p:sp>
      <p:sp>
        <p:nvSpPr>
          <p:cNvPr id="147" name="Text 143"/>
          <p:cNvSpPr txBox="1"/>
          <p:nvPr/>
        </p:nvSpPr>
        <p:spPr>
          <a:xfrm>
            <a:off x="11247120" y="2907792"/>
            <a:ext cx="77724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Designed</a:t>
            </a:r>
            <a:endParaRPr lang="en-US" sz="950" dirty="0"/>
          </a:p>
        </p:txBody>
      </p:sp>
      <p:sp>
        <p:nvSpPr>
          <p:cNvPr id="148" name="Shape 144"/>
          <p:cNvSpPr/>
          <p:nvPr/>
        </p:nvSpPr>
        <p:spPr>
          <a:xfrm>
            <a:off x="6355080" y="3383280"/>
            <a:ext cx="5715000" cy="0"/>
          </a:xfrm>
          <a:prstGeom prst="line">
            <a:avLst/>
          </a:prstGeom>
          <a:noFill/>
          <a:ln w="6350">
            <a:solidFill>
              <a:srgbClr val="E3E8E4"/>
            </a:solidFill>
            <a:prstDash val="solid"/>
          </a:ln>
        </p:spPr>
      </p:sp>
      <p:sp>
        <p:nvSpPr>
          <p:cNvPr id="149" name="Shape 145"/>
          <p:cNvSpPr/>
          <p:nvPr/>
        </p:nvSpPr>
        <p:spPr>
          <a:xfrm>
            <a:off x="6355080" y="3383280"/>
            <a:ext cx="411480" cy="475488"/>
          </a:xfrm>
          <a:prstGeom prst="rect">
            <a:avLst/>
          </a:prstGeom>
          <a:solidFill>
            <a:srgbClr val="F1F7F3"/>
          </a:solidFill>
          <a:ln/>
        </p:spPr>
      </p:sp>
      <p:sp>
        <p:nvSpPr>
          <p:cNvPr id="150" name="Text 146"/>
          <p:cNvSpPr txBox="1"/>
          <p:nvPr/>
        </p:nvSpPr>
        <p:spPr>
          <a:xfrm>
            <a:off x="6400800" y="3383280"/>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R1</a:t>
            </a:r>
            <a:endParaRPr lang="en-US" sz="950" dirty="0"/>
          </a:p>
        </p:txBody>
      </p:sp>
      <p:sp>
        <p:nvSpPr>
          <p:cNvPr id="151" name="Shape 147"/>
          <p:cNvSpPr/>
          <p:nvPr/>
        </p:nvSpPr>
        <p:spPr>
          <a:xfrm>
            <a:off x="6766560" y="3383280"/>
            <a:ext cx="2743200" cy="475488"/>
          </a:xfrm>
          <a:prstGeom prst="rect">
            <a:avLst/>
          </a:prstGeom>
          <a:solidFill>
            <a:srgbClr val="F1F7F3"/>
          </a:solidFill>
          <a:ln/>
        </p:spPr>
      </p:sp>
      <p:sp>
        <p:nvSpPr>
          <p:cNvPr id="152" name="Text 148"/>
          <p:cNvSpPr txBox="1"/>
          <p:nvPr/>
        </p:nvSpPr>
        <p:spPr>
          <a:xfrm>
            <a:off x="6812280" y="3383280"/>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Financial model with sensitivity</a:t>
            </a:r>
            <a:endParaRPr lang="en-US" sz="950" dirty="0"/>
          </a:p>
        </p:txBody>
      </p:sp>
      <p:sp>
        <p:nvSpPr>
          <p:cNvPr id="153" name="Shape 149"/>
          <p:cNvSpPr/>
          <p:nvPr/>
        </p:nvSpPr>
        <p:spPr>
          <a:xfrm>
            <a:off x="9509760" y="3383280"/>
            <a:ext cx="1691640" cy="475488"/>
          </a:xfrm>
          <a:prstGeom prst="rect">
            <a:avLst/>
          </a:prstGeom>
          <a:solidFill>
            <a:srgbClr val="F1F7F3"/>
          </a:solidFill>
          <a:ln/>
        </p:spPr>
      </p:sp>
      <p:sp>
        <p:nvSpPr>
          <p:cNvPr id="154" name="Text 150"/>
          <p:cNvSpPr txBox="1"/>
          <p:nvPr/>
        </p:nvSpPr>
        <p:spPr>
          <a:xfrm>
            <a:off x="9555480" y="3383280"/>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App. 1–2</a:t>
            </a:r>
            <a:endParaRPr lang="en-US" sz="950" dirty="0"/>
          </a:p>
        </p:txBody>
      </p:sp>
      <p:sp>
        <p:nvSpPr>
          <p:cNvPr id="155" name="Shape 151"/>
          <p:cNvSpPr/>
          <p:nvPr/>
        </p:nvSpPr>
        <p:spPr>
          <a:xfrm>
            <a:off x="11201400" y="3383280"/>
            <a:ext cx="868680" cy="475488"/>
          </a:xfrm>
          <a:prstGeom prst="rect">
            <a:avLst/>
          </a:prstGeom>
          <a:solidFill>
            <a:srgbClr val="B5832A"/>
          </a:solidFill>
          <a:ln/>
        </p:spPr>
      </p:sp>
      <p:sp>
        <p:nvSpPr>
          <p:cNvPr id="156" name="Text 152"/>
          <p:cNvSpPr txBox="1"/>
          <p:nvPr/>
        </p:nvSpPr>
        <p:spPr>
          <a:xfrm>
            <a:off x="11247120" y="3383280"/>
            <a:ext cx="77724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Assumption</a:t>
            </a:r>
            <a:endParaRPr lang="en-US" sz="950" dirty="0"/>
          </a:p>
        </p:txBody>
      </p:sp>
      <p:sp>
        <p:nvSpPr>
          <p:cNvPr id="157" name="Shape 153"/>
          <p:cNvSpPr/>
          <p:nvPr/>
        </p:nvSpPr>
        <p:spPr>
          <a:xfrm>
            <a:off x="6355080" y="3858768"/>
            <a:ext cx="5715000" cy="0"/>
          </a:xfrm>
          <a:prstGeom prst="line">
            <a:avLst/>
          </a:prstGeom>
          <a:noFill/>
          <a:ln w="6350">
            <a:solidFill>
              <a:srgbClr val="E3E8E4"/>
            </a:solidFill>
            <a:prstDash val="solid"/>
          </a:ln>
        </p:spPr>
      </p:sp>
      <p:sp>
        <p:nvSpPr>
          <p:cNvPr id="158" name="Shape 154"/>
          <p:cNvSpPr/>
          <p:nvPr/>
        </p:nvSpPr>
        <p:spPr>
          <a:xfrm>
            <a:off x="6355080" y="3858768"/>
            <a:ext cx="411480" cy="475488"/>
          </a:xfrm>
          <a:prstGeom prst="rect">
            <a:avLst/>
          </a:prstGeom>
          <a:solidFill>
            <a:srgbClr val="FFFFFF"/>
          </a:solidFill>
          <a:ln/>
        </p:spPr>
      </p:sp>
      <p:sp>
        <p:nvSpPr>
          <p:cNvPr id="159" name="Text 155"/>
          <p:cNvSpPr txBox="1"/>
          <p:nvPr/>
        </p:nvSpPr>
        <p:spPr>
          <a:xfrm>
            <a:off x="6400800" y="3858768"/>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R2</a:t>
            </a:r>
            <a:endParaRPr lang="en-US" sz="950" dirty="0"/>
          </a:p>
        </p:txBody>
      </p:sp>
      <p:sp>
        <p:nvSpPr>
          <p:cNvPr id="160" name="Shape 156"/>
          <p:cNvSpPr/>
          <p:nvPr/>
        </p:nvSpPr>
        <p:spPr>
          <a:xfrm>
            <a:off x="6766560" y="3858768"/>
            <a:ext cx="2743200" cy="475488"/>
          </a:xfrm>
          <a:prstGeom prst="rect">
            <a:avLst/>
          </a:prstGeom>
          <a:solidFill>
            <a:srgbClr val="FFFFFF"/>
          </a:solidFill>
          <a:ln/>
        </p:spPr>
      </p:sp>
      <p:sp>
        <p:nvSpPr>
          <p:cNvPr id="161" name="Text 157"/>
          <p:cNvSpPr txBox="1"/>
          <p:nvPr/>
        </p:nvSpPr>
        <p:spPr>
          <a:xfrm>
            <a:off x="6812280" y="3858768"/>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Limits: what we did not prove</a:t>
            </a:r>
            <a:endParaRPr lang="en-US" sz="950" dirty="0"/>
          </a:p>
        </p:txBody>
      </p:sp>
      <p:sp>
        <p:nvSpPr>
          <p:cNvPr id="162" name="Shape 158"/>
          <p:cNvSpPr/>
          <p:nvPr/>
        </p:nvSpPr>
        <p:spPr>
          <a:xfrm>
            <a:off x="9509760" y="3858768"/>
            <a:ext cx="1691640" cy="475488"/>
          </a:xfrm>
          <a:prstGeom prst="rect">
            <a:avLst/>
          </a:prstGeom>
          <a:solidFill>
            <a:srgbClr val="FFFFFF"/>
          </a:solidFill>
          <a:ln/>
        </p:spPr>
      </p:sp>
      <p:sp>
        <p:nvSpPr>
          <p:cNvPr id="163" name="Text 159"/>
          <p:cNvSpPr txBox="1"/>
          <p:nvPr/>
        </p:nvSpPr>
        <p:spPr>
          <a:xfrm>
            <a:off x="9555480" y="3858768"/>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Slide 13, App. 5</a:t>
            </a:r>
            <a:endParaRPr lang="en-US" sz="950" dirty="0"/>
          </a:p>
        </p:txBody>
      </p:sp>
      <p:sp>
        <p:nvSpPr>
          <p:cNvPr id="164" name="Shape 160"/>
          <p:cNvSpPr/>
          <p:nvPr/>
        </p:nvSpPr>
        <p:spPr>
          <a:xfrm>
            <a:off x="11201400" y="3858768"/>
            <a:ext cx="868680" cy="475488"/>
          </a:xfrm>
          <a:prstGeom prst="rect">
            <a:avLst/>
          </a:prstGeom>
          <a:solidFill>
            <a:srgbClr val="1F4A82"/>
          </a:solidFill>
          <a:ln/>
        </p:spPr>
      </p:sp>
      <p:sp>
        <p:nvSpPr>
          <p:cNvPr id="165" name="Text 161"/>
          <p:cNvSpPr txBox="1"/>
          <p:nvPr/>
        </p:nvSpPr>
        <p:spPr>
          <a:xfrm>
            <a:off x="11247120" y="3858768"/>
            <a:ext cx="77724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Measured</a:t>
            </a:r>
            <a:endParaRPr lang="en-US" sz="950" dirty="0"/>
          </a:p>
        </p:txBody>
      </p:sp>
      <p:sp>
        <p:nvSpPr>
          <p:cNvPr id="166" name="Shape 162"/>
          <p:cNvSpPr/>
          <p:nvPr/>
        </p:nvSpPr>
        <p:spPr>
          <a:xfrm>
            <a:off x="6355080" y="4334256"/>
            <a:ext cx="5715000" cy="0"/>
          </a:xfrm>
          <a:prstGeom prst="line">
            <a:avLst/>
          </a:prstGeom>
          <a:noFill/>
          <a:ln w="6350">
            <a:solidFill>
              <a:srgbClr val="E3E8E4"/>
            </a:solidFill>
            <a:prstDash val="solid"/>
          </a:ln>
        </p:spPr>
      </p:sp>
      <p:sp>
        <p:nvSpPr>
          <p:cNvPr id="167" name="Shape 163"/>
          <p:cNvSpPr/>
          <p:nvPr/>
        </p:nvSpPr>
        <p:spPr>
          <a:xfrm>
            <a:off x="6355080" y="4343400"/>
            <a:ext cx="256032" cy="256032"/>
          </a:xfrm>
          <a:prstGeom prst="rect">
            <a:avLst/>
          </a:prstGeom>
          <a:solidFill>
            <a:srgbClr val="1F4A82"/>
          </a:solidFill>
          <a:ln/>
        </p:spPr>
      </p:sp>
      <p:sp>
        <p:nvSpPr>
          <p:cNvPr id="168" name="Text 164"/>
          <p:cNvSpPr txBox="1"/>
          <p:nvPr/>
        </p:nvSpPr>
        <p:spPr>
          <a:xfrm>
            <a:off x="6355080" y="434340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a:t>
            </a:r>
            <a:endParaRPr lang="en-US" sz="1150" dirty="0"/>
          </a:p>
        </p:txBody>
      </p:sp>
      <p:sp>
        <p:nvSpPr>
          <p:cNvPr id="169" name="Text 165"/>
          <p:cNvSpPr txBox="1"/>
          <p:nvPr/>
        </p:nvSpPr>
        <p:spPr>
          <a:xfrm>
            <a:off x="6684264" y="4343400"/>
            <a:ext cx="506577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HOW TO READ THE EVIDENCE COLUMN</a:t>
            </a:r>
            <a:endParaRPr lang="en-US" sz="1200" dirty="0"/>
          </a:p>
        </p:txBody>
      </p:sp>
      <p:sp>
        <p:nvSpPr>
          <p:cNvPr id="170" name="Text 166"/>
          <p:cNvSpPr txBox="1"/>
          <p:nvPr/>
        </p:nvSpPr>
        <p:spPr>
          <a:xfrm>
            <a:off x="6355080" y="4663440"/>
            <a:ext cx="5394960" cy="1097280"/>
          </a:xfrm>
          <a:prstGeom prst="rect">
            <a:avLst/>
          </a:prstGeom>
          <a:noFill/>
          <a:ln/>
        </p:spPr>
        <p:txBody>
          <a:bodyPr wrap="square" lIns="0" tIns="0" rIns="0" bIns="0" rtlCol="0" anchor="t"/>
          <a:lstStyle/>
          <a:p>
            <a:pPr algn="l" marL="152400" indent="-1524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Measured: our own run on public data or the test suite.</a:t>
            </a:r>
            <a:endParaRPr lang="en-US" sz="1000" dirty="0"/>
          </a:p>
          <a:p>
            <a:pPr algn="l" marL="152400" indent="-1524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Built: working code with tests, on synthetic data.</a:t>
            </a:r>
            <a:endParaRPr lang="en-US" sz="1000" dirty="0"/>
          </a:p>
          <a:p>
            <a:pPr algn="l" marL="152400" indent="-1524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Designed: specified in the contracts, not coded yet.</a:t>
            </a:r>
            <a:endParaRPr lang="en-US" sz="1000" dirty="0"/>
          </a:p>
          <a:p>
            <a:pPr algn="l" marL="152400" indent="-1524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Assumption: a model input with a range, tested in pilots.</a:t>
            </a:r>
            <a:endParaRPr lang="en-US" sz="1000" dirty="0"/>
          </a:p>
        </p:txBody>
      </p:sp>
      <p:sp>
        <p:nvSpPr>
          <p:cNvPr id="171" name="Shape 167"/>
          <p:cNvSpPr/>
          <p:nvPr/>
        </p:nvSpPr>
        <p:spPr>
          <a:xfrm>
            <a:off x="411480" y="5120640"/>
            <a:ext cx="5669280" cy="1143000"/>
          </a:xfrm>
          <a:prstGeom prst="rect">
            <a:avLst/>
          </a:prstGeom>
          <a:solidFill>
            <a:srgbClr val="F4F7FB"/>
          </a:solidFill>
          <a:ln/>
        </p:spPr>
      </p:sp>
      <p:sp>
        <p:nvSpPr>
          <p:cNvPr id="172" name="Text 168"/>
          <p:cNvSpPr txBox="1"/>
          <p:nvPr/>
        </p:nvSpPr>
        <p:spPr>
          <a:xfrm>
            <a:off x="548640" y="5120640"/>
            <a:ext cx="5394960" cy="1143000"/>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Every slide states its limits. </a:t>
            </a:r>
            <a:pPr algn="l" indent="0" marL="0">
              <a:buNone/>
            </a:pPr>
            <a:r>
              <a:rPr lang="en-US" sz="1050" dirty="0">
                <a:solidFill>
                  <a:srgbClr val="1F2937"/>
                </a:solidFill>
                <a:latin typeface="Calibri" pitchFamily="34" charset="0"/>
                <a:ea typeface="Calibri" pitchFamily="34" charset="-122"/>
                <a:cs typeface="Calibri" pitchFamily="34" charset="-120"/>
              </a:rPr>
              <a:t>We show an honest 4 % rather than a hopeful 25 %, and mark a gate pending rather than quote a number we have not measured. The case says teams that state limits score higher.</a:t>
            </a:r>
            <a:endParaRPr lang="en-US" sz="1050" dirty="0"/>
          </a:p>
        </p:txBody>
      </p:sp>
      <p:sp>
        <p:nvSpPr>
          <p:cNvPr id="173" name="Text 169"/>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Participant Guide sections 4, 8 and 10 (questions and rubric). T = technology question, B = business question, R = round-1 deliverable or limit.</a:t>
            </a:r>
            <a:endParaRPr lang="en-US" sz="850" dirty="0"/>
          </a:p>
        </p:txBody>
      </p:sp>
      <p:pic>
        <p:nvPicPr>
          <p:cNvPr id="174"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175"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176"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177"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178"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179"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180"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data-sheet">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7: PRODUCT TOUR</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Six screens of the same flow, from upload to parent report</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374904" y="1078992"/>
            <a:ext cx="3776472" cy="2130552"/>
          </a:xfrm>
          <a:prstGeom prst="rect">
            <a:avLst/>
          </a:prstGeom>
          <a:solidFill>
            <a:srgbClr val="FFFFFF"/>
          </a:solidFill>
          <a:ln w="19050">
            <a:solidFill>
              <a:srgbClr val="1F4A82"/>
            </a:solidFill>
            <a:prstDash val="solid"/>
          </a:ln>
        </p:spPr>
      </p:sp>
      <p:pic>
        <p:nvPicPr>
          <p:cNvPr id="26" name="Image 1" descr="Upload and map: the system fixes the mess">    </p:cNvPr>
          <p:cNvPicPr>
            <a:picLocks noChangeAspect="1"/>
          </p:cNvPicPr>
          <p:nvPr/>
        </p:nvPicPr>
        <p:blipFill>
          <a:blip r:embed="rId2"/>
          <a:stretch>
            <a:fillRect/>
          </a:stretch>
        </p:blipFill>
        <p:spPr>
          <a:xfrm>
            <a:off x="411480" y="1115568"/>
            <a:ext cx="3703320" cy="2057400"/>
          </a:xfrm>
          <a:prstGeom prst="rect">
            <a:avLst/>
          </a:prstGeom>
        </p:spPr>
      </p:pic>
      <p:sp>
        <p:nvSpPr>
          <p:cNvPr id="27" name="Shape 22"/>
          <p:cNvSpPr/>
          <p:nvPr/>
        </p:nvSpPr>
        <p:spPr>
          <a:xfrm>
            <a:off x="411480" y="3282696"/>
            <a:ext cx="274320" cy="274320"/>
          </a:xfrm>
          <a:prstGeom prst="rect">
            <a:avLst/>
          </a:prstGeom>
          <a:solidFill>
            <a:srgbClr val="1F4A82"/>
          </a:solidFill>
          <a:ln/>
        </p:spPr>
      </p:sp>
      <p:sp>
        <p:nvSpPr>
          <p:cNvPr id="28" name="Text 23"/>
          <p:cNvSpPr txBox="1"/>
          <p:nvPr/>
        </p:nvSpPr>
        <p:spPr>
          <a:xfrm>
            <a:off x="411480" y="32826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9" name="Text 24"/>
          <p:cNvSpPr txBox="1"/>
          <p:nvPr/>
        </p:nvSpPr>
        <p:spPr>
          <a:xfrm>
            <a:off x="777240" y="323697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Upload and map: the system fixes the mess</a:t>
            </a:r>
            <a:endParaRPr lang="en-US" sz="1150" dirty="0"/>
          </a:p>
        </p:txBody>
      </p:sp>
      <p:sp>
        <p:nvSpPr>
          <p:cNvPr id="30" name="Shape 25"/>
          <p:cNvSpPr/>
          <p:nvPr/>
        </p:nvSpPr>
        <p:spPr>
          <a:xfrm>
            <a:off x="4206240" y="1078992"/>
            <a:ext cx="3776472" cy="2130552"/>
          </a:xfrm>
          <a:prstGeom prst="rect">
            <a:avLst/>
          </a:prstGeom>
          <a:solidFill>
            <a:srgbClr val="FFFFFF"/>
          </a:solidFill>
          <a:ln w="19050">
            <a:solidFill>
              <a:srgbClr val="1F4A82"/>
            </a:solidFill>
            <a:prstDash val="solid"/>
          </a:ln>
        </p:spPr>
      </p:sp>
      <p:pic>
        <p:nvPicPr>
          <p:cNvPr id="31" name="Image 2" descr="Topic map: strengths, gaps, untaught topics">    </p:cNvPr>
          <p:cNvPicPr>
            <a:picLocks noChangeAspect="1"/>
          </p:cNvPicPr>
          <p:nvPr/>
        </p:nvPicPr>
        <p:blipFill>
          <a:blip r:embed="rId3"/>
          <a:stretch>
            <a:fillRect/>
          </a:stretch>
        </p:blipFill>
        <p:spPr>
          <a:xfrm>
            <a:off x="4242816" y="1115568"/>
            <a:ext cx="3703320" cy="2057400"/>
          </a:xfrm>
          <a:prstGeom prst="rect">
            <a:avLst/>
          </a:prstGeom>
        </p:spPr>
      </p:pic>
      <p:sp>
        <p:nvSpPr>
          <p:cNvPr id="32" name="Shape 26"/>
          <p:cNvSpPr/>
          <p:nvPr/>
        </p:nvSpPr>
        <p:spPr>
          <a:xfrm>
            <a:off x="4242816" y="3282696"/>
            <a:ext cx="274320" cy="274320"/>
          </a:xfrm>
          <a:prstGeom prst="rect">
            <a:avLst/>
          </a:prstGeom>
          <a:solidFill>
            <a:srgbClr val="1F4A82"/>
          </a:solidFill>
          <a:ln/>
        </p:spPr>
      </p:sp>
      <p:sp>
        <p:nvSpPr>
          <p:cNvPr id="33" name="Text 27"/>
          <p:cNvSpPr txBox="1"/>
          <p:nvPr/>
        </p:nvSpPr>
        <p:spPr>
          <a:xfrm>
            <a:off x="4242816" y="32826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4" name="Text 28"/>
          <p:cNvSpPr txBox="1"/>
          <p:nvPr/>
        </p:nvSpPr>
        <p:spPr>
          <a:xfrm>
            <a:off x="4608576" y="323697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Topic map: strengths, gaps, untaught topics</a:t>
            </a:r>
            <a:endParaRPr lang="en-US" sz="1150" dirty="0"/>
          </a:p>
        </p:txBody>
      </p:sp>
      <p:sp>
        <p:nvSpPr>
          <p:cNvPr id="35" name="Shape 29"/>
          <p:cNvSpPr/>
          <p:nvPr/>
        </p:nvSpPr>
        <p:spPr>
          <a:xfrm>
            <a:off x="8037576" y="1078992"/>
            <a:ext cx="3776472" cy="2130552"/>
          </a:xfrm>
          <a:prstGeom prst="rect">
            <a:avLst/>
          </a:prstGeom>
          <a:solidFill>
            <a:srgbClr val="FFFFFF"/>
          </a:solidFill>
          <a:ln w="19050">
            <a:solidFill>
              <a:srgbClr val="1F4A82"/>
            </a:solidFill>
            <a:prstDash val="solid"/>
          </a:ln>
        </p:spPr>
      </p:sp>
      <p:pic>
        <p:nvPicPr>
          <p:cNvPr id="36" name="Image 3" descr="Weekly support list: reasons and actions">    </p:cNvPr>
          <p:cNvPicPr>
            <a:picLocks noChangeAspect="1"/>
          </p:cNvPicPr>
          <p:nvPr/>
        </p:nvPicPr>
        <p:blipFill>
          <a:blip r:embed="rId4"/>
          <a:stretch>
            <a:fillRect/>
          </a:stretch>
        </p:blipFill>
        <p:spPr>
          <a:xfrm>
            <a:off x="8074152" y="1115568"/>
            <a:ext cx="3703320" cy="2057400"/>
          </a:xfrm>
          <a:prstGeom prst="rect">
            <a:avLst/>
          </a:prstGeom>
        </p:spPr>
      </p:pic>
      <p:sp>
        <p:nvSpPr>
          <p:cNvPr id="37" name="Shape 30"/>
          <p:cNvSpPr/>
          <p:nvPr/>
        </p:nvSpPr>
        <p:spPr>
          <a:xfrm>
            <a:off x="8074152" y="3282696"/>
            <a:ext cx="274320" cy="274320"/>
          </a:xfrm>
          <a:prstGeom prst="rect">
            <a:avLst/>
          </a:prstGeom>
          <a:solidFill>
            <a:srgbClr val="1F4A82"/>
          </a:solidFill>
          <a:ln/>
        </p:spPr>
      </p:sp>
      <p:sp>
        <p:nvSpPr>
          <p:cNvPr id="38" name="Text 31"/>
          <p:cNvSpPr txBox="1"/>
          <p:nvPr/>
        </p:nvSpPr>
        <p:spPr>
          <a:xfrm>
            <a:off x="8074152" y="32826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9" name="Text 32"/>
          <p:cNvSpPr txBox="1"/>
          <p:nvPr/>
        </p:nvSpPr>
        <p:spPr>
          <a:xfrm>
            <a:off x="8439912" y="323697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Weekly support list: reasons and actions</a:t>
            </a:r>
            <a:endParaRPr lang="en-US" sz="1150" dirty="0"/>
          </a:p>
        </p:txBody>
      </p:sp>
      <p:sp>
        <p:nvSpPr>
          <p:cNvPr id="40" name="Shape 33"/>
          <p:cNvSpPr/>
          <p:nvPr/>
        </p:nvSpPr>
        <p:spPr>
          <a:xfrm>
            <a:off x="374904" y="3685032"/>
            <a:ext cx="3776472" cy="2130552"/>
          </a:xfrm>
          <a:prstGeom prst="rect">
            <a:avLst/>
          </a:prstGeom>
          <a:solidFill>
            <a:srgbClr val="FFFFFF"/>
          </a:solidFill>
          <a:ln w="19050">
            <a:solidFill>
              <a:srgbClr val="1F4A82"/>
            </a:solidFill>
            <a:prstDash val="solid"/>
          </a:ln>
        </p:spPr>
      </p:sp>
      <p:pic>
        <p:nvPicPr>
          <p:cNvPr id="41" name="Image 4" descr="Student profile: mastery with doubt, honest range">    </p:cNvPr>
          <p:cNvPicPr>
            <a:picLocks noChangeAspect="1"/>
          </p:cNvPicPr>
          <p:nvPr/>
        </p:nvPicPr>
        <p:blipFill>
          <a:blip r:embed="rId5"/>
          <a:stretch>
            <a:fillRect/>
          </a:stretch>
        </p:blipFill>
        <p:spPr>
          <a:xfrm>
            <a:off x="411480" y="3721608"/>
            <a:ext cx="3703320" cy="2057400"/>
          </a:xfrm>
          <a:prstGeom prst="rect">
            <a:avLst/>
          </a:prstGeom>
        </p:spPr>
      </p:pic>
      <p:sp>
        <p:nvSpPr>
          <p:cNvPr id="42" name="Shape 34"/>
          <p:cNvSpPr/>
          <p:nvPr/>
        </p:nvSpPr>
        <p:spPr>
          <a:xfrm>
            <a:off x="411480" y="5888736"/>
            <a:ext cx="274320" cy="274320"/>
          </a:xfrm>
          <a:prstGeom prst="rect">
            <a:avLst/>
          </a:prstGeom>
          <a:solidFill>
            <a:srgbClr val="1F4A82"/>
          </a:solidFill>
          <a:ln/>
        </p:spPr>
      </p:sp>
      <p:sp>
        <p:nvSpPr>
          <p:cNvPr id="43" name="Text 35"/>
          <p:cNvSpPr txBox="1"/>
          <p:nvPr/>
        </p:nvSpPr>
        <p:spPr>
          <a:xfrm>
            <a:off x="411480" y="58887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4" name="Text 36"/>
          <p:cNvSpPr txBox="1"/>
          <p:nvPr/>
        </p:nvSpPr>
        <p:spPr>
          <a:xfrm>
            <a:off x="777240" y="584301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Student profile: mastery with doubt, honest range</a:t>
            </a:r>
            <a:endParaRPr lang="en-US" sz="1150" dirty="0"/>
          </a:p>
        </p:txBody>
      </p:sp>
      <p:sp>
        <p:nvSpPr>
          <p:cNvPr id="45" name="Shape 37"/>
          <p:cNvSpPr/>
          <p:nvPr/>
        </p:nvSpPr>
        <p:spPr>
          <a:xfrm>
            <a:off x="4206240" y="3685032"/>
            <a:ext cx="3776472" cy="2130552"/>
          </a:xfrm>
          <a:prstGeom prst="rect">
            <a:avLst/>
          </a:prstGeom>
          <a:solidFill>
            <a:srgbClr val="FFFFFF"/>
          </a:solidFill>
          <a:ln w="19050">
            <a:solidFill>
              <a:srgbClr val="1F4A82"/>
            </a:solidFill>
            <a:prstDash val="solid"/>
          </a:ln>
        </p:spPr>
      </p:sp>
      <p:pic>
        <p:nvPicPr>
          <p:cNvPr id="46" name="Image 5" descr="Owner dashboard: retention, coverage, compliance">    </p:cNvPr>
          <p:cNvPicPr>
            <a:picLocks noChangeAspect="1"/>
          </p:cNvPicPr>
          <p:nvPr/>
        </p:nvPicPr>
        <p:blipFill>
          <a:blip r:embed="rId6"/>
          <a:stretch>
            <a:fillRect/>
          </a:stretch>
        </p:blipFill>
        <p:spPr>
          <a:xfrm>
            <a:off x="4242816" y="3721608"/>
            <a:ext cx="3703320" cy="2057400"/>
          </a:xfrm>
          <a:prstGeom prst="rect">
            <a:avLst/>
          </a:prstGeom>
        </p:spPr>
      </p:pic>
      <p:sp>
        <p:nvSpPr>
          <p:cNvPr id="47" name="Shape 38"/>
          <p:cNvSpPr/>
          <p:nvPr/>
        </p:nvSpPr>
        <p:spPr>
          <a:xfrm>
            <a:off x="4242816" y="5888736"/>
            <a:ext cx="274320" cy="274320"/>
          </a:xfrm>
          <a:prstGeom prst="rect">
            <a:avLst/>
          </a:prstGeom>
          <a:solidFill>
            <a:srgbClr val="1F4A82"/>
          </a:solidFill>
          <a:ln/>
        </p:spPr>
      </p:sp>
      <p:sp>
        <p:nvSpPr>
          <p:cNvPr id="48" name="Text 39"/>
          <p:cNvSpPr txBox="1"/>
          <p:nvPr/>
        </p:nvSpPr>
        <p:spPr>
          <a:xfrm>
            <a:off x="4242816" y="58887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9" name="Text 40"/>
          <p:cNvSpPr txBox="1"/>
          <p:nvPr/>
        </p:nvSpPr>
        <p:spPr>
          <a:xfrm>
            <a:off x="4608576" y="584301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Owner dashboard: retention, coverage, compliance</a:t>
            </a:r>
            <a:endParaRPr lang="en-US" sz="1150" dirty="0"/>
          </a:p>
        </p:txBody>
      </p:sp>
      <p:sp>
        <p:nvSpPr>
          <p:cNvPr id="50" name="Shape 41"/>
          <p:cNvSpPr/>
          <p:nvPr/>
        </p:nvSpPr>
        <p:spPr>
          <a:xfrm>
            <a:off x="8174736" y="3685032"/>
            <a:ext cx="3502152" cy="2130552"/>
          </a:xfrm>
          <a:prstGeom prst="rect">
            <a:avLst/>
          </a:prstGeom>
          <a:solidFill>
            <a:srgbClr val="FFFFFF"/>
          </a:solidFill>
          <a:ln w="19050">
            <a:solidFill>
              <a:srgbClr val="1F4A82"/>
            </a:solidFill>
            <a:prstDash val="solid"/>
          </a:ln>
        </p:spPr>
      </p:sp>
      <p:pic>
        <p:nvPicPr>
          <p:cNvPr id="51" name="Image 6" descr="Parent report in Hindi and English">    </p:cNvPr>
          <p:cNvPicPr>
            <a:picLocks noChangeAspect="1"/>
          </p:cNvPicPr>
          <p:nvPr/>
        </p:nvPicPr>
        <p:blipFill>
          <a:blip r:embed="rId7"/>
          <a:stretch>
            <a:fillRect/>
          </a:stretch>
        </p:blipFill>
        <p:spPr>
          <a:xfrm>
            <a:off x="8211312" y="3721608"/>
            <a:ext cx="3429000" cy="2057400"/>
          </a:xfrm>
          <a:prstGeom prst="rect">
            <a:avLst/>
          </a:prstGeom>
        </p:spPr>
      </p:pic>
      <p:sp>
        <p:nvSpPr>
          <p:cNvPr id="52" name="Shape 42"/>
          <p:cNvSpPr/>
          <p:nvPr/>
        </p:nvSpPr>
        <p:spPr>
          <a:xfrm>
            <a:off x="8074152" y="5888736"/>
            <a:ext cx="274320" cy="274320"/>
          </a:xfrm>
          <a:prstGeom prst="rect">
            <a:avLst/>
          </a:prstGeom>
          <a:solidFill>
            <a:srgbClr val="1F4A82"/>
          </a:solidFill>
          <a:ln/>
        </p:spPr>
      </p:sp>
      <p:sp>
        <p:nvSpPr>
          <p:cNvPr id="53" name="Text 43"/>
          <p:cNvSpPr txBox="1"/>
          <p:nvPr/>
        </p:nvSpPr>
        <p:spPr>
          <a:xfrm>
            <a:off x="8074152" y="58887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54" name="Text 44"/>
          <p:cNvSpPr txBox="1"/>
          <p:nvPr/>
        </p:nvSpPr>
        <p:spPr>
          <a:xfrm>
            <a:off x="8439912" y="584301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Parent report in Hindi and English</a:t>
            </a:r>
            <a:endParaRPr lang="en-US" sz="1150" dirty="0"/>
          </a:p>
        </p:txBody>
      </p:sp>
      <p:sp>
        <p:nvSpPr>
          <p:cNvPr id="55" name="Text 45"/>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Illustrative mock-ups rendered from HTML with synthetic values; they become real screenshots once the web app is wired to the models.</a:t>
            </a:r>
            <a:endParaRPr lang="en-US" sz="850" dirty="0"/>
          </a:p>
        </p:txBody>
      </p:sp>
      <p:pic>
        <p:nvPicPr>
          <p:cNvPr id="57" name="Image 7" descr="FaClipboardList icon">    </p:cNvPr>
          <p:cNvPicPr>
            <a:picLocks noChangeAspect="1"/>
          </p:cNvPicPr>
          <p:nvPr/>
        </p:nvPicPr>
        <p:blipFill>
          <a:blip r:embed="rId8"/>
          <a:stretch>
            <a:fillRect/>
          </a:stretch>
        </p:blipFill>
        <p:spPr>
          <a:xfrm>
            <a:off x="521208" y="100584"/>
            <a:ext cx="182880" cy="182880"/>
          </a:xfrm>
          <a:prstGeom prst="rect">
            <a:avLst/>
          </a:prstGeom>
        </p:spPr>
      </p:pic>
      <p:pic>
        <p:nvPicPr>
          <p:cNvPr id="58" name="Image 8" descr="FaTriangleExclamation icon">    </p:cNvPr>
          <p:cNvPicPr>
            <a:picLocks noChangeAspect="1"/>
          </p:cNvPicPr>
          <p:nvPr/>
        </p:nvPicPr>
        <p:blipFill>
          <a:blip r:embed="rId9"/>
          <a:stretch>
            <a:fillRect/>
          </a:stretch>
        </p:blipFill>
        <p:spPr>
          <a:xfrm>
            <a:off x="2084032" y="100584"/>
            <a:ext cx="182880" cy="182880"/>
          </a:xfrm>
          <a:prstGeom prst="rect">
            <a:avLst/>
          </a:prstGeom>
        </p:spPr>
      </p:pic>
      <p:pic>
        <p:nvPicPr>
          <p:cNvPr id="59" name="Image 9" descr="FaMobileScreen icon">    </p:cNvPr>
          <p:cNvPicPr>
            <a:picLocks noChangeAspect="1"/>
          </p:cNvPicPr>
          <p:nvPr/>
        </p:nvPicPr>
        <p:blipFill>
          <a:blip r:embed="rId10"/>
          <a:stretch>
            <a:fillRect/>
          </a:stretch>
        </p:blipFill>
        <p:spPr>
          <a:xfrm>
            <a:off x="3482264" y="100584"/>
            <a:ext cx="182880" cy="182880"/>
          </a:xfrm>
          <a:prstGeom prst="rect">
            <a:avLst/>
          </a:prstGeom>
        </p:spPr>
      </p:pic>
      <p:pic>
        <p:nvPicPr>
          <p:cNvPr id="60" name="Image 10" descr="FaGears icon">    </p:cNvPr>
          <p:cNvPicPr>
            <a:picLocks noChangeAspect="1"/>
          </p:cNvPicPr>
          <p:nvPr/>
        </p:nvPicPr>
        <p:blipFill>
          <a:blip r:embed="rId11"/>
          <a:stretch>
            <a:fillRect/>
          </a:stretch>
        </p:blipFill>
        <p:spPr>
          <a:xfrm>
            <a:off x="4880496" y="100584"/>
            <a:ext cx="182880" cy="182880"/>
          </a:xfrm>
          <a:prstGeom prst="rect">
            <a:avLst/>
          </a:prstGeom>
        </p:spPr>
      </p:pic>
      <p:pic>
        <p:nvPicPr>
          <p:cNvPr id="61" name="Image 11" descr="FaShieldHalved icon">    </p:cNvPr>
          <p:cNvPicPr>
            <a:picLocks noChangeAspect="1"/>
          </p:cNvPicPr>
          <p:nvPr/>
        </p:nvPicPr>
        <p:blipFill>
          <a:blip r:embed="rId12"/>
          <a:stretch>
            <a:fillRect/>
          </a:stretch>
        </p:blipFill>
        <p:spPr>
          <a:xfrm>
            <a:off x="6278728" y="100584"/>
            <a:ext cx="182880" cy="182880"/>
          </a:xfrm>
          <a:prstGeom prst="rect">
            <a:avLst/>
          </a:prstGeom>
        </p:spPr>
      </p:pic>
      <p:pic>
        <p:nvPicPr>
          <p:cNvPr id="62" name="Image 12" descr="FaIndianRupeeSign icon">    </p:cNvPr>
          <p:cNvPicPr>
            <a:picLocks noChangeAspect="1"/>
          </p:cNvPicPr>
          <p:nvPr/>
        </p:nvPicPr>
        <p:blipFill>
          <a:blip r:embed="rId13"/>
          <a:stretch>
            <a:fillRect/>
          </a:stretch>
        </p:blipFill>
        <p:spPr>
          <a:xfrm>
            <a:off x="7676960" y="100584"/>
            <a:ext cx="182880" cy="182880"/>
          </a:xfrm>
          <a:prstGeom prst="rect">
            <a:avLst/>
          </a:prstGeom>
        </p:spPr>
      </p:pic>
      <p:pic>
        <p:nvPicPr>
          <p:cNvPr id="63" name="Image 13" descr="FaBullseye icon">    </p:cNvPr>
          <p:cNvPicPr>
            <a:picLocks noChangeAspect="1"/>
          </p:cNvPicPr>
          <p:nvPr/>
        </p:nvPicPr>
        <p:blipFill>
          <a:blip r:embed="rId14"/>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shop">    </p:cNvPr>
          <p:cNvPicPr>
            <a:picLocks noChangeAspect="1"/>
          </p:cNvPicPr>
          <p:nvPr/>
        </p:nvPicPr>
        <p:blipFill>
          <a:blip r:embed="rId1"/>
          <a:stretch>
            <a:fillRect/>
          </a:stretch>
        </p:blipFill>
        <p:spPr>
          <a:xfrm>
            <a:off x="11247120" y="512064"/>
            <a:ext cx="438912" cy="438912"/>
          </a:xfrm>
          <a:prstGeom prst="rect">
            <a:avLst/>
          </a:prstGeom>
        </p:spPr>
      </p:pic>
      <p:sp>
        <p:nvSpPr>
          <p:cNvPr id="21"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8: SOURCE REGISTER</a:t>
            </a:r>
            <a:endParaRPr lang="en-US" sz="2200" dirty="0"/>
          </a:p>
        </p:txBody>
      </p:sp>
      <p:sp>
        <p:nvSpPr>
          <p:cNvPr id="22" name="Text 19"/>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Every external number in the deck, where it came from, and where we used it</a:t>
            </a:r>
            <a:endParaRPr lang="en-US" sz="1400" dirty="0"/>
          </a:p>
        </p:txBody>
      </p:sp>
      <p:sp>
        <p:nvSpPr>
          <p:cNvPr id="23" name="Shape 20"/>
          <p:cNvSpPr/>
          <p:nvPr/>
        </p:nvSpPr>
        <p:spPr>
          <a:xfrm>
            <a:off x="411480" y="1042416"/>
            <a:ext cx="11368735" cy="22860"/>
          </a:xfrm>
          <a:prstGeom prst="rect">
            <a:avLst/>
          </a:prstGeom>
          <a:solidFill>
            <a:srgbClr val="1F4A82"/>
          </a:solidFill>
          <a:ln/>
        </p:spPr>
      </p:sp>
      <p:sp>
        <p:nvSpPr>
          <p:cNvPr id="25" name="Shape 21"/>
          <p:cNvSpPr/>
          <p:nvPr/>
        </p:nvSpPr>
        <p:spPr>
          <a:xfrm>
            <a:off x="411480" y="1188720"/>
            <a:ext cx="320040" cy="274320"/>
          </a:xfrm>
          <a:prstGeom prst="rect">
            <a:avLst/>
          </a:prstGeom>
          <a:solidFill>
            <a:srgbClr val="1F4A82"/>
          </a:solidFill>
          <a:ln/>
        </p:spPr>
      </p:sp>
      <p:sp>
        <p:nvSpPr>
          <p:cNvPr id="26" name="Text 22"/>
          <p:cNvSpPr txBox="1"/>
          <p:nvPr/>
        </p:nvSpPr>
        <p:spPr>
          <a:xfrm>
            <a:off x="457200" y="1188720"/>
            <a:ext cx="2286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p>
        </p:txBody>
      </p:sp>
      <p:sp>
        <p:nvSpPr>
          <p:cNvPr id="27" name="Shape 23"/>
          <p:cNvSpPr/>
          <p:nvPr/>
        </p:nvSpPr>
        <p:spPr>
          <a:xfrm>
            <a:off x="731520" y="1188720"/>
            <a:ext cx="3749040" cy="274320"/>
          </a:xfrm>
          <a:prstGeom prst="rect">
            <a:avLst/>
          </a:prstGeom>
          <a:solidFill>
            <a:srgbClr val="1F4A82"/>
          </a:solidFill>
          <a:ln/>
        </p:spPr>
      </p:sp>
      <p:sp>
        <p:nvSpPr>
          <p:cNvPr id="28" name="Text 24"/>
          <p:cNvSpPr txBox="1"/>
          <p:nvPr/>
        </p:nvSpPr>
        <p:spPr>
          <a:xfrm>
            <a:off x="777240" y="1188720"/>
            <a:ext cx="36576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Source</a:t>
            </a:r>
            <a:endParaRPr lang="en-US" sz="950" dirty="0"/>
          </a:p>
        </p:txBody>
      </p:sp>
      <p:sp>
        <p:nvSpPr>
          <p:cNvPr id="29" name="Shape 25"/>
          <p:cNvSpPr/>
          <p:nvPr/>
        </p:nvSpPr>
        <p:spPr>
          <a:xfrm>
            <a:off x="4480560" y="1188720"/>
            <a:ext cx="4206240" cy="274320"/>
          </a:xfrm>
          <a:prstGeom prst="rect">
            <a:avLst/>
          </a:prstGeom>
          <a:solidFill>
            <a:srgbClr val="1F4A82"/>
          </a:solidFill>
          <a:ln/>
        </p:spPr>
      </p:sp>
      <p:sp>
        <p:nvSpPr>
          <p:cNvPr id="30" name="Text 26"/>
          <p:cNvSpPr txBox="1"/>
          <p:nvPr/>
        </p:nvSpPr>
        <p:spPr>
          <a:xfrm>
            <a:off x="4526280" y="1188720"/>
            <a:ext cx="41148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Used for</a:t>
            </a:r>
            <a:endParaRPr lang="en-US" sz="950" dirty="0"/>
          </a:p>
        </p:txBody>
      </p:sp>
      <p:sp>
        <p:nvSpPr>
          <p:cNvPr id="31" name="Shape 27"/>
          <p:cNvSpPr/>
          <p:nvPr/>
        </p:nvSpPr>
        <p:spPr>
          <a:xfrm>
            <a:off x="8686800" y="1188720"/>
            <a:ext cx="1828800" cy="274320"/>
          </a:xfrm>
          <a:prstGeom prst="rect">
            <a:avLst/>
          </a:prstGeom>
          <a:solidFill>
            <a:srgbClr val="1F4A82"/>
          </a:solidFill>
          <a:ln/>
        </p:spPr>
      </p:sp>
      <p:sp>
        <p:nvSpPr>
          <p:cNvPr id="32" name="Text 28"/>
          <p:cNvSpPr txBox="1"/>
          <p:nvPr/>
        </p:nvSpPr>
        <p:spPr>
          <a:xfrm>
            <a:off x="8732520" y="1188720"/>
            <a:ext cx="173736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Confidence</a:t>
            </a:r>
            <a:endParaRPr lang="en-US" sz="950" dirty="0"/>
          </a:p>
        </p:txBody>
      </p:sp>
      <p:sp>
        <p:nvSpPr>
          <p:cNvPr id="33" name="Shape 29"/>
          <p:cNvSpPr/>
          <p:nvPr/>
        </p:nvSpPr>
        <p:spPr>
          <a:xfrm>
            <a:off x="10515600" y="1188720"/>
            <a:ext cx="1264615" cy="274320"/>
          </a:xfrm>
          <a:prstGeom prst="rect">
            <a:avLst/>
          </a:prstGeom>
          <a:solidFill>
            <a:srgbClr val="1F4A82"/>
          </a:solidFill>
          <a:ln/>
        </p:spPr>
      </p:sp>
      <p:sp>
        <p:nvSpPr>
          <p:cNvPr id="34" name="Text 30"/>
          <p:cNvSpPr txBox="1"/>
          <p:nvPr/>
        </p:nvSpPr>
        <p:spPr>
          <a:xfrm>
            <a:off x="10561320" y="1188720"/>
            <a:ext cx="1173175"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Slide</a:t>
            </a:r>
            <a:endParaRPr lang="en-US" sz="950" dirty="0"/>
          </a:p>
        </p:txBody>
      </p:sp>
      <p:sp>
        <p:nvSpPr>
          <p:cNvPr id="35" name="Shape 31"/>
          <p:cNvSpPr/>
          <p:nvPr/>
        </p:nvSpPr>
        <p:spPr>
          <a:xfrm>
            <a:off x="411480" y="1463040"/>
            <a:ext cx="320040" cy="347472"/>
          </a:xfrm>
          <a:prstGeom prst="rect">
            <a:avLst/>
          </a:prstGeom>
          <a:solidFill>
            <a:srgbClr val="F1F7F3"/>
          </a:solidFill>
          <a:ln/>
        </p:spPr>
      </p:sp>
      <p:sp>
        <p:nvSpPr>
          <p:cNvPr id="36" name="Text 32"/>
          <p:cNvSpPr txBox="1"/>
          <p:nvPr/>
        </p:nvSpPr>
        <p:spPr>
          <a:xfrm>
            <a:off x="457200" y="1463040"/>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a:t>
            </a:r>
            <a:endParaRPr lang="en-US" sz="950" dirty="0"/>
          </a:p>
        </p:txBody>
      </p:sp>
      <p:sp>
        <p:nvSpPr>
          <p:cNvPr id="37" name="Shape 33"/>
          <p:cNvSpPr/>
          <p:nvPr/>
        </p:nvSpPr>
        <p:spPr>
          <a:xfrm>
            <a:off x="731520" y="1463040"/>
            <a:ext cx="3749040" cy="347472"/>
          </a:xfrm>
          <a:prstGeom prst="rect">
            <a:avLst/>
          </a:prstGeom>
          <a:solidFill>
            <a:srgbClr val="F1F7F3"/>
          </a:solidFill>
          <a:ln/>
        </p:spPr>
      </p:sp>
      <p:sp>
        <p:nvSpPr>
          <p:cNvPr id="38" name="Text 34"/>
          <p:cNvSpPr txBox="1"/>
          <p:nvPr/>
        </p:nvSpPr>
        <p:spPr>
          <a:xfrm>
            <a:off x="777240" y="1463040"/>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NTA NEET UG 2025 result data (via Careers360, ALLEN)</a:t>
            </a:r>
            <a:endParaRPr lang="en-US" sz="950" dirty="0"/>
          </a:p>
        </p:txBody>
      </p:sp>
      <p:sp>
        <p:nvSpPr>
          <p:cNvPr id="39" name="Shape 35"/>
          <p:cNvSpPr/>
          <p:nvPr/>
        </p:nvSpPr>
        <p:spPr>
          <a:xfrm>
            <a:off x="4480560" y="1463040"/>
            <a:ext cx="4206240" cy="347472"/>
          </a:xfrm>
          <a:prstGeom prst="rect">
            <a:avLst/>
          </a:prstGeom>
          <a:solidFill>
            <a:srgbClr val="F1F7F3"/>
          </a:solidFill>
          <a:ln/>
        </p:spPr>
      </p:sp>
      <p:sp>
        <p:nvSpPr>
          <p:cNvPr id="40" name="Text 36"/>
          <p:cNvSpPr txBox="1"/>
          <p:nvPr/>
        </p:nvSpPr>
        <p:spPr>
          <a:xfrm>
            <a:off x="4526280" y="1463040"/>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22.76 lakh registered candidates</a:t>
            </a:r>
            <a:endParaRPr lang="en-US" sz="950" dirty="0"/>
          </a:p>
        </p:txBody>
      </p:sp>
      <p:sp>
        <p:nvSpPr>
          <p:cNvPr id="41" name="Shape 37"/>
          <p:cNvSpPr/>
          <p:nvPr/>
        </p:nvSpPr>
        <p:spPr>
          <a:xfrm>
            <a:off x="8686800" y="1463040"/>
            <a:ext cx="1828800" cy="347472"/>
          </a:xfrm>
          <a:prstGeom prst="rect">
            <a:avLst/>
          </a:prstGeom>
          <a:solidFill>
            <a:srgbClr val="F1F7F3"/>
          </a:solidFill>
          <a:ln/>
        </p:spPr>
      </p:sp>
      <p:sp>
        <p:nvSpPr>
          <p:cNvPr id="42" name="Text 38"/>
          <p:cNvSpPr txBox="1"/>
          <p:nvPr/>
        </p:nvSpPr>
        <p:spPr>
          <a:xfrm>
            <a:off x="8732520" y="1463040"/>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(official)</a:t>
            </a:r>
            <a:endParaRPr lang="en-US" sz="950" dirty="0"/>
          </a:p>
        </p:txBody>
      </p:sp>
      <p:sp>
        <p:nvSpPr>
          <p:cNvPr id="43" name="Shape 39"/>
          <p:cNvSpPr/>
          <p:nvPr/>
        </p:nvSpPr>
        <p:spPr>
          <a:xfrm>
            <a:off x="10515600" y="1463040"/>
            <a:ext cx="1264615" cy="347472"/>
          </a:xfrm>
          <a:prstGeom prst="rect">
            <a:avLst/>
          </a:prstGeom>
          <a:solidFill>
            <a:srgbClr val="F1F7F3"/>
          </a:solidFill>
          <a:ln/>
        </p:spPr>
      </p:sp>
      <p:sp>
        <p:nvSpPr>
          <p:cNvPr id="44" name="Text 40"/>
          <p:cNvSpPr txBox="1"/>
          <p:nvPr/>
        </p:nvSpPr>
        <p:spPr>
          <a:xfrm>
            <a:off x="10561320" y="1463040"/>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a:t>
            </a:r>
            <a:endParaRPr lang="en-US" sz="950" dirty="0"/>
          </a:p>
        </p:txBody>
      </p:sp>
      <p:sp>
        <p:nvSpPr>
          <p:cNvPr id="45" name="Shape 41"/>
          <p:cNvSpPr/>
          <p:nvPr/>
        </p:nvSpPr>
        <p:spPr>
          <a:xfrm>
            <a:off x="411480" y="1810512"/>
            <a:ext cx="11368735" cy="0"/>
          </a:xfrm>
          <a:prstGeom prst="line">
            <a:avLst/>
          </a:prstGeom>
          <a:noFill/>
          <a:ln w="6350">
            <a:solidFill>
              <a:srgbClr val="E3E8E4"/>
            </a:solidFill>
            <a:prstDash val="solid"/>
          </a:ln>
        </p:spPr>
      </p:sp>
      <p:sp>
        <p:nvSpPr>
          <p:cNvPr id="46" name="Shape 42"/>
          <p:cNvSpPr/>
          <p:nvPr/>
        </p:nvSpPr>
        <p:spPr>
          <a:xfrm>
            <a:off x="411480" y="1810512"/>
            <a:ext cx="320040" cy="347472"/>
          </a:xfrm>
          <a:prstGeom prst="rect">
            <a:avLst/>
          </a:prstGeom>
          <a:solidFill>
            <a:srgbClr val="FFFFFF"/>
          </a:solidFill>
          <a:ln/>
        </p:spPr>
      </p:sp>
      <p:sp>
        <p:nvSpPr>
          <p:cNvPr id="47" name="Text 43"/>
          <p:cNvSpPr txBox="1"/>
          <p:nvPr/>
        </p:nvSpPr>
        <p:spPr>
          <a:xfrm>
            <a:off x="457200" y="1810512"/>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2</a:t>
            </a:r>
            <a:endParaRPr lang="en-US" sz="950" dirty="0"/>
          </a:p>
        </p:txBody>
      </p:sp>
      <p:sp>
        <p:nvSpPr>
          <p:cNvPr id="48" name="Shape 44"/>
          <p:cNvSpPr/>
          <p:nvPr/>
        </p:nvSpPr>
        <p:spPr>
          <a:xfrm>
            <a:off x="731520" y="1810512"/>
            <a:ext cx="3749040" cy="347472"/>
          </a:xfrm>
          <a:prstGeom prst="rect">
            <a:avLst/>
          </a:prstGeom>
          <a:solidFill>
            <a:srgbClr val="FFFFFF"/>
          </a:solidFill>
          <a:ln/>
        </p:spPr>
      </p:sp>
      <p:sp>
        <p:nvSpPr>
          <p:cNvPr id="49" name="Text 45"/>
          <p:cNvSpPr txBox="1"/>
          <p:nvPr/>
        </p:nvSpPr>
        <p:spPr>
          <a:xfrm>
            <a:off x="777240" y="1810512"/>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JEE Main 2025 statistics (Vedantu; NTA total not found)</a:t>
            </a:r>
            <a:endParaRPr lang="en-US" sz="950" dirty="0"/>
          </a:p>
        </p:txBody>
      </p:sp>
      <p:sp>
        <p:nvSpPr>
          <p:cNvPr id="50" name="Shape 46"/>
          <p:cNvSpPr/>
          <p:nvPr/>
        </p:nvSpPr>
        <p:spPr>
          <a:xfrm>
            <a:off x="4480560" y="1810512"/>
            <a:ext cx="4206240" cy="347472"/>
          </a:xfrm>
          <a:prstGeom prst="rect">
            <a:avLst/>
          </a:prstGeom>
          <a:solidFill>
            <a:srgbClr val="FFFFFF"/>
          </a:solidFill>
          <a:ln/>
        </p:spPr>
      </p:sp>
      <p:sp>
        <p:nvSpPr>
          <p:cNvPr id="51" name="Text 47"/>
          <p:cNvSpPr txBox="1"/>
          <p:nvPr/>
        </p:nvSpPr>
        <p:spPr>
          <a:xfrm>
            <a:off x="4526280" y="1810512"/>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About 15.4 lakh unique registrations</a:t>
            </a:r>
            <a:endParaRPr lang="en-US" sz="950" dirty="0"/>
          </a:p>
        </p:txBody>
      </p:sp>
      <p:sp>
        <p:nvSpPr>
          <p:cNvPr id="52" name="Shape 48"/>
          <p:cNvSpPr/>
          <p:nvPr/>
        </p:nvSpPr>
        <p:spPr>
          <a:xfrm>
            <a:off x="8686800" y="1810512"/>
            <a:ext cx="1828800" cy="347472"/>
          </a:xfrm>
          <a:prstGeom prst="rect">
            <a:avLst/>
          </a:prstGeom>
          <a:solidFill>
            <a:srgbClr val="FFFFFF"/>
          </a:solidFill>
          <a:ln/>
        </p:spPr>
      </p:sp>
      <p:sp>
        <p:nvSpPr>
          <p:cNvPr id="53" name="Text 49"/>
          <p:cNvSpPr txBox="1"/>
          <p:nvPr/>
        </p:nvSpPr>
        <p:spPr>
          <a:xfrm>
            <a:off x="8732520" y="1810512"/>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Medium (secondary)</a:t>
            </a:r>
            <a:endParaRPr lang="en-US" sz="950" dirty="0"/>
          </a:p>
        </p:txBody>
      </p:sp>
      <p:sp>
        <p:nvSpPr>
          <p:cNvPr id="54" name="Shape 50"/>
          <p:cNvSpPr/>
          <p:nvPr/>
        </p:nvSpPr>
        <p:spPr>
          <a:xfrm>
            <a:off x="10515600" y="1810512"/>
            <a:ext cx="1264615" cy="347472"/>
          </a:xfrm>
          <a:prstGeom prst="rect">
            <a:avLst/>
          </a:prstGeom>
          <a:solidFill>
            <a:srgbClr val="FFFFFF"/>
          </a:solidFill>
          <a:ln/>
        </p:spPr>
      </p:sp>
      <p:sp>
        <p:nvSpPr>
          <p:cNvPr id="55" name="Text 51"/>
          <p:cNvSpPr txBox="1"/>
          <p:nvPr/>
        </p:nvSpPr>
        <p:spPr>
          <a:xfrm>
            <a:off x="10561320" y="1810512"/>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a:t>
            </a:r>
            <a:endParaRPr lang="en-US" sz="950" dirty="0"/>
          </a:p>
        </p:txBody>
      </p:sp>
      <p:sp>
        <p:nvSpPr>
          <p:cNvPr id="56" name="Shape 52"/>
          <p:cNvSpPr/>
          <p:nvPr/>
        </p:nvSpPr>
        <p:spPr>
          <a:xfrm>
            <a:off x="411480" y="2157984"/>
            <a:ext cx="11368735" cy="0"/>
          </a:xfrm>
          <a:prstGeom prst="line">
            <a:avLst/>
          </a:prstGeom>
          <a:noFill/>
          <a:ln w="6350">
            <a:solidFill>
              <a:srgbClr val="E3E8E4"/>
            </a:solidFill>
            <a:prstDash val="solid"/>
          </a:ln>
        </p:spPr>
      </p:sp>
      <p:sp>
        <p:nvSpPr>
          <p:cNvPr id="57" name="Shape 53"/>
          <p:cNvSpPr/>
          <p:nvPr/>
        </p:nvSpPr>
        <p:spPr>
          <a:xfrm>
            <a:off x="411480" y="2157984"/>
            <a:ext cx="320040" cy="347472"/>
          </a:xfrm>
          <a:prstGeom prst="rect">
            <a:avLst/>
          </a:prstGeom>
          <a:solidFill>
            <a:srgbClr val="F1F7F3"/>
          </a:solidFill>
          <a:ln/>
        </p:spPr>
      </p:sp>
      <p:sp>
        <p:nvSpPr>
          <p:cNvPr id="58" name="Text 54"/>
          <p:cNvSpPr txBox="1"/>
          <p:nvPr/>
        </p:nvSpPr>
        <p:spPr>
          <a:xfrm>
            <a:off x="457200" y="2157984"/>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3</a:t>
            </a:r>
            <a:endParaRPr lang="en-US" sz="950" dirty="0"/>
          </a:p>
        </p:txBody>
      </p:sp>
      <p:sp>
        <p:nvSpPr>
          <p:cNvPr id="59" name="Shape 55"/>
          <p:cNvSpPr/>
          <p:nvPr/>
        </p:nvSpPr>
        <p:spPr>
          <a:xfrm>
            <a:off x="731520" y="2157984"/>
            <a:ext cx="3749040" cy="347472"/>
          </a:xfrm>
          <a:prstGeom prst="rect">
            <a:avLst/>
          </a:prstGeom>
          <a:solidFill>
            <a:srgbClr val="F1F7F3"/>
          </a:solidFill>
          <a:ln/>
        </p:spPr>
      </p:sp>
      <p:sp>
        <p:nvSpPr>
          <p:cNvPr id="60" name="Text 56"/>
          <p:cNvSpPr txBox="1"/>
          <p:nvPr/>
        </p:nvSpPr>
        <p:spPr>
          <a:xfrm>
            <a:off x="777240" y="2157984"/>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NSO Comprehensive Modular Survey: Education 2025</a:t>
            </a:r>
            <a:endParaRPr lang="en-US" sz="950" dirty="0"/>
          </a:p>
        </p:txBody>
      </p:sp>
      <p:sp>
        <p:nvSpPr>
          <p:cNvPr id="61" name="Shape 57"/>
          <p:cNvSpPr/>
          <p:nvPr/>
        </p:nvSpPr>
        <p:spPr>
          <a:xfrm>
            <a:off x="4480560" y="2157984"/>
            <a:ext cx="4206240" cy="347472"/>
          </a:xfrm>
          <a:prstGeom prst="rect">
            <a:avLst/>
          </a:prstGeom>
          <a:solidFill>
            <a:srgbClr val="F1F7F3"/>
          </a:solidFill>
          <a:ln/>
        </p:spPr>
      </p:sp>
      <p:sp>
        <p:nvSpPr>
          <p:cNvPr id="62" name="Text 58"/>
          <p:cNvSpPr txBox="1"/>
          <p:nvPr/>
        </p:nvSpPr>
        <p:spPr>
          <a:xfrm>
            <a:off x="4526280" y="2157984"/>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27 % of school students in private coaching</a:t>
            </a:r>
            <a:endParaRPr lang="en-US" sz="950" dirty="0"/>
          </a:p>
        </p:txBody>
      </p:sp>
      <p:sp>
        <p:nvSpPr>
          <p:cNvPr id="63" name="Shape 59"/>
          <p:cNvSpPr/>
          <p:nvPr/>
        </p:nvSpPr>
        <p:spPr>
          <a:xfrm>
            <a:off x="8686800" y="2157984"/>
            <a:ext cx="1828800" cy="347472"/>
          </a:xfrm>
          <a:prstGeom prst="rect">
            <a:avLst/>
          </a:prstGeom>
          <a:solidFill>
            <a:srgbClr val="F1F7F3"/>
          </a:solidFill>
          <a:ln/>
        </p:spPr>
      </p:sp>
      <p:sp>
        <p:nvSpPr>
          <p:cNvPr id="64" name="Text 60"/>
          <p:cNvSpPr txBox="1"/>
          <p:nvPr/>
        </p:nvSpPr>
        <p:spPr>
          <a:xfrm>
            <a:off x="8732520" y="2157984"/>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(official)</a:t>
            </a:r>
            <a:endParaRPr lang="en-US" sz="950" dirty="0"/>
          </a:p>
        </p:txBody>
      </p:sp>
      <p:sp>
        <p:nvSpPr>
          <p:cNvPr id="65" name="Shape 61"/>
          <p:cNvSpPr/>
          <p:nvPr/>
        </p:nvSpPr>
        <p:spPr>
          <a:xfrm>
            <a:off x="10515600" y="2157984"/>
            <a:ext cx="1264615" cy="347472"/>
          </a:xfrm>
          <a:prstGeom prst="rect">
            <a:avLst/>
          </a:prstGeom>
          <a:solidFill>
            <a:srgbClr val="F1F7F3"/>
          </a:solidFill>
          <a:ln/>
        </p:spPr>
      </p:sp>
      <p:sp>
        <p:nvSpPr>
          <p:cNvPr id="66" name="Text 62"/>
          <p:cNvSpPr txBox="1"/>
          <p:nvPr/>
        </p:nvSpPr>
        <p:spPr>
          <a:xfrm>
            <a:off x="10561320" y="2157984"/>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a:t>
            </a:r>
            <a:endParaRPr lang="en-US" sz="950" dirty="0"/>
          </a:p>
        </p:txBody>
      </p:sp>
      <p:sp>
        <p:nvSpPr>
          <p:cNvPr id="67" name="Shape 63"/>
          <p:cNvSpPr/>
          <p:nvPr/>
        </p:nvSpPr>
        <p:spPr>
          <a:xfrm>
            <a:off x="411480" y="2505456"/>
            <a:ext cx="11368735" cy="0"/>
          </a:xfrm>
          <a:prstGeom prst="line">
            <a:avLst/>
          </a:prstGeom>
          <a:noFill/>
          <a:ln w="6350">
            <a:solidFill>
              <a:srgbClr val="E3E8E4"/>
            </a:solidFill>
            <a:prstDash val="solid"/>
          </a:ln>
        </p:spPr>
      </p:sp>
      <p:sp>
        <p:nvSpPr>
          <p:cNvPr id="68" name="Shape 64"/>
          <p:cNvSpPr/>
          <p:nvPr/>
        </p:nvSpPr>
        <p:spPr>
          <a:xfrm>
            <a:off x="411480" y="2505456"/>
            <a:ext cx="320040" cy="347472"/>
          </a:xfrm>
          <a:prstGeom prst="rect">
            <a:avLst/>
          </a:prstGeom>
          <a:solidFill>
            <a:srgbClr val="FFFFFF"/>
          </a:solidFill>
          <a:ln/>
        </p:spPr>
      </p:sp>
      <p:sp>
        <p:nvSpPr>
          <p:cNvPr id="69" name="Text 65"/>
          <p:cNvSpPr txBox="1"/>
          <p:nvPr/>
        </p:nvSpPr>
        <p:spPr>
          <a:xfrm>
            <a:off x="457200" y="2505456"/>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4</a:t>
            </a:r>
            <a:endParaRPr lang="en-US" sz="950" dirty="0"/>
          </a:p>
        </p:txBody>
      </p:sp>
      <p:sp>
        <p:nvSpPr>
          <p:cNvPr id="70" name="Shape 66"/>
          <p:cNvSpPr/>
          <p:nvPr/>
        </p:nvSpPr>
        <p:spPr>
          <a:xfrm>
            <a:off x="731520" y="2505456"/>
            <a:ext cx="3749040" cy="347472"/>
          </a:xfrm>
          <a:prstGeom prst="rect">
            <a:avLst/>
          </a:prstGeom>
          <a:solidFill>
            <a:srgbClr val="FFFFFF"/>
          </a:solidFill>
          <a:ln/>
        </p:spPr>
      </p:sp>
      <p:sp>
        <p:nvSpPr>
          <p:cNvPr id="71" name="Text 67"/>
          <p:cNvSpPr txBox="1"/>
          <p:nvPr/>
        </p:nvSpPr>
        <p:spPr>
          <a:xfrm>
            <a:off x="777240" y="2505456"/>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Case participant guide</a:t>
            </a:r>
            <a:endParaRPr lang="en-US" sz="950" dirty="0"/>
          </a:p>
        </p:txBody>
      </p:sp>
      <p:sp>
        <p:nvSpPr>
          <p:cNvPr id="72" name="Shape 68"/>
          <p:cNvSpPr/>
          <p:nvPr/>
        </p:nvSpPr>
        <p:spPr>
          <a:xfrm>
            <a:off x="4480560" y="2505456"/>
            <a:ext cx="4206240" cy="347472"/>
          </a:xfrm>
          <a:prstGeom prst="rect">
            <a:avLst/>
          </a:prstGeom>
          <a:solidFill>
            <a:srgbClr val="FFFFFF"/>
          </a:solidFill>
          <a:ln/>
        </p:spPr>
      </p:sp>
      <p:sp>
        <p:nvSpPr>
          <p:cNvPr id="73" name="Text 69"/>
          <p:cNvSpPr txBox="1"/>
          <p:nvPr/>
        </p:nvSpPr>
        <p:spPr>
          <a:xfrm>
            <a:off x="4526280" y="2505456"/>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8 to 15 % dropout, ₹36,000 per leaver, ₹17.3 lakh, ₹40, 25 %</a:t>
            </a:r>
            <a:endParaRPr lang="en-US" sz="950" dirty="0"/>
          </a:p>
        </p:txBody>
      </p:sp>
      <p:sp>
        <p:nvSpPr>
          <p:cNvPr id="74" name="Shape 70"/>
          <p:cNvSpPr/>
          <p:nvPr/>
        </p:nvSpPr>
        <p:spPr>
          <a:xfrm>
            <a:off x="8686800" y="2505456"/>
            <a:ext cx="1828800" cy="347472"/>
          </a:xfrm>
          <a:prstGeom prst="rect">
            <a:avLst/>
          </a:prstGeom>
          <a:solidFill>
            <a:srgbClr val="FFFFFF"/>
          </a:solidFill>
          <a:ln/>
        </p:spPr>
      </p:sp>
      <p:sp>
        <p:nvSpPr>
          <p:cNvPr id="75" name="Text 71"/>
          <p:cNvSpPr txBox="1"/>
          <p:nvPr/>
        </p:nvSpPr>
        <p:spPr>
          <a:xfrm>
            <a:off x="8732520" y="2505456"/>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Illustrative</a:t>
            </a:r>
            <a:endParaRPr lang="en-US" sz="950" dirty="0"/>
          </a:p>
        </p:txBody>
      </p:sp>
      <p:sp>
        <p:nvSpPr>
          <p:cNvPr id="76" name="Shape 72"/>
          <p:cNvSpPr/>
          <p:nvPr/>
        </p:nvSpPr>
        <p:spPr>
          <a:xfrm>
            <a:off x="10515600" y="2505456"/>
            <a:ext cx="1264615" cy="347472"/>
          </a:xfrm>
          <a:prstGeom prst="rect">
            <a:avLst/>
          </a:prstGeom>
          <a:solidFill>
            <a:srgbClr val="FFFFFF"/>
          </a:solidFill>
          <a:ln/>
        </p:spPr>
      </p:sp>
      <p:sp>
        <p:nvSpPr>
          <p:cNvPr id="77" name="Text 73"/>
          <p:cNvSpPr txBox="1"/>
          <p:nvPr/>
        </p:nvSpPr>
        <p:spPr>
          <a:xfrm>
            <a:off x="10561320" y="2505456"/>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3, 4</a:t>
            </a:r>
            <a:endParaRPr lang="en-US" sz="950" dirty="0"/>
          </a:p>
        </p:txBody>
      </p:sp>
      <p:sp>
        <p:nvSpPr>
          <p:cNvPr id="78" name="Shape 74"/>
          <p:cNvSpPr/>
          <p:nvPr/>
        </p:nvSpPr>
        <p:spPr>
          <a:xfrm>
            <a:off x="411480" y="2852928"/>
            <a:ext cx="11368735" cy="0"/>
          </a:xfrm>
          <a:prstGeom prst="line">
            <a:avLst/>
          </a:prstGeom>
          <a:noFill/>
          <a:ln w="6350">
            <a:solidFill>
              <a:srgbClr val="E3E8E4"/>
            </a:solidFill>
            <a:prstDash val="solid"/>
          </a:ln>
        </p:spPr>
      </p:sp>
      <p:sp>
        <p:nvSpPr>
          <p:cNvPr id="79" name="Shape 75"/>
          <p:cNvSpPr/>
          <p:nvPr/>
        </p:nvSpPr>
        <p:spPr>
          <a:xfrm>
            <a:off x="411480" y="2852928"/>
            <a:ext cx="320040" cy="347472"/>
          </a:xfrm>
          <a:prstGeom prst="rect">
            <a:avLst/>
          </a:prstGeom>
          <a:solidFill>
            <a:srgbClr val="F1F7F3"/>
          </a:solidFill>
          <a:ln/>
        </p:spPr>
      </p:sp>
      <p:sp>
        <p:nvSpPr>
          <p:cNvPr id="80" name="Text 76"/>
          <p:cNvSpPr txBox="1"/>
          <p:nvPr/>
        </p:nvSpPr>
        <p:spPr>
          <a:xfrm>
            <a:off x="457200" y="2852928"/>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5</a:t>
            </a:r>
            <a:endParaRPr lang="en-US" sz="950" dirty="0"/>
          </a:p>
        </p:txBody>
      </p:sp>
      <p:sp>
        <p:nvSpPr>
          <p:cNvPr id="81" name="Shape 77"/>
          <p:cNvSpPr/>
          <p:nvPr/>
        </p:nvSpPr>
        <p:spPr>
          <a:xfrm>
            <a:off x="731520" y="2852928"/>
            <a:ext cx="3749040" cy="347472"/>
          </a:xfrm>
          <a:prstGeom prst="rect">
            <a:avLst/>
          </a:prstGeom>
          <a:solidFill>
            <a:srgbClr val="F1F7F3"/>
          </a:solidFill>
          <a:ln/>
        </p:spPr>
      </p:sp>
      <p:sp>
        <p:nvSpPr>
          <p:cNvPr id="82" name="Text 78"/>
          <p:cNvSpPr txBox="1"/>
          <p:nvPr/>
        </p:nvSpPr>
        <p:spPr>
          <a:xfrm>
            <a:off x="777240" y="2852928"/>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Vendor listings: Classplus, Fedena, Edmingle, Teachmint (research R1)</a:t>
            </a:r>
            <a:endParaRPr lang="en-US" sz="950" dirty="0"/>
          </a:p>
        </p:txBody>
      </p:sp>
      <p:sp>
        <p:nvSpPr>
          <p:cNvPr id="83" name="Shape 79"/>
          <p:cNvSpPr/>
          <p:nvPr/>
        </p:nvSpPr>
        <p:spPr>
          <a:xfrm>
            <a:off x="4480560" y="2852928"/>
            <a:ext cx="4206240" cy="347472"/>
          </a:xfrm>
          <a:prstGeom prst="rect">
            <a:avLst/>
          </a:prstGeom>
          <a:solidFill>
            <a:srgbClr val="F1F7F3"/>
          </a:solidFill>
          <a:ln/>
        </p:spPr>
      </p:sp>
      <p:sp>
        <p:nvSpPr>
          <p:cNvPr id="84" name="Text 80"/>
          <p:cNvSpPr txBox="1"/>
          <p:nvPr/>
        </p:nvSpPr>
        <p:spPr>
          <a:xfrm>
            <a:off x="4526280" y="2852928"/>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₹4 to ₹40 per student per month anchors</a:t>
            </a:r>
            <a:endParaRPr lang="en-US" sz="950" dirty="0"/>
          </a:p>
        </p:txBody>
      </p:sp>
      <p:sp>
        <p:nvSpPr>
          <p:cNvPr id="85" name="Shape 81"/>
          <p:cNvSpPr/>
          <p:nvPr/>
        </p:nvSpPr>
        <p:spPr>
          <a:xfrm>
            <a:off x="8686800" y="2852928"/>
            <a:ext cx="1828800" cy="347472"/>
          </a:xfrm>
          <a:prstGeom prst="rect">
            <a:avLst/>
          </a:prstGeom>
          <a:solidFill>
            <a:srgbClr val="F1F7F3"/>
          </a:solidFill>
          <a:ln/>
        </p:spPr>
      </p:sp>
      <p:sp>
        <p:nvSpPr>
          <p:cNvPr id="86" name="Text 82"/>
          <p:cNvSpPr txBox="1"/>
          <p:nvPr/>
        </p:nvSpPr>
        <p:spPr>
          <a:xfrm>
            <a:off x="8732520" y="2852928"/>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Medium</a:t>
            </a:r>
            <a:endParaRPr lang="en-US" sz="950" dirty="0"/>
          </a:p>
        </p:txBody>
      </p:sp>
      <p:sp>
        <p:nvSpPr>
          <p:cNvPr id="87" name="Shape 83"/>
          <p:cNvSpPr/>
          <p:nvPr/>
        </p:nvSpPr>
        <p:spPr>
          <a:xfrm>
            <a:off x="10515600" y="2852928"/>
            <a:ext cx="1264615" cy="347472"/>
          </a:xfrm>
          <a:prstGeom prst="rect">
            <a:avLst/>
          </a:prstGeom>
          <a:solidFill>
            <a:srgbClr val="F1F7F3"/>
          </a:solidFill>
          <a:ln/>
        </p:spPr>
      </p:sp>
      <p:sp>
        <p:nvSpPr>
          <p:cNvPr id="88" name="Text 84"/>
          <p:cNvSpPr txBox="1"/>
          <p:nvPr/>
        </p:nvSpPr>
        <p:spPr>
          <a:xfrm>
            <a:off x="10561320" y="2852928"/>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4, 12</a:t>
            </a:r>
            <a:endParaRPr lang="en-US" sz="950" dirty="0"/>
          </a:p>
        </p:txBody>
      </p:sp>
      <p:sp>
        <p:nvSpPr>
          <p:cNvPr id="89" name="Shape 85"/>
          <p:cNvSpPr/>
          <p:nvPr/>
        </p:nvSpPr>
        <p:spPr>
          <a:xfrm>
            <a:off x="411480" y="3200400"/>
            <a:ext cx="11368735" cy="0"/>
          </a:xfrm>
          <a:prstGeom prst="line">
            <a:avLst/>
          </a:prstGeom>
          <a:noFill/>
          <a:ln w="6350">
            <a:solidFill>
              <a:srgbClr val="E3E8E4"/>
            </a:solidFill>
            <a:prstDash val="solid"/>
          </a:ln>
        </p:spPr>
      </p:sp>
      <p:sp>
        <p:nvSpPr>
          <p:cNvPr id="90" name="Shape 86"/>
          <p:cNvSpPr/>
          <p:nvPr/>
        </p:nvSpPr>
        <p:spPr>
          <a:xfrm>
            <a:off x="411480" y="3200400"/>
            <a:ext cx="320040" cy="347472"/>
          </a:xfrm>
          <a:prstGeom prst="rect">
            <a:avLst/>
          </a:prstGeom>
          <a:solidFill>
            <a:srgbClr val="FFFFFF"/>
          </a:solidFill>
          <a:ln/>
        </p:spPr>
      </p:sp>
      <p:sp>
        <p:nvSpPr>
          <p:cNvPr id="91" name="Text 87"/>
          <p:cNvSpPr txBox="1"/>
          <p:nvPr/>
        </p:nvSpPr>
        <p:spPr>
          <a:xfrm>
            <a:off x="457200" y="3200400"/>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6</a:t>
            </a:r>
            <a:endParaRPr lang="en-US" sz="950" dirty="0"/>
          </a:p>
        </p:txBody>
      </p:sp>
      <p:sp>
        <p:nvSpPr>
          <p:cNvPr id="92" name="Shape 88"/>
          <p:cNvSpPr/>
          <p:nvPr/>
        </p:nvSpPr>
        <p:spPr>
          <a:xfrm>
            <a:off x="731520" y="3200400"/>
            <a:ext cx="3749040" cy="347472"/>
          </a:xfrm>
          <a:prstGeom prst="rect">
            <a:avLst/>
          </a:prstGeom>
          <a:solidFill>
            <a:srgbClr val="FFFFFF"/>
          </a:solidFill>
          <a:ln/>
        </p:spPr>
      </p:sp>
      <p:sp>
        <p:nvSpPr>
          <p:cNvPr id="93" name="Text 89"/>
          <p:cNvSpPr txBox="1"/>
          <p:nvPr/>
        </p:nvSpPr>
        <p:spPr>
          <a:xfrm>
            <a:off x="777240" y="3200400"/>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Outreach trials in comparable settings (research R4)</a:t>
            </a:r>
            <a:endParaRPr lang="en-US" sz="950" dirty="0"/>
          </a:p>
        </p:txBody>
      </p:sp>
      <p:sp>
        <p:nvSpPr>
          <p:cNvPr id="94" name="Shape 90"/>
          <p:cNvSpPr/>
          <p:nvPr/>
        </p:nvSpPr>
        <p:spPr>
          <a:xfrm>
            <a:off x="4480560" y="3200400"/>
            <a:ext cx="4206240" cy="347472"/>
          </a:xfrm>
          <a:prstGeom prst="rect">
            <a:avLst/>
          </a:prstGeom>
          <a:solidFill>
            <a:srgbClr val="FFFFFF"/>
          </a:solidFill>
          <a:ln/>
        </p:spPr>
      </p:sp>
      <p:sp>
        <p:nvSpPr>
          <p:cNvPr id="95" name="Text 91"/>
          <p:cNvSpPr txBox="1"/>
          <p:nvPr/>
        </p:nvSpPr>
        <p:spPr>
          <a:xfrm>
            <a:off x="4526280" y="3200400"/>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Effect of outreach on dropout, 5 to 30 %</a:t>
            </a:r>
            <a:endParaRPr lang="en-US" sz="950" dirty="0"/>
          </a:p>
        </p:txBody>
      </p:sp>
      <p:sp>
        <p:nvSpPr>
          <p:cNvPr id="96" name="Shape 92"/>
          <p:cNvSpPr/>
          <p:nvPr/>
        </p:nvSpPr>
        <p:spPr>
          <a:xfrm>
            <a:off x="8686800" y="3200400"/>
            <a:ext cx="1828800" cy="347472"/>
          </a:xfrm>
          <a:prstGeom prst="rect">
            <a:avLst/>
          </a:prstGeom>
          <a:solidFill>
            <a:srgbClr val="FFFFFF"/>
          </a:solidFill>
          <a:ln/>
        </p:spPr>
      </p:sp>
      <p:sp>
        <p:nvSpPr>
          <p:cNvPr id="97" name="Text 93"/>
          <p:cNvSpPr txBox="1"/>
          <p:nvPr/>
        </p:nvSpPr>
        <p:spPr>
          <a:xfrm>
            <a:off x="8732520" y="3200400"/>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Medium</a:t>
            </a:r>
            <a:endParaRPr lang="en-US" sz="950" dirty="0"/>
          </a:p>
        </p:txBody>
      </p:sp>
      <p:sp>
        <p:nvSpPr>
          <p:cNvPr id="98" name="Shape 94"/>
          <p:cNvSpPr/>
          <p:nvPr/>
        </p:nvSpPr>
        <p:spPr>
          <a:xfrm>
            <a:off x="10515600" y="3200400"/>
            <a:ext cx="1264615" cy="347472"/>
          </a:xfrm>
          <a:prstGeom prst="rect">
            <a:avLst/>
          </a:prstGeom>
          <a:solidFill>
            <a:srgbClr val="FFFFFF"/>
          </a:solidFill>
          <a:ln/>
        </p:spPr>
      </p:sp>
      <p:sp>
        <p:nvSpPr>
          <p:cNvPr id="99" name="Text 95"/>
          <p:cNvSpPr txBox="1"/>
          <p:nvPr/>
        </p:nvSpPr>
        <p:spPr>
          <a:xfrm>
            <a:off x="10561320" y="3200400"/>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A1</a:t>
            </a:r>
            <a:endParaRPr lang="en-US" sz="950" dirty="0"/>
          </a:p>
        </p:txBody>
      </p:sp>
      <p:sp>
        <p:nvSpPr>
          <p:cNvPr id="100" name="Shape 96"/>
          <p:cNvSpPr/>
          <p:nvPr/>
        </p:nvSpPr>
        <p:spPr>
          <a:xfrm>
            <a:off x="411480" y="3547872"/>
            <a:ext cx="11368735" cy="0"/>
          </a:xfrm>
          <a:prstGeom prst="line">
            <a:avLst/>
          </a:prstGeom>
          <a:noFill/>
          <a:ln w="6350">
            <a:solidFill>
              <a:srgbClr val="E3E8E4"/>
            </a:solidFill>
            <a:prstDash val="solid"/>
          </a:ln>
        </p:spPr>
      </p:sp>
      <p:sp>
        <p:nvSpPr>
          <p:cNvPr id="101" name="Shape 97"/>
          <p:cNvSpPr/>
          <p:nvPr/>
        </p:nvSpPr>
        <p:spPr>
          <a:xfrm>
            <a:off x="411480" y="3547872"/>
            <a:ext cx="320040" cy="347472"/>
          </a:xfrm>
          <a:prstGeom prst="rect">
            <a:avLst/>
          </a:prstGeom>
          <a:solidFill>
            <a:srgbClr val="F1F7F3"/>
          </a:solidFill>
          <a:ln/>
        </p:spPr>
      </p:sp>
      <p:sp>
        <p:nvSpPr>
          <p:cNvPr id="102" name="Text 98"/>
          <p:cNvSpPr txBox="1"/>
          <p:nvPr/>
        </p:nvSpPr>
        <p:spPr>
          <a:xfrm>
            <a:off x="457200" y="3547872"/>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7</a:t>
            </a:r>
            <a:endParaRPr lang="en-US" sz="950" dirty="0"/>
          </a:p>
        </p:txBody>
      </p:sp>
      <p:sp>
        <p:nvSpPr>
          <p:cNvPr id="103" name="Shape 99"/>
          <p:cNvSpPr/>
          <p:nvPr/>
        </p:nvSpPr>
        <p:spPr>
          <a:xfrm>
            <a:off x="731520" y="3547872"/>
            <a:ext cx="3749040" cy="347472"/>
          </a:xfrm>
          <a:prstGeom prst="rect">
            <a:avLst/>
          </a:prstGeom>
          <a:solidFill>
            <a:srgbClr val="F1F7F3"/>
          </a:solidFill>
          <a:ln/>
        </p:spPr>
      </p:sp>
      <p:sp>
        <p:nvSpPr>
          <p:cNvPr id="104" name="Text 100"/>
          <p:cNvSpPr txBox="1"/>
          <p:nvPr/>
        </p:nvSpPr>
        <p:spPr>
          <a:xfrm>
            <a:off x="777240" y="3547872"/>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OULAD (Open University, CC BY 4.0), our runs</a:t>
            </a:r>
            <a:endParaRPr lang="en-US" sz="950" dirty="0"/>
          </a:p>
        </p:txBody>
      </p:sp>
      <p:sp>
        <p:nvSpPr>
          <p:cNvPr id="105" name="Shape 101"/>
          <p:cNvSpPr/>
          <p:nvPr/>
        </p:nvSpPr>
        <p:spPr>
          <a:xfrm>
            <a:off x="4480560" y="3547872"/>
            <a:ext cx="4206240" cy="347472"/>
          </a:xfrm>
          <a:prstGeom prst="rect">
            <a:avLst/>
          </a:prstGeom>
          <a:solidFill>
            <a:srgbClr val="F1F7F3"/>
          </a:solidFill>
          <a:ln/>
        </p:spPr>
      </p:sp>
      <p:sp>
        <p:nvSpPr>
          <p:cNvPr id="106" name="Text 102"/>
          <p:cNvSpPr txBox="1"/>
          <p:nvPr/>
        </p:nvSpPr>
        <p:spPr>
          <a:xfrm>
            <a:off x="4526280" y="3547872"/>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0.706 AUC, 0.009 calibration, 0.46 precision</a:t>
            </a:r>
            <a:endParaRPr lang="en-US" sz="950" dirty="0"/>
          </a:p>
        </p:txBody>
      </p:sp>
      <p:sp>
        <p:nvSpPr>
          <p:cNvPr id="107" name="Shape 103"/>
          <p:cNvSpPr/>
          <p:nvPr/>
        </p:nvSpPr>
        <p:spPr>
          <a:xfrm>
            <a:off x="8686800" y="3547872"/>
            <a:ext cx="1828800" cy="347472"/>
          </a:xfrm>
          <a:prstGeom prst="rect">
            <a:avLst/>
          </a:prstGeom>
          <a:solidFill>
            <a:srgbClr val="F1F7F3"/>
          </a:solidFill>
          <a:ln/>
        </p:spPr>
      </p:sp>
      <p:sp>
        <p:nvSpPr>
          <p:cNvPr id="108" name="Text 104"/>
          <p:cNvSpPr txBox="1"/>
          <p:nvPr/>
        </p:nvSpPr>
        <p:spPr>
          <a:xfrm>
            <a:off x="8732520" y="3547872"/>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Measured</a:t>
            </a:r>
            <a:endParaRPr lang="en-US" sz="950" dirty="0"/>
          </a:p>
        </p:txBody>
      </p:sp>
      <p:sp>
        <p:nvSpPr>
          <p:cNvPr id="109" name="Shape 105"/>
          <p:cNvSpPr/>
          <p:nvPr/>
        </p:nvSpPr>
        <p:spPr>
          <a:xfrm>
            <a:off x="10515600" y="3547872"/>
            <a:ext cx="1264615" cy="347472"/>
          </a:xfrm>
          <a:prstGeom prst="rect">
            <a:avLst/>
          </a:prstGeom>
          <a:solidFill>
            <a:srgbClr val="F1F7F3"/>
          </a:solidFill>
          <a:ln/>
        </p:spPr>
      </p:sp>
      <p:sp>
        <p:nvSpPr>
          <p:cNvPr id="110" name="Text 106"/>
          <p:cNvSpPr txBox="1"/>
          <p:nvPr/>
        </p:nvSpPr>
        <p:spPr>
          <a:xfrm>
            <a:off x="10561320" y="3547872"/>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1, 4, 8</a:t>
            </a:r>
            <a:endParaRPr lang="en-US" sz="950" dirty="0"/>
          </a:p>
        </p:txBody>
      </p:sp>
      <p:sp>
        <p:nvSpPr>
          <p:cNvPr id="111" name="Shape 107"/>
          <p:cNvSpPr/>
          <p:nvPr/>
        </p:nvSpPr>
        <p:spPr>
          <a:xfrm>
            <a:off x="411480" y="3895344"/>
            <a:ext cx="11368735" cy="0"/>
          </a:xfrm>
          <a:prstGeom prst="line">
            <a:avLst/>
          </a:prstGeom>
          <a:noFill/>
          <a:ln w="6350">
            <a:solidFill>
              <a:srgbClr val="E3E8E4"/>
            </a:solidFill>
            <a:prstDash val="solid"/>
          </a:ln>
        </p:spPr>
      </p:sp>
      <p:sp>
        <p:nvSpPr>
          <p:cNvPr id="112" name="Shape 108"/>
          <p:cNvSpPr/>
          <p:nvPr/>
        </p:nvSpPr>
        <p:spPr>
          <a:xfrm>
            <a:off x="411480" y="3895344"/>
            <a:ext cx="320040" cy="347472"/>
          </a:xfrm>
          <a:prstGeom prst="rect">
            <a:avLst/>
          </a:prstGeom>
          <a:solidFill>
            <a:srgbClr val="FFFFFF"/>
          </a:solidFill>
          <a:ln/>
        </p:spPr>
      </p:sp>
      <p:sp>
        <p:nvSpPr>
          <p:cNvPr id="113" name="Text 109"/>
          <p:cNvSpPr txBox="1"/>
          <p:nvPr/>
        </p:nvSpPr>
        <p:spPr>
          <a:xfrm>
            <a:off x="457200" y="3895344"/>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8</a:t>
            </a:r>
            <a:endParaRPr lang="en-US" sz="950" dirty="0"/>
          </a:p>
        </p:txBody>
      </p:sp>
      <p:sp>
        <p:nvSpPr>
          <p:cNvPr id="114" name="Shape 110"/>
          <p:cNvSpPr/>
          <p:nvPr/>
        </p:nvSpPr>
        <p:spPr>
          <a:xfrm>
            <a:off x="731520" y="3895344"/>
            <a:ext cx="3749040" cy="347472"/>
          </a:xfrm>
          <a:prstGeom prst="rect">
            <a:avLst/>
          </a:prstGeom>
          <a:solidFill>
            <a:srgbClr val="FFFFFF"/>
          </a:solidFill>
          <a:ln/>
        </p:spPr>
      </p:sp>
      <p:sp>
        <p:nvSpPr>
          <p:cNvPr id="115" name="Text 111"/>
          <p:cNvSpPr txBox="1"/>
          <p:nvPr/>
        </p:nvSpPr>
        <p:spPr>
          <a:xfrm>
            <a:off x="777240" y="3895344"/>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PLOS ONE 2026, OULAD withdrawal study</a:t>
            </a:r>
            <a:endParaRPr lang="en-US" sz="950" dirty="0"/>
          </a:p>
        </p:txBody>
      </p:sp>
      <p:sp>
        <p:nvSpPr>
          <p:cNvPr id="116" name="Shape 112"/>
          <p:cNvSpPr/>
          <p:nvPr/>
        </p:nvSpPr>
        <p:spPr>
          <a:xfrm>
            <a:off x="4480560" y="3895344"/>
            <a:ext cx="4206240" cy="347472"/>
          </a:xfrm>
          <a:prstGeom prst="rect">
            <a:avLst/>
          </a:prstGeom>
          <a:solidFill>
            <a:srgbClr val="FFFFFF"/>
          </a:solidFill>
          <a:ln/>
        </p:spPr>
      </p:sp>
      <p:sp>
        <p:nvSpPr>
          <p:cNvPr id="117" name="Text 113"/>
          <p:cNvSpPr txBox="1"/>
          <p:nvPr/>
        </p:nvSpPr>
        <p:spPr>
          <a:xfrm>
            <a:off x="4526280" y="3895344"/>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Published 0.727 / 0.794 / 0.804 anchors</a:t>
            </a:r>
            <a:endParaRPr lang="en-US" sz="950" dirty="0"/>
          </a:p>
        </p:txBody>
      </p:sp>
      <p:sp>
        <p:nvSpPr>
          <p:cNvPr id="118" name="Shape 114"/>
          <p:cNvSpPr/>
          <p:nvPr/>
        </p:nvSpPr>
        <p:spPr>
          <a:xfrm>
            <a:off x="8686800" y="3895344"/>
            <a:ext cx="1828800" cy="347472"/>
          </a:xfrm>
          <a:prstGeom prst="rect">
            <a:avLst/>
          </a:prstGeom>
          <a:solidFill>
            <a:srgbClr val="FFFFFF"/>
          </a:solidFill>
          <a:ln/>
        </p:spPr>
      </p:sp>
      <p:sp>
        <p:nvSpPr>
          <p:cNvPr id="119" name="Text 115"/>
          <p:cNvSpPr txBox="1"/>
          <p:nvPr/>
        </p:nvSpPr>
        <p:spPr>
          <a:xfrm>
            <a:off x="8732520" y="3895344"/>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a:t>
            </a:r>
            <a:endParaRPr lang="en-US" sz="950" dirty="0"/>
          </a:p>
        </p:txBody>
      </p:sp>
      <p:sp>
        <p:nvSpPr>
          <p:cNvPr id="120" name="Shape 116"/>
          <p:cNvSpPr/>
          <p:nvPr/>
        </p:nvSpPr>
        <p:spPr>
          <a:xfrm>
            <a:off x="10515600" y="3895344"/>
            <a:ext cx="1264615" cy="347472"/>
          </a:xfrm>
          <a:prstGeom prst="rect">
            <a:avLst/>
          </a:prstGeom>
          <a:solidFill>
            <a:srgbClr val="FFFFFF"/>
          </a:solidFill>
          <a:ln/>
        </p:spPr>
      </p:sp>
      <p:sp>
        <p:nvSpPr>
          <p:cNvPr id="121" name="Text 117"/>
          <p:cNvSpPr txBox="1"/>
          <p:nvPr/>
        </p:nvSpPr>
        <p:spPr>
          <a:xfrm>
            <a:off x="10561320" y="3895344"/>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4, 8</a:t>
            </a:r>
            <a:endParaRPr lang="en-US" sz="950" dirty="0"/>
          </a:p>
        </p:txBody>
      </p:sp>
      <p:sp>
        <p:nvSpPr>
          <p:cNvPr id="122" name="Shape 118"/>
          <p:cNvSpPr/>
          <p:nvPr/>
        </p:nvSpPr>
        <p:spPr>
          <a:xfrm>
            <a:off x="411480" y="4242816"/>
            <a:ext cx="11368735" cy="0"/>
          </a:xfrm>
          <a:prstGeom prst="line">
            <a:avLst/>
          </a:prstGeom>
          <a:noFill/>
          <a:ln w="6350">
            <a:solidFill>
              <a:srgbClr val="E3E8E4"/>
            </a:solidFill>
            <a:prstDash val="solid"/>
          </a:ln>
        </p:spPr>
      </p:sp>
      <p:sp>
        <p:nvSpPr>
          <p:cNvPr id="123" name="Shape 119"/>
          <p:cNvSpPr/>
          <p:nvPr/>
        </p:nvSpPr>
        <p:spPr>
          <a:xfrm>
            <a:off x="411480" y="4242816"/>
            <a:ext cx="320040" cy="347472"/>
          </a:xfrm>
          <a:prstGeom prst="rect">
            <a:avLst/>
          </a:prstGeom>
          <a:solidFill>
            <a:srgbClr val="F1F7F3"/>
          </a:solidFill>
          <a:ln/>
        </p:spPr>
      </p:sp>
      <p:sp>
        <p:nvSpPr>
          <p:cNvPr id="124" name="Text 120"/>
          <p:cNvSpPr txBox="1"/>
          <p:nvPr/>
        </p:nvSpPr>
        <p:spPr>
          <a:xfrm>
            <a:off x="457200" y="4242816"/>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9</a:t>
            </a:r>
            <a:endParaRPr lang="en-US" sz="950" dirty="0"/>
          </a:p>
        </p:txBody>
      </p:sp>
      <p:sp>
        <p:nvSpPr>
          <p:cNvPr id="125" name="Shape 121"/>
          <p:cNvSpPr/>
          <p:nvPr/>
        </p:nvSpPr>
        <p:spPr>
          <a:xfrm>
            <a:off x="731520" y="4242816"/>
            <a:ext cx="3749040" cy="347472"/>
          </a:xfrm>
          <a:prstGeom prst="rect">
            <a:avLst/>
          </a:prstGeom>
          <a:solidFill>
            <a:srgbClr val="F1F7F3"/>
          </a:solidFill>
          <a:ln/>
        </p:spPr>
      </p:sp>
      <p:sp>
        <p:nvSpPr>
          <p:cNvPr id="126" name="Text 122"/>
          <p:cNvSpPr txBox="1"/>
          <p:nvPr/>
        </p:nvSpPr>
        <p:spPr>
          <a:xfrm>
            <a:off x="777240" y="4242816"/>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Liu et al., pyKT, NeurIPS 2022; ASSISTments 2009, our runs</a:t>
            </a:r>
            <a:endParaRPr lang="en-US" sz="950" dirty="0"/>
          </a:p>
        </p:txBody>
      </p:sp>
      <p:sp>
        <p:nvSpPr>
          <p:cNvPr id="127" name="Shape 123"/>
          <p:cNvSpPr/>
          <p:nvPr/>
        </p:nvSpPr>
        <p:spPr>
          <a:xfrm>
            <a:off x="4480560" y="4242816"/>
            <a:ext cx="4206240" cy="347472"/>
          </a:xfrm>
          <a:prstGeom prst="rect">
            <a:avLst/>
          </a:prstGeom>
          <a:solidFill>
            <a:srgbClr val="F1F7F3"/>
          </a:solidFill>
          <a:ln/>
        </p:spPr>
      </p:sp>
      <p:sp>
        <p:nvSpPr>
          <p:cNvPr id="128" name="Text 124"/>
          <p:cNvSpPr txBox="1"/>
          <p:nvPr/>
        </p:nvSpPr>
        <p:spPr>
          <a:xfrm>
            <a:off x="4526280" y="4242816"/>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DKT 0.754, SAKT 0.725, AKT 0.785; ours 0.763</a:t>
            </a:r>
            <a:endParaRPr lang="en-US" sz="950" dirty="0"/>
          </a:p>
        </p:txBody>
      </p:sp>
      <p:sp>
        <p:nvSpPr>
          <p:cNvPr id="129" name="Shape 125"/>
          <p:cNvSpPr/>
          <p:nvPr/>
        </p:nvSpPr>
        <p:spPr>
          <a:xfrm>
            <a:off x="8686800" y="4242816"/>
            <a:ext cx="1828800" cy="347472"/>
          </a:xfrm>
          <a:prstGeom prst="rect">
            <a:avLst/>
          </a:prstGeom>
          <a:solidFill>
            <a:srgbClr val="F1F7F3"/>
          </a:solidFill>
          <a:ln/>
        </p:spPr>
      </p:sp>
      <p:sp>
        <p:nvSpPr>
          <p:cNvPr id="130" name="Text 126"/>
          <p:cNvSpPr txBox="1"/>
          <p:nvPr/>
        </p:nvSpPr>
        <p:spPr>
          <a:xfrm>
            <a:off x="8732520" y="4242816"/>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Measured</a:t>
            </a:r>
            <a:endParaRPr lang="en-US" sz="950" dirty="0"/>
          </a:p>
        </p:txBody>
      </p:sp>
      <p:sp>
        <p:nvSpPr>
          <p:cNvPr id="131" name="Shape 127"/>
          <p:cNvSpPr/>
          <p:nvPr/>
        </p:nvSpPr>
        <p:spPr>
          <a:xfrm>
            <a:off x="10515600" y="4242816"/>
            <a:ext cx="1264615" cy="347472"/>
          </a:xfrm>
          <a:prstGeom prst="rect">
            <a:avLst/>
          </a:prstGeom>
          <a:solidFill>
            <a:srgbClr val="F1F7F3"/>
          </a:solidFill>
          <a:ln/>
        </p:spPr>
      </p:sp>
      <p:sp>
        <p:nvSpPr>
          <p:cNvPr id="132" name="Text 128"/>
          <p:cNvSpPr txBox="1"/>
          <p:nvPr/>
        </p:nvSpPr>
        <p:spPr>
          <a:xfrm>
            <a:off x="10561320" y="4242816"/>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1, 7</a:t>
            </a:r>
            <a:endParaRPr lang="en-US" sz="950" dirty="0"/>
          </a:p>
        </p:txBody>
      </p:sp>
      <p:sp>
        <p:nvSpPr>
          <p:cNvPr id="133" name="Shape 129"/>
          <p:cNvSpPr/>
          <p:nvPr/>
        </p:nvSpPr>
        <p:spPr>
          <a:xfrm>
            <a:off x="411480" y="4590288"/>
            <a:ext cx="11368735" cy="0"/>
          </a:xfrm>
          <a:prstGeom prst="line">
            <a:avLst/>
          </a:prstGeom>
          <a:noFill/>
          <a:ln w="6350">
            <a:solidFill>
              <a:srgbClr val="E3E8E4"/>
            </a:solidFill>
            <a:prstDash val="solid"/>
          </a:ln>
        </p:spPr>
      </p:sp>
      <p:sp>
        <p:nvSpPr>
          <p:cNvPr id="134" name="Shape 130"/>
          <p:cNvSpPr/>
          <p:nvPr/>
        </p:nvSpPr>
        <p:spPr>
          <a:xfrm>
            <a:off x="411480" y="4590288"/>
            <a:ext cx="320040" cy="347472"/>
          </a:xfrm>
          <a:prstGeom prst="rect">
            <a:avLst/>
          </a:prstGeom>
          <a:solidFill>
            <a:srgbClr val="FFFFFF"/>
          </a:solidFill>
          <a:ln/>
        </p:spPr>
      </p:sp>
      <p:sp>
        <p:nvSpPr>
          <p:cNvPr id="135" name="Text 131"/>
          <p:cNvSpPr txBox="1"/>
          <p:nvPr/>
        </p:nvSpPr>
        <p:spPr>
          <a:xfrm>
            <a:off x="457200" y="4590288"/>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10</a:t>
            </a:r>
            <a:endParaRPr lang="en-US" sz="950" dirty="0"/>
          </a:p>
        </p:txBody>
      </p:sp>
      <p:sp>
        <p:nvSpPr>
          <p:cNvPr id="136" name="Shape 132"/>
          <p:cNvSpPr/>
          <p:nvPr/>
        </p:nvSpPr>
        <p:spPr>
          <a:xfrm>
            <a:off x="731520" y="4590288"/>
            <a:ext cx="3749040" cy="347472"/>
          </a:xfrm>
          <a:prstGeom prst="rect">
            <a:avLst/>
          </a:prstGeom>
          <a:solidFill>
            <a:srgbClr val="FFFFFF"/>
          </a:solidFill>
          <a:ln/>
        </p:spPr>
      </p:sp>
      <p:sp>
        <p:nvSpPr>
          <p:cNvPr id="137" name="Text 133"/>
          <p:cNvSpPr txBox="1"/>
          <p:nvPr/>
        </p:nvSpPr>
        <p:spPr>
          <a:xfrm>
            <a:off x="777240" y="4590288"/>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DPDP Act 2023 s.9; DPDP Rules 2025</a:t>
            </a:r>
            <a:endParaRPr lang="en-US" sz="950" dirty="0"/>
          </a:p>
        </p:txBody>
      </p:sp>
      <p:sp>
        <p:nvSpPr>
          <p:cNvPr id="138" name="Shape 134"/>
          <p:cNvSpPr/>
          <p:nvPr/>
        </p:nvSpPr>
        <p:spPr>
          <a:xfrm>
            <a:off x="4480560" y="4590288"/>
            <a:ext cx="4206240" cy="347472"/>
          </a:xfrm>
          <a:prstGeom prst="rect">
            <a:avLst/>
          </a:prstGeom>
          <a:solidFill>
            <a:srgbClr val="FFFFFF"/>
          </a:solidFill>
          <a:ln/>
        </p:spPr>
      </p:sp>
      <p:sp>
        <p:nvSpPr>
          <p:cNvPr id="139" name="Text 135"/>
          <p:cNvSpPr txBox="1"/>
          <p:nvPr/>
        </p:nvSpPr>
        <p:spPr>
          <a:xfrm>
            <a:off x="4526280" y="4590288"/>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Parental consent, no tracking of children</a:t>
            </a:r>
            <a:endParaRPr lang="en-US" sz="950" dirty="0"/>
          </a:p>
        </p:txBody>
      </p:sp>
      <p:sp>
        <p:nvSpPr>
          <p:cNvPr id="140" name="Shape 136"/>
          <p:cNvSpPr/>
          <p:nvPr/>
        </p:nvSpPr>
        <p:spPr>
          <a:xfrm>
            <a:off x="8686800" y="4590288"/>
            <a:ext cx="1828800" cy="347472"/>
          </a:xfrm>
          <a:prstGeom prst="rect">
            <a:avLst/>
          </a:prstGeom>
          <a:solidFill>
            <a:srgbClr val="FFFFFF"/>
          </a:solidFill>
          <a:ln/>
        </p:spPr>
      </p:sp>
      <p:sp>
        <p:nvSpPr>
          <p:cNvPr id="141" name="Text 137"/>
          <p:cNvSpPr txBox="1"/>
          <p:nvPr/>
        </p:nvSpPr>
        <p:spPr>
          <a:xfrm>
            <a:off x="8732520" y="4590288"/>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(primary)</a:t>
            </a:r>
            <a:endParaRPr lang="en-US" sz="950" dirty="0"/>
          </a:p>
        </p:txBody>
      </p:sp>
      <p:sp>
        <p:nvSpPr>
          <p:cNvPr id="142" name="Shape 138"/>
          <p:cNvSpPr/>
          <p:nvPr/>
        </p:nvSpPr>
        <p:spPr>
          <a:xfrm>
            <a:off x="10515600" y="4590288"/>
            <a:ext cx="1264615" cy="347472"/>
          </a:xfrm>
          <a:prstGeom prst="rect">
            <a:avLst/>
          </a:prstGeom>
          <a:solidFill>
            <a:srgbClr val="FFFFFF"/>
          </a:solidFill>
          <a:ln/>
        </p:spPr>
      </p:sp>
      <p:sp>
        <p:nvSpPr>
          <p:cNvPr id="143" name="Text 139"/>
          <p:cNvSpPr txBox="1"/>
          <p:nvPr/>
        </p:nvSpPr>
        <p:spPr>
          <a:xfrm>
            <a:off x="10561320" y="4590288"/>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4, 8, 10</a:t>
            </a:r>
            <a:endParaRPr lang="en-US" sz="950" dirty="0"/>
          </a:p>
        </p:txBody>
      </p:sp>
      <p:sp>
        <p:nvSpPr>
          <p:cNvPr id="144" name="Shape 140"/>
          <p:cNvSpPr/>
          <p:nvPr/>
        </p:nvSpPr>
        <p:spPr>
          <a:xfrm>
            <a:off x="411480" y="4937760"/>
            <a:ext cx="11368735" cy="0"/>
          </a:xfrm>
          <a:prstGeom prst="line">
            <a:avLst/>
          </a:prstGeom>
          <a:noFill/>
          <a:ln w="6350">
            <a:solidFill>
              <a:srgbClr val="E3E8E4"/>
            </a:solidFill>
            <a:prstDash val="solid"/>
          </a:ln>
        </p:spPr>
      </p:sp>
      <p:sp>
        <p:nvSpPr>
          <p:cNvPr id="145" name="Shape 141"/>
          <p:cNvSpPr/>
          <p:nvPr/>
        </p:nvSpPr>
        <p:spPr>
          <a:xfrm>
            <a:off x="411480" y="4937760"/>
            <a:ext cx="320040" cy="347472"/>
          </a:xfrm>
          <a:prstGeom prst="rect">
            <a:avLst/>
          </a:prstGeom>
          <a:solidFill>
            <a:srgbClr val="F1F7F3"/>
          </a:solidFill>
          <a:ln/>
        </p:spPr>
      </p:sp>
      <p:sp>
        <p:nvSpPr>
          <p:cNvPr id="146" name="Text 142"/>
          <p:cNvSpPr txBox="1"/>
          <p:nvPr/>
        </p:nvSpPr>
        <p:spPr>
          <a:xfrm>
            <a:off x="457200" y="4937760"/>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11</a:t>
            </a:r>
            <a:endParaRPr lang="en-US" sz="950" dirty="0"/>
          </a:p>
        </p:txBody>
      </p:sp>
      <p:sp>
        <p:nvSpPr>
          <p:cNvPr id="147" name="Shape 143"/>
          <p:cNvSpPr/>
          <p:nvPr/>
        </p:nvSpPr>
        <p:spPr>
          <a:xfrm>
            <a:off x="731520" y="4937760"/>
            <a:ext cx="3749040" cy="347472"/>
          </a:xfrm>
          <a:prstGeom prst="rect">
            <a:avLst/>
          </a:prstGeom>
          <a:solidFill>
            <a:srgbClr val="F1F7F3"/>
          </a:solidFill>
          <a:ln/>
        </p:spPr>
      </p:sp>
      <p:sp>
        <p:nvSpPr>
          <p:cNvPr id="148" name="Text 144"/>
          <p:cNvSpPr txBox="1"/>
          <p:nvPr/>
        </p:nvSpPr>
        <p:spPr>
          <a:xfrm>
            <a:off x="777240" y="4937760"/>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MoE Guidelines for Coaching Centres 2024; Rajasthan Act 2025</a:t>
            </a:r>
            <a:endParaRPr lang="en-US" sz="950" dirty="0"/>
          </a:p>
        </p:txBody>
      </p:sp>
      <p:sp>
        <p:nvSpPr>
          <p:cNvPr id="149" name="Shape 145"/>
          <p:cNvSpPr/>
          <p:nvPr/>
        </p:nvSpPr>
        <p:spPr>
          <a:xfrm>
            <a:off x="4480560" y="4937760"/>
            <a:ext cx="4206240" cy="347472"/>
          </a:xfrm>
          <a:prstGeom prst="rect">
            <a:avLst/>
          </a:prstGeom>
          <a:solidFill>
            <a:srgbClr val="F1F7F3"/>
          </a:solidFill>
          <a:ln/>
        </p:spPr>
      </p:sp>
      <p:sp>
        <p:nvSpPr>
          <p:cNvPr id="150" name="Text 146"/>
          <p:cNvSpPr txBox="1"/>
          <p:nvPr/>
        </p:nvSpPr>
        <p:spPr>
          <a:xfrm>
            <a:off x="4526280" y="4937760"/>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cl. 10.2(xi), 12(vii), 10.1, 8(iv); s.6(2)(d)</a:t>
            </a:r>
            <a:endParaRPr lang="en-US" sz="950" dirty="0"/>
          </a:p>
        </p:txBody>
      </p:sp>
      <p:sp>
        <p:nvSpPr>
          <p:cNvPr id="151" name="Shape 147"/>
          <p:cNvSpPr/>
          <p:nvPr/>
        </p:nvSpPr>
        <p:spPr>
          <a:xfrm>
            <a:off x="8686800" y="4937760"/>
            <a:ext cx="1828800" cy="347472"/>
          </a:xfrm>
          <a:prstGeom prst="rect">
            <a:avLst/>
          </a:prstGeom>
          <a:solidFill>
            <a:srgbClr val="F1F7F3"/>
          </a:solidFill>
          <a:ln/>
        </p:spPr>
      </p:sp>
      <p:sp>
        <p:nvSpPr>
          <p:cNvPr id="152" name="Text 148"/>
          <p:cNvSpPr txBox="1"/>
          <p:nvPr/>
        </p:nvSpPr>
        <p:spPr>
          <a:xfrm>
            <a:off x="8732520" y="4937760"/>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(primary)</a:t>
            </a:r>
            <a:endParaRPr lang="en-US" sz="950" dirty="0"/>
          </a:p>
        </p:txBody>
      </p:sp>
      <p:sp>
        <p:nvSpPr>
          <p:cNvPr id="153" name="Shape 149"/>
          <p:cNvSpPr/>
          <p:nvPr/>
        </p:nvSpPr>
        <p:spPr>
          <a:xfrm>
            <a:off x="10515600" y="4937760"/>
            <a:ext cx="1264615" cy="347472"/>
          </a:xfrm>
          <a:prstGeom prst="rect">
            <a:avLst/>
          </a:prstGeom>
          <a:solidFill>
            <a:srgbClr val="F1F7F3"/>
          </a:solidFill>
          <a:ln/>
        </p:spPr>
      </p:sp>
      <p:sp>
        <p:nvSpPr>
          <p:cNvPr id="154" name="Text 150"/>
          <p:cNvSpPr txBox="1"/>
          <p:nvPr/>
        </p:nvSpPr>
        <p:spPr>
          <a:xfrm>
            <a:off x="10561320" y="4937760"/>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 A4</a:t>
            </a:r>
            <a:endParaRPr lang="en-US" sz="950" dirty="0"/>
          </a:p>
        </p:txBody>
      </p:sp>
      <p:sp>
        <p:nvSpPr>
          <p:cNvPr id="155" name="Shape 151"/>
          <p:cNvSpPr/>
          <p:nvPr/>
        </p:nvSpPr>
        <p:spPr>
          <a:xfrm>
            <a:off x="411480" y="5285232"/>
            <a:ext cx="11368735" cy="0"/>
          </a:xfrm>
          <a:prstGeom prst="line">
            <a:avLst/>
          </a:prstGeom>
          <a:noFill/>
          <a:ln w="6350">
            <a:solidFill>
              <a:srgbClr val="E3E8E4"/>
            </a:solidFill>
            <a:prstDash val="solid"/>
          </a:ln>
        </p:spPr>
      </p:sp>
      <p:sp>
        <p:nvSpPr>
          <p:cNvPr id="156" name="Shape 152"/>
          <p:cNvSpPr/>
          <p:nvPr/>
        </p:nvSpPr>
        <p:spPr>
          <a:xfrm>
            <a:off x="411480" y="5285232"/>
            <a:ext cx="320040" cy="347472"/>
          </a:xfrm>
          <a:prstGeom prst="rect">
            <a:avLst/>
          </a:prstGeom>
          <a:solidFill>
            <a:srgbClr val="FFFFFF"/>
          </a:solidFill>
          <a:ln/>
        </p:spPr>
      </p:sp>
      <p:sp>
        <p:nvSpPr>
          <p:cNvPr id="157" name="Text 153"/>
          <p:cNvSpPr txBox="1"/>
          <p:nvPr/>
        </p:nvSpPr>
        <p:spPr>
          <a:xfrm>
            <a:off x="457200" y="5285232"/>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12</a:t>
            </a:r>
            <a:endParaRPr lang="en-US" sz="950" dirty="0"/>
          </a:p>
        </p:txBody>
      </p:sp>
      <p:sp>
        <p:nvSpPr>
          <p:cNvPr id="158" name="Shape 154"/>
          <p:cNvSpPr/>
          <p:nvPr/>
        </p:nvSpPr>
        <p:spPr>
          <a:xfrm>
            <a:off x="731520" y="5285232"/>
            <a:ext cx="3749040" cy="347472"/>
          </a:xfrm>
          <a:prstGeom prst="rect">
            <a:avLst/>
          </a:prstGeom>
          <a:solidFill>
            <a:srgbClr val="FFFFFF"/>
          </a:solidFill>
          <a:ln/>
        </p:spPr>
      </p:sp>
      <p:sp>
        <p:nvSpPr>
          <p:cNvPr id="159" name="Text 155"/>
          <p:cNvSpPr txBox="1"/>
          <p:nvPr/>
        </p:nvSpPr>
        <p:spPr>
          <a:xfrm>
            <a:off x="777240" y="5285232"/>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WhatsApp and LLM price pages; Patna pay data (research R5, R6)</a:t>
            </a:r>
            <a:endParaRPr lang="en-US" sz="950" dirty="0"/>
          </a:p>
        </p:txBody>
      </p:sp>
      <p:sp>
        <p:nvSpPr>
          <p:cNvPr id="160" name="Shape 156"/>
          <p:cNvSpPr/>
          <p:nvPr/>
        </p:nvSpPr>
        <p:spPr>
          <a:xfrm>
            <a:off x="4480560" y="5285232"/>
            <a:ext cx="4206240" cy="347472"/>
          </a:xfrm>
          <a:prstGeom prst="rect">
            <a:avLst/>
          </a:prstGeom>
          <a:solidFill>
            <a:srgbClr val="FFFFFF"/>
          </a:solidFill>
          <a:ln/>
        </p:spPr>
      </p:sp>
      <p:sp>
        <p:nvSpPr>
          <p:cNvPr id="161" name="Text 157"/>
          <p:cNvSpPr txBox="1"/>
          <p:nvPr/>
        </p:nvSpPr>
        <p:spPr>
          <a:xfrm>
            <a:off x="4526280" y="5285232"/>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Cost per student, staff hour ₹100</a:t>
            </a:r>
            <a:endParaRPr lang="en-US" sz="950" dirty="0"/>
          </a:p>
        </p:txBody>
      </p:sp>
      <p:sp>
        <p:nvSpPr>
          <p:cNvPr id="162" name="Shape 158"/>
          <p:cNvSpPr/>
          <p:nvPr/>
        </p:nvSpPr>
        <p:spPr>
          <a:xfrm>
            <a:off x="8686800" y="5285232"/>
            <a:ext cx="1828800" cy="347472"/>
          </a:xfrm>
          <a:prstGeom prst="rect">
            <a:avLst/>
          </a:prstGeom>
          <a:solidFill>
            <a:srgbClr val="FFFFFF"/>
          </a:solidFill>
          <a:ln/>
        </p:spPr>
      </p:sp>
      <p:sp>
        <p:nvSpPr>
          <p:cNvPr id="163" name="Text 159"/>
          <p:cNvSpPr txBox="1"/>
          <p:nvPr/>
        </p:nvSpPr>
        <p:spPr>
          <a:xfrm>
            <a:off x="8732520" y="5285232"/>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Medium to high</a:t>
            </a:r>
            <a:endParaRPr lang="en-US" sz="950" dirty="0"/>
          </a:p>
        </p:txBody>
      </p:sp>
      <p:sp>
        <p:nvSpPr>
          <p:cNvPr id="164" name="Shape 160"/>
          <p:cNvSpPr/>
          <p:nvPr/>
        </p:nvSpPr>
        <p:spPr>
          <a:xfrm>
            <a:off x="10515600" y="5285232"/>
            <a:ext cx="1264615" cy="347472"/>
          </a:xfrm>
          <a:prstGeom prst="rect">
            <a:avLst/>
          </a:prstGeom>
          <a:solidFill>
            <a:srgbClr val="FFFFFF"/>
          </a:solidFill>
          <a:ln/>
        </p:spPr>
      </p:sp>
      <p:sp>
        <p:nvSpPr>
          <p:cNvPr id="165" name="Text 161"/>
          <p:cNvSpPr txBox="1"/>
          <p:nvPr/>
        </p:nvSpPr>
        <p:spPr>
          <a:xfrm>
            <a:off x="10561320" y="5285232"/>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5, 11</a:t>
            </a:r>
            <a:endParaRPr lang="en-US" sz="950" dirty="0"/>
          </a:p>
        </p:txBody>
      </p:sp>
      <p:sp>
        <p:nvSpPr>
          <p:cNvPr id="166" name="Shape 162"/>
          <p:cNvSpPr/>
          <p:nvPr/>
        </p:nvSpPr>
        <p:spPr>
          <a:xfrm>
            <a:off x="411480" y="5632704"/>
            <a:ext cx="11368735" cy="0"/>
          </a:xfrm>
          <a:prstGeom prst="line">
            <a:avLst/>
          </a:prstGeom>
          <a:noFill/>
          <a:ln w="6350">
            <a:solidFill>
              <a:srgbClr val="E3E8E4"/>
            </a:solidFill>
            <a:prstDash val="solid"/>
          </a:ln>
        </p:spPr>
      </p:sp>
      <p:sp>
        <p:nvSpPr>
          <p:cNvPr id="167" name="Shape 163"/>
          <p:cNvSpPr/>
          <p:nvPr/>
        </p:nvSpPr>
        <p:spPr>
          <a:xfrm>
            <a:off x="411480" y="5632704"/>
            <a:ext cx="320040" cy="347472"/>
          </a:xfrm>
          <a:prstGeom prst="rect">
            <a:avLst/>
          </a:prstGeom>
          <a:solidFill>
            <a:srgbClr val="F1F7F3"/>
          </a:solidFill>
          <a:ln/>
        </p:spPr>
      </p:sp>
      <p:sp>
        <p:nvSpPr>
          <p:cNvPr id="168" name="Text 164"/>
          <p:cNvSpPr txBox="1"/>
          <p:nvPr/>
        </p:nvSpPr>
        <p:spPr>
          <a:xfrm>
            <a:off x="457200" y="5632704"/>
            <a:ext cx="228600" cy="34747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13</a:t>
            </a:r>
            <a:endParaRPr lang="en-US" sz="950" dirty="0"/>
          </a:p>
        </p:txBody>
      </p:sp>
      <p:sp>
        <p:nvSpPr>
          <p:cNvPr id="169" name="Shape 165"/>
          <p:cNvSpPr/>
          <p:nvPr/>
        </p:nvSpPr>
        <p:spPr>
          <a:xfrm>
            <a:off x="731520" y="5632704"/>
            <a:ext cx="3749040" cy="347472"/>
          </a:xfrm>
          <a:prstGeom prst="rect">
            <a:avLst/>
          </a:prstGeom>
          <a:solidFill>
            <a:srgbClr val="F1F7F3"/>
          </a:solidFill>
          <a:ln/>
        </p:spPr>
      </p:sp>
      <p:sp>
        <p:nvSpPr>
          <p:cNvPr id="170" name="Text 166"/>
          <p:cNvSpPr txBox="1"/>
          <p:nvPr/>
        </p:nvSpPr>
        <p:spPr>
          <a:xfrm>
            <a:off x="777240" y="5632704"/>
            <a:ext cx="36576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Financial model v1.1 (CFO audit, 22 Oct 2026)</a:t>
            </a:r>
            <a:endParaRPr lang="en-US" sz="950" dirty="0"/>
          </a:p>
        </p:txBody>
      </p:sp>
      <p:sp>
        <p:nvSpPr>
          <p:cNvPr id="171" name="Shape 167"/>
          <p:cNvSpPr/>
          <p:nvPr/>
        </p:nvSpPr>
        <p:spPr>
          <a:xfrm>
            <a:off x="4480560" y="5632704"/>
            <a:ext cx="4206240" cy="347472"/>
          </a:xfrm>
          <a:prstGeom prst="rect">
            <a:avLst/>
          </a:prstGeom>
          <a:solidFill>
            <a:srgbClr val="F1F7F3"/>
          </a:solidFill>
          <a:ln/>
        </p:spPr>
      </p:sp>
      <p:sp>
        <p:nvSpPr>
          <p:cNvPr id="172" name="Text 168"/>
          <p:cNvSpPr txBox="1"/>
          <p:nvPr/>
        </p:nvSpPr>
        <p:spPr>
          <a:xfrm>
            <a:off x="4526280" y="5632704"/>
            <a:ext cx="411480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Return, LTV/CAC, payback, margin, 3-year plan, scenarios</a:t>
            </a:r>
            <a:endParaRPr lang="en-US" sz="950" dirty="0"/>
          </a:p>
        </p:txBody>
      </p:sp>
      <p:sp>
        <p:nvSpPr>
          <p:cNvPr id="173" name="Shape 169"/>
          <p:cNvSpPr/>
          <p:nvPr/>
        </p:nvSpPr>
        <p:spPr>
          <a:xfrm>
            <a:off x="8686800" y="5632704"/>
            <a:ext cx="1828800" cy="347472"/>
          </a:xfrm>
          <a:prstGeom prst="rect">
            <a:avLst/>
          </a:prstGeom>
          <a:solidFill>
            <a:srgbClr val="F1F7F3"/>
          </a:solidFill>
          <a:ln/>
        </p:spPr>
      </p:sp>
      <p:sp>
        <p:nvSpPr>
          <p:cNvPr id="174" name="Text 170"/>
          <p:cNvSpPr txBox="1"/>
          <p:nvPr/>
        </p:nvSpPr>
        <p:spPr>
          <a:xfrm>
            <a:off x="8732520" y="5632704"/>
            <a:ext cx="1737360" cy="34747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Model output</a:t>
            </a:r>
            <a:endParaRPr lang="en-US" sz="950" dirty="0"/>
          </a:p>
        </p:txBody>
      </p:sp>
      <p:sp>
        <p:nvSpPr>
          <p:cNvPr id="175" name="Shape 171"/>
          <p:cNvSpPr/>
          <p:nvPr/>
        </p:nvSpPr>
        <p:spPr>
          <a:xfrm>
            <a:off x="10515600" y="5632704"/>
            <a:ext cx="1264615" cy="347472"/>
          </a:xfrm>
          <a:prstGeom prst="rect">
            <a:avLst/>
          </a:prstGeom>
          <a:solidFill>
            <a:srgbClr val="F1F7F3"/>
          </a:solidFill>
          <a:ln/>
        </p:spPr>
      </p:sp>
      <p:sp>
        <p:nvSpPr>
          <p:cNvPr id="176" name="Text 172"/>
          <p:cNvSpPr txBox="1"/>
          <p:nvPr/>
        </p:nvSpPr>
        <p:spPr>
          <a:xfrm>
            <a:off x="10561320" y="5632704"/>
            <a:ext cx="1173175" cy="34747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 4, 11–13, A1–A2</a:t>
            </a:r>
            <a:endParaRPr lang="en-US" sz="950" dirty="0"/>
          </a:p>
        </p:txBody>
      </p:sp>
      <p:sp>
        <p:nvSpPr>
          <p:cNvPr id="177" name="Shape 173"/>
          <p:cNvSpPr/>
          <p:nvPr/>
        </p:nvSpPr>
        <p:spPr>
          <a:xfrm>
            <a:off x="411480" y="5980176"/>
            <a:ext cx="11368735" cy="0"/>
          </a:xfrm>
          <a:prstGeom prst="line">
            <a:avLst/>
          </a:prstGeom>
          <a:noFill/>
          <a:ln w="6350">
            <a:solidFill>
              <a:srgbClr val="E3E8E4"/>
            </a:solidFill>
            <a:prstDash val="solid"/>
          </a:ln>
        </p:spPr>
      </p:sp>
      <p:sp>
        <p:nvSpPr>
          <p:cNvPr id="178" name="Text 174"/>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Full citations with URLs and licences: technical/docs/CITATIONS.md and financial/research. Every model number traces to the financial workbook or a metrics.json file.</a:t>
            </a:r>
            <a:endParaRPr lang="en-US" sz="850" dirty="0"/>
          </a:p>
        </p:txBody>
      </p:sp>
      <p:pic>
        <p:nvPicPr>
          <p:cNvPr id="179"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180"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181"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182"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183"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184"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185"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D4A24C"/>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APPENDIX</a:t>
            </a:r>
            <a:endParaRPr lang="en-US" sz="900" dirty="0"/>
          </a:p>
        </p:txBody>
      </p:sp>
      <p:sp>
        <p:nvSpPr>
          <p:cNvPr id="19"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APPENDIX 9: WHERE WE SELL FIRST</a:t>
            </a:r>
            <a:endParaRPr lang="en-US" sz="2200" dirty="0"/>
          </a:p>
        </p:txBody>
      </p:sp>
      <p:sp>
        <p:nvSpPr>
          <p:cNvPr id="20" name="Text 18"/>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Where the first hundred institutes are, and how we reach them</a:t>
            </a:r>
            <a:endParaRPr lang="en-US" sz="1400" dirty="0"/>
          </a:p>
        </p:txBody>
      </p:sp>
      <p:sp>
        <p:nvSpPr>
          <p:cNvPr id="21" name="Shape 19"/>
          <p:cNvSpPr/>
          <p:nvPr/>
        </p:nvSpPr>
        <p:spPr>
          <a:xfrm>
            <a:off x="411480" y="1042416"/>
            <a:ext cx="11368735" cy="22860"/>
          </a:xfrm>
          <a:prstGeom prst="rect">
            <a:avLst/>
          </a:prstGeom>
          <a:solidFill>
            <a:srgbClr val="1F4A82"/>
          </a:solidFill>
          <a:ln/>
        </p:spPr>
      </p:sp>
      <p:sp>
        <p:nvSpPr>
          <p:cNvPr id="23" name="Shape 20"/>
          <p:cNvSpPr/>
          <p:nvPr/>
        </p:nvSpPr>
        <p:spPr>
          <a:xfrm>
            <a:off x="411480" y="1188720"/>
            <a:ext cx="5852160" cy="347472"/>
          </a:xfrm>
          <a:prstGeom prst="roundRect">
            <a:avLst>
              <a:gd name="adj" fmla="val 50000"/>
            </a:avLst>
          </a:prstGeom>
          <a:solidFill>
            <a:srgbClr val="1F4A82"/>
          </a:solidFill>
          <a:ln/>
        </p:spPr>
      </p:sp>
      <p:sp>
        <p:nvSpPr>
          <p:cNvPr id="24" name="Text 21"/>
          <p:cNvSpPr txBox="1"/>
          <p:nvPr/>
        </p:nvSpPr>
        <p:spPr>
          <a:xfrm>
            <a:off x="411480" y="1188720"/>
            <a:ext cx="585216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Where institutes are (state shade = addressable, Base)</a:t>
            </a:r>
            <a:endParaRPr lang="en-US" sz="1400" dirty="0"/>
          </a:p>
        </p:txBody>
      </p:sp>
      <p:pic>
        <p:nvPicPr>
          <p:cNvPr id="25" name="Image 0" descr="Map of India: target states shaded by addressable institutes, cities sized by coaching density, coloured by tier">    </p:cNvPr>
          <p:cNvPicPr>
            <a:picLocks noChangeAspect="1"/>
          </p:cNvPicPr>
          <p:nvPr/>
        </p:nvPicPr>
        <p:blipFill>
          <a:blip r:embed="rId1"/>
          <a:stretch>
            <a:fillRect/>
          </a:stretch>
        </p:blipFill>
        <p:spPr>
          <a:xfrm>
            <a:off x="411480" y="1627632"/>
            <a:ext cx="4160520" cy="4709160"/>
          </a:xfrm>
          <a:prstGeom prst="rect">
            <a:avLst/>
          </a:prstGeom>
        </p:spPr>
      </p:pic>
      <p:sp>
        <p:nvSpPr>
          <p:cNvPr id="26" name="Shape 22"/>
          <p:cNvSpPr/>
          <p:nvPr/>
        </p:nvSpPr>
        <p:spPr>
          <a:xfrm>
            <a:off x="4681728" y="1810512"/>
            <a:ext cx="182880" cy="182880"/>
          </a:xfrm>
          <a:prstGeom prst="ellipse">
            <a:avLst/>
          </a:prstGeom>
          <a:solidFill>
            <a:srgbClr val="8A94A6"/>
          </a:solidFill>
          <a:ln w="12700">
            <a:solidFill>
              <a:srgbClr val="FFFFFF"/>
            </a:solidFill>
            <a:prstDash val="solid"/>
          </a:ln>
        </p:spPr>
      </p:sp>
      <p:sp>
        <p:nvSpPr>
          <p:cNvPr id="27" name="Text 23"/>
          <p:cNvSpPr txBox="1"/>
          <p:nvPr/>
        </p:nvSpPr>
        <p:spPr>
          <a:xfrm>
            <a:off x="4919472" y="1737360"/>
            <a:ext cx="1463040" cy="365760"/>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Tier 1</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chains dominate; skip</a:t>
            </a:r>
            <a:endParaRPr lang="en-US" sz="1400" dirty="0"/>
          </a:p>
        </p:txBody>
      </p:sp>
      <p:sp>
        <p:nvSpPr>
          <p:cNvPr id="28" name="Shape 24"/>
          <p:cNvSpPr/>
          <p:nvPr/>
        </p:nvSpPr>
        <p:spPr>
          <a:xfrm>
            <a:off x="4681728" y="2267712"/>
            <a:ext cx="182880" cy="182880"/>
          </a:xfrm>
          <a:prstGeom prst="ellipse">
            <a:avLst/>
          </a:prstGeom>
          <a:solidFill>
            <a:srgbClr val="D4A24C"/>
          </a:solidFill>
          <a:ln w="12700">
            <a:solidFill>
              <a:srgbClr val="FFFFFF"/>
            </a:solidFill>
            <a:prstDash val="solid"/>
          </a:ln>
        </p:spPr>
      </p:sp>
      <p:sp>
        <p:nvSpPr>
          <p:cNvPr id="29" name="Text 25"/>
          <p:cNvSpPr txBox="1"/>
          <p:nvPr/>
        </p:nvSpPr>
        <p:spPr>
          <a:xfrm>
            <a:off x="4919472" y="2194560"/>
            <a:ext cx="1463040" cy="365760"/>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Tier 2</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coaching hubs; start here</a:t>
            </a:r>
            <a:endParaRPr lang="en-US" sz="1400" dirty="0"/>
          </a:p>
        </p:txBody>
      </p:sp>
      <p:sp>
        <p:nvSpPr>
          <p:cNvPr id="30" name="Shape 26"/>
          <p:cNvSpPr/>
          <p:nvPr/>
        </p:nvSpPr>
        <p:spPr>
          <a:xfrm>
            <a:off x="4681728" y="2724912"/>
            <a:ext cx="182880" cy="182880"/>
          </a:xfrm>
          <a:prstGeom prst="ellipse">
            <a:avLst/>
          </a:prstGeom>
          <a:solidFill>
            <a:srgbClr val="E8743B"/>
          </a:solidFill>
          <a:ln w="12700">
            <a:solidFill>
              <a:srgbClr val="FFFFFF"/>
            </a:solidFill>
            <a:prstDash val="solid"/>
          </a:ln>
        </p:spPr>
      </p:sp>
      <p:sp>
        <p:nvSpPr>
          <p:cNvPr id="31" name="Text 27"/>
          <p:cNvSpPr txBox="1"/>
          <p:nvPr/>
        </p:nvSpPr>
        <p:spPr>
          <a:xfrm>
            <a:off x="4919472" y="2651760"/>
            <a:ext cx="1463040" cy="365760"/>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Tier 3</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independents; demos</a:t>
            </a:r>
            <a:endParaRPr lang="en-US" sz="1400" dirty="0"/>
          </a:p>
        </p:txBody>
      </p:sp>
      <p:sp>
        <p:nvSpPr>
          <p:cNvPr id="32" name="Text 28"/>
          <p:cNvSpPr txBox="1"/>
          <p:nvPr/>
        </p:nvSpPr>
        <p:spPr>
          <a:xfrm>
            <a:off x="4681728" y="3200400"/>
            <a:ext cx="1737360" cy="201168"/>
          </a:xfrm>
          <a:prstGeom prst="rect">
            <a:avLst/>
          </a:prstGeom>
          <a:noFill/>
          <a:ln/>
        </p:spPr>
        <p:txBody>
          <a:bodyPr wrap="square" lIns="0" tIns="0" rIns="0" bIns="0" rtlCol="0" anchor="t"/>
          <a:lstStyle/>
          <a:p>
            <a:pPr algn="l" indent="0" marL="0">
              <a:buNone/>
            </a:pPr>
            <a:r>
              <a:rPr lang="en-US" sz="900" b="1" dirty="0">
                <a:solidFill>
                  <a:srgbClr val="17325C"/>
                </a:solidFill>
                <a:latin typeface="Calibri" pitchFamily="34" charset="0"/>
                <a:ea typeface="Calibri" pitchFamily="34" charset="-122"/>
                <a:cs typeface="Calibri" pitchFamily="34" charset="-120"/>
              </a:rPr>
              <a:t>Bubble size = coaching density</a:t>
            </a:r>
            <a:endParaRPr lang="en-US" sz="900" dirty="0"/>
          </a:p>
        </p:txBody>
      </p:sp>
      <p:sp>
        <p:nvSpPr>
          <p:cNvPr id="33" name="Shape 29"/>
          <p:cNvSpPr/>
          <p:nvPr/>
        </p:nvSpPr>
        <p:spPr>
          <a:xfrm>
            <a:off x="4681728" y="3493008"/>
            <a:ext cx="274320" cy="274320"/>
          </a:xfrm>
          <a:prstGeom prst="ellipse">
            <a:avLst/>
          </a:prstGeom>
          <a:solidFill>
            <a:srgbClr val="D4A24C"/>
          </a:solidFill>
          <a:ln w="12700">
            <a:solidFill>
              <a:srgbClr val="FFFFFF"/>
            </a:solidFill>
            <a:prstDash val="solid"/>
          </a:ln>
        </p:spPr>
      </p:sp>
      <p:sp>
        <p:nvSpPr>
          <p:cNvPr id="34" name="Text 30"/>
          <p:cNvSpPr txBox="1"/>
          <p:nvPr/>
        </p:nvSpPr>
        <p:spPr>
          <a:xfrm>
            <a:off x="5074920" y="3456432"/>
            <a:ext cx="109728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High</a:t>
            </a:r>
            <a:endParaRPr lang="en-US" sz="900" dirty="0"/>
          </a:p>
        </p:txBody>
      </p:sp>
      <p:sp>
        <p:nvSpPr>
          <p:cNvPr id="35" name="Shape 31"/>
          <p:cNvSpPr/>
          <p:nvPr/>
        </p:nvSpPr>
        <p:spPr>
          <a:xfrm>
            <a:off x="4727448" y="3867912"/>
            <a:ext cx="182880" cy="182880"/>
          </a:xfrm>
          <a:prstGeom prst="ellipse">
            <a:avLst/>
          </a:prstGeom>
          <a:solidFill>
            <a:srgbClr val="D4A24C"/>
          </a:solidFill>
          <a:ln w="12700">
            <a:solidFill>
              <a:srgbClr val="FFFFFF"/>
            </a:solidFill>
            <a:prstDash val="solid"/>
          </a:ln>
        </p:spPr>
      </p:sp>
      <p:sp>
        <p:nvSpPr>
          <p:cNvPr id="36" name="Text 32"/>
          <p:cNvSpPr txBox="1"/>
          <p:nvPr/>
        </p:nvSpPr>
        <p:spPr>
          <a:xfrm>
            <a:off x="5074920" y="3785616"/>
            <a:ext cx="109728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Medium</a:t>
            </a:r>
            <a:endParaRPr lang="en-US" sz="900" dirty="0"/>
          </a:p>
        </p:txBody>
      </p:sp>
      <p:sp>
        <p:nvSpPr>
          <p:cNvPr id="37" name="Shape 33"/>
          <p:cNvSpPr/>
          <p:nvPr/>
        </p:nvSpPr>
        <p:spPr>
          <a:xfrm>
            <a:off x="4764024" y="4233672"/>
            <a:ext cx="109728" cy="109728"/>
          </a:xfrm>
          <a:prstGeom prst="ellipse">
            <a:avLst/>
          </a:prstGeom>
          <a:solidFill>
            <a:srgbClr val="D4A24C"/>
          </a:solidFill>
          <a:ln w="12700">
            <a:solidFill>
              <a:srgbClr val="FFFFFF"/>
            </a:solidFill>
            <a:prstDash val="solid"/>
          </a:ln>
        </p:spPr>
      </p:sp>
      <p:sp>
        <p:nvSpPr>
          <p:cNvPr id="38" name="Text 34"/>
          <p:cNvSpPr txBox="1"/>
          <p:nvPr/>
        </p:nvSpPr>
        <p:spPr>
          <a:xfrm>
            <a:off x="5074920" y="4114800"/>
            <a:ext cx="1097280" cy="27432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Low</a:t>
            </a:r>
            <a:endParaRPr lang="en-US" sz="900" dirty="0"/>
          </a:p>
        </p:txBody>
      </p:sp>
      <p:sp>
        <p:nvSpPr>
          <p:cNvPr id="39" name="Text 35"/>
          <p:cNvSpPr txBox="1"/>
          <p:nvPr/>
        </p:nvSpPr>
        <p:spPr>
          <a:xfrm>
            <a:off x="4681728" y="4526280"/>
            <a:ext cx="1691640" cy="502920"/>
          </a:xfrm>
          <a:prstGeom prst="rect">
            <a:avLst/>
          </a:prstGeom>
          <a:noFill/>
          <a:ln/>
        </p:spPr>
        <p:txBody>
          <a:bodyPr wrap="square" lIns="0" tIns="0" rIns="0" bIns="0" rtlCol="0" anchor="t"/>
          <a:lstStyle/>
          <a:p>
            <a:pPr algn="l" indent="0" marL="0">
              <a:buNone/>
            </a:pPr>
            <a:r>
              <a:rPr lang="en-US" sz="800" i="1" dirty="0">
                <a:solidFill>
                  <a:srgbClr val="5B6573"/>
                </a:solidFill>
                <a:latin typeface="Calibri" pitchFamily="34" charset="0"/>
                <a:ea typeface="Calibri" pitchFamily="34" charset="-122"/>
                <a:cs typeface="Calibri" pitchFamily="34" charset="-120"/>
              </a:rPr>
              <a:t>Density is our qualitative estimate for planning, not a count.</a:t>
            </a:r>
            <a:endParaRPr lang="en-US" sz="800" dirty="0"/>
          </a:p>
        </p:txBody>
      </p:sp>
      <p:sp>
        <p:nvSpPr>
          <p:cNvPr id="40" name="Text 36"/>
          <p:cNvSpPr txBox="1"/>
          <p:nvPr/>
        </p:nvSpPr>
        <p:spPr>
          <a:xfrm>
            <a:off x="5029200" y="5084064"/>
            <a:ext cx="1371600" cy="384048"/>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Patna first</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in-person access</a:t>
            </a:r>
            <a:endParaRPr lang="en-US" sz="1400" dirty="0"/>
          </a:p>
        </p:txBody>
      </p:sp>
      <p:sp>
        <p:nvSpPr>
          <p:cNvPr id="41" name="Text 37"/>
          <p:cNvSpPr txBox="1"/>
          <p:nvPr/>
        </p:nvSpPr>
        <p:spPr>
          <a:xfrm>
            <a:off x="5029200" y="5614416"/>
            <a:ext cx="1371600" cy="384048"/>
          </a:xfrm>
          <a:prstGeom prst="rect">
            <a:avLst/>
          </a:prstGeom>
          <a:noFill/>
          <a:ln/>
        </p:spPr>
        <p:txBody>
          <a:bodyPr wrap="square" lIns="0" tIns="0" rIns="0" bIns="0" rtlCol="0" anchor="ctr"/>
          <a:lstStyle/>
          <a:p>
            <a:pPr algn="l" indent="0" marL="0">
              <a:buNone/>
            </a:pPr>
            <a:r>
              <a:rPr lang="en-US" sz="1050" b="1" dirty="0">
                <a:solidFill>
                  <a:srgbClr val="17325C"/>
                </a:solidFill>
                <a:latin typeface="Calibri" pitchFamily="34" charset="0"/>
                <a:ea typeface="Calibri" pitchFamily="34" charset="-122"/>
                <a:cs typeface="Calibri" pitchFamily="34" charset="-120"/>
              </a:rPr>
              <a:t>Kota</a:t>
            </a:r>
            <a:endParaRPr lang="en-US" sz="1400" dirty="0"/>
          </a:p>
          <a:p>
            <a:pPr algn="l" indent="0" marL="0">
              <a:buNone/>
            </a:pPr>
            <a:r>
              <a:rPr lang="en-US" sz="850" dirty="0">
                <a:solidFill>
                  <a:srgbClr val="5B6573"/>
                </a:solidFill>
                <a:latin typeface="Calibri" pitchFamily="34" charset="0"/>
                <a:ea typeface="Calibri" pitchFamily="34" charset="-122"/>
                <a:cs typeface="Calibri" pitchFamily="34" charset="-120"/>
              </a:rPr>
              <a:t>dense, chain-held</a:t>
            </a:r>
            <a:endParaRPr lang="en-US" sz="1400" dirty="0"/>
          </a:p>
        </p:txBody>
      </p:sp>
      <p:sp>
        <p:nvSpPr>
          <p:cNvPr id="42" name="Shape 38"/>
          <p:cNvSpPr/>
          <p:nvPr/>
        </p:nvSpPr>
        <p:spPr>
          <a:xfrm>
            <a:off x="6492240" y="1188720"/>
            <a:ext cx="5285232" cy="347472"/>
          </a:xfrm>
          <a:prstGeom prst="roundRect">
            <a:avLst>
              <a:gd name="adj" fmla="val 50000"/>
            </a:avLst>
          </a:prstGeom>
          <a:solidFill>
            <a:srgbClr val="1F4A82"/>
          </a:solidFill>
          <a:ln/>
        </p:spPr>
      </p:sp>
      <p:sp>
        <p:nvSpPr>
          <p:cNvPr id="43" name="Text 39"/>
          <p:cNvSpPr txBox="1"/>
          <p:nvPr/>
        </p:nvSpPr>
        <p:spPr>
          <a:xfrm>
            <a:off x="6492240" y="1188720"/>
            <a:ext cx="528523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How we start selling</a:t>
            </a:r>
            <a:endParaRPr lang="en-US" sz="1400" dirty="0"/>
          </a:p>
        </p:txBody>
      </p:sp>
      <p:sp>
        <p:nvSpPr>
          <p:cNvPr id="44" name="Shape 40"/>
          <p:cNvSpPr/>
          <p:nvPr/>
        </p:nvSpPr>
        <p:spPr>
          <a:xfrm>
            <a:off x="6492240" y="1755648"/>
            <a:ext cx="420624" cy="420624"/>
          </a:xfrm>
          <a:prstGeom prst="ellipse">
            <a:avLst/>
          </a:prstGeom>
          <a:solidFill>
            <a:srgbClr val="D4A24C"/>
          </a:solidFill>
          <a:ln w="25400">
            <a:solidFill>
              <a:srgbClr val="FFFFFF"/>
            </a:solidFill>
            <a:prstDash val="solid"/>
          </a:ln>
        </p:spPr>
      </p:sp>
      <p:sp>
        <p:nvSpPr>
          <p:cNvPr id="45" name="Text 41"/>
          <p:cNvSpPr txBox="1"/>
          <p:nvPr/>
        </p:nvSpPr>
        <p:spPr>
          <a:xfrm>
            <a:off x="6492240" y="1755648"/>
            <a:ext cx="420624" cy="420624"/>
          </a:xfrm>
          <a:prstGeom prst="rect">
            <a:avLst/>
          </a:prstGeom>
          <a:noFill/>
          <a:ln/>
        </p:spPr>
        <p:txBody>
          <a:bodyPr wrap="square" lIns="0" tIns="0" rIns="0" bIns="0" rtlCol="0" anchor="ctr"/>
          <a:lstStyle/>
          <a:p>
            <a:pPr algn="ctr" indent="0" marL="0">
              <a:buNone/>
            </a:pPr>
            <a:r>
              <a:rPr lang="en-US" sz="1400" b="1" dirty="0">
                <a:solidFill>
                  <a:srgbClr val="17325C"/>
                </a:solidFill>
                <a:latin typeface="Calibri" pitchFamily="34" charset="0"/>
                <a:ea typeface="Calibri" pitchFamily="34" charset="-122"/>
                <a:cs typeface="Calibri" pitchFamily="34" charset="-120"/>
              </a:rPr>
              <a:t>1</a:t>
            </a:r>
            <a:endParaRPr lang="en-US" sz="1400" dirty="0"/>
          </a:p>
        </p:txBody>
      </p:sp>
      <p:sp>
        <p:nvSpPr>
          <p:cNvPr id="46" name="Text 42"/>
          <p:cNvSpPr txBox="1"/>
          <p:nvPr/>
        </p:nvSpPr>
        <p:spPr>
          <a:xfrm>
            <a:off x="7022592" y="1664208"/>
            <a:ext cx="3749040" cy="676656"/>
          </a:xfrm>
          <a:prstGeom prst="rect">
            <a:avLst/>
          </a:prstGeom>
          <a:noFill/>
          <a:ln/>
        </p:spPr>
        <p:txBody>
          <a:bodyPr wrap="square" lIns="0" tIns="0" rIns="0" bIns="0" rtlCol="0" anchor="ctr"/>
          <a:lstStyle/>
          <a:p>
            <a:pPr algn="l" indent="0" marL="0">
              <a:buNone/>
            </a:pPr>
            <a:r>
              <a:rPr lang="en-US" sz="1200" b="1" dirty="0">
                <a:solidFill>
                  <a:srgbClr val="1F4A82"/>
                </a:solidFill>
                <a:latin typeface="Calibri" pitchFamily="34" charset="0"/>
                <a:ea typeface="Calibri" pitchFamily="34" charset="-122"/>
                <a:cs typeface="Calibri" pitchFamily="34" charset="-120"/>
              </a:rPr>
              <a:t>Patna, Jan to Mar 2027</a:t>
            </a:r>
            <a:endParaRPr lang="en-US" sz="1400" dirty="0"/>
          </a:p>
          <a:p>
            <a:pPr algn="l" indent="0" marL="0">
              <a:buNone/>
            </a:pPr>
            <a:r>
              <a:rPr lang="en-US" sz="950" dirty="0">
                <a:solidFill>
                  <a:srgbClr val="1F2937"/>
                </a:solidFill>
                <a:latin typeface="Calibri" pitchFamily="34" charset="0"/>
                <a:ea typeface="Calibri" pitchFamily="34" charset="-122"/>
                <a:cs typeface="Calibri" pitchFamily="34" charset="-120"/>
              </a:rPr>
              <a:t>2 free retro-pilots on last year's Excel; about 115 to 145 qualifying institutes in Patna (cross-check)</a:t>
            </a:r>
            <a:endParaRPr lang="en-US" sz="1400" dirty="0"/>
          </a:p>
        </p:txBody>
      </p:sp>
      <p:sp>
        <p:nvSpPr>
          <p:cNvPr id="47" name="Text 43"/>
          <p:cNvSpPr txBox="1"/>
          <p:nvPr/>
        </p:nvSpPr>
        <p:spPr>
          <a:xfrm>
            <a:off x="10835640" y="1901952"/>
            <a:ext cx="914400" cy="219456"/>
          </a:xfrm>
          <a:prstGeom prst="rect">
            <a:avLst/>
          </a:prstGeom>
          <a:noFill/>
          <a:ln/>
        </p:spPr>
        <p:txBody>
          <a:bodyPr wrap="square" lIns="0" tIns="0" rIns="0" bIns="0" rtlCol="0" anchor="ctr"/>
          <a:lstStyle/>
          <a:p>
            <a:pPr algn="l" indent="0" marL="0">
              <a:buNone/>
            </a:pPr>
            <a:r>
              <a:rPr lang="en-US" sz="1200" dirty="0">
                <a:solidFill>
                  <a:srgbClr val="D4A24C"/>
                </a:solidFill>
                <a:latin typeface="Segoe UI Symbol" pitchFamily="34" charset="0"/>
                <a:ea typeface="Segoe UI Symbol" pitchFamily="34" charset="-122"/>
                <a:cs typeface="Segoe UI Symbol" pitchFamily="34" charset="-120"/>
              </a:rPr>
              <a:t>★★★★★</a:t>
            </a:r>
            <a:endParaRPr lang="en-US" sz="1200" dirty="0"/>
          </a:p>
        </p:txBody>
      </p:sp>
      <p:sp>
        <p:nvSpPr>
          <p:cNvPr id="48" name="Shape 44"/>
          <p:cNvSpPr/>
          <p:nvPr/>
        </p:nvSpPr>
        <p:spPr>
          <a:xfrm>
            <a:off x="6492240" y="2468880"/>
            <a:ext cx="420624" cy="420624"/>
          </a:xfrm>
          <a:prstGeom prst="ellipse">
            <a:avLst/>
          </a:prstGeom>
          <a:solidFill>
            <a:srgbClr val="D4A24C"/>
          </a:solidFill>
          <a:ln w="25400">
            <a:solidFill>
              <a:srgbClr val="FFFFFF"/>
            </a:solidFill>
            <a:prstDash val="solid"/>
          </a:ln>
        </p:spPr>
      </p:sp>
      <p:sp>
        <p:nvSpPr>
          <p:cNvPr id="49" name="Text 45"/>
          <p:cNvSpPr txBox="1"/>
          <p:nvPr/>
        </p:nvSpPr>
        <p:spPr>
          <a:xfrm>
            <a:off x="6492240" y="2468880"/>
            <a:ext cx="420624" cy="420624"/>
          </a:xfrm>
          <a:prstGeom prst="rect">
            <a:avLst/>
          </a:prstGeom>
          <a:noFill/>
          <a:ln/>
        </p:spPr>
        <p:txBody>
          <a:bodyPr wrap="square" lIns="0" tIns="0" rIns="0" bIns="0" rtlCol="0" anchor="ctr"/>
          <a:lstStyle/>
          <a:p>
            <a:pPr algn="ctr" indent="0" marL="0">
              <a:buNone/>
            </a:pPr>
            <a:r>
              <a:rPr lang="en-US" sz="1400" b="1" dirty="0">
                <a:solidFill>
                  <a:srgbClr val="17325C"/>
                </a:solidFill>
                <a:latin typeface="Calibri" pitchFamily="34" charset="0"/>
                <a:ea typeface="Calibri" pitchFamily="34" charset="-122"/>
                <a:cs typeface="Calibri" pitchFamily="34" charset="-120"/>
              </a:rPr>
              <a:t>2</a:t>
            </a:r>
            <a:endParaRPr lang="en-US" sz="1400" dirty="0"/>
          </a:p>
        </p:txBody>
      </p:sp>
      <p:sp>
        <p:nvSpPr>
          <p:cNvPr id="50" name="Text 46"/>
          <p:cNvSpPr txBox="1"/>
          <p:nvPr/>
        </p:nvSpPr>
        <p:spPr>
          <a:xfrm>
            <a:off x="7022592" y="2377440"/>
            <a:ext cx="3749040" cy="676656"/>
          </a:xfrm>
          <a:prstGeom prst="rect">
            <a:avLst/>
          </a:prstGeom>
          <a:noFill/>
          <a:ln/>
        </p:spPr>
        <p:txBody>
          <a:bodyPr wrap="square" lIns="0" tIns="0" rIns="0" bIns="0" rtlCol="0" anchor="ctr"/>
          <a:lstStyle/>
          <a:p>
            <a:pPr algn="l" indent="0" marL="0">
              <a:buNone/>
            </a:pPr>
            <a:r>
              <a:rPr lang="en-US" sz="1200" b="1" dirty="0">
                <a:solidFill>
                  <a:srgbClr val="1F4A82"/>
                </a:solidFill>
                <a:latin typeface="Calibri" pitchFamily="34" charset="0"/>
                <a:ea typeface="Calibri" pitchFamily="34" charset="-122"/>
                <a:cs typeface="Calibri" pitchFamily="34" charset="-120"/>
              </a:rPr>
              <a:t>Lucknow, Apr 2027</a:t>
            </a:r>
            <a:endParaRPr lang="en-US" sz="1400" dirty="0"/>
          </a:p>
          <a:p>
            <a:pPr algn="l" indent="0" marL="0">
              <a:buNone/>
            </a:pPr>
            <a:r>
              <a:rPr lang="en-US" sz="950" dirty="0">
                <a:solidFill>
                  <a:srgbClr val="1F2937"/>
                </a:solidFill>
                <a:latin typeface="Calibri" pitchFamily="34" charset="0"/>
                <a:ea typeface="Calibri" pitchFamily="34" charset="-122"/>
                <a:cs typeface="Calibri" pitchFamily="34" charset="-120"/>
              </a:rPr>
              <a:t>Paid pilots with comparison batches; Uttar Pradesh is the largest pool (about 490)</a:t>
            </a:r>
            <a:endParaRPr lang="en-US" sz="1400" dirty="0"/>
          </a:p>
        </p:txBody>
      </p:sp>
      <p:sp>
        <p:nvSpPr>
          <p:cNvPr id="51" name="Text 47"/>
          <p:cNvSpPr txBox="1"/>
          <p:nvPr/>
        </p:nvSpPr>
        <p:spPr>
          <a:xfrm>
            <a:off x="10835640" y="2615184"/>
            <a:ext cx="914400" cy="219456"/>
          </a:xfrm>
          <a:prstGeom prst="rect">
            <a:avLst/>
          </a:prstGeom>
          <a:noFill/>
          <a:ln/>
        </p:spPr>
        <p:txBody>
          <a:bodyPr wrap="square" lIns="0" tIns="0" rIns="0" bIns="0" rtlCol="0" anchor="ctr"/>
          <a:lstStyle/>
          <a:p>
            <a:pPr algn="l" indent="0" marL="0">
              <a:buNone/>
            </a:pPr>
            <a:r>
              <a:rPr lang="en-US" sz="1200" dirty="0">
                <a:solidFill>
                  <a:srgbClr val="D4A24C"/>
                </a:solidFill>
                <a:latin typeface="Segoe UI Symbol" pitchFamily="34" charset="0"/>
                <a:ea typeface="Segoe UI Symbol" pitchFamily="34" charset="-122"/>
                <a:cs typeface="Segoe UI Symbol" pitchFamily="34" charset="-120"/>
              </a:rPr>
              <a:t>★★★★☆</a:t>
            </a:r>
            <a:endParaRPr lang="en-US" sz="1200" dirty="0"/>
          </a:p>
        </p:txBody>
      </p:sp>
      <p:sp>
        <p:nvSpPr>
          <p:cNvPr id="52" name="Shape 48"/>
          <p:cNvSpPr/>
          <p:nvPr/>
        </p:nvSpPr>
        <p:spPr>
          <a:xfrm>
            <a:off x="6492240" y="3182112"/>
            <a:ext cx="420624" cy="420624"/>
          </a:xfrm>
          <a:prstGeom prst="ellipse">
            <a:avLst/>
          </a:prstGeom>
          <a:solidFill>
            <a:srgbClr val="D4A24C"/>
          </a:solidFill>
          <a:ln w="25400">
            <a:solidFill>
              <a:srgbClr val="FFFFFF"/>
            </a:solidFill>
            <a:prstDash val="solid"/>
          </a:ln>
        </p:spPr>
      </p:sp>
      <p:sp>
        <p:nvSpPr>
          <p:cNvPr id="53" name="Text 49"/>
          <p:cNvSpPr txBox="1"/>
          <p:nvPr/>
        </p:nvSpPr>
        <p:spPr>
          <a:xfrm>
            <a:off x="6492240" y="3182112"/>
            <a:ext cx="420624" cy="420624"/>
          </a:xfrm>
          <a:prstGeom prst="rect">
            <a:avLst/>
          </a:prstGeom>
          <a:noFill/>
          <a:ln/>
        </p:spPr>
        <p:txBody>
          <a:bodyPr wrap="square" lIns="0" tIns="0" rIns="0" bIns="0" rtlCol="0" anchor="ctr"/>
          <a:lstStyle/>
          <a:p>
            <a:pPr algn="ctr" indent="0" marL="0">
              <a:buNone/>
            </a:pPr>
            <a:r>
              <a:rPr lang="en-US" sz="1400" b="1" dirty="0">
                <a:solidFill>
                  <a:srgbClr val="17325C"/>
                </a:solidFill>
                <a:latin typeface="Calibri" pitchFamily="34" charset="0"/>
                <a:ea typeface="Calibri" pitchFamily="34" charset="-122"/>
                <a:cs typeface="Calibri" pitchFamily="34" charset="-120"/>
              </a:rPr>
              <a:t>3</a:t>
            </a:r>
            <a:endParaRPr lang="en-US" sz="1400" dirty="0"/>
          </a:p>
        </p:txBody>
      </p:sp>
      <p:sp>
        <p:nvSpPr>
          <p:cNvPr id="54" name="Text 50"/>
          <p:cNvSpPr txBox="1"/>
          <p:nvPr/>
        </p:nvSpPr>
        <p:spPr>
          <a:xfrm>
            <a:off x="7022592" y="3090672"/>
            <a:ext cx="3749040" cy="676656"/>
          </a:xfrm>
          <a:prstGeom prst="rect">
            <a:avLst/>
          </a:prstGeom>
          <a:noFill/>
          <a:ln/>
        </p:spPr>
        <p:txBody>
          <a:bodyPr wrap="square" lIns="0" tIns="0" rIns="0" bIns="0" rtlCol="0" anchor="ctr"/>
          <a:lstStyle/>
          <a:p>
            <a:pPr algn="l" indent="0" marL="0">
              <a:buNone/>
            </a:pPr>
            <a:r>
              <a:rPr lang="en-US" sz="1200" b="1" dirty="0">
                <a:solidFill>
                  <a:srgbClr val="1F4A82"/>
                </a:solidFill>
                <a:latin typeface="Calibri" pitchFamily="34" charset="0"/>
                <a:ea typeface="Calibri" pitchFamily="34" charset="-122"/>
                <a:cs typeface="Calibri" pitchFamily="34" charset="-120"/>
              </a:rPr>
              <a:t>Bihar and UP Tier-2, Ranchi, FY28</a:t>
            </a:r>
            <a:endParaRPr lang="en-US" sz="1400" dirty="0"/>
          </a:p>
          <a:p>
            <a:pPr algn="l" indent="0" marL="0">
              <a:buNone/>
            </a:pPr>
            <a:r>
              <a:rPr lang="en-US" sz="950" dirty="0">
                <a:solidFill>
                  <a:srgbClr val="1F2937"/>
                </a:solidFill>
                <a:latin typeface="Calibri" pitchFamily="34" charset="0"/>
                <a:ea typeface="Calibri" pitchFamily="34" charset="-122"/>
                <a:cs typeface="Calibri" pitchFamily="34" charset="-120"/>
              </a:rPr>
              <a:t>Gaya, Muzaffarpur, Kanpur, Varanasi, Ranchi by partners and demos</a:t>
            </a:r>
            <a:endParaRPr lang="en-US" sz="1400" dirty="0"/>
          </a:p>
        </p:txBody>
      </p:sp>
      <p:sp>
        <p:nvSpPr>
          <p:cNvPr id="55" name="Text 51"/>
          <p:cNvSpPr txBox="1"/>
          <p:nvPr/>
        </p:nvSpPr>
        <p:spPr>
          <a:xfrm>
            <a:off x="10835640" y="3328416"/>
            <a:ext cx="914400" cy="219456"/>
          </a:xfrm>
          <a:prstGeom prst="rect">
            <a:avLst/>
          </a:prstGeom>
          <a:noFill/>
          <a:ln/>
        </p:spPr>
        <p:txBody>
          <a:bodyPr wrap="square" lIns="0" tIns="0" rIns="0" bIns="0" rtlCol="0" anchor="ctr"/>
          <a:lstStyle/>
          <a:p>
            <a:pPr algn="l" indent="0" marL="0">
              <a:buNone/>
            </a:pPr>
            <a:r>
              <a:rPr lang="en-US" sz="1200" dirty="0">
                <a:solidFill>
                  <a:srgbClr val="D4A24C"/>
                </a:solidFill>
                <a:latin typeface="Segoe UI Symbol" pitchFamily="34" charset="0"/>
                <a:ea typeface="Segoe UI Symbol" pitchFamily="34" charset="-122"/>
                <a:cs typeface="Segoe UI Symbol" pitchFamily="34" charset="-120"/>
              </a:rPr>
              <a:t>★★★☆☆</a:t>
            </a:r>
            <a:endParaRPr lang="en-US" sz="1200" dirty="0"/>
          </a:p>
        </p:txBody>
      </p:sp>
      <p:sp>
        <p:nvSpPr>
          <p:cNvPr id="56" name="Shape 52"/>
          <p:cNvSpPr/>
          <p:nvPr/>
        </p:nvSpPr>
        <p:spPr>
          <a:xfrm>
            <a:off x="6492240" y="3895344"/>
            <a:ext cx="420624" cy="420624"/>
          </a:xfrm>
          <a:prstGeom prst="ellipse">
            <a:avLst/>
          </a:prstGeom>
          <a:solidFill>
            <a:srgbClr val="D4A24C"/>
          </a:solidFill>
          <a:ln w="25400">
            <a:solidFill>
              <a:srgbClr val="FFFFFF"/>
            </a:solidFill>
            <a:prstDash val="solid"/>
          </a:ln>
        </p:spPr>
      </p:sp>
      <p:sp>
        <p:nvSpPr>
          <p:cNvPr id="57" name="Text 53"/>
          <p:cNvSpPr txBox="1"/>
          <p:nvPr/>
        </p:nvSpPr>
        <p:spPr>
          <a:xfrm>
            <a:off x="6492240" y="3895344"/>
            <a:ext cx="420624" cy="420624"/>
          </a:xfrm>
          <a:prstGeom prst="rect">
            <a:avLst/>
          </a:prstGeom>
          <a:noFill/>
          <a:ln/>
        </p:spPr>
        <p:txBody>
          <a:bodyPr wrap="square" lIns="0" tIns="0" rIns="0" bIns="0" rtlCol="0" anchor="ctr"/>
          <a:lstStyle/>
          <a:p>
            <a:pPr algn="ctr" indent="0" marL="0">
              <a:buNone/>
            </a:pPr>
            <a:r>
              <a:rPr lang="en-US" sz="1400" b="1" dirty="0">
                <a:solidFill>
                  <a:srgbClr val="17325C"/>
                </a:solidFill>
                <a:latin typeface="Calibri" pitchFamily="34" charset="0"/>
                <a:ea typeface="Calibri" pitchFamily="34" charset="-122"/>
                <a:cs typeface="Calibri" pitchFamily="34" charset="-120"/>
              </a:rPr>
              <a:t>4</a:t>
            </a:r>
            <a:endParaRPr lang="en-US" sz="1400" dirty="0"/>
          </a:p>
        </p:txBody>
      </p:sp>
      <p:sp>
        <p:nvSpPr>
          <p:cNvPr id="58" name="Text 54"/>
          <p:cNvSpPr txBox="1"/>
          <p:nvPr/>
        </p:nvSpPr>
        <p:spPr>
          <a:xfrm>
            <a:off x="7022592" y="3803904"/>
            <a:ext cx="3749040" cy="676656"/>
          </a:xfrm>
          <a:prstGeom prst="rect">
            <a:avLst/>
          </a:prstGeom>
          <a:noFill/>
          <a:ln/>
        </p:spPr>
        <p:txBody>
          <a:bodyPr wrap="square" lIns="0" tIns="0" rIns="0" bIns="0" rtlCol="0" anchor="ctr"/>
          <a:lstStyle/>
          <a:p>
            <a:pPr algn="l" indent="0" marL="0">
              <a:buNone/>
            </a:pPr>
            <a:r>
              <a:rPr lang="en-US" sz="1200" b="1" dirty="0">
                <a:solidFill>
                  <a:srgbClr val="1F4A82"/>
                </a:solidFill>
                <a:latin typeface="Calibri" pitchFamily="34" charset="0"/>
                <a:ea typeface="Calibri" pitchFamily="34" charset="-122"/>
                <a:cs typeface="Calibri" pitchFamily="34" charset="-120"/>
              </a:rPr>
              <a:t>Rajasthan and MP, after FY28</a:t>
            </a:r>
            <a:endParaRPr lang="en-US" sz="1400" dirty="0"/>
          </a:p>
          <a:p>
            <a:pPr algn="l" indent="0" marL="0">
              <a:buNone/>
            </a:pPr>
            <a:r>
              <a:rPr lang="en-US" sz="950" dirty="0">
                <a:solidFill>
                  <a:srgbClr val="1F2937"/>
                </a:solidFill>
                <a:latin typeface="Calibri" pitchFamily="34" charset="0"/>
                <a:ea typeface="Calibri" pitchFamily="34" charset="-122"/>
                <a:cs typeface="Calibri" pitchFamily="34" charset="-120"/>
              </a:rPr>
              <a:t>Kota is chain territory; Jaipur and Indore only after the first three</a:t>
            </a:r>
            <a:endParaRPr lang="en-US" sz="1400" dirty="0"/>
          </a:p>
        </p:txBody>
      </p:sp>
      <p:sp>
        <p:nvSpPr>
          <p:cNvPr id="59" name="Text 55"/>
          <p:cNvSpPr txBox="1"/>
          <p:nvPr/>
        </p:nvSpPr>
        <p:spPr>
          <a:xfrm>
            <a:off x="10835640" y="4041648"/>
            <a:ext cx="914400" cy="219456"/>
          </a:xfrm>
          <a:prstGeom prst="rect">
            <a:avLst/>
          </a:prstGeom>
          <a:noFill/>
          <a:ln/>
        </p:spPr>
        <p:txBody>
          <a:bodyPr wrap="square" lIns="0" tIns="0" rIns="0" bIns="0" rtlCol="0" anchor="ctr"/>
          <a:lstStyle/>
          <a:p>
            <a:pPr algn="l" indent="0" marL="0">
              <a:buNone/>
            </a:pPr>
            <a:r>
              <a:rPr lang="en-US" sz="1200" dirty="0">
                <a:solidFill>
                  <a:srgbClr val="D4A24C"/>
                </a:solidFill>
                <a:latin typeface="Segoe UI Symbol" pitchFamily="34" charset="0"/>
                <a:ea typeface="Segoe UI Symbol" pitchFamily="34" charset="-122"/>
                <a:cs typeface="Segoe UI Symbol" pitchFamily="34" charset="-120"/>
              </a:rPr>
              <a:t>★★☆☆☆</a:t>
            </a:r>
            <a:endParaRPr lang="en-US" sz="1200" dirty="0"/>
          </a:p>
        </p:txBody>
      </p:sp>
      <p:sp>
        <p:nvSpPr>
          <p:cNvPr id="60" name="Text 56"/>
          <p:cNvSpPr txBox="1"/>
          <p:nvPr/>
        </p:nvSpPr>
        <p:spPr>
          <a:xfrm>
            <a:off x="10835640" y="1700784"/>
            <a:ext cx="914400" cy="182880"/>
          </a:xfrm>
          <a:prstGeom prst="rect">
            <a:avLst/>
          </a:prstGeom>
          <a:noFill/>
          <a:ln/>
        </p:spPr>
        <p:txBody>
          <a:bodyPr wrap="square" lIns="0" tIns="0" rIns="0" bIns="0" rtlCol="0" anchor="t"/>
          <a:lstStyle/>
          <a:p>
            <a:pPr algn="l" indent="0" marL="0">
              <a:buNone/>
            </a:pPr>
            <a:r>
              <a:rPr lang="en-US" sz="850" b="1" dirty="0">
                <a:solidFill>
                  <a:srgbClr val="5B6573"/>
                </a:solidFill>
                <a:latin typeface="Calibri" pitchFamily="34" charset="0"/>
                <a:ea typeface="Calibri" pitchFamily="34" charset="-122"/>
                <a:cs typeface="Calibri" pitchFamily="34" charset="-120"/>
              </a:rPr>
              <a:t>Priority</a:t>
            </a:r>
            <a:endParaRPr lang="en-US" sz="850" dirty="0"/>
          </a:p>
        </p:txBody>
      </p:sp>
      <p:sp>
        <p:nvSpPr>
          <p:cNvPr id="61" name="Text 57"/>
          <p:cNvSpPr txBox="1"/>
          <p:nvPr/>
        </p:nvSpPr>
        <p:spPr>
          <a:xfrm>
            <a:off x="6967728" y="4480560"/>
            <a:ext cx="475488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1,180 addressable institutes</a:t>
            </a:r>
            <a:endParaRPr lang="en-US" sz="1400" dirty="0"/>
          </a:p>
          <a:p>
            <a:pPr algn="l" indent="0" marL="0">
              <a:buNone/>
            </a:pPr>
            <a:r>
              <a:rPr lang="en-US" sz="900" dirty="0">
                <a:solidFill>
                  <a:srgbClr val="5B6573"/>
                </a:solidFill>
                <a:latin typeface="Calibri" pitchFamily="34" charset="0"/>
                <a:ea typeface="Calibri" pitchFamily="34" charset="-122"/>
                <a:cs typeface="Calibri" pitchFamily="34" charset="-120"/>
              </a:rPr>
              <a:t>five states, independent, 150 to 2,000 students</a:t>
            </a:r>
            <a:endParaRPr lang="en-US" sz="1400" dirty="0"/>
          </a:p>
        </p:txBody>
      </p:sp>
      <p:sp>
        <p:nvSpPr>
          <p:cNvPr id="62" name="Text 58"/>
          <p:cNvSpPr txBox="1"/>
          <p:nvPr/>
        </p:nvSpPr>
        <p:spPr>
          <a:xfrm>
            <a:off x="6967728" y="4846320"/>
            <a:ext cx="475488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58 paying by year 3</a:t>
            </a:r>
            <a:endParaRPr lang="en-US" sz="1400" dirty="0"/>
          </a:p>
          <a:p>
            <a:pPr algn="l" indent="0" marL="0">
              <a:buNone/>
            </a:pPr>
            <a:r>
              <a:rPr lang="en-US" sz="900" dirty="0">
                <a:solidFill>
                  <a:srgbClr val="5B6573"/>
                </a:solidFill>
                <a:latin typeface="Calibri" pitchFamily="34" charset="0"/>
                <a:ea typeface="Calibri" pitchFamily="34" charset="-122"/>
                <a:cs typeface="Calibri" pitchFamily="34" charset="-120"/>
              </a:rPr>
              <a:t>4.9 % of the 1,180; one field rep, partners for small institutes</a:t>
            </a:r>
            <a:endParaRPr lang="en-US" sz="1400" dirty="0"/>
          </a:p>
        </p:txBody>
      </p:sp>
      <p:sp>
        <p:nvSpPr>
          <p:cNvPr id="63" name="Text 59"/>
          <p:cNvSpPr txBox="1"/>
          <p:nvPr/>
        </p:nvSpPr>
        <p:spPr>
          <a:xfrm>
            <a:off x="6967728" y="5212080"/>
            <a:ext cx="475488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Chains are arriving</a:t>
            </a:r>
            <a:endParaRPr lang="en-US" sz="1400" dirty="0"/>
          </a:p>
          <a:p>
            <a:pPr algn="l" indent="0" marL="0">
              <a:buNone/>
            </a:pPr>
            <a:r>
              <a:rPr lang="en-US" sz="900" dirty="0">
                <a:solidFill>
                  <a:srgbClr val="5B6573"/>
                </a:solidFill>
                <a:latin typeface="Calibri" pitchFamily="34" charset="0"/>
                <a:ea typeface="Calibri" pitchFamily="34" charset="-122"/>
                <a:cs typeface="Calibri" pitchFamily="34" charset="-120"/>
              </a:rPr>
              <a:t>Allen opened in Patna and announced six more Bihar cities</a:t>
            </a:r>
            <a:endParaRPr lang="en-US" sz="1400" dirty="0"/>
          </a:p>
        </p:txBody>
      </p:sp>
      <p:sp>
        <p:nvSpPr>
          <p:cNvPr id="64" name="Shape 60"/>
          <p:cNvSpPr/>
          <p:nvPr/>
        </p:nvSpPr>
        <p:spPr>
          <a:xfrm>
            <a:off x="6492240" y="5925312"/>
            <a:ext cx="5285232" cy="475488"/>
          </a:xfrm>
          <a:prstGeom prst="rect">
            <a:avLst/>
          </a:prstGeom>
          <a:solidFill>
            <a:srgbClr val="F7F8FB"/>
          </a:solidFill>
          <a:ln w="9525">
            <a:solidFill>
              <a:srgbClr val="D5DEEA"/>
            </a:solidFill>
            <a:prstDash val="solid"/>
          </a:ln>
        </p:spPr>
      </p:sp>
      <p:sp>
        <p:nvSpPr>
          <p:cNvPr id="65" name="Shape 61"/>
          <p:cNvSpPr/>
          <p:nvPr/>
        </p:nvSpPr>
        <p:spPr>
          <a:xfrm>
            <a:off x="6903720" y="5760720"/>
            <a:ext cx="1737360" cy="310896"/>
          </a:xfrm>
          <a:prstGeom prst="rect">
            <a:avLst/>
          </a:prstGeom>
          <a:solidFill>
            <a:srgbClr val="A9B8F0"/>
          </a:solidFill>
          <a:ln/>
        </p:spPr>
      </p:sp>
      <p:sp>
        <p:nvSpPr>
          <p:cNvPr id="66" name="Text 62"/>
          <p:cNvSpPr txBox="1"/>
          <p:nvPr/>
        </p:nvSpPr>
        <p:spPr>
          <a:xfrm>
            <a:off x="6903720" y="5760720"/>
            <a:ext cx="1737360" cy="310896"/>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KEY TAKEAWAY</a:t>
            </a:r>
            <a:endParaRPr lang="en-US" sz="1150" dirty="0"/>
          </a:p>
        </p:txBody>
      </p:sp>
      <p:sp>
        <p:nvSpPr>
          <p:cNvPr id="67" name="Text 63"/>
          <p:cNvSpPr txBox="1"/>
          <p:nvPr/>
        </p:nvSpPr>
        <p:spPr>
          <a:xfrm>
            <a:off x="6675120" y="6126480"/>
            <a:ext cx="4919472" cy="182880"/>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Start where we can reach owners in person: Patna.</a:t>
            </a:r>
            <a:endParaRPr lang="en-US" sz="1100" dirty="0"/>
          </a:p>
        </p:txBody>
      </p:sp>
      <p:sp>
        <p:nvSpPr>
          <p:cNvPr id="68" name="Text 64"/>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financial/research R7 (1,180 = Bihar + UP about 740, +60 % for three more states); model v1.1 (4.9 % share at month 36). State split is our assumption; map for orientation only; city bubbles are indicative.</a:t>
            </a:r>
            <a:endParaRPr lang="en-US" sz="850" dirty="0"/>
          </a:p>
        </p:txBody>
      </p:sp>
      <p:pic>
        <p:nvPicPr>
          <p:cNvPr id="70" name="Image 1" descr="FaClipboardList icon">    </p:cNvPr>
          <p:cNvPicPr>
            <a:picLocks noChangeAspect="1"/>
          </p:cNvPicPr>
          <p:nvPr/>
        </p:nvPicPr>
        <p:blipFill>
          <a:blip r:embed="rId2"/>
          <a:stretch>
            <a:fillRect/>
          </a:stretch>
        </p:blipFill>
        <p:spPr>
          <a:xfrm>
            <a:off x="521208" y="100584"/>
            <a:ext cx="182880" cy="182880"/>
          </a:xfrm>
          <a:prstGeom prst="rect">
            <a:avLst/>
          </a:prstGeom>
        </p:spPr>
      </p:pic>
      <p:pic>
        <p:nvPicPr>
          <p:cNvPr id="71" name="Image 2" descr="FaTriangleExclamation icon">    </p:cNvPr>
          <p:cNvPicPr>
            <a:picLocks noChangeAspect="1"/>
          </p:cNvPicPr>
          <p:nvPr/>
        </p:nvPicPr>
        <p:blipFill>
          <a:blip r:embed="rId3"/>
          <a:stretch>
            <a:fillRect/>
          </a:stretch>
        </p:blipFill>
        <p:spPr>
          <a:xfrm>
            <a:off x="2084032" y="100584"/>
            <a:ext cx="182880" cy="182880"/>
          </a:xfrm>
          <a:prstGeom prst="rect">
            <a:avLst/>
          </a:prstGeom>
        </p:spPr>
      </p:pic>
      <p:pic>
        <p:nvPicPr>
          <p:cNvPr id="72" name="Image 3" descr="FaMobileScreen icon">    </p:cNvPr>
          <p:cNvPicPr>
            <a:picLocks noChangeAspect="1"/>
          </p:cNvPicPr>
          <p:nvPr/>
        </p:nvPicPr>
        <p:blipFill>
          <a:blip r:embed="rId4"/>
          <a:stretch>
            <a:fillRect/>
          </a:stretch>
        </p:blipFill>
        <p:spPr>
          <a:xfrm>
            <a:off x="3482264" y="100584"/>
            <a:ext cx="182880" cy="182880"/>
          </a:xfrm>
          <a:prstGeom prst="rect">
            <a:avLst/>
          </a:prstGeom>
        </p:spPr>
      </p:pic>
      <p:pic>
        <p:nvPicPr>
          <p:cNvPr id="73" name="Image 4" descr="FaGears icon">    </p:cNvPr>
          <p:cNvPicPr>
            <a:picLocks noChangeAspect="1"/>
          </p:cNvPicPr>
          <p:nvPr/>
        </p:nvPicPr>
        <p:blipFill>
          <a:blip r:embed="rId5"/>
          <a:stretch>
            <a:fillRect/>
          </a:stretch>
        </p:blipFill>
        <p:spPr>
          <a:xfrm>
            <a:off x="4880496" y="100584"/>
            <a:ext cx="182880" cy="182880"/>
          </a:xfrm>
          <a:prstGeom prst="rect">
            <a:avLst/>
          </a:prstGeom>
        </p:spPr>
      </p:pic>
      <p:pic>
        <p:nvPicPr>
          <p:cNvPr id="74" name="Image 5"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75" name="Image 6"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76" name="Image 7" descr="FaBullseye icon">    </p:cNvPr>
          <p:cNvPicPr>
            <a:picLocks noChangeAspect="1"/>
          </p:cNvPicPr>
          <p:nvPr/>
        </p:nvPicPr>
        <p:blipFill>
          <a:blip r:embed="rId8"/>
          <a:stretch>
            <a:fillRect/>
          </a:stretch>
        </p:blipFill>
        <p:spPr>
          <a:xfrm>
            <a:off x="9075191" y="100584"/>
            <a:ext cx="182880" cy="182880"/>
          </a:xfrm>
          <a:prstGeom prst="rect">
            <a:avLst/>
          </a:prstGeom>
        </p:spPr>
      </p:pic>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411480" y="274320"/>
            <a:ext cx="10972800" cy="548640"/>
          </a:xfrm>
          <a:prstGeom prst="rect">
            <a:avLst/>
          </a:prstGeom>
          <a:noFill/>
          <a:ln/>
        </p:spPr>
        <p:txBody>
          <a:bodyPr wrap="square" lIns="0" tIns="0" rIns="0" bIns="0" rtlCol="0" anchor="ctr"/>
          <a:lstStyle/>
          <a:p>
            <a:pPr algn="l" indent="0" marL="0">
              <a:buNone/>
            </a:pPr>
            <a:r>
              <a:rPr lang="en-US" sz="2800" b="1" dirty="0">
                <a:solidFill>
                  <a:srgbClr val="1F4A82"/>
                </a:solidFill>
                <a:latin typeface="Calibri" pitchFamily="34" charset="0"/>
                <a:ea typeface="Calibri" pitchFamily="34" charset="-122"/>
                <a:cs typeface="Calibri" pitchFamily="34" charset="-120"/>
              </a:rPr>
              <a:t>How we used AI, and what we cited</a:t>
            </a:r>
            <a:endParaRPr lang="en-US" sz="2800" dirty="0"/>
          </a:p>
        </p:txBody>
      </p:sp>
      <p:sp>
        <p:nvSpPr>
          <p:cNvPr id="3" name="Shape 1"/>
          <p:cNvSpPr/>
          <p:nvPr/>
        </p:nvSpPr>
        <p:spPr>
          <a:xfrm>
            <a:off x="411480" y="1554480"/>
            <a:ext cx="5547208" cy="4206240"/>
          </a:xfrm>
          <a:prstGeom prst="roundRect">
            <a:avLst>
              <a:gd name="adj" fmla="val 435"/>
            </a:avLst>
          </a:prstGeom>
          <a:solidFill>
            <a:srgbClr val="E3ECF7"/>
          </a:solidFill>
          <a:ln w="19050">
            <a:solidFill>
              <a:srgbClr val="1F4A82"/>
            </a:solidFill>
            <a:prstDash val="solid"/>
          </a:ln>
        </p:spPr>
      </p:sp>
      <p:sp>
        <p:nvSpPr>
          <p:cNvPr id="4" name="Shape 2"/>
          <p:cNvSpPr/>
          <p:nvPr/>
        </p:nvSpPr>
        <p:spPr>
          <a:xfrm>
            <a:off x="685800" y="1737360"/>
            <a:ext cx="2560320" cy="411480"/>
          </a:xfrm>
          <a:prstGeom prst="roundRect">
            <a:avLst>
              <a:gd name="adj" fmla="val 4444"/>
            </a:avLst>
          </a:prstGeom>
          <a:solidFill>
            <a:srgbClr val="1F4A82"/>
          </a:solidFill>
          <a:ln/>
        </p:spPr>
      </p:sp>
      <p:sp>
        <p:nvSpPr>
          <p:cNvPr id="5" name="Text 3"/>
          <p:cNvSpPr txBox="1"/>
          <p:nvPr/>
        </p:nvSpPr>
        <p:spPr>
          <a:xfrm>
            <a:off x="685800" y="1737360"/>
            <a:ext cx="256032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AI tools</a:t>
            </a:r>
            <a:endParaRPr lang="en-US" sz="1500" dirty="0"/>
          </a:p>
        </p:txBody>
      </p:sp>
      <p:sp>
        <p:nvSpPr>
          <p:cNvPr id="6" name="Text 4"/>
          <p:cNvSpPr txBox="1"/>
          <p:nvPr/>
        </p:nvSpPr>
        <p:spPr>
          <a:xfrm>
            <a:off x="685800" y="2377440"/>
            <a:ext cx="4998568" cy="3291840"/>
          </a:xfrm>
          <a:prstGeom prst="rect">
            <a:avLst/>
          </a:prstGeom>
          <a:noFill/>
          <a:ln/>
        </p:spPr>
        <p:txBody>
          <a:bodyPr wrap="square" lIns="0" tIns="0" rIns="0" bIns="0" rtlCol="0" anchor="t"/>
          <a:lstStyle/>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Claude: planning, code review, documentation.</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Google Antigravity agents: code generation.</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Perplexity and Gemini Deep Research: literature and regulation research.</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Everything was reviewed and tested by the team; research claims were checked against primary sources where possible.</a:t>
            </a:r>
            <a:endParaRPr lang="en-US" sz="1700" dirty="0"/>
          </a:p>
        </p:txBody>
      </p:sp>
      <p:sp>
        <p:nvSpPr>
          <p:cNvPr id="7" name="Shape 5"/>
          <p:cNvSpPr/>
          <p:nvPr/>
        </p:nvSpPr>
        <p:spPr>
          <a:xfrm>
            <a:off x="6233008" y="1554480"/>
            <a:ext cx="5547208" cy="4206240"/>
          </a:xfrm>
          <a:prstGeom prst="roundRect">
            <a:avLst>
              <a:gd name="adj" fmla="val 435"/>
            </a:avLst>
          </a:prstGeom>
          <a:solidFill>
            <a:srgbClr val="E3ECF7"/>
          </a:solidFill>
          <a:ln w="19050">
            <a:solidFill>
              <a:srgbClr val="1F4A82"/>
            </a:solidFill>
            <a:prstDash val="solid"/>
          </a:ln>
        </p:spPr>
      </p:sp>
      <p:sp>
        <p:nvSpPr>
          <p:cNvPr id="8" name="Shape 6"/>
          <p:cNvSpPr/>
          <p:nvPr/>
        </p:nvSpPr>
        <p:spPr>
          <a:xfrm>
            <a:off x="6507328" y="1737360"/>
            <a:ext cx="2560320" cy="411480"/>
          </a:xfrm>
          <a:prstGeom prst="roundRect">
            <a:avLst>
              <a:gd name="adj" fmla="val 4444"/>
            </a:avLst>
          </a:prstGeom>
          <a:solidFill>
            <a:srgbClr val="1F4A82"/>
          </a:solidFill>
          <a:ln/>
        </p:spPr>
      </p:sp>
      <p:sp>
        <p:nvSpPr>
          <p:cNvPr id="9" name="Text 7"/>
          <p:cNvSpPr txBox="1"/>
          <p:nvPr/>
        </p:nvSpPr>
        <p:spPr>
          <a:xfrm>
            <a:off x="6507328" y="1737360"/>
            <a:ext cx="256032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Public data and libraries</a:t>
            </a:r>
            <a:endParaRPr lang="en-US" sz="1500" dirty="0"/>
          </a:p>
        </p:txBody>
      </p:sp>
      <p:sp>
        <p:nvSpPr>
          <p:cNvPr id="10" name="Text 8"/>
          <p:cNvSpPr txBox="1"/>
          <p:nvPr/>
        </p:nvSpPr>
        <p:spPr>
          <a:xfrm>
            <a:off x="6507328" y="2377440"/>
            <a:ext cx="4998568" cy="3291840"/>
          </a:xfrm>
          <a:prstGeom prst="rect">
            <a:avLst/>
          </a:prstGeom>
          <a:noFill/>
          <a:ln/>
        </p:spPr>
        <p:txBody>
          <a:bodyPr wrap="square" lIns="0" tIns="0" rIns="0" bIns="0" rtlCol="0" anchor="t"/>
          <a:lstStyle/>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OULAD (CC BY 4.0), ASSISTments 2009, the pyKT benchmark, JEEBench.</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Noto Sans Devanagari (SIL OFL), LightGBM, Ollama, FastAPI, PostgreSQL.</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Flat Color Icons by Icons8 (CC BY 3.0) via Iconify; Font Awesome icons (CC BY 4.0).</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Full list with licences: technical/docs/CITATIONS.md in the repository.</a:t>
            </a:r>
            <a:endParaRPr lang="en-US" sz="1700" dirty="0"/>
          </a:p>
        </p:txBody>
      </p:sp>
      <p:sp>
        <p:nvSpPr>
          <p:cNvPr id="11" name="Text 9"/>
          <p:cNvSpPr txBox="1"/>
          <p:nvPr/>
        </p:nvSpPr>
        <p:spPr>
          <a:xfrm>
            <a:off x="4572000" y="6126480"/>
            <a:ext cx="7205472" cy="411480"/>
          </a:xfrm>
          <a:prstGeom prst="rect">
            <a:avLst/>
          </a:prstGeom>
          <a:noFill/>
          <a:ln/>
        </p:spPr>
        <p:txBody>
          <a:bodyPr wrap="square" lIns="0" tIns="0" rIns="0" bIns="0" rtlCol="0" anchor="ctr"/>
          <a:lstStyle/>
          <a:p>
            <a:pPr algn="r" indent="0" marL="0">
              <a:buNone/>
            </a:pPr>
            <a:r>
              <a:rPr lang="en-US" sz="1300" dirty="0">
                <a:solidFill>
                  <a:srgbClr val="5B6573"/>
                </a:solidFill>
                <a:latin typeface="Calibri" pitchFamily="34" charset="0"/>
                <a:ea typeface="Calibri" pitchFamily="34" charset="-122"/>
                <a:cs typeface="Calibri" pitchFamily="34" charset="-120"/>
              </a:rPr>
              <a:t>github.com/AdityaKuranjekar/institute-intelligence-platform</a:t>
            </a:r>
            <a:endParaRPr lang="en-US" sz="13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11480" y="502920"/>
            <a:ext cx="6400800" cy="274320"/>
          </a:xfrm>
          <a:prstGeom prst="rect">
            <a:avLst/>
          </a:prstGeom>
          <a:noFill/>
          <a:ln/>
        </p:spPr>
        <p:txBody>
          <a:bodyPr wrap="square" lIns="0" tIns="0" rIns="0" bIns="0" rtlCol="0" anchor="t"/>
          <a:lstStyle/>
          <a:p>
            <a:pPr algn="l" indent="0" marL="0">
              <a:buNone/>
            </a:pPr>
            <a:r>
              <a:rPr lang="en-US" sz="1150" b="1" spc="200" kern="0" dirty="0">
                <a:solidFill>
                  <a:srgbClr val="2E6DB4"/>
                </a:solidFill>
                <a:latin typeface="Calibri" pitchFamily="34" charset="0"/>
                <a:ea typeface="Calibri" pitchFamily="34" charset="-122"/>
                <a:cs typeface="Calibri" pitchFamily="34" charset="-120"/>
              </a:rPr>
              <a:t>CASE B  ·  NEXTUTE × FINANCE CLUB, IIT PATNA</a:t>
            </a:r>
            <a:endParaRPr lang="en-US" sz="1150" dirty="0"/>
          </a:p>
        </p:txBody>
      </p:sp>
      <p:sp>
        <p:nvSpPr>
          <p:cNvPr id="3" name="Text 1"/>
          <p:cNvSpPr/>
          <p:nvPr>
            <p:ph idx="101" type="title" hasCustomPrompt="1"/>
          </p:nvPr>
        </p:nvSpPr>
        <p:spPr>
          <a:xfrm>
            <a:off x="411480" y="1051560"/>
            <a:ext cx="5669280" cy="1097280"/>
          </a:xfrm>
          <a:prstGeom prst="rect">
            <a:avLst/>
          </a:prstGeom>
          <a:noFill/>
          <a:ln/>
        </p:spPr>
        <p:txBody>
          <a:bodyPr wrap="square" lIns="0" tIns="0" rIns="0" bIns="0" rtlCol="0" anchor="ctr"/>
          <a:lstStyle/>
          <a:p>
            <a:pPr algn="l" indent="0" marL="0">
              <a:buNone/>
            </a:pPr>
            <a:r>
              <a:rPr lang="en-US" sz="6000" b="1" dirty="0">
                <a:solidFill>
                  <a:srgbClr val="1F4A82"/>
                </a:solidFill>
                <a:latin typeface="Calibri" pitchFamily="34" charset="0"/>
                <a:ea typeface="Calibri" pitchFamily="34" charset="-122"/>
                <a:cs typeface="Calibri" pitchFamily="34" charset="-120"/>
              </a:rPr>
              <a:t>PRAGATI</a:t>
            </a:r>
            <a:endParaRPr lang="en-US" sz="6000" dirty="0"/>
          </a:p>
        </p:txBody>
      </p:sp>
      <p:sp>
        <p:nvSpPr>
          <p:cNvPr id="4" name="Text 2"/>
          <p:cNvSpPr txBox="1"/>
          <p:nvPr/>
        </p:nvSpPr>
        <p:spPr>
          <a:xfrm>
            <a:off x="411480" y="2148840"/>
            <a:ext cx="5486400" cy="502920"/>
          </a:xfrm>
          <a:prstGeom prst="rect">
            <a:avLst/>
          </a:prstGeom>
          <a:noFill/>
          <a:ln/>
        </p:spPr>
        <p:txBody>
          <a:bodyPr wrap="square" lIns="0" tIns="0" rIns="0" bIns="0" rtlCol="0" anchor="t"/>
          <a:lstStyle/>
          <a:p>
            <a:pPr algn="l" indent="0" marL="0">
              <a:buNone/>
            </a:pPr>
            <a:r>
              <a:rPr lang="en-US" sz="3000" b="1" dirty="0">
                <a:solidFill>
                  <a:srgbClr val="2E6DB4"/>
                </a:solidFill>
                <a:latin typeface="Calibri" pitchFamily="34" charset="0"/>
                <a:ea typeface="Calibri" pitchFamily="34" charset="-122"/>
                <a:cs typeface="Calibri" pitchFamily="34" charset="-120"/>
              </a:rPr>
              <a:t>The Data Moat</a:t>
            </a:r>
            <a:endParaRPr lang="en-US" sz="3000" dirty="0"/>
          </a:p>
        </p:txBody>
      </p:sp>
      <p:sp>
        <p:nvSpPr>
          <p:cNvPr id="5" name="Shape 3"/>
          <p:cNvSpPr/>
          <p:nvPr/>
        </p:nvSpPr>
        <p:spPr>
          <a:xfrm>
            <a:off x="411480" y="2743200"/>
            <a:ext cx="1097280" cy="45720"/>
          </a:xfrm>
          <a:prstGeom prst="rect">
            <a:avLst/>
          </a:prstGeom>
          <a:solidFill>
            <a:srgbClr val="1F4A82"/>
          </a:solidFill>
          <a:ln/>
        </p:spPr>
      </p:sp>
      <p:sp>
        <p:nvSpPr>
          <p:cNvPr id="6" name="Text 4"/>
          <p:cNvSpPr txBox="1"/>
          <p:nvPr/>
        </p:nvSpPr>
        <p:spPr>
          <a:xfrm>
            <a:off x="411480" y="2926080"/>
            <a:ext cx="5120640" cy="822960"/>
          </a:xfrm>
          <a:prstGeom prst="rect">
            <a:avLst/>
          </a:prstGeom>
          <a:noFill/>
          <a:ln/>
        </p:spPr>
        <p:txBody>
          <a:bodyPr wrap="square" lIns="0" tIns="0" rIns="0" bIns="0" rtlCol="0" anchor="t"/>
          <a:lstStyle/>
          <a:p>
            <a:pPr algn="l" indent="0" marL="0">
              <a:buNone/>
            </a:pPr>
            <a:r>
              <a:rPr lang="en-US" sz="1900" dirty="0">
                <a:solidFill>
                  <a:srgbClr val="1F2937"/>
                </a:solidFill>
                <a:latin typeface="Calibri" pitchFamily="34" charset="0"/>
                <a:ea typeface="Calibri" pitchFamily="34" charset="-122"/>
                <a:cs typeface="Calibri" pitchFamily="34" charset="-120"/>
              </a:rPr>
              <a:t>Every student's weak topics, found before the exam.</a:t>
            </a:r>
            <a:endParaRPr lang="en-US" sz="1900" dirty="0"/>
          </a:p>
        </p:txBody>
      </p:sp>
      <p:sp>
        <p:nvSpPr>
          <p:cNvPr id="7" name="Text 5"/>
          <p:cNvSpPr txBox="1"/>
          <p:nvPr/>
        </p:nvSpPr>
        <p:spPr>
          <a:xfrm>
            <a:off x="411480" y="3977640"/>
            <a:ext cx="4572000" cy="274320"/>
          </a:xfrm>
          <a:prstGeom prst="rect">
            <a:avLst/>
          </a:prstGeom>
          <a:noFill/>
          <a:ln/>
        </p:spPr>
        <p:txBody>
          <a:bodyPr wrap="square" lIns="0" tIns="0" rIns="0" bIns="0" rtlCol="0" anchor="t"/>
          <a:lstStyle/>
          <a:p>
            <a:pPr algn="l" indent="0" marL="0">
              <a:buNone/>
            </a:pPr>
            <a:r>
              <a:rPr lang="en-US" sz="1150" dirty="0">
                <a:solidFill>
                  <a:srgbClr val="5B6573"/>
                </a:solidFill>
                <a:latin typeface="Calibri" pitchFamily="34" charset="0"/>
                <a:ea typeface="Calibri" pitchFamily="34" charset="-122"/>
                <a:cs typeface="Calibri" pitchFamily="34" charset="-120"/>
              </a:rPr>
              <a:t>Team AlphaQ  ·  Round 1</a:t>
            </a:r>
            <a:endParaRPr lang="en-US" sz="1150" dirty="0"/>
          </a:p>
        </p:txBody>
      </p:sp>
      <p:sp>
        <p:nvSpPr>
          <p:cNvPr id="8" name="Shape 6"/>
          <p:cNvSpPr/>
          <p:nvPr/>
        </p:nvSpPr>
        <p:spPr>
          <a:xfrm>
            <a:off x="6578841" y="3609344"/>
            <a:ext cx="922647" cy="43168"/>
          </a:xfrm>
          <a:prstGeom prst="line">
            <a:avLst/>
          </a:prstGeom>
          <a:noFill/>
          <a:ln w="11430">
            <a:solidFill>
              <a:srgbClr val="B9CBE4"/>
            </a:solidFill>
            <a:prstDash val="solid"/>
          </a:ln>
        </p:spPr>
      </p:sp>
      <p:sp>
        <p:nvSpPr>
          <p:cNvPr id="9" name="Shape 7"/>
          <p:cNvSpPr/>
          <p:nvPr/>
        </p:nvSpPr>
        <p:spPr>
          <a:xfrm flipH="1" flipV="1">
            <a:off x="6111137" y="3424650"/>
            <a:ext cx="467704" cy="184694"/>
          </a:xfrm>
          <a:prstGeom prst="line">
            <a:avLst/>
          </a:prstGeom>
          <a:noFill/>
          <a:ln w="11430">
            <a:solidFill>
              <a:srgbClr val="B9CBE4"/>
            </a:solidFill>
            <a:prstDash val="solid"/>
          </a:ln>
        </p:spPr>
      </p:sp>
      <p:sp>
        <p:nvSpPr>
          <p:cNvPr id="10" name="Shape 8"/>
          <p:cNvSpPr/>
          <p:nvPr/>
        </p:nvSpPr>
        <p:spPr>
          <a:xfrm flipH="1">
            <a:off x="6159140" y="3609344"/>
            <a:ext cx="419702" cy="225448"/>
          </a:xfrm>
          <a:prstGeom prst="line">
            <a:avLst/>
          </a:prstGeom>
          <a:noFill/>
          <a:ln w="11430">
            <a:solidFill>
              <a:srgbClr val="B9CBE4"/>
            </a:solidFill>
            <a:prstDash val="solid"/>
          </a:ln>
        </p:spPr>
      </p:sp>
      <p:sp>
        <p:nvSpPr>
          <p:cNvPr id="11" name="Shape 9"/>
          <p:cNvSpPr/>
          <p:nvPr/>
        </p:nvSpPr>
        <p:spPr>
          <a:xfrm flipV="1">
            <a:off x="6578841" y="3173846"/>
            <a:ext cx="904240" cy="435497"/>
          </a:xfrm>
          <a:prstGeom prst="line">
            <a:avLst/>
          </a:prstGeom>
          <a:noFill/>
          <a:ln w="11430">
            <a:solidFill>
              <a:srgbClr val="B9CBE4"/>
            </a:solidFill>
            <a:prstDash val="solid"/>
          </a:ln>
        </p:spPr>
      </p:sp>
      <p:sp>
        <p:nvSpPr>
          <p:cNvPr id="12" name="Shape 10"/>
          <p:cNvSpPr/>
          <p:nvPr/>
        </p:nvSpPr>
        <p:spPr>
          <a:xfrm flipV="1">
            <a:off x="6578841" y="3413000"/>
            <a:ext cx="580995" cy="196344"/>
          </a:xfrm>
          <a:prstGeom prst="line">
            <a:avLst/>
          </a:prstGeom>
          <a:noFill/>
          <a:ln w="11430">
            <a:solidFill>
              <a:srgbClr val="B9CBE4"/>
            </a:solidFill>
            <a:prstDash val="solid"/>
          </a:ln>
        </p:spPr>
      </p:sp>
      <p:sp>
        <p:nvSpPr>
          <p:cNvPr id="13" name="Shape 11"/>
          <p:cNvSpPr/>
          <p:nvPr/>
        </p:nvSpPr>
        <p:spPr>
          <a:xfrm flipH="1" flipV="1">
            <a:off x="6216312" y="3083339"/>
            <a:ext cx="362529" cy="526005"/>
          </a:xfrm>
          <a:prstGeom prst="line">
            <a:avLst/>
          </a:prstGeom>
          <a:noFill/>
          <a:ln w="11430">
            <a:solidFill>
              <a:srgbClr val="B9CBE4"/>
            </a:solidFill>
            <a:prstDash val="solid"/>
          </a:ln>
        </p:spPr>
      </p:sp>
      <p:sp>
        <p:nvSpPr>
          <p:cNvPr id="14" name="Shape 12"/>
          <p:cNvSpPr/>
          <p:nvPr/>
        </p:nvSpPr>
        <p:spPr>
          <a:xfrm flipH="1">
            <a:off x="6430877" y="3609344"/>
            <a:ext cx="147964" cy="218492"/>
          </a:xfrm>
          <a:prstGeom prst="line">
            <a:avLst/>
          </a:prstGeom>
          <a:noFill/>
          <a:ln w="11430">
            <a:solidFill>
              <a:srgbClr val="B9CBE4"/>
            </a:solidFill>
            <a:prstDash val="solid"/>
          </a:ln>
        </p:spPr>
      </p:sp>
      <p:sp>
        <p:nvSpPr>
          <p:cNvPr id="15" name="Shape 13"/>
          <p:cNvSpPr/>
          <p:nvPr/>
        </p:nvSpPr>
        <p:spPr>
          <a:xfrm flipH="1" flipV="1">
            <a:off x="6270835" y="2675157"/>
            <a:ext cx="308006" cy="934187"/>
          </a:xfrm>
          <a:prstGeom prst="line">
            <a:avLst/>
          </a:prstGeom>
          <a:noFill/>
          <a:ln w="11430">
            <a:solidFill>
              <a:srgbClr val="B9CBE4"/>
            </a:solidFill>
            <a:prstDash val="solid"/>
          </a:ln>
        </p:spPr>
      </p:sp>
      <p:sp>
        <p:nvSpPr>
          <p:cNvPr id="16" name="Shape 14"/>
          <p:cNvSpPr/>
          <p:nvPr/>
        </p:nvSpPr>
        <p:spPr>
          <a:xfrm flipH="1" flipV="1">
            <a:off x="7483081" y="3173846"/>
            <a:ext cx="18407" cy="478665"/>
          </a:xfrm>
          <a:prstGeom prst="line">
            <a:avLst/>
          </a:prstGeom>
          <a:noFill/>
          <a:ln w="11430">
            <a:solidFill>
              <a:srgbClr val="B9CBE4"/>
            </a:solidFill>
            <a:prstDash val="solid"/>
          </a:ln>
        </p:spPr>
      </p:sp>
      <p:sp>
        <p:nvSpPr>
          <p:cNvPr id="17" name="Shape 15"/>
          <p:cNvSpPr/>
          <p:nvPr/>
        </p:nvSpPr>
        <p:spPr>
          <a:xfrm flipH="1" flipV="1">
            <a:off x="7159836" y="3413000"/>
            <a:ext cx="341653" cy="239511"/>
          </a:xfrm>
          <a:prstGeom prst="line">
            <a:avLst/>
          </a:prstGeom>
          <a:noFill/>
          <a:ln w="11430">
            <a:solidFill>
              <a:srgbClr val="B9CBE4"/>
            </a:solidFill>
            <a:prstDash val="solid"/>
          </a:ln>
        </p:spPr>
      </p:sp>
      <p:sp>
        <p:nvSpPr>
          <p:cNvPr id="18" name="Shape 16"/>
          <p:cNvSpPr/>
          <p:nvPr/>
        </p:nvSpPr>
        <p:spPr>
          <a:xfrm>
            <a:off x="6111137" y="3424650"/>
            <a:ext cx="48002" cy="410142"/>
          </a:xfrm>
          <a:prstGeom prst="line">
            <a:avLst/>
          </a:prstGeom>
          <a:noFill/>
          <a:ln w="11430">
            <a:solidFill>
              <a:srgbClr val="B9CBE4"/>
            </a:solidFill>
            <a:prstDash val="solid"/>
          </a:ln>
        </p:spPr>
      </p:sp>
      <p:sp>
        <p:nvSpPr>
          <p:cNvPr id="19" name="Shape 17"/>
          <p:cNvSpPr/>
          <p:nvPr/>
        </p:nvSpPr>
        <p:spPr>
          <a:xfrm flipV="1">
            <a:off x="6111137" y="3413000"/>
            <a:ext cx="1048698" cy="11650"/>
          </a:xfrm>
          <a:prstGeom prst="line">
            <a:avLst/>
          </a:prstGeom>
          <a:noFill/>
          <a:ln w="11430">
            <a:solidFill>
              <a:srgbClr val="B9CBE4"/>
            </a:solidFill>
            <a:prstDash val="solid"/>
          </a:ln>
        </p:spPr>
      </p:sp>
      <p:sp>
        <p:nvSpPr>
          <p:cNvPr id="20" name="Shape 18"/>
          <p:cNvSpPr/>
          <p:nvPr/>
        </p:nvSpPr>
        <p:spPr>
          <a:xfrm flipV="1">
            <a:off x="6111137" y="3083339"/>
            <a:ext cx="105174" cy="341311"/>
          </a:xfrm>
          <a:prstGeom prst="line">
            <a:avLst/>
          </a:prstGeom>
          <a:noFill/>
          <a:ln w="11430">
            <a:solidFill>
              <a:srgbClr val="B9CBE4"/>
            </a:solidFill>
            <a:prstDash val="solid"/>
          </a:ln>
        </p:spPr>
      </p:sp>
      <p:sp>
        <p:nvSpPr>
          <p:cNvPr id="21" name="Shape 19"/>
          <p:cNvSpPr/>
          <p:nvPr/>
        </p:nvSpPr>
        <p:spPr>
          <a:xfrm>
            <a:off x="6111137" y="3424650"/>
            <a:ext cx="319739" cy="403186"/>
          </a:xfrm>
          <a:prstGeom prst="line">
            <a:avLst/>
          </a:prstGeom>
          <a:noFill/>
          <a:ln w="11430">
            <a:solidFill>
              <a:srgbClr val="B9CBE4"/>
            </a:solidFill>
            <a:prstDash val="solid"/>
          </a:ln>
        </p:spPr>
      </p:sp>
      <p:sp>
        <p:nvSpPr>
          <p:cNvPr id="22" name="Shape 20"/>
          <p:cNvSpPr/>
          <p:nvPr/>
        </p:nvSpPr>
        <p:spPr>
          <a:xfrm flipV="1">
            <a:off x="6111137" y="2675157"/>
            <a:ext cx="159698" cy="749493"/>
          </a:xfrm>
          <a:prstGeom prst="line">
            <a:avLst/>
          </a:prstGeom>
          <a:noFill/>
          <a:ln w="11430">
            <a:solidFill>
              <a:srgbClr val="B9CBE4"/>
            </a:solidFill>
            <a:prstDash val="solid"/>
          </a:ln>
        </p:spPr>
      </p:sp>
      <p:sp>
        <p:nvSpPr>
          <p:cNvPr id="23" name="Shape 21"/>
          <p:cNvSpPr/>
          <p:nvPr/>
        </p:nvSpPr>
        <p:spPr>
          <a:xfrm>
            <a:off x="6880549" y="855762"/>
            <a:ext cx="235379" cy="175707"/>
          </a:xfrm>
          <a:prstGeom prst="line">
            <a:avLst/>
          </a:prstGeom>
          <a:noFill/>
          <a:ln w="11430">
            <a:solidFill>
              <a:srgbClr val="B9CBE4"/>
            </a:solidFill>
            <a:prstDash val="solid"/>
          </a:ln>
        </p:spPr>
      </p:sp>
      <p:sp>
        <p:nvSpPr>
          <p:cNvPr id="24" name="Shape 22"/>
          <p:cNvSpPr/>
          <p:nvPr/>
        </p:nvSpPr>
        <p:spPr>
          <a:xfrm flipV="1">
            <a:off x="6159140" y="3083339"/>
            <a:ext cx="57172" cy="751453"/>
          </a:xfrm>
          <a:prstGeom prst="line">
            <a:avLst/>
          </a:prstGeom>
          <a:noFill/>
          <a:ln w="11430">
            <a:solidFill>
              <a:srgbClr val="B9CBE4"/>
            </a:solidFill>
            <a:prstDash val="solid"/>
          </a:ln>
        </p:spPr>
      </p:sp>
      <p:sp>
        <p:nvSpPr>
          <p:cNvPr id="25" name="Shape 23"/>
          <p:cNvSpPr/>
          <p:nvPr/>
        </p:nvSpPr>
        <p:spPr>
          <a:xfrm flipV="1">
            <a:off x="6159140" y="3827836"/>
            <a:ext cx="271737" cy="6956"/>
          </a:xfrm>
          <a:prstGeom prst="line">
            <a:avLst/>
          </a:prstGeom>
          <a:noFill/>
          <a:ln w="11430">
            <a:solidFill>
              <a:srgbClr val="B9CBE4"/>
            </a:solidFill>
            <a:prstDash val="solid"/>
          </a:ln>
        </p:spPr>
      </p:sp>
      <p:sp>
        <p:nvSpPr>
          <p:cNvPr id="26" name="Shape 24"/>
          <p:cNvSpPr/>
          <p:nvPr/>
        </p:nvSpPr>
        <p:spPr>
          <a:xfrm flipH="1" flipV="1">
            <a:off x="7914583" y="2023815"/>
            <a:ext cx="476476" cy="362200"/>
          </a:xfrm>
          <a:prstGeom prst="line">
            <a:avLst/>
          </a:prstGeom>
          <a:noFill/>
          <a:ln w="11430">
            <a:solidFill>
              <a:srgbClr val="B9CBE4"/>
            </a:solidFill>
            <a:prstDash val="solid"/>
          </a:ln>
        </p:spPr>
      </p:sp>
      <p:sp>
        <p:nvSpPr>
          <p:cNvPr id="27" name="Shape 25"/>
          <p:cNvSpPr/>
          <p:nvPr/>
        </p:nvSpPr>
        <p:spPr>
          <a:xfrm flipH="1" flipV="1">
            <a:off x="8048863" y="1831905"/>
            <a:ext cx="342196" cy="554110"/>
          </a:xfrm>
          <a:prstGeom prst="line">
            <a:avLst/>
          </a:prstGeom>
          <a:noFill/>
          <a:ln w="11430">
            <a:solidFill>
              <a:srgbClr val="B9CBE4"/>
            </a:solidFill>
            <a:prstDash val="solid"/>
          </a:ln>
        </p:spPr>
      </p:sp>
      <p:sp>
        <p:nvSpPr>
          <p:cNvPr id="28" name="Shape 26"/>
          <p:cNvSpPr/>
          <p:nvPr/>
        </p:nvSpPr>
        <p:spPr>
          <a:xfrm>
            <a:off x="7104902" y="2439105"/>
            <a:ext cx="378179" cy="734741"/>
          </a:xfrm>
          <a:prstGeom prst="line">
            <a:avLst/>
          </a:prstGeom>
          <a:noFill/>
          <a:ln w="11430">
            <a:solidFill>
              <a:srgbClr val="B9CBE4"/>
            </a:solidFill>
            <a:prstDash val="solid"/>
          </a:ln>
        </p:spPr>
      </p:sp>
      <p:sp>
        <p:nvSpPr>
          <p:cNvPr id="29" name="Shape 27"/>
          <p:cNvSpPr/>
          <p:nvPr/>
        </p:nvSpPr>
        <p:spPr>
          <a:xfrm flipV="1">
            <a:off x="7104902" y="2023815"/>
            <a:ext cx="809681" cy="415290"/>
          </a:xfrm>
          <a:prstGeom prst="line">
            <a:avLst/>
          </a:prstGeom>
          <a:noFill/>
          <a:ln w="11430">
            <a:solidFill>
              <a:srgbClr val="B9CBE4"/>
            </a:solidFill>
            <a:prstDash val="solid"/>
          </a:ln>
        </p:spPr>
      </p:sp>
      <p:sp>
        <p:nvSpPr>
          <p:cNvPr id="30" name="Shape 28"/>
          <p:cNvSpPr/>
          <p:nvPr/>
        </p:nvSpPr>
        <p:spPr>
          <a:xfrm>
            <a:off x="7104902" y="2439105"/>
            <a:ext cx="54934" cy="973895"/>
          </a:xfrm>
          <a:prstGeom prst="line">
            <a:avLst/>
          </a:prstGeom>
          <a:noFill/>
          <a:ln w="11430">
            <a:solidFill>
              <a:srgbClr val="B9CBE4"/>
            </a:solidFill>
            <a:prstDash val="solid"/>
          </a:ln>
        </p:spPr>
      </p:sp>
      <p:sp>
        <p:nvSpPr>
          <p:cNvPr id="31" name="Shape 29"/>
          <p:cNvSpPr/>
          <p:nvPr/>
        </p:nvSpPr>
        <p:spPr>
          <a:xfrm flipH="1" flipV="1">
            <a:off x="6884200" y="2226816"/>
            <a:ext cx="220702" cy="212289"/>
          </a:xfrm>
          <a:prstGeom prst="line">
            <a:avLst/>
          </a:prstGeom>
          <a:noFill/>
          <a:ln w="11430">
            <a:solidFill>
              <a:srgbClr val="B9CBE4"/>
            </a:solidFill>
            <a:prstDash val="solid"/>
          </a:ln>
        </p:spPr>
      </p:sp>
      <p:sp>
        <p:nvSpPr>
          <p:cNvPr id="32" name="Shape 30"/>
          <p:cNvSpPr/>
          <p:nvPr/>
        </p:nvSpPr>
        <p:spPr>
          <a:xfrm flipH="1" flipV="1">
            <a:off x="6290687" y="2141271"/>
            <a:ext cx="814215" cy="297834"/>
          </a:xfrm>
          <a:prstGeom prst="line">
            <a:avLst/>
          </a:prstGeom>
          <a:noFill/>
          <a:ln w="11430">
            <a:solidFill>
              <a:srgbClr val="B9CBE4"/>
            </a:solidFill>
            <a:prstDash val="solid"/>
          </a:ln>
        </p:spPr>
      </p:sp>
      <p:sp>
        <p:nvSpPr>
          <p:cNvPr id="33" name="Shape 31"/>
          <p:cNvSpPr/>
          <p:nvPr/>
        </p:nvSpPr>
        <p:spPr>
          <a:xfrm flipH="1">
            <a:off x="6270835" y="2439105"/>
            <a:ext cx="834067" cy="236052"/>
          </a:xfrm>
          <a:prstGeom prst="line">
            <a:avLst/>
          </a:prstGeom>
          <a:noFill/>
          <a:ln w="11430">
            <a:solidFill>
              <a:srgbClr val="B9CBE4"/>
            </a:solidFill>
            <a:prstDash val="solid"/>
          </a:ln>
        </p:spPr>
      </p:sp>
      <p:sp>
        <p:nvSpPr>
          <p:cNvPr id="34" name="Shape 32"/>
          <p:cNvSpPr/>
          <p:nvPr/>
        </p:nvSpPr>
        <p:spPr>
          <a:xfrm flipH="1">
            <a:off x="7159836" y="3173846"/>
            <a:ext cx="323246" cy="239154"/>
          </a:xfrm>
          <a:prstGeom prst="line">
            <a:avLst/>
          </a:prstGeom>
          <a:noFill/>
          <a:ln w="11430">
            <a:solidFill>
              <a:srgbClr val="B9CBE4"/>
            </a:solidFill>
            <a:prstDash val="solid"/>
          </a:ln>
        </p:spPr>
      </p:sp>
      <p:sp>
        <p:nvSpPr>
          <p:cNvPr id="35" name="Shape 33"/>
          <p:cNvSpPr/>
          <p:nvPr/>
        </p:nvSpPr>
        <p:spPr>
          <a:xfrm flipH="1">
            <a:off x="6884200" y="2023815"/>
            <a:ext cx="1030383" cy="203001"/>
          </a:xfrm>
          <a:prstGeom prst="line">
            <a:avLst/>
          </a:prstGeom>
          <a:noFill/>
          <a:ln w="11430">
            <a:solidFill>
              <a:srgbClr val="B9CBE4"/>
            </a:solidFill>
            <a:prstDash val="solid"/>
          </a:ln>
        </p:spPr>
      </p:sp>
      <p:sp>
        <p:nvSpPr>
          <p:cNvPr id="36" name="Shape 34"/>
          <p:cNvSpPr/>
          <p:nvPr/>
        </p:nvSpPr>
        <p:spPr>
          <a:xfrm flipV="1">
            <a:off x="7914583" y="1831905"/>
            <a:ext cx="134280" cy="191910"/>
          </a:xfrm>
          <a:prstGeom prst="line">
            <a:avLst/>
          </a:prstGeom>
          <a:noFill/>
          <a:ln w="11430">
            <a:solidFill>
              <a:srgbClr val="B9CBE4"/>
            </a:solidFill>
            <a:prstDash val="solid"/>
          </a:ln>
        </p:spPr>
      </p:sp>
      <p:sp>
        <p:nvSpPr>
          <p:cNvPr id="37" name="Shape 35"/>
          <p:cNvSpPr/>
          <p:nvPr/>
        </p:nvSpPr>
        <p:spPr>
          <a:xfrm flipH="1" flipV="1">
            <a:off x="6216312" y="3083339"/>
            <a:ext cx="943524" cy="329661"/>
          </a:xfrm>
          <a:prstGeom prst="line">
            <a:avLst/>
          </a:prstGeom>
          <a:noFill/>
          <a:ln w="11430">
            <a:solidFill>
              <a:srgbClr val="B9CBE4"/>
            </a:solidFill>
            <a:prstDash val="solid"/>
          </a:ln>
        </p:spPr>
      </p:sp>
      <p:sp>
        <p:nvSpPr>
          <p:cNvPr id="38" name="Shape 36"/>
          <p:cNvSpPr/>
          <p:nvPr/>
        </p:nvSpPr>
        <p:spPr>
          <a:xfrm flipH="1">
            <a:off x="6430877" y="3413000"/>
            <a:ext cx="728959" cy="414836"/>
          </a:xfrm>
          <a:prstGeom prst="line">
            <a:avLst/>
          </a:prstGeom>
          <a:noFill/>
          <a:ln w="11430">
            <a:solidFill>
              <a:srgbClr val="B9CBE4"/>
            </a:solidFill>
            <a:prstDash val="solid"/>
          </a:ln>
        </p:spPr>
      </p:sp>
      <p:sp>
        <p:nvSpPr>
          <p:cNvPr id="39" name="Shape 37"/>
          <p:cNvSpPr/>
          <p:nvPr/>
        </p:nvSpPr>
        <p:spPr>
          <a:xfrm flipH="1" flipV="1">
            <a:off x="6290687" y="2141271"/>
            <a:ext cx="593513" cy="85545"/>
          </a:xfrm>
          <a:prstGeom prst="line">
            <a:avLst/>
          </a:prstGeom>
          <a:noFill/>
          <a:ln w="11430">
            <a:solidFill>
              <a:srgbClr val="B9CBE4"/>
            </a:solidFill>
            <a:prstDash val="solid"/>
          </a:ln>
        </p:spPr>
      </p:sp>
      <p:sp>
        <p:nvSpPr>
          <p:cNvPr id="40" name="Shape 38"/>
          <p:cNvSpPr/>
          <p:nvPr/>
        </p:nvSpPr>
        <p:spPr>
          <a:xfrm flipH="1">
            <a:off x="6270835" y="2226816"/>
            <a:ext cx="613364" cy="448341"/>
          </a:xfrm>
          <a:prstGeom prst="line">
            <a:avLst/>
          </a:prstGeom>
          <a:noFill/>
          <a:ln w="11430">
            <a:solidFill>
              <a:srgbClr val="B9CBE4"/>
            </a:solidFill>
            <a:prstDash val="solid"/>
          </a:ln>
        </p:spPr>
      </p:sp>
      <p:sp>
        <p:nvSpPr>
          <p:cNvPr id="41" name="Shape 39"/>
          <p:cNvSpPr/>
          <p:nvPr/>
        </p:nvSpPr>
        <p:spPr>
          <a:xfrm>
            <a:off x="6216312" y="3083339"/>
            <a:ext cx="214565" cy="744497"/>
          </a:xfrm>
          <a:prstGeom prst="line">
            <a:avLst/>
          </a:prstGeom>
          <a:noFill/>
          <a:ln w="11430">
            <a:solidFill>
              <a:srgbClr val="B9CBE4"/>
            </a:solidFill>
            <a:prstDash val="solid"/>
          </a:ln>
        </p:spPr>
      </p:sp>
      <p:sp>
        <p:nvSpPr>
          <p:cNvPr id="42" name="Shape 40"/>
          <p:cNvSpPr/>
          <p:nvPr/>
        </p:nvSpPr>
        <p:spPr>
          <a:xfrm flipV="1">
            <a:off x="6216312" y="2141271"/>
            <a:ext cx="74375" cy="942067"/>
          </a:xfrm>
          <a:prstGeom prst="line">
            <a:avLst/>
          </a:prstGeom>
          <a:noFill/>
          <a:ln w="11430">
            <a:solidFill>
              <a:srgbClr val="B9CBE4"/>
            </a:solidFill>
            <a:prstDash val="solid"/>
          </a:ln>
        </p:spPr>
      </p:sp>
      <p:sp>
        <p:nvSpPr>
          <p:cNvPr id="43" name="Shape 41"/>
          <p:cNvSpPr/>
          <p:nvPr/>
        </p:nvSpPr>
        <p:spPr>
          <a:xfrm flipV="1">
            <a:off x="6216312" y="2675157"/>
            <a:ext cx="54523" cy="408182"/>
          </a:xfrm>
          <a:prstGeom prst="line">
            <a:avLst/>
          </a:prstGeom>
          <a:noFill/>
          <a:ln w="11430">
            <a:solidFill>
              <a:srgbClr val="B9CBE4"/>
            </a:solidFill>
            <a:prstDash val="solid"/>
          </a:ln>
        </p:spPr>
      </p:sp>
      <p:sp>
        <p:nvSpPr>
          <p:cNvPr id="44" name="Shape 42"/>
          <p:cNvSpPr/>
          <p:nvPr/>
        </p:nvSpPr>
        <p:spPr>
          <a:xfrm flipH="1">
            <a:off x="6270835" y="2141271"/>
            <a:ext cx="19851" cy="533885"/>
          </a:xfrm>
          <a:prstGeom prst="line">
            <a:avLst/>
          </a:prstGeom>
          <a:noFill/>
          <a:ln w="11430">
            <a:solidFill>
              <a:srgbClr val="B9CBE4"/>
            </a:solidFill>
            <a:prstDash val="solid"/>
          </a:ln>
        </p:spPr>
      </p:sp>
      <p:sp>
        <p:nvSpPr>
          <p:cNvPr id="45" name="Shape 43"/>
          <p:cNvSpPr/>
          <p:nvPr/>
        </p:nvSpPr>
        <p:spPr>
          <a:xfrm>
            <a:off x="6514833" y="3545336"/>
            <a:ext cx="128016" cy="128016"/>
          </a:xfrm>
          <a:prstGeom prst="ellipse">
            <a:avLst/>
          </a:prstGeom>
          <a:solidFill>
            <a:srgbClr val="5B8DC9"/>
          </a:solidFill>
          <a:ln/>
        </p:spPr>
      </p:sp>
      <p:sp>
        <p:nvSpPr>
          <p:cNvPr id="46" name="Shape 44"/>
          <p:cNvSpPr/>
          <p:nvPr/>
        </p:nvSpPr>
        <p:spPr>
          <a:xfrm>
            <a:off x="7437480" y="3588503"/>
            <a:ext cx="128016" cy="128016"/>
          </a:xfrm>
          <a:prstGeom prst="ellipse">
            <a:avLst/>
          </a:prstGeom>
          <a:solidFill>
            <a:srgbClr val="1F4A82"/>
          </a:solidFill>
          <a:ln/>
        </p:spPr>
      </p:sp>
      <p:sp>
        <p:nvSpPr>
          <p:cNvPr id="47" name="Shape 45"/>
          <p:cNvSpPr/>
          <p:nvPr/>
        </p:nvSpPr>
        <p:spPr>
          <a:xfrm>
            <a:off x="6047129" y="3360642"/>
            <a:ext cx="128016" cy="128016"/>
          </a:xfrm>
          <a:prstGeom prst="ellipse">
            <a:avLst/>
          </a:prstGeom>
          <a:solidFill>
            <a:srgbClr val="1F4A82"/>
          </a:solidFill>
          <a:ln/>
        </p:spPr>
      </p:sp>
      <p:sp>
        <p:nvSpPr>
          <p:cNvPr id="48" name="Shape 46"/>
          <p:cNvSpPr/>
          <p:nvPr/>
        </p:nvSpPr>
        <p:spPr>
          <a:xfrm>
            <a:off x="6816541" y="791754"/>
            <a:ext cx="128016" cy="128016"/>
          </a:xfrm>
          <a:prstGeom prst="ellipse">
            <a:avLst/>
          </a:prstGeom>
          <a:solidFill>
            <a:srgbClr val="5B8DC9"/>
          </a:solidFill>
          <a:ln/>
        </p:spPr>
      </p:sp>
      <p:sp>
        <p:nvSpPr>
          <p:cNvPr id="49" name="Shape 47"/>
          <p:cNvSpPr/>
          <p:nvPr/>
        </p:nvSpPr>
        <p:spPr>
          <a:xfrm>
            <a:off x="6095132" y="3770784"/>
            <a:ext cx="128016" cy="128016"/>
          </a:xfrm>
          <a:prstGeom prst="ellipse">
            <a:avLst/>
          </a:prstGeom>
          <a:solidFill>
            <a:srgbClr val="1F4A82"/>
          </a:solidFill>
          <a:ln/>
        </p:spPr>
      </p:sp>
      <p:sp>
        <p:nvSpPr>
          <p:cNvPr id="50" name="Shape 48"/>
          <p:cNvSpPr/>
          <p:nvPr/>
        </p:nvSpPr>
        <p:spPr>
          <a:xfrm>
            <a:off x="8327051" y="2322007"/>
            <a:ext cx="128016" cy="128016"/>
          </a:xfrm>
          <a:prstGeom prst="ellipse">
            <a:avLst/>
          </a:prstGeom>
          <a:solidFill>
            <a:srgbClr val="1F4A82"/>
          </a:solidFill>
          <a:ln/>
        </p:spPr>
      </p:sp>
      <p:sp>
        <p:nvSpPr>
          <p:cNvPr id="51" name="Shape 49"/>
          <p:cNvSpPr/>
          <p:nvPr/>
        </p:nvSpPr>
        <p:spPr>
          <a:xfrm>
            <a:off x="7040894" y="2375097"/>
            <a:ext cx="128016" cy="128016"/>
          </a:xfrm>
          <a:prstGeom prst="ellipse">
            <a:avLst/>
          </a:prstGeom>
          <a:solidFill>
            <a:srgbClr val="5B8DC9"/>
          </a:solidFill>
          <a:ln/>
        </p:spPr>
      </p:sp>
      <p:sp>
        <p:nvSpPr>
          <p:cNvPr id="52" name="Shape 50"/>
          <p:cNvSpPr/>
          <p:nvPr/>
        </p:nvSpPr>
        <p:spPr>
          <a:xfrm>
            <a:off x="7419073" y="3109838"/>
            <a:ext cx="128016" cy="128016"/>
          </a:xfrm>
          <a:prstGeom prst="ellipse">
            <a:avLst/>
          </a:prstGeom>
          <a:solidFill>
            <a:srgbClr val="1F4A82"/>
          </a:solidFill>
          <a:ln/>
        </p:spPr>
      </p:sp>
      <p:sp>
        <p:nvSpPr>
          <p:cNvPr id="53" name="Shape 51"/>
          <p:cNvSpPr/>
          <p:nvPr/>
        </p:nvSpPr>
        <p:spPr>
          <a:xfrm>
            <a:off x="7850575" y="1959807"/>
            <a:ext cx="128016" cy="128016"/>
          </a:xfrm>
          <a:prstGeom prst="ellipse">
            <a:avLst/>
          </a:prstGeom>
          <a:solidFill>
            <a:srgbClr val="1F4A82"/>
          </a:solidFill>
          <a:ln/>
        </p:spPr>
      </p:sp>
      <p:sp>
        <p:nvSpPr>
          <p:cNvPr id="54" name="Shape 52"/>
          <p:cNvSpPr/>
          <p:nvPr/>
        </p:nvSpPr>
        <p:spPr>
          <a:xfrm>
            <a:off x="7095828" y="3348992"/>
            <a:ext cx="128016" cy="128016"/>
          </a:xfrm>
          <a:prstGeom prst="ellipse">
            <a:avLst/>
          </a:prstGeom>
          <a:solidFill>
            <a:srgbClr val="5B8DC9"/>
          </a:solidFill>
          <a:ln/>
        </p:spPr>
      </p:sp>
      <p:sp>
        <p:nvSpPr>
          <p:cNvPr id="55" name="Shape 53"/>
          <p:cNvSpPr/>
          <p:nvPr/>
        </p:nvSpPr>
        <p:spPr>
          <a:xfrm>
            <a:off x="6820192" y="2162808"/>
            <a:ext cx="128016" cy="128016"/>
          </a:xfrm>
          <a:prstGeom prst="ellipse">
            <a:avLst/>
          </a:prstGeom>
          <a:solidFill>
            <a:srgbClr val="1F4A82"/>
          </a:solidFill>
          <a:ln/>
        </p:spPr>
      </p:sp>
      <p:sp>
        <p:nvSpPr>
          <p:cNvPr id="56" name="Shape 54"/>
          <p:cNvSpPr/>
          <p:nvPr/>
        </p:nvSpPr>
        <p:spPr>
          <a:xfrm>
            <a:off x="6152304" y="3019331"/>
            <a:ext cx="128016" cy="128016"/>
          </a:xfrm>
          <a:prstGeom prst="ellipse">
            <a:avLst/>
          </a:prstGeom>
          <a:solidFill>
            <a:srgbClr val="1F4A82"/>
          </a:solidFill>
          <a:ln/>
        </p:spPr>
      </p:sp>
      <p:sp>
        <p:nvSpPr>
          <p:cNvPr id="57" name="Shape 55"/>
          <p:cNvSpPr/>
          <p:nvPr/>
        </p:nvSpPr>
        <p:spPr>
          <a:xfrm>
            <a:off x="7984855" y="1767897"/>
            <a:ext cx="128016" cy="128016"/>
          </a:xfrm>
          <a:prstGeom prst="ellipse">
            <a:avLst/>
          </a:prstGeom>
          <a:solidFill>
            <a:srgbClr val="5B8DC9"/>
          </a:solidFill>
          <a:ln/>
        </p:spPr>
      </p:sp>
      <p:sp>
        <p:nvSpPr>
          <p:cNvPr id="58" name="Shape 56"/>
          <p:cNvSpPr/>
          <p:nvPr/>
        </p:nvSpPr>
        <p:spPr>
          <a:xfrm>
            <a:off x="6366869" y="3763828"/>
            <a:ext cx="128016" cy="128016"/>
          </a:xfrm>
          <a:prstGeom prst="ellipse">
            <a:avLst/>
          </a:prstGeom>
          <a:solidFill>
            <a:srgbClr val="1F4A82"/>
          </a:solidFill>
          <a:ln/>
        </p:spPr>
      </p:sp>
      <p:sp>
        <p:nvSpPr>
          <p:cNvPr id="59" name="Shape 57"/>
          <p:cNvSpPr/>
          <p:nvPr/>
        </p:nvSpPr>
        <p:spPr>
          <a:xfrm>
            <a:off x="6226679" y="2077263"/>
            <a:ext cx="128016" cy="128016"/>
          </a:xfrm>
          <a:prstGeom prst="ellipse">
            <a:avLst/>
          </a:prstGeom>
          <a:solidFill>
            <a:srgbClr val="1F4A82"/>
          </a:solidFill>
          <a:ln/>
        </p:spPr>
      </p:sp>
      <p:sp>
        <p:nvSpPr>
          <p:cNvPr id="60" name="Shape 58"/>
          <p:cNvSpPr/>
          <p:nvPr/>
        </p:nvSpPr>
        <p:spPr>
          <a:xfrm>
            <a:off x="7051920" y="967461"/>
            <a:ext cx="128016" cy="128016"/>
          </a:xfrm>
          <a:prstGeom prst="ellipse">
            <a:avLst/>
          </a:prstGeom>
          <a:solidFill>
            <a:srgbClr val="5B8DC9"/>
          </a:solidFill>
          <a:ln/>
        </p:spPr>
      </p:sp>
      <p:sp>
        <p:nvSpPr>
          <p:cNvPr id="61" name="Shape 59"/>
          <p:cNvSpPr/>
          <p:nvPr/>
        </p:nvSpPr>
        <p:spPr>
          <a:xfrm>
            <a:off x="6206827" y="2611149"/>
            <a:ext cx="128016" cy="128016"/>
          </a:xfrm>
          <a:prstGeom prst="ellipse">
            <a:avLst/>
          </a:prstGeom>
          <a:solidFill>
            <a:srgbClr val="1F4A82"/>
          </a:solidFill>
          <a:ln/>
        </p:spPr>
      </p:sp>
      <p:sp>
        <p:nvSpPr>
          <p:cNvPr id="62" name="Shape 60"/>
          <p:cNvSpPr/>
          <p:nvPr/>
        </p:nvSpPr>
        <p:spPr>
          <a:xfrm>
            <a:off x="5943600" y="3931920"/>
            <a:ext cx="552069" cy="219456"/>
          </a:xfrm>
          <a:prstGeom prst="roundRect">
            <a:avLst>
              <a:gd name="adj" fmla="val 50000"/>
            </a:avLst>
          </a:prstGeom>
          <a:solidFill>
            <a:srgbClr val="E3ECF7"/>
          </a:solidFill>
          <a:ln/>
        </p:spPr>
      </p:sp>
      <p:sp>
        <p:nvSpPr>
          <p:cNvPr id="63" name="Text 61"/>
          <p:cNvSpPr txBox="1"/>
          <p:nvPr/>
        </p:nvSpPr>
        <p:spPr>
          <a:xfrm>
            <a:off x="5943600" y="3931920"/>
            <a:ext cx="552069" cy="219456"/>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Excel</a:t>
            </a:r>
            <a:endParaRPr lang="en-US" sz="900" dirty="0"/>
          </a:p>
        </p:txBody>
      </p:sp>
      <p:sp>
        <p:nvSpPr>
          <p:cNvPr id="64" name="Shape 62"/>
          <p:cNvSpPr/>
          <p:nvPr/>
        </p:nvSpPr>
        <p:spPr>
          <a:xfrm>
            <a:off x="6812280" y="3931920"/>
            <a:ext cx="866394" cy="219456"/>
          </a:xfrm>
          <a:prstGeom prst="roundRect">
            <a:avLst>
              <a:gd name="adj" fmla="val 50000"/>
            </a:avLst>
          </a:prstGeom>
          <a:solidFill>
            <a:srgbClr val="E3ECF7"/>
          </a:solidFill>
          <a:ln/>
        </p:spPr>
      </p:sp>
      <p:sp>
        <p:nvSpPr>
          <p:cNvPr id="65" name="Text 63"/>
          <p:cNvSpPr txBox="1"/>
          <p:nvPr/>
        </p:nvSpPr>
        <p:spPr>
          <a:xfrm>
            <a:off x="6812280" y="3931920"/>
            <a:ext cx="866394" cy="219456"/>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OMR sheets</a:t>
            </a:r>
            <a:endParaRPr lang="en-US" sz="900" dirty="0"/>
          </a:p>
        </p:txBody>
      </p:sp>
      <p:sp>
        <p:nvSpPr>
          <p:cNvPr id="66" name="Shape 64"/>
          <p:cNvSpPr/>
          <p:nvPr/>
        </p:nvSpPr>
        <p:spPr>
          <a:xfrm>
            <a:off x="7680960" y="3931920"/>
            <a:ext cx="740664" cy="219456"/>
          </a:xfrm>
          <a:prstGeom prst="roundRect">
            <a:avLst>
              <a:gd name="adj" fmla="val 50000"/>
            </a:avLst>
          </a:prstGeom>
          <a:solidFill>
            <a:srgbClr val="E3ECF7"/>
          </a:solidFill>
          <a:ln/>
        </p:spPr>
      </p:sp>
      <p:sp>
        <p:nvSpPr>
          <p:cNvPr id="67" name="Text 65"/>
          <p:cNvSpPr txBox="1"/>
          <p:nvPr/>
        </p:nvSpPr>
        <p:spPr>
          <a:xfrm>
            <a:off x="7680960" y="3931920"/>
            <a:ext cx="740664" cy="219456"/>
          </a:xfrm>
          <a:prstGeom prst="rect">
            <a:avLst/>
          </a:prstGeom>
          <a:noFill/>
          <a:ln/>
        </p:spPr>
        <p:txBody>
          <a:bodyPr wrap="square" lIns="0" tIns="0" rIns="0" bIns="0" rtlCol="0" anchor="ctr"/>
          <a:lstStyle/>
          <a:p>
            <a:pPr algn="ctr" indent="0" marL="0">
              <a:buNone/>
            </a:pPr>
            <a:r>
              <a:rPr lang="en-US" sz="900" dirty="0">
                <a:solidFill>
                  <a:srgbClr val="17325C"/>
                </a:solidFill>
                <a:latin typeface="Calibri" pitchFamily="34" charset="0"/>
                <a:ea typeface="Calibri" pitchFamily="34" charset="-122"/>
                <a:cs typeface="Calibri" pitchFamily="34" charset="-120"/>
              </a:rPr>
              <a:t>WhatsApp</a:t>
            </a:r>
            <a:endParaRPr lang="en-US" sz="900" dirty="0"/>
          </a:p>
        </p:txBody>
      </p:sp>
      <p:sp>
        <p:nvSpPr>
          <p:cNvPr id="68" name="Shape 66"/>
          <p:cNvSpPr/>
          <p:nvPr/>
        </p:nvSpPr>
        <p:spPr>
          <a:xfrm>
            <a:off x="8641080" y="2286000"/>
            <a:ext cx="502920" cy="0"/>
          </a:xfrm>
          <a:prstGeom prst="line">
            <a:avLst/>
          </a:prstGeom>
          <a:noFill/>
          <a:ln w="38100">
            <a:solidFill>
              <a:srgbClr val="1F4A82"/>
            </a:solidFill>
            <a:prstDash val="solid"/>
            <a:tailEnd type="triangle"/>
          </a:ln>
        </p:spPr>
      </p:sp>
      <p:sp>
        <p:nvSpPr>
          <p:cNvPr id="69" name="Shape 67"/>
          <p:cNvSpPr/>
          <p:nvPr/>
        </p:nvSpPr>
        <p:spPr>
          <a:xfrm>
            <a:off x="9281160" y="822960"/>
            <a:ext cx="384048" cy="512064"/>
          </a:xfrm>
          <a:prstGeom prst="rect">
            <a:avLst/>
          </a:prstGeom>
          <a:solidFill>
            <a:srgbClr val="E3ECF7"/>
          </a:solidFill>
          <a:ln/>
        </p:spPr>
      </p:sp>
      <p:sp>
        <p:nvSpPr>
          <p:cNvPr id="70" name="Shape 68"/>
          <p:cNvSpPr/>
          <p:nvPr/>
        </p:nvSpPr>
        <p:spPr>
          <a:xfrm>
            <a:off x="9692640" y="822960"/>
            <a:ext cx="384048" cy="512064"/>
          </a:xfrm>
          <a:prstGeom prst="rect">
            <a:avLst/>
          </a:prstGeom>
          <a:solidFill>
            <a:srgbClr val="2E6DB4"/>
          </a:solidFill>
          <a:ln/>
        </p:spPr>
      </p:sp>
      <p:sp>
        <p:nvSpPr>
          <p:cNvPr id="71" name="Shape 69"/>
          <p:cNvSpPr/>
          <p:nvPr/>
        </p:nvSpPr>
        <p:spPr>
          <a:xfrm>
            <a:off x="10104120" y="822960"/>
            <a:ext cx="384048" cy="512064"/>
          </a:xfrm>
          <a:prstGeom prst="rect">
            <a:avLst/>
          </a:prstGeom>
          <a:solidFill>
            <a:srgbClr val="C9DBF0"/>
          </a:solidFill>
          <a:ln/>
        </p:spPr>
      </p:sp>
      <p:sp>
        <p:nvSpPr>
          <p:cNvPr id="72" name="Shape 70"/>
          <p:cNvSpPr/>
          <p:nvPr/>
        </p:nvSpPr>
        <p:spPr>
          <a:xfrm>
            <a:off x="10515600" y="822960"/>
            <a:ext cx="384048" cy="512064"/>
          </a:xfrm>
          <a:prstGeom prst="rect">
            <a:avLst/>
          </a:prstGeom>
          <a:solidFill>
            <a:srgbClr val="1F4A82"/>
          </a:solidFill>
          <a:ln/>
        </p:spPr>
      </p:sp>
      <p:sp>
        <p:nvSpPr>
          <p:cNvPr id="73" name="Shape 71"/>
          <p:cNvSpPr/>
          <p:nvPr/>
        </p:nvSpPr>
        <p:spPr>
          <a:xfrm>
            <a:off x="10927080" y="822960"/>
            <a:ext cx="384048" cy="512064"/>
          </a:xfrm>
          <a:prstGeom prst="rect">
            <a:avLst/>
          </a:prstGeom>
          <a:solidFill>
            <a:srgbClr val="2E6DB4"/>
          </a:solidFill>
          <a:ln/>
        </p:spPr>
      </p:sp>
      <p:sp>
        <p:nvSpPr>
          <p:cNvPr id="74" name="Shape 72"/>
          <p:cNvSpPr/>
          <p:nvPr/>
        </p:nvSpPr>
        <p:spPr>
          <a:xfrm>
            <a:off x="11338560" y="822960"/>
            <a:ext cx="384048" cy="512064"/>
          </a:xfrm>
          <a:prstGeom prst="rect">
            <a:avLst/>
          </a:prstGeom>
          <a:solidFill>
            <a:srgbClr val="C9DBF0"/>
          </a:solidFill>
          <a:ln/>
        </p:spPr>
      </p:sp>
      <p:sp>
        <p:nvSpPr>
          <p:cNvPr id="75" name="Shape 73"/>
          <p:cNvSpPr/>
          <p:nvPr/>
        </p:nvSpPr>
        <p:spPr>
          <a:xfrm>
            <a:off x="9281160" y="1371600"/>
            <a:ext cx="384048" cy="512064"/>
          </a:xfrm>
          <a:prstGeom prst="rect">
            <a:avLst/>
          </a:prstGeom>
          <a:solidFill>
            <a:srgbClr val="7FA6D6"/>
          </a:solidFill>
          <a:ln/>
        </p:spPr>
      </p:sp>
      <p:sp>
        <p:nvSpPr>
          <p:cNvPr id="76" name="Shape 74"/>
          <p:cNvSpPr/>
          <p:nvPr/>
        </p:nvSpPr>
        <p:spPr>
          <a:xfrm>
            <a:off x="9692640" y="1371600"/>
            <a:ext cx="384048" cy="512064"/>
          </a:xfrm>
          <a:prstGeom prst="rect">
            <a:avLst/>
          </a:prstGeom>
          <a:solidFill>
            <a:srgbClr val="E3ECF7"/>
          </a:solidFill>
          <a:ln/>
        </p:spPr>
      </p:sp>
      <p:sp>
        <p:nvSpPr>
          <p:cNvPr id="77" name="Shape 75"/>
          <p:cNvSpPr/>
          <p:nvPr/>
        </p:nvSpPr>
        <p:spPr>
          <a:xfrm>
            <a:off x="10104120" y="1371600"/>
            <a:ext cx="384048" cy="512064"/>
          </a:xfrm>
          <a:prstGeom prst="rect">
            <a:avLst/>
          </a:prstGeom>
          <a:solidFill>
            <a:srgbClr val="2E6DB4"/>
          </a:solidFill>
          <a:ln/>
        </p:spPr>
      </p:sp>
      <p:sp>
        <p:nvSpPr>
          <p:cNvPr id="78" name="Shape 76"/>
          <p:cNvSpPr/>
          <p:nvPr/>
        </p:nvSpPr>
        <p:spPr>
          <a:xfrm>
            <a:off x="10515600" y="1371600"/>
            <a:ext cx="384048" cy="512064"/>
          </a:xfrm>
          <a:prstGeom prst="rect">
            <a:avLst/>
          </a:prstGeom>
          <a:solidFill>
            <a:srgbClr val="C9DBF0"/>
          </a:solidFill>
          <a:ln/>
        </p:spPr>
      </p:sp>
      <p:sp>
        <p:nvSpPr>
          <p:cNvPr id="79" name="Shape 77"/>
          <p:cNvSpPr/>
          <p:nvPr/>
        </p:nvSpPr>
        <p:spPr>
          <a:xfrm>
            <a:off x="10927080" y="1371600"/>
            <a:ext cx="384048" cy="512064"/>
          </a:xfrm>
          <a:prstGeom prst="rect">
            <a:avLst/>
          </a:prstGeom>
          <a:solidFill>
            <a:srgbClr val="E3ECF7"/>
          </a:solidFill>
          <a:ln/>
        </p:spPr>
      </p:sp>
      <p:sp>
        <p:nvSpPr>
          <p:cNvPr id="80" name="Shape 78"/>
          <p:cNvSpPr/>
          <p:nvPr/>
        </p:nvSpPr>
        <p:spPr>
          <a:xfrm>
            <a:off x="11338560" y="1371600"/>
            <a:ext cx="384048" cy="512064"/>
          </a:xfrm>
          <a:prstGeom prst="rect">
            <a:avLst/>
          </a:prstGeom>
          <a:solidFill>
            <a:srgbClr val="2E6DB4"/>
          </a:solidFill>
          <a:ln/>
        </p:spPr>
      </p:sp>
      <p:sp>
        <p:nvSpPr>
          <p:cNvPr id="81" name="Shape 79"/>
          <p:cNvSpPr/>
          <p:nvPr/>
        </p:nvSpPr>
        <p:spPr>
          <a:xfrm>
            <a:off x="9281160" y="1920240"/>
            <a:ext cx="384048" cy="512064"/>
          </a:xfrm>
          <a:prstGeom prst="rect">
            <a:avLst/>
          </a:prstGeom>
          <a:solidFill>
            <a:srgbClr val="1F4A82"/>
          </a:solidFill>
          <a:ln/>
        </p:spPr>
      </p:sp>
      <p:sp>
        <p:nvSpPr>
          <p:cNvPr id="82" name="Shape 80"/>
          <p:cNvSpPr/>
          <p:nvPr/>
        </p:nvSpPr>
        <p:spPr>
          <a:xfrm>
            <a:off x="9692640" y="1920240"/>
            <a:ext cx="384048" cy="512064"/>
          </a:xfrm>
          <a:prstGeom prst="rect">
            <a:avLst/>
          </a:prstGeom>
          <a:solidFill>
            <a:srgbClr val="7FA6D6"/>
          </a:solidFill>
          <a:ln/>
        </p:spPr>
      </p:sp>
      <p:sp>
        <p:nvSpPr>
          <p:cNvPr id="83" name="Shape 81"/>
          <p:cNvSpPr/>
          <p:nvPr/>
        </p:nvSpPr>
        <p:spPr>
          <a:xfrm>
            <a:off x="10104120" y="1920240"/>
            <a:ext cx="384048" cy="512064"/>
          </a:xfrm>
          <a:prstGeom prst="rect">
            <a:avLst/>
          </a:prstGeom>
          <a:solidFill>
            <a:srgbClr val="E3ECF7"/>
          </a:solidFill>
          <a:ln/>
        </p:spPr>
      </p:sp>
      <p:sp>
        <p:nvSpPr>
          <p:cNvPr id="84" name="Shape 82"/>
          <p:cNvSpPr/>
          <p:nvPr/>
        </p:nvSpPr>
        <p:spPr>
          <a:xfrm>
            <a:off x="10515600" y="1920240"/>
            <a:ext cx="384048" cy="512064"/>
          </a:xfrm>
          <a:prstGeom prst="rect">
            <a:avLst/>
          </a:prstGeom>
          <a:solidFill>
            <a:srgbClr val="2E6DB4"/>
          </a:solidFill>
          <a:ln/>
        </p:spPr>
      </p:sp>
      <p:sp>
        <p:nvSpPr>
          <p:cNvPr id="85" name="Shape 83"/>
          <p:cNvSpPr/>
          <p:nvPr/>
        </p:nvSpPr>
        <p:spPr>
          <a:xfrm>
            <a:off x="10927080" y="1920240"/>
            <a:ext cx="384048" cy="512064"/>
          </a:xfrm>
          <a:prstGeom prst="rect">
            <a:avLst/>
          </a:prstGeom>
          <a:solidFill>
            <a:srgbClr val="7FA6D6"/>
          </a:solidFill>
          <a:ln/>
        </p:spPr>
      </p:sp>
      <p:sp>
        <p:nvSpPr>
          <p:cNvPr id="86" name="Shape 84"/>
          <p:cNvSpPr/>
          <p:nvPr/>
        </p:nvSpPr>
        <p:spPr>
          <a:xfrm>
            <a:off x="11338560" y="1920240"/>
            <a:ext cx="384048" cy="512064"/>
          </a:xfrm>
          <a:prstGeom prst="rect">
            <a:avLst/>
          </a:prstGeom>
          <a:solidFill>
            <a:srgbClr val="E3ECF7"/>
          </a:solidFill>
          <a:ln/>
        </p:spPr>
      </p:sp>
      <p:sp>
        <p:nvSpPr>
          <p:cNvPr id="87" name="Shape 85"/>
          <p:cNvSpPr/>
          <p:nvPr/>
        </p:nvSpPr>
        <p:spPr>
          <a:xfrm>
            <a:off x="9281160" y="2468880"/>
            <a:ext cx="384048" cy="512064"/>
          </a:xfrm>
          <a:prstGeom prst="rect">
            <a:avLst/>
          </a:prstGeom>
          <a:solidFill>
            <a:srgbClr val="C9DBF0"/>
          </a:solidFill>
          <a:ln/>
        </p:spPr>
      </p:sp>
      <p:sp>
        <p:nvSpPr>
          <p:cNvPr id="88" name="Shape 86"/>
          <p:cNvSpPr/>
          <p:nvPr/>
        </p:nvSpPr>
        <p:spPr>
          <a:xfrm>
            <a:off x="9692640" y="2468880"/>
            <a:ext cx="384048" cy="512064"/>
          </a:xfrm>
          <a:prstGeom prst="rect">
            <a:avLst/>
          </a:prstGeom>
          <a:solidFill>
            <a:srgbClr val="1F4A82"/>
          </a:solidFill>
          <a:ln/>
        </p:spPr>
      </p:sp>
      <p:sp>
        <p:nvSpPr>
          <p:cNvPr id="89" name="Shape 87"/>
          <p:cNvSpPr/>
          <p:nvPr/>
        </p:nvSpPr>
        <p:spPr>
          <a:xfrm>
            <a:off x="10104120" y="2468880"/>
            <a:ext cx="384048" cy="512064"/>
          </a:xfrm>
          <a:prstGeom prst="rect">
            <a:avLst/>
          </a:prstGeom>
          <a:solidFill>
            <a:srgbClr val="7FA6D6"/>
          </a:solidFill>
          <a:ln/>
        </p:spPr>
      </p:sp>
      <p:sp>
        <p:nvSpPr>
          <p:cNvPr id="90" name="Shape 88"/>
          <p:cNvSpPr/>
          <p:nvPr/>
        </p:nvSpPr>
        <p:spPr>
          <a:xfrm>
            <a:off x="10515600" y="2468880"/>
            <a:ext cx="384048" cy="512064"/>
          </a:xfrm>
          <a:prstGeom prst="rect">
            <a:avLst/>
          </a:prstGeom>
          <a:solidFill>
            <a:srgbClr val="E3ECF7"/>
          </a:solidFill>
          <a:ln/>
        </p:spPr>
      </p:sp>
      <p:sp>
        <p:nvSpPr>
          <p:cNvPr id="91" name="Shape 89"/>
          <p:cNvSpPr/>
          <p:nvPr/>
        </p:nvSpPr>
        <p:spPr>
          <a:xfrm>
            <a:off x="10927080" y="2468880"/>
            <a:ext cx="384048" cy="512064"/>
          </a:xfrm>
          <a:prstGeom prst="rect">
            <a:avLst/>
          </a:prstGeom>
          <a:solidFill>
            <a:srgbClr val="1F4A82"/>
          </a:solidFill>
          <a:ln/>
        </p:spPr>
      </p:sp>
      <p:sp>
        <p:nvSpPr>
          <p:cNvPr id="92" name="Shape 90"/>
          <p:cNvSpPr/>
          <p:nvPr/>
        </p:nvSpPr>
        <p:spPr>
          <a:xfrm>
            <a:off x="11338560" y="2468880"/>
            <a:ext cx="384048" cy="512064"/>
          </a:xfrm>
          <a:prstGeom prst="rect">
            <a:avLst/>
          </a:prstGeom>
          <a:solidFill>
            <a:srgbClr val="7FA6D6"/>
          </a:solidFill>
          <a:ln/>
        </p:spPr>
      </p:sp>
      <p:sp>
        <p:nvSpPr>
          <p:cNvPr id="93" name="Shape 91"/>
          <p:cNvSpPr/>
          <p:nvPr/>
        </p:nvSpPr>
        <p:spPr>
          <a:xfrm>
            <a:off x="9281160" y="3017520"/>
            <a:ext cx="384048" cy="512064"/>
          </a:xfrm>
          <a:prstGeom prst="rect">
            <a:avLst/>
          </a:prstGeom>
          <a:solidFill>
            <a:srgbClr val="2E6DB4"/>
          </a:solidFill>
          <a:ln/>
        </p:spPr>
      </p:sp>
      <p:sp>
        <p:nvSpPr>
          <p:cNvPr id="94" name="Shape 92"/>
          <p:cNvSpPr/>
          <p:nvPr/>
        </p:nvSpPr>
        <p:spPr>
          <a:xfrm>
            <a:off x="9692640" y="3017520"/>
            <a:ext cx="384048" cy="512064"/>
          </a:xfrm>
          <a:prstGeom prst="rect">
            <a:avLst/>
          </a:prstGeom>
          <a:solidFill>
            <a:srgbClr val="C9DBF0"/>
          </a:solidFill>
          <a:ln/>
        </p:spPr>
      </p:sp>
      <p:sp>
        <p:nvSpPr>
          <p:cNvPr id="95" name="Shape 93"/>
          <p:cNvSpPr/>
          <p:nvPr/>
        </p:nvSpPr>
        <p:spPr>
          <a:xfrm>
            <a:off x="10104120" y="3017520"/>
            <a:ext cx="384048" cy="512064"/>
          </a:xfrm>
          <a:prstGeom prst="rect">
            <a:avLst/>
          </a:prstGeom>
          <a:solidFill>
            <a:srgbClr val="1F4A82"/>
          </a:solidFill>
          <a:ln/>
        </p:spPr>
      </p:sp>
      <p:sp>
        <p:nvSpPr>
          <p:cNvPr id="96" name="Shape 94"/>
          <p:cNvSpPr/>
          <p:nvPr/>
        </p:nvSpPr>
        <p:spPr>
          <a:xfrm>
            <a:off x="10515600" y="3017520"/>
            <a:ext cx="384048" cy="512064"/>
          </a:xfrm>
          <a:prstGeom prst="rect">
            <a:avLst/>
          </a:prstGeom>
          <a:solidFill>
            <a:srgbClr val="7FA6D6"/>
          </a:solidFill>
          <a:ln/>
        </p:spPr>
      </p:sp>
      <p:sp>
        <p:nvSpPr>
          <p:cNvPr id="97" name="Shape 95"/>
          <p:cNvSpPr/>
          <p:nvPr/>
        </p:nvSpPr>
        <p:spPr>
          <a:xfrm>
            <a:off x="10927080" y="3017520"/>
            <a:ext cx="384048" cy="512064"/>
          </a:xfrm>
          <a:prstGeom prst="rect">
            <a:avLst/>
          </a:prstGeom>
          <a:solidFill>
            <a:srgbClr val="C9DBF0"/>
          </a:solidFill>
          <a:ln/>
        </p:spPr>
      </p:sp>
      <p:sp>
        <p:nvSpPr>
          <p:cNvPr id="98" name="Shape 96"/>
          <p:cNvSpPr/>
          <p:nvPr/>
        </p:nvSpPr>
        <p:spPr>
          <a:xfrm>
            <a:off x="11338560" y="3017520"/>
            <a:ext cx="384048" cy="512064"/>
          </a:xfrm>
          <a:prstGeom prst="rect">
            <a:avLst/>
          </a:prstGeom>
          <a:solidFill>
            <a:srgbClr val="1F4A82"/>
          </a:solidFill>
          <a:ln/>
        </p:spPr>
      </p:sp>
      <p:sp>
        <p:nvSpPr>
          <p:cNvPr id="99" name="Text 97"/>
          <p:cNvSpPr txBox="1"/>
          <p:nvPr/>
        </p:nvSpPr>
        <p:spPr>
          <a:xfrm>
            <a:off x="9281160" y="3931920"/>
            <a:ext cx="2468880" cy="237744"/>
          </a:xfrm>
          <a:prstGeom prst="rect">
            <a:avLst/>
          </a:prstGeom>
          <a:noFill/>
          <a:ln/>
        </p:spPr>
        <p:txBody>
          <a:bodyPr wrap="square" lIns="0" tIns="0" rIns="0" bIns="0" rtlCol="0" anchor="t"/>
          <a:lstStyle/>
          <a:p>
            <a:pPr algn="ctr" indent="0" marL="0">
              <a:buNone/>
            </a:pPr>
            <a:r>
              <a:rPr lang="en-US" sz="950" b="1" dirty="0">
                <a:solidFill>
                  <a:srgbClr val="1F4A82"/>
                </a:solidFill>
                <a:latin typeface="Calibri" pitchFamily="34" charset="0"/>
                <a:ea typeface="Calibri" pitchFamily="34" charset="-122"/>
                <a:cs typeface="Calibri" pitchFamily="34" charset="-120"/>
              </a:rPr>
              <a:t>One clear topic map</a:t>
            </a:r>
            <a:endParaRPr lang="en-US" sz="950" dirty="0"/>
          </a:p>
        </p:txBody>
      </p:sp>
      <p:sp>
        <p:nvSpPr>
          <p:cNvPr id="100" name="Shape 98"/>
          <p:cNvSpPr/>
          <p:nvPr/>
        </p:nvSpPr>
        <p:spPr>
          <a:xfrm>
            <a:off x="411480" y="4709160"/>
            <a:ext cx="1463040" cy="1371600"/>
          </a:xfrm>
          <a:prstGeom prst="rect">
            <a:avLst/>
          </a:prstGeom>
          <a:solidFill>
            <a:srgbClr val="1F4A82"/>
          </a:solidFill>
          <a:ln/>
        </p:spPr>
      </p:sp>
      <p:sp>
        <p:nvSpPr>
          <p:cNvPr id="101" name="Text 99"/>
          <p:cNvSpPr txBox="1"/>
          <p:nvPr/>
        </p:nvSpPr>
        <p:spPr>
          <a:xfrm>
            <a:off x="411480" y="4709160"/>
            <a:ext cx="1463040" cy="137160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0.76</a:t>
            </a:r>
            <a:endParaRPr lang="en-US" sz="3000" dirty="0"/>
          </a:p>
        </p:txBody>
      </p:sp>
      <p:sp>
        <p:nvSpPr>
          <p:cNvPr id="102" name="Shape 100"/>
          <p:cNvSpPr/>
          <p:nvPr/>
        </p:nvSpPr>
        <p:spPr>
          <a:xfrm>
            <a:off x="1874520" y="4709160"/>
            <a:ext cx="2235098" cy="1371600"/>
          </a:xfrm>
          <a:prstGeom prst="rect">
            <a:avLst/>
          </a:prstGeom>
          <a:solidFill>
            <a:srgbClr val="F4F7FB"/>
          </a:solidFill>
          <a:ln w="12700">
            <a:solidFill>
              <a:srgbClr val="C9D6E8"/>
            </a:solidFill>
            <a:prstDash val="solid"/>
          </a:ln>
        </p:spPr>
      </p:sp>
      <p:sp>
        <p:nvSpPr>
          <p:cNvPr id="103" name="Text 101"/>
          <p:cNvSpPr txBox="1"/>
          <p:nvPr/>
        </p:nvSpPr>
        <p:spPr>
          <a:xfrm>
            <a:off x="2011680" y="4965192"/>
            <a:ext cx="2006498" cy="457200"/>
          </a:xfrm>
          <a:prstGeom prst="rect">
            <a:avLst/>
          </a:prstGeom>
          <a:noFill/>
          <a:ln/>
        </p:spPr>
        <p:txBody>
          <a:bodyPr wrap="square" lIns="0" tIns="0" rIns="0" bIns="0" rtlCol="0" anchor="ctr"/>
          <a:lstStyle/>
          <a:p>
            <a:pPr algn="l" indent="0" marL="0">
              <a:buNone/>
            </a:pPr>
            <a:r>
              <a:rPr lang="en-US" sz="1400" b="1" dirty="0">
                <a:solidFill>
                  <a:srgbClr val="17325C"/>
                </a:solidFill>
                <a:latin typeface="Calibri" pitchFamily="34" charset="0"/>
                <a:ea typeface="Calibri" pitchFamily="34" charset="-122"/>
                <a:cs typeface="Calibri" pitchFamily="34" charset="-120"/>
              </a:rPr>
              <a:t>Prediction accuracy score</a:t>
            </a:r>
            <a:endParaRPr lang="en-US" sz="1400" dirty="0"/>
          </a:p>
        </p:txBody>
      </p:sp>
      <p:sp>
        <p:nvSpPr>
          <p:cNvPr id="104" name="Text 102"/>
          <p:cNvSpPr txBox="1"/>
          <p:nvPr/>
        </p:nvSpPr>
        <p:spPr>
          <a:xfrm>
            <a:off x="2011680" y="5458968"/>
            <a:ext cx="2006498" cy="457200"/>
          </a:xfrm>
          <a:prstGeom prst="rect">
            <a:avLst/>
          </a:prstGeom>
          <a:noFill/>
          <a:ln/>
        </p:spPr>
        <p:txBody>
          <a:bodyPr wrap="square" lIns="0" tIns="0" rIns="0" bIns="0" rtlCol="0" anchor="t"/>
          <a:lstStyle/>
          <a:p>
            <a:pPr algn="l" indent="0" marL="0">
              <a:buNone/>
            </a:pPr>
            <a:r>
              <a:rPr lang="en-US" sz="1050" dirty="0">
                <a:solidFill>
                  <a:srgbClr val="5B6573"/>
                </a:solidFill>
                <a:latin typeface="Calibri" pitchFamily="34" charset="0"/>
                <a:ea typeface="Calibri" pitchFamily="34" charset="-122"/>
                <a:cs typeface="Calibri" pitchFamily="34" charset="-120"/>
              </a:rPr>
              <a:t>Public data; published rival 0.75</a:t>
            </a:r>
            <a:endParaRPr lang="en-US" sz="1050" dirty="0"/>
          </a:p>
        </p:txBody>
      </p:sp>
      <p:sp>
        <p:nvSpPr>
          <p:cNvPr id="105" name="Shape 103"/>
          <p:cNvSpPr/>
          <p:nvPr/>
        </p:nvSpPr>
        <p:spPr>
          <a:xfrm>
            <a:off x="4246778" y="4709160"/>
            <a:ext cx="1463040" cy="1371600"/>
          </a:xfrm>
          <a:prstGeom prst="rect">
            <a:avLst/>
          </a:prstGeom>
          <a:solidFill>
            <a:srgbClr val="1F4A82"/>
          </a:solidFill>
          <a:ln/>
        </p:spPr>
      </p:sp>
      <p:sp>
        <p:nvSpPr>
          <p:cNvPr id="106" name="Text 104"/>
          <p:cNvSpPr txBox="1"/>
          <p:nvPr/>
        </p:nvSpPr>
        <p:spPr>
          <a:xfrm>
            <a:off x="4246778" y="4709160"/>
            <a:ext cx="1463040" cy="137160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2</a:t>
            </a:r>
            <a:endParaRPr lang="en-US" sz="3800" dirty="0"/>
          </a:p>
        </p:txBody>
      </p:sp>
      <p:sp>
        <p:nvSpPr>
          <p:cNvPr id="107" name="Shape 105"/>
          <p:cNvSpPr/>
          <p:nvPr/>
        </p:nvSpPr>
        <p:spPr>
          <a:xfrm>
            <a:off x="5709818" y="4709160"/>
            <a:ext cx="2235098" cy="1371600"/>
          </a:xfrm>
          <a:prstGeom prst="rect">
            <a:avLst/>
          </a:prstGeom>
          <a:solidFill>
            <a:srgbClr val="F4F7FB"/>
          </a:solidFill>
          <a:ln w="12700">
            <a:solidFill>
              <a:srgbClr val="C9D6E8"/>
            </a:solidFill>
            <a:prstDash val="solid"/>
          </a:ln>
        </p:spPr>
      </p:sp>
      <p:sp>
        <p:nvSpPr>
          <p:cNvPr id="108" name="Text 106"/>
          <p:cNvSpPr txBox="1"/>
          <p:nvPr/>
        </p:nvSpPr>
        <p:spPr>
          <a:xfrm>
            <a:off x="5846978" y="4965192"/>
            <a:ext cx="2006498" cy="457200"/>
          </a:xfrm>
          <a:prstGeom prst="rect">
            <a:avLst/>
          </a:prstGeom>
          <a:noFill/>
          <a:ln/>
        </p:spPr>
        <p:txBody>
          <a:bodyPr wrap="square" lIns="0" tIns="0" rIns="0" bIns="0" rtlCol="0" anchor="ctr"/>
          <a:lstStyle/>
          <a:p>
            <a:pPr algn="l" indent="0" marL="0">
              <a:buNone/>
            </a:pPr>
            <a:r>
              <a:rPr lang="en-US" sz="1400" b="1" dirty="0">
                <a:solidFill>
                  <a:srgbClr val="17325C"/>
                </a:solidFill>
                <a:latin typeface="Calibri" pitchFamily="34" charset="0"/>
                <a:ea typeface="Calibri" pitchFamily="34" charset="-122"/>
                <a:cs typeface="Calibri" pitchFamily="34" charset="-120"/>
              </a:rPr>
              <a:t>Public datasets, not just ours</a:t>
            </a:r>
            <a:endParaRPr lang="en-US" sz="1400" dirty="0"/>
          </a:p>
        </p:txBody>
      </p:sp>
      <p:sp>
        <p:nvSpPr>
          <p:cNvPr id="109" name="Text 107"/>
          <p:cNvSpPr txBox="1"/>
          <p:nvPr/>
        </p:nvSpPr>
        <p:spPr>
          <a:xfrm>
            <a:off x="5846978" y="5458968"/>
            <a:ext cx="2006498" cy="457200"/>
          </a:xfrm>
          <a:prstGeom prst="rect">
            <a:avLst/>
          </a:prstGeom>
          <a:noFill/>
          <a:ln/>
        </p:spPr>
        <p:txBody>
          <a:bodyPr wrap="square" lIns="0" tIns="0" rIns="0" bIns="0" rtlCol="0" anchor="t"/>
          <a:lstStyle/>
          <a:p>
            <a:pPr algn="l" indent="0" marL="0">
              <a:buNone/>
            </a:pPr>
            <a:r>
              <a:rPr lang="en-US" sz="1050" dirty="0">
                <a:solidFill>
                  <a:srgbClr val="5B6573"/>
                </a:solidFill>
                <a:latin typeface="Calibri" pitchFamily="34" charset="0"/>
                <a:ea typeface="Calibri" pitchFamily="34" charset="-122"/>
                <a:cs typeface="Calibri" pitchFamily="34" charset="-120"/>
              </a:rPr>
              <a:t>Open University and ASSISTments</a:t>
            </a:r>
            <a:endParaRPr lang="en-US" sz="1050" dirty="0"/>
          </a:p>
        </p:txBody>
      </p:sp>
      <p:sp>
        <p:nvSpPr>
          <p:cNvPr id="110" name="Shape 108"/>
          <p:cNvSpPr/>
          <p:nvPr/>
        </p:nvSpPr>
        <p:spPr>
          <a:xfrm>
            <a:off x="8082077" y="4709160"/>
            <a:ext cx="1463040" cy="1371600"/>
          </a:xfrm>
          <a:prstGeom prst="rect">
            <a:avLst/>
          </a:prstGeom>
          <a:solidFill>
            <a:srgbClr val="1F4A82"/>
          </a:solidFill>
          <a:ln/>
        </p:spPr>
      </p:sp>
      <p:sp>
        <p:nvSpPr>
          <p:cNvPr id="111" name="Text 109"/>
          <p:cNvSpPr txBox="1"/>
          <p:nvPr/>
        </p:nvSpPr>
        <p:spPr>
          <a:xfrm>
            <a:off x="8082077" y="4709160"/>
            <a:ext cx="1463040" cy="137160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₹3.6</a:t>
            </a:r>
            <a:endParaRPr lang="en-US" sz="3000" dirty="0"/>
          </a:p>
        </p:txBody>
      </p:sp>
      <p:sp>
        <p:nvSpPr>
          <p:cNvPr id="112" name="Shape 110"/>
          <p:cNvSpPr/>
          <p:nvPr/>
        </p:nvSpPr>
        <p:spPr>
          <a:xfrm>
            <a:off x="9545117" y="4709160"/>
            <a:ext cx="2235098" cy="1371600"/>
          </a:xfrm>
          <a:prstGeom prst="rect">
            <a:avLst/>
          </a:prstGeom>
          <a:solidFill>
            <a:srgbClr val="F4F7FB"/>
          </a:solidFill>
          <a:ln w="12700">
            <a:solidFill>
              <a:srgbClr val="C9D6E8"/>
            </a:solidFill>
            <a:prstDash val="solid"/>
          </a:ln>
        </p:spPr>
      </p:sp>
      <p:sp>
        <p:nvSpPr>
          <p:cNvPr id="113" name="Text 111"/>
          <p:cNvSpPr txBox="1"/>
          <p:nvPr/>
        </p:nvSpPr>
        <p:spPr>
          <a:xfrm>
            <a:off x="9682277" y="4965192"/>
            <a:ext cx="2006498" cy="457200"/>
          </a:xfrm>
          <a:prstGeom prst="rect">
            <a:avLst/>
          </a:prstGeom>
          <a:noFill/>
          <a:ln/>
        </p:spPr>
        <p:txBody>
          <a:bodyPr wrap="square" lIns="0" tIns="0" rIns="0" bIns="0" rtlCol="0" anchor="ctr"/>
          <a:lstStyle/>
          <a:p>
            <a:pPr algn="l" indent="0" marL="0">
              <a:buNone/>
            </a:pPr>
            <a:r>
              <a:rPr lang="en-US" sz="1400" b="1" dirty="0">
                <a:solidFill>
                  <a:srgbClr val="17325C"/>
                </a:solidFill>
                <a:latin typeface="Calibri" pitchFamily="34" charset="0"/>
                <a:ea typeface="Calibri" pitchFamily="34" charset="-122"/>
                <a:cs typeface="Calibri" pitchFamily="34" charset="-120"/>
              </a:rPr>
              <a:t>Cost per student per month</a:t>
            </a:r>
            <a:endParaRPr lang="en-US" sz="1400" dirty="0"/>
          </a:p>
        </p:txBody>
      </p:sp>
      <p:sp>
        <p:nvSpPr>
          <p:cNvPr id="114" name="Text 112"/>
          <p:cNvSpPr txBox="1"/>
          <p:nvPr/>
        </p:nvSpPr>
        <p:spPr>
          <a:xfrm>
            <a:off x="9682277" y="5458968"/>
            <a:ext cx="2006498" cy="457200"/>
          </a:xfrm>
          <a:prstGeom prst="rect">
            <a:avLst/>
          </a:prstGeom>
          <a:noFill/>
          <a:ln/>
        </p:spPr>
        <p:txBody>
          <a:bodyPr wrap="square" lIns="0" tIns="0" rIns="0" bIns="0" rtlCol="0" anchor="t"/>
          <a:lstStyle/>
          <a:p>
            <a:pPr algn="l" indent="0" marL="0">
              <a:buNone/>
            </a:pPr>
            <a:r>
              <a:rPr lang="en-US" sz="1050" dirty="0">
                <a:solidFill>
                  <a:srgbClr val="5B6573"/>
                </a:solidFill>
                <a:latin typeface="Calibri" pitchFamily="34" charset="0"/>
                <a:ea typeface="Calibri" pitchFamily="34" charset="-122"/>
                <a:cs typeface="Calibri" pitchFamily="34" charset="-120"/>
              </a:rPr>
              <a:t>All-in, on one laptop</a:t>
            </a:r>
            <a:endParaRPr lang="en-US" sz="1050" dirty="0"/>
          </a:p>
        </p:txBody>
      </p:sp>
      <p:sp>
        <p:nvSpPr>
          <p:cNvPr id="115" name="Text 113"/>
          <p:cNvSpPr txBox="1"/>
          <p:nvPr/>
        </p:nvSpPr>
        <p:spPr>
          <a:xfrm>
            <a:off x="411480" y="4462272"/>
            <a:ext cx="2743200" cy="219456"/>
          </a:xfrm>
          <a:prstGeom prst="rect">
            <a:avLst/>
          </a:prstGeom>
          <a:noFill/>
          <a:ln/>
        </p:spPr>
        <p:txBody>
          <a:bodyPr wrap="square" lIns="0" tIns="0" rIns="0" bIns="0" rtlCol="0" anchor="t"/>
          <a:lstStyle/>
          <a:p>
            <a:pPr algn="l" indent="0" marL="0">
              <a:buNone/>
            </a:pPr>
            <a:r>
              <a:rPr lang="en-US" sz="900" b="1" spc="200" kern="0" dirty="0">
                <a:solidFill>
                  <a:srgbClr val="5B6573"/>
                </a:solidFill>
                <a:latin typeface="Calibri" pitchFamily="34" charset="0"/>
                <a:ea typeface="Calibri" pitchFamily="34" charset="-122"/>
                <a:cs typeface="Calibri" pitchFamily="34" charset="-120"/>
              </a:rPr>
              <a:t>IMPACT RIBBON</a:t>
            </a:r>
            <a:endParaRPr lang="en-US" sz="900" dirty="0"/>
          </a:p>
        </p:txBody>
      </p:sp>
      <p:sp>
        <p:nvSpPr>
          <p:cNvPr id="116" name="Text 114"/>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ml/public_validation (ASSISTments 2009 under the pyKT protocol; OULAD); financial model v1.1, Base case. Screens and graphics are illustrative.</a:t>
            </a:r>
            <a:endParaRPr lang="en-US" sz="85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D4A24C"/>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data-protection">    </p:cNvPr>
          <p:cNvPicPr>
            <a:picLocks noChangeAspect="1"/>
          </p:cNvPicPr>
          <p:nvPr/>
        </p:nvPicPr>
        <p:blipFill>
          <a:blip r:embed="rId2"/>
          <a:stretch>
            <a:fillRect/>
          </a:stretch>
        </p:blipFill>
        <p:spPr>
          <a:xfrm>
            <a:off x="11247120" y="512064"/>
            <a:ext cx="438912" cy="438912"/>
          </a:xfrm>
          <a:prstGeom prst="rect">
            <a:avLst/>
          </a:prstGeom>
        </p:spPr>
      </p:pic>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SYSTEM ARCHITECTURE: THREE LAYERS</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Three layers, one rule: each institute's data stays its own</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1944929" y="1280160"/>
            <a:ext cx="8412480" cy="1353312"/>
          </a:xfrm>
          <a:prstGeom prst="rect">
            <a:avLst/>
          </a:prstGeom>
          <a:solidFill>
            <a:srgbClr val="DDE3EC"/>
          </a:solidFill>
          <a:ln/>
        </p:spPr>
      </p:sp>
      <p:sp>
        <p:nvSpPr>
          <p:cNvPr id="27" name="Shape 23"/>
          <p:cNvSpPr/>
          <p:nvPr/>
        </p:nvSpPr>
        <p:spPr>
          <a:xfrm>
            <a:off x="1890065" y="1207008"/>
            <a:ext cx="8412480" cy="1353312"/>
          </a:xfrm>
          <a:prstGeom prst="rect">
            <a:avLst/>
          </a:prstGeom>
          <a:solidFill>
            <a:srgbClr val="FFFFFF"/>
          </a:solidFill>
          <a:ln w="19050">
            <a:solidFill>
              <a:srgbClr val="1F4A82"/>
            </a:solidFill>
            <a:prstDash val="solid"/>
          </a:ln>
        </p:spPr>
      </p:sp>
      <p:sp>
        <p:nvSpPr>
          <p:cNvPr id="28" name="Shape 24"/>
          <p:cNvSpPr/>
          <p:nvPr/>
        </p:nvSpPr>
        <p:spPr>
          <a:xfrm>
            <a:off x="1890065" y="1207008"/>
            <a:ext cx="1920240" cy="1353312"/>
          </a:xfrm>
          <a:prstGeom prst="rect">
            <a:avLst/>
          </a:prstGeom>
          <a:solidFill>
            <a:srgbClr val="1F4A82"/>
          </a:solidFill>
          <a:ln/>
        </p:spPr>
      </p:sp>
      <p:pic>
        <p:nvPicPr>
          <p:cNvPr id="29" name="Image 1" descr="FaClipboardList icon">    </p:cNvPr>
          <p:cNvPicPr>
            <a:picLocks noChangeAspect="1"/>
          </p:cNvPicPr>
          <p:nvPr/>
        </p:nvPicPr>
        <p:blipFill>
          <a:blip r:embed="rId3"/>
          <a:stretch>
            <a:fillRect/>
          </a:stretch>
        </p:blipFill>
        <p:spPr>
          <a:xfrm>
            <a:off x="521208" y="100584"/>
            <a:ext cx="182880" cy="182880"/>
          </a:xfrm>
          <a:prstGeom prst="rect">
            <a:avLst/>
          </a:prstGeom>
        </p:spPr>
      </p:pic>
      <p:pic>
        <p:nvPicPr>
          <p:cNvPr id="30" name="Image 2" descr="FaTriangleExclamation icon">    </p:cNvPr>
          <p:cNvPicPr>
            <a:picLocks noChangeAspect="1"/>
          </p:cNvPicPr>
          <p:nvPr/>
        </p:nvPicPr>
        <p:blipFill>
          <a:blip r:embed="rId4"/>
          <a:stretch>
            <a:fillRect/>
          </a:stretch>
        </p:blipFill>
        <p:spPr>
          <a:xfrm>
            <a:off x="2084032" y="100584"/>
            <a:ext cx="182880" cy="182880"/>
          </a:xfrm>
          <a:prstGeom prst="rect">
            <a:avLst/>
          </a:prstGeom>
        </p:spPr>
      </p:pic>
      <p:pic>
        <p:nvPicPr>
          <p:cNvPr id="31" name="Image 3" descr="FaMobileScreen icon">    </p:cNvPr>
          <p:cNvPicPr>
            <a:picLocks noChangeAspect="1"/>
          </p:cNvPicPr>
          <p:nvPr/>
        </p:nvPicPr>
        <p:blipFill>
          <a:blip r:embed="rId5"/>
          <a:stretch>
            <a:fillRect/>
          </a:stretch>
        </p:blipFill>
        <p:spPr>
          <a:xfrm>
            <a:off x="3482264" y="100584"/>
            <a:ext cx="182880" cy="182880"/>
          </a:xfrm>
          <a:prstGeom prst="rect">
            <a:avLst/>
          </a:prstGeom>
        </p:spPr>
      </p:pic>
      <p:pic>
        <p:nvPicPr>
          <p:cNvPr id="32" name="Image 4" descr="FaShieldHalved icon">    </p:cNvPr>
          <p:cNvPicPr>
            <a:picLocks noChangeAspect="1"/>
          </p:cNvPicPr>
          <p:nvPr/>
        </p:nvPicPr>
        <p:blipFill>
          <a:blip r:embed="rId6"/>
          <a:stretch>
            <a:fillRect/>
          </a:stretch>
        </p:blipFill>
        <p:spPr>
          <a:xfrm>
            <a:off x="6278728" y="100584"/>
            <a:ext cx="182880" cy="182880"/>
          </a:xfrm>
          <a:prstGeom prst="rect">
            <a:avLst/>
          </a:prstGeom>
        </p:spPr>
      </p:pic>
      <p:pic>
        <p:nvPicPr>
          <p:cNvPr id="33" name="Image 5" descr="FaIndianRupeeSign icon">    </p:cNvPr>
          <p:cNvPicPr>
            <a:picLocks noChangeAspect="1"/>
          </p:cNvPicPr>
          <p:nvPr/>
        </p:nvPicPr>
        <p:blipFill>
          <a:blip r:embed="rId7"/>
          <a:stretch>
            <a:fillRect/>
          </a:stretch>
        </p:blipFill>
        <p:spPr>
          <a:xfrm>
            <a:off x="7676960" y="100584"/>
            <a:ext cx="182880" cy="182880"/>
          </a:xfrm>
          <a:prstGeom prst="rect">
            <a:avLst/>
          </a:prstGeom>
        </p:spPr>
      </p:pic>
      <p:pic>
        <p:nvPicPr>
          <p:cNvPr id="34" name="Image 6" descr="FaBullseye icon">    </p:cNvPr>
          <p:cNvPicPr>
            <a:picLocks noChangeAspect="1"/>
          </p:cNvPicPr>
          <p:nvPr/>
        </p:nvPicPr>
        <p:blipFill>
          <a:blip r:embed="rId8"/>
          <a:stretch>
            <a:fillRect/>
          </a:stretch>
        </p:blipFill>
        <p:spPr>
          <a:xfrm>
            <a:off x="9075191" y="100584"/>
            <a:ext cx="182880" cy="182880"/>
          </a:xfrm>
          <a:prstGeom prst="rect">
            <a:avLst/>
          </a:prstGeom>
        </p:spPr>
      </p:pic>
      <p:pic>
        <p:nvPicPr>
          <p:cNvPr id="35" name="Image 7" descr="FaBookOpen icon">    </p:cNvPr>
          <p:cNvPicPr>
            <a:picLocks noChangeAspect="1"/>
          </p:cNvPicPr>
          <p:nvPr/>
        </p:nvPicPr>
        <p:blipFill>
          <a:blip r:embed="rId9"/>
          <a:stretch>
            <a:fillRect/>
          </a:stretch>
        </p:blipFill>
        <p:spPr>
          <a:xfrm>
            <a:off x="10473423" y="100584"/>
            <a:ext cx="182880" cy="182880"/>
          </a:xfrm>
          <a:prstGeom prst="rect">
            <a:avLst/>
          </a:prstGeom>
        </p:spPr>
      </p:pic>
      <p:pic>
        <p:nvPicPr>
          <p:cNvPr id="36" name="Image 8" descr="FaGears icon">    </p:cNvPr>
          <p:cNvPicPr>
            <a:picLocks noChangeAspect="1"/>
          </p:cNvPicPr>
          <p:nvPr/>
        </p:nvPicPr>
        <p:blipFill>
          <a:blip r:embed="rId10"/>
          <a:stretch>
            <a:fillRect/>
          </a:stretch>
        </p:blipFill>
        <p:spPr>
          <a:xfrm>
            <a:off x="4880496" y="100584"/>
            <a:ext cx="182880" cy="182880"/>
          </a:xfrm>
          <a:prstGeom prst="rect">
            <a:avLst/>
          </a:prstGeom>
        </p:spPr>
      </p:pic>
      <p:pic>
        <p:nvPicPr>
          <p:cNvPr id="37" name="Image 9" descr="FaDisplay icon">    </p:cNvPr>
          <p:cNvPicPr>
            <a:picLocks noChangeAspect="1"/>
          </p:cNvPicPr>
          <p:nvPr/>
        </p:nvPicPr>
        <p:blipFill>
          <a:blip r:embed="rId11"/>
          <a:stretch>
            <a:fillRect/>
          </a:stretch>
        </p:blipFill>
        <p:spPr>
          <a:xfrm>
            <a:off x="2603297" y="1371600"/>
            <a:ext cx="502920" cy="502920"/>
          </a:xfrm>
          <a:prstGeom prst="rect">
            <a:avLst/>
          </a:prstGeom>
        </p:spPr>
      </p:pic>
      <p:sp>
        <p:nvSpPr>
          <p:cNvPr id="38" name="Text 25"/>
          <p:cNvSpPr txBox="1"/>
          <p:nvPr/>
        </p:nvSpPr>
        <p:spPr>
          <a:xfrm>
            <a:off x="1890065" y="1920240"/>
            <a:ext cx="192024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DELIVERY</a:t>
            </a:r>
            <a:endParaRPr lang="en-US" sz="1300" dirty="0"/>
          </a:p>
        </p:txBody>
      </p:sp>
      <p:sp>
        <p:nvSpPr>
          <p:cNvPr id="39" name="Text 26"/>
          <p:cNvSpPr txBox="1"/>
          <p:nvPr/>
        </p:nvSpPr>
        <p:spPr>
          <a:xfrm>
            <a:off x="1890065" y="2194560"/>
            <a:ext cx="1920240" cy="274320"/>
          </a:xfrm>
          <a:prstGeom prst="rect">
            <a:avLst/>
          </a:prstGeom>
          <a:noFill/>
          <a:ln/>
        </p:spPr>
        <p:txBody>
          <a:bodyPr wrap="square" lIns="0" tIns="0" rIns="0" bIns="0" rtlCol="0" anchor="ctr"/>
          <a:lstStyle/>
          <a:p>
            <a:pPr algn="ctr" indent="0" marL="0">
              <a:buNone/>
            </a:pPr>
            <a:r>
              <a:rPr lang="en-US" sz="950" dirty="0">
                <a:solidFill>
                  <a:srgbClr val="C9DBF0"/>
                </a:solidFill>
                <a:latin typeface="Calibri" pitchFamily="34" charset="0"/>
                <a:ea typeface="Calibri" pitchFamily="34" charset="-122"/>
                <a:cs typeface="Calibri" pitchFamily="34" charset="-120"/>
              </a:rPr>
              <a:t>What people use</a:t>
            </a:r>
            <a:endParaRPr lang="en-US" sz="950" dirty="0"/>
          </a:p>
        </p:txBody>
      </p:sp>
      <p:sp>
        <p:nvSpPr>
          <p:cNvPr id="40" name="Shape 27"/>
          <p:cNvSpPr/>
          <p:nvPr/>
        </p:nvSpPr>
        <p:spPr>
          <a:xfrm>
            <a:off x="3901745" y="1371600"/>
            <a:ext cx="1481328" cy="1024128"/>
          </a:xfrm>
          <a:prstGeom prst="rect">
            <a:avLst/>
          </a:prstGeom>
          <a:solidFill>
            <a:srgbClr val="E3ECF7"/>
          </a:solidFill>
          <a:ln w="9525">
            <a:solidFill>
              <a:srgbClr val="B9CBE4"/>
            </a:solidFill>
            <a:prstDash val="solid"/>
          </a:ln>
        </p:spPr>
      </p:sp>
      <p:sp>
        <p:nvSpPr>
          <p:cNvPr id="41" name="Text 28"/>
          <p:cNvSpPr txBox="1"/>
          <p:nvPr/>
        </p:nvSpPr>
        <p:spPr>
          <a:xfrm>
            <a:off x="3974897" y="1371600"/>
            <a:ext cx="133502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Web console</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Owner and teacher views</a:t>
            </a:r>
            <a:endParaRPr lang="en-US" sz="1400" dirty="0"/>
          </a:p>
        </p:txBody>
      </p:sp>
      <p:sp>
        <p:nvSpPr>
          <p:cNvPr id="42" name="Shape 29"/>
          <p:cNvSpPr/>
          <p:nvPr/>
        </p:nvSpPr>
        <p:spPr>
          <a:xfrm>
            <a:off x="5483657" y="1371600"/>
            <a:ext cx="1481328" cy="1024128"/>
          </a:xfrm>
          <a:prstGeom prst="rect">
            <a:avLst/>
          </a:prstGeom>
          <a:solidFill>
            <a:srgbClr val="E3ECF7"/>
          </a:solidFill>
          <a:ln w="9525">
            <a:solidFill>
              <a:srgbClr val="B9CBE4"/>
            </a:solidFill>
            <a:prstDash val="solid"/>
          </a:ln>
        </p:spPr>
      </p:sp>
      <p:sp>
        <p:nvSpPr>
          <p:cNvPr id="43" name="Text 30"/>
          <p:cNvSpPr txBox="1"/>
          <p:nvPr/>
        </p:nvSpPr>
        <p:spPr>
          <a:xfrm>
            <a:off x="5556809" y="1371600"/>
            <a:ext cx="133502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Phone app</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Scan, weekly list, parent view</a:t>
            </a:r>
            <a:endParaRPr lang="en-US" sz="1400" dirty="0"/>
          </a:p>
        </p:txBody>
      </p:sp>
      <p:sp>
        <p:nvSpPr>
          <p:cNvPr id="44" name="Shape 31"/>
          <p:cNvSpPr/>
          <p:nvPr/>
        </p:nvSpPr>
        <p:spPr>
          <a:xfrm>
            <a:off x="7065569" y="1371600"/>
            <a:ext cx="1481328" cy="1024128"/>
          </a:xfrm>
          <a:prstGeom prst="rect">
            <a:avLst/>
          </a:prstGeom>
          <a:solidFill>
            <a:srgbClr val="E3ECF7"/>
          </a:solidFill>
          <a:ln w="9525">
            <a:solidFill>
              <a:srgbClr val="B9CBE4"/>
            </a:solidFill>
            <a:prstDash val="solid"/>
          </a:ln>
        </p:spPr>
      </p:sp>
      <p:sp>
        <p:nvSpPr>
          <p:cNvPr id="45" name="Text 32"/>
          <p:cNvSpPr txBox="1"/>
          <p:nvPr/>
        </p:nvSpPr>
        <p:spPr>
          <a:xfrm>
            <a:off x="7138721" y="1371600"/>
            <a:ext cx="133502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Hindi + English</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Reports in both languages</a:t>
            </a:r>
            <a:endParaRPr lang="en-US" sz="1400" dirty="0"/>
          </a:p>
        </p:txBody>
      </p:sp>
      <p:sp>
        <p:nvSpPr>
          <p:cNvPr id="46" name="Shape 33"/>
          <p:cNvSpPr/>
          <p:nvPr/>
        </p:nvSpPr>
        <p:spPr>
          <a:xfrm>
            <a:off x="8647481" y="1371600"/>
            <a:ext cx="1481328" cy="1024128"/>
          </a:xfrm>
          <a:prstGeom prst="rect">
            <a:avLst/>
          </a:prstGeom>
          <a:solidFill>
            <a:srgbClr val="E3ECF7"/>
          </a:solidFill>
          <a:ln w="9525">
            <a:solidFill>
              <a:srgbClr val="B9CBE4"/>
            </a:solidFill>
            <a:prstDash val="solid"/>
          </a:ln>
        </p:spPr>
      </p:sp>
      <p:sp>
        <p:nvSpPr>
          <p:cNvPr id="47" name="Text 34"/>
          <p:cNvSpPr txBox="1"/>
          <p:nvPr/>
        </p:nvSpPr>
        <p:spPr>
          <a:xfrm>
            <a:off x="8720633" y="1371600"/>
            <a:ext cx="133502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Open export</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CSV and API; you own the data</a:t>
            </a:r>
            <a:endParaRPr lang="en-US" sz="1400" dirty="0"/>
          </a:p>
        </p:txBody>
      </p:sp>
      <p:sp>
        <p:nvSpPr>
          <p:cNvPr id="48" name="Shape 35"/>
          <p:cNvSpPr/>
          <p:nvPr/>
        </p:nvSpPr>
        <p:spPr>
          <a:xfrm>
            <a:off x="1350569" y="2724912"/>
            <a:ext cx="9601200" cy="1353312"/>
          </a:xfrm>
          <a:prstGeom prst="rect">
            <a:avLst/>
          </a:prstGeom>
          <a:solidFill>
            <a:srgbClr val="DDE3EC"/>
          </a:solidFill>
          <a:ln/>
        </p:spPr>
      </p:sp>
      <p:sp>
        <p:nvSpPr>
          <p:cNvPr id="49" name="Shape 36"/>
          <p:cNvSpPr/>
          <p:nvPr/>
        </p:nvSpPr>
        <p:spPr>
          <a:xfrm>
            <a:off x="1295705" y="2651760"/>
            <a:ext cx="9601200" cy="1353312"/>
          </a:xfrm>
          <a:prstGeom prst="rect">
            <a:avLst/>
          </a:prstGeom>
          <a:solidFill>
            <a:srgbClr val="FFFFFF"/>
          </a:solidFill>
          <a:ln w="19050">
            <a:solidFill>
              <a:srgbClr val="2E6DB4"/>
            </a:solidFill>
            <a:prstDash val="solid"/>
          </a:ln>
        </p:spPr>
      </p:sp>
      <p:sp>
        <p:nvSpPr>
          <p:cNvPr id="50" name="Shape 37"/>
          <p:cNvSpPr/>
          <p:nvPr/>
        </p:nvSpPr>
        <p:spPr>
          <a:xfrm>
            <a:off x="1295705" y="2651760"/>
            <a:ext cx="1920240" cy="1353312"/>
          </a:xfrm>
          <a:prstGeom prst="rect">
            <a:avLst/>
          </a:prstGeom>
          <a:solidFill>
            <a:srgbClr val="2E6DB4"/>
          </a:solidFill>
          <a:ln/>
        </p:spPr>
      </p:sp>
      <p:pic>
        <p:nvPicPr>
          <p:cNvPr id="51" name="Image 10" descr="FaBrain icon">    </p:cNvPr>
          <p:cNvPicPr>
            <a:picLocks noChangeAspect="1"/>
          </p:cNvPicPr>
          <p:nvPr/>
        </p:nvPicPr>
        <p:blipFill>
          <a:blip r:embed="rId12"/>
          <a:stretch>
            <a:fillRect/>
          </a:stretch>
        </p:blipFill>
        <p:spPr>
          <a:xfrm>
            <a:off x="2008937" y="2816352"/>
            <a:ext cx="502920" cy="502920"/>
          </a:xfrm>
          <a:prstGeom prst="rect">
            <a:avLst/>
          </a:prstGeom>
        </p:spPr>
      </p:pic>
      <p:sp>
        <p:nvSpPr>
          <p:cNvPr id="52" name="Text 38"/>
          <p:cNvSpPr txBox="1"/>
          <p:nvPr/>
        </p:nvSpPr>
        <p:spPr>
          <a:xfrm>
            <a:off x="1295705" y="3364992"/>
            <a:ext cx="192024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INTELLIGENCE</a:t>
            </a:r>
            <a:endParaRPr lang="en-US" sz="1300" dirty="0"/>
          </a:p>
        </p:txBody>
      </p:sp>
      <p:sp>
        <p:nvSpPr>
          <p:cNvPr id="53" name="Text 39"/>
          <p:cNvSpPr txBox="1"/>
          <p:nvPr/>
        </p:nvSpPr>
        <p:spPr>
          <a:xfrm>
            <a:off x="1295705" y="3639312"/>
            <a:ext cx="1920240" cy="274320"/>
          </a:xfrm>
          <a:prstGeom prst="rect">
            <a:avLst/>
          </a:prstGeom>
          <a:noFill/>
          <a:ln/>
        </p:spPr>
        <p:txBody>
          <a:bodyPr wrap="square" lIns="0" tIns="0" rIns="0" bIns="0" rtlCol="0" anchor="ctr"/>
          <a:lstStyle/>
          <a:p>
            <a:pPr algn="ctr" indent="0" marL="0">
              <a:buNone/>
            </a:pPr>
            <a:r>
              <a:rPr lang="en-US" sz="950" dirty="0">
                <a:solidFill>
                  <a:srgbClr val="C9DBF0"/>
                </a:solidFill>
                <a:latin typeface="Calibri" pitchFamily="34" charset="0"/>
                <a:ea typeface="Calibri" pitchFamily="34" charset="-122"/>
                <a:cs typeface="Calibri" pitchFamily="34" charset="-120"/>
              </a:rPr>
              <a:t>What it works out</a:t>
            </a:r>
            <a:endParaRPr lang="en-US" sz="950" dirty="0"/>
          </a:p>
        </p:txBody>
      </p:sp>
      <p:sp>
        <p:nvSpPr>
          <p:cNvPr id="54" name="Shape 40"/>
          <p:cNvSpPr/>
          <p:nvPr/>
        </p:nvSpPr>
        <p:spPr>
          <a:xfrm>
            <a:off x="3307385" y="2816352"/>
            <a:ext cx="1778508" cy="1024128"/>
          </a:xfrm>
          <a:prstGeom prst="rect">
            <a:avLst/>
          </a:prstGeom>
          <a:solidFill>
            <a:srgbClr val="E3ECF7"/>
          </a:solidFill>
          <a:ln w="9525">
            <a:solidFill>
              <a:srgbClr val="B9CBE4"/>
            </a:solidFill>
            <a:prstDash val="solid"/>
          </a:ln>
        </p:spPr>
      </p:sp>
      <p:sp>
        <p:nvSpPr>
          <p:cNvPr id="55" name="Text 41"/>
          <p:cNvSpPr txBox="1"/>
          <p:nvPr/>
        </p:nvSpPr>
        <p:spPr>
          <a:xfrm>
            <a:off x="3380537" y="2816352"/>
            <a:ext cx="163220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Topic mastery</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Finds weak topics (IRT)</a:t>
            </a:r>
            <a:endParaRPr lang="en-US" sz="1400" dirty="0"/>
          </a:p>
        </p:txBody>
      </p:sp>
      <p:sp>
        <p:nvSpPr>
          <p:cNvPr id="56" name="Shape 42"/>
          <p:cNvSpPr/>
          <p:nvPr/>
        </p:nvSpPr>
        <p:spPr>
          <a:xfrm>
            <a:off x="5186477" y="2816352"/>
            <a:ext cx="1778508" cy="1024128"/>
          </a:xfrm>
          <a:prstGeom prst="rect">
            <a:avLst/>
          </a:prstGeom>
          <a:solidFill>
            <a:srgbClr val="E3ECF7"/>
          </a:solidFill>
          <a:ln w="9525">
            <a:solidFill>
              <a:srgbClr val="B9CBE4"/>
            </a:solidFill>
            <a:prstDash val="solid"/>
          </a:ln>
        </p:spPr>
      </p:sp>
      <p:sp>
        <p:nvSpPr>
          <p:cNvPr id="57" name="Text 43"/>
          <p:cNvSpPr txBox="1"/>
          <p:nvPr/>
        </p:nvSpPr>
        <p:spPr>
          <a:xfrm>
            <a:off x="5259629" y="2816352"/>
            <a:ext cx="163220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Early warning</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Flags who needs help (LightGBM)</a:t>
            </a:r>
            <a:endParaRPr lang="en-US" sz="1400" dirty="0"/>
          </a:p>
        </p:txBody>
      </p:sp>
      <p:sp>
        <p:nvSpPr>
          <p:cNvPr id="58" name="Shape 44"/>
          <p:cNvSpPr/>
          <p:nvPr/>
        </p:nvSpPr>
        <p:spPr>
          <a:xfrm>
            <a:off x="7065569" y="2816352"/>
            <a:ext cx="1778508" cy="1024128"/>
          </a:xfrm>
          <a:prstGeom prst="rect">
            <a:avLst/>
          </a:prstGeom>
          <a:solidFill>
            <a:srgbClr val="E3ECF7"/>
          </a:solidFill>
          <a:ln w="9525">
            <a:solidFill>
              <a:srgbClr val="B9CBE4"/>
            </a:solidFill>
            <a:prstDash val="solid"/>
          </a:ln>
        </p:spPr>
      </p:sp>
      <p:sp>
        <p:nvSpPr>
          <p:cNvPr id="59" name="Text 45"/>
          <p:cNvSpPr txBox="1"/>
          <p:nvPr/>
        </p:nvSpPr>
        <p:spPr>
          <a:xfrm>
            <a:off x="7138721" y="2816352"/>
            <a:ext cx="163220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Honest ranges</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Percentile bands (conformal)</a:t>
            </a:r>
            <a:endParaRPr lang="en-US" sz="1400" dirty="0"/>
          </a:p>
        </p:txBody>
      </p:sp>
      <p:sp>
        <p:nvSpPr>
          <p:cNvPr id="60" name="Shape 46"/>
          <p:cNvSpPr/>
          <p:nvPr/>
        </p:nvSpPr>
        <p:spPr>
          <a:xfrm>
            <a:off x="8944661" y="2816352"/>
            <a:ext cx="1778508" cy="1024128"/>
          </a:xfrm>
          <a:prstGeom prst="rect">
            <a:avLst/>
          </a:prstGeom>
          <a:solidFill>
            <a:srgbClr val="E3ECF7"/>
          </a:solidFill>
          <a:ln w="9525">
            <a:solidFill>
              <a:srgbClr val="B9CBE4"/>
            </a:solidFill>
            <a:prstDash val="solid"/>
          </a:ln>
        </p:spPr>
      </p:sp>
      <p:sp>
        <p:nvSpPr>
          <p:cNvPr id="61" name="Text 47"/>
          <p:cNvSpPr txBox="1"/>
          <p:nvPr/>
        </p:nvSpPr>
        <p:spPr>
          <a:xfrm>
            <a:off x="9017813" y="2816352"/>
            <a:ext cx="163220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Safe reports</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No invented numbers (8 checks)</a:t>
            </a:r>
            <a:endParaRPr lang="en-US" sz="1400" dirty="0"/>
          </a:p>
        </p:txBody>
      </p:sp>
      <p:sp>
        <p:nvSpPr>
          <p:cNvPr id="62" name="Shape 48"/>
          <p:cNvSpPr/>
          <p:nvPr/>
        </p:nvSpPr>
        <p:spPr>
          <a:xfrm>
            <a:off x="756209" y="4169664"/>
            <a:ext cx="10789920" cy="1353312"/>
          </a:xfrm>
          <a:prstGeom prst="rect">
            <a:avLst/>
          </a:prstGeom>
          <a:solidFill>
            <a:srgbClr val="DDE3EC"/>
          </a:solidFill>
          <a:ln/>
        </p:spPr>
      </p:sp>
      <p:sp>
        <p:nvSpPr>
          <p:cNvPr id="63" name="Shape 49"/>
          <p:cNvSpPr/>
          <p:nvPr/>
        </p:nvSpPr>
        <p:spPr>
          <a:xfrm>
            <a:off x="701345" y="4096512"/>
            <a:ext cx="10789920" cy="1353312"/>
          </a:xfrm>
          <a:prstGeom prst="rect">
            <a:avLst/>
          </a:prstGeom>
          <a:solidFill>
            <a:srgbClr val="FFFFFF"/>
          </a:solidFill>
          <a:ln w="19050">
            <a:solidFill>
              <a:srgbClr val="17325C"/>
            </a:solidFill>
            <a:prstDash val="solid"/>
          </a:ln>
        </p:spPr>
      </p:sp>
      <p:sp>
        <p:nvSpPr>
          <p:cNvPr id="64" name="Shape 50"/>
          <p:cNvSpPr/>
          <p:nvPr/>
        </p:nvSpPr>
        <p:spPr>
          <a:xfrm>
            <a:off x="701345" y="4096512"/>
            <a:ext cx="1920240" cy="1353312"/>
          </a:xfrm>
          <a:prstGeom prst="rect">
            <a:avLst/>
          </a:prstGeom>
          <a:solidFill>
            <a:srgbClr val="17325C"/>
          </a:solidFill>
          <a:ln/>
        </p:spPr>
      </p:sp>
      <p:pic>
        <p:nvPicPr>
          <p:cNvPr id="65" name="Image 11" descr="FaShieldHalved icon">    </p:cNvPr>
          <p:cNvPicPr>
            <a:picLocks noChangeAspect="1"/>
          </p:cNvPicPr>
          <p:nvPr/>
        </p:nvPicPr>
        <p:blipFill>
          <a:blip r:embed="rId6"/>
          <a:stretch>
            <a:fillRect/>
          </a:stretch>
        </p:blipFill>
        <p:spPr>
          <a:xfrm>
            <a:off x="1414577" y="4261104"/>
            <a:ext cx="502920" cy="502920"/>
          </a:xfrm>
          <a:prstGeom prst="rect">
            <a:avLst/>
          </a:prstGeom>
        </p:spPr>
      </p:pic>
      <p:sp>
        <p:nvSpPr>
          <p:cNvPr id="66" name="Text 51"/>
          <p:cNvSpPr txBox="1"/>
          <p:nvPr/>
        </p:nvSpPr>
        <p:spPr>
          <a:xfrm>
            <a:off x="701345" y="4809744"/>
            <a:ext cx="192024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TRUST &amp; DATA</a:t>
            </a:r>
            <a:endParaRPr lang="en-US" sz="1300" dirty="0"/>
          </a:p>
        </p:txBody>
      </p:sp>
      <p:sp>
        <p:nvSpPr>
          <p:cNvPr id="67" name="Text 52"/>
          <p:cNvSpPr txBox="1"/>
          <p:nvPr/>
        </p:nvSpPr>
        <p:spPr>
          <a:xfrm>
            <a:off x="701345" y="5084064"/>
            <a:ext cx="1920240" cy="274320"/>
          </a:xfrm>
          <a:prstGeom prst="rect">
            <a:avLst/>
          </a:prstGeom>
          <a:noFill/>
          <a:ln/>
        </p:spPr>
        <p:txBody>
          <a:bodyPr wrap="square" lIns="0" tIns="0" rIns="0" bIns="0" rtlCol="0" anchor="ctr"/>
          <a:lstStyle/>
          <a:p>
            <a:pPr algn="ctr" indent="0" marL="0">
              <a:buNone/>
            </a:pPr>
            <a:r>
              <a:rPr lang="en-US" sz="950" dirty="0">
                <a:solidFill>
                  <a:srgbClr val="C9DBF0"/>
                </a:solidFill>
                <a:latin typeface="Calibri" pitchFamily="34" charset="0"/>
                <a:ea typeface="Calibri" pitchFamily="34" charset="-122"/>
                <a:cs typeface="Calibri" pitchFamily="34" charset="-120"/>
              </a:rPr>
              <a:t>What keeps it safe</a:t>
            </a:r>
            <a:endParaRPr lang="en-US" sz="950" dirty="0"/>
          </a:p>
        </p:txBody>
      </p:sp>
      <p:sp>
        <p:nvSpPr>
          <p:cNvPr id="68" name="Shape 53"/>
          <p:cNvSpPr/>
          <p:nvPr/>
        </p:nvSpPr>
        <p:spPr>
          <a:xfrm>
            <a:off x="2713025" y="4261104"/>
            <a:ext cx="2075688" cy="1024128"/>
          </a:xfrm>
          <a:prstGeom prst="rect">
            <a:avLst/>
          </a:prstGeom>
          <a:solidFill>
            <a:srgbClr val="E3ECF7"/>
          </a:solidFill>
          <a:ln w="9525">
            <a:solidFill>
              <a:srgbClr val="B9CBE4"/>
            </a:solidFill>
            <a:prstDash val="solid"/>
          </a:ln>
        </p:spPr>
      </p:sp>
      <p:sp>
        <p:nvSpPr>
          <p:cNvPr id="69" name="Text 54"/>
          <p:cNvSpPr txBox="1"/>
          <p:nvPr/>
        </p:nvSpPr>
        <p:spPr>
          <a:xfrm>
            <a:off x="2786177" y="4261104"/>
            <a:ext cx="192938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Row-level security</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Institutes never mix</a:t>
            </a:r>
            <a:endParaRPr lang="en-US" sz="1400" dirty="0"/>
          </a:p>
        </p:txBody>
      </p:sp>
      <p:sp>
        <p:nvSpPr>
          <p:cNvPr id="70" name="Shape 55"/>
          <p:cNvSpPr/>
          <p:nvPr/>
        </p:nvSpPr>
        <p:spPr>
          <a:xfrm>
            <a:off x="4889297" y="4261104"/>
            <a:ext cx="2075688" cy="1024128"/>
          </a:xfrm>
          <a:prstGeom prst="rect">
            <a:avLst/>
          </a:prstGeom>
          <a:solidFill>
            <a:srgbClr val="E3ECF7"/>
          </a:solidFill>
          <a:ln w="9525">
            <a:solidFill>
              <a:srgbClr val="B9CBE4"/>
            </a:solidFill>
            <a:prstDash val="solid"/>
          </a:ln>
        </p:spPr>
      </p:sp>
      <p:sp>
        <p:nvSpPr>
          <p:cNvPr id="71" name="Text 56"/>
          <p:cNvSpPr txBox="1"/>
          <p:nvPr/>
        </p:nvSpPr>
        <p:spPr>
          <a:xfrm>
            <a:off x="4962449" y="4261104"/>
            <a:ext cx="192938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Consent gate</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No consent, no model</a:t>
            </a:r>
            <a:endParaRPr lang="en-US" sz="1400" dirty="0"/>
          </a:p>
        </p:txBody>
      </p:sp>
      <p:sp>
        <p:nvSpPr>
          <p:cNvPr id="72" name="Shape 57"/>
          <p:cNvSpPr/>
          <p:nvPr/>
        </p:nvSpPr>
        <p:spPr>
          <a:xfrm>
            <a:off x="7065569" y="4261104"/>
            <a:ext cx="2075688" cy="1024128"/>
          </a:xfrm>
          <a:prstGeom prst="rect">
            <a:avLst/>
          </a:prstGeom>
          <a:solidFill>
            <a:srgbClr val="E3ECF7"/>
          </a:solidFill>
          <a:ln w="9525">
            <a:solidFill>
              <a:srgbClr val="B9CBE4"/>
            </a:solidFill>
            <a:prstDash val="solid"/>
          </a:ln>
        </p:spPr>
      </p:sp>
      <p:sp>
        <p:nvSpPr>
          <p:cNvPr id="73" name="Text 58"/>
          <p:cNvSpPr txBox="1"/>
          <p:nvPr/>
        </p:nvSpPr>
        <p:spPr>
          <a:xfrm>
            <a:off x="7138721" y="4261104"/>
            <a:ext cx="192938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Offline-first</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Works without internet</a:t>
            </a:r>
            <a:endParaRPr lang="en-US" sz="1400" dirty="0"/>
          </a:p>
        </p:txBody>
      </p:sp>
      <p:sp>
        <p:nvSpPr>
          <p:cNvPr id="74" name="Shape 59"/>
          <p:cNvSpPr/>
          <p:nvPr/>
        </p:nvSpPr>
        <p:spPr>
          <a:xfrm>
            <a:off x="9241841" y="4261104"/>
            <a:ext cx="2075688" cy="1024128"/>
          </a:xfrm>
          <a:prstGeom prst="rect">
            <a:avLst/>
          </a:prstGeom>
          <a:solidFill>
            <a:srgbClr val="E3ECF7"/>
          </a:solidFill>
          <a:ln w="9525">
            <a:solidFill>
              <a:srgbClr val="B9CBE4"/>
            </a:solidFill>
            <a:prstDash val="solid"/>
          </a:ln>
        </p:spPr>
      </p:sp>
      <p:sp>
        <p:nvSpPr>
          <p:cNvPr id="75" name="Text 60"/>
          <p:cNvSpPr txBox="1"/>
          <p:nvPr/>
        </p:nvSpPr>
        <p:spPr>
          <a:xfrm>
            <a:off x="9314993" y="4261104"/>
            <a:ext cx="1929384" cy="1024128"/>
          </a:xfrm>
          <a:prstGeom prst="rect">
            <a:avLst/>
          </a:prstGeom>
          <a:noFill/>
          <a:ln/>
        </p:spPr>
        <p:txBody>
          <a:bodyPr wrap="square" lIns="0" tIns="0" rIns="0" bIns="0" rtlCol="0" anchor="ctr"/>
          <a:lstStyle/>
          <a:p>
            <a:pPr algn="ctr" indent="0" marL="0">
              <a:buNone/>
            </a:pPr>
            <a:r>
              <a:rPr lang="en-US" sz="1100" b="1" dirty="0">
                <a:solidFill>
                  <a:srgbClr val="17325C"/>
                </a:solidFill>
                <a:latin typeface="Calibri" pitchFamily="34" charset="0"/>
                <a:ea typeface="Calibri" pitchFamily="34" charset="-122"/>
                <a:cs typeface="Calibri" pitchFamily="34" charset="-120"/>
              </a:rPr>
              <a:t>Audit log</a:t>
            </a:r>
            <a:endParaRPr lang="en-US" sz="1400" dirty="0"/>
          </a:p>
          <a:p>
            <a:pPr algn="ctr" indent="0" marL="0">
              <a:buNone/>
            </a:pPr>
            <a:r>
              <a:rPr lang="en-US" sz="950" dirty="0">
                <a:solidFill>
                  <a:srgbClr val="1F2937"/>
                </a:solidFill>
                <a:latin typeface="Calibri" pitchFamily="34" charset="0"/>
                <a:ea typeface="Calibri" pitchFamily="34" charset="-122"/>
                <a:cs typeface="Calibri" pitchFamily="34" charset="-120"/>
              </a:rPr>
              <a:t>Who saw what, kept a year</a:t>
            </a:r>
            <a:endParaRPr lang="en-US" sz="1400" dirty="0"/>
          </a:p>
        </p:txBody>
      </p:sp>
      <p:sp>
        <p:nvSpPr>
          <p:cNvPr id="76" name="Shape 61"/>
          <p:cNvSpPr/>
          <p:nvPr/>
        </p:nvSpPr>
        <p:spPr>
          <a:xfrm>
            <a:off x="411480" y="5596128"/>
            <a:ext cx="2200595" cy="749808"/>
          </a:xfrm>
          <a:prstGeom prst="rect">
            <a:avLst/>
          </a:prstGeom>
          <a:solidFill>
            <a:srgbClr val="1F4A82"/>
          </a:solidFill>
          <a:ln/>
        </p:spPr>
      </p:sp>
      <p:sp>
        <p:nvSpPr>
          <p:cNvPr id="77" name="Text 62"/>
          <p:cNvSpPr txBox="1"/>
          <p:nvPr/>
        </p:nvSpPr>
        <p:spPr>
          <a:xfrm>
            <a:off x="502920" y="5596128"/>
            <a:ext cx="1143000" cy="74980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31</a:t>
            </a:r>
            <a:endParaRPr lang="en-US" sz="2400" dirty="0"/>
          </a:p>
        </p:txBody>
      </p:sp>
      <p:sp>
        <p:nvSpPr>
          <p:cNvPr id="78" name="Text 63"/>
          <p:cNvSpPr txBox="1"/>
          <p:nvPr/>
        </p:nvSpPr>
        <p:spPr>
          <a:xfrm>
            <a:off x="1645920" y="5596128"/>
            <a:ext cx="920435" cy="749808"/>
          </a:xfrm>
          <a:prstGeom prst="rect">
            <a:avLst/>
          </a:prstGeom>
          <a:noFill/>
          <a:ln/>
        </p:spPr>
        <p:txBody>
          <a:bodyPr wrap="square" lIns="0" tIns="0" rIns="0" bIns="0" rtlCol="0" anchor="ctr"/>
          <a:lstStyle/>
          <a:p>
            <a:pPr algn="l" indent="0" marL="0">
              <a:buNone/>
            </a:pPr>
            <a:r>
              <a:rPr lang="en-US" sz="1050" dirty="0">
                <a:solidFill>
                  <a:srgbClr val="C9DBF0"/>
                </a:solidFill>
                <a:latin typeface="Calibri" pitchFamily="34" charset="0"/>
                <a:ea typeface="Calibri" pitchFamily="34" charset="-122"/>
                <a:cs typeface="Calibri" pitchFamily="34" charset="-120"/>
              </a:rPr>
              <a:t>tables, all isolated</a:t>
            </a:r>
            <a:endParaRPr lang="en-US" sz="1050" dirty="0"/>
          </a:p>
        </p:txBody>
      </p:sp>
      <p:sp>
        <p:nvSpPr>
          <p:cNvPr id="79" name="Shape 64"/>
          <p:cNvSpPr/>
          <p:nvPr/>
        </p:nvSpPr>
        <p:spPr>
          <a:xfrm>
            <a:off x="2703515" y="5596128"/>
            <a:ext cx="2200595" cy="749808"/>
          </a:xfrm>
          <a:prstGeom prst="rect">
            <a:avLst/>
          </a:prstGeom>
          <a:solidFill>
            <a:srgbClr val="1F4A82"/>
          </a:solidFill>
          <a:ln/>
        </p:spPr>
      </p:sp>
      <p:sp>
        <p:nvSpPr>
          <p:cNvPr id="80" name="Text 65"/>
          <p:cNvSpPr txBox="1"/>
          <p:nvPr/>
        </p:nvSpPr>
        <p:spPr>
          <a:xfrm>
            <a:off x="2794955" y="5596128"/>
            <a:ext cx="1143000" cy="74980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23</a:t>
            </a:r>
            <a:endParaRPr lang="en-US" sz="2400" dirty="0"/>
          </a:p>
        </p:txBody>
      </p:sp>
      <p:sp>
        <p:nvSpPr>
          <p:cNvPr id="81" name="Text 66"/>
          <p:cNvSpPr txBox="1"/>
          <p:nvPr/>
        </p:nvSpPr>
        <p:spPr>
          <a:xfrm>
            <a:off x="3937955" y="5596128"/>
            <a:ext cx="920435" cy="749808"/>
          </a:xfrm>
          <a:prstGeom prst="rect">
            <a:avLst/>
          </a:prstGeom>
          <a:noFill/>
          <a:ln/>
        </p:spPr>
        <p:txBody>
          <a:bodyPr wrap="square" lIns="0" tIns="0" rIns="0" bIns="0" rtlCol="0" anchor="ctr"/>
          <a:lstStyle/>
          <a:p>
            <a:pPr algn="l" indent="0" marL="0">
              <a:buNone/>
            </a:pPr>
            <a:r>
              <a:rPr lang="en-US" sz="1050" dirty="0">
                <a:solidFill>
                  <a:srgbClr val="C9DBF0"/>
                </a:solidFill>
                <a:latin typeface="Calibri" pitchFamily="34" charset="0"/>
                <a:ea typeface="Calibri" pitchFamily="34" charset="-122"/>
                <a:cs typeface="Calibri" pitchFamily="34" charset="-120"/>
              </a:rPr>
              <a:t>API endpoints</a:t>
            </a:r>
            <a:endParaRPr lang="en-US" sz="1050" dirty="0"/>
          </a:p>
        </p:txBody>
      </p:sp>
      <p:sp>
        <p:nvSpPr>
          <p:cNvPr id="82" name="Shape 67"/>
          <p:cNvSpPr/>
          <p:nvPr/>
        </p:nvSpPr>
        <p:spPr>
          <a:xfrm>
            <a:off x="4995550" y="5596128"/>
            <a:ext cx="2200595" cy="749808"/>
          </a:xfrm>
          <a:prstGeom prst="rect">
            <a:avLst/>
          </a:prstGeom>
          <a:solidFill>
            <a:srgbClr val="1F4A82"/>
          </a:solidFill>
          <a:ln/>
        </p:spPr>
      </p:sp>
      <p:sp>
        <p:nvSpPr>
          <p:cNvPr id="83" name="Text 68"/>
          <p:cNvSpPr txBox="1"/>
          <p:nvPr/>
        </p:nvSpPr>
        <p:spPr>
          <a:xfrm>
            <a:off x="5086990" y="5596128"/>
            <a:ext cx="1143000" cy="74980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380</a:t>
            </a:r>
            <a:endParaRPr lang="en-US" sz="2400" dirty="0"/>
          </a:p>
        </p:txBody>
      </p:sp>
      <p:sp>
        <p:nvSpPr>
          <p:cNvPr id="84" name="Text 69"/>
          <p:cNvSpPr txBox="1"/>
          <p:nvPr/>
        </p:nvSpPr>
        <p:spPr>
          <a:xfrm>
            <a:off x="6229990" y="5596128"/>
            <a:ext cx="920435" cy="749808"/>
          </a:xfrm>
          <a:prstGeom prst="rect">
            <a:avLst/>
          </a:prstGeom>
          <a:noFill/>
          <a:ln/>
        </p:spPr>
        <p:txBody>
          <a:bodyPr wrap="square" lIns="0" tIns="0" rIns="0" bIns="0" rtlCol="0" anchor="ctr"/>
          <a:lstStyle/>
          <a:p>
            <a:pPr algn="l" indent="0" marL="0">
              <a:buNone/>
            </a:pPr>
            <a:r>
              <a:rPr lang="en-US" sz="1050" dirty="0">
                <a:solidFill>
                  <a:srgbClr val="C9DBF0"/>
                </a:solidFill>
                <a:latin typeface="Calibri" pitchFamily="34" charset="0"/>
                <a:ea typeface="Calibri" pitchFamily="34" charset="-122"/>
                <a:cs typeface="Calibri" pitchFamily="34" charset="-120"/>
              </a:rPr>
              <a:t>syllabus topics</a:t>
            </a:r>
            <a:endParaRPr lang="en-US" sz="1050" dirty="0"/>
          </a:p>
        </p:txBody>
      </p:sp>
      <p:sp>
        <p:nvSpPr>
          <p:cNvPr id="85" name="Shape 70"/>
          <p:cNvSpPr/>
          <p:nvPr/>
        </p:nvSpPr>
        <p:spPr>
          <a:xfrm>
            <a:off x="7287585" y="5596128"/>
            <a:ext cx="2200595" cy="749808"/>
          </a:xfrm>
          <a:prstGeom prst="rect">
            <a:avLst/>
          </a:prstGeom>
          <a:solidFill>
            <a:srgbClr val="1F4A82"/>
          </a:solidFill>
          <a:ln/>
        </p:spPr>
      </p:sp>
      <p:sp>
        <p:nvSpPr>
          <p:cNvPr id="86" name="Text 71"/>
          <p:cNvSpPr txBox="1"/>
          <p:nvPr/>
        </p:nvSpPr>
        <p:spPr>
          <a:xfrm>
            <a:off x="7379025" y="5596128"/>
            <a:ext cx="1143000" cy="74980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116</a:t>
            </a:r>
            <a:endParaRPr lang="en-US" sz="2400" dirty="0"/>
          </a:p>
        </p:txBody>
      </p:sp>
      <p:sp>
        <p:nvSpPr>
          <p:cNvPr id="87" name="Text 72"/>
          <p:cNvSpPr txBox="1"/>
          <p:nvPr/>
        </p:nvSpPr>
        <p:spPr>
          <a:xfrm>
            <a:off x="8522025" y="5596128"/>
            <a:ext cx="920435" cy="749808"/>
          </a:xfrm>
          <a:prstGeom prst="rect">
            <a:avLst/>
          </a:prstGeom>
          <a:noFill/>
          <a:ln/>
        </p:spPr>
        <p:txBody>
          <a:bodyPr wrap="square" lIns="0" tIns="0" rIns="0" bIns="0" rtlCol="0" anchor="ctr"/>
          <a:lstStyle/>
          <a:p>
            <a:pPr algn="l" indent="0" marL="0">
              <a:buNone/>
            </a:pPr>
            <a:r>
              <a:rPr lang="en-US" sz="1050" dirty="0">
                <a:solidFill>
                  <a:srgbClr val="C9DBF0"/>
                </a:solidFill>
                <a:latin typeface="Calibri" pitchFamily="34" charset="0"/>
                <a:ea typeface="Calibri" pitchFamily="34" charset="-122"/>
                <a:cs typeface="Calibri" pitchFamily="34" charset="-120"/>
              </a:rPr>
              <a:t>automated tests</a:t>
            </a:r>
            <a:endParaRPr lang="en-US" sz="1050" dirty="0"/>
          </a:p>
        </p:txBody>
      </p:sp>
      <p:sp>
        <p:nvSpPr>
          <p:cNvPr id="88" name="Shape 73"/>
          <p:cNvSpPr/>
          <p:nvPr/>
        </p:nvSpPr>
        <p:spPr>
          <a:xfrm>
            <a:off x="9579620" y="5596128"/>
            <a:ext cx="2200595" cy="749808"/>
          </a:xfrm>
          <a:prstGeom prst="rect">
            <a:avLst/>
          </a:prstGeom>
          <a:solidFill>
            <a:srgbClr val="1F4A82"/>
          </a:solidFill>
          <a:ln/>
        </p:spPr>
      </p:sp>
      <p:sp>
        <p:nvSpPr>
          <p:cNvPr id="89" name="Text 74"/>
          <p:cNvSpPr txBox="1"/>
          <p:nvPr/>
        </p:nvSpPr>
        <p:spPr>
          <a:xfrm>
            <a:off x="9671060" y="5596128"/>
            <a:ext cx="1143000" cy="74980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₹3.6</a:t>
            </a:r>
            <a:endParaRPr lang="en-US" sz="2400" dirty="0"/>
          </a:p>
        </p:txBody>
      </p:sp>
      <p:sp>
        <p:nvSpPr>
          <p:cNvPr id="90" name="Text 75"/>
          <p:cNvSpPr txBox="1"/>
          <p:nvPr/>
        </p:nvSpPr>
        <p:spPr>
          <a:xfrm>
            <a:off x="10814060" y="5596128"/>
            <a:ext cx="920435" cy="749808"/>
          </a:xfrm>
          <a:prstGeom prst="rect">
            <a:avLst/>
          </a:prstGeom>
          <a:noFill/>
          <a:ln/>
        </p:spPr>
        <p:txBody>
          <a:bodyPr wrap="square" lIns="0" tIns="0" rIns="0" bIns="0" rtlCol="0" anchor="ctr"/>
          <a:lstStyle/>
          <a:p>
            <a:pPr algn="l" indent="0" marL="0">
              <a:buNone/>
            </a:pPr>
            <a:r>
              <a:rPr lang="en-US" sz="1050" dirty="0">
                <a:solidFill>
                  <a:srgbClr val="C9DBF0"/>
                </a:solidFill>
                <a:latin typeface="Calibri" pitchFamily="34" charset="0"/>
                <a:ea typeface="Calibri" pitchFamily="34" charset="-122"/>
                <a:cs typeface="Calibri" pitchFamily="34" charset="-120"/>
              </a:rPr>
              <a:t>per student a month</a:t>
            </a:r>
            <a:endParaRPr lang="en-US" sz="1050" dirty="0"/>
          </a:p>
        </p:txBody>
      </p:sp>
      <p:sp>
        <p:nvSpPr>
          <p:cNvPr id="91" name="Text 76"/>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technical/contracts (31 tables, 23 endpoints, 380 topics); tenant isolation tested on PostgreSQL 16; test suites; financial model v1.1 (Base, ₹3.6 all-in).</a:t>
            </a:r>
            <a:endParaRPr lang="en-US" sz="85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D4A24C"/>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multiple-smartphones">    </p:cNvPr>
          <p:cNvPicPr>
            <a:picLocks noChangeAspect="1"/>
          </p:cNvPicPr>
          <p:nvPr/>
        </p:nvPicPr>
        <p:blipFill>
          <a:blip r:embed="rId2"/>
          <a:stretch>
            <a:fillRect/>
          </a:stretch>
        </p:blipFill>
        <p:spPr>
          <a:xfrm>
            <a:off x="11247120" y="512064"/>
            <a:ext cx="438912" cy="438912"/>
          </a:xfrm>
          <a:prstGeom prst="rect">
            <a:avLst/>
          </a:prstGeom>
        </p:spPr>
      </p:pic>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THE PRODUCT: WEB AND PHONE</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A web console for the office, a phone app for mentors and parents</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411480" y="1188720"/>
            <a:ext cx="11365992" cy="3429000"/>
          </a:xfrm>
          <a:prstGeom prst="rect">
            <a:avLst/>
          </a:prstGeom>
          <a:solidFill>
            <a:srgbClr val="F4F7FB"/>
          </a:solidFill>
          <a:ln/>
        </p:spPr>
      </p:sp>
      <p:sp>
        <p:nvSpPr>
          <p:cNvPr id="27" name="Shape 23"/>
          <p:cNvSpPr/>
          <p:nvPr/>
        </p:nvSpPr>
        <p:spPr>
          <a:xfrm>
            <a:off x="502920" y="1261872"/>
            <a:ext cx="5897880" cy="3319272"/>
          </a:xfrm>
          <a:prstGeom prst="rect">
            <a:avLst/>
          </a:prstGeom>
          <a:solidFill>
            <a:srgbClr val="FFFFFF"/>
          </a:solidFill>
          <a:ln w="19050">
            <a:solidFill>
              <a:srgbClr val="1F4A82"/>
            </a:solidFill>
            <a:prstDash val="solid"/>
          </a:ln>
        </p:spPr>
      </p:sp>
      <p:pic>
        <p:nvPicPr>
          <p:cNvPr id="28" name="Image 1" descr="Pragati web console (illustrative)">    </p:cNvPr>
          <p:cNvPicPr>
            <a:picLocks noChangeAspect="1"/>
          </p:cNvPicPr>
          <p:nvPr/>
        </p:nvPicPr>
        <p:blipFill>
          <a:blip r:embed="rId3"/>
          <a:stretch>
            <a:fillRect/>
          </a:stretch>
        </p:blipFill>
        <p:spPr>
          <a:xfrm>
            <a:off x="521208" y="1280160"/>
            <a:ext cx="5861304" cy="3291840"/>
          </a:xfrm>
          <a:prstGeom prst="rect">
            <a:avLst/>
          </a:prstGeom>
        </p:spPr>
      </p:pic>
      <p:pic>
        <p:nvPicPr>
          <p:cNvPr id="29" name="Image 2" descr="Pragati phone screen (illustrative)">    </p:cNvPr>
          <p:cNvPicPr>
            <a:picLocks noChangeAspect="1"/>
          </p:cNvPicPr>
          <p:nvPr/>
        </p:nvPicPr>
        <p:blipFill>
          <a:blip r:embed="rId4"/>
          <a:stretch>
            <a:fillRect/>
          </a:stretch>
        </p:blipFill>
        <p:spPr>
          <a:xfrm>
            <a:off x="6583680" y="1188720"/>
            <a:ext cx="1645920" cy="3291840"/>
          </a:xfrm>
          <a:prstGeom prst="rect">
            <a:avLst/>
          </a:prstGeom>
        </p:spPr>
      </p:pic>
      <p:pic>
        <p:nvPicPr>
          <p:cNvPr id="30" name="Image 3" descr="Pragati phone screen (illustrative)">    </p:cNvPr>
          <p:cNvPicPr>
            <a:picLocks noChangeAspect="1"/>
          </p:cNvPicPr>
          <p:nvPr/>
        </p:nvPicPr>
        <p:blipFill>
          <a:blip r:embed="rId5"/>
          <a:stretch>
            <a:fillRect/>
          </a:stretch>
        </p:blipFill>
        <p:spPr>
          <a:xfrm>
            <a:off x="8321040" y="1188720"/>
            <a:ext cx="1645920" cy="3291840"/>
          </a:xfrm>
          <a:prstGeom prst="rect">
            <a:avLst/>
          </a:prstGeom>
        </p:spPr>
      </p:pic>
      <p:pic>
        <p:nvPicPr>
          <p:cNvPr id="31" name="Image 4" descr="Pragati phone screen (illustrative)">    </p:cNvPr>
          <p:cNvPicPr>
            <a:picLocks noChangeAspect="1"/>
          </p:cNvPicPr>
          <p:nvPr/>
        </p:nvPicPr>
        <p:blipFill>
          <a:blip r:embed="rId6"/>
          <a:stretch>
            <a:fillRect/>
          </a:stretch>
        </p:blipFill>
        <p:spPr>
          <a:xfrm>
            <a:off x="10058400" y="1188720"/>
            <a:ext cx="1645920" cy="3291840"/>
          </a:xfrm>
          <a:prstGeom prst="rect">
            <a:avLst/>
          </a:prstGeom>
        </p:spPr>
      </p:pic>
      <p:sp>
        <p:nvSpPr>
          <p:cNvPr id="32" name="Shape 24"/>
          <p:cNvSpPr/>
          <p:nvPr/>
        </p:nvSpPr>
        <p:spPr>
          <a:xfrm>
            <a:off x="8001000" y="3840480"/>
            <a:ext cx="274320" cy="274320"/>
          </a:xfrm>
          <a:prstGeom prst="ellipse">
            <a:avLst/>
          </a:prstGeom>
          <a:solidFill>
            <a:srgbClr val="1F4A82"/>
          </a:solidFill>
          <a:ln w="19050">
            <a:solidFill>
              <a:srgbClr val="FFFFFF"/>
            </a:solidFill>
            <a:prstDash val="solid"/>
          </a:ln>
        </p:spPr>
      </p:sp>
      <p:sp>
        <p:nvSpPr>
          <p:cNvPr id="33" name="Text 25"/>
          <p:cNvSpPr txBox="1"/>
          <p:nvPr/>
        </p:nvSpPr>
        <p:spPr>
          <a:xfrm>
            <a:off x="8001000" y="38404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4" name="Shape 26"/>
          <p:cNvSpPr/>
          <p:nvPr/>
        </p:nvSpPr>
        <p:spPr>
          <a:xfrm>
            <a:off x="2194560" y="2880360"/>
            <a:ext cx="274320" cy="274320"/>
          </a:xfrm>
          <a:prstGeom prst="ellipse">
            <a:avLst/>
          </a:prstGeom>
          <a:solidFill>
            <a:srgbClr val="1F4A82"/>
          </a:solidFill>
          <a:ln w="19050">
            <a:solidFill>
              <a:srgbClr val="FFFFFF"/>
            </a:solidFill>
            <a:prstDash val="solid"/>
          </a:ln>
        </p:spPr>
      </p:sp>
      <p:sp>
        <p:nvSpPr>
          <p:cNvPr id="35" name="Text 27"/>
          <p:cNvSpPr txBox="1"/>
          <p:nvPr/>
        </p:nvSpPr>
        <p:spPr>
          <a:xfrm>
            <a:off x="2194560" y="28803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6" name="Shape 28"/>
          <p:cNvSpPr/>
          <p:nvPr/>
        </p:nvSpPr>
        <p:spPr>
          <a:xfrm>
            <a:off x="9656064" y="1170432"/>
            <a:ext cx="274320" cy="274320"/>
          </a:xfrm>
          <a:prstGeom prst="ellipse">
            <a:avLst/>
          </a:prstGeom>
          <a:solidFill>
            <a:srgbClr val="1F4A82"/>
          </a:solidFill>
          <a:ln w="19050">
            <a:solidFill>
              <a:srgbClr val="FFFFFF"/>
            </a:solidFill>
            <a:prstDash val="solid"/>
          </a:ln>
        </p:spPr>
      </p:sp>
      <p:sp>
        <p:nvSpPr>
          <p:cNvPr id="37" name="Text 29"/>
          <p:cNvSpPr txBox="1"/>
          <p:nvPr/>
        </p:nvSpPr>
        <p:spPr>
          <a:xfrm>
            <a:off x="9656064" y="11704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8" name="Shape 30"/>
          <p:cNvSpPr/>
          <p:nvPr/>
        </p:nvSpPr>
        <p:spPr>
          <a:xfrm>
            <a:off x="11411712" y="1170432"/>
            <a:ext cx="274320" cy="274320"/>
          </a:xfrm>
          <a:prstGeom prst="ellipse">
            <a:avLst/>
          </a:prstGeom>
          <a:solidFill>
            <a:srgbClr val="1F4A82"/>
          </a:solidFill>
          <a:ln w="19050">
            <a:solidFill>
              <a:srgbClr val="FFFFFF"/>
            </a:solidFill>
            <a:prstDash val="solid"/>
          </a:ln>
        </p:spPr>
      </p:sp>
      <p:sp>
        <p:nvSpPr>
          <p:cNvPr id="39" name="Text 31"/>
          <p:cNvSpPr txBox="1"/>
          <p:nvPr/>
        </p:nvSpPr>
        <p:spPr>
          <a:xfrm>
            <a:off x="11411712" y="11704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0" name="Text 32"/>
          <p:cNvSpPr txBox="1"/>
          <p:nvPr/>
        </p:nvSpPr>
        <p:spPr>
          <a:xfrm>
            <a:off x="6583680" y="4480560"/>
            <a:ext cx="5166360" cy="201168"/>
          </a:xfrm>
          <a:prstGeom prst="rect">
            <a:avLst/>
          </a:prstGeom>
          <a:noFill/>
          <a:ln/>
        </p:spPr>
        <p:txBody>
          <a:bodyPr wrap="square" lIns="0" tIns="0" rIns="0" bIns="0" rtlCol="0" anchor="t"/>
          <a:lstStyle/>
          <a:p>
            <a:pPr algn="r" indent="0" marL="0">
              <a:buNone/>
            </a:pPr>
            <a:r>
              <a:rPr lang="en-US" sz="850" i="1" dirty="0">
                <a:solidFill>
                  <a:srgbClr val="5B6573"/>
                </a:solidFill>
                <a:latin typeface="Calibri" pitchFamily="34" charset="0"/>
                <a:ea typeface="Calibri" pitchFamily="34" charset="-122"/>
                <a:cs typeface="Calibri" pitchFamily="34" charset="-120"/>
              </a:rPr>
              <a:t>Illustrative mock-ups, synthetic students</a:t>
            </a:r>
            <a:endParaRPr lang="en-US" sz="850" dirty="0"/>
          </a:p>
        </p:txBody>
      </p:sp>
      <p:sp>
        <p:nvSpPr>
          <p:cNvPr id="41" name="Shape 33"/>
          <p:cNvSpPr/>
          <p:nvPr/>
        </p:nvSpPr>
        <p:spPr>
          <a:xfrm>
            <a:off x="411480" y="4800600"/>
            <a:ext cx="2739314" cy="914400"/>
          </a:xfrm>
          <a:prstGeom prst="rect">
            <a:avLst/>
          </a:prstGeom>
          <a:solidFill>
            <a:srgbClr val="FFFFFF"/>
          </a:solidFill>
          <a:ln w="15875">
            <a:solidFill>
              <a:srgbClr val="1F4A82"/>
            </a:solidFill>
            <a:prstDash val="solid"/>
          </a:ln>
        </p:spPr>
      </p:sp>
      <p:sp>
        <p:nvSpPr>
          <p:cNvPr id="42" name="Shape 34"/>
          <p:cNvSpPr/>
          <p:nvPr/>
        </p:nvSpPr>
        <p:spPr>
          <a:xfrm>
            <a:off x="411480" y="4800600"/>
            <a:ext cx="566928" cy="914400"/>
          </a:xfrm>
          <a:prstGeom prst="rect">
            <a:avLst/>
          </a:prstGeom>
          <a:solidFill>
            <a:srgbClr val="1F4A82"/>
          </a:solidFill>
          <a:ln/>
        </p:spPr>
      </p:sp>
      <p:pic>
        <p:nvPicPr>
          <p:cNvPr id="43" name="Image 5" descr="FaClipboardList icon">    </p:cNvPr>
          <p:cNvPicPr>
            <a:picLocks noChangeAspect="1"/>
          </p:cNvPicPr>
          <p:nvPr/>
        </p:nvPicPr>
        <p:blipFill>
          <a:blip r:embed="rId7"/>
          <a:stretch>
            <a:fillRect/>
          </a:stretch>
        </p:blipFill>
        <p:spPr>
          <a:xfrm>
            <a:off x="521208" y="100584"/>
            <a:ext cx="182880" cy="182880"/>
          </a:xfrm>
          <a:prstGeom prst="rect">
            <a:avLst/>
          </a:prstGeom>
        </p:spPr>
      </p:pic>
      <p:pic>
        <p:nvPicPr>
          <p:cNvPr id="44" name="Image 6" descr="FaTriangleExclamation icon">    </p:cNvPr>
          <p:cNvPicPr>
            <a:picLocks noChangeAspect="1"/>
          </p:cNvPicPr>
          <p:nvPr/>
        </p:nvPicPr>
        <p:blipFill>
          <a:blip r:embed="rId8"/>
          <a:stretch>
            <a:fillRect/>
          </a:stretch>
        </p:blipFill>
        <p:spPr>
          <a:xfrm>
            <a:off x="2084032" y="100584"/>
            <a:ext cx="182880" cy="182880"/>
          </a:xfrm>
          <a:prstGeom prst="rect">
            <a:avLst/>
          </a:prstGeom>
        </p:spPr>
      </p:pic>
      <p:pic>
        <p:nvPicPr>
          <p:cNvPr id="45" name="Image 7" descr="FaGears icon">    </p:cNvPr>
          <p:cNvPicPr>
            <a:picLocks noChangeAspect="1"/>
          </p:cNvPicPr>
          <p:nvPr/>
        </p:nvPicPr>
        <p:blipFill>
          <a:blip r:embed="rId9"/>
          <a:stretch>
            <a:fillRect/>
          </a:stretch>
        </p:blipFill>
        <p:spPr>
          <a:xfrm>
            <a:off x="4880496" y="100584"/>
            <a:ext cx="182880" cy="182880"/>
          </a:xfrm>
          <a:prstGeom prst="rect">
            <a:avLst/>
          </a:prstGeom>
        </p:spPr>
      </p:pic>
      <p:pic>
        <p:nvPicPr>
          <p:cNvPr id="46" name="Image 8" descr="FaShieldHalved icon">    </p:cNvPr>
          <p:cNvPicPr>
            <a:picLocks noChangeAspect="1"/>
          </p:cNvPicPr>
          <p:nvPr/>
        </p:nvPicPr>
        <p:blipFill>
          <a:blip r:embed="rId10"/>
          <a:stretch>
            <a:fillRect/>
          </a:stretch>
        </p:blipFill>
        <p:spPr>
          <a:xfrm>
            <a:off x="6278728" y="100584"/>
            <a:ext cx="182880" cy="182880"/>
          </a:xfrm>
          <a:prstGeom prst="rect">
            <a:avLst/>
          </a:prstGeom>
        </p:spPr>
      </p:pic>
      <p:pic>
        <p:nvPicPr>
          <p:cNvPr id="47" name="Image 9" descr="FaIndianRupeeSign icon">    </p:cNvPr>
          <p:cNvPicPr>
            <a:picLocks noChangeAspect="1"/>
          </p:cNvPicPr>
          <p:nvPr/>
        </p:nvPicPr>
        <p:blipFill>
          <a:blip r:embed="rId11"/>
          <a:stretch>
            <a:fillRect/>
          </a:stretch>
        </p:blipFill>
        <p:spPr>
          <a:xfrm>
            <a:off x="7676960" y="100584"/>
            <a:ext cx="182880" cy="182880"/>
          </a:xfrm>
          <a:prstGeom prst="rect">
            <a:avLst/>
          </a:prstGeom>
        </p:spPr>
      </p:pic>
      <p:pic>
        <p:nvPicPr>
          <p:cNvPr id="48" name="Image 10" descr="FaBullseye icon">    </p:cNvPr>
          <p:cNvPicPr>
            <a:picLocks noChangeAspect="1"/>
          </p:cNvPicPr>
          <p:nvPr/>
        </p:nvPicPr>
        <p:blipFill>
          <a:blip r:embed="rId12"/>
          <a:stretch>
            <a:fillRect/>
          </a:stretch>
        </p:blipFill>
        <p:spPr>
          <a:xfrm>
            <a:off x="9075191" y="100584"/>
            <a:ext cx="182880" cy="182880"/>
          </a:xfrm>
          <a:prstGeom prst="rect">
            <a:avLst/>
          </a:prstGeom>
        </p:spPr>
      </p:pic>
      <p:pic>
        <p:nvPicPr>
          <p:cNvPr id="49" name="Image 11" descr="FaBookOpen icon">    </p:cNvPr>
          <p:cNvPicPr>
            <a:picLocks noChangeAspect="1"/>
          </p:cNvPicPr>
          <p:nvPr/>
        </p:nvPicPr>
        <p:blipFill>
          <a:blip r:embed="rId13"/>
          <a:stretch>
            <a:fillRect/>
          </a:stretch>
        </p:blipFill>
        <p:spPr>
          <a:xfrm>
            <a:off x="10473423" y="100584"/>
            <a:ext cx="182880" cy="182880"/>
          </a:xfrm>
          <a:prstGeom prst="rect">
            <a:avLst/>
          </a:prstGeom>
        </p:spPr>
      </p:pic>
      <p:pic>
        <p:nvPicPr>
          <p:cNvPr id="50" name="Image 12" descr="FaCamera icon">    </p:cNvPr>
          <p:cNvPicPr>
            <a:picLocks noChangeAspect="1"/>
          </p:cNvPicPr>
          <p:nvPr/>
        </p:nvPicPr>
        <p:blipFill>
          <a:blip r:embed="rId14"/>
          <a:stretch>
            <a:fillRect/>
          </a:stretch>
        </p:blipFill>
        <p:spPr>
          <a:xfrm>
            <a:off x="539496" y="5074920"/>
            <a:ext cx="310896" cy="310896"/>
          </a:xfrm>
          <a:prstGeom prst="rect">
            <a:avLst/>
          </a:prstGeom>
        </p:spPr>
      </p:pic>
      <p:sp>
        <p:nvSpPr>
          <p:cNvPr id="51" name="Text 35"/>
          <p:cNvSpPr txBox="1"/>
          <p:nvPr/>
        </p:nvSpPr>
        <p:spPr>
          <a:xfrm>
            <a:off x="1069848" y="4846320"/>
            <a:ext cx="2007794" cy="329184"/>
          </a:xfrm>
          <a:prstGeom prst="rect">
            <a:avLst/>
          </a:prstGeom>
          <a:noFill/>
          <a:ln/>
        </p:spPr>
        <p:txBody>
          <a:bodyPr wrap="square" lIns="0" tIns="0" rIns="0" bIns="0" rtlCol="0" anchor="ctr"/>
          <a:lstStyle/>
          <a:p>
            <a:pPr algn="l" indent="0" marL="0">
              <a:buNone/>
            </a:pPr>
            <a:r>
              <a:rPr lang="en-US" sz="1200" b="1" dirty="0">
                <a:solidFill>
                  <a:srgbClr val="17325C"/>
                </a:solidFill>
                <a:latin typeface="Calibri" pitchFamily="34" charset="0"/>
                <a:ea typeface="Calibri" pitchFamily="34" charset="-122"/>
                <a:cs typeface="Calibri" pitchFamily="34" charset="-120"/>
              </a:rPr>
              <a:t>1  Scan on a phone</a:t>
            </a:r>
            <a:endParaRPr lang="en-US" sz="1200" dirty="0"/>
          </a:p>
        </p:txBody>
      </p:sp>
      <p:sp>
        <p:nvSpPr>
          <p:cNvPr id="52" name="Text 36"/>
          <p:cNvSpPr txBox="1"/>
          <p:nvPr/>
        </p:nvSpPr>
        <p:spPr>
          <a:xfrm>
            <a:off x="1069848" y="5175504"/>
            <a:ext cx="2007794" cy="50292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Unclear bubbles fixed in one tap</a:t>
            </a:r>
            <a:endParaRPr lang="en-US" sz="1050" dirty="0"/>
          </a:p>
        </p:txBody>
      </p:sp>
      <p:sp>
        <p:nvSpPr>
          <p:cNvPr id="53" name="Shape 37"/>
          <p:cNvSpPr/>
          <p:nvPr/>
        </p:nvSpPr>
        <p:spPr>
          <a:xfrm>
            <a:off x="3287954" y="4800600"/>
            <a:ext cx="2739314" cy="914400"/>
          </a:xfrm>
          <a:prstGeom prst="rect">
            <a:avLst/>
          </a:prstGeom>
          <a:solidFill>
            <a:srgbClr val="FFFFFF"/>
          </a:solidFill>
          <a:ln w="15875">
            <a:solidFill>
              <a:srgbClr val="1F4A82"/>
            </a:solidFill>
            <a:prstDash val="solid"/>
          </a:ln>
        </p:spPr>
      </p:sp>
      <p:sp>
        <p:nvSpPr>
          <p:cNvPr id="54" name="Shape 38"/>
          <p:cNvSpPr/>
          <p:nvPr/>
        </p:nvSpPr>
        <p:spPr>
          <a:xfrm>
            <a:off x="3287954" y="4800600"/>
            <a:ext cx="566928" cy="914400"/>
          </a:xfrm>
          <a:prstGeom prst="rect">
            <a:avLst/>
          </a:prstGeom>
          <a:solidFill>
            <a:srgbClr val="1F4A82"/>
          </a:solidFill>
          <a:ln/>
        </p:spPr>
      </p:sp>
      <p:pic>
        <p:nvPicPr>
          <p:cNvPr id="55" name="Image 13" descr="FaMobileScreen icon">    </p:cNvPr>
          <p:cNvPicPr>
            <a:picLocks noChangeAspect="1"/>
          </p:cNvPicPr>
          <p:nvPr/>
        </p:nvPicPr>
        <p:blipFill>
          <a:blip r:embed="rId15"/>
          <a:stretch>
            <a:fillRect/>
          </a:stretch>
        </p:blipFill>
        <p:spPr>
          <a:xfrm>
            <a:off x="3482264" y="100584"/>
            <a:ext cx="182880" cy="182880"/>
          </a:xfrm>
          <a:prstGeom prst="rect">
            <a:avLst/>
          </a:prstGeom>
        </p:spPr>
      </p:pic>
      <p:pic>
        <p:nvPicPr>
          <p:cNvPr id="56" name="Image 14" descr="FaTableCells icon">    </p:cNvPr>
          <p:cNvPicPr>
            <a:picLocks noChangeAspect="1"/>
          </p:cNvPicPr>
          <p:nvPr/>
        </p:nvPicPr>
        <p:blipFill>
          <a:blip r:embed="rId16"/>
          <a:stretch>
            <a:fillRect/>
          </a:stretch>
        </p:blipFill>
        <p:spPr>
          <a:xfrm>
            <a:off x="3415970" y="5074920"/>
            <a:ext cx="310896" cy="310896"/>
          </a:xfrm>
          <a:prstGeom prst="rect">
            <a:avLst/>
          </a:prstGeom>
        </p:spPr>
      </p:pic>
      <p:sp>
        <p:nvSpPr>
          <p:cNvPr id="57" name="Text 39"/>
          <p:cNvSpPr txBox="1"/>
          <p:nvPr/>
        </p:nvSpPr>
        <p:spPr>
          <a:xfrm>
            <a:off x="3946322" y="4846320"/>
            <a:ext cx="2007794" cy="329184"/>
          </a:xfrm>
          <a:prstGeom prst="rect">
            <a:avLst/>
          </a:prstGeom>
          <a:noFill/>
          <a:ln/>
        </p:spPr>
        <p:txBody>
          <a:bodyPr wrap="square" lIns="0" tIns="0" rIns="0" bIns="0" rtlCol="0" anchor="ctr"/>
          <a:lstStyle/>
          <a:p>
            <a:pPr algn="l" indent="0" marL="0">
              <a:buNone/>
            </a:pPr>
            <a:r>
              <a:rPr lang="en-US" sz="1200" b="1" dirty="0">
                <a:solidFill>
                  <a:srgbClr val="17325C"/>
                </a:solidFill>
                <a:latin typeface="Calibri" pitchFamily="34" charset="0"/>
                <a:ea typeface="Calibri" pitchFamily="34" charset="-122"/>
                <a:cs typeface="Calibri" pitchFamily="34" charset="-120"/>
              </a:rPr>
              <a:t>2  Topic map</a:t>
            </a:r>
            <a:endParaRPr lang="en-US" sz="1200" dirty="0"/>
          </a:p>
        </p:txBody>
      </p:sp>
      <p:sp>
        <p:nvSpPr>
          <p:cNvPr id="58" name="Text 40"/>
          <p:cNvSpPr txBox="1"/>
          <p:nvPr/>
        </p:nvSpPr>
        <p:spPr>
          <a:xfrm>
            <a:off x="3946322" y="5175504"/>
            <a:ext cx="2007794" cy="50292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Weak topics for the whole batch</a:t>
            </a:r>
            <a:endParaRPr lang="en-US" sz="1050" dirty="0"/>
          </a:p>
        </p:txBody>
      </p:sp>
      <p:sp>
        <p:nvSpPr>
          <p:cNvPr id="59" name="Shape 41"/>
          <p:cNvSpPr/>
          <p:nvPr/>
        </p:nvSpPr>
        <p:spPr>
          <a:xfrm>
            <a:off x="6164428" y="4800600"/>
            <a:ext cx="2739314" cy="914400"/>
          </a:xfrm>
          <a:prstGeom prst="rect">
            <a:avLst/>
          </a:prstGeom>
          <a:solidFill>
            <a:srgbClr val="FFFFFF"/>
          </a:solidFill>
          <a:ln w="15875">
            <a:solidFill>
              <a:srgbClr val="1F4A82"/>
            </a:solidFill>
            <a:prstDash val="solid"/>
          </a:ln>
        </p:spPr>
      </p:sp>
      <p:sp>
        <p:nvSpPr>
          <p:cNvPr id="60" name="Shape 42"/>
          <p:cNvSpPr/>
          <p:nvPr/>
        </p:nvSpPr>
        <p:spPr>
          <a:xfrm>
            <a:off x="6164428" y="4800600"/>
            <a:ext cx="566928" cy="914400"/>
          </a:xfrm>
          <a:prstGeom prst="rect">
            <a:avLst/>
          </a:prstGeom>
          <a:solidFill>
            <a:srgbClr val="1F4A82"/>
          </a:solidFill>
          <a:ln/>
        </p:spPr>
      </p:sp>
      <p:pic>
        <p:nvPicPr>
          <p:cNvPr id="61" name="Image 15" descr="FaListCheck icon">    </p:cNvPr>
          <p:cNvPicPr>
            <a:picLocks noChangeAspect="1"/>
          </p:cNvPicPr>
          <p:nvPr/>
        </p:nvPicPr>
        <p:blipFill>
          <a:blip r:embed="rId17"/>
          <a:stretch>
            <a:fillRect/>
          </a:stretch>
        </p:blipFill>
        <p:spPr>
          <a:xfrm>
            <a:off x="6292444" y="5074920"/>
            <a:ext cx="310896" cy="310896"/>
          </a:xfrm>
          <a:prstGeom prst="rect">
            <a:avLst/>
          </a:prstGeom>
        </p:spPr>
      </p:pic>
      <p:sp>
        <p:nvSpPr>
          <p:cNvPr id="62" name="Text 43"/>
          <p:cNvSpPr txBox="1"/>
          <p:nvPr/>
        </p:nvSpPr>
        <p:spPr>
          <a:xfrm>
            <a:off x="6822796" y="4846320"/>
            <a:ext cx="2007794" cy="329184"/>
          </a:xfrm>
          <a:prstGeom prst="rect">
            <a:avLst/>
          </a:prstGeom>
          <a:noFill/>
          <a:ln/>
        </p:spPr>
        <p:txBody>
          <a:bodyPr wrap="square" lIns="0" tIns="0" rIns="0" bIns="0" rtlCol="0" anchor="ctr"/>
          <a:lstStyle/>
          <a:p>
            <a:pPr algn="l" indent="0" marL="0">
              <a:buNone/>
            </a:pPr>
            <a:r>
              <a:rPr lang="en-US" sz="1200" b="1" dirty="0">
                <a:solidFill>
                  <a:srgbClr val="17325C"/>
                </a:solidFill>
                <a:latin typeface="Calibri" pitchFamily="34" charset="0"/>
                <a:ea typeface="Calibri" pitchFamily="34" charset="-122"/>
                <a:cs typeface="Calibri" pitchFamily="34" charset="-120"/>
              </a:rPr>
              <a:t>3  Weekly list</a:t>
            </a:r>
            <a:endParaRPr lang="en-US" sz="1200" dirty="0"/>
          </a:p>
        </p:txBody>
      </p:sp>
      <p:sp>
        <p:nvSpPr>
          <p:cNvPr id="63" name="Text 44"/>
          <p:cNvSpPr txBox="1"/>
          <p:nvPr/>
        </p:nvSpPr>
        <p:spPr>
          <a:xfrm>
            <a:off x="6822796" y="5175504"/>
            <a:ext cx="2007794" cy="50292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Up to 8 students, with plain reasons</a:t>
            </a:r>
            <a:endParaRPr lang="en-US" sz="1050" dirty="0"/>
          </a:p>
        </p:txBody>
      </p:sp>
      <p:sp>
        <p:nvSpPr>
          <p:cNvPr id="64" name="Shape 45"/>
          <p:cNvSpPr/>
          <p:nvPr/>
        </p:nvSpPr>
        <p:spPr>
          <a:xfrm>
            <a:off x="9040901" y="4800600"/>
            <a:ext cx="2739314" cy="914400"/>
          </a:xfrm>
          <a:prstGeom prst="rect">
            <a:avLst/>
          </a:prstGeom>
          <a:solidFill>
            <a:srgbClr val="FFFFFF"/>
          </a:solidFill>
          <a:ln w="15875">
            <a:solidFill>
              <a:srgbClr val="1F4A82"/>
            </a:solidFill>
            <a:prstDash val="solid"/>
          </a:ln>
        </p:spPr>
      </p:sp>
      <p:sp>
        <p:nvSpPr>
          <p:cNvPr id="65" name="Shape 46"/>
          <p:cNvSpPr/>
          <p:nvPr/>
        </p:nvSpPr>
        <p:spPr>
          <a:xfrm>
            <a:off x="9040901" y="4800600"/>
            <a:ext cx="566928" cy="914400"/>
          </a:xfrm>
          <a:prstGeom prst="rect">
            <a:avLst/>
          </a:prstGeom>
          <a:solidFill>
            <a:srgbClr val="1F4A82"/>
          </a:solidFill>
          <a:ln/>
        </p:spPr>
      </p:sp>
      <p:pic>
        <p:nvPicPr>
          <p:cNvPr id="66" name="Image 16" descr="FaLanguage icon">    </p:cNvPr>
          <p:cNvPicPr>
            <a:picLocks noChangeAspect="1"/>
          </p:cNvPicPr>
          <p:nvPr/>
        </p:nvPicPr>
        <p:blipFill>
          <a:blip r:embed="rId18"/>
          <a:stretch>
            <a:fillRect/>
          </a:stretch>
        </p:blipFill>
        <p:spPr>
          <a:xfrm>
            <a:off x="9168917" y="5074920"/>
            <a:ext cx="310896" cy="310896"/>
          </a:xfrm>
          <a:prstGeom prst="rect">
            <a:avLst/>
          </a:prstGeom>
        </p:spPr>
      </p:pic>
      <p:sp>
        <p:nvSpPr>
          <p:cNvPr id="67" name="Text 47"/>
          <p:cNvSpPr txBox="1"/>
          <p:nvPr/>
        </p:nvSpPr>
        <p:spPr>
          <a:xfrm>
            <a:off x="9699269" y="4846320"/>
            <a:ext cx="2007794" cy="329184"/>
          </a:xfrm>
          <a:prstGeom prst="rect">
            <a:avLst/>
          </a:prstGeom>
          <a:noFill/>
          <a:ln/>
        </p:spPr>
        <p:txBody>
          <a:bodyPr wrap="square" lIns="0" tIns="0" rIns="0" bIns="0" rtlCol="0" anchor="ctr"/>
          <a:lstStyle/>
          <a:p>
            <a:pPr algn="l" indent="0" marL="0">
              <a:buNone/>
            </a:pPr>
            <a:r>
              <a:rPr lang="en-US" sz="1200" b="1" dirty="0">
                <a:solidFill>
                  <a:srgbClr val="17325C"/>
                </a:solidFill>
                <a:latin typeface="Calibri" pitchFamily="34" charset="0"/>
                <a:ea typeface="Calibri" pitchFamily="34" charset="-122"/>
                <a:cs typeface="Calibri" pitchFamily="34" charset="-120"/>
              </a:rPr>
              <a:t>4  Parent update</a:t>
            </a:r>
            <a:endParaRPr lang="en-US" sz="1200" dirty="0"/>
          </a:p>
        </p:txBody>
      </p:sp>
      <p:sp>
        <p:nvSpPr>
          <p:cNvPr id="68" name="Text 48"/>
          <p:cNvSpPr txBox="1"/>
          <p:nvPr/>
        </p:nvSpPr>
        <p:spPr>
          <a:xfrm>
            <a:off x="9699269" y="5175504"/>
            <a:ext cx="2007794" cy="50292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Hindi or English, numbers checked</a:t>
            </a:r>
            <a:endParaRPr lang="en-US" sz="1050" dirty="0"/>
          </a:p>
        </p:txBody>
      </p:sp>
      <p:sp>
        <p:nvSpPr>
          <p:cNvPr id="69" name="Shape 49"/>
          <p:cNvSpPr/>
          <p:nvPr/>
        </p:nvSpPr>
        <p:spPr>
          <a:xfrm>
            <a:off x="411480" y="5852160"/>
            <a:ext cx="2393716" cy="502920"/>
          </a:xfrm>
          <a:prstGeom prst="homePlate">
            <a:avLst/>
          </a:prstGeom>
          <a:solidFill>
            <a:srgbClr val="1F4A82"/>
          </a:solidFill>
          <a:ln w="25400">
            <a:solidFill>
              <a:srgbClr val="FFFFFF"/>
            </a:solidFill>
            <a:prstDash val="solid"/>
          </a:ln>
        </p:spPr>
      </p:sp>
      <p:sp>
        <p:nvSpPr>
          <p:cNvPr id="70" name="Text 50"/>
          <p:cNvSpPr txBox="1"/>
          <p:nvPr/>
        </p:nvSpPr>
        <p:spPr>
          <a:xfrm>
            <a:off x="539496" y="5852160"/>
            <a:ext cx="2064532"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Mon: Test scanned</a:t>
            </a:r>
            <a:endParaRPr lang="en-US" sz="1100" dirty="0"/>
          </a:p>
        </p:txBody>
      </p:sp>
      <p:sp>
        <p:nvSpPr>
          <p:cNvPr id="71" name="Shape 51"/>
          <p:cNvSpPr/>
          <p:nvPr/>
        </p:nvSpPr>
        <p:spPr>
          <a:xfrm>
            <a:off x="2655235" y="5852160"/>
            <a:ext cx="2393716" cy="502920"/>
          </a:xfrm>
          <a:prstGeom prst="chevron">
            <a:avLst/>
          </a:prstGeom>
          <a:solidFill>
            <a:srgbClr val="2E6DB4"/>
          </a:solidFill>
          <a:ln w="25400">
            <a:solidFill>
              <a:srgbClr val="FFFFFF"/>
            </a:solidFill>
            <a:prstDash val="solid"/>
          </a:ln>
        </p:spPr>
      </p:sp>
      <p:sp>
        <p:nvSpPr>
          <p:cNvPr id="72" name="Text 52"/>
          <p:cNvSpPr txBox="1"/>
          <p:nvPr/>
        </p:nvSpPr>
        <p:spPr>
          <a:xfrm>
            <a:off x="2874691" y="5852160"/>
            <a:ext cx="1973092"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Tue: Mentor calls</a:t>
            </a:r>
            <a:endParaRPr lang="en-US" sz="1100" dirty="0"/>
          </a:p>
        </p:txBody>
      </p:sp>
      <p:sp>
        <p:nvSpPr>
          <p:cNvPr id="73" name="Shape 53"/>
          <p:cNvSpPr/>
          <p:nvPr/>
        </p:nvSpPr>
        <p:spPr>
          <a:xfrm>
            <a:off x="4898989" y="5852160"/>
            <a:ext cx="2393716" cy="502920"/>
          </a:xfrm>
          <a:prstGeom prst="chevron">
            <a:avLst/>
          </a:prstGeom>
          <a:solidFill>
            <a:srgbClr val="1F4A82"/>
          </a:solidFill>
          <a:ln w="25400">
            <a:solidFill>
              <a:srgbClr val="FFFFFF"/>
            </a:solidFill>
            <a:prstDash val="solid"/>
          </a:ln>
        </p:spPr>
      </p:sp>
      <p:sp>
        <p:nvSpPr>
          <p:cNvPr id="74" name="Text 54"/>
          <p:cNvSpPr txBox="1"/>
          <p:nvPr/>
        </p:nvSpPr>
        <p:spPr>
          <a:xfrm>
            <a:off x="5118445" y="5852160"/>
            <a:ext cx="1973092"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Wed: Remedial session</a:t>
            </a:r>
            <a:endParaRPr lang="en-US" sz="1100" dirty="0"/>
          </a:p>
        </p:txBody>
      </p:sp>
      <p:sp>
        <p:nvSpPr>
          <p:cNvPr id="75" name="Shape 55"/>
          <p:cNvSpPr/>
          <p:nvPr/>
        </p:nvSpPr>
        <p:spPr>
          <a:xfrm>
            <a:off x="7142744" y="5852160"/>
            <a:ext cx="2393716" cy="502920"/>
          </a:xfrm>
          <a:prstGeom prst="chevron">
            <a:avLst/>
          </a:prstGeom>
          <a:solidFill>
            <a:srgbClr val="5B8DC9"/>
          </a:solidFill>
          <a:ln w="25400">
            <a:solidFill>
              <a:srgbClr val="FFFFFF"/>
            </a:solidFill>
            <a:prstDash val="solid"/>
          </a:ln>
        </p:spPr>
      </p:sp>
      <p:sp>
        <p:nvSpPr>
          <p:cNvPr id="76" name="Text 56"/>
          <p:cNvSpPr txBox="1"/>
          <p:nvPr/>
        </p:nvSpPr>
        <p:spPr>
          <a:xfrm>
            <a:off x="7362200" y="5852160"/>
            <a:ext cx="1973092"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Sat: Parent update</a:t>
            </a:r>
            <a:endParaRPr lang="en-US" sz="1100" dirty="0"/>
          </a:p>
        </p:txBody>
      </p:sp>
      <p:sp>
        <p:nvSpPr>
          <p:cNvPr id="77" name="Shape 57"/>
          <p:cNvSpPr/>
          <p:nvPr/>
        </p:nvSpPr>
        <p:spPr>
          <a:xfrm>
            <a:off x="9386499" y="5852160"/>
            <a:ext cx="2393716" cy="502920"/>
          </a:xfrm>
          <a:prstGeom prst="chevron">
            <a:avLst/>
          </a:prstGeom>
          <a:solidFill>
            <a:srgbClr val="1F4A82"/>
          </a:solidFill>
          <a:ln w="25400">
            <a:solidFill>
              <a:srgbClr val="FFFFFF"/>
            </a:solidFill>
            <a:prstDash val="solid"/>
          </a:ln>
        </p:spPr>
      </p:sp>
      <p:sp>
        <p:nvSpPr>
          <p:cNvPr id="78" name="Text 58"/>
          <p:cNvSpPr txBox="1"/>
          <p:nvPr/>
        </p:nvSpPr>
        <p:spPr>
          <a:xfrm>
            <a:off x="9605955" y="5852160"/>
            <a:ext cx="1973092"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Month: Owner sees outcomes</a:t>
            </a:r>
            <a:endParaRPr lang="en-US" sz="1100" dirty="0"/>
          </a:p>
        </p:txBody>
      </p:sp>
      <p:sp>
        <p:nvSpPr>
          <p:cNvPr id="79" name="Text 59"/>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Both surfaces share one API. The phone app is a progressive web app installed from the browser (no app-store fee). Mock-ups use synthetic students; report text comes from our report module.</a:t>
            </a:r>
            <a:endParaRPr lang="en-US" sz="85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D4A24C"/>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2E6DB4"/>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statistics">    </p:cNvPr>
          <p:cNvPicPr>
            <a:picLocks noChangeAspect="1"/>
          </p:cNvPicPr>
          <p:nvPr/>
        </p:nvPicPr>
        <p:blipFill>
          <a:blip r:embed="rId2"/>
          <a:stretch>
            <a:fillRect/>
          </a:stretch>
        </p:blipFill>
        <p:spPr>
          <a:xfrm>
            <a:off x="11247120" y="512064"/>
            <a:ext cx="438912" cy="438912"/>
          </a:xfrm>
          <a:prstGeom prst="rect">
            <a:avLst/>
          </a:prstGeom>
        </p:spPr>
      </p:pic>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HONEST RANGES AND SAFE PARENT REPORTS</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An honest range instead of a single rank, and parent messages where every number is checked</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411480" y="1188720"/>
            <a:ext cx="5120640" cy="2889504"/>
          </a:xfrm>
          <a:prstGeom prst="rect">
            <a:avLst/>
          </a:prstGeom>
          <a:solidFill>
            <a:srgbClr val="FFFFFF"/>
          </a:solidFill>
          <a:ln w="19050">
            <a:solidFill>
              <a:srgbClr val="1F4A82"/>
            </a:solidFill>
            <a:prstDash val="solid"/>
          </a:ln>
        </p:spPr>
      </p:sp>
      <p:pic>
        <p:nvPicPr>
          <p:cNvPr id="27" name="Image 1" descr="Student profile with percentile range (illustrative)">    </p:cNvPr>
          <p:cNvPicPr>
            <a:picLocks noChangeAspect="1"/>
          </p:cNvPicPr>
          <p:nvPr/>
        </p:nvPicPr>
        <p:blipFill>
          <a:blip r:embed="rId3"/>
          <a:stretch>
            <a:fillRect/>
          </a:stretch>
        </p:blipFill>
        <p:spPr>
          <a:xfrm>
            <a:off x="429768" y="1207008"/>
            <a:ext cx="5084064" cy="2852928"/>
          </a:xfrm>
          <a:prstGeom prst="rect">
            <a:avLst/>
          </a:prstGeom>
        </p:spPr>
      </p:pic>
      <p:sp>
        <p:nvSpPr>
          <p:cNvPr id="28" name="Shape 23"/>
          <p:cNvSpPr/>
          <p:nvPr/>
        </p:nvSpPr>
        <p:spPr>
          <a:xfrm>
            <a:off x="3017520" y="2514600"/>
            <a:ext cx="274320" cy="274320"/>
          </a:xfrm>
          <a:prstGeom prst="ellipse">
            <a:avLst/>
          </a:prstGeom>
          <a:solidFill>
            <a:srgbClr val="1F4A82"/>
          </a:solidFill>
          <a:ln w="19050">
            <a:solidFill>
              <a:srgbClr val="FFFFFF"/>
            </a:solidFill>
            <a:prstDash val="solid"/>
          </a:ln>
        </p:spPr>
      </p:sp>
      <p:sp>
        <p:nvSpPr>
          <p:cNvPr id="29" name="Text 24"/>
          <p:cNvSpPr txBox="1"/>
          <p:nvPr/>
        </p:nvSpPr>
        <p:spPr>
          <a:xfrm>
            <a:off x="3017520" y="25146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0" name="Shape 25"/>
          <p:cNvSpPr/>
          <p:nvPr/>
        </p:nvSpPr>
        <p:spPr>
          <a:xfrm>
            <a:off x="5897880" y="1188720"/>
            <a:ext cx="5029200" cy="3017520"/>
          </a:xfrm>
          <a:prstGeom prst="rect">
            <a:avLst/>
          </a:prstGeom>
          <a:solidFill>
            <a:srgbClr val="FFFFFF"/>
          </a:solidFill>
          <a:ln w="19050">
            <a:solidFill>
              <a:srgbClr val="1F4A82"/>
            </a:solidFill>
            <a:prstDash val="solid"/>
          </a:ln>
        </p:spPr>
      </p:sp>
      <p:pic>
        <p:nvPicPr>
          <p:cNvPr id="31" name="Image 2" descr="Parent report in Hindi and English (illustrative)">    </p:cNvPr>
          <p:cNvPicPr>
            <a:picLocks noChangeAspect="1"/>
          </p:cNvPicPr>
          <p:nvPr/>
        </p:nvPicPr>
        <p:blipFill>
          <a:blip r:embed="rId4"/>
          <a:stretch>
            <a:fillRect/>
          </a:stretch>
        </p:blipFill>
        <p:spPr>
          <a:xfrm>
            <a:off x="5916168" y="1207008"/>
            <a:ext cx="4992624" cy="2999232"/>
          </a:xfrm>
          <a:prstGeom prst="rect">
            <a:avLst/>
          </a:prstGeom>
        </p:spPr>
      </p:pic>
      <p:sp>
        <p:nvSpPr>
          <p:cNvPr id="32" name="Shape 26"/>
          <p:cNvSpPr/>
          <p:nvPr/>
        </p:nvSpPr>
        <p:spPr>
          <a:xfrm>
            <a:off x="7223760" y="3429000"/>
            <a:ext cx="274320" cy="274320"/>
          </a:xfrm>
          <a:prstGeom prst="ellipse">
            <a:avLst/>
          </a:prstGeom>
          <a:solidFill>
            <a:srgbClr val="1F4A82"/>
          </a:solidFill>
          <a:ln w="19050">
            <a:solidFill>
              <a:srgbClr val="FFFFFF"/>
            </a:solidFill>
            <a:prstDash val="solid"/>
          </a:ln>
        </p:spPr>
      </p:sp>
      <p:sp>
        <p:nvSpPr>
          <p:cNvPr id="33" name="Text 27"/>
          <p:cNvSpPr txBox="1"/>
          <p:nvPr/>
        </p:nvSpPr>
        <p:spPr>
          <a:xfrm>
            <a:off x="7223760" y="34290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28"/>
          <p:cNvSpPr txBox="1"/>
          <p:nvPr/>
        </p:nvSpPr>
        <p:spPr>
          <a:xfrm>
            <a:off x="411480" y="4114800"/>
            <a:ext cx="5120640" cy="274320"/>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1 </a:t>
            </a:r>
            <a:pPr algn="l" indent="0" marL="0">
              <a:buNone/>
            </a:pPr>
            <a:r>
              <a:rPr lang="en-US" sz="1050" dirty="0">
                <a:solidFill>
                  <a:srgbClr val="1F2937"/>
                </a:solidFill>
                <a:latin typeface="Calibri" pitchFamily="34" charset="0"/>
                <a:ea typeface="Calibri" pitchFamily="34" charset="-122"/>
                <a:cs typeface="Calibri" pitchFamily="34" charset="-120"/>
              </a:rPr>
              <a:t>The range narrows as tests add up. Never a single rank.</a:t>
            </a:r>
            <a:endParaRPr lang="en-US" sz="1050" dirty="0"/>
          </a:p>
        </p:txBody>
      </p:sp>
      <p:sp>
        <p:nvSpPr>
          <p:cNvPr id="35" name="Text 29"/>
          <p:cNvSpPr txBox="1"/>
          <p:nvPr/>
        </p:nvSpPr>
        <p:spPr>
          <a:xfrm>
            <a:off x="5897880" y="4242816"/>
            <a:ext cx="5029200" cy="274320"/>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2 </a:t>
            </a:r>
            <a:pPr algn="l" indent="0" marL="0">
              <a:buNone/>
            </a:pPr>
            <a:r>
              <a:rPr lang="en-US" sz="1050" dirty="0">
                <a:solidFill>
                  <a:srgbClr val="1F2937"/>
                </a:solidFill>
                <a:latin typeface="Calibri" pitchFamily="34" charset="0"/>
                <a:ea typeface="Calibri" pitchFamily="34" charset="-122"/>
                <a:cs typeface="Calibri" pitchFamily="34" charset="-120"/>
              </a:rPr>
              <a:t>Hindi and English; every number checked before sending.</a:t>
            </a:r>
            <a:endParaRPr lang="en-US" sz="1050" dirty="0"/>
          </a:p>
        </p:txBody>
      </p:sp>
      <p:sp>
        <p:nvSpPr>
          <p:cNvPr id="36" name="Shape 30"/>
          <p:cNvSpPr/>
          <p:nvPr/>
        </p:nvSpPr>
        <p:spPr>
          <a:xfrm>
            <a:off x="11064240" y="1188720"/>
            <a:ext cx="713232" cy="3017520"/>
          </a:xfrm>
          <a:prstGeom prst="rect">
            <a:avLst/>
          </a:prstGeom>
          <a:solidFill>
            <a:srgbClr val="1F4A82"/>
          </a:solidFill>
          <a:ln/>
        </p:spPr>
      </p:sp>
      <p:sp>
        <p:nvSpPr>
          <p:cNvPr id="37" name="Text 31"/>
          <p:cNvSpPr txBox="1"/>
          <p:nvPr/>
        </p:nvSpPr>
        <p:spPr>
          <a:xfrm>
            <a:off x="11064240" y="1325880"/>
            <a:ext cx="713232"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80 %</a:t>
            </a:r>
            <a:endParaRPr lang="en-US" sz="2000" dirty="0"/>
          </a:p>
        </p:txBody>
      </p:sp>
      <p:sp>
        <p:nvSpPr>
          <p:cNvPr id="38" name="Text 32"/>
          <p:cNvSpPr txBox="1"/>
          <p:nvPr/>
        </p:nvSpPr>
        <p:spPr>
          <a:xfrm>
            <a:off x="11082528" y="1783080"/>
            <a:ext cx="676656" cy="1188720"/>
          </a:xfrm>
          <a:prstGeom prst="rect">
            <a:avLst/>
          </a:prstGeom>
          <a:noFill/>
          <a:ln/>
        </p:spPr>
        <p:txBody>
          <a:bodyPr wrap="square" lIns="0" tIns="0" rIns="0" bIns="0" rtlCol="0" anchor="t"/>
          <a:lstStyle/>
          <a:p>
            <a:pPr algn="ctr" indent="0" marL="0">
              <a:buNone/>
            </a:pPr>
            <a:r>
              <a:rPr lang="en-US" sz="900" dirty="0">
                <a:solidFill>
                  <a:srgbClr val="C9DBF0"/>
                </a:solidFill>
                <a:latin typeface="Calibri" pitchFamily="34" charset="0"/>
                <a:ea typeface="Calibri" pitchFamily="34" charset="-122"/>
                <a:cs typeface="Calibri" pitchFamily="34" charset="-120"/>
              </a:rPr>
              <a:t>of students land inside their range</a:t>
            </a:r>
            <a:endParaRPr lang="en-US" sz="900" dirty="0"/>
          </a:p>
        </p:txBody>
      </p:sp>
      <p:sp>
        <p:nvSpPr>
          <p:cNvPr id="39" name="Text 33"/>
          <p:cNvSpPr txBox="1"/>
          <p:nvPr/>
        </p:nvSpPr>
        <p:spPr>
          <a:xfrm>
            <a:off x="11082528" y="3017520"/>
            <a:ext cx="676656" cy="1097280"/>
          </a:xfrm>
          <a:prstGeom prst="rect">
            <a:avLst/>
          </a:prstGeom>
          <a:noFill/>
          <a:ln/>
        </p:spPr>
        <p:txBody>
          <a:bodyPr wrap="square" lIns="0" tIns="0" rIns="0" bIns="0" rtlCol="0" anchor="t"/>
          <a:lstStyle/>
          <a:p>
            <a:pPr algn="ctr" indent="0" marL="0">
              <a:buNone/>
            </a:pPr>
            <a:r>
              <a:rPr lang="en-US" sz="900" dirty="0">
                <a:solidFill>
                  <a:srgbClr val="C9DBF0"/>
                </a:solidFill>
                <a:latin typeface="Calibri" pitchFamily="34" charset="0"/>
                <a:ea typeface="Calibri" pitchFamily="34" charset="-122"/>
                <a:cs typeface="Calibri" pitchFamily="34" charset="-120"/>
              </a:rPr>
              <a:t>editable exam table</a:t>
            </a:r>
            <a:endParaRPr lang="en-US" sz="900" dirty="0"/>
          </a:p>
        </p:txBody>
      </p:sp>
      <p:sp>
        <p:nvSpPr>
          <p:cNvPr id="40" name="Shape 34"/>
          <p:cNvSpPr/>
          <p:nvPr/>
        </p:nvSpPr>
        <p:spPr>
          <a:xfrm>
            <a:off x="411480" y="4572000"/>
            <a:ext cx="256032" cy="256032"/>
          </a:xfrm>
          <a:prstGeom prst="rect">
            <a:avLst/>
          </a:prstGeom>
          <a:solidFill>
            <a:srgbClr val="1F4A82"/>
          </a:solidFill>
          <a:ln/>
        </p:spPr>
      </p:sp>
      <p:sp>
        <p:nvSpPr>
          <p:cNvPr id="41" name="Text 35"/>
          <p:cNvSpPr txBox="1"/>
          <p:nvPr/>
        </p:nvSpPr>
        <p:spPr>
          <a:xfrm>
            <a:off x="411480" y="4572000"/>
            <a:ext cx="256032" cy="256032"/>
          </a:xfrm>
          <a:prstGeom prst="rect">
            <a:avLst/>
          </a:prstGeom>
          <a:noFill/>
          <a:ln/>
        </p:spPr>
        <p:txBody>
          <a:bodyPr wrap="square" lIns="0" tIns="0" rIns="0" bIns="0" rtlCol="0" anchor="ctr"/>
          <a:lstStyle/>
          <a:p>
            <a:pPr algn="ctr" indent="0" marL="0">
              <a:buNone/>
            </a:pPr>
            <a:endParaRPr lang="en-US" sz="1150" dirty="0"/>
          </a:p>
        </p:txBody>
      </p:sp>
      <p:sp>
        <p:nvSpPr>
          <p:cNvPr id="42" name="Text 36"/>
          <p:cNvSpPr txBox="1"/>
          <p:nvPr/>
        </p:nvSpPr>
        <p:spPr>
          <a:xfrm>
            <a:off x="740664" y="4572000"/>
            <a:ext cx="69860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EIGHT AUTOMATIC SAFETY CHECKS BEFORE ANY MESSAGE</a:t>
            </a:r>
            <a:endParaRPr lang="en-US" sz="1200" dirty="0"/>
          </a:p>
        </p:txBody>
      </p:sp>
      <p:sp>
        <p:nvSpPr>
          <p:cNvPr id="43" name="Shape 37"/>
          <p:cNvSpPr/>
          <p:nvPr/>
        </p:nvSpPr>
        <p:spPr>
          <a:xfrm>
            <a:off x="411480" y="4919472"/>
            <a:ext cx="329184" cy="384048"/>
          </a:xfrm>
          <a:prstGeom prst="rect">
            <a:avLst/>
          </a:prstGeom>
          <a:solidFill>
            <a:srgbClr val="1F4A82"/>
          </a:solidFill>
          <a:ln/>
        </p:spPr>
      </p:sp>
      <p:sp>
        <p:nvSpPr>
          <p:cNvPr id="44" name="Text 38"/>
          <p:cNvSpPr txBox="1"/>
          <p:nvPr/>
        </p:nvSpPr>
        <p:spPr>
          <a:xfrm>
            <a:off x="411480" y="4919472"/>
            <a:ext cx="32918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5" name="Shape 39"/>
          <p:cNvSpPr/>
          <p:nvPr/>
        </p:nvSpPr>
        <p:spPr>
          <a:xfrm>
            <a:off x="740664" y="4919472"/>
            <a:ext cx="1389888" cy="384048"/>
          </a:xfrm>
          <a:prstGeom prst="rect">
            <a:avLst/>
          </a:prstGeom>
          <a:solidFill>
            <a:srgbClr val="E3ECF7"/>
          </a:solidFill>
          <a:ln/>
        </p:spPr>
      </p:sp>
      <p:sp>
        <p:nvSpPr>
          <p:cNvPr id="46" name="Text 40"/>
          <p:cNvSpPr txBox="1"/>
          <p:nvPr/>
        </p:nvSpPr>
        <p:spPr>
          <a:xfrm>
            <a:off x="795528" y="4919472"/>
            <a:ext cx="1316736" cy="384048"/>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Numbers match the data</a:t>
            </a:r>
            <a:endParaRPr lang="en-US" sz="900" dirty="0"/>
          </a:p>
        </p:txBody>
      </p:sp>
      <p:sp>
        <p:nvSpPr>
          <p:cNvPr id="47" name="Shape 41"/>
          <p:cNvSpPr/>
          <p:nvPr/>
        </p:nvSpPr>
        <p:spPr>
          <a:xfrm>
            <a:off x="2194560" y="4919472"/>
            <a:ext cx="329184" cy="384048"/>
          </a:xfrm>
          <a:prstGeom prst="rect">
            <a:avLst/>
          </a:prstGeom>
          <a:solidFill>
            <a:srgbClr val="1F4A82"/>
          </a:solidFill>
          <a:ln/>
        </p:spPr>
      </p:sp>
      <p:sp>
        <p:nvSpPr>
          <p:cNvPr id="48" name="Text 42"/>
          <p:cNvSpPr txBox="1"/>
          <p:nvPr/>
        </p:nvSpPr>
        <p:spPr>
          <a:xfrm>
            <a:off x="2194560" y="4919472"/>
            <a:ext cx="32918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9" name="Shape 43"/>
          <p:cNvSpPr/>
          <p:nvPr/>
        </p:nvSpPr>
        <p:spPr>
          <a:xfrm>
            <a:off x="2523744" y="4919472"/>
            <a:ext cx="1389888" cy="384048"/>
          </a:xfrm>
          <a:prstGeom prst="rect">
            <a:avLst/>
          </a:prstGeom>
          <a:solidFill>
            <a:srgbClr val="E3ECF7"/>
          </a:solidFill>
          <a:ln/>
        </p:spPr>
      </p:sp>
      <p:sp>
        <p:nvSpPr>
          <p:cNvPr id="50" name="Text 44"/>
          <p:cNvSpPr txBox="1"/>
          <p:nvPr/>
        </p:nvSpPr>
        <p:spPr>
          <a:xfrm>
            <a:off x="2578608" y="4919472"/>
            <a:ext cx="1316736" cy="384048"/>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Topics are real</a:t>
            </a:r>
            <a:endParaRPr lang="en-US" sz="900" dirty="0"/>
          </a:p>
        </p:txBody>
      </p:sp>
      <p:sp>
        <p:nvSpPr>
          <p:cNvPr id="51" name="Shape 45"/>
          <p:cNvSpPr/>
          <p:nvPr/>
        </p:nvSpPr>
        <p:spPr>
          <a:xfrm>
            <a:off x="3977640" y="4919472"/>
            <a:ext cx="329184" cy="384048"/>
          </a:xfrm>
          <a:prstGeom prst="rect">
            <a:avLst/>
          </a:prstGeom>
          <a:solidFill>
            <a:srgbClr val="1F4A82"/>
          </a:solidFill>
          <a:ln/>
        </p:spPr>
      </p:sp>
      <p:sp>
        <p:nvSpPr>
          <p:cNvPr id="52" name="Text 46"/>
          <p:cNvSpPr txBox="1"/>
          <p:nvPr/>
        </p:nvSpPr>
        <p:spPr>
          <a:xfrm>
            <a:off x="3977640" y="4919472"/>
            <a:ext cx="32918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3" name="Shape 47"/>
          <p:cNvSpPr/>
          <p:nvPr/>
        </p:nvSpPr>
        <p:spPr>
          <a:xfrm>
            <a:off x="4306824" y="4919472"/>
            <a:ext cx="1389888" cy="384048"/>
          </a:xfrm>
          <a:prstGeom prst="rect">
            <a:avLst/>
          </a:prstGeom>
          <a:solidFill>
            <a:srgbClr val="E3ECF7"/>
          </a:solidFill>
          <a:ln/>
        </p:spPr>
      </p:sp>
      <p:sp>
        <p:nvSpPr>
          <p:cNvPr id="54" name="Text 48"/>
          <p:cNvSpPr txBox="1"/>
          <p:nvPr/>
        </p:nvSpPr>
        <p:spPr>
          <a:xfrm>
            <a:off x="4361688" y="4919472"/>
            <a:ext cx="1316736" cy="384048"/>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Names added last</a:t>
            </a:r>
            <a:endParaRPr lang="en-US" sz="900" dirty="0"/>
          </a:p>
        </p:txBody>
      </p:sp>
      <p:sp>
        <p:nvSpPr>
          <p:cNvPr id="55" name="Shape 49"/>
          <p:cNvSpPr/>
          <p:nvPr/>
        </p:nvSpPr>
        <p:spPr>
          <a:xfrm>
            <a:off x="5760720" y="4919472"/>
            <a:ext cx="329184" cy="384048"/>
          </a:xfrm>
          <a:prstGeom prst="rect">
            <a:avLst/>
          </a:prstGeom>
          <a:solidFill>
            <a:srgbClr val="1F4A82"/>
          </a:solidFill>
          <a:ln/>
        </p:spPr>
      </p:sp>
      <p:sp>
        <p:nvSpPr>
          <p:cNvPr id="56" name="Text 50"/>
          <p:cNvSpPr txBox="1"/>
          <p:nvPr/>
        </p:nvSpPr>
        <p:spPr>
          <a:xfrm>
            <a:off x="5760720" y="4919472"/>
            <a:ext cx="32918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Shape 51"/>
          <p:cNvSpPr/>
          <p:nvPr/>
        </p:nvSpPr>
        <p:spPr>
          <a:xfrm>
            <a:off x="6089904" y="4919472"/>
            <a:ext cx="1389888" cy="384048"/>
          </a:xfrm>
          <a:prstGeom prst="rect">
            <a:avLst/>
          </a:prstGeom>
          <a:solidFill>
            <a:srgbClr val="E3ECF7"/>
          </a:solidFill>
          <a:ln/>
        </p:spPr>
      </p:sp>
      <p:sp>
        <p:nvSpPr>
          <p:cNvPr id="58" name="Text 52"/>
          <p:cNvSpPr txBox="1"/>
          <p:nvPr/>
        </p:nvSpPr>
        <p:spPr>
          <a:xfrm>
            <a:off x="6144768" y="4919472"/>
            <a:ext cx="1316736" cy="384048"/>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No banned words</a:t>
            </a:r>
            <a:endParaRPr lang="en-US" sz="900" dirty="0"/>
          </a:p>
        </p:txBody>
      </p:sp>
      <p:sp>
        <p:nvSpPr>
          <p:cNvPr id="59" name="Shape 53"/>
          <p:cNvSpPr/>
          <p:nvPr/>
        </p:nvSpPr>
        <p:spPr>
          <a:xfrm>
            <a:off x="411480" y="5376672"/>
            <a:ext cx="329184" cy="384048"/>
          </a:xfrm>
          <a:prstGeom prst="rect">
            <a:avLst/>
          </a:prstGeom>
          <a:solidFill>
            <a:srgbClr val="1F4A82"/>
          </a:solidFill>
          <a:ln/>
        </p:spPr>
      </p:sp>
      <p:sp>
        <p:nvSpPr>
          <p:cNvPr id="60" name="Text 54"/>
          <p:cNvSpPr txBox="1"/>
          <p:nvPr/>
        </p:nvSpPr>
        <p:spPr>
          <a:xfrm>
            <a:off x="411480" y="5376672"/>
            <a:ext cx="32918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1" name="Shape 55"/>
          <p:cNvSpPr/>
          <p:nvPr/>
        </p:nvSpPr>
        <p:spPr>
          <a:xfrm>
            <a:off x="740664" y="5376672"/>
            <a:ext cx="1389888" cy="384048"/>
          </a:xfrm>
          <a:prstGeom prst="rect">
            <a:avLst/>
          </a:prstGeom>
          <a:solidFill>
            <a:srgbClr val="E3ECF7"/>
          </a:solidFill>
          <a:ln/>
        </p:spPr>
      </p:sp>
      <p:sp>
        <p:nvSpPr>
          <p:cNvPr id="62" name="Text 56"/>
          <p:cNvSpPr txBox="1"/>
          <p:nvPr/>
        </p:nvSpPr>
        <p:spPr>
          <a:xfrm>
            <a:off x="795528" y="5376672"/>
            <a:ext cx="1316736" cy="384048"/>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Right length</a:t>
            </a:r>
            <a:endParaRPr lang="en-US" sz="900" dirty="0"/>
          </a:p>
        </p:txBody>
      </p:sp>
      <p:sp>
        <p:nvSpPr>
          <p:cNvPr id="63" name="Shape 57"/>
          <p:cNvSpPr/>
          <p:nvPr/>
        </p:nvSpPr>
        <p:spPr>
          <a:xfrm>
            <a:off x="2194560" y="5376672"/>
            <a:ext cx="329184" cy="384048"/>
          </a:xfrm>
          <a:prstGeom prst="rect">
            <a:avLst/>
          </a:prstGeom>
          <a:solidFill>
            <a:srgbClr val="1F4A82"/>
          </a:solidFill>
          <a:ln/>
        </p:spPr>
      </p:sp>
      <p:sp>
        <p:nvSpPr>
          <p:cNvPr id="64" name="Text 58"/>
          <p:cNvSpPr txBox="1"/>
          <p:nvPr/>
        </p:nvSpPr>
        <p:spPr>
          <a:xfrm>
            <a:off x="2194560" y="5376672"/>
            <a:ext cx="32918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65" name="Shape 59"/>
          <p:cNvSpPr/>
          <p:nvPr/>
        </p:nvSpPr>
        <p:spPr>
          <a:xfrm>
            <a:off x="2523744" y="5376672"/>
            <a:ext cx="1389888" cy="384048"/>
          </a:xfrm>
          <a:prstGeom prst="rect">
            <a:avLst/>
          </a:prstGeom>
          <a:solidFill>
            <a:srgbClr val="E3ECF7"/>
          </a:solidFill>
          <a:ln/>
        </p:spPr>
      </p:sp>
      <p:sp>
        <p:nvSpPr>
          <p:cNvPr id="66" name="Text 60"/>
          <p:cNvSpPr txBox="1"/>
          <p:nvPr/>
        </p:nvSpPr>
        <p:spPr>
          <a:xfrm>
            <a:off x="2578608" y="5376672"/>
            <a:ext cx="1316736" cy="384048"/>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Trend is correct</a:t>
            </a:r>
            <a:endParaRPr lang="en-US" sz="900" dirty="0"/>
          </a:p>
        </p:txBody>
      </p:sp>
      <p:sp>
        <p:nvSpPr>
          <p:cNvPr id="67" name="Shape 61"/>
          <p:cNvSpPr/>
          <p:nvPr/>
        </p:nvSpPr>
        <p:spPr>
          <a:xfrm>
            <a:off x="3977640" y="5376672"/>
            <a:ext cx="329184" cy="384048"/>
          </a:xfrm>
          <a:prstGeom prst="rect">
            <a:avLst/>
          </a:prstGeom>
          <a:solidFill>
            <a:srgbClr val="1F4A82"/>
          </a:solidFill>
          <a:ln/>
        </p:spPr>
      </p:sp>
      <p:sp>
        <p:nvSpPr>
          <p:cNvPr id="68" name="Text 62"/>
          <p:cNvSpPr txBox="1"/>
          <p:nvPr/>
        </p:nvSpPr>
        <p:spPr>
          <a:xfrm>
            <a:off x="3977640" y="5376672"/>
            <a:ext cx="32918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69" name="Shape 63"/>
          <p:cNvSpPr/>
          <p:nvPr/>
        </p:nvSpPr>
        <p:spPr>
          <a:xfrm>
            <a:off x="4306824" y="5376672"/>
            <a:ext cx="1389888" cy="384048"/>
          </a:xfrm>
          <a:prstGeom prst="rect">
            <a:avLst/>
          </a:prstGeom>
          <a:solidFill>
            <a:srgbClr val="E3ECF7"/>
          </a:solidFill>
          <a:ln/>
        </p:spPr>
      </p:sp>
      <p:sp>
        <p:nvSpPr>
          <p:cNvPr id="70" name="Text 64"/>
          <p:cNvSpPr txBox="1"/>
          <p:nvPr/>
        </p:nvSpPr>
        <p:spPr>
          <a:xfrm>
            <a:off x="4361688" y="5376672"/>
            <a:ext cx="1316736" cy="384048"/>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Tips are approved</a:t>
            </a:r>
            <a:endParaRPr lang="en-US" sz="900" dirty="0"/>
          </a:p>
        </p:txBody>
      </p:sp>
      <p:sp>
        <p:nvSpPr>
          <p:cNvPr id="71" name="Shape 65"/>
          <p:cNvSpPr/>
          <p:nvPr/>
        </p:nvSpPr>
        <p:spPr>
          <a:xfrm>
            <a:off x="5760720" y="5376672"/>
            <a:ext cx="329184" cy="384048"/>
          </a:xfrm>
          <a:prstGeom prst="rect">
            <a:avLst/>
          </a:prstGeom>
          <a:solidFill>
            <a:srgbClr val="1F4A82"/>
          </a:solidFill>
          <a:ln/>
        </p:spPr>
      </p:sp>
      <p:sp>
        <p:nvSpPr>
          <p:cNvPr id="72" name="Text 66"/>
          <p:cNvSpPr txBox="1"/>
          <p:nvPr/>
        </p:nvSpPr>
        <p:spPr>
          <a:xfrm>
            <a:off x="5760720" y="5376672"/>
            <a:ext cx="329184"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73" name="Shape 67"/>
          <p:cNvSpPr/>
          <p:nvPr/>
        </p:nvSpPr>
        <p:spPr>
          <a:xfrm>
            <a:off x="6089904" y="5376672"/>
            <a:ext cx="1389888" cy="384048"/>
          </a:xfrm>
          <a:prstGeom prst="rect">
            <a:avLst/>
          </a:prstGeom>
          <a:solidFill>
            <a:srgbClr val="E3ECF7"/>
          </a:solidFill>
          <a:ln/>
        </p:spPr>
      </p:sp>
      <p:sp>
        <p:nvSpPr>
          <p:cNvPr id="74" name="Text 68"/>
          <p:cNvSpPr txBox="1"/>
          <p:nvPr/>
        </p:nvSpPr>
        <p:spPr>
          <a:xfrm>
            <a:off x="6144768" y="5376672"/>
            <a:ext cx="1316736" cy="384048"/>
          </a:xfrm>
          <a:prstGeom prst="rect">
            <a:avLst/>
          </a:prstGeom>
          <a:noFill/>
          <a:ln/>
        </p:spPr>
        <p:txBody>
          <a:bodyPr wrap="square" lIns="0" tIns="0" rIns="0" bIns="0" rtlCol="0" anchor="ctr"/>
          <a:lstStyle/>
          <a:p>
            <a:pPr algn="l" indent="0" marL="0">
              <a:buNone/>
            </a:pPr>
            <a:r>
              <a:rPr lang="en-US" sz="900" dirty="0">
                <a:solidFill>
                  <a:srgbClr val="17325C"/>
                </a:solidFill>
                <a:latin typeface="Calibri" pitchFamily="34" charset="0"/>
                <a:ea typeface="Calibri" pitchFamily="34" charset="-122"/>
                <a:cs typeface="Calibri" pitchFamily="34" charset="-120"/>
              </a:rPr>
              <a:t>Format is valid</a:t>
            </a:r>
            <a:endParaRPr lang="en-US" sz="900" dirty="0"/>
          </a:p>
        </p:txBody>
      </p:sp>
      <p:sp>
        <p:nvSpPr>
          <p:cNvPr id="75" name="Shape 69"/>
          <p:cNvSpPr/>
          <p:nvPr/>
        </p:nvSpPr>
        <p:spPr>
          <a:xfrm>
            <a:off x="7772400" y="4919472"/>
            <a:ext cx="1415004" cy="384048"/>
          </a:xfrm>
          <a:prstGeom prst="homePlate">
            <a:avLst/>
          </a:prstGeom>
          <a:solidFill>
            <a:srgbClr val="1F4A82"/>
          </a:solidFill>
          <a:ln w="25400">
            <a:solidFill>
              <a:srgbClr val="FFFFFF"/>
            </a:solidFill>
            <a:prstDash val="solid"/>
          </a:ln>
        </p:spPr>
      </p:sp>
      <p:sp>
        <p:nvSpPr>
          <p:cNvPr id="76" name="Text 70"/>
          <p:cNvSpPr txBox="1"/>
          <p:nvPr/>
        </p:nvSpPr>
        <p:spPr>
          <a:xfrm>
            <a:off x="7900416" y="4919472"/>
            <a:ext cx="1122396"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AI drafts</a:t>
            </a:r>
            <a:endParaRPr lang="en-US" sz="1050" dirty="0"/>
          </a:p>
        </p:txBody>
      </p:sp>
      <p:sp>
        <p:nvSpPr>
          <p:cNvPr id="77" name="Shape 71"/>
          <p:cNvSpPr/>
          <p:nvPr/>
        </p:nvSpPr>
        <p:spPr>
          <a:xfrm>
            <a:off x="9067434" y="4919472"/>
            <a:ext cx="1415004" cy="384048"/>
          </a:xfrm>
          <a:prstGeom prst="chevron">
            <a:avLst/>
          </a:prstGeom>
          <a:solidFill>
            <a:srgbClr val="2E6DB4"/>
          </a:solidFill>
          <a:ln w="25400">
            <a:solidFill>
              <a:srgbClr val="FFFFFF"/>
            </a:solidFill>
            <a:prstDash val="solid"/>
          </a:ln>
        </p:spPr>
      </p:sp>
      <p:sp>
        <p:nvSpPr>
          <p:cNvPr id="78" name="Text 72"/>
          <p:cNvSpPr txBox="1"/>
          <p:nvPr/>
        </p:nvSpPr>
        <p:spPr>
          <a:xfrm>
            <a:off x="9250314" y="4919472"/>
            <a:ext cx="1067532"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8 checks</a:t>
            </a:r>
            <a:endParaRPr lang="en-US" sz="1050" dirty="0"/>
          </a:p>
        </p:txBody>
      </p:sp>
      <p:sp>
        <p:nvSpPr>
          <p:cNvPr id="79" name="Shape 73"/>
          <p:cNvSpPr/>
          <p:nvPr/>
        </p:nvSpPr>
        <p:spPr>
          <a:xfrm>
            <a:off x="10362468" y="4919472"/>
            <a:ext cx="1415004" cy="384048"/>
          </a:xfrm>
          <a:prstGeom prst="chevron">
            <a:avLst/>
          </a:prstGeom>
          <a:solidFill>
            <a:srgbClr val="1F4A82"/>
          </a:solidFill>
          <a:ln w="25400">
            <a:solidFill>
              <a:srgbClr val="FFFFFF"/>
            </a:solidFill>
            <a:prstDash val="solid"/>
          </a:ln>
        </p:spPr>
      </p:sp>
      <p:sp>
        <p:nvSpPr>
          <p:cNvPr id="80" name="Text 74"/>
          <p:cNvSpPr txBox="1"/>
          <p:nvPr/>
        </p:nvSpPr>
        <p:spPr>
          <a:xfrm>
            <a:off x="10545348" y="4919472"/>
            <a:ext cx="1067532"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Send</a:t>
            </a:r>
            <a:endParaRPr lang="en-US" sz="1050" dirty="0"/>
          </a:p>
        </p:txBody>
      </p:sp>
      <p:sp>
        <p:nvSpPr>
          <p:cNvPr id="81" name="Shape 75"/>
          <p:cNvSpPr/>
          <p:nvPr/>
        </p:nvSpPr>
        <p:spPr>
          <a:xfrm>
            <a:off x="7772400" y="5394960"/>
            <a:ext cx="4005072" cy="457200"/>
          </a:xfrm>
          <a:prstGeom prst="rect">
            <a:avLst/>
          </a:prstGeom>
          <a:solidFill>
            <a:srgbClr val="F1E8D3"/>
          </a:solidFill>
          <a:ln w="15875">
            <a:solidFill>
              <a:srgbClr val="D4A24C"/>
            </a:solidFill>
            <a:prstDash val="dash"/>
          </a:ln>
        </p:spPr>
      </p:sp>
      <p:pic>
        <p:nvPicPr>
          <p:cNvPr id="82" name="Image 3" descr="FaClipboardList icon">    </p:cNvPr>
          <p:cNvPicPr>
            <a:picLocks noChangeAspect="1"/>
          </p:cNvPicPr>
          <p:nvPr/>
        </p:nvPicPr>
        <p:blipFill>
          <a:blip r:embed="rId5"/>
          <a:stretch>
            <a:fillRect/>
          </a:stretch>
        </p:blipFill>
        <p:spPr>
          <a:xfrm>
            <a:off x="521208" y="100584"/>
            <a:ext cx="182880" cy="182880"/>
          </a:xfrm>
          <a:prstGeom prst="rect">
            <a:avLst/>
          </a:prstGeom>
        </p:spPr>
      </p:pic>
      <p:pic>
        <p:nvPicPr>
          <p:cNvPr id="83" name="Image 4" descr="FaTriangleExclamation icon">    </p:cNvPr>
          <p:cNvPicPr>
            <a:picLocks noChangeAspect="1"/>
          </p:cNvPicPr>
          <p:nvPr/>
        </p:nvPicPr>
        <p:blipFill>
          <a:blip r:embed="rId6"/>
          <a:stretch>
            <a:fillRect/>
          </a:stretch>
        </p:blipFill>
        <p:spPr>
          <a:xfrm>
            <a:off x="2084032" y="100584"/>
            <a:ext cx="182880" cy="182880"/>
          </a:xfrm>
          <a:prstGeom prst="rect">
            <a:avLst/>
          </a:prstGeom>
        </p:spPr>
      </p:pic>
      <p:pic>
        <p:nvPicPr>
          <p:cNvPr id="84" name="Image 5" descr="FaMobileScreen icon">    </p:cNvPr>
          <p:cNvPicPr>
            <a:picLocks noChangeAspect="1"/>
          </p:cNvPicPr>
          <p:nvPr/>
        </p:nvPicPr>
        <p:blipFill>
          <a:blip r:embed="rId7"/>
          <a:stretch>
            <a:fillRect/>
          </a:stretch>
        </p:blipFill>
        <p:spPr>
          <a:xfrm>
            <a:off x="3482264" y="100584"/>
            <a:ext cx="182880" cy="182880"/>
          </a:xfrm>
          <a:prstGeom prst="rect">
            <a:avLst/>
          </a:prstGeom>
        </p:spPr>
      </p:pic>
      <p:pic>
        <p:nvPicPr>
          <p:cNvPr id="85" name="Image 6" descr="FaGears icon">    </p:cNvPr>
          <p:cNvPicPr>
            <a:picLocks noChangeAspect="1"/>
          </p:cNvPicPr>
          <p:nvPr/>
        </p:nvPicPr>
        <p:blipFill>
          <a:blip r:embed="rId8"/>
          <a:stretch>
            <a:fillRect/>
          </a:stretch>
        </p:blipFill>
        <p:spPr>
          <a:xfrm>
            <a:off x="4880496" y="100584"/>
            <a:ext cx="182880" cy="182880"/>
          </a:xfrm>
          <a:prstGeom prst="rect">
            <a:avLst/>
          </a:prstGeom>
        </p:spPr>
      </p:pic>
      <p:pic>
        <p:nvPicPr>
          <p:cNvPr id="86" name="Image 7" descr="FaShieldHalved icon">    </p:cNvPr>
          <p:cNvPicPr>
            <a:picLocks noChangeAspect="1"/>
          </p:cNvPicPr>
          <p:nvPr/>
        </p:nvPicPr>
        <p:blipFill>
          <a:blip r:embed="rId9"/>
          <a:stretch>
            <a:fillRect/>
          </a:stretch>
        </p:blipFill>
        <p:spPr>
          <a:xfrm>
            <a:off x="6278728" y="100584"/>
            <a:ext cx="182880" cy="182880"/>
          </a:xfrm>
          <a:prstGeom prst="rect">
            <a:avLst/>
          </a:prstGeom>
        </p:spPr>
      </p:pic>
      <p:pic>
        <p:nvPicPr>
          <p:cNvPr id="87" name="Image 8" descr="FaIndianRupeeSign icon">    </p:cNvPr>
          <p:cNvPicPr>
            <a:picLocks noChangeAspect="1"/>
          </p:cNvPicPr>
          <p:nvPr/>
        </p:nvPicPr>
        <p:blipFill>
          <a:blip r:embed="rId10"/>
          <a:stretch>
            <a:fillRect/>
          </a:stretch>
        </p:blipFill>
        <p:spPr>
          <a:xfrm>
            <a:off x="7676960" y="100584"/>
            <a:ext cx="182880" cy="182880"/>
          </a:xfrm>
          <a:prstGeom prst="rect">
            <a:avLst/>
          </a:prstGeom>
        </p:spPr>
      </p:pic>
      <p:pic>
        <p:nvPicPr>
          <p:cNvPr id="88" name="Image 9" descr="FaBullseye icon">    </p:cNvPr>
          <p:cNvPicPr>
            <a:picLocks noChangeAspect="1"/>
          </p:cNvPicPr>
          <p:nvPr/>
        </p:nvPicPr>
        <p:blipFill>
          <a:blip r:embed="rId11"/>
          <a:stretch>
            <a:fillRect/>
          </a:stretch>
        </p:blipFill>
        <p:spPr>
          <a:xfrm>
            <a:off x="9075191" y="100584"/>
            <a:ext cx="182880" cy="182880"/>
          </a:xfrm>
          <a:prstGeom prst="rect">
            <a:avLst/>
          </a:prstGeom>
        </p:spPr>
      </p:pic>
      <p:pic>
        <p:nvPicPr>
          <p:cNvPr id="89" name="Image 10" descr="FaBookOpen icon">    </p:cNvPr>
          <p:cNvPicPr>
            <a:picLocks noChangeAspect="1"/>
          </p:cNvPicPr>
          <p:nvPr/>
        </p:nvPicPr>
        <p:blipFill>
          <a:blip r:embed="rId12"/>
          <a:stretch>
            <a:fillRect/>
          </a:stretch>
        </p:blipFill>
        <p:spPr>
          <a:xfrm>
            <a:off x="10473423" y="100584"/>
            <a:ext cx="182880" cy="182880"/>
          </a:xfrm>
          <a:prstGeom prst="rect">
            <a:avLst/>
          </a:prstGeom>
        </p:spPr>
      </p:pic>
      <p:pic>
        <p:nvPicPr>
          <p:cNvPr id="90" name="Image 11" descr="FaShieldHalved icon">    </p:cNvPr>
          <p:cNvPicPr>
            <a:picLocks noChangeAspect="1"/>
          </p:cNvPicPr>
          <p:nvPr/>
        </p:nvPicPr>
        <p:blipFill>
          <a:blip r:embed="rId13"/>
          <a:stretch>
            <a:fillRect/>
          </a:stretch>
        </p:blipFill>
        <p:spPr>
          <a:xfrm>
            <a:off x="7863840" y="5486400"/>
            <a:ext cx="274320" cy="274320"/>
          </a:xfrm>
          <a:prstGeom prst="rect">
            <a:avLst/>
          </a:prstGeom>
        </p:spPr>
      </p:pic>
      <p:sp>
        <p:nvSpPr>
          <p:cNvPr id="91" name="Text 76"/>
          <p:cNvSpPr txBox="1"/>
          <p:nvPr/>
        </p:nvSpPr>
        <p:spPr>
          <a:xfrm>
            <a:off x="8229600" y="5394960"/>
            <a:ext cx="3520440" cy="457200"/>
          </a:xfrm>
          <a:prstGeom prst="rect">
            <a:avLst/>
          </a:prstGeom>
          <a:noFill/>
          <a:ln/>
        </p:spPr>
        <p:txBody>
          <a:bodyPr wrap="square" lIns="0" tIns="0" rIns="0" bIns="0" rtlCol="0" anchor="ctr"/>
          <a:lstStyle/>
          <a:p>
            <a:pPr algn="l" indent="0" marL="0">
              <a:buNone/>
            </a:pPr>
            <a:r>
              <a:rPr lang="en-US" sz="1000" b="1" dirty="0">
                <a:solidFill>
                  <a:srgbClr val="6B4E00"/>
                </a:solidFill>
                <a:latin typeface="Calibri" pitchFamily="34" charset="0"/>
                <a:ea typeface="Calibri" pitchFamily="34" charset="-122"/>
                <a:cs typeface="Calibri" pitchFamily="34" charset="-120"/>
              </a:rPr>
              <a:t>Any check fails: a safe human-written template goes out instead</a:t>
            </a:r>
            <a:endParaRPr lang="en-US" sz="1000" dirty="0"/>
          </a:p>
        </p:txBody>
      </p:sp>
      <p:sp>
        <p:nvSpPr>
          <p:cNvPr id="92" name="Shape 77"/>
          <p:cNvSpPr/>
          <p:nvPr/>
        </p:nvSpPr>
        <p:spPr>
          <a:xfrm>
            <a:off x="411480" y="5943600"/>
            <a:ext cx="11368735" cy="402336"/>
          </a:xfrm>
          <a:prstGeom prst="rect">
            <a:avLst/>
          </a:prstGeom>
          <a:solidFill>
            <a:srgbClr val="F4F7FB"/>
          </a:solidFill>
          <a:ln/>
        </p:spPr>
      </p:sp>
      <p:sp>
        <p:nvSpPr>
          <p:cNvPr id="93" name="Text 78"/>
          <p:cNvSpPr txBox="1"/>
          <p:nvPr/>
        </p:nvSpPr>
        <p:spPr>
          <a:xfrm>
            <a:off x="548640" y="5943600"/>
            <a:ext cx="11094415" cy="40233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Next on the same rails (designed): </a:t>
            </a:r>
            <a:pPr algn="l" indent="0" marL="0">
              <a:buNone/>
            </a:pPr>
            <a:r>
              <a:rPr lang="en-US" sz="1050" dirty="0">
                <a:solidFill>
                  <a:srgbClr val="1F2937"/>
                </a:solidFill>
                <a:latin typeface="Calibri" pitchFamily="34" charset="0"/>
                <a:ea typeface="Calibri" pitchFamily="34" charset="-122"/>
                <a:cs typeface="Calibri" pitchFamily="34" charset="-120"/>
              </a:rPr>
              <a:t>7-day study plans and doubt answers from retrieved notes. Works with no AI model at all.</a:t>
            </a:r>
            <a:endParaRPr lang="en-US" sz="1050" dirty="0"/>
          </a:p>
        </p:txBody>
      </p:sp>
      <p:sp>
        <p:nvSpPr>
          <p:cNvPr id="94" name="Text 79"/>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backend/app/genai (20 templates, 16 tests); contracts/report_numbers.schema.json. Band = quantile model, conformal 80 % target; coverage pending. Mock-ups illustrative.</a:t>
            </a:r>
            <a:endParaRPr lang="en-US" sz="85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54864"/>
          </a:xfrm>
          <a:prstGeom prst="rect">
            <a:avLst/>
          </a:prstGeom>
          <a:solidFill>
            <a:srgbClr val="1F4A82"/>
          </a:solidFill>
          <a:ln/>
        </p:spPr>
      </p:sp>
      <p:sp>
        <p:nvSpPr>
          <p:cNvPr id="3" name="Shape 1"/>
          <p:cNvSpPr/>
          <p:nvPr/>
        </p:nvSpPr>
        <p:spPr>
          <a:xfrm>
            <a:off x="411480" y="64008"/>
            <a:ext cx="1581112" cy="274320"/>
          </a:xfrm>
          <a:prstGeom prst="homePlate">
            <a:avLst/>
          </a:prstGeom>
          <a:solidFill>
            <a:srgbClr val="2E6DB4"/>
          </a:solidFill>
          <a:ln w="19050">
            <a:solidFill>
              <a:srgbClr val="FFFFFF"/>
            </a:solidFill>
            <a:prstDash val="solid"/>
          </a:ln>
        </p:spPr>
      </p:sp>
      <p:sp>
        <p:nvSpPr>
          <p:cNvPr id="4" name="Text 2"/>
          <p:cNvSpPr txBox="1"/>
          <p:nvPr/>
        </p:nvSpPr>
        <p:spPr>
          <a:xfrm>
            <a:off x="74066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5" name="Shape 3"/>
          <p:cNvSpPr/>
          <p:nvPr/>
        </p:nvSpPr>
        <p:spPr>
          <a:xfrm>
            <a:off x="1809712" y="64008"/>
            <a:ext cx="1581112" cy="274320"/>
          </a:xfrm>
          <a:prstGeom prst="chevron">
            <a:avLst/>
          </a:prstGeom>
          <a:solidFill>
            <a:srgbClr val="5B8DC9"/>
          </a:solidFill>
          <a:ln w="19050">
            <a:solidFill>
              <a:srgbClr val="FFFFFF"/>
            </a:solidFill>
            <a:prstDash val="solid"/>
          </a:ln>
        </p:spPr>
      </p:sp>
      <p:sp>
        <p:nvSpPr>
          <p:cNvPr id="6" name="Text 4"/>
          <p:cNvSpPr txBox="1"/>
          <p:nvPr/>
        </p:nvSpPr>
        <p:spPr>
          <a:xfrm>
            <a:off x="2303488"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PROBLEM</a:t>
            </a:r>
            <a:endParaRPr lang="en-US" sz="900" dirty="0"/>
          </a:p>
        </p:txBody>
      </p:sp>
      <p:sp>
        <p:nvSpPr>
          <p:cNvPr id="7" name="Shape 5"/>
          <p:cNvSpPr/>
          <p:nvPr/>
        </p:nvSpPr>
        <p:spPr>
          <a:xfrm>
            <a:off x="3207944" y="64008"/>
            <a:ext cx="1581112" cy="274320"/>
          </a:xfrm>
          <a:prstGeom prst="chevron">
            <a:avLst/>
          </a:prstGeom>
          <a:solidFill>
            <a:srgbClr val="2E6DB4"/>
          </a:solidFill>
          <a:ln w="19050">
            <a:solidFill>
              <a:srgbClr val="FFFFFF"/>
            </a:solidFill>
            <a:prstDash val="solid"/>
          </a:ln>
        </p:spPr>
      </p:sp>
      <p:sp>
        <p:nvSpPr>
          <p:cNvPr id="8" name="Text 6"/>
          <p:cNvSpPr txBox="1"/>
          <p:nvPr/>
        </p:nvSpPr>
        <p:spPr>
          <a:xfrm>
            <a:off x="3701720"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PRODUCT</a:t>
            </a:r>
            <a:endParaRPr lang="en-US" sz="900" dirty="0"/>
          </a:p>
        </p:txBody>
      </p:sp>
      <p:sp>
        <p:nvSpPr>
          <p:cNvPr id="9" name="Shape 7"/>
          <p:cNvSpPr/>
          <p:nvPr/>
        </p:nvSpPr>
        <p:spPr>
          <a:xfrm>
            <a:off x="4606176" y="64008"/>
            <a:ext cx="1581112" cy="274320"/>
          </a:xfrm>
          <a:prstGeom prst="chevron">
            <a:avLst/>
          </a:prstGeom>
          <a:solidFill>
            <a:srgbClr val="5B8DC9"/>
          </a:solidFill>
          <a:ln w="19050">
            <a:solidFill>
              <a:srgbClr val="FFFFFF"/>
            </a:solidFill>
            <a:prstDash val="solid"/>
          </a:ln>
        </p:spPr>
      </p:sp>
      <p:sp>
        <p:nvSpPr>
          <p:cNvPr id="10" name="Text 8"/>
          <p:cNvSpPr txBox="1"/>
          <p:nvPr/>
        </p:nvSpPr>
        <p:spPr>
          <a:xfrm>
            <a:off x="5099952"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TECHNOLOGY</a:t>
            </a:r>
            <a:endParaRPr lang="en-US" sz="900" dirty="0"/>
          </a:p>
        </p:txBody>
      </p:sp>
      <p:sp>
        <p:nvSpPr>
          <p:cNvPr id="11" name="Shape 9"/>
          <p:cNvSpPr/>
          <p:nvPr/>
        </p:nvSpPr>
        <p:spPr>
          <a:xfrm>
            <a:off x="6004408" y="64008"/>
            <a:ext cx="1581112" cy="274320"/>
          </a:xfrm>
          <a:prstGeom prst="chevron">
            <a:avLst/>
          </a:prstGeom>
          <a:solidFill>
            <a:srgbClr val="2E6DB4"/>
          </a:solidFill>
          <a:ln w="19050">
            <a:solidFill>
              <a:srgbClr val="FFFFFF"/>
            </a:solidFill>
            <a:prstDash val="solid"/>
          </a:ln>
        </p:spPr>
      </p:sp>
      <p:sp>
        <p:nvSpPr>
          <p:cNvPr id="12" name="Text 10"/>
          <p:cNvSpPr txBox="1"/>
          <p:nvPr/>
        </p:nvSpPr>
        <p:spPr>
          <a:xfrm>
            <a:off x="6498184"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TRUST</a:t>
            </a:r>
            <a:endParaRPr lang="en-US" sz="900" dirty="0"/>
          </a:p>
        </p:txBody>
      </p:sp>
      <p:sp>
        <p:nvSpPr>
          <p:cNvPr id="13" name="Shape 11"/>
          <p:cNvSpPr/>
          <p:nvPr/>
        </p:nvSpPr>
        <p:spPr>
          <a:xfrm>
            <a:off x="7402640" y="64008"/>
            <a:ext cx="1581112" cy="274320"/>
          </a:xfrm>
          <a:prstGeom prst="chevron">
            <a:avLst/>
          </a:prstGeom>
          <a:solidFill>
            <a:srgbClr val="5B8DC9"/>
          </a:solidFill>
          <a:ln w="19050">
            <a:solidFill>
              <a:srgbClr val="FFFFFF"/>
            </a:solidFill>
            <a:prstDash val="solid"/>
          </a:ln>
        </p:spPr>
      </p:sp>
      <p:sp>
        <p:nvSpPr>
          <p:cNvPr id="14" name="Text 12"/>
          <p:cNvSpPr txBox="1"/>
          <p:nvPr/>
        </p:nvSpPr>
        <p:spPr>
          <a:xfrm>
            <a:off x="7896416"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BUSINESS</a:t>
            </a:r>
            <a:endParaRPr lang="en-US" sz="900" dirty="0"/>
          </a:p>
        </p:txBody>
      </p:sp>
      <p:sp>
        <p:nvSpPr>
          <p:cNvPr id="15" name="Shape 13"/>
          <p:cNvSpPr/>
          <p:nvPr/>
        </p:nvSpPr>
        <p:spPr>
          <a:xfrm>
            <a:off x="8800871" y="64008"/>
            <a:ext cx="1581112" cy="274320"/>
          </a:xfrm>
          <a:prstGeom prst="chevron">
            <a:avLst/>
          </a:prstGeom>
          <a:solidFill>
            <a:srgbClr val="D4A24C"/>
          </a:solidFill>
          <a:ln w="19050">
            <a:solidFill>
              <a:srgbClr val="FFFFFF"/>
            </a:solidFill>
            <a:prstDash val="solid"/>
          </a:ln>
        </p:spPr>
      </p:sp>
      <p:sp>
        <p:nvSpPr>
          <p:cNvPr id="16" name="Text 14"/>
          <p:cNvSpPr txBox="1"/>
          <p:nvPr/>
        </p:nvSpPr>
        <p:spPr>
          <a:xfrm>
            <a:off x="9294647" y="64008"/>
            <a:ext cx="758152" cy="274320"/>
          </a:xfrm>
          <a:prstGeom prst="rect">
            <a:avLst/>
          </a:prstGeom>
          <a:noFill/>
          <a:ln/>
        </p:spPr>
        <p:txBody>
          <a:bodyPr wrap="square" lIns="0" tIns="0" rIns="0" bIns="0" rtlCol="0" anchor="ctr"/>
          <a:lstStyle/>
          <a:p>
            <a:pPr algn="l" indent="0" marL="0">
              <a:buNone/>
            </a:pPr>
            <a:r>
              <a:rPr lang="en-US" sz="900" b="1" spc="60" kern="0" dirty="0">
                <a:solidFill>
                  <a:srgbClr val="17325C"/>
                </a:solidFill>
                <a:latin typeface="Calibri" pitchFamily="34" charset="0"/>
                <a:ea typeface="Calibri" pitchFamily="34" charset="-122"/>
                <a:cs typeface="Calibri" pitchFamily="34" charset="-120"/>
              </a:rPr>
              <a:t>THE ASK</a:t>
            </a:r>
            <a:endParaRPr lang="en-US" sz="900" dirty="0"/>
          </a:p>
        </p:txBody>
      </p:sp>
      <p:sp>
        <p:nvSpPr>
          <p:cNvPr id="17" name="Shape 15"/>
          <p:cNvSpPr/>
          <p:nvPr/>
        </p:nvSpPr>
        <p:spPr>
          <a:xfrm>
            <a:off x="10199103" y="64008"/>
            <a:ext cx="1581112" cy="274320"/>
          </a:xfrm>
          <a:prstGeom prst="chevron">
            <a:avLst/>
          </a:prstGeom>
          <a:solidFill>
            <a:srgbClr val="5B8DC9"/>
          </a:solidFill>
          <a:ln w="19050">
            <a:solidFill>
              <a:srgbClr val="FFFFFF"/>
            </a:solidFill>
            <a:prstDash val="solid"/>
          </a:ln>
        </p:spPr>
      </p:sp>
      <p:sp>
        <p:nvSpPr>
          <p:cNvPr id="18" name="Text 16"/>
          <p:cNvSpPr txBox="1"/>
          <p:nvPr/>
        </p:nvSpPr>
        <p:spPr>
          <a:xfrm>
            <a:off x="10692879" y="64008"/>
            <a:ext cx="758152" cy="274320"/>
          </a:xfrm>
          <a:prstGeom prst="rect">
            <a:avLst/>
          </a:prstGeom>
          <a:noFill/>
          <a:ln/>
        </p:spPr>
        <p:txBody>
          <a:bodyPr wrap="square" lIns="0" tIns="0" rIns="0" bIns="0" rtlCol="0" anchor="ctr"/>
          <a:lstStyle/>
          <a:p>
            <a:pPr algn="l" indent="0" marL="0">
              <a:buNone/>
            </a:pPr>
            <a:r>
              <a:rPr lang="en-US" sz="900" b="1" spc="60" kern="0" dirty="0">
                <a:solidFill>
                  <a:srgbClr val="FFFFFF"/>
                </a:solidFill>
                <a:latin typeface="Calibri" pitchFamily="34" charset="0"/>
                <a:ea typeface="Calibri" pitchFamily="34" charset="-122"/>
                <a:cs typeface="Calibri" pitchFamily="34" charset="-120"/>
              </a:rPr>
              <a:t>APPENDIX</a:t>
            </a:r>
            <a:endParaRPr lang="en-US" sz="900" dirty="0"/>
          </a:p>
        </p:txBody>
      </p:sp>
      <p:sp>
        <p:nvSpPr>
          <p:cNvPr id="19" name="Shape 17"/>
          <p:cNvSpPr/>
          <p:nvPr/>
        </p:nvSpPr>
        <p:spPr>
          <a:xfrm>
            <a:off x="11155680" y="420624"/>
            <a:ext cx="621792" cy="621792"/>
          </a:xfrm>
          <a:prstGeom prst="ellipse">
            <a:avLst/>
          </a:prstGeom>
          <a:solidFill>
            <a:srgbClr val="F4F8FD"/>
          </a:solidFill>
          <a:ln w="12700">
            <a:solidFill>
              <a:srgbClr val="A9C3E4"/>
            </a:solidFill>
            <a:prstDash val="dash"/>
          </a:ln>
        </p:spPr>
      </p:sp>
      <p:pic>
        <p:nvPicPr>
          <p:cNvPr id="20" name="Image 0" descr="Icon: approval">    </p:cNvPr>
          <p:cNvPicPr>
            <a:picLocks noChangeAspect="1"/>
          </p:cNvPicPr>
          <p:nvPr/>
        </p:nvPicPr>
        <p:blipFill>
          <a:blip r:embed="rId2"/>
          <a:stretch>
            <a:fillRect/>
          </a:stretch>
        </p:blipFill>
        <p:spPr>
          <a:xfrm>
            <a:off x="11247120" y="512064"/>
            <a:ext cx="438912" cy="438912"/>
          </a:xfrm>
          <a:prstGeom prst="rect">
            <a:avLst/>
          </a:prstGeom>
        </p:spPr>
      </p:pic>
      <p:sp>
        <p:nvSpPr>
          <p:cNvPr id="22" name="Text 3"/>
          <p:cNvSpPr/>
          <p:nvPr>
            <p:ph idx="103" type="title" hasCustomPrompt="1"/>
          </p:nvPr>
        </p:nvSpPr>
        <p:spPr>
          <a:xfrm>
            <a:off x="411480" y="347472"/>
            <a:ext cx="10972800" cy="384048"/>
          </a:xfrm>
          <a:prstGeom prst="rect">
            <a:avLst/>
          </a:prstGeom>
          <a:noFill/>
          <a:ln/>
        </p:spPr>
        <p:txBody>
          <a:bodyPr wrap="square" lIns="0" tIns="0" rIns="0" bIns="0" rtlCol="0" anchor="ctr"/>
          <a:lstStyle/>
          <a:p>
            <a:pPr algn="l" indent="0" marL="0">
              <a:buNone/>
            </a:pPr>
            <a:r>
              <a:rPr lang="en-US" sz="2200" b="1" dirty="0">
                <a:solidFill>
                  <a:srgbClr val="1F4A82"/>
                </a:solidFill>
                <a:latin typeface="Calibri" pitchFamily="34" charset="0"/>
                <a:ea typeface="Calibri" pitchFamily="34" charset="-122"/>
                <a:cs typeface="Calibri" pitchFamily="34" charset="-120"/>
              </a:rPr>
              <a:t>VALIDATION SCORECARD AND THE ASK</a:t>
            </a:r>
            <a:endParaRPr lang="en-US" sz="2200" dirty="0"/>
          </a:p>
        </p:txBody>
      </p:sp>
      <p:sp>
        <p:nvSpPr>
          <p:cNvPr id="23" name="Text 20"/>
          <p:cNvSpPr txBox="1"/>
          <p:nvPr/>
        </p:nvSpPr>
        <p:spPr>
          <a:xfrm>
            <a:off x="411480" y="731520"/>
            <a:ext cx="11368735" cy="274320"/>
          </a:xfrm>
          <a:prstGeom prst="rect">
            <a:avLst/>
          </a:prstGeom>
          <a:noFill/>
          <a:ln/>
        </p:spPr>
        <p:txBody>
          <a:bodyPr wrap="square" lIns="0" tIns="0" rIns="0" bIns="0" rtlCol="0" anchor="ctr"/>
          <a:lstStyle/>
          <a:p>
            <a:pPr algn="l" indent="0" marL="0">
              <a:buNone/>
            </a:pPr>
            <a:r>
              <a:rPr lang="en-US" sz="1400" dirty="0">
                <a:solidFill>
                  <a:srgbClr val="5B6573"/>
                </a:solidFill>
                <a:latin typeface="Calibri" pitchFamily="34" charset="0"/>
                <a:ea typeface="Calibri" pitchFamily="34" charset="-122"/>
                <a:cs typeface="Calibri" pitchFamily="34" charset="-120"/>
              </a:rPr>
              <a:t>What we have proved, what we have not, and the one pilot that settles it</a:t>
            </a:r>
            <a:endParaRPr lang="en-US" sz="1400" dirty="0"/>
          </a:p>
        </p:txBody>
      </p:sp>
      <p:sp>
        <p:nvSpPr>
          <p:cNvPr id="24" name="Shape 21"/>
          <p:cNvSpPr/>
          <p:nvPr/>
        </p:nvSpPr>
        <p:spPr>
          <a:xfrm>
            <a:off x="411480" y="1042416"/>
            <a:ext cx="11368735" cy="22860"/>
          </a:xfrm>
          <a:prstGeom prst="rect">
            <a:avLst/>
          </a:prstGeom>
          <a:solidFill>
            <a:srgbClr val="1F4A82"/>
          </a:solidFill>
          <a:ln/>
        </p:spPr>
      </p:sp>
      <p:sp>
        <p:nvSpPr>
          <p:cNvPr id="26" name="Shape 22"/>
          <p:cNvSpPr/>
          <p:nvPr/>
        </p:nvSpPr>
        <p:spPr>
          <a:xfrm>
            <a:off x="411480" y="1188720"/>
            <a:ext cx="3931920" cy="292608"/>
          </a:xfrm>
          <a:prstGeom prst="rect">
            <a:avLst/>
          </a:prstGeom>
          <a:solidFill>
            <a:srgbClr val="1F4A82"/>
          </a:solidFill>
          <a:ln/>
        </p:spPr>
      </p:sp>
      <p:sp>
        <p:nvSpPr>
          <p:cNvPr id="27" name="Text 23"/>
          <p:cNvSpPr txBox="1"/>
          <p:nvPr/>
        </p:nvSpPr>
        <p:spPr>
          <a:xfrm>
            <a:off x="484632" y="1188720"/>
            <a:ext cx="3785616"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VALIDATION SCORECARD</a:t>
            </a:r>
            <a:endParaRPr lang="en-US" sz="1150" dirty="0"/>
          </a:p>
        </p:txBody>
      </p:sp>
      <p:sp>
        <p:nvSpPr>
          <p:cNvPr id="28" name="Shape 24"/>
          <p:cNvSpPr/>
          <p:nvPr/>
        </p:nvSpPr>
        <p:spPr>
          <a:xfrm>
            <a:off x="411480" y="1536192"/>
            <a:ext cx="3931920" cy="493776"/>
          </a:xfrm>
          <a:prstGeom prst="rect">
            <a:avLst/>
          </a:prstGeom>
          <a:solidFill>
            <a:srgbClr val="E3ECF7"/>
          </a:solidFill>
          <a:ln/>
        </p:spPr>
      </p:sp>
      <p:pic>
        <p:nvPicPr>
          <p:cNvPr id="29" name="Image 1" descr="FaClipboardList icon">    </p:cNvPr>
          <p:cNvPicPr>
            <a:picLocks noChangeAspect="1"/>
          </p:cNvPicPr>
          <p:nvPr/>
        </p:nvPicPr>
        <p:blipFill>
          <a:blip r:embed="rId3"/>
          <a:stretch>
            <a:fillRect/>
          </a:stretch>
        </p:blipFill>
        <p:spPr>
          <a:xfrm>
            <a:off x="521208" y="100584"/>
            <a:ext cx="182880" cy="182880"/>
          </a:xfrm>
          <a:prstGeom prst="rect">
            <a:avLst/>
          </a:prstGeom>
        </p:spPr>
      </p:pic>
      <p:pic>
        <p:nvPicPr>
          <p:cNvPr id="30" name="Image 2" descr="FaTriangleExclamation icon">    </p:cNvPr>
          <p:cNvPicPr>
            <a:picLocks noChangeAspect="1"/>
          </p:cNvPicPr>
          <p:nvPr/>
        </p:nvPicPr>
        <p:blipFill>
          <a:blip r:embed="rId4"/>
          <a:stretch>
            <a:fillRect/>
          </a:stretch>
        </p:blipFill>
        <p:spPr>
          <a:xfrm>
            <a:off x="2084032" y="100584"/>
            <a:ext cx="182880" cy="182880"/>
          </a:xfrm>
          <a:prstGeom prst="rect">
            <a:avLst/>
          </a:prstGeom>
        </p:spPr>
      </p:pic>
      <p:pic>
        <p:nvPicPr>
          <p:cNvPr id="31" name="Image 3" descr="FaMobileScreen icon">    </p:cNvPr>
          <p:cNvPicPr>
            <a:picLocks noChangeAspect="1"/>
          </p:cNvPicPr>
          <p:nvPr/>
        </p:nvPicPr>
        <p:blipFill>
          <a:blip r:embed="rId5"/>
          <a:stretch>
            <a:fillRect/>
          </a:stretch>
        </p:blipFill>
        <p:spPr>
          <a:xfrm>
            <a:off x="3482264" y="100584"/>
            <a:ext cx="182880" cy="182880"/>
          </a:xfrm>
          <a:prstGeom prst="rect">
            <a:avLst/>
          </a:prstGeom>
        </p:spPr>
      </p:pic>
      <p:pic>
        <p:nvPicPr>
          <p:cNvPr id="32" name="Image 4" descr="FaGears icon">    </p:cNvPr>
          <p:cNvPicPr>
            <a:picLocks noChangeAspect="1"/>
          </p:cNvPicPr>
          <p:nvPr/>
        </p:nvPicPr>
        <p:blipFill>
          <a:blip r:embed="rId6"/>
          <a:stretch>
            <a:fillRect/>
          </a:stretch>
        </p:blipFill>
        <p:spPr>
          <a:xfrm>
            <a:off x="4880496" y="100584"/>
            <a:ext cx="182880" cy="182880"/>
          </a:xfrm>
          <a:prstGeom prst="rect">
            <a:avLst/>
          </a:prstGeom>
        </p:spPr>
      </p:pic>
      <p:pic>
        <p:nvPicPr>
          <p:cNvPr id="33" name="Image 5" descr="FaShieldHalved icon">    </p:cNvPr>
          <p:cNvPicPr>
            <a:picLocks noChangeAspect="1"/>
          </p:cNvPicPr>
          <p:nvPr/>
        </p:nvPicPr>
        <p:blipFill>
          <a:blip r:embed="rId7"/>
          <a:stretch>
            <a:fillRect/>
          </a:stretch>
        </p:blipFill>
        <p:spPr>
          <a:xfrm>
            <a:off x="6278728" y="100584"/>
            <a:ext cx="182880" cy="182880"/>
          </a:xfrm>
          <a:prstGeom prst="rect">
            <a:avLst/>
          </a:prstGeom>
        </p:spPr>
      </p:pic>
      <p:pic>
        <p:nvPicPr>
          <p:cNvPr id="34" name="Image 6" descr="FaIndianRupeeSign icon">    </p:cNvPr>
          <p:cNvPicPr>
            <a:picLocks noChangeAspect="1"/>
          </p:cNvPicPr>
          <p:nvPr/>
        </p:nvPicPr>
        <p:blipFill>
          <a:blip r:embed="rId8"/>
          <a:stretch>
            <a:fillRect/>
          </a:stretch>
        </p:blipFill>
        <p:spPr>
          <a:xfrm>
            <a:off x="7676960" y="100584"/>
            <a:ext cx="182880" cy="182880"/>
          </a:xfrm>
          <a:prstGeom prst="rect">
            <a:avLst/>
          </a:prstGeom>
        </p:spPr>
      </p:pic>
      <p:pic>
        <p:nvPicPr>
          <p:cNvPr id="35" name="Image 7" descr="FaBookOpen icon">    </p:cNvPr>
          <p:cNvPicPr>
            <a:picLocks noChangeAspect="1"/>
          </p:cNvPicPr>
          <p:nvPr/>
        </p:nvPicPr>
        <p:blipFill>
          <a:blip r:embed="rId9"/>
          <a:stretch>
            <a:fillRect/>
          </a:stretch>
        </p:blipFill>
        <p:spPr>
          <a:xfrm>
            <a:off x="10473423" y="100584"/>
            <a:ext cx="182880" cy="182880"/>
          </a:xfrm>
          <a:prstGeom prst="rect">
            <a:avLst/>
          </a:prstGeom>
        </p:spPr>
      </p:pic>
      <p:pic>
        <p:nvPicPr>
          <p:cNvPr id="36" name="Image 8" descr="FaCircleCheck icon">    </p:cNvPr>
          <p:cNvPicPr>
            <a:picLocks noChangeAspect="1"/>
          </p:cNvPicPr>
          <p:nvPr/>
        </p:nvPicPr>
        <p:blipFill>
          <a:blip r:embed="rId10"/>
          <a:stretch>
            <a:fillRect/>
          </a:stretch>
        </p:blipFill>
        <p:spPr>
          <a:xfrm>
            <a:off x="521208" y="1645920"/>
            <a:ext cx="274320" cy="274320"/>
          </a:xfrm>
          <a:prstGeom prst="rect">
            <a:avLst/>
          </a:prstGeom>
        </p:spPr>
      </p:pic>
      <p:sp>
        <p:nvSpPr>
          <p:cNvPr id="37" name="Text 25"/>
          <p:cNvSpPr txBox="1"/>
          <p:nvPr/>
        </p:nvSpPr>
        <p:spPr>
          <a:xfrm>
            <a:off x="914400" y="1536192"/>
            <a:ext cx="3383280" cy="493776"/>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0.76 accuracy on public student data</a:t>
            </a:r>
            <a:endParaRPr lang="en-US" sz="1100" dirty="0"/>
          </a:p>
        </p:txBody>
      </p:sp>
      <p:sp>
        <p:nvSpPr>
          <p:cNvPr id="38" name="Shape 26"/>
          <p:cNvSpPr/>
          <p:nvPr/>
        </p:nvSpPr>
        <p:spPr>
          <a:xfrm>
            <a:off x="411480" y="2084832"/>
            <a:ext cx="3931920" cy="493776"/>
          </a:xfrm>
          <a:prstGeom prst="rect">
            <a:avLst/>
          </a:prstGeom>
          <a:solidFill>
            <a:srgbClr val="E3ECF7"/>
          </a:solidFill>
          <a:ln/>
        </p:spPr>
      </p:sp>
      <p:pic>
        <p:nvPicPr>
          <p:cNvPr id="39" name="Image 9" descr="FaCircleCheck icon">    </p:cNvPr>
          <p:cNvPicPr>
            <a:picLocks noChangeAspect="1"/>
          </p:cNvPicPr>
          <p:nvPr/>
        </p:nvPicPr>
        <p:blipFill>
          <a:blip r:embed="rId10"/>
          <a:stretch>
            <a:fillRect/>
          </a:stretch>
        </p:blipFill>
        <p:spPr>
          <a:xfrm>
            <a:off x="521208" y="2194560"/>
            <a:ext cx="274320" cy="274320"/>
          </a:xfrm>
          <a:prstGeom prst="rect">
            <a:avLst/>
          </a:prstGeom>
        </p:spPr>
      </p:pic>
      <p:sp>
        <p:nvSpPr>
          <p:cNvPr id="40" name="Text 27"/>
          <p:cNvSpPr txBox="1"/>
          <p:nvPr/>
        </p:nvSpPr>
        <p:spPr>
          <a:xfrm>
            <a:off x="914400" y="2084832"/>
            <a:ext cx="3383280" cy="493776"/>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0.009 calibration error, public data</a:t>
            </a:r>
            <a:endParaRPr lang="en-US" sz="1100" dirty="0"/>
          </a:p>
        </p:txBody>
      </p:sp>
      <p:sp>
        <p:nvSpPr>
          <p:cNvPr id="41" name="Shape 28"/>
          <p:cNvSpPr/>
          <p:nvPr/>
        </p:nvSpPr>
        <p:spPr>
          <a:xfrm>
            <a:off x="411480" y="2633472"/>
            <a:ext cx="3931920" cy="493776"/>
          </a:xfrm>
          <a:prstGeom prst="rect">
            <a:avLst/>
          </a:prstGeom>
          <a:solidFill>
            <a:srgbClr val="E3ECF7"/>
          </a:solidFill>
          <a:ln/>
        </p:spPr>
      </p:sp>
      <p:pic>
        <p:nvPicPr>
          <p:cNvPr id="42" name="Image 10" descr="FaCircleCheck icon">    </p:cNvPr>
          <p:cNvPicPr>
            <a:picLocks noChangeAspect="1"/>
          </p:cNvPicPr>
          <p:nvPr/>
        </p:nvPicPr>
        <p:blipFill>
          <a:blip r:embed="rId10"/>
          <a:stretch>
            <a:fillRect/>
          </a:stretch>
        </p:blipFill>
        <p:spPr>
          <a:xfrm>
            <a:off x="521208" y="2743200"/>
            <a:ext cx="274320" cy="274320"/>
          </a:xfrm>
          <a:prstGeom prst="rect">
            <a:avLst/>
          </a:prstGeom>
        </p:spPr>
      </p:pic>
      <p:sp>
        <p:nvSpPr>
          <p:cNvPr id="43" name="Text 29"/>
          <p:cNvSpPr txBox="1"/>
          <p:nvPr/>
        </p:nvSpPr>
        <p:spPr>
          <a:xfrm>
            <a:off x="914400" y="2633472"/>
            <a:ext cx="3383280" cy="493776"/>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Privacy costs only 0.008 accuracy</a:t>
            </a:r>
            <a:endParaRPr lang="en-US" sz="1100" dirty="0"/>
          </a:p>
        </p:txBody>
      </p:sp>
      <p:sp>
        <p:nvSpPr>
          <p:cNvPr id="44" name="Shape 30"/>
          <p:cNvSpPr/>
          <p:nvPr/>
        </p:nvSpPr>
        <p:spPr>
          <a:xfrm>
            <a:off x="411480" y="3182112"/>
            <a:ext cx="3931920" cy="493776"/>
          </a:xfrm>
          <a:prstGeom prst="rect">
            <a:avLst/>
          </a:prstGeom>
          <a:solidFill>
            <a:srgbClr val="E3ECF7"/>
          </a:solidFill>
          <a:ln/>
        </p:spPr>
      </p:sp>
      <p:pic>
        <p:nvPicPr>
          <p:cNvPr id="45" name="Image 11" descr="FaCircleCheck icon">    </p:cNvPr>
          <p:cNvPicPr>
            <a:picLocks noChangeAspect="1"/>
          </p:cNvPicPr>
          <p:nvPr/>
        </p:nvPicPr>
        <p:blipFill>
          <a:blip r:embed="rId10"/>
          <a:stretch>
            <a:fillRect/>
          </a:stretch>
        </p:blipFill>
        <p:spPr>
          <a:xfrm>
            <a:off x="521208" y="3291840"/>
            <a:ext cx="274320" cy="274320"/>
          </a:xfrm>
          <a:prstGeom prst="rect">
            <a:avLst/>
          </a:prstGeom>
        </p:spPr>
      </p:pic>
      <p:sp>
        <p:nvSpPr>
          <p:cNvPr id="46" name="Text 31"/>
          <p:cNvSpPr txBox="1"/>
          <p:nvPr/>
        </p:nvSpPr>
        <p:spPr>
          <a:xfrm>
            <a:off x="914400" y="3182112"/>
            <a:ext cx="3383280" cy="493776"/>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116 tests pass; tenants stay apart</a:t>
            </a:r>
            <a:endParaRPr lang="en-US" sz="1100" dirty="0"/>
          </a:p>
        </p:txBody>
      </p:sp>
      <p:sp>
        <p:nvSpPr>
          <p:cNvPr id="47" name="Shape 32"/>
          <p:cNvSpPr/>
          <p:nvPr/>
        </p:nvSpPr>
        <p:spPr>
          <a:xfrm>
            <a:off x="411480" y="3730752"/>
            <a:ext cx="3931920" cy="493776"/>
          </a:xfrm>
          <a:prstGeom prst="rect">
            <a:avLst/>
          </a:prstGeom>
          <a:solidFill>
            <a:srgbClr val="F1E8D3"/>
          </a:solidFill>
          <a:ln/>
        </p:spPr>
      </p:sp>
      <p:pic>
        <p:nvPicPr>
          <p:cNvPr id="48" name="Image 12" descr="FaBullseye icon">    </p:cNvPr>
          <p:cNvPicPr>
            <a:picLocks noChangeAspect="1"/>
          </p:cNvPicPr>
          <p:nvPr/>
        </p:nvPicPr>
        <p:blipFill>
          <a:blip r:embed="rId11"/>
          <a:stretch>
            <a:fillRect/>
          </a:stretch>
        </p:blipFill>
        <p:spPr>
          <a:xfrm>
            <a:off x="9075191" y="100584"/>
            <a:ext cx="182880" cy="182880"/>
          </a:xfrm>
          <a:prstGeom prst="rect">
            <a:avLst/>
          </a:prstGeom>
        </p:spPr>
      </p:pic>
      <p:pic>
        <p:nvPicPr>
          <p:cNvPr id="49" name="Image 13" descr="FaHourglassHalf icon">    </p:cNvPr>
          <p:cNvPicPr>
            <a:picLocks noChangeAspect="1"/>
          </p:cNvPicPr>
          <p:nvPr/>
        </p:nvPicPr>
        <p:blipFill>
          <a:blip r:embed="rId12"/>
          <a:stretch>
            <a:fillRect/>
          </a:stretch>
        </p:blipFill>
        <p:spPr>
          <a:xfrm>
            <a:off x="521208" y="3840480"/>
            <a:ext cx="274320" cy="274320"/>
          </a:xfrm>
          <a:prstGeom prst="rect">
            <a:avLst/>
          </a:prstGeom>
        </p:spPr>
      </p:pic>
      <p:sp>
        <p:nvSpPr>
          <p:cNvPr id="50" name="Text 33"/>
          <p:cNvSpPr txBox="1"/>
          <p:nvPr/>
        </p:nvSpPr>
        <p:spPr>
          <a:xfrm>
            <a:off x="914400" y="3730752"/>
            <a:ext cx="3383280" cy="493776"/>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Difficulty and wrong-key gates</a:t>
            </a:r>
            <a:endParaRPr lang="en-US" sz="1100" dirty="0"/>
          </a:p>
        </p:txBody>
      </p:sp>
      <p:sp>
        <p:nvSpPr>
          <p:cNvPr id="51" name="Shape 34"/>
          <p:cNvSpPr/>
          <p:nvPr/>
        </p:nvSpPr>
        <p:spPr>
          <a:xfrm>
            <a:off x="411480" y="4279392"/>
            <a:ext cx="3931920" cy="493776"/>
          </a:xfrm>
          <a:prstGeom prst="rect">
            <a:avLst/>
          </a:prstGeom>
          <a:solidFill>
            <a:srgbClr val="F6E0DD"/>
          </a:solidFill>
          <a:ln/>
        </p:spPr>
      </p:sp>
      <p:pic>
        <p:nvPicPr>
          <p:cNvPr id="52" name="Image 14" descr="FaCircleXmark icon">    </p:cNvPr>
          <p:cNvPicPr>
            <a:picLocks noChangeAspect="1"/>
          </p:cNvPicPr>
          <p:nvPr/>
        </p:nvPicPr>
        <p:blipFill>
          <a:blip r:embed="rId13"/>
          <a:stretch>
            <a:fillRect/>
          </a:stretch>
        </p:blipFill>
        <p:spPr>
          <a:xfrm>
            <a:off x="521208" y="4389120"/>
            <a:ext cx="274320" cy="274320"/>
          </a:xfrm>
          <a:prstGeom prst="rect">
            <a:avLst/>
          </a:prstGeom>
        </p:spPr>
      </p:pic>
      <p:sp>
        <p:nvSpPr>
          <p:cNvPr id="53" name="Text 35"/>
          <p:cNvSpPr txBox="1"/>
          <p:nvPr/>
        </p:nvSpPr>
        <p:spPr>
          <a:xfrm>
            <a:off x="914400" y="4279392"/>
            <a:ext cx="3383280" cy="493776"/>
          </a:xfrm>
          <a:prstGeom prst="rect">
            <a:avLst/>
          </a:prstGeom>
          <a:noFill/>
          <a:ln/>
        </p:spPr>
        <p:txBody>
          <a:bodyPr wrap="square" lIns="0" tIns="0" rIns="0" bIns="0" rtlCol="0" anchor="ctr"/>
          <a:lstStyle/>
          <a:p>
            <a:pPr algn="l" indent="0" marL="0">
              <a:buNone/>
            </a:pPr>
            <a:r>
              <a:rPr lang="en-US" sz="1100" b="1" dirty="0">
                <a:solidFill>
                  <a:srgbClr val="17325C"/>
                </a:solidFill>
                <a:latin typeface="Calibri" pitchFamily="34" charset="0"/>
                <a:ea typeface="Calibri" pitchFamily="34" charset="-122"/>
                <a:cs typeface="Calibri" pitchFamily="34" charset="-120"/>
              </a:rPr>
              <a:t>Accuracy at a real institute</a:t>
            </a:r>
            <a:endParaRPr lang="en-US" sz="1100" dirty="0"/>
          </a:p>
        </p:txBody>
      </p:sp>
      <p:sp>
        <p:nvSpPr>
          <p:cNvPr id="54" name="Shape 36"/>
          <p:cNvSpPr/>
          <p:nvPr/>
        </p:nvSpPr>
        <p:spPr>
          <a:xfrm>
            <a:off x="4572000" y="1188720"/>
            <a:ext cx="256032" cy="256032"/>
          </a:xfrm>
          <a:prstGeom prst="rect">
            <a:avLst/>
          </a:prstGeom>
          <a:solidFill>
            <a:srgbClr val="1F4A82"/>
          </a:solidFill>
          <a:ln/>
        </p:spPr>
      </p:sp>
      <p:sp>
        <p:nvSpPr>
          <p:cNvPr id="55" name="Text 37"/>
          <p:cNvSpPr txBox="1"/>
          <p:nvPr/>
        </p:nvSpPr>
        <p:spPr>
          <a:xfrm>
            <a:off x="4572000" y="1188720"/>
            <a:ext cx="256032" cy="256032"/>
          </a:xfrm>
          <a:prstGeom prst="rect">
            <a:avLst/>
          </a:prstGeom>
          <a:noFill/>
          <a:ln/>
        </p:spPr>
        <p:txBody>
          <a:bodyPr wrap="square" lIns="0" tIns="0" rIns="0" bIns="0" rtlCol="0" anchor="ctr"/>
          <a:lstStyle/>
          <a:p>
            <a:pPr algn="ctr" indent="0" marL="0">
              <a:buNone/>
            </a:pPr>
            <a:endParaRPr lang="en-US" sz="1150" dirty="0"/>
          </a:p>
        </p:txBody>
      </p:sp>
      <p:sp>
        <p:nvSpPr>
          <p:cNvPr id="56" name="Text 38"/>
          <p:cNvSpPr txBox="1"/>
          <p:nvPr/>
        </p:nvSpPr>
        <p:spPr>
          <a:xfrm>
            <a:off x="4901184" y="1188720"/>
            <a:ext cx="33284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RISK MATRIX</a:t>
            </a:r>
            <a:endParaRPr lang="en-US" sz="1200" dirty="0"/>
          </a:p>
        </p:txBody>
      </p:sp>
      <p:sp>
        <p:nvSpPr>
          <p:cNvPr id="57" name="Shape 39"/>
          <p:cNvSpPr/>
          <p:nvPr/>
        </p:nvSpPr>
        <p:spPr>
          <a:xfrm>
            <a:off x="4754880" y="3131820"/>
            <a:ext cx="1664208" cy="1549908"/>
          </a:xfrm>
          <a:prstGeom prst="rect">
            <a:avLst/>
          </a:prstGeom>
          <a:solidFill>
            <a:srgbClr val="F4F7FB"/>
          </a:solidFill>
          <a:ln/>
        </p:spPr>
      </p:sp>
      <p:sp>
        <p:nvSpPr>
          <p:cNvPr id="58" name="Shape 40"/>
          <p:cNvSpPr/>
          <p:nvPr/>
        </p:nvSpPr>
        <p:spPr>
          <a:xfrm>
            <a:off x="6446520" y="3131820"/>
            <a:ext cx="1664208" cy="1549908"/>
          </a:xfrm>
          <a:prstGeom prst="rect">
            <a:avLst/>
          </a:prstGeom>
          <a:solidFill>
            <a:srgbClr val="FBEFD8"/>
          </a:solidFill>
          <a:ln/>
        </p:spPr>
      </p:sp>
      <p:sp>
        <p:nvSpPr>
          <p:cNvPr id="59" name="Shape 41"/>
          <p:cNvSpPr/>
          <p:nvPr/>
        </p:nvSpPr>
        <p:spPr>
          <a:xfrm>
            <a:off x="4754880" y="1554480"/>
            <a:ext cx="1664208" cy="1549908"/>
          </a:xfrm>
          <a:prstGeom prst="rect">
            <a:avLst/>
          </a:prstGeom>
          <a:solidFill>
            <a:srgbClr val="FBEFD8"/>
          </a:solidFill>
          <a:ln/>
        </p:spPr>
      </p:sp>
      <p:sp>
        <p:nvSpPr>
          <p:cNvPr id="60" name="Shape 42"/>
          <p:cNvSpPr/>
          <p:nvPr/>
        </p:nvSpPr>
        <p:spPr>
          <a:xfrm>
            <a:off x="6446520" y="1554480"/>
            <a:ext cx="1664208" cy="1549908"/>
          </a:xfrm>
          <a:prstGeom prst="rect">
            <a:avLst/>
          </a:prstGeom>
          <a:solidFill>
            <a:srgbClr val="F6E0DD"/>
          </a:solidFill>
          <a:ln/>
        </p:spPr>
      </p:sp>
      <p:sp>
        <p:nvSpPr>
          <p:cNvPr id="61" name="Text 43"/>
          <p:cNvSpPr txBox="1"/>
          <p:nvPr/>
        </p:nvSpPr>
        <p:spPr>
          <a:xfrm>
            <a:off x="4754880" y="4727448"/>
            <a:ext cx="3383280" cy="201168"/>
          </a:xfrm>
          <a:prstGeom prst="rect">
            <a:avLst/>
          </a:prstGeom>
          <a:noFill/>
          <a:ln/>
        </p:spPr>
        <p:txBody>
          <a:bodyPr wrap="square" lIns="0" tIns="0" rIns="0" bIns="0" rtlCol="0" anchor="t"/>
          <a:lstStyle/>
          <a:p>
            <a:pPr algn="ctr" indent="0" marL="0">
              <a:buNone/>
            </a:pPr>
            <a:r>
              <a:rPr lang="en-US" sz="850" b="1" dirty="0">
                <a:solidFill>
                  <a:srgbClr val="5B6573"/>
                </a:solidFill>
                <a:latin typeface="Calibri" pitchFamily="34" charset="0"/>
                <a:ea typeface="Calibri" pitchFamily="34" charset="-122"/>
                <a:cs typeface="Calibri" pitchFamily="34" charset="-120"/>
              </a:rPr>
              <a:t>LIKELIHOOD →</a:t>
            </a:r>
            <a:endParaRPr lang="en-US" sz="850" dirty="0"/>
          </a:p>
        </p:txBody>
      </p:sp>
      <p:sp>
        <p:nvSpPr>
          <p:cNvPr id="62" name="Text 44"/>
          <p:cNvSpPr/>
          <p:nvPr/>
        </p:nvSpPr>
        <p:spPr>
          <a:xfrm rot="16200000">
            <a:off x="4069080" y="2994660"/>
            <a:ext cx="822960" cy="274320"/>
          </a:xfrm>
          <a:prstGeom prst="rect">
            <a:avLst/>
          </a:prstGeom>
          <a:noFill/>
          <a:ln/>
        </p:spPr>
        <p:txBody>
          <a:bodyPr wrap="square" lIns="0" tIns="0" rIns="0" bIns="0" rtlCol="0" anchor="ctr"/>
          <a:lstStyle/>
          <a:p>
            <a:pPr algn="ctr" indent="0" marL="0">
              <a:buNone/>
            </a:pPr>
            <a:r>
              <a:rPr lang="en-US" sz="850" b="1" dirty="0">
                <a:solidFill>
                  <a:srgbClr val="5B6573"/>
                </a:solidFill>
              </a:rPr>
              <a:t>IMPACT →</a:t>
            </a:r>
            <a:endParaRPr lang="en-US" sz="850" dirty="0"/>
          </a:p>
        </p:txBody>
      </p:sp>
      <p:sp>
        <p:nvSpPr>
          <p:cNvPr id="63" name="Shape 45"/>
          <p:cNvSpPr/>
          <p:nvPr/>
        </p:nvSpPr>
        <p:spPr>
          <a:xfrm>
            <a:off x="6263640" y="1876349"/>
            <a:ext cx="365760" cy="365760"/>
          </a:xfrm>
          <a:prstGeom prst="ellipse">
            <a:avLst/>
          </a:prstGeom>
          <a:solidFill>
            <a:srgbClr val="1F4A82"/>
          </a:solidFill>
          <a:ln w="25400">
            <a:solidFill>
              <a:srgbClr val="FFFFFF"/>
            </a:solidFill>
            <a:prstDash val="solid"/>
          </a:ln>
        </p:spPr>
      </p:sp>
      <p:sp>
        <p:nvSpPr>
          <p:cNvPr id="64" name="Text 46"/>
          <p:cNvSpPr txBox="1"/>
          <p:nvPr/>
        </p:nvSpPr>
        <p:spPr>
          <a:xfrm>
            <a:off x="6263640" y="1876349"/>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5" name="Shape 47"/>
          <p:cNvSpPr/>
          <p:nvPr/>
        </p:nvSpPr>
        <p:spPr>
          <a:xfrm>
            <a:off x="6737299" y="2318004"/>
            <a:ext cx="365760" cy="365760"/>
          </a:xfrm>
          <a:prstGeom prst="ellipse">
            <a:avLst/>
          </a:prstGeom>
          <a:solidFill>
            <a:srgbClr val="1F4A82"/>
          </a:solidFill>
          <a:ln w="25400">
            <a:solidFill>
              <a:srgbClr val="FFFFFF"/>
            </a:solidFill>
            <a:prstDash val="solid"/>
          </a:ln>
        </p:spPr>
      </p:sp>
      <p:sp>
        <p:nvSpPr>
          <p:cNvPr id="66" name="Text 48"/>
          <p:cNvSpPr txBox="1"/>
          <p:nvPr/>
        </p:nvSpPr>
        <p:spPr>
          <a:xfrm>
            <a:off x="6737299" y="231800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67" name="Shape 49"/>
          <p:cNvSpPr/>
          <p:nvPr/>
        </p:nvSpPr>
        <p:spPr>
          <a:xfrm>
            <a:off x="7346290" y="3075127"/>
            <a:ext cx="365760" cy="365760"/>
          </a:xfrm>
          <a:prstGeom prst="ellipse">
            <a:avLst/>
          </a:prstGeom>
          <a:solidFill>
            <a:srgbClr val="1F4A82"/>
          </a:solidFill>
          <a:ln w="25400">
            <a:solidFill>
              <a:srgbClr val="FFFFFF"/>
            </a:solidFill>
            <a:prstDash val="solid"/>
          </a:ln>
        </p:spPr>
      </p:sp>
      <p:sp>
        <p:nvSpPr>
          <p:cNvPr id="68" name="Text 50"/>
          <p:cNvSpPr txBox="1"/>
          <p:nvPr/>
        </p:nvSpPr>
        <p:spPr>
          <a:xfrm>
            <a:off x="7346290" y="3075127"/>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9" name="Shape 51"/>
          <p:cNvSpPr/>
          <p:nvPr/>
        </p:nvSpPr>
        <p:spPr>
          <a:xfrm>
            <a:off x="5383987" y="3579876"/>
            <a:ext cx="365760" cy="365760"/>
          </a:xfrm>
          <a:prstGeom prst="ellipse">
            <a:avLst/>
          </a:prstGeom>
          <a:solidFill>
            <a:srgbClr val="2E6DB4"/>
          </a:solidFill>
          <a:ln w="25400">
            <a:solidFill>
              <a:srgbClr val="FFFFFF"/>
            </a:solidFill>
            <a:prstDash val="solid"/>
          </a:ln>
        </p:spPr>
      </p:sp>
      <p:sp>
        <p:nvSpPr>
          <p:cNvPr id="70" name="Text 52"/>
          <p:cNvSpPr txBox="1"/>
          <p:nvPr/>
        </p:nvSpPr>
        <p:spPr>
          <a:xfrm>
            <a:off x="5383987" y="35798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71" name="Shape 53"/>
          <p:cNvSpPr/>
          <p:nvPr/>
        </p:nvSpPr>
        <p:spPr>
          <a:xfrm>
            <a:off x="8503920" y="1353312"/>
            <a:ext cx="365760" cy="365760"/>
          </a:xfrm>
          <a:prstGeom prst="ellipse">
            <a:avLst/>
          </a:prstGeom>
          <a:solidFill>
            <a:srgbClr val="1F4A82"/>
          </a:solidFill>
          <a:ln/>
        </p:spPr>
      </p:sp>
      <p:sp>
        <p:nvSpPr>
          <p:cNvPr id="72" name="Text 54"/>
          <p:cNvSpPr txBox="1"/>
          <p:nvPr/>
        </p:nvSpPr>
        <p:spPr>
          <a:xfrm>
            <a:off x="8503920" y="135331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3" name="Text 55"/>
          <p:cNvSpPr txBox="1"/>
          <p:nvPr/>
        </p:nvSpPr>
        <p:spPr>
          <a:xfrm>
            <a:off x="8961120" y="1234440"/>
            <a:ext cx="2834640" cy="68580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Real accuracy is lower</a:t>
            </a:r>
            <a:endParaRPr lang="en-US" sz="1400" dirty="0"/>
          </a:p>
          <a:p>
            <a:pPr algn="l" indent="0" marL="0">
              <a:buNone/>
            </a:pPr>
            <a:r>
              <a:rPr lang="en-US" sz="950" dirty="0">
                <a:solidFill>
                  <a:srgbClr val="5B6573"/>
                </a:solidFill>
                <a:latin typeface="Calibri" pitchFamily="34" charset="0"/>
                <a:ea typeface="Calibri" pitchFamily="34" charset="-122"/>
                <a:cs typeface="Calibri" pitchFamily="34" charset="-120"/>
              </a:rPr>
              <a:t>Fix: Retro-pilot before any sale</a:t>
            </a:r>
            <a:endParaRPr lang="en-US" sz="1400" dirty="0"/>
          </a:p>
        </p:txBody>
      </p:sp>
      <p:sp>
        <p:nvSpPr>
          <p:cNvPr id="74" name="Shape 56"/>
          <p:cNvSpPr/>
          <p:nvPr/>
        </p:nvSpPr>
        <p:spPr>
          <a:xfrm>
            <a:off x="8503920" y="2231136"/>
            <a:ext cx="365760" cy="365760"/>
          </a:xfrm>
          <a:prstGeom prst="ellipse">
            <a:avLst/>
          </a:prstGeom>
          <a:solidFill>
            <a:srgbClr val="1F4A82"/>
          </a:solidFill>
          <a:ln/>
        </p:spPr>
      </p:sp>
      <p:sp>
        <p:nvSpPr>
          <p:cNvPr id="75" name="Text 57"/>
          <p:cNvSpPr txBox="1"/>
          <p:nvPr/>
        </p:nvSpPr>
        <p:spPr>
          <a:xfrm>
            <a:off x="8503920" y="223113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76" name="Text 58"/>
          <p:cNvSpPr txBox="1"/>
          <p:nvPr/>
        </p:nvSpPr>
        <p:spPr>
          <a:xfrm>
            <a:off x="8961120" y="2112264"/>
            <a:ext cx="2834640" cy="68580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Owners won't pay ₹30</a:t>
            </a:r>
            <a:endParaRPr lang="en-US" sz="1400" dirty="0"/>
          </a:p>
          <a:p>
            <a:pPr algn="l" indent="0" marL="0">
              <a:buNone/>
            </a:pPr>
            <a:r>
              <a:rPr lang="en-US" sz="950" dirty="0">
                <a:solidFill>
                  <a:srgbClr val="5B6573"/>
                </a:solidFill>
                <a:latin typeface="Calibri" pitchFamily="34" charset="0"/>
                <a:ea typeface="Calibri" pitchFamily="34" charset="-122"/>
                <a:cs typeface="Calibri" pitchFamily="34" charset="-120"/>
              </a:rPr>
              <a:t>Fix: Price survey; lead with time saved</a:t>
            </a:r>
            <a:endParaRPr lang="en-US" sz="1400" dirty="0"/>
          </a:p>
        </p:txBody>
      </p:sp>
      <p:sp>
        <p:nvSpPr>
          <p:cNvPr id="77" name="Shape 59"/>
          <p:cNvSpPr/>
          <p:nvPr/>
        </p:nvSpPr>
        <p:spPr>
          <a:xfrm>
            <a:off x="8503920" y="3108960"/>
            <a:ext cx="365760" cy="365760"/>
          </a:xfrm>
          <a:prstGeom prst="ellipse">
            <a:avLst/>
          </a:prstGeom>
          <a:solidFill>
            <a:srgbClr val="1F4A82"/>
          </a:solidFill>
          <a:ln/>
        </p:spPr>
      </p:sp>
      <p:sp>
        <p:nvSpPr>
          <p:cNvPr id="78" name="Text 60"/>
          <p:cNvSpPr txBox="1"/>
          <p:nvPr/>
        </p:nvSpPr>
        <p:spPr>
          <a:xfrm>
            <a:off x="8503920" y="31089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79" name="Text 61"/>
          <p:cNvSpPr txBox="1"/>
          <p:nvPr/>
        </p:nvSpPr>
        <p:spPr>
          <a:xfrm>
            <a:off x="8961120" y="2990088"/>
            <a:ext cx="2834640" cy="68580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Mentors ignore the list</a:t>
            </a:r>
            <a:endParaRPr lang="en-US" sz="1400" dirty="0"/>
          </a:p>
          <a:p>
            <a:pPr algn="l" indent="0" marL="0">
              <a:buNone/>
            </a:pPr>
            <a:r>
              <a:rPr lang="en-US" sz="950" dirty="0">
                <a:solidFill>
                  <a:srgbClr val="5B6573"/>
                </a:solidFill>
                <a:latin typeface="Calibri" pitchFamily="34" charset="0"/>
                <a:ea typeface="Calibri" pitchFamily="34" charset="-122"/>
                <a:cs typeface="Calibri" pitchFamily="34" charset="-120"/>
              </a:rPr>
              <a:t>Fix: Cap the list; log every outcome</a:t>
            </a:r>
            <a:endParaRPr lang="en-US" sz="1400" dirty="0"/>
          </a:p>
        </p:txBody>
      </p:sp>
      <p:sp>
        <p:nvSpPr>
          <p:cNvPr id="80" name="Shape 62"/>
          <p:cNvSpPr/>
          <p:nvPr/>
        </p:nvSpPr>
        <p:spPr>
          <a:xfrm>
            <a:off x="8503920" y="3986784"/>
            <a:ext cx="365760" cy="365760"/>
          </a:xfrm>
          <a:prstGeom prst="ellipse">
            <a:avLst/>
          </a:prstGeom>
          <a:solidFill>
            <a:srgbClr val="2E6DB4"/>
          </a:solidFill>
          <a:ln/>
        </p:spPr>
      </p:sp>
      <p:sp>
        <p:nvSpPr>
          <p:cNvPr id="81" name="Text 63"/>
          <p:cNvSpPr txBox="1"/>
          <p:nvPr/>
        </p:nvSpPr>
        <p:spPr>
          <a:xfrm>
            <a:off x="8503920" y="39867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82" name="Text 64"/>
          <p:cNvSpPr txBox="1"/>
          <p:nvPr/>
        </p:nvSpPr>
        <p:spPr>
          <a:xfrm>
            <a:off x="8961120" y="3867912"/>
            <a:ext cx="2834640" cy="68580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Hindi quality falls short</a:t>
            </a:r>
            <a:endParaRPr lang="en-US" sz="1400" dirty="0"/>
          </a:p>
          <a:p>
            <a:pPr algn="l" indent="0" marL="0">
              <a:buNone/>
            </a:pPr>
            <a:r>
              <a:rPr lang="en-US" sz="950" dirty="0">
                <a:solidFill>
                  <a:srgbClr val="5B6573"/>
                </a:solidFill>
                <a:latin typeface="Calibri" pitchFamily="34" charset="0"/>
                <a:ea typeface="Calibri" pitchFamily="34" charset="-122"/>
                <a:cs typeface="Calibri" pitchFamily="34" charset="-120"/>
              </a:rPr>
              <a:t>Fix: Native review; template fallback</a:t>
            </a:r>
            <a:endParaRPr lang="en-US" sz="1400" dirty="0"/>
          </a:p>
        </p:txBody>
      </p:sp>
      <p:sp>
        <p:nvSpPr>
          <p:cNvPr id="83" name="Shape 65"/>
          <p:cNvSpPr/>
          <p:nvPr/>
        </p:nvSpPr>
        <p:spPr>
          <a:xfrm>
            <a:off x="411480" y="5166360"/>
            <a:ext cx="11368735" cy="1188720"/>
          </a:xfrm>
          <a:prstGeom prst="rect">
            <a:avLst/>
          </a:prstGeom>
          <a:solidFill>
            <a:srgbClr val="1F4A82"/>
          </a:solidFill>
          <a:ln/>
        </p:spPr>
      </p:sp>
      <p:sp>
        <p:nvSpPr>
          <p:cNvPr id="84" name="Text 66"/>
          <p:cNvSpPr txBox="1"/>
          <p:nvPr/>
        </p:nvSpPr>
        <p:spPr>
          <a:xfrm>
            <a:off x="640080" y="5230368"/>
            <a:ext cx="2743200" cy="274320"/>
          </a:xfrm>
          <a:prstGeom prst="rect">
            <a:avLst/>
          </a:prstGeom>
          <a:noFill/>
          <a:ln/>
        </p:spPr>
        <p:txBody>
          <a:bodyPr wrap="square" lIns="0" tIns="0" rIns="0" bIns="0" rtlCol="0" anchor="t"/>
          <a:lstStyle/>
          <a:p>
            <a:pPr algn="l" indent="0" marL="0">
              <a:buNone/>
            </a:pPr>
            <a:r>
              <a:rPr lang="en-US" sz="1200" b="1" spc="200" kern="0" dirty="0">
                <a:solidFill>
                  <a:srgbClr val="F1D9A0"/>
                </a:solidFill>
                <a:latin typeface="Calibri" pitchFamily="34" charset="0"/>
                <a:ea typeface="Calibri" pitchFamily="34" charset="-122"/>
                <a:cs typeface="Calibri" pitchFamily="34" charset="-120"/>
              </a:rPr>
              <a:t>THE ASK</a:t>
            </a:r>
            <a:endParaRPr lang="en-US" sz="1200" dirty="0"/>
          </a:p>
        </p:txBody>
      </p:sp>
      <p:sp>
        <p:nvSpPr>
          <p:cNvPr id="85" name="Text 67"/>
          <p:cNvSpPr txBox="1"/>
          <p:nvPr/>
        </p:nvSpPr>
        <p:spPr>
          <a:xfrm>
            <a:off x="640080" y="5486400"/>
            <a:ext cx="6583680" cy="45720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Two free retro-pilots in Patna this winter.</a:t>
            </a:r>
            <a:endParaRPr lang="en-US" sz="2400" dirty="0"/>
          </a:p>
        </p:txBody>
      </p:sp>
      <p:sp>
        <p:nvSpPr>
          <p:cNvPr id="86" name="Text 68"/>
          <p:cNvSpPr txBox="1"/>
          <p:nvPr/>
        </p:nvSpPr>
        <p:spPr>
          <a:xfrm>
            <a:off x="640080" y="5943600"/>
            <a:ext cx="6583680" cy="384048"/>
          </a:xfrm>
          <a:prstGeom prst="rect">
            <a:avLst/>
          </a:prstGeom>
          <a:noFill/>
          <a:ln/>
        </p:spPr>
        <p:txBody>
          <a:bodyPr wrap="square" lIns="0" tIns="0" rIns="0" bIns="0" rtlCol="0" anchor="t"/>
          <a:lstStyle/>
          <a:p>
            <a:pPr algn="l" indent="0" marL="0">
              <a:buNone/>
            </a:pPr>
            <a:r>
              <a:rPr lang="en-US" sz="1050" dirty="0">
                <a:solidFill>
                  <a:srgbClr val="C9DBF0"/>
                </a:solidFill>
                <a:latin typeface="Calibri" pitchFamily="34" charset="0"/>
                <a:ea typeface="Calibri" pitchFamily="34" charset="-122"/>
                <a:cs typeface="Calibri" pitchFamily="34" charset="-120"/>
              </a:rPr>
              <a:t>Give us last year's Excel. If we don't flag more of the students who left than your attendance rule, at the same workload, we stop.</a:t>
            </a:r>
            <a:endParaRPr lang="en-US" sz="1050" dirty="0"/>
          </a:p>
        </p:txBody>
      </p:sp>
      <p:sp>
        <p:nvSpPr>
          <p:cNvPr id="87" name="Shape 69"/>
          <p:cNvSpPr/>
          <p:nvPr/>
        </p:nvSpPr>
        <p:spPr>
          <a:xfrm>
            <a:off x="7360920" y="5349240"/>
            <a:ext cx="1371600" cy="914400"/>
          </a:xfrm>
          <a:prstGeom prst="rect">
            <a:avLst/>
          </a:prstGeom>
          <a:solidFill>
            <a:srgbClr val="1A3F6F"/>
          </a:solidFill>
          <a:ln/>
        </p:spPr>
      </p:sp>
      <p:sp>
        <p:nvSpPr>
          <p:cNvPr id="88" name="Text 70"/>
          <p:cNvSpPr txBox="1"/>
          <p:nvPr/>
        </p:nvSpPr>
        <p:spPr>
          <a:xfrm>
            <a:off x="7360920" y="5394960"/>
            <a:ext cx="137160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₹45 L</a:t>
            </a:r>
            <a:endParaRPr lang="en-US" sz="1800" dirty="0"/>
          </a:p>
        </p:txBody>
      </p:sp>
      <p:sp>
        <p:nvSpPr>
          <p:cNvPr id="89" name="Text 71"/>
          <p:cNvSpPr txBox="1"/>
          <p:nvPr/>
        </p:nvSpPr>
        <p:spPr>
          <a:xfrm>
            <a:off x="7360920" y="5897880"/>
            <a:ext cx="1371600" cy="320040"/>
          </a:xfrm>
          <a:prstGeom prst="rect">
            <a:avLst/>
          </a:prstGeom>
          <a:noFill/>
          <a:ln/>
        </p:spPr>
        <p:txBody>
          <a:bodyPr wrap="square" lIns="0" tIns="0" rIns="0" bIns="0" rtlCol="0" anchor="t"/>
          <a:lstStyle/>
          <a:p>
            <a:pPr algn="ctr" indent="0" marL="0">
              <a:buNone/>
            </a:pPr>
            <a:r>
              <a:rPr lang="en-US" sz="900" dirty="0">
                <a:solidFill>
                  <a:srgbClr val="C9DBF0"/>
                </a:solidFill>
                <a:latin typeface="Calibri" pitchFamily="34" charset="0"/>
                <a:ea typeface="Calibri" pitchFamily="34" charset="-122"/>
                <a:cs typeface="Calibri" pitchFamily="34" charset="-120"/>
              </a:rPr>
              <a:t>funding, Base plan</a:t>
            </a:r>
            <a:endParaRPr lang="en-US" sz="900" dirty="0"/>
          </a:p>
        </p:txBody>
      </p:sp>
      <p:sp>
        <p:nvSpPr>
          <p:cNvPr id="90" name="Shape 72"/>
          <p:cNvSpPr/>
          <p:nvPr/>
        </p:nvSpPr>
        <p:spPr>
          <a:xfrm>
            <a:off x="8842248" y="5349240"/>
            <a:ext cx="1371600" cy="914400"/>
          </a:xfrm>
          <a:prstGeom prst="rect">
            <a:avLst/>
          </a:prstGeom>
          <a:solidFill>
            <a:srgbClr val="1A3F6F"/>
          </a:solidFill>
          <a:ln/>
        </p:spPr>
      </p:sp>
      <p:sp>
        <p:nvSpPr>
          <p:cNvPr id="91" name="Text 73"/>
          <p:cNvSpPr txBox="1"/>
          <p:nvPr/>
        </p:nvSpPr>
        <p:spPr>
          <a:xfrm>
            <a:off x="8842248" y="5394960"/>
            <a:ext cx="137160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Month 16</a:t>
            </a:r>
            <a:endParaRPr lang="en-US" sz="1800" dirty="0"/>
          </a:p>
        </p:txBody>
      </p:sp>
      <p:sp>
        <p:nvSpPr>
          <p:cNvPr id="92" name="Text 74"/>
          <p:cNvSpPr txBox="1"/>
          <p:nvPr/>
        </p:nvSpPr>
        <p:spPr>
          <a:xfrm>
            <a:off x="8842248" y="5897880"/>
            <a:ext cx="1371600" cy="320040"/>
          </a:xfrm>
          <a:prstGeom prst="rect">
            <a:avLst/>
          </a:prstGeom>
          <a:noFill/>
          <a:ln/>
        </p:spPr>
        <p:txBody>
          <a:bodyPr wrap="square" lIns="0" tIns="0" rIns="0" bIns="0" rtlCol="0" anchor="t"/>
          <a:lstStyle/>
          <a:p>
            <a:pPr algn="ctr" indent="0" marL="0">
              <a:buNone/>
            </a:pPr>
            <a:r>
              <a:rPr lang="en-US" sz="900" dirty="0">
                <a:solidFill>
                  <a:srgbClr val="C9DBF0"/>
                </a:solidFill>
                <a:latin typeface="Calibri" pitchFamily="34" charset="0"/>
                <a:ea typeface="Calibri" pitchFamily="34" charset="-122"/>
                <a:cs typeface="Calibri" pitchFamily="34" charset="-120"/>
              </a:rPr>
              <a:t>break-even</a:t>
            </a:r>
            <a:endParaRPr lang="en-US" sz="900" dirty="0"/>
          </a:p>
        </p:txBody>
      </p:sp>
      <p:sp>
        <p:nvSpPr>
          <p:cNvPr id="93" name="Shape 75"/>
          <p:cNvSpPr/>
          <p:nvPr/>
        </p:nvSpPr>
        <p:spPr>
          <a:xfrm>
            <a:off x="10323576" y="5349240"/>
            <a:ext cx="1371600" cy="914400"/>
          </a:xfrm>
          <a:prstGeom prst="rect">
            <a:avLst/>
          </a:prstGeom>
          <a:solidFill>
            <a:srgbClr val="1A3F6F"/>
          </a:solidFill>
          <a:ln/>
        </p:spPr>
      </p:sp>
      <p:sp>
        <p:nvSpPr>
          <p:cNvPr id="94" name="Text 76"/>
          <p:cNvSpPr txBox="1"/>
          <p:nvPr/>
        </p:nvSpPr>
        <p:spPr>
          <a:xfrm>
            <a:off x="10323576" y="5394960"/>
            <a:ext cx="137160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₹65 L</a:t>
            </a:r>
            <a:endParaRPr lang="en-US" sz="1800" dirty="0"/>
          </a:p>
        </p:txBody>
      </p:sp>
      <p:sp>
        <p:nvSpPr>
          <p:cNvPr id="95" name="Text 77"/>
          <p:cNvSpPr txBox="1"/>
          <p:nvPr/>
        </p:nvSpPr>
        <p:spPr>
          <a:xfrm>
            <a:off x="10323576" y="5897880"/>
            <a:ext cx="1371600" cy="320040"/>
          </a:xfrm>
          <a:prstGeom prst="rect">
            <a:avLst/>
          </a:prstGeom>
          <a:noFill/>
          <a:ln/>
        </p:spPr>
        <p:txBody>
          <a:bodyPr wrap="square" lIns="0" tIns="0" rIns="0" bIns="0" rtlCol="0" anchor="t"/>
          <a:lstStyle/>
          <a:p>
            <a:pPr algn="ctr" indent="0" marL="0">
              <a:buNone/>
            </a:pPr>
            <a:r>
              <a:rPr lang="en-US" sz="900" dirty="0">
                <a:solidFill>
                  <a:srgbClr val="C9DBF0"/>
                </a:solidFill>
                <a:latin typeface="Calibri" pitchFamily="34" charset="0"/>
                <a:ea typeface="Calibri" pitchFamily="34" charset="-122"/>
                <a:cs typeface="Calibri" pitchFamily="34" charset="-120"/>
              </a:rPr>
              <a:t>year-3 revenue</a:t>
            </a:r>
            <a:endParaRPr lang="en-US" sz="900" dirty="0"/>
          </a:p>
        </p:txBody>
      </p:sp>
      <p:sp>
        <p:nvSpPr>
          <p:cNvPr id="96" name="Text 78"/>
          <p:cNvSpPr txBox="1"/>
          <p:nvPr/>
        </p:nvSpPr>
        <p:spPr>
          <a:xfrm>
            <a:off x="411480" y="6419088"/>
            <a:ext cx="11338560"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ml/public_validation; technical/docs/FEASIBILITY_CHECK.md; financial model v1.1 (3-year projection, Base: ₹45 L funding, break-even month 16, year-3 revenue ₹65.3 L, EBITDA ₹11.9 L).</a:t>
            </a:r>
            <a:endParaRPr lang="en-US" sz="850" dirty="0"/>
          </a:p>
        </p:txBody>
      </p:sp>
      <p:sp>
        <p:nvSpPr>
          <p:cNvPr id="25" name="Slide Number Placeholder 0"/>
          <p:cNvSpPr>
            <a:spLocks noGrp="1"/>
          </p:cNvSpPr>
          <p:nvPr>
            <p:ph type="sldNum" sz="quarter" idx="4294967295"/>
          </p:nvPr>
        </p:nvSpPr>
        <p:spPr>
          <a:xfrm>
            <a:off x="11155680" y="6638544"/>
            <a:ext cx="621792" cy="219456"/>
          </a:xfrm>
          <a:prstGeom prst="rect">
            <a:avLst/>
          </a:prstGeom>
          <a:extLst>
            <a:ext uri="{C572A759-6A51-4108-AA02-DFA0A04FC94B}">
              <ma14:wrappingTextBoxFlag xmlns:ma14="http://schemas.microsoft.com/office/mac/drawingml/2011/main" val="0"/>
            </a:ext>
          </a:extLst>
        </p:spPr>
        <p:txBody>
          <a:bodyPr anchor="ctr"/>
          <a:lstStyle>
            <a:lvl1pPr>
              <a:defRPr sz="1050">
                <a:solidFill>
                  <a:srgbClr val="FFFFFF"/>
                </a:solidFill>
                <a:latin typeface="Calibri"/>
                <a:ea typeface="Calibri"/>
                <a:cs typeface="Calibri"/>
              </a:defRPr>
            </a:lvl1pPr>
          </a:lstStyle>
          <a:p>
            <a:pPr algn="ctr"/>
            <a:fld id="{F7021451-1387-4CA6-816F-3879F97B5CBC}" type="slidenum">
              <a:rPr b="1" lang="en-US"/>
              <a:t>13</a:t>
            </a:fld>
            <a:endParaRPr lang="en-US"/>
          </a:p>
        </p:txBody>
      </p:sp>
      <p:sp>
        <p:nvSpPr>
          <p:cNvPr id="97" name="TextBox 96"/>
          <p:cNvSpPr txBox="1"/>
          <p:nvPr/>
        </p:nvSpPr>
        <p:spPr>
          <a:xfrm>
            <a:off x="6501384" y="1609344"/>
            <a:ext cx="731520" cy="146304"/>
          </a:xfrm>
          <a:prstGeom prst="rect">
            <a:avLst/>
          </a:prstGeom>
          <a:noFill/>
        </p:spPr>
        <p:txBody>
          <a:bodyPr wrap="none" lIns="0" rIns="0" tIns="0" bIns="0" anchor="ctr">
            <a:spAutoFit/>
          </a:bodyPr>
          <a:lstStyle/>
          <a:p>
            <a:pPr algn="l"/>
            <a:r>
              <a:rPr sz="900" b="1">
                <a:solidFill>
                  <a:srgbClr val="B03A2E"/>
                </a:solidFill>
              </a:rPr>
              <a:t>ACT NOW</a:t>
            </a:r>
          </a:p>
        </p:txBody>
      </p:sp>
      <p:sp>
        <p:nvSpPr>
          <p:cNvPr id="98" name="TextBox 97"/>
          <p:cNvSpPr txBox="1"/>
          <p:nvPr/>
        </p:nvSpPr>
        <p:spPr>
          <a:xfrm>
            <a:off x="4809744" y="1609344"/>
            <a:ext cx="731520" cy="146304"/>
          </a:xfrm>
          <a:prstGeom prst="rect">
            <a:avLst/>
          </a:prstGeom>
          <a:noFill/>
        </p:spPr>
        <p:txBody>
          <a:bodyPr wrap="none" lIns="0" rIns="0" tIns="0" bIns="0" anchor="ctr">
            <a:spAutoFit/>
          </a:bodyPr>
          <a:lstStyle/>
          <a:p>
            <a:pPr algn="l"/>
            <a:r>
              <a:rPr sz="900" b="1">
                <a:solidFill>
                  <a:srgbClr val="8A6D2B"/>
                </a:solidFill>
              </a:rPr>
              <a:t>PLAN THE FIX</a:t>
            </a:r>
          </a:p>
        </p:txBody>
      </p:sp>
      <p:sp>
        <p:nvSpPr>
          <p:cNvPr id="99" name="TextBox 98"/>
          <p:cNvSpPr txBox="1"/>
          <p:nvPr/>
        </p:nvSpPr>
        <p:spPr>
          <a:xfrm>
            <a:off x="6501384" y="3182112"/>
            <a:ext cx="731520" cy="146304"/>
          </a:xfrm>
          <a:prstGeom prst="rect">
            <a:avLst/>
          </a:prstGeom>
          <a:noFill/>
        </p:spPr>
        <p:txBody>
          <a:bodyPr wrap="none" lIns="0" rIns="0" tIns="0" bIns="0" anchor="ctr">
            <a:spAutoFit/>
          </a:bodyPr>
          <a:lstStyle/>
          <a:p>
            <a:pPr algn="l"/>
            <a:r>
              <a:rPr sz="900" b="1">
                <a:solidFill>
                  <a:srgbClr val="8A6D2B"/>
                </a:solidFill>
              </a:rPr>
              <a:t>WATCH</a:t>
            </a:r>
          </a:p>
        </p:txBody>
      </p:sp>
      <p:sp>
        <p:nvSpPr>
          <p:cNvPr id="100" name="TextBox 99"/>
          <p:cNvSpPr txBox="1"/>
          <p:nvPr/>
        </p:nvSpPr>
        <p:spPr>
          <a:xfrm>
            <a:off x="4809744" y="3182112"/>
            <a:ext cx="731520" cy="146304"/>
          </a:xfrm>
          <a:prstGeom prst="rect">
            <a:avLst/>
          </a:prstGeom>
          <a:noFill/>
        </p:spPr>
        <p:txBody>
          <a:bodyPr wrap="none" lIns="0" rIns="0" tIns="0" bIns="0" anchor="ctr">
            <a:spAutoFit/>
          </a:bodyPr>
          <a:lstStyle/>
          <a:p>
            <a:pPr algn="l"/>
            <a:r>
              <a:rPr sz="900" b="1">
                <a:solidFill>
                  <a:srgbClr val="8A6D2B"/>
                </a:solidFill>
              </a:rPr>
              <a:t>ACCEPT</a:t>
            </a:r>
          </a:p>
        </p:txBody>
      </p:sp>
      <p:sp>
        <p:nvSpPr>
          <p:cNvPr id="101" name="TextBox 100"/>
          <p:cNvSpPr txBox="1"/>
          <p:nvPr/>
        </p:nvSpPr>
        <p:spPr>
          <a:xfrm>
            <a:off x="3520440" y="1572768"/>
            <a:ext cx="768096" cy="128016"/>
          </a:xfrm>
          <a:prstGeom prst="rect">
            <a:avLst/>
          </a:prstGeom>
          <a:noFill/>
        </p:spPr>
        <p:txBody>
          <a:bodyPr wrap="none" lIns="0" rIns="0" tIns="0" bIns="0" anchor="ctr">
            <a:spAutoFit/>
          </a:bodyPr>
          <a:lstStyle/>
          <a:p>
            <a:pPr algn="r"/>
            <a:r>
              <a:rPr sz="800" b="1">
                <a:solidFill>
                  <a:srgbClr val="5B6B82"/>
                </a:solidFill>
              </a:rPr>
              <a:t>PUBLIC DATA</a:t>
            </a:r>
          </a:p>
        </p:txBody>
      </p:sp>
      <p:sp>
        <p:nvSpPr>
          <p:cNvPr id="102" name="TextBox 101"/>
          <p:cNvSpPr txBox="1"/>
          <p:nvPr/>
        </p:nvSpPr>
        <p:spPr>
          <a:xfrm>
            <a:off x="3520440" y="2121408"/>
            <a:ext cx="768096" cy="128016"/>
          </a:xfrm>
          <a:prstGeom prst="rect">
            <a:avLst/>
          </a:prstGeom>
          <a:noFill/>
        </p:spPr>
        <p:txBody>
          <a:bodyPr wrap="none" lIns="0" rIns="0" tIns="0" bIns="0" anchor="ctr">
            <a:spAutoFit/>
          </a:bodyPr>
          <a:lstStyle/>
          <a:p>
            <a:pPr algn="r"/>
            <a:r>
              <a:rPr sz="800" b="1">
                <a:solidFill>
                  <a:srgbClr val="5B6B82"/>
                </a:solidFill>
              </a:rPr>
              <a:t>PUBLIC DATA</a:t>
            </a:r>
          </a:p>
        </p:txBody>
      </p:sp>
      <p:sp>
        <p:nvSpPr>
          <p:cNvPr id="103" name="TextBox 102"/>
          <p:cNvSpPr txBox="1"/>
          <p:nvPr/>
        </p:nvSpPr>
        <p:spPr>
          <a:xfrm>
            <a:off x="3520440" y="2670048"/>
            <a:ext cx="768096" cy="128016"/>
          </a:xfrm>
          <a:prstGeom prst="rect">
            <a:avLst/>
          </a:prstGeom>
          <a:noFill/>
        </p:spPr>
        <p:txBody>
          <a:bodyPr wrap="none" lIns="0" rIns="0" tIns="0" bIns="0" anchor="ctr">
            <a:spAutoFit/>
          </a:bodyPr>
          <a:lstStyle/>
          <a:p>
            <a:pPr algn="r"/>
            <a:r>
              <a:rPr sz="800" b="1">
                <a:solidFill>
                  <a:srgbClr val="5B6B82"/>
                </a:solidFill>
              </a:rPr>
              <a:t>PUBLIC DATA</a:t>
            </a:r>
          </a:p>
        </p:txBody>
      </p:sp>
      <p:sp>
        <p:nvSpPr>
          <p:cNvPr id="104" name="TextBox 103"/>
          <p:cNvSpPr txBox="1"/>
          <p:nvPr/>
        </p:nvSpPr>
        <p:spPr>
          <a:xfrm>
            <a:off x="3520440" y="3218688"/>
            <a:ext cx="768096" cy="128016"/>
          </a:xfrm>
          <a:prstGeom prst="rect">
            <a:avLst/>
          </a:prstGeom>
          <a:noFill/>
        </p:spPr>
        <p:txBody>
          <a:bodyPr wrap="none" lIns="0" rIns="0" tIns="0" bIns="0" anchor="ctr">
            <a:spAutoFit/>
          </a:bodyPr>
          <a:lstStyle/>
          <a:p>
            <a:pPr algn="r"/>
            <a:r>
              <a:rPr sz="800" b="1">
                <a:solidFill>
                  <a:srgbClr val="5B6B82"/>
                </a:solidFill>
              </a:rPr>
              <a:t>CODE</a:t>
            </a:r>
          </a:p>
        </p:txBody>
      </p:sp>
      <p:sp>
        <p:nvSpPr>
          <p:cNvPr id="105" name="TextBox 104"/>
          <p:cNvSpPr txBox="1"/>
          <p:nvPr/>
        </p:nvSpPr>
        <p:spPr>
          <a:xfrm>
            <a:off x="3520440" y="3767328"/>
            <a:ext cx="768096" cy="128016"/>
          </a:xfrm>
          <a:prstGeom prst="rect">
            <a:avLst/>
          </a:prstGeom>
          <a:noFill/>
        </p:spPr>
        <p:txBody>
          <a:bodyPr wrap="none" lIns="0" rIns="0" tIns="0" bIns="0" anchor="ctr">
            <a:spAutoFit/>
          </a:bodyPr>
          <a:lstStyle/>
          <a:p>
            <a:pPr algn="r"/>
            <a:r>
              <a:rPr sz="800" b="1">
                <a:solidFill>
                  <a:srgbClr val="5B6B82"/>
                </a:solidFill>
              </a:rPr>
              <a:t>NEXT</a:t>
            </a:r>
          </a:p>
        </p:txBody>
      </p:sp>
      <p:sp>
        <p:nvSpPr>
          <p:cNvPr id="106" name="TextBox 105"/>
          <p:cNvSpPr txBox="1"/>
          <p:nvPr/>
        </p:nvSpPr>
        <p:spPr>
          <a:xfrm>
            <a:off x="3520440" y="4315968"/>
            <a:ext cx="768096" cy="128016"/>
          </a:xfrm>
          <a:prstGeom prst="rect">
            <a:avLst/>
          </a:prstGeom>
          <a:noFill/>
        </p:spPr>
        <p:txBody>
          <a:bodyPr wrap="none" lIns="0" rIns="0" tIns="0" bIns="0" anchor="ctr">
            <a:spAutoFit/>
          </a:bodyPr>
          <a:lstStyle/>
          <a:p>
            <a:pPr algn="r"/>
            <a:r>
              <a:rPr sz="800" b="1">
                <a:solidFill>
                  <a:srgbClr val="5B6B82"/>
                </a:solidFill>
              </a:rPr>
              <a:t>NOT YET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AlphaQ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AlphaQ: Case B, The Data Moat (Round 1, version 4)</dc:title>
  <dc:subject>PptxGenJS Presentation</dc:subject>
  <dc:creator>AlphaQ</dc:creator>
  <cp:lastModifiedBy>AlphaQ</cp:lastModifiedBy>
  <cp:revision>1</cp:revision>
  <dcterms:created xsi:type="dcterms:W3CDTF">2026-10-23T09:17:59Z</dcterms:created>
  <dcterms:modified xsi:type="dcterms:W3CDTF">2026-10-23T09:17:59Z</dcterms:modified>
</cp:coreProperties>
</file>