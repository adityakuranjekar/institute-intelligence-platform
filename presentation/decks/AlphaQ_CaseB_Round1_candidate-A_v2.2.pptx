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b2fb3f7-9c24-48b7-6dc0-60179cd57e60}">
          <p14:sldIdLst>
            <p14:sldId id="256"/>
          </p14:sldIdLst>
        </p14:section>
        <p14:section name="Summary" id="{3e694d67-e77f-0990-f2bb-26c568ca0cdc}">
          <p14:sldIdLst>
            <p14:sldId id="257"/>
          </p14:sldIdLst>
        </p14:section>
        <p14:section name="Problem" id="{8deaaec0-6457-6f74-a6aa-631ad4539707}">
          <p14:sldIdLst>
            <p14:sldId id="258"/>
            <p14:sldId id="259"/>
          </p14:sldIdLst>
        </p14:section>
        <p14:section name="Technology" id="{b9fa3d87-7fc6-4522-4530-719f7f6ccbdf}">
          <p14:sldIdLst>
            <p14:sldId id="260"/>
            <p14:sldId id="262"/>
            <p14:sldId id="263"/>
            <p14:sldId id="264"/>
          </p14:sldIdLst>
        </p14:section>
        <p14:section name="Product" id="{ed89d863-0bb2-af07-1002-dda1c58b63f3}">
          <p14:sldIdLst>
            <p14:sldId id="261"/>
          </p14:sldIdLst>
        </p14:section>
        <p14:section name="Trust" id="{bde46e13-70b2-e897-78c4-1d4344fd08e4}">
          <p14:sldIdLst>
            <p14:sldId id="265"/>
          </p14:sldIdLst>
        </p14:section>
        <p14:section name="Business" id="{c00ebb4b-b403-52ef-ada7-fe30c3d5829a}">
          <p14:sldIdLst>
            <p14:sldId id="266"/>
            <p14:sldId id="267"/>
          </p14:sldIdLst>
        </p14:section>
        <p14:section name="The Ask" id="{de97bac2-20dc-a189-e817-adf135826fe6}">
          <p14:sldIdLst>
            <p14:sldId id="268"/>
          </p14:sldIdLst>
        </p14:section>
        <p14:section name="Appendix" id="{c31e7848-56ee-bca8-7cc6-0b938cb9a201}">
          <p14:sldIdLst>
            <p14:sldId id="269"/>
            <p14:sldId id="270"/>
            <p14:sldId id="271"/>
            <p14:sldId id="272"/>
            <p14:sldId id="273"/>
            <p14:sldId id="274"/>
            <p14:sldId id="275"/>
            <p14:sldId id="276"/>
          </p14:sldIdLst>
        </p14:section>
        <p14:section name="Closing" id="{ecc710b9-d9e7-cada-46d2-064228d5f903}">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0.76 is the next-answer AUC on ASSISTments 2009 (published DKT 0.754). Two public datasets: ASSISTments 2009 and OULAD. 3.6 rupees is the all-in cost per student per month from the financial model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All criteriaThe loop in plain English with the technical names as secondary labels. Each step statement is eight words or fewer.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Problem framingThe 8-15 percent dropout, 36,000 rupee loss per leaver and 17.3 lakh total are the guide's illustrative baselines (400 x 12 % x 36,000). Market numbers are in financial/research/R7_market_check.md.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Feasibility and business realismFour of the six assumptions tested in the guide. Effective dropout reduction 4.0 % in the v1.1 model against the guide's 25 %. Our OULAD day-28 AUC is 0.706 on a strict student-grouped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Architecture and engineeringLayered view of the architecture. Keywords in brackets are the technical names for judges: IRT, LightGBM, conformal prediction, row-level security. Local-first: one laptop or one small server per deployment, no paid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Architecture and productProduct view. 1 is the scan screen, 2 the topic heatmap in the web console, 3 the mentor's weekly list, 4 the parent report in Hindi. The week strip shows the operating rhythm.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Data science, ML and AI rigourPlain-English headline with technical names as secondary labels. The three pending gates (difficulty recovery, wrong-key detection, mastery vs raw percent correct) come from Agent B and must be filled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Data science, ML and AI rigour; privacyJourney on top, public-data evidence bottom-left (shrunk), compliance matrix on the right. Locks denote data walls. About a quarter of dropouts are sudden and cannot be predicted from academic data;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Data science, ML and AI rigour; GenAI guardrailsMock-ups: student profile with the narrowing percentile range, and the Hindi/English parent report. Do not quote a verifier catch rate until the independent adversarial test passes after the E2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Feasibility, privacy and safetyCentral lockbox: raw data stays in the institute's own environment; only item difficulty statistics reach a shared bank. We are the data processor; the institute is the data fiduciary. A lawyer's check on the in-person ID flow is still recommended.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Revenue model and unit economicsv1.1 numbers: LTV/CAC 3.6x discounted (4.8x undiscounted), payback 5.7 months simple, margin 78 %. Return 1.7x with admissions counted, 0.55x on hard benefits (fees plus staff time), 0.35x fees only. Cost stack from the COGS build at Base inputs: WhatsApp 0.8 plus platform fee 0.2, compute 0.8, AI reports 0.7, servers 0.5, compliance 0.5, consent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Market and go-to-market; moatYear 3 Base: 58 paying institutes, revenue 65.3 lakh, EBITDA 11.9 lakh, break-even month 16, funding need 45 lakh. Channel partners give LTV/CAC 3.4x for small institutes against 1.5x by field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Feasibility; honest limitsThe ask is concrete and falsifiable. Funding of 45 lakh and break-even in month 16 are Base outputs of the v1.1 projection; Bear needs 1 crore and does not break even within 36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Revenue model and unit economics: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Revenue model; three-year projection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Data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Legal basis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Validation plan and model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Problem statement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Source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Market and go-to-marketMap: state outlines from a public GeoJSON (datameet-style, orientation only, not an official boundary). Bubble size is our qualitative estimate of coaching density (Kota, Patna highest). State figures are our allocation of the R7 total (Bihar and UP by population, Rajasthan, MP and Jharkhand 40/40/20 of the extension) and must be called an assumption. Chains: Allen opened in Patna and announced six more Bihar cities (R7).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Mandatory disclosure (Problem Statement, rule 2). Keep this as the last slide of the submitted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638544"/>
            <a:ext cx="12191695" cy="219456"/>
          </a:xfrm>
          <a:prstGeom prst="rect">
            <a:avLst/>
          </a:prstGeom>
          <a:solidFill>
            <a:srgbClr val="1F4A82"/>
          </a:solidFill>
          <a:ln/>
        </p:spPr>
      </p:sp>
      <p:sp>
        <p:nvSpPr>
          <p:cNvPr id="3" name="Text 1"/>
          <p:cNvSpPr/>
          <p:nvPr/>
        </p:nvSpPr>
        <p:spPr>
          <a:xfrm>
            <a:off x="411480" y="6638544"/>
            <a:ext cx="182880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AlphaQ</a:t>
            </a:r>
            <a:endParaRPr lang="en-US" sz="1000" dirty="0"/>
          </a:p>
        </p:txBody>
      </p:sp>
      <p:sp>
        <p:nvSpPr>
          <p:cNvPr id="4" name="Text 2"/>
          <p:cNvSpPr/>
          <p:nvPr/>
        </p:nvSpPr>
        <p:spPr>
          <a:xfrm>
            <a:off x="3291840" y="6638544"/>
            <a:ext cx="5577840" cy="219456"/>
          </a:xfrm>
          <a:prstGeom prst="rect">
            <a:avLst/>
          </a:prstGeom>
          <a:noFill/>
          <a:ln/>
        </p:spPr>
        <p:txBody>
          <a:bodyPr wrap="square" lIns="0" tIns="0" rIns="0" bIns="0" rtlCol="0" anchor="ctr"/>
          <a:lstStyle/>
          <a:p>
            <a:pPr algn="ctr" indent="0" marL="0">
              <a:buNone/>
            </a:pPr>
            <a:r>
              <a:rPr lang="en-US" sz="950" dirty="0">
                <a:solidFill>
                  <a:srgbClr val="C9DBF0"/>
                </a:solidFill>
                <a:latin typeface="Calibri" pitchFamily="34" charset="0"/>
                <a:ea typeface="Calibri" pitchFamily="34" charset="-122"/>
                <a:cs typeface="Calibri" pitchFamily="34" charset="-120"/>
              </a:rPr>
              <a:t>Pragati  ·  Case B: The Data Moat  ·  Round 1</a:t>
            </a:r>
            <a:endParaRPr lang="en-US" sz="950" dirty="0"/>
          </a:p>
        </p:txBody>
      </p:sp>
      <p:sp>
        <p:nvSpPr>
          <p:cNvPr id="5" name="Text 3"/>
          <p:cNvSpPr/>
          <p:nvPr>
            <p:ph idx="103" type="title" hasCustomPrompt="1"/>
          </p:nvPr>
        </p:nvSpPr>
        <p:spPr>
          <a:xfrm>
            <a:off x="411480" y="347472"/>
            <a:ext cx="10972800" cy="384048"/>
          </a:xfrm>
          <a:prstGeom prst="rect">
            <a:avLst/>
          </a:prstGeom>
          <a:noFill/>
          <a:ln/>
        </p:spPr>
        <p:txBody>
          <a:bodyPr wrap="square" rtlCol="0"/>
          <a:lstStyle>
            <a:lvl1pPr algn="l" indent="0" marL="0">
              <a:buNone/>
              <a:defRPr lang="en-US" sz="2200" b="1" dirty="0">
                <a:solidFill>
                  <a:srgbClr val="1F4A82"/>
                </a:solidFill>
                <a:latin typeface="Calibri" pitchFamily="34" charset="0"/>
                <a:ea typeface="Calibri" pitchFamily="34" charset="-122"/>
                <a:cs typeface="Calibri" pitchFamily="34" charset="-120"/>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ULL">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F4A82"/>
          </a:solidFill>
          <a:ln/>
        </p:spPr>
      </p:sp>
      <p:sp>
        <p:nvSpPr>
          <p:cNvPr id="3" name="Text 1"/>
          <p:cNvSpPr/>
          <p:nvPr>
            <p:ph idx="101" type="title" hasCustomPrompt="1"/>
          </p:nvPr>
        </p:nvSpPr>
        <p:spPr>
          <a:xfrm>
            <a:off x="411480" y="274320"/>
            <a:ext cx="10972800" cy="548640"/>
          </a:xfrm>
          <a:prstGeom prst="rect">
            <a:avLst/>
          </a:prstGeom>
          <a:noFill/>
          <a:ln/>
        </p:spPr>
        <p:txBody>
          <a:bodyPr wrap="square" rtlCol="0"/>
          <a:lstStyle>
            <a:lvl1pPr algn="l" indent="0" marL="0">
              <a:buNone/>
              <a:defRPr lang="en-US" sz="2800" b="1" dirty="0">
                <a:solidFill>
                  <a:srgbClr val="1F4A82"/>
                </a:solidFill>
                <a:latin typeface="Calibri" pitchFamily="34" charset="0"/>
                <a:ea typeface="Calibri" pitchFamily="34" charset="-122"/>
                <a:cs typeface="Calibri" pitchFamily="34" charset="-120"/>
              </a:defRPr>
            </a:lvl1pPr>
          </a:lstStyle>
          <a:p>
            <a:pPr algn="l" indent="0" marL="0">
              <a:buNone/>
            </a:pPr>
            <a:endParaRPr lang="en-US" sz="2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F4A82"/>
          </a:solidFill>
          <a:ln/>
        </p:spPr>
      </p:sp>
      <p:sp>
        <p:nvSpPr>
          <p:cNvPr id="3" name="Text 1"/>
          <p:cNvSpPr/>
          <p:nvPr>
            <p:ph idx="101" type="title" hasCustomPrompt="1"/>
          </p:nvPr>
        </p:nvSpPr>
        <p:spPr>
          <a:xfrm>
            <a:off x="411480" y="1051560"/>
            <a:ext cx="5669280" cy="1097280"/>
          </a:xfrm>
          <a:prstGeom prst="rect">
            <a:avLst/>
          </a:prstGeom>
          <a:noFill/>
          <a:ln/>
        </p:spPr>
        <p:txBody>
          <a:bodyPr wrap="square" rtlCol="0"/>
          <a:lstStyle>
            <a:lvl1pPr algn="l" indent="0" marL="0">
              <a:buNone/>
              <a:defRPr lang="en-US" sz="6000" b="1" dirty="0">
                <a:solidFill>
                  <a:srgbClr val="1F4A82"/>
                </a:solidFill>
                <a:latin typeface="Calibri" pitchFamily="34" charset="0"/>
                <a:ea typeface="Calibri" pitchFamily="34" charset="-122"/>
                <a:cs typeface="Calibri" pitchFamily="34" charset="-120"/>
              </a:defRPr>
            </a:lvl1pPr>
          </a:lstStyle>
          <a:p>
            <a:pPr algn="l" indent="0" marL="0">
              <a:buNone/>
            </a:pPr>
            <a:endParaRPr lang="en-US" sz="6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slideLayout" Target="../slideLayouts/slideLayout2.xml"/><Relationship Id="rId2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slideLayout" Target="../slideLayouts/slideLayout2.xml"/><Relationship Id="rId1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image" Target="../media/image-4-20.png"/><Relationship Id="rId21" Type="http://schemas.openxmlformats.org/officeDocument/2006/relationships/image" Target="../media/image-4-21.png"/><Relationship Id="rId22" Type="http://schemas.openxmlformats.org/officeDocument/2006/relationships/slideLayout" Target="../slideLayouts/slideLayout2.xml"/><Relationship Id="rId2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2.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slideLayout" Target="../slideLayouts/slideLayout2.xml"/><Relationship Id="rId1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2.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image" Target="../media/image-8-21.png"/><Relationship Id="rId22" Type="http://schemas.openxmlformats.org/officeDocument/2006/relationships/image" Target="../media/image-8-22.png"/><Relationship Id="rId23" Type="http://schemas.openxmlformats.org/officeDocument/2006/relationships/image" Target="../media/image-8-23.png"/><Relationship Id="rId24" Type="http://schemas.openxmlformats.org/officeDocument/2006/relationships/image" Target="../media/image-8-24.png"/><Relationship Id="rId25" Type="http://schemas.openxmlformats.org/officeDocument/2006/relationships/image" Target="../media/image-8-25.png"/><Relationship Id="rId26" Type="http://schemas.openxmlformats.org/officeDocument/2006/relationships/image" Target="../media/image-8-26.png"/><Relationship Id="rId27" Type="http://schemas.openxmlformats.org/officeDocument/2006/relationships/image" Target="../media/image-8-27.png"/><Relationship Id="rId28" Type="http://schemas.openxmlformats.org/officeDocument/2006/relationships/slideLayout" Target="../slideLayouts/slideLayout2.xml"/><Relationship Id="rId2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2.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slideLayout" Target="../slideLayouts/slideLayout2.xml"/><Relationship Id="rId1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slideLayout" Target="../slideLayouts/slideLayout2.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2.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slideLayout" Target="../slideLayouts/slideLayout2.xml"/><Relationship Id="rId1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2.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2.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2.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2.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2.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2.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2.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slideLayout" Target="../slideLayouts/slideLayout2.xml"/><Relationship Id="rId1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11480" y="502920"/>
            <a:ext cx="6400800" cy="274320"/>
          </a:xfrm>
          <a:prstGeom prst="rect">
            <a:avLst/>
          </a:prstGeom>
          <a:noFill/>
          <a:ln/>
        </p:spPr>
        <p:txBody>
          <a:bodyPr wrap="square" lIns="0" tIns="0" rIns="0" bIns="0" rtlCol="0" anchor="t"/>
          <a:lstStyle/>
          <a:p>
            <a:pPr algn="l" indent="0" marL="0">
              <a:buNone/>
            </a:pPr>
            <a:r>
              <a:rPr lang="en-US" sz="1150" b="1" spc="200" kern="0" dirty="0">
                <a:solidFill>
                  <a:srgbClr val="2E6DB4"/>
                </a:solidFill>
                <a:latin typeface="Calibri" pitchFamily="34" charset="0"/>
                <a:ea typeface="Calibri" pitchFamily="34" charset="-122"/>
                <a:cs typeface="Calibri" pitchFamily="34" charset="-120"/>
              </a:rPr>
              <a:t>CASE B  ·  NEXTUTE × FINANCE CLUB, IIT PATNA</a:t>
            </a:r>
            <a:endParaRPr lang="en-US" sz="1150" dirty="0"/>
          </a:p>
        </p:txBody>
      </p:sp>
      <p:sp>
        <p:nvSpPr>
          <p:cNvPr id="3" name="Text 1"/>
          <p:cNvSpPr/>
          <p:nvPr>
            <p:ph idx="101" type="title" hasCustomPrompt="1"/>
          </p:nvPr>
        </p:nvSpPr>
        <p:spPr>
          <a:xfrm>
            <a:off x="411480" y="1051560"/>
            <a:ext cx="5669280" cy="1097280"/>
          </a:xfrm>
          <a:prstGeom prst="rect">
            <a:avLst/>
          </a:prstGeom>
          <a:noFill/>
          <a:ln/>
        </p:spPr>
        <p:txBody>
          <a:bodyPr wrap="square" lIns="0" tIns="0" rIns="0" bIns="0" rtlCol="0" anchor="ctr"/>
          <a:lstStyle/>
          <a:p>
            <a:pPr algn="l" indent="0" marL="0">
              <a:buNone/>
            </a:pPr>
            <a:r>
              <a:rPr lang="en-US" sz="6000" b="1" dirty="0">
                <a:solidFill>
                  <a:srgbClr val="1F4A82"/>
                </a:solidFill>
                <a:latin typeface="Calibri" pitchFamily="34" charset="0"/>
                <a:ea typeface="Calibri" pitchFamily="34" charset="-122"/>
                <a:cs typeface="Calibri" pitchFamily="34" charset="-120"/>
              </a:rPr>
              <a:t>PRAGATI</a:t>
            </a:r>
            <a:endParaRPr lang="en-US" sz="6000" dirty="0"/>
          </a:p>
        </p:txBody>
      </p:sp>
      <p:sp>
        <p:nvSpPr>
          <p:cNvPr id="4" name="Text 2"/>
          <p:cNvSpPr txBox="1"/>
          <p:nvPr/>
        </p:nvSpPr>
        <p:spPr>
          <a:xfrm>
            <a:off x="411480" y="2148840"/>
            <a:ext cx="5486400" cy="502920"/>
          </a:xfrm>
          <a:prstGeom prst="rect">
            <a:avLst/>
          </a:prstGeom>
          <a:noFill/>
          <a:ln/>
        </p:spPr>
        <p:txBody>
          <a:bodyPr wrap="square" lIns="0" tIns="0" rIns="0" bIns="0" rtlCol="0" anchor="t"/>
          <a:lstStyle/>
          <a:p>
            <a:pPr algn="l" indent="0" marL="0">
              <a:buNone/>
            </a:pPr>
            <a:r>
              <a:rPr lang="en-US" sz="3000" b="1" dirty="0">
                <a:solidFill>
                  <a:srgbClr val="2E6DB4"/>
                </a:solidFill>
                <a:latin typeface="Calibri" pitchFamily="34" charset="0"/>
                <a:ea typeface="Calibri" pitchFamily="34" charset="-122"/>
                <a:cs typeface="Calibri" pitchFamily="34" charset="-120"/>
              </a:rPr>
              <a:t>The Data Moat</a:t>
            </a:r>
            <a:endParaRPr lang="en-US" sz="3000" dirty="0"/>
          </a:p>
        </p:txBody>
      </p:sp>
      <p:sp>
        <p:nvSpPr>
          <p:cNvPr id="5" name="Shape 3"/>
          <p:cNvSpPr/>
          <p:nvPr/>
        </p:nvSpPr>
        <p:spPr>
          <a:xfrm>
            <a:off x="411480" y="2743200"/>
            <a:ext cx="1097280" cy="45720"/>
          </a:xfrm>
          <a:prstGeom prst="rect">
            <a:avLst/>
          </a:prstGeom>
          <a:solidFill>
            <a:srgbClr val="1F4A82"/>
          </a:solidFill>
          <a:ln/>
        </p:spPr>
      </p:sp>
      <p:sp>
        <p:nvSpPr>
          <p:cNvPr id="6" name="Text 4"/>
          <p:cNvSpPr txBox="1"/>
          <p:nvPr/>
        </p:nvSpPr>
        <p:spPr>
          <a:xfrm>
            <a:off x="411480" y="2926080"/>
            <a:ext cx="5120640" cy="822960"/>
          </a:xfrm>
          <a:prstGeom prst="rect">
            <a:avLst/>
          </a:prstGeom>
          <a:noFill/>
          <a:ln/>
        </p:spPr>
        <p:txBody>
          <a:bodyPr wrap="square" lIns="0" tIns="0" rIns="0" bIns="0" rtlCol="0" anchor="t"/>
          <a:lstStyle/>
          <a:p>
            <a:pPr algn="l" indent="0" marL="0">
              <a:buNone/>
            </a:pPr>
            <a:r>
              <a:rPr lang="en-US" sz="1900" dirty="0">
                <a:solidFill>
                  <a:srgbClr val="1F2937"/>
                </a:solidFill>
                <a:latin typeface="Calibri" pitchFamily="34" charset="0"/>
                <a:ea typeface="Calibri" pitchFamily="34" charset="-122"/>
                <a:cs typeface="Calibri" pitchFamily="34" charset="-120"/>
              </a:rPr>
              <a:t>Every student's weak topics, found before the exam.</a:t>
            </a:r>
            <a:endParaRPr lang="en-US" sz="1900" dirty="0"/>
          </a:p>
        </p:txBody>
      </p:sp>
      <p:sp>
        <p:nvSpPr>
          <p:cNvPr id="7" name="Text 5"/>
          <p:cNvSpPr txBox="1"/>
          <p:nvPr/>
        </p:nvSpPr>
        <p:spPr>
          <a:xfrm>
            <a:off x="411480" y="3977640"/>
            <a:ext cx="4572000" cy="274320"/>
          </a:xfrm>
          <a:prstGeom prst="rect">
            <a:avLst/>
          </a:prstGeom>
          <a:noFill/>
          <a:ln/>
        </p:spPr>
        <p:txBody>
          <a:bodyPr wrap="square" lIns="0" tIns="0" rIns="0" bIns="0" rtlCol="0" anchor="t"/>
          <a:lstStyle/>
          <a:p>
            <a:pPr algn="l" indent="0" marL="0">
              <a:buNone/>
            </a:pPr>
            <a:r>
              <a:rPr lang="en-US" sz="1150" dirty="0">
                <a:solidFill>
                  <a:srgbClr val="5B6573"/>
                </a:solidFill>
                <a:latin typeface="Calibri" pitchFamily="34" charset="0"/>
                <a:ea typeface="Calibri" pitchFamily="34" charset="-122"/>
                <a:cs typeface="Calibri" pitchFamily="34" charset="-120"/>
              </a:rPr>
              <a:t>Team AlphaQ  ·  Round 1</a:t>
            </a:r>
            <a:endParaRPr lang="en-US" sz="1150" dirty="0"/>
          </a:p>
        </p:txBody>
      </p:sp>
      <p:sp>
        <p:nvSpPr>
          <p:cNvPr id="8" name="Shape 6"/>
          <p:cNvSpPr/>
          <p:nvPr/>
        </p:nvSpPr>
        <p:spPr>
          <a:xfrm>
            <a:off x="6578841" y="3609344"/>
            <a:ext cx="922647" cy="43168"/>
          </a:xfrm>
          <a:prstGeom prst="line">
            <a:avLst/>
          </a:prstGeom>
          <a:noFill/>
          <a:ln w="11430">
            <a:solidFill>
              <a:srgbClr val="B9CBE4"/>
            </a:solidFill>
            <a:prstDash val="solid"/>
          </a:ln>
        </p:spPr>
      </p:sp>
      <p:sp>
        <p:nvSpPr>
          <p:cNvPr id="9" name="Shape 7"/>
          <p:cNvSpPr/>
          <p:nvPr/>
        </p:nvSpPr>
        <p:spPr>
          <a:xfrm flipH="1" flipV="1">
            <a:off x="6111137" y="3424650"/>
            <a:ext cx="467704" cy="184694"/>
          </a:xfrm>
          <a:prstGeom prst="line">
            <a:avLst/>
          </a:prstGeom>
          <a:noFill/>
          <a:ln w="11430">
            <a:solidFill>
              <a:srgbClr val="B9CBE4"/>
            </a:solidFill>
            <a:prstDash val="solid"/>
          </a:ln>
        </p:spPr>
      </p:sp>
      <p:sp>
        <p:nvSpPr>
          <p:cNvPr id="10" name="Shape 8"/>
          <p:cNvSpPr/>
          <p:nvPr/>
        </p:nvSpPr>
        <p:spPr>
          <a:xfrm flipH="1">
            <a:off x="6159140" y="3609344"/>
            <a:ext cx="419702" cy="225448"/>
          </a:xfrm>
          <a:prstGeom prst="line">
            <a:avLst/>
          </a:prstGeom>
          <a:noFill/>
          <a:ln w="11430">
            <a:solidFill>
              <a:srgbClr val="B9CBE4"/>
            </a:solidFill>
            <a:prstDash val="solid"/>
          </a:ln>
        </p:spPr>
      </p:sp>
      <p:sp>
        <p:nvSpPr>
          <p:cNvPr id="11" name="Shape 9"/>
          <p:cNvSpPr/>
          <p:nvPr/>
        </p:nvSpPr>
        <p:spPr>
          <a:xfrm flipV="1">
            <a:off x="6578841" y="3173846"/>
            <a:ext cx="904240" cy="435497"/>
          </a:xfrm>
          <a:prstGeom prst="line">
            <a:avLst/>
          </a:prstGeom>
          <a:noFill/>
          <a:ln w="11430">
            <a:solidFill>
              <a:srgbClr val="B9CBE4"/>
            </a:solidFill>
            <a:prstDash val="solid"/>
          </a:ln>
        </p:spPr>
      </p:sp>
      <p:sp>
        <p:nvSpPr>
          <p:cNvPr id="12" name="Shape 10"/>
          <p:cNvSpPr/>
          <p:nvPr/>
        </p:nvSpPr>
        <p:spPr>
          <a:xfrm flipV="1">
            <a:off x="6578841" y="3413000"/>
            <a:ext cx="580995" cy="196344"/>
          </a:xfrm>
          <a:prstGeom prst="line">
            <a:avLst/>
          </a:prstGeom>
          <a:noFill/>
          <a:ln w="11430">
            <a:solidFill>
              <a:srgbClr val="B9CBE4"/>
            </a:solidFill>
            <a:prstDash val="solid"/>
          </a:ln>
        </p:spPr>
      </p:sp>
      <p:sp>
        <p:nvSpPr>
          <p:cNvPr id="13" name="Shape 11"/>
          <p:cNvSpPr/>
          <p:nvPr/>
        </p:nvSpPr>
        <p:spPr>
          <a:xfrm flipH="1" flipV="1">
            <a:off x="6216312" y="3083339"/>
            <a:ext cx="362529" cy="526005"/>
          </a:xfrm>
          <a:prstGeom prst="line">
            <a:avLst/>
          </a:prstGeom>
          <a:noFill/>
          <a:ln w="11430">
            <a:solidFill>
              <a:srgbClr val="B9CBE4"/>
            </a:solidFill>
            <a:prstDash val="solid"/>
          </a:ln>
        </p:spPr>
      </p:sp>
      <p:sp>
        <p:nvSpPr>
          <p:cNvPr id="14" name="Shape 12"/>
          <p:cNvSpPr/>
          <p:nvPr/>
        </p:nvSpPr>
        <p:spPr>
          <a:xfrm flipH="1">
            <a:off x="6430877" y="3609344"/>
            <a:ext cx="147964" cy="218492"/>
          </a:xfrm>
          <a:prstGeom prst="line">
            <a:avLst/>
          </a:prstGeom>
          <a:noFill/>
          <a:ln w="11430">
            <a:solidFill>
              <a:srgbClr val="B9CBE4"/>
            </a:solidFill>
            <a:prstDash val="solid"/>
          </a:ln>
        </p:spPr>
      </p:sp>
      <p:sp>
        <p:nvSpPr>
          <p:cNvPr id="15" name="Shape 13"/>
          <p:cNvSpPr/>
          <p:nvPr/>
        </p:nvSpPr>
        <p:spPr>
          <a:xfrm flipH="1" flipV="1">
            <a:off x="6270835" y="2675157"/>
            <a:ext cx="308006" cy="934187"/>
          </a:xfrm>
          <a:prstGeom prst="line">
            <a:avLst/>
          </a:prstGeom>
          <a:noFill/>
          <a:ln w="11430">
            <a:solidFill>
              <a:srgbClr val="B9CBE4"/>
            </a:solidFill>
            <a:prstDash val="solid"/>
          </a:ln>
        </p:spPr>
      </p:sp>
      <p:sp>
        <p:nvSpPr>
          <p:cNvPr id="16" name="Shape 14"/>
          <p:cNvSpPr/>
          <p:nvPr/>
        </p:nvSpPr>
        <p:spPr>
          <a:xfrm flipH="1" flipV="1">
            <a:off x="7483081" y="3173846"/>
            <a:ext cx="18407" cy="478665"/>
          </a:xfrm>
          <a:prstGeom prst="line">
            <a:avLst/>
          </a:prstGeom>
          <a:noFill/>
          <a:ln w="11430">
            <a:solidFill>
              <a:srgbClr val="B9CBE4"/>
            </a:solidFill>
            <a:prstDash val="solid"/>
          </a:ln>
        </p:spPr>
      </p:sp>
      <p:sp>
        <p:nvSpPr>
          <p:cNvPr id="17" name="Shape 15"/>
          <p:cNvSpPr/>
          <p:nvPr/>
        </p:nvSpPr>
        <p:spPr>
          <a:xfrm flipH="1" flipV="1">
            <a:off x="7159836" y="3413000"/>
            <a:ext cx="341653" cy="239511"/>
          </a:xfrm>
          <a:prstGeom prst="line">
            <a:avLst/>
          </a:prstGeom>
          <a:noFill/>
          <a:ln w="11430">
            <a:solidFill>
              <a:srgbClr val="B9CBE4"/>
            </a:solidFill>
            <a:prstDash val="solid"/>
          </a:ln>
        </p:spPr>
      </p:sp>
      <p:sp>
        <p:nvSpPr>
          <p:cNvPr id="18" name="Shape 16"/>
          <p:cNvSpPr/>
          <p:nvPr/>
        </p:nvSpPr>
        <p:spPr>
          <a:xfrm>
            <a:off x="6111137" y="3424650"/>
            <a:ext cx="48002" cy="410142"/>
          </a:xfrm>
          <a:prstGeom prst="line">
            <a:avLst/>
          </a:prstGeom>
          <a:noFill/>
          <a:ln w="11430">
            <a:solidFill>
              <a:srgbClr val="B9CBE4"/>
            </a:solidFill>
            <a:prstDash val="solid"/>
          </a:ln>
        </p:spPr>
      </p:sp>
      <p:sp>
        <p:nvSpPr>
          <p:cNvPr id="19" name="Shape 17"/>
          <p:cNvSpPr/>
          <p:nvPr/>
        </p:nvSpPr>
        <p:spPr>
          <a:xfrm flipV="1">
            <a:off x="6111137" y="3413000"/>
            <a:ext cx="1048698" cy="11650"/>
          </a:xfrm>
          <a:prstGeom prst="line">
            <a:avLst/>
          </a:prstGeom>
          <a:noFill/>
          <a:ln w="11430">
            <a:solidFill>
              <a:srgbClr val="B9CBE4"/>
            </a:solidFill>
            <a:prstDash val="solid"/>
          </a:ln>
        </p:spPr>
      </p:sp>
      <p:sp>
        <p:nvSpPr>
          <p:cNvPr id="20" name="Shape 18"/>
          <p:cNvSpPr/>
          <p:nvPr/>
        </p:nvSpPr>
        <p:spPr>
          <a:xfrm flipV="1">
            <a:off x="6111137" y="3083339"/>
            <a:ext cx="105174" cy="341311"/>
          </a:xfrm>
          <a:prstGeom prst="line">
            <a:avLst/>
          </a:prstGeom>
          <a:noFill/>
          <a:ln w="11430">
            <a:solidFill>
              <a:srgbClr val="B9CBE4"/>
            </a:solidFill>
            <a:prstDash val="solid"/>
          </a:ln>
        </p:spPr>
      </p:sp>
      <p:sp>
        <p:nvSpPr>
          <p:cNvPr id="21" name="Shape 19"/>
          <p:cNvSpPr/>
          <p:nvPr/>
        </p:nvSpPr>
        <p:spPr>
          <a:xfrm>
            <a:off x="6111137" y="3424650"/>
            <a:ext cx="319739" cy="403186"/>
          </a:xfrm>
          <a:prstGeom prst="line">
            <a:avLst/>
          </a:prstGeom>
          <a:noFill/>
          <a:ln w="11430">
            <a:solidFill>
              <a:srgbClr val="B9CBE4"/>
            </a:solidFill>
            <a:prstDash val="solid"/>
          </a:ln>
        </p:spPr>
      </p:sp>
      <p:sp>
        <p:nvSpPr>
          <p:cNvPr id="22" name="Shape 20"/>
          <p:cNvSpPr/>
          <p:nvPr/>
        </p:nvSpPr>
        <p:spPr>
          <a:xfrm flipV="1">
            <a:off x="6111137" y="2675157"/>
            <a:ext cx="159698" cy="749493"/>
          </a:xfrm>
          <a:prstGeom prst="line">
            <a:avLst/>
          </a:prstGeom>
          <a:noFill/>
          <a:ln w="11430">
            <a:solidFill>
              <a:srgbClr val="B9CBE4"/>
            </a:solidFill>
            <a:prstDash val="solid"/>
          </a:ln>
        </p:spPr>
      </p:sp>
      <p:sp>
        <p:nvSpPr>
          <p:cNvPr id="23" name="Shape 21"/>
          <p:cNvSpPr/>
          <p:nvPr/>
        </p:nvSpPr>
        <p:spPr>
          <a:xfrm>
            <a:off x="6880549" y="855762"/>
            <a:ext cx="235379" cy="175707"/>
          </a:xfrm>
          <a:prstGeom prst="line">
            <a:avLst/>
          </a:prstGeom>
          <a:noFill/>
          <a:ln w="11430">
            <a:solidFill>
              <a:srgbClr val="B9CBE4"/>
            </a:solidFill>
            <a:prstDash val="solid"/>
          </a:ln>
        </p:spPr>
      </p:sp>
      <p:sp>
        <p:nvSpPr>
          <p:cNvPr id="24" name="Shape 22"/>
          <p:cNvSpPr/>
          <p:nvPr/>
        </p:nvSpPr>
        <p:spPr>
          <a:xfrm flipV="1">
            <a:off x="6159140" y="3083339"/>
            <a:ext cx="57172" cy="751453"/>
          </a:xfrm>
          <a:prstGeom prst="line">
            <a:avLst/>
          </a:prstGeom>
          <a:noFill/>
          <a:ln w="11430">
            <a:solidFill>
              <a:srgbClr val="B9CBE4"/>
            </a:solidFill>
            <a:prstDash val="solid"/>
          </a:ln>
        </p:spPr>
      </p:sp>
      <p:sp>
        <p:nvSpPr>
          <p:cNvPr id="25" name="Shape 23"/>
          <p:cNvSpPr/>
          <p:nvPr/>
        </p:nvSpPr>
        <p:spPr>
          <a:xfrm flipV="1">
            <a:off x="6159140" y="3827836"/>
            <a:ext cx="271737" cy="6956"/>
          </a:xfrm>
          <a:prstGeom prst="line">
            <a:avLst/>
          </a:prstGeom>
          <a:noFill/>
          <a:ln w="11430">
            <a:solidFill>
              <a:srgbClr val="B9CBE4"/>
            </a:solidFill>
            <a:prstDash val="solid"/>
          </a:ln>
        </p:spPr>
      </p:sp>
      <p:sp>
        <p:nvSpPr>
          <p:cNvPr id="26" name="Shape 24"/>
          <p:cNvSpPr/>
          <p:nvPr/>
        </p:nvSpPr>
        <p:spPr>
          <a:xfrm flipH="1" flipV="1">
            <a:off x="7914583" y="2023815"/>
            <a:ext cx="476476" cy="362200"/>
          </a:xfrm>
          <a:prstGeom prst="line">
            <a:avLst/>
          </a:prstGeom>
          <a:noFill/>
          <a:ln w="11430">
            <a:solidFill>
              <a:srgbClr val="B9CBE4"/>
            </a:solidFill>
            <a:prstDash val="solid"/>
          </a:ln>
        </p:spPr>
      </p:sp>
      <p:sp>
        <p:nvSpPr>
          <p:cNvPr id="27" name="Shape 25"/>
          <p:cNvSpPr/>
          <p:nvPr/>
        </p:nvSpPr>
        <p:spPr>
          <a:xfrm flipH="1" flipV="1">
            <a:off x="8048863" y="1831905"/>
            <a:ext cx="342196" cy="554110"/>
          </a:xfrm>
          <a:prstGeom prst="line">
            <a:avLst/>
          </a:prstGeom>
          <a:noFill/>
          <a:ln w="11430">
            <a:solidFill>
              <a:srgbClr val="B9CBE4"/>
            </a:solidFill>
            <a:prstDash val="solid"/>
          </a:ln>
        </p:spPr>
      </p:sp>
      <p:sp>
        <p:nvSpPr>
          <p:cNvPr id="28" name="Shape 26"/>
          <p:cNvSpPr/>
          <p:nvPr/>
        </p:nvSpPr>
        <p:spPr>
          <a:xfrm>
            <a:off x="7104902" y="2439105"/>
            <a:ext cx="378179" cy="734741"/>
          </a:xfrm>
          <a:prstGeom prst="line">
            <a:avLst/>
          </a:prstGeom>
          <a:noFill/>
          <a:ln w="11430">
            <a:solidFill>
              <a:srgbClr val="B9CBE4"/>
            </a:solidFill>
            <a:prstDash val="solid"/>
          </a:ln>
        </p:spPr>
      </p:sp>
      <p:sp>
        <p:nvSpPr>
          <p:cNvPr id="29" name="Shape 27"/>
          <p:cNvSpPr/>
          <p:nvPr/>
        </p:nvSpPr>
        <p:spPr>
          <a:xfrm flipV="1">
            <a:off x="7104902" y="2023815"/>
            <a:ext cx="809681" cy="415290"/>
          </a:xfrm>
          <a:prstGeom prst="line">
            <a:avLst/>
          </a:prstGeom>
          <a:noFill/>
          <a:ln w="11430">
            <a:solidFill>
              <a:srgbClr val="B9CBE4"/>
            </a:solidFill>
            <a:prstDash val="solid"/>
          </a:ln>
        </p:spPr>
      </p:sp>
      <p:sp>
        <p:nvSpPr>
          <p:cNvPr id="30" name="Shape 28"/>
          <p:cNvSpPr/>
          <p:nvPr/>
        </p:nvSpPr>
        <p:spPr>
          <a:xfrm>
            <a:off x="7104902" y="2439105"/>
            <a:ext cx="54934" cy="973895"/>
          </a:xfrm>
          <a:prstGeom prst="line">
            <a:avLst/>
          </a:prstGeom>
          <a:noFill/>
          <a:ln w="11430">
            <a:solidFill>
              <a:srgbClr val="B9CBE4"/>
            </a:solidFill>
            <a:prstDash val="solid"/>
          </a:ln>
        </p:spPr>
      </p:sp>
      <p:sp>
        <p:nvSpPr>
          <p:cNvPr id="31" name="Shape 29"/>
          <p:cNvSpPr/>
          <p:nvPr/>
        </p:nvSpPr>
        <p:spPr>
          <a:xfrm flipH="1" flipV="1">
            <a:off x="6884200" y="2226816"/>
            <a:ext cx="220702" cy="212289"/>
          </a:xfrm>
          <a:prstGeom prst="line">
            <a:avLst/>
          </a:prstGeom>
          <a:noFill/>
          <a:ln w="11430">
            <a:solidFill>
              <a:srgbClr val="B9CBE4"/>
            </a:solidFill>
            <a:prstDash val="solid"/>
          </a:ln>
        </p:spPr>
      </p:sp>
      <p:sp>
        <p:nvSpPr>
          <p:cNvPr id="32" name="Shape 30"/>
          <p:cNvSpPr/>
          <p:nvPr/>
        </p:nvSpPr>
        <p:spPr>
          <a:xfrm flipH="1" flipV="1">
            <a:off x="6290687" y="2141271"/>
            <a:ext cx="814215" cy="297834"/>
          </a:xfrm>
          <a:prstGeom prst="line">
            <a:avLst/>
          </a:prstGeom>
          <a:noFill/>
          <a:ln w="11430">
            <a:solidFill>
              <a:srgbClr val="B9CBE4"/>
            </a:solidFill>
            <a:prstDash val="solid"/>
          </a:ln>
        </p:spPr>
      </p:sp>
      <p:sp>
        <p:nvSpPr>
          <p:cNvPr id="33" name="Shape 31"/>
          <p:cNvSpPr/>
          <p:nvPr/>
        </p:nvSpPr>
        <p:spPr>
          <a:xfrm flipH="1">
            <a:off x="6270835" y="2439105"/>
            <a:ext cx="834067" cy="236052"/>
          </a:xfrm>
          <a:prstGeom prst="line">
            <a:avLst/>
          </a:prstGeom>
          <a:noFill/>
          <a:ln w="11430">
            <a:solidFill>
              <a:srgbClr val="B9CBE4"/>
            </a:solidFill>
            <a:prstDash val="solid"/>
          </a:ln>
        </p:spPr>
      </p:sp>
      <p:sp>
        <p:nvSpPr>
          <p:cNvPr id="34" name="Shape 32"/>
          <p:cNvSpPr/>
          <p:nvPr/>
        </p:nvSpPr>
        <p:spPr>
          <a:xfrm flipH="1">
            <a:off x="7159836" y="3173846"/>
            <a:ext cx="323246" cy="239154"/>
          </a:xfrm>
          <a:prstGeom prst="line">
            <a:avLst/>
          </a:prstGeom>
          <a:noFill/>
          <a:ln w="11430">
            <a:solidFill>
              <a:srgbClr val="B9CBE4"/>
            </a:solidFill>
            <a:prstDash val="solid"/>
          </a:ln>
        </p:spPr>
      </p:sp>
      <p:sp>
        <p:nvSpPr>
          <p:cNvPr id="35" name="Shape 33"/>
          <p:cNvSpPr/>
          <p:nvPr/>
        </p:nvSpPr>
        <p:spPr>
          <a:xfrm flipH="1">
            <a:off x="6884200" y="2023815"/>
            <a:ext cx="1030383" cy="203001"/>
          </a:xfrm>
          <a:prstGeom prst="line">
            <a:avLst/>
          </a:prstGeom>
          <a:noFill/>
          <a:ln w="11430">
            <a:solidFill>
              <a:srgbClr val="B9CBE4"/>
            </a:solidFill>
            <a:prstDash val="solid"/>
          </a:ln>
        </p:spPr>
      </p:sp>
      <p:sp>
        <p:nvSpPr>
          <p:cNvPr id="36" name="Shape 34"/>
          <p:cNvSpPr/>
          <p:nvPr/>
        </p:nvSpPr>
        <p:spPr>
          <a:xfrm flipV="1">
            <a:off x="7914583" y="1831905"/>
            <a:ext cx="134280" cy="191910"/>
          </a:xfrm>
          <a:prstGeom prst="line">
            <a:avLst/>
          </a:prstGeom>
          <a:noFill/>
          <a:ln w="11430">
            <a:solidFill>
              <a:srgbClr val="B9CBE4"/>
            </a:solidFill>
            <a:prstDash val="solid"/>
          </a:ln>
        </p:spPr>
      </p:sp>
      <p:sp>
        <p:nvSpPr>
          <p:cNvPr id="37" name="Shape 35"/>
          <p:cNvSpPr/>
          <p:nvPr/>
        </p:nvSpPr>
        <p:spPr>
          <a:xfrm flipH="1" flipV="1">
            <a:off x="6216312" y="3083339"/>
            <a:ext cx="943524" cy="329661"/>
          </a:xfrm>
          <a:prstGeom prst="line">
            <a:avLst/>
          </a:prstGeom>
          <a:noFill/>
          <a:ln w="11430">
            <a:solidFill>
              <a:srgbClr val="B9CBE4"/>
            </a:solidFill>
            <a:prstDash val="solid"/>
          </a:ln>
        </p:spPr>
      </p:sp>
      <p:sp>
        <p:nvSpPr>
          <p:cNvPr id="38" name="Shape 36"/>
          <p:cNvSpPr/>
          <p:nvPr/>
        </p:nvSpPr>
        <p:spPr>
          <a:xfrm flipH="1">
            <a:off x="6430877" y="3413000"/>
            <a:ext cx="728959" cy="414836"/>
          </a:xfrm>
          <a:prstGeom prst="line">
            <a:avLst/>
          </a:prstGeom>
          <a:noFill/>
          <a:ln w="11430">
            <a:solidFill>
              <a:srgbClr val="B9CBE4"/>
            </a:solidFill>
            <a:prstDash val="solid"/>
          </a:ln>
        </p:spPr>
      </p:sp>
      <p:sp>
        <p:nvSpPr>
          <p:cNvPr id="39" name="Shape 37"/>
          <p:cNvSpPr/>
          <p:nvPr/>
        </p:nvSpPr>
        <p:spPr>
          <a:xfrm flipH="1" flipV="1">
            <a:off x="6290687" y="2141271"/>
            <a:ext cx="593513" cy="85545"/>
          </a:xfrm>
          <a:prstGeom prst="line">
            <a:avLst/>
          </a:prstGeom>
          <a:noFill/>
          <a:ln w="11430">
            <a:solidFill>
              <a:srgbClr val="B9CBE4"/>
            </a:solidFill>
            <a:prstDash val="solid"/>
          </a:ln>
        </p:spPr>
      </p:sp>
      <p:sp>
        <p:nvSpPr>
          <p:cNvPr id="40" name="Shape 38"/>
          <p:cNvSpPr/>
          <p:nvPr/>
        </p:nvSpPr>
        <p:spPr>
          <a:xfrm flipH="1">
            <a:off x="6270835" y="2226816"/>
            <a:ext cx="613364" cy="448341"/>
          </a:xfrm>
          <a:prstGeom prst="line">
            <a:avLst/>
          </a:prstGeom>
          <a:noFill/>
          <a:ln w="11430">
            <a:solidFill>
              <a:srgbClr val="B9CBE4"/>
            </a:solidFill>
            <a:prstDash val="solid"/>
          </a:ln>
        </p:spPr>
      </p:sp>
      <p:sp>
        <p:nvSpPr>
          <p:cNvPr id="41" name="Shape 39"/>
          <p:cNvSpPr/>
          <p:nvPr/>
        </p:nvSpPr>
        <p:spPr>
          <a:xfrm>
            <a:off x="6216312" y="3083339"/>
            <a:ext cx="214565" cy="744497"/>
          </a:xfrm>
          <a:prstGeom prst="line">
            <a:avLst/>
          </a:prstGeom>
          <a:noFill/>
          <a:ln w="11430">
            <a:solidFill>
              <a:srgbClr val="B9CBE4"/>
            </a:solidFill>
            <a:prstDash val="solid"/>
          </a:ln>
        </p:spPr>
      </p:sp>
      <p:sp>
        <p:nvSpPr>
          <p:cNvPr id="42" name="Shape 40"/>
          <p:cNvSpPr/>
          <p:nvPr/>
        </p:nvSpPr>
        <p:spPr>
          <a:xfrm flipV="1">
            <a:off x="6216312" y="2141271"/>
            <a:ext cx="74375" cy="942067"/>
          </a:xfrm>
          <a:prstGeom prst="line">
            <a:avLst/>
          </a:prstGeom>
          <a:noFill/>
          <a:ln w="11430">
            <a:solidFill>
              <a:srgbClr val="B9CBE4"/>
            </a:solidFill>
            <a:prstDash val="solid"/>
          </a:ln>
        </p:spPr>
      </p:sp>
      <p:sp>
        <p:nvSpPr>
          <p:cNvPr id="43" name="Shape 41"/>
          <p:cNvSpPr/>
          <p:nvPr/>
        </p:nvSpPr>
        <p:spPr>
          <a:xfrm flipV="1">
            <a:off x="6216312" y="2675157"/>
            <a:ext cx="54523" cy="408182"/>
          </a:xfrm>
          <a:prstGeom prst="line">
            <a:avLst/>
          </a:prstGeom>
          <a:noFill/>
          <a:ln w="11430">
            <a:solidFill>
              <a:srgbClr val="B9CBE4"/>
            </a:solidFill>
            <a:prstDash val="solid"/>
          </a:ln>
        </p:spPr>
      </p:sp>
      <p:sp>
        <p:nvSpPr>
          <p:cNvPr id="44" name="Shape 42"/>
          <p:cNvSpPr/>
          <p:nvPr/>
        </p:nvSpPr>
        <p:spPr>
          <a:xfrm flipH="1">
            <a:off x="6270835" y="2141271"/>
            <a:ext cx="19851" cy="533885"/>
          </a:xfrm>
          <a:prstGeom prst="line">
            <a:avLst/>
          </a:prstGeom>
          <a:noFill/>
          <a:ln w="11430">
            <a:solidFill>
              <a:srgbClr val="B9CBE4"/>
            </a:solidFill>
            <a:prstDash val="solid"/>
          </a:ln>
        </p:spPr>
      </p:sp>
      <p:sp>
        <p:nvSpPr>
          <p:cNvPr id="45" name="Shape 43"/>
          <p:cNvSpPr/>
          <p:nvPr/>
        </p:nvSpPr>
        <p:spPr>
          <a:xfrm>
            <a:off x="6514833" y="3545336"/>
            <a:ext cx="128016" cy="128016"/>
          </a:xfrm>
          <a:prstGeom prst="ellipse">
            <a:avLst/>
          </a:prstGeom>
          <a:solidFill>
            <a:srgbClr val="5B8DC9"/>
          </a:solidFill>
          <a:ln/>
        </p:spPr>
      </p:sp>
      <p:sp>
        <p:nvSpPr>
          <p:cNvPr id="46" name="Shape 44"/>
          <p:cNvSpPr/>
          <p:nvPr/>
        </p:nvSpPr>
        <p:spPr>
          <a:xfrm>
            <a:off x="7437480" y="3588503"/>
            <a:ext cx="128016" cy="128016"/>
          </a:xfrm>
          <a:prstGeom prst="ellipse">
            <a:avLst/>
          </a:prstGeom>
          <a:solidFill>
            <a:srgbClr val="1F4A82"/>
          </a:solidFill>
          <a:ln/>
        </p:spPr>
      </p:sp>
      <p:sp>
        <p:nvSpPr>
          <p:cNvPr id="47" name="Shape 45"/>
          <p:cNvSpPr/>
          <p:nvPr/>
        </p:nvSpPr>
        <p:spPr>
          <a:xfrm>
            <a:off x="6047129" y="3360642"/>
            <a:ext cx="128016" cy="128016"/>
          </a:xfrm>
          <a:prstGeom prst="ellipse">
            <a:avLst/>
          </a:prstGeom>
          <a:solidFill>
            <a:srgbClr val="1F4A82"/>
          </a:solidFill>
          <a:ln/>
        </p:spPr>
      </p:sp>
      <p:sp>
        <p:nvSpPr>
          <p:cNvPr id="48" name="Shape 46"/>
          <p:cNvSpPr/>
          <p:nvPr/>
        </p:nvSpPr>
        <p:spPr>
          <a:xfrm>
            <a:off x="6816541" y="791754"/>
            <a:ext cx="128016" cy="128016"/>
          </a:xfrm>
          <a:prstGeom prst="ellipse">
            <a:avLst/>
          </a:prstGeom>
          <a:solidFill>
            <a:srgbClr val="5B8DC9"/>
          </a:solidFill>
          <a:ln/>
        </p:spPr>
      </p:sp>
      <p:sp>
        <p:nvSpPr>
          <p:cNvPr id="49" name="Shape 47"/>
          <p:cNvSpPr/>
          <p:nvPr/>
        </p:nvSpPr>
        <p:spPr>
          <a:xfrm>
            <a:off x="6095132" y="3770784"/>
            <a:ext cx="128016" cy="128016"/>
          </a:xfrm>
          <a:prstGeom prst="ellipse">
            <a:avLst/>
          </a:prstGeom>
          <a:solidFill>
            <a:srgbClr val="1F4A82"/>
          </a:solidFill>
          <a:ln/>
        </p:spPr>
      </p:sp>
      <p:sp>
        <p:nvSpPr>
          <p:cNvPr id="50" name="Shape 48"/>
          <p:cNvSpPr/>
          <p:nvPr/>
        </p:nvSpPr>
        <p:spPr>
          <a:xfrm>
            <a:off x="8327051" y="2322007"/>
            <a:ext cx="128016" cy="128016"/>
          </a:xfrm>
          <a:prstGeom prst="ellipse">
            <a:avLst/>
          </a:prstGeom>
          <a:solidFill>
            <a:srgbClr val="1F4A82"/>
          </a:solidFill>
          <a:ln/>
        </p:spPr>
      </p:sp>
      <p:sp>
        <p:nvSpPr>
          <p:cNvPr id="51" name="Shape 49"/>
          <p:cNvSpPr/>
          <p:nvPr/>
        </p:nvSpPr>
        <p:spPr>
          <a:xfrm>
            <a:off x="7040894" y="2375097"/>
            <a:ext cx="128016" cy="128016"/>
          </a:xfrm>
          <a:prstGeom prst="ellipse">
            <a:avLst/>
          </a:prstGeom>
          <a:solidFill>
            <a:srgbClr val="5B8DC9"/>
          </a:solidFill>
          <a:ln/>
        </p:spPr>
      </p:sp>
      <p:sp>
        <p:nvSpPr>
          <p:cNvPr id="52" name="Shape 50"/>
          <p:cNvSpPr/>
          <p:nvPr/>
        </p:nvSpPr>
        <p:spPr>
          <a:xfrm>
            <a:off x="7419073" y="3109838"/>
            <a:ext cx="128016" cy="128016"/>
          </a:xfrm>
          <a:prstGeom prst="ellipse">
            <a:avLst/>
          </a:prstGeom>
          <a:solidFill>
            <a:srgbClr val="1F4A82"/>
          </a:solidFill>
          <a:ln/>
        </p:spPr>
      </p:sp>
      <p:sp>
        <p:nvSpPr>
          <p:cNvPr id="53" name="Shape 51"/>
          <p:cNvSpPr/>
          <p:nvPr/>
        </p:nvSpPr>
        <p:spPr>
          <a:xfrm>
            <a:off x="7850575" y="1959807"/>
            <a:ext cx="128016" cy="128016"/>
          </a:xfrm>
          <a:prstGeom prst="ellipse">
            <a:avLst/>
          </a:prstGeom>
          <a:solidFill>
            <a:srgbClr val="1F4A82"/>
          </a:solidFill>
          <a:ln/>
        </p:spPr>
      </p:sp>
      <p:sp>
        <p:nvSpPr>
          <p:cNvPr id="54" name="Shape 52"/>
          <p:cNvSpPr/>
          <p:nvPr/>
        </p:nvSpPr>
        <p:spPr>
          <a:xfrm>
            <a:off x="7095828" y="3348992"/>
            <a:ext cx="128016" cy="128016"/>
          </a:xfrm>
          <a:prstGeom prst="ellipse">
            <a:avLst/>
          </a:prstGeom>
          <a:solidFill>
            <a:srgbClr val="5B8DC9"/>
          </a:solidFill>
          <a:ln/>
        </p:spPr>
      </p:sp>
      <p:sp>
        <p:nvSpPr>
          <p:cNvPr id="55" name="Shape 53"/>
          <p:cNvSpPr/>
          <p:nvPr/>
        </p:nvSpPr>
        <p:spPr>
          <a:xfrm>
            <a:off x="6820192" y="2162808"/>
            <a:ext cx="128016" cy="128016"/>
          </a:xfrm>
          <a:prstGeom prst="ellipse">
            <a:avLst/>
          </a:prstGeom>
          <a:solidFill>
            <a:srgbClr val="1F4A82"/>
          </a:solidFill>
          <a:ln/>
        </p:spPr>
      </p:sp>
      <p:sp>
        <p:nvSpPr>
          <p:cNvPr id="56" name="Shape 54"/>
          <p:cNvSpPr/>
          <p:nvPr/>
        </p:nvSpPr>
        <p:spPr>
          <a:xfrm>
            <a:off x="6152304" y="3019331"/>
            <a:ext cx="128016" cy="128016"/>
          </a:xfrm>
          <a:prstGeom prst="ellipse">
            <a:avLst/>
          </a:prstGeom>
          <a:solidFill>
            <a:srgbClr val="1F4A82"/>
          </a:solidFill>
          <a:ln/>
        </p:spPr>
      </p:sp>
      <p:sp>
        <p:nvSpPr>
          <p:cNvPr id="57" name="Shape 55"/>
          <p:cNvSpPr/>
          <p:nvPr/>
        </p:nvSpPr>
        <p:spPr>
          <a:xfrm>
            <a:off x="7984855" y="1767897"/>
            <a:ext cx="128016" cy="128016"/>
          </a:xfrm>
          <a:prstGeom prst="ellipse">
            <a:avLst/>
          </a:prstGeom>
          <a:solidFill>
            <a:srgbClr val="5B8DC9"/>
          </a:solidFill>
          <a:ln/>
        </p:spPr>
      </p:sp>
      <p:sp>
        <p:nvSpPr>
          <p:cNvPr id="58" name="Shape 56"/>
          <p:cNvSpPr/>
          <p:nvPr/>
        </p:nvSpPr>
        <p:spPr>
          <a:xfrm>
            <a:off x="6366869" y="3763828"/>
            <a:ext cx="128016" cy="128016"/>
          </a:xfrm>
          <a:prstGeom prst="ellipse">
            <a:avLst/>
          </a:prstGeom>
          <a:solidFill>
            <a:srgbClr val="1F4A82"/>
          </a:solidFill>
          <a:ln/>
        </p:spPr>
      </p:sp>
      <p:sp>
        <p:nvSpPr>
          <p:cNvPr id="59" name="Shape 57"/>
          <p:cNvSpPr/>
          <p:nvPr/>
        </p:nvSpPr>
        <p:spPr>
          <a:xfrm>
            <a:off x="6226679" y="2077263"/>
            <a:ext cx="128016" cy="128016"/>
          </a:xfrm>
          <a:prstGeom prst="ellipse">
            <a:avLst/>
          </a:prstGeom>
          <a:solidFill>
            <a:srgbClr val="1F4A82"/>
          </a:solidFill>
          <a:ln/>
        </p:spPr>
      </p:sp>
      <p:sp>
        <p:nvSpPr>
          <p:cNvPr id="60" name="Shape 58"/>
          <p:cNvSpPr/>
          <p:nvPr/>
        </p:nvSpPr>
        <p:spPr>
          <a:xfrm>
            <a:off x="7051920" y="967461"/>
            <a:ext cx="128016" cy="128016"/>
          </a:xfrm>
          <a:prstGeom prst="ellipse">
            <a:avLst/>
          </a:prstGeom>
          <a:solidFill>
            <a:srgbClr val="5B8DC9"/>
          </a:solidFill>
          <a:ln/>
        </p:spPr>
      </p:sp>
      <p:sp>
        <p:nvSpPr>
          <p:cNvPr id="61" name="Shape 59"/>
          <p:cNvSpPr/>
          <p:nvPr/>
        </p:nvSpPr>
        <p:spPr>
          <a:xfrm>
            <a:off x="6206827" y="2611149"/>
            <a:ext cx="128016" cy="128016"/>
          </a:xfrm>
          <a:prstGeom prst="ellipse">
            <a:avLst/>
          </a:prstGeom>
          <a:solidFill>
            <a:srgbClr val="1F4A82"/>
          </a:solidFill>
          <a:ln/>
        </p:spPr>
      </p:sp>
      <p:sp>
        <p:nvSpPr>
          <p:cNvPr id="62" name="Shape 60"/>
          <p:cNvSpPr/>
          <p:nvPr/>
        </p:nvSpPr>
        <p:spPr>
          <a:xfrm>
            <a:off x="5943600" y="3931920"/>
            <a:ext cx="552069" cy="219456"/>
          </a:xfrm>
          <a:prstGeom prst="roundRect">
            <a:avLst>
              <a:gd name="adj" fmla="val 50000"/>
            </a:avLst>
          </a:prstGeom>
          <a:solidFill>
            <a:srgbClr val="E3ECF7"/>
          </a:solidFill>
          <a:ln/>
        </p:spPr>
      </p:sp>
      <p:sp>
        <p:nvSpPr>
          <p:cNvPr id="63" name="Text 61"/>
          <p:cNvSpPr txBox="1"/>
          <p:nvPr/>
        </p:nvSpPr>
        <p:spPr>
          <a:xfrm>
            <a:off x="5943600" y="3931920"/>
            <a:ext cx="552069" cy="219456"/>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Excel</a:t>
            </a:r>
            <a:endParaRPr lang="en-US" sz="900" dirty="0"/>
          </a:p>
        </p:txBody>
      </p:sp>
      <p:sp>
        <p:nvSpPr>
          <p:cNvPr id="64" name="Shape 62"/>
          <p:cNvSpPr/>
          <p:nvPr/>
        </p:nvSpPr>
        <p:spPr>
          <a:xfrm>
            <a:off x="6812280" y="3931920"/>
            <a:ext cx="866394" cy="219456"/>
          </a:xfrm>
          <a:prstGeom prst="roundRect">
            <a:avLst>
              <a:gd name="adj" fmla="val 50000"/>
            </a:avLst>
          </a:prstGeom>
          <a:solidFill>
            <a:srgbClr val="E3ECF7"/>
          </a:solidFill>
          <a:ln/>
        </p:spPr>
      </p:sp>
      <p:sp>
        <p:nvSpPr>
          <p:cNvPr id="65" name="Text 63"/>
          <p:cNvSpPr txBox="1"/>
          <p:nvPr/>
        </p:nvSpPr>
        <p:spPr>
          <a:xfrm>
            <a:off x="6812280" y="3931920"/>
            <a:ext cx="866394" cy="219456"/>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OMR sheets</a:t>
            </a:r>
            <a:endParaRPr lang="en-US" sz="900" dirty="0"/>
          </a:p>
        </p:txBody>
      </p:sp>
      <p:sp>
        <p:nvSpPr>
          <p:cNvPr id="66" name="Shape 64"/>
          <p:cNvSpPr/>
          <p:nvPr/>
        </p:nvSpPr>
        <p:spPr>
          <a:xfrm>
            <a:off x="7680960" y="3931920"/>
            <a:ext cx="740664" cy="219456"/>
          </a:xfrm>
          <a:prstGeom prst="roundRect">
            <a:avLst>
              <a:gd name="adj" fmla="val 50000"/>
            </a:avLst>
          </a:prstGeom>
          <a:solidFill>
            <a:srgbClr val="E3ECF7"/>
          </a:solidFill>
          <a:ln/>
        </p:spPr>
      </p:sp>
      <p:sp>
        <p:nvSpPr>
          <p:cNvPr id="67" name="Text 65"/>
          <p:cNvSpPr txBox="1"/>
          <p:nvPr/>
        </p:nvSpPr>
        <p:spPr>
          <a:xfrm>
            <a:off x="7680960" y="3931920"/>
            <a:ext cx="740664" cy="219456"/>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WhatsApp</a:t>
            </a:r>
            <a:endParaRPr lang="en-US" sz="900" dirty="0"/>
          </a:p>
        </p:txBody>
      </p:sp>
      <p:sp>
        <p:nvSpPr>
          <p:cNvPr id="68" name="Shape 66"/>
          <p:cNvSpPr/>
          <p:nvPr/>
        </p:nvSpPr>
        <p:spPr>
          <a:xfrm>
            <a:off x="8641080" y="2286000"/>
            <a:ext cx="502920" cy="0"/>
          </a:xfrm>
          <a:prstGeom prst="line">
            <a:avLst/>
          </a:prstGeom>
          <a:noFill/>
          <a:ln w="38100">
            <a:solidFill>
              <a:srgbClr val="1F4A82"/>
            </a:solidFill>
            <a:prstDash val="solid"/>
            <a:tailEnd type="triangle"/>
          </a:ln>
        </p:spPr>
      </p:sp>
      <p:sp>
        <p:nvSpPr>
          <p:cNvPr id="69" name="Shape 67"/>
          <p:cNvSpPr/>
          <p:nvPr/>
        </p:nvSpPr>
        <p:spPr>
          <a:xfrm>
            <a:off x="9281160" y="822960"/>
            <a:ext cx="384048" cy="512064"/>
          </a:xfrm>
          <a:prstGeom prst="rect">
            <a:avLst/>
          </a:prstGeom>
          <a:solidFill>
            <a:srgbClr val="E3ECF7"/>
          </a:solidFill>
          <a:ln/>
        </p:spPr>
      </p:sp>
      <p:sp>
        <p:nvSpPr>
          <p:cNvPr id="70" name="Shape 68"/>
          <p:cNvSpPr/>
          <p:nvPr/>
        </p:nvSpPr>
        <p:spPr>
          <a:xfrm>
            <a:off x="9692640" y="822960"/>
            <a:ext cx="384048" cy="512064"/>
          </a:xfrm>
          <a:prstGeom prst="rect">
            <a:avLst/>
          </a:prstGeom>
          <a:solidFill>
            <a:srgbClr val="2E6DB4"/>
          </a:solidFill>
          <a:ln/>
        </p:spPr>
      </p:sp>
      <p:sp>
        <p:nvSpPr>
          <p:cNvPr id="71" name="Shape 69"/>
          <p:cNvSpPr/>
          <p:nvPr/>
        </p:nvSpPr>
        <p:spPr>
          <a:xfrm>
            <a:off x="10104120" y="822960"/>
            <a:ext cx="384048" cy="512064"/>
          </a:xfrm>
          <a:prstGeom prst="rect">
            <a:avLst/>
          </a:prstGeom>
          <a:solidFill>
            <a:srgbClr val="C9DBF0"/>
          </a:solidFill>
          <a:ln/>
        </p:spPr>
      </p:sp>
      <p:sp>
        <p:nvSpPr>
          <p:cNvPr id="72" name="Shape 70"/>
          <p:cNvSpPr/>
          <p:nvPr/>
        </p:nvSpPr>
        <p:spPr>
          <a:xfrm>
            <a:off x="10515600" y="822960"/>
            <a:ext cx="384048" cy="512064"/>
          </a:xfrm>
          <a:prstGeom prst="rect">
            <a:avLst/>
          </a:prstGeom>
          <a:solidFill>
            <a:srgbClr val="1F4A82"/>
          </a:solidFill>
          <a:ln/>
        </p:spPr>
      </p:sp>
      <p:sp>
        <p:nvSpPr>
          <p:cNvPr id="73" name="Shape 71"/>
          <p:cNvSpPr/>
          <p:nvPr/>
        </p:nvSpPr>
        <p:spPr>
          <a:xfrm>
            <a:off x="10927080" y="822960"/>
            <a:ext cx="384048" cy="512064"/>
          </a:xfrm>
          <a:prstGeom prst="rect">
            <a:avLst/>
          </a:prstGeom>
          <a:solidFill>
            <a:srgbClr val="2E6DB4"/>
          </a:solidFill>
          <a:ln/>
        </p:spPr>
      </p:sp>
      <p:sp>
        <p:nvSpPr>
          <p:cNvPr id="74" name="Shape 72"/>
          <p:cNvSpPr/>
          <p:nvPr/>
        </p:nvSpPr>
        <p:spPr>
          <a:xfrm>
            <a:off x="11338560" y="822960"/>
            <a:ext cx="384048" cy="512064"/>
          </a:xfrm>
          <a:prstGeom prst="rect">
            <a:avLst/>
          </a:prstGeom>
          <a:solidFill>
            <a:srgbClr val="C9DBF0"/>
          </a:solidFill>
          <a:ln/>
        </p:spPr>
      </p:sp>
      <p:sp>
        <p:nvSpPr>
          <p:cNvPr id="75" name="Shape 73"/>
          <p:cNvSpPr/>
          <p:nvPr/>
        </p:nvSpPr>
        <p:spPr>
          <a:xfrm>
            <a:off x="9281160" y="1371600"/>
            <a:ext cx="384048" cy="512064"/>
          </a:xfrm>
          <a:prstGeom prst="rect">
            <a:avLst/>
          </a:prstGeom>
          <a:solidFill>
            <a:srgbClr val="7FA6D6"/>
          </a:solidFill>
          <a:ln/>
        </p:spPr>
      </p:sp>
      <p:sp>
        <p:nvSpPr>
          <p:cNvPr id="76" name="Shape 74"/>
          <p:cNvSpPr/>
          <p:nvPr/>
        </p:nvSpPr>
        <p:spPr>
          <a:xfrm>
            <a:off x="9692640" y="1371600"/>
            <a:ext cx="384048" cy="512064"/>
          </a:xfrm>
          <a:prstGeom prst="rect">
            <a:avLst/>
          </a:prstGeom>
          <a:solidFill>
            <a:srgbClr val="E3ECF7"/>
          </a:solidFill>
          <a:ln/>
        </p:spPr>
      </p:sp>
      <p:sp>
        <p:nvSpPr>
          <p:cNvPr id="77" name="Shape 75"/>
          <p:cNvSpPr/>
          <p:nvPr/>
        </p:nvSpPr>
        <p:spPr>
          <a:xfrm>
            <a:off x="10104120" y="1371600"/>
            <a:ext cx="384048" cy="512064"/>
          </a:xfrm>
          <a:prstGeom prst="rect">
            <a:avLst/>
          </a:prstGeom>
          <a:solidFill>
            <a:srgbClr val="2E6DB4"/>
          </a:solidFill>
          <a:ln/>
        </p:spPr>
      </p:sp>
      <p:sp>
        <p:nvSpPr>
          <p:cNvPr id="78" name="Shape 76"/>
          <p:cNvSpPr/>
          <p:nvPr/>
        </p:nvSpPr>
        <p:spPr>
          <a:xfrm>
            <a:off x="10515600" y="1371600"/>
            <a:ext cx="384048" cy="512064"/>
          </a:xfrm>
          <a:prstGeom prst="rect">
            <a:avLst/>
          </a:prstGeom>
          <a:solidFill>
            <a:srgbClr val="C9DBF0"/>
          </a:solidFill>
          <a:ln/>
        </p:spPr>
      </p:sp>
      <p:sp>
        <p:nvSpPr>
          <p:cNvPr id="79" name="Shape 77"/>
          <p:cNvSpPr/>
          <p:nvPr/>
        </p:nvSpPr>
        <p:spPr>
          <a:xfrm>
            <a:off x="10927080" y="1371600"/>
            <a:ext cx="384048" cy="512064"/>
          </a:xfrm>
          <a:prstGeom prst="rect">
            <a:avLst/>
          </a:prstGeom>
          <a:solidFill>
            <a:srgbClr val="E3ECF7"/>
          </a:solidFill>
          <a:ln/>
        </p:spPr>
      </p:sp>
      <p:sp>
        <p:nvSpPr>
          <p:cNvPr id="80" name="Shape 78"/>
          <p:cNvSpPr/>
          <p:nvPr/>
        </p:nvSpPr>
        <p:spPr>
          <a:xfrm>
            <a:off x="11338560" y="1371600"/>
            <a:ext cx="384048" cy="512064"/>
          </a:xfrm>
          <a:prstGeom prst="rect">
            <a:avLst/>
          </a:prstGeom>
          <a:solidFill>
            <a:srgbClr val="2E6DB4"/>
          </a:solidFill>
          <a:ln/>
        </p:spPr>
      </p:sp>
      <p:sp>
        <p:nvSpPr>
          <p:cNvPr id="81" name="Shape 79"/>
          <p:cNvSpPr/>
          <p:nvPr/>
        </p:nvSpPr>
        <p:spPr>
          <a:xfrm>
            <a:off x="9281160" y="1920240"/>
            <a:ext cx="384048" cy="512064"/>
          </a:xfrm>
          <a:prstGeom prst="rect">
            <a:avLst/>
          </a:prstGeom>
          <a:solidFill>
            <a:srgbClr val="1F4A82"/>
          </a:solidFill>
          <a:ln/>
        </p:spPr>
      </p:sp>
      <p:sp>
        <p:nvSpPr>
          <p:cNvPr id="82" name="Shape 80"/>
          <p:cNvSpPr/>
          <p:nvPr/>
        </p:nvSpPr>
        <p:spPr>
          <a:xfrm>
            <a:off x="9692640" y="1920240"/>
            <a:ext cx="384048" cy="512064"/>
          </a:xfrm>
          <a:prstGeom prst="rect">
            <a:avLst/>
          </a:prstGeom>
          <a:solidFill>
            <a:srgbClr val="7FA6D6"/>
          </a:solidFill>
          <a:ln/>
        </p:spPr>
      </p:sp>
      <p:sp>
        <p:nvSpPr>
          <p:cNvPr id="83" name="Shape 81"/>
          <p:cNvSpPr/>
          <p:nvPr/>
        </p:nvSpPr>
        <p:spPr>
          <a:xfrm>
            <a:off x="10104120" y="1920240"/>
            <a:ext cx="384048" cy="512064"/>
          </a:xfrm>
          <a:prstGeom prst="rect">
            <a:avLst/>
          </a:prstGeom>
          <a:solidFill>
            <a:srgbClr val="E3ECF7"/>
          </a:solidFill>
          <a:ln/>
        </p:spPr>
      </p:sp>
      <p:sp>
        <p:nvSpPr>
          <p:cNvPr id="84" name="Shape 82"/>
          <p:cNvSpPr/>
          <p:nvPr/>
        </p:nvSpPr>
        <p:spPr>
          <a:xfrm>
            <a:off x="10515600" y="1920240"/>
            <a:ext cx="384048" cy="512064"/>
          </a:xfrm>
          <a:prstGeom prst="rect">
            <a:avLst/>
          </a:prstGeom>
          <a:solidFill>
            <a:srgbClr val="2E6DB4"/>
          </a:solidFill>
          <a:ln/>
        </p:spPr>
      </p:sp>
      <p:sp>
        <p:nvSpPr>
          <p:cNvPr id="85" name="Shape 83"/>
          <p:cNvSpPr/>
          <p:nvPr/>
        </p:nvSpPr>
        <p:spPr>
          <a:xfrm>
            <a:off x="10927080" y="1920240"/>
            <a:ext cx="384048" cy="512064"/>
          </a:xfrm>
          <a:prstGeom prst="rect">
            <a:avLst/>
          </a:prstGeom>
          <a:solidFill>
            <a:srgbClr val="7FA6D6"/>
          </a:solidFill>
          <a:ln/>
        </p:spPr>
      </p:sp>
      <p:sp>
        <p:nvSpPr>
          <p:cNvPr id="86" name="Shape 84"/>
          <p:cNvSpPr/>
          <p:nvPr/>
        </p:nvSpPr>
        <p:spPr>
          <a:xfrm>
            <a:off x="11338560" y="1920240"/>
            <a:ext cx="384048" cy="512064"/>
          </a:xfrm>
          <a:prstGeom prst="rect">
            <a:avLst/>
          </a:prstGeom>
          <a:solidFill>
            <a:srgbClr val="E3ECF7"/>
          </a:solidFill>
          <a:ln/>
        </p:spPr>
      </p:sp>
      <p:sp>
        <p:nvSpPr>
          <p:cNvPr id="87" name="Shape 85"/>
          <p:cNvSpPr/>
          <p:nvPr/>
        </p:nvSpPr>
        <p:spPr>
          <a:xfrm>
            <a:off x="9281160" y="2468880"/>
            <a:ext cx="384048" cy="512064"/>
          </a:xfrm>
          <a:prstGeom prst="rect">
            <a:avLst/>
          </a:prstGeom>
          <a:solidFill>
            <a:srgbClr val="C9DBF0"/>
          </a:solidFill>
          <a:ln/>
        </p:spPr>
      </p:sp>
      <p:sp>
        <p:nvSpPr>
          <p:cNvPr id="88" name="Shape 86"/>
          <p:cNvSpPr/>
          <p:nvPr/>
        </p:nvSpPr>
        <p:spPr>
          <a:xfrm>
            <a:off x="9692640" y="2468880"/>
            <a:ext cx="384048" cy="512064"/>
          </a:xfrm>
          <a:prstGeom prst="rect">
            <a:avLst/>
          </a:prstGeom>
          <a:solidFill>
            <a:srgbClr val="1F4A82"/>
          </a:solidFill>
          <a:ln/>
        </p:spPr>
      </p:sp>
      <p:sp>
        <p:nvSpPr>
          <p:cNvPr id="89" name="Shape 87"/>
          <p:cNvSpPr/>
          <p:nvPr/>
        </p:nvSpPr>
        <p:spPr>
          <a:xfrm>
            <a:off x="10104120" y="2468880"/>
            <a:ext cx="384048" cy="512064"/>
          </a:xfrm>
          <a:prstGeom prst="rect">
            <a:avLst/>
          </a:prstGeom>
          <a:solidFill>
            <a:srgbClr val="7FA6D6"/>
          </a:solidFill>
          <a:ln/>
        </p:spPr>
      </p:sp>
      <p:sp>
        <p:nvSpPr>
          <p:cNvPr id="90" name="Shape 88"/>
          <p:cNvSpPr/>
          <p:nvPr/>
        </p:nvSpPr>
        <p:spPr>
          <a:xfrm>
            <a:off x="10515600" y="2468880"/>
            <a:ext cx="384048" cy="512064"/>
          </a:xfrm>
          <a:prstGeom prst="rect">
            <a:avLst/>
          </a:prstGeom>
          <a:solidFill>
            <a:srgbClr val="E3ECF7"/>
          </a:solidFill>
          <a:ln/>
        </p:spPr>
      </p:sp>
      <p:sp>
        <p:nvSpPr>
          <p:cNvPr id="91" name="Shape 89"/>
          <p:cNvSpPr/>
          <p:nvPr/>
        </p:nvSpPr>
        <p:spPr>
          <a:xfrm>
            <a:off x="10927080" y="2468880"/>
            <a:ext cx="384048" cy="512064"/>
          </a:xfrm>
          <a:prstGeom prst="rect">
            <a:avLst/>
          </a:prstGeom>
          <a:solidFill>
            <a:srgbClr val="1F4A82"/>
          </a:solidFill>
          <a:ln/>
        </p:spPr>
      </p:sp>
      <p:sp>
        <p:nvSpPr>
          <p:cNvPr id="92" name="Shape 90"/>
          <p:cNvSpPr/>
          <p:nvPr/>
        </p:nvSpPr>
        <p:spPr>
          <a:xfrm>
            <a:off x="11338560" y="2468880"/>
            <a:ext cx="384048" cy="512064"/>
          </a:xfrm>
          <a:prstGeom prst="rect">
            <a:avLst/>
          </a:prstGeom>
          <a:solidFill>
            <a:srgbClr val="7FA6D6"/>
          </a:solidFill>
          <a:ln/>
        </p:spPr>
      </p:sp>
      <p:sp>
        <p:nvSpPr>
          <p:cNvPr id="93" name="Shape 91"/>
          <p:cNvSpPr/>
          <p:nvPr/>
        </p:nvSpPr>
        <p:spPr>
          <a:xfrm>
            <a:off x="9281160" y="3017520"/>
            <a:ext cx="384048" cy="512064"/>
          </a:xfrm>
          <a:prstGeom prst="rect">
            <a:avLst/>
          </a:prstGeom>
          <a:solidFill>
            <a:srgbClr val="2E6DB4"/>
          </a:solidFill>
          <a:ln/>
        </p:spPr>
      </p:sp>
      <p:sp>
        <p:nvSpPr>
          <p:cNvPr id="94" name="Shape 92"/>
          <p:cNvSpPr/>
          <p:nvPr/>
        </p:nvSpPr>
        <p:spPr>
          <a:xfrm>
            <a:off x="9692640" y="3017520"/>
            <a:ext cx="384048" cy="512064"/>
          </a:xfrm>
          <a:prstGeom prst="rect">
            <a:avLst/>
          </a:prstGeom>
          <a:solidFill>
            <a:srgbClr val="C9DBF0"/>
          </a:solidFill>
          <a:ln/>
        </p:spPr>
      </p:sp>
      <p:sp>
        <p:nvSpPr>
          <p:cNvPr id="95" name="Shape 93"/>
          <p:cNvSpPr/>
          <p:nvPr/>
        </p:nvSpPr>
        <p:spPr>
          <a:xfrm>
            <a:off x="10104120" y="3017520"/>
            <a:ext cx="384048" cy="512064"/>
          </a:xfrm>
          <a:prstGeom prst="rect">
            <a:avLst/>
          </a:prstGeom>
          <a:solidFill>
            <a:srgbClr val="1F4A82"/>
          </a:solidFill>
          <a:ln/>
        </p:spPr>
      </p:sp>
      <p:sp>
        <p:nvSpPr>
          <p:cNvPr id="96" name="Shape 94"/>
          <p:cNvSpPr/>
          <p:nvPr/>
        </p:nvSpPr>
        <p:spPr>
          <a:xfrm>
            <a:off x="10515600" y="3017520"/>
            <a:ext cx="384048" cy="512064"/>
          </a:xfrm>
          <a:prstGeom prst="rect">
            <a:avLst/>
          </a:prstGeom>
          <a:solidFill>
            <a:srgbClr val="7FA6D6"/>
          </a:solidFill>
          <a:ln/>
        </p:spPr>
      </p:sp>
      <p:sp>
        <p:nvSpPr>
          <p:cNvPr id="97" name="Shape 95"/>
          <p:cNvSpPr/>
          <p:nvPr/>
        </p:nvSpPr>
        <p:spPr>
          <a:xfrm>
            <a:off x="10927080" y="3017520"/>
            <a:ext cx="384048" cy="512064"/>
          </a:xfrm>
          <a:prstGeom prst="rect">
            <a:avLst/>
          </a:prstGeom>
          <a:solidFill>
            <a:srgbClr val="C9DBF0"/>
          </a:solidFill>
          <a:ln/>
        </p:spPr>
      </p:sp>
      <p:sp>
        <p:nvSpPr>
          <p:cNvPr id="98" name="Shape 96"/>
          <p:cNvSpPr/>
          <p:nvPr/>
        </p:nvSpPr>
        <p:spPr>
          <a:xfrm>
            <a:off x="11338560" y="3017520"/>
            <a:ext cx="384048" cy="512064"/>
          </a:xfrm>
          <a:prstGeom prst="rect">
            <a:avLst/>
          </a:prstGeom>
          <a:solidFill>
            <a:srgbClr val="1F4A82"/>
          </a:solidFill>
          <a:ln/>
        </p:spPr>
      </p:sp>
      <p:sp>
        <p:nvSpPr>
          <p:cNvPr id="99" name="Text 97"/>
          <p:cNvSpPr txBox="1"/>
          <p:nvPr/>
        </p:nvSpPr>
        <p:spPr>
          <a:xfrm>
            <a:off x="9281160" y="3931920"/>
            <a:ext cx="2468880" cy="237744"/>
          </a:xfrm>
          <a:prstGeom prst="rect">
            <a:avLst/>
          </a:prstGeom>
          <a:noFill/>
          <a:ln/>
        </p:spPr>
        <p:txBody>
          <a:bodyPr wrap="square" lIns="0" tIns="0" rIns="0" bIns="0" rtlCol="0" anchor="t"/>
          <a:lstStyle/>
          <a:p>
            <a:pPr algn="ctr" indent="0" marL="0">
              <a:buNone/>
            </a:pPr>
            <a:r>
              <a:rPr lang="en-US" sz="950" b="1" dirty="0">
                <a:solidFill>
                  <a:srgbClr val="1F4A82"/>
                </a:solidFill>
                <a:latin typeface="Calibri" pitchFamily="34" charset="0"/>
                <a:ea typeface="Calibri" pitchFamily="34" charset="-122"/>
                <a:cs typeface="Calibri" pitchFamily="34" charset="-120"/>
              </a:rPr>
              <a:t>One clear topic map</a:t>
            </a:r>
            <a:endParaRPr lang="en-US" sz="950" dirty="0"/>
          </a:p>
        </p:txBody>
      </p:sp>
      <p:sp>
        <p:nvSpPr>
          <p:cNvPr id="100" name="Shape 98"/>
          <p:cNvSpPr/>
          <p:nvPr/>
        </p:nvSpPr>
        <p:spPr>
          <a:xfrm>
            <a:off x="411480" y="4709160"/>
            <a:ext cx="1463040" cy="1371600"/>
          </a:xfrm>
          <a:prstGeom prst="rect">
            <a:avLst/>
          </a:prstGeom>
          <a:solidFill>
            <a:srgbClr val="1F4A82"/>
          </a:solidFill>
          <a:ln/>
        </p:spPr>
      </p:sp>
      <p:sp>
        <p:nvSpPr>
          <p:cNvPr id="101" name="Text 99"/>
          <p:cNvSpPr txBox="1"/>
          <p:nvPr/>
        </p:nvSpPr>
        <p:spPr>
          <a:xfrm>
            <a:off x="411480" y="4709160"/>
            <a:ext cx="1463040" cy="137160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0.76</a:t>
            </a:r>
            <a:endParaRPr lang="en-US" sz="3000" dirty="0"/>
          </a:p>
        </p:txBody>
      </p:sp>
      <p:sp>
        <p:nvSpPr>
          <p:cNvPr id="102" name="Shape 100"/>
          <p:cNvSpPr/>
          <p:nvPr/>
        </p:nvSpPr>
        <p:spPr>
          <a:xfrm>
            <a:off x="1874520" y="4709160"/>
            <a:ext cx="2235098" cy="1371600"/>
          </a:xfrm>
          <a:prstGeom prst="rect">
            <a:avLst/>
          </a:prstGeom>
          <a:solidFill>
            <a:srgbClr val="F4F7FB"/>
          </a:solidFill>
          <a:ln w="12700">
            <a:solidFill>
              <a:srgbClr val="C9D6E8"/>
            </a:solidFill>
            <a:prstDash val="solid"/>
          </a:ln>
        </p:spPr>
      </p:sp>
      <p:sp>
        <p:nvSpPr>
          <p:cNvPr id="103" name="Text 101"/>
          <p:cNvSpPr txBox="1"/>
          <p:nvPr/>
        </p:nvSpPr>
        <p:spPr>
          <a:xfrm>
            <a:off x="2011680" y="4965192"/>
            <a:ext cx="2006498" cy="457200"/>
          </a:xfrm>
          <a:prstGeom prst="rect">
            <a:avLst/>
          </a:prstGeom>
          <a:noFill/>
          <a:ln/>
        </p:spPr>
        <p:txBody>
          <a:bodyPr wrap="square" lIns="0" tIns="0" rIns="0" bIns="0" rtlCol="0" anchor="ctr"/>
          <a:lstStyle/>
          <a:p>
            <a:pPr algn="l" indent="0" marL="0">
              <a:buNone/>
            </a:pPr>
            <a:r>
              <a:rPr lang="en-US" sz="1400" b="1" dirty="0">
                <a:solidFill>
                  <a:srgbClr val="17325C"/>
                </a:solidFill>
                <a:latin typeface="Calibri" pitchFamily="34" charset="0"/>
                <a:ea typeface="Calibri" pitchFamily="34" charset="-122"/>
                <a:cs typeface="Calibri" pitchFamily="34" charset="-120"/>
              </a:rPr>
              <a:t>Prediction accuracy score</a:t>
            </a:r>
            <a:endParaRPr lang="en-US" sz="1400" dirty="0"/>
          </a:p>
        </p:txBody>
      </p:sp>
      <p:sp>
        <p:nvSpPr>
          <p:cNvPr id="104" name="Text 102"/>
          <p:cNvSpPr txBox="1"/>
          <p:nvPr/>
        </p:nvSpPr>
        <p:spPr>
          <a:xfrm>
            <a:off x="2011680" y="5458968"/>
            <a:ext cx="2006498" cy="457200"/>
          </a:xfrm>
          <a:prstGeom prst="rect">
            <a:avLst/>
          </a:prstGeom>
          <a:noFill/>
          <a:ln/>
        </p:spPr>
        <p:txBody>
          <a:bodyPr wrap="square" lIns="0" tIns="0" rIns="0" bIns="0" rtlCol="0" anchor="t"/>
          <a:lstStyle/>
          <a:p>
            <a:pPr algn="l" indent="0" marL="0">
              <a:buNone/>
            </a:pPr>
            <a:r>
              <a:rPr lang="en-US" sz="1050" dirty="0">
                <a:solidFill>
                  <a:srgbClr val="5B6573"/>
                </a:solidFill>
                <a:latin typeface="Calibri" pitchFamily="34" charset="0"/>
                <a:ea typeface="Calibri" pitchFamily="34" charset="-122"/>
                <a:cs typeface="Calibri" pitchFamily="34" charset="-120"/>
              </a:rPr>
              <a:t>Public data; published rival 0.75</a:t>
            </a:r>
            <a:endParaRPr lang="en-US" sz="1050" dirty="0"/>
          </a:p>
        </p:txBody>
      </p:sp>
      <p:sp>
        <p:nvSpPr>
          <p:cNvPr id="105" name="Shape 103"/>
          <p:cNvSpPr/>
          <p:nvPr/>
        </p:nvSpPr>
        <p:spPr>
          <a:xfrm>
            <a:off x="4246778" y="4709160"/>
            <a:ext cx="1463040" cy="1371600"/>
          </a:xfrm>
          <a:prstGeom prst="rect">
            <a:avLst/>
          </a:prstGeom>
          <a:solidFill>
            <a:srgbClr val="1F4A82"/>
          </a:solidFill>
          <a:ln/>
        </p:spPr>
      </p:sp>
      <p:sp>
        <p:nvSpPr>
          <p:cNvPr id="106" name="Text 104"/>
          <p:cNvSpPr txBox="1"/>
          <p:nvPr/>
        </p:nvSpPr>
        <p:spPr>
          <a:xfrm>
            <a:off x="4246778" y="4709160"/>
            <a:ext cx="1463040" cy="137160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2</a:t>
            </a:r>
            <a:endParaRPr lang="en-US" sz="3800" dirty="0"/>
          </a:p>
        </p:txBody>
      </p:sp>
      <p:sp>
        <p:nvSpPr>
          <p:cNvPr id="107" name="Shape 105"/>
          <p:cNvSpPr/>
          <p:nvPr/>
        </p:nvSpPr>
        <p:spPr>
          <a:xfrm>
            <a:off x="5709818" y="4709160"/>
            <a:ext cx="2235098" cy="1371600"/>
          </a:xfrm>
          <a:prstGeom prst="rect">
            <a:avLst/>
          </a:prstGeom>
          <a:solidFill>
            <a:srgbClr val="F4F7FB"/>
          </a:solidFill>
          <a:ln w="12700">
            <a:solidFill>
              <a:srgbClr val="C9D6E8"/>
            </a:solidFill>
            <a:prstDash val="solid"/>
          </a:ln>
        </p:spPr>
      </p:sp>
      <p:sp>
        <p:nvSpPr>
          <p:cNvPr id="108" name="Text 106"/>
          <p:cNvSpPr txBox="1"/>
          <p:nvPr/>
        </p:nvSpPr>
        <p:spPr>
          <a:xfrm>
            <a:off x="5846978" y="4965192"/>
            <a:ext cx="2006498" cy="457200"/>
          </a:xfrm>
          <a:prstGeom prst="rect">
            <a:avLst/>
          </a:prstGeom>
          <a:noFill/>
          <a:ln/>
        </p:spPr>
        <p:txBody>
          <a:bodyPr wrap="square" lIns="0" tIns="0" rIns="0" bIns="0" rtlCol="0" anchor="ctr"/>
          <a:lstStyle/>
          <a:p>
            <a:pPr algn="l" indent="0" marL="0">
              <a:buNone/>
            </a:pPr>
            <a:r>
              <a:rPr lang="en-US" sz="1400" b="1" dirty="0">
                <a:solidFill>
                  <a:srgbClr val="17325C"/>
                </a:solidFill>
                <a:latin typeface="Calibri" pitchFamily="34" charset="0"/>
                <a:ea typeface="Calibri" pitchFamily="34" charset="-122"/>
                <a:cs typeface="Calibri" pitchFamily="34" charset="-120"/>
              </a:rPr>
              <a:t>Public datasets, not just ours</a:t>
            </a:r>
            <a:endParaRPr lang="en-US" sz="1400" dirty="0"/>
          </a:p>
        </p:txBody>
      </p:sp>
      <p:sp>
        <p:nvSpPr>
          <p:cNvPr id="109" name="Text 107"/>
          <p:cNvSpPr txBox="1"/>
          <p:nvPr/>
        </p:nvSpPr>
        <p:spPr>
          <a:xfrm>
            <a:off x="5846978" y="5458968"/>
            <a:ext cx="2006498" cy="457200"/>
          </a:xfrm>
          <a:prstGeom prst="rect">
            <a:avLst/>
          </a:prstGeom>
          <a:noFill/>
          <a:ln/>
        </p:spPr>
        <p:txBody>
          <a:bodyPr wrap="square" lIns="0" tIns="0" rIns="0" bIns="0" rtlCol="0" anchor="t"/>
          <a:lstStyle/>
          <a:p>
            <a:pPr algn="l" indent="0" marL="0">
              <a:buNone/>
            </a:pPr>
            <a:r>
              <a:rPr lang="en-US" sz="1050" dirty="0">
                <a:solidFill>
                  <a:srgbClr val="5B6573"/>
                </a:solidFill>
                <a:latin typeface="Calibri" pitchFamily="34" charset="0"/>
                <a:ea typeface="Calibri" pitchFamily="34" charset="-122"/>
                <a:cs typeface="Calibri" pitchFamily="34" charset="-120"/>
              </a:rPr>
              <a:t>Open University and ASSISTments</a:t>
            </a:r>
            <a:endParaRPr lang="en-US" sz="1050" dirty="0"/>
          </a:p>
        </p:txBody>
      </p:sp>
      <p:sp>
        <p:nvSpPr>
          <p:cNvPr id="110" name="Shape 108"/>
          <p:cNvSpPr/>
          <p:nvPr/>
        </p:nvSpPr>
        <p:spPr>
          <a:xfrm>
            <a:off x="8082077" y="4709160"/>
            <a:ext cx="1463040" cy="1371600"/>
          </a:xfrm>
          <a:prstGeom prst="rect">
            <a:avLst/>
          </a:prstGeom>
          <a:solidFill>
            <a:srgbClr val="1F4A82"/>
          </a:solidFill>
          <a:ln/>
        </p:spPr>
      </p:sp>
      <p:sp>
        <p:nvSpPr>
          <p:cNvPr id="111" name="Text 109"/>
          <p:cNvSpPr txBox="1"/>
          <p:nvPr/>
        </p:nvSpPr>
        <p:spPr>
          <a:xfrm>
            <a:off x="8082077" y="4709160"/>
            <a:ext cx="1463040" cy="137160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₹3.6</a:t>
            </a:r>
            <a:endParaRPr lang="en-US" sz="3000" dirty="0"/>
          </a:p>
        </p:txBody>
      </p:sp>
      <p:sp>
        <p:nvSpPr>
          <p:cNvPr id="112" name="Shape 110"/>
          <p:cNvSpPr/>
          <p:nvPr/>
        </p:nvSpPr>
        <p:spPr>
          <a:xfrm>
            <a:off x="9545117" y="4709160"/>
            <a:ext cx="2235098" cy="1371600"/>
          </a:xfrm>
          <a:prstGeom prst="rect">
            <a:avLst/>
          </a:prstGeom>
          <a:solidFill>
            <a:srgbClr val="F4F7FB"/>
          </a:solidFill>
          <a:ln w="12700">
            <a:solidFill>
              <a:srgbClr val="C9D6E8"/>
            </a:solidFill>
            <a:prstDash val="solid"/>
          </a:ln>
        </p:spPr>
      </p:sp>
      <p:sp>
        <p:nvSpPr>
          <p:cNvPr id="113" name="Text 111"/>
          <p:cNvSpPr txBox="1"/>
          <p:nvPr/>
        </p:nvSpPr>
        <p:spPr>
          <a:xfrm>
            <a:off x="9682277" y="4965192"/>
            <a:ext cx="2006498" cy="457200"/>
          </a:xfrm>
          <a:prstGeom prst="rect">
            <a:avLst/>
          </a:prstGeom>
          <a:noFill/>
          <a:ln/>
        </p:spPr>
        <p:txBody>
          <a:bodyPr wrap="square" lIns="0" tIns="0" rIns="0" bIns="0" rtlCol="0" anchor="ctr"/>
          <a:lstStyle/>
          <a:p>
            <a:pPr algn="l" indent="0" marL="0">
              <a:buNone/>
            </a:pPr>
            <a:r>
              <a:rPr lang="en-US" sz="1400" b="1" dirty="0">
                <a:solidFill>
                  <a:srgbClr val="17325C"/>
                </a:solidFill>
                <a:latin typeface="Calibri" pitchFamily="34" charset="0"/>
                <a:ea typeface="Calibri" pitchFamily="34" charset="-122"/>
                <a:cs typeface="Calibri" pitchFamily="34" charset="-120"/>
              </a:rPr>
              <a:t>Cost per student per month</a:t>
            </a:r>
            <a:endParaRPr lang="en-US" sz="1400" dirty="0"/>
          </a:p>
        </p:txBody>
      </p:sp>
      <p:sp>
        <p:nvSpPr>
          <p:cNvPr id="114" name="Text 112"/>
          <p:cNvSpPr txBox="1"/>
          <p:nvPr/>
        </p:nvSpPr>
        <p:spPr>
          <a:xfrm>
            <a:off x="9682277" y="5458968"/>
            <a:ext cx="2006498" cy="457200"/>
          </a:xfrm>
          <a:prstGeom prst="rect">
            <a:avLst/>
          </a:prstGeom>
          <a:noFill/>
          <a:ln/>
        </p:spPr>
        <p:txBody>
          <a:bodyPr wrap="square" lIns="0" tIns="0" rIns="0" bIns="0" rtlCol="0" anchor="t"/>
          <a:lstStyle/>
          <a:p>
            <a:pPr algn="l" indent="0" marL="0">
              <a:buNone/>
            </a:pPr>
            <a:r>
              <a:rPr lang="en-US" sz="1050" dirty="0">
                <a:solidFill>
                  <a:srgbClr val="5B6573"/>
                </a:solidFill>
                <a:latin typeface="Calibri" pitchFamily="34" charset="0"/>
                <a:ea typeface="Calibri" pitchFamily="34" charset="-122"/>
                <a:cs typeface="Calibri" pitchFamily="34" charset="-120"/>
              </a:rPr>
              <a:t>All-in, on one laptop</a:t>
            </a:r>
            <a:endParaRPr lang="en-US" sz="1050" dirty="0"/>
          </a:p>
        </p:txBody>
      </p:sp>
      <p:sp>
        <p:nvSpPr>
          <p:cNvPr id="115" name="Text 113"/>
          <p:cNvSpPr txBox="1"/>
          <p:nvPr/>
        </p:nvSpPr>
        <p:spPr>
          <a:xfrm>
            <a:off x="411480" y="4462272"/>
            <a:ext cx="2743200" cy="219456"/>
          </a:xfrm>
          <a:prstGeom prst="rect">
            <a:avLst/>
          </a:prstGeom>
          <a:noFill/>
          <a:ln/>
        </p:spPr>
        <p:txBody>
          <a:bodyPr wrap="square" lIns="0" tIns="0" rIns="0" bIns="0" rtlCol="0" anchor="t"/>
          <a:lstStyle/>
          <a:p>
            <a:pPr algn="l" indent="0" marL="0">
              <a:buNone/>
            </a:pPr>
            <a:r>
              <a:rPr lang="en-US" sz="900" b="1" spc="200" kern="0" dirty="0">
                <a:solidFill>
                  <a:srgbClr val="5B6573"/>
                </a:solidFill>
                <a:latin typeface="Calibri" pitchFamily="34" charset="0"/>
                <a:ea typeface="Calibri" pitchFamily="34" charset="-122"/>
                <a:cs typeface="Calibri" pitchFamily="34" charset="-120"/>
              </a:rPr>
              <a:t>IMPACT RIBBON</a:t>
            </a:r>
            <a:endParaRPr lang="en-US" sz="900" dirty="0"/>
          </a:p>
        </p:txBody>
      </p:sp>
      <p:sp>
        <p:nvSpPr>
          <p:cNvPr id="116" name="Text 114"/>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(ASSISTments 2009 under the pyKT protocol; OULAD); financial model v1.1, Base case. Screens and graphics are illustrative.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D4A24C"/>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idea">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1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EXECUTIVE SUMMARY: THE PRAGATI LOOP</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Tests become a weekly to-do list for mentors, at a price owners accept</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88720"/>
            <a:ext cx="3200400" cy="292608"/>
          </a:xfrm>
          <a:prstGeom prst="rect">
            <a:avLst/>
          </a:prstGeom>
          <a:solidFill>
            <a:srgbClr val="1F4A82"/>
          </a:solidFill>
          <a:ln/>
        </p:spPr>
      </p:sp>
      <p:sp>
        <p:nvSpPr>
          <p:cNvPr id="27" name="Text 23"/>
          <p:cNvSpPr txBox="1"/>
          <p:nvPr/>
        </p:nvSpPr>
        <p:spPr>
          <a:xfrm>
            <a:off x="484632" y="1188720"/>
            <a:ext cx="3054096"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THE FRICTION &amp; THE FIX</a:t>
            </a:r>
            <a:endParaRPr lang="en-US" sz="1150" dirty="0"/>
          </a:p>
        </p:txBody>
      </p:sp>
      <p:sp>
        <p:nvSpPr>
          <p:cNvPr id="28" name="Shape 24"/>
          <p:cNvSpPr/>
          <p:nvPr/>
        </p:nvSpPr>
        <p:spPr>
          <a:xfrm>
            <a:off x="411480" y="1481328"/>
            <a:ext cx="3200400" cy="2148840"/>
          </a:xfrm>
          <a:prstGeom prst="rect">
            <a:avLst/>
          </a:prstGeom>
          <a:solidFill>
            <a:srgbClr val="F6EAE8"/>
          </a:solidFill>
          <a:ln w="12700">
            <a:solidFill>
              <a:srgbClr val="D9A9A2"/>
            </a:solidFill>
            <a:prstDash val="solid"/>
          </a:ln>
        </p:spPr>
      </p:sp>
      <p:pic>
        <p:nvPicPr>
          <p:cNvPr id="29"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30"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31"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32"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33"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34"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35" name="Image 7" descr="FaBookOpen icon">    </p:cNvPr>
          <p:cNvPicPr>
            <a:picLocks noChangeAspect="1"/>
          </p:cNvPicPr>
          <p:nvPr/>
        </p:nvPicPr>
        <p:blipFill>
          <a:blip r:embed="rId8"/>
          <a:stretch>
            <a:fillRect/>
          </a:stretch>
        </p:blipFill>
        <p:spPr>
          <a:xfrm>
            <a:off x="10473423" y="100584"/>
            <a:ext cx="182880" cy="182880"/>
          </a:xfrm>
          <a:prstGeom prst="rect">
            <a:avLst/>
          </a:prstGeom>
        </p:spPr>
      </p:pic>
      <p:pic>
        <p:nvPicPr>
          <p:cNvPr id="36" name="Image 8" descr="FaBullseye icon">    </p:cNvPr>
          <p:cNvPicPr>
            <a:picLocks noChangeAspect="1"/>
          </p:cNvPicPr>
          <p:nvPr/>
        </p:nvPicPr>
        <p:blipFill>
          <a:blip r:embed="rId9"/>
          <a:stretch>
            <a:fillRect/>
          </a:stretch>
        </p:blipFill>
        <p:spPr>
          <a:xfrm>
            <a:off x="9075191" y="100584"/>
            <a:ext cx="182880" cy="182880"/>
          </a:xfrm>
          <a:prstGeom prst="rect">
            <a:avLst/>
          </a:prstGeom>
        </p:spPr>
      </p:pic>
      <p:pic>
        <p:nvPicPr>
          <p:cNvPr id="37" name="Image 9" descr="FaTriangleExclamation icon">    </p:cNvPr>
          <p:cNvPicPr>
            <a:picLocks noChangeAspect="1"/>
          </p:cNvPicPr>
          <p:nvPr/>
        </p:nvPicPr>
        <p:blipFill>
          <a:blip r:embed="rId10"/>
          <a:stretch>
            <a:fillRect/>
          </a:stretch>
        </p:blipFill>
        <p:spPr>
          <a:xfrm>
            <a:off x="548640" y="1600200"/>
            <a:ext cx="274320" cy="274320"/>
          </a:xfrm>
          <a:prstGeom prst="rect">
            <a:avLst/>
          </a:prstGeom>
        </p:spPr>
      </p:pic>
      <p:sp>
        <p:nvSpPr>
          <p:cNvPr id="38" name="Text 25"/>
          <p:cNvSpPr txBox="1"/>
          <p:nvPr/>
        </p:nvSpPr>
        <p:spPr>
          <a:xfrm>
            <a:off x="914400" y="1591056"/>
            <a:ext cx="2560320" cy="292608"/>
          </a:xfrm>
          <a:prstGeom prst="rect">
            <a:avLst/>
          </a:prstGeom>
          <a:noFill/>
          <a:ln/>
        </p:spPr>
        <p:txBody>
          <a:bodyPr wrap="square" lIns="0" tIns="0" rIns="0" bIns="0" rtlCol="0" anchor="ctr"/>
          <a:lstStyle/>
          <a:p>
            <a:pPr algn="l" indent="0" marL="0">
              <a:buNone/>
            </a:pPr>
            <a:r>
              <a:rPr lang="en-US" sz="1150" b="1" dirty="0">
                <a:solidFill>
                  <a:srgbClr val="C0392B"/>
                </a:solidFill>
                <a:latin typeface="Calibri" pitchFamily="34" charset="0"/>
                <a:ea typeface="Calibri" pitchFamily="34" charset="-122"/>
                <a:cs typeface="Calibri" pitchFamily="34" charset="-120"/>
              </a:rPr>
              <a:t>THE FRICTION</a:t>
            </a:r>
            <a:endParaRPr lang="en-US" sz="1150" dirty="0"/>
          </a:p>
        </p:txBody>
      </p:sp>
      <p:sp>
        <p:nvSpPr>
          <p:cNvPr id="39" name="Text 26"/>
          <p:cNvSpPr txBox="1"/>
          <p:nvPr/>
        </p:nvSpPr>
        <p:spPr>
          <a:xfrm>
            <a:off x="576072" y="1993392"/>
            <a:ext cx="2926080" cy="1600200"/>
          </a:xfrm>
          <a:prstGeom prst="rect">
            <a:avLst/>
          </a:prstGeom>
          <a:noFill/>
          <a:ln/>
        </p:spPr>
        <p:txBody>
          <a:bodyPr wrap="square" lIns="0" tIns="0" rIns="0" bIns="0" rtlCol="0" anchor="t"/>
          <a:lstStyle/>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Marks sit on paper and WhatsApp</a:t>
            </a:r>
            <a:endParaRPr lang="en-US" sz="1050" dirty="0"/>
          </a:p>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Weak topics found after the exam</a:t>
            </a:r>
            <a:endParaRPr lang="en-US" sz="1050" dirty="0"/>
          </a:p>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₹17.3 L a year lost to dropouts</a:t>
            </a:r>
            <a:endParaRPr lang="en-US" sz="1050" dirty="0"/>
          </a:p>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Generic apps give no early warning</a:t>
            </a:r>
            <a:endParaRPr lang="en-US" sz="1050" dirty="0"/>
          </a:p>
        </p:txBody>
      </p:sp>
      <p:pic>
        <p:nvPicPr>
          <p:cNvPr id="40" name="Image 10" descr="FaArrowDown icon">    </p:cNvPr>
          <p:cNvPicPr>
            <a:picLocks noChangeAspect="1"/>
          </p:cNvPicPr>
          <p:nvPr/>
        </p:nvPicPr>
        <p:blipFill>
          <a:blip r:embed="rId11"/>
          <a:stretch>
            <a:fillRect/>
          </a:stretch>
        </p:blipFill>
        <p:spPr>
          <a:xfrm>
            <a:off x="1874520" y="3675888"/>
            <a:ext cx="274320" cy="274320"/>
          </a:xfrm>
          <a:prstGeom prst="rect">
            <a:avLst/>
          </a:prstGeom>
        </p:spPr>
      </p:pic>
      <p:sp>
        <p:nvSpPr>
          <p:cNvPr id="41" name="Shape 27"/>
          <p:cNvSpPr/>
          <p:nvPr/>
        </p:nvSpPr>
        <p:spPr>
          <a:xfrm>
            <a:off x="411480" y="4005072"/>
            <a:ext cx="3200400" cy="2286000"/>
          </a:xfrm>
          <a:prstGeom prst="rect">
            <a:avLst/>
          </a:prstGeom>
          <a:solidFill>
            <a:srgbClr val="E3ECF7"/>
          </a:solidFill>
          <a:ln w="15875">
            <a:solidFill>
              <a:srgbClr val="1F4A82"/>
            </a:solidFill>
            <a:prstDash val="solid"/>
          </a:ln>
        </p:spPr>
      </p:sp>
      <p:pic>
        <p:nvPicPr>
          <p:cNvPr id="42" name="Image 11" descr="FaCircleCheck icon">    </p:cNvPr>
          <p:cNvPicPr>
            <a:picLocks noChangeAspect="1"/>
          </p:cNvPicPr>
          <p:nvPr/>
        </p:nvPicPr>
        <p:blipFill>
          <a:blip r:embed="rId12"/>
          <a:stretch>
            <a:fillRect/>
          </a:stretch>
        </p:blipFill>
        <p:spPr>
          <a:xfrm>
            <a:off x="548640" y="4114800"/>
            <a:ext cx="274320" cy="274320"/>
          </a:xfrm>
          <a:prstGeom prst="rect">
            <a:avLst/>
          </a:prstGeom>
        </p:spPr>
      </p:pic>
      <p:sp>
        <p:nvSpPr>
          <p:cNvPr id="43" name="Text 28"/>
          <p:cNvSpPr txBox="1"/>
          <p:nvPr/>
        </p:nvSpPr>
        <p:spPr>
          <a:xfrm>
            <a:off x="914400" y="4105656"/>
            <a:ext cx="2560320" cy="292608"/>
          </a:xfrm>
          <a:prstGeom prst="rect">
            <a:avLst/>
          </a:prstGeom>
          <a:noFill/>
          <a:ln/>
        </p:spPr>
        <p:txBody>
          <a:bodyPr wrap="square" lIns="0" tIns="0" rIns="0" bIns="0" rtlCol="0" anchor="ctr"/>
          <a:lstStyle/>
          <a:p>
            <a:pPr algn="l" indent="0" marL="0">
              <a:buNone/>
            </a:pPr>
            <a:r>
              <a:rPr lang="en-US" sz="1150" b="1" dirty="0">
                <a:solidFill>
                  <a:srgbClr val="1F4A82"/>
                </a:solidFill>
                <a:latin typeface="Calibri" pitchFamily="34" charset="0"/>
                <a:ea typeface="Calibri" pitchFamily="34" charset="-122"/>
                <a:cs typeface="Calibri" pitchFamily="34" charset="-120"/>
              </a:rPr>
              <a:t>THE FIX</a:t>
            </a:r>
            <a:endParaRPr lang="en-US" sz="1150" dirty="0"/>
          </a:p>
        </p:txBody>
      </p:sp>
      <p:sp>
        <p:nvSpPr>
          <p:cNvPr id="44" name="Text 29"/>
          <p:cNvSpPr txBox="1"/>
          <p:nvPr/>
        </p:nvSpPr>
        <p:spPr>
          <a:xfrm>
            <a:off x="576072" y="4526280"/>
            <a:ext cx="2926080" cy="1737360"/>
          </a:xfrm>
          <a:prstGeom prst="rect">
            <a:avLst/>
          </a:prstGeom>
          <a:noFill/>
          <a:ln/>
        </p:spPr>
        <p:txBody>
          <a:bodyPr wrap="square" lIns="0" tIns="0" rIns="0" bIns="0" rtlCol="0" anchor="t"/>
          <a:lstStyle/>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One upload gives a topic map</a:t>
            </a:r>
            <a:endParaRPr lang="en-US" sz="1050" dirty="0"/>
          </a:p>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A short weekly list for mentors</a:t>
            </a:r>
            <a:endParaRPr lang="en-US" sz="1050" dirty="0"/>
          </a:p>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Plain reasons, supportive actions</a:t>
            </a:r>
            <a:endParaRPr lang="en-US" sz="1050" dirty="0"/>
          </a:p>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Checked Hindi and English parent notes</a:t>
            </a:r>
            <a:endParaRPr lang="en-US" sz="1050" dirty="0"/>
          </a:p>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Free to run, works offline</a:t>
            </a:r>
            <a:endParaRPr lang="en-US" sz="1050" dirty="0"/>
          </a:p>
        </p:txBody>
      </p:sp>
      <p:sp>
        <p:nvSpPr>
          <p:cNvPr id="45" name="Shape 30"/>
          <p:cNvSpPr/>
          <p:nvPr/>
        </p:nvSpPr>
        <p:spPr>
          <a:xfrm>
            <a:off x="8234031" y="2384427"/>
            <a:ext cx="870749" cy="397505"/>
          </a:xfrm>
          <a:prstGeom prst="line">
            <a:avLst/>
          </a:prstGeom>
          <a:noFill/>
          <a:ln w="25400">
            <a:solidFill>
              <a:srgbClr val="9AA6B5"/>
            </a:solidFill>
            <a:prstDash val="solid"/>
            <a:tailEnd type="triangle"/>
          </a:ln>
        </p:spPr>
      </p:sp>
      <p:sp>
        <p:nvSpPr>
          <p:cNvPr id="46" name="Shape 31"/>
          <p:cNvSpPr/>
          <p:nvPr/>
        </p:nvSpPr>
        <p:spPr>
          <a:xfrm>
            <a:off x="9520691" y="3429000"/>
            <a:ext cx="0" cy="640080"/>
          </a:xfrm>
          <a:prstGeom prst="line">
            <a:avLst/>
          </a:prstGeom>
          <a:noFill/>
          <a:ln w="25400">
            <a:solidFill>
              <a:srgbClr val="9AA6B5"/>
            </a:solidFill>
            <a:prstDash val="solid"/>
            <a:tailEnd type="triangle"/>
          </a:ln>
        </p:spPr>
      </p:sp>
      <p:sp>
        <p:nvSpPr>
          <p:cNvPr id="47" name="Shape 32"/>
          <p:cNvSpPr/>
          <p:nvPr/>
        </p:nvSpPr>
        <p:spPr>
          <a:xfrm flipH="1">
            <a:off x="8234031" y="4716147"/>
            <a:ext cx="870749" cy="397505"/>
          </a:xfrm>
          <a:prstGeom prst="line">
            <a:avLst/>
          </a:prstGeom>
          <a:noFill/>
          <a:ln w="25400">
            <a:solidFill>
              <a:srgbClr val="9AA6B5"/>
            </a:solidFill>
            <a:prstDash val="solid"/>
            <a:tailEnd type="triangle"/>
          </a:ln>
        </p:spPr>
      </p:sp>
      <p:sp>
        <p:nvSpPr>
          <p:cNvPr id="48" name="Shape 33"/>
          <p:cNvSpPr/>
          <p:nvPr/>
        </p:nvSpPr>
        <p:spPr>
          <a:xfrm flipH="1" flipV="1">
            <a:off x="6531460" y="4716147"/>
            <a:ext cx="870749" cy="397505"/>
          </a:xfrm>
          <a:prstGeom prst="line">
            <a:avLst/>
          </a:prstGeom>
          <a:noFill/>
          <a:ln w="25400">
            <a:solidFill>
              <a:srgbClr val="9AA6B5"/>
            </a:solidFill>
            <a:prstDash val="solid"/>
            <a:tailEnd type="triangle"/>
          </a:ln>
        </p:spPr>
      </p:sp>
      <p:sp>
        <p:nvSpPr>
          <p:cNvPr id="49" name="Shape 34"/>
          <p:cNvSpPr/>
          <p:nvPr/>
        </p:nvSpPr>
        <p:spPr>
          <a:xfrm flipV="1">
            <a:off x="6115549" y="3429000"/>
            <a:ext cx="0" cy="640080"/>
          </a:xfrm>
          <a:prstGeom prst="line">
            <a:avLst/>
          </a:prstGeom>
          <a:noFill/>
          <a:ln w="25400">
            <a:solidFill>
              <a:srgbClr val="9AA6B5"/>
            </a:solidFill>
            <a:prstDash val="solid"/>
            <a:tailEnd type="triangle"/>
          </a:ln>
        </p:spPr>
      </p:sp>
      <p:sp>
        <p:nvSpPr>
          <p:cNvPr id="50" name="Shape 35"/>
          <p:cNvSpPr/>
          <p:nvPr/>
        </p:nvSpPr>
        <p:spPr>
          <a:xfrm flipV="1">
            <a:off x="6531460" y="2384427"/>
            <a:ext cx="870749" cy="397505"/>
          </a:xfrm>
          <a:prstGeom prst="line">
            <a:avLst/>
          </a:prstGeom>
          <a:noFill/>
          <a:ln w="25400">
            <a:solidFill>
              <a:srgbClr val="9AA6B5"/>
            </a:solidFill>
            <a:prstDash val="solid"/>
            <a:tailEnd type="triangle"/>
          </a:ln>
        </p:spPr>
      </p:sp>
      <p:sp>
        <p:nvSpPr>
          <p:cNvPr id="51" name="Shape 36"/>
          <p:cNvSpPr/>
          <p:nvPr/>
        </p:nvSpPr>
        <p:spPr>
          <a:xfrm>
            <a:off x="7040880" y="2971800"/>
            <a:ext cx="1554480" cy="1554480"/>
          </a:xfrm>
          <a:prstGeom prst="ellipse">
            <a:avLst/>
          </a:prstGeom>
          <a:solidFill>
            <a:srgbClr val="E3ECF7"/>
          </a:solidFill>
          <a:ln w="19050">
            <a:solidFill>
              <a:srgbClr val="1F4A82"/>
            </a:solidFill>
            <a:prstDash val="solid"/>
          </a:ln>
        </p:spPr>
      </p:sp>
      <p:sp>
        <p:nvSpPr>
          <p:cNvPr id="52" name="Text 37"/>
          <p:cNvSpPr txBox="1"/>
          <p:nvPr/>
        </p:nvSpPr>
        <p:spPr>
          <a:xfrm>
            <a:off x="7040880" y="3246120"/>
            <a:ext cx="1554480" cy="548640"/>
          </a:xfrm>
          <a:prstGeom prst="rect">
            <a:avLst/>
          </a:prstGeom>
          <a:noFill/>
          <a:ln/>
        </p:spPr>
        <p:txBody>
          <a:bodyPr wrap="square" lIns="0" tIns="0" rIns="0" bIns="0" rtlCol="0" anchor="ctr"/>
          <a:lstStyle/>
          <a:p>
            <a:pPr algn="ctr" indent="0" marL="0">
              <a:buNone/>
            </a:pPr>
            <a:r>
              <a:rPr lang="en-US" sz="2800" b="1" dirty="0">
                <a:solidFill>
                  <a:srgbClr val="1F4A82"/>
                </a:solidFill>
                <a:latin typeface="Calibri" pitchFamily="34" charset="0"/>
                <a:ea typeface="Calibri" pitchFamily="34" charset="-122"/>
                <a:cs typeface="Calibri" pitchFamily="34" charset="-120"/>
              </a:rPr>
              <a:t>₹3.6</a:t>
            </a:r>
            <a:endParaRPr lang="en-US" sz="2800" dirty="0"/>
          </a:p>
        </p:txBody>
      </p:sp>
      <p:sp>
        <p:nvSpPr>
          <p:cNvPr id="53" name="Text 38"/>
          <p:cNvSpPr txBox="1"/>
          <p:nvPr/>
        </p:nvSpPr>
        <p:spPr>
          <a:xfrm>
            <a:off x="7086600" y="3794760"/>
            <a:ext cx="1463040" cy="457200"/>
          </a:xfrm>
          <a:prstGeom prst="rect">
            <a:avLst/>
          </a:prstGeom>
          <a:noFill/>
          <a:ln/>
        </p:spPr>
        <p:txBody>
          <a:bodyPr wrap="square" lIns="0" tIns="0" rIns="0" bIns="0" rtlCol="0" anchor="t"/>
          <a:lstStyle/>
          <a:p>
            <a:pPr algn="ctr" indent="0" marL="0">
              <a:buNone/>
            </a:pPr>
            <a:r>
              <a:rPr lang="en-US" sz="950" dirty="0">
                <a:solidFill>
                  <a:srgbClr val="5B6573"/>
                </a:solidFill>
                <a:latin typeface="Calibri" pitchFamily="34" charset="0"/>
                <a:ea typeface="Calibri" pitchFamily="34" charset="-122"/>
                <a:cs typeface="Calibri" pitchFamily="34" charset="-120"/>
              </a:rPr>
              <a:t>per student, per month</a:t>
            </a:r>
            <a:endParaRPr lang="en-US" sz="950" dirty="0"/>
          </a:p>
        </p:txBody>
      </p:sp>
      <p:sp>
        <p:nvSpPr>
          <p:cNvPr id="54" name="Shape 39"/>
          <p:cNvSpPr/>
          <p:nvPr/>
        </p:nvSpPr>
        <p:spPr>
          <a:xfrm>
            <a:off x="7434072" y="1810512"/>
            <a:ext cx="768096" cy="768096"/>
          </a:xfrm>
          <a:prstGeom prst="ellipse">
            <a:avLst/>
          </a:prstGeom>
          <a:solidFill>
            <a:srgbClr val="1F4A82"/>
          </a:solidFill>
          <a:ln w="25400">
            <a:solidFill>
              <a:srgbClr val="FFFFFF"/>
            </a:solidFill>
            <a:prstDash val="solid"/>
          </a:ln>
        </p:spPr>
      </p:sp>
      <p:pic>
        <p:nvPicPr>
          <p:cNvPr id="55" name="Image 12" descr="FaCamera icon">    </p:cNvPr>
          <p:cNvPicPr>
            <a:picLocks noChangeAspect="1"/>
          </p:cNvPicPr>
          <p:nvPr/>
        </p:nvPicPr>
        <p:blipFill>
          <a:blip r:embed="rId13"/>
          <a:stretch>
            <a:fillRect/>
          </a:stretch>
        </p:blipFill>
        <p:spPr>
          <a:xfrm>
            <a:off x="7635240" y="2011680"/>
            <a:ext cx="365760" cy="365760"/>
          </a:xfrm>
          <a:prstGeom prst="rect">
            <a:avLst/>
          </a:prstGeom>
        </p:spPr>
      </p:pic>
      <p:sp>
        <p:nvSpPr>
          <p:cNvPr id="56" name="Text 40"/>
          <p:cNvSpPr txBox="1"/>
          <p:nvPr/>
        </p:nvSpPr>
        <p:spPr>
          <a:xfrm>
            <a:off x="8321040" y="1719072"/>
            <a:ext cx="2103120" cy="868680"/>
          </a:xfrm>
          <a:prstGeom prst="rect">
            <a:avLst/>
          </a:prstGeom>
          <a:noFill/>
          <a:ln/>
        </p:spPr>
        <p:txBody>
          <a:bodyPr wrap="square" lIns="0" tIns="0" rIns="0" bIns="0" rtlCol="0" anchor="t"/>
          <a:lstStyle/>
          <a:p>
            <a:pPr algn="l" indent="0" marL="0">
              <a:buNone/>
            </a:pPr>
            <a:r>
              <a:rPr lang="en-US" sz="1300" b="1" dirty="0">
                <a:solidFill>
                  <a:srgbClr val="1F4A82"/>
                </a:solidFill>
                <a:latin typeface="Calibri" pitchFamily="34" charset="0"/>
                <a:ea typeface="Calibri" pitchFamily="34" charset="-122"/>
                <a:cs typeface="Calibri" pitchFamily="34" charset="-120"/>
              </a:rPr>
              <a:t>1 Capture</a:t>
            </a:r>
            <a:endParaRPr lang="en-US" sz="1400" dirty="0"/>
          </a:p>
          <a:p>
            <a:pPr algn="l" indent="0" marL="0">
              <a:buNone/>
            </a:pPr>
            <a:r>
              <a:rPr lang="en-US" sz="1050" dirty="0">
                <a:solidFill>
                  <a:srgbClr val="1F2937"/>
                </a:solidFill>
                <a:latin typeface="Calibri" pitchFamily="34" charset="0"/>
                <a:ea typeface="Calibri" pitchFamily="34" charset="-122"/>
                <a:cs typeface="Calibri" pitchFamily="34" charset="-120"/>
              </a:rPr>
              <a:t>Phone photo or Excel becomes clean data</a:t>
            </a:r>
            <a:endParaRPr lang="en-US" sz="1400" dirty="0"/>
          </a:p>
          <a:p>
            <a:pPr algn="l" indent="0" marL="0">
              <a:buNone/>
            </a:pPr>
            <a:r>
              <a:rPr lang="en-US" sz="850" i="1" dirty="0">
                <a:solidFill>
                  <a:srgbClr val="5B6573"/>
                </a:solidFill>
                <a:latin typeface="Calibri" pitchFamily="34" charset="0"/>
                <a:ea typeface="Calibri" pitchFamily="34" charset="-122"/>
                <a:cs typeface="Calibri" pitchFamily="34" charset="-120"/>
              </a:rPr>
              <a:t>OMR reader</a:t>
            </a:r>
            <a:endParaRPr lang="en-US" sz="1400" dirty="0"/>
          </a:p>
        </p:txBody>
      </p:sp>
      <p:sp>
        <p:nvSpPr>
          <p:cNvPr id="57" name="Shape 41"/>
          <p:cNvSpPr/>
          <p:nvPr/>
        </p:nvSpPr>
        <p:spPr>
          <a:xfrm>
            <a:off x="9136643" y="2587752"/>
            <a:ext cx="768096" cy="768096"/>
          </a:xfrm>
          <a:prstGeom prst="ellipse">
            <a:avLst/>
          </a:prstGeom>
          <a:solidFill>
            <a:srgbClr val="2E6DB4"/>
          </a:solidFill>
          <a:ln w="25400">
            <a:solidFill>
              <a:srgbClr val="FFFFFF"/>
            </a:solidFill>
            <a:prstDash val="solid"/>
          </a:ln>
        </p:spPr>
      </p:sp>
      <p:pic>
        <p:nvPicPr>
          <p:cNvPr id="58" name="Image 13" descr="FaDiagramProject icon">    </p:cNvPr>
          <p:cNvPicPr>
            <a:picLocks noChangeAspect="1"/>
          </p:cNvPicPr>
          <p:nvPr/>
        </p:nvPicPr>
        <p:blipFill>
          <a:blip r:embed="rId14"/>
          <a:stretch>
            <a:fillRect/>
          </a:stretch>
        </p:blipFill>
        <p:spPr>
          <a:xfrm>
            <a:off x="9337811" y="2788920"/>
            <a:ext cx="365760" cy="365760"/>
          </a:xfrm>
          <a:prstGeom prst="rect">
            <a:avLst/>
          </a:prstGeom>
        </p:spPr>
      </p:pic>
      <p:sp>
        <p:nvSpPr>
          <p:cNvPr id="59" name="Text 42"/>
          <p:cNvSpPr txBox="1"/>
          <p:nvPr/>
        </p:nvSpPr>
        <p:spPr>
          <a:xfrm>
            <a:off x="10023611" y="2560320"/>
            <a:ext cx="1828800" cy="868680"/>
          </a:xfrm>
          <a:prstGeom prst="rect">
            <a:avLst/>
          </a:prstGeom>
          <a:noFill/>
          <a:ln/>
        </p:spPr>
        <p:txBody>
          <a:bodyPr wrap="square" lIns="0" tIns="0" rIns="0" bIns="0" rtlCol="0" anchor="t"/>
          <a:lstStyle/>
          <a:p>
            <a:pPr algn="l" indent="0" marL="0">
              <a:buNone/>
            </a:pPr>
            <a:r>
              <a:rPr lang="en-US" sz="1300" b="1" dirty="0">
                <a:solidFill>
                  <a:srgbClr val="1F4A82"/>
                </a:solidFill>
                <a:latin typeface="Calibri" pitchFamily="34" charset="0"/>
                <a:ea typeface="Calibri" pitchFamily="34" charset="-122"/>
                <a:cs typeface="Calibri" pitchFamily="34" charset="-120"/>
              </a:rPr>
              <a:t>2 Structure</a:t>
            </a:r>
            <a:endParaRPr lang="en-US" sz="1400" dirty="0"/>
          </a:p>
          <a:p>
            <a:pPr algn="l" indent="0" marL="0">
              <a:buNone/>
            </a:pPr>
            <a:r>
              <a:rPr lang="en-US" sz="1050" dirty="0">
                <a:solidFill>
                  <a:srgbClr val="1F2937"/>
                </a:solidFill>
                <a:latin typeface="Calibri" pitchFamily="34" charset="0"/>
                <a:ea typeface="Calibri" pitchFamily="34" charset="-122"/>
                <a:cs typeface="Calibri" pitchFamily="34" charset="-120"/>
              </a:rPr>
              <a:t>Every question tagged to a syllabus topic</a:t>
            </a:r>
            <a:endParaRPr lang="en-US" sz="1400" dirty="0"/>
          </a:p>
          <a:p>
            <a:pPr algn="l" indent="0" marL="0">
              <a:buNone/>
            </a:pPr>
            <a:r>
              <a:rPr lang="en-US" sz="850" i="1" dirty="0">
                <a:solidFill>
                  <a:srgbClr val="5B6573"/>
                </a:solidFill>
                <a:latin typeface="Calibri" pitchFamily="34" charset="0"/>
                <a:ea typeface="Calibri" pitchFamily="34" charset="-122"/>
                <a:cs typeface="Calibri" pitchFamily="34" charset="-120"/>
              </a:rPr>
              <a:t>380-topic map</a:t>
            </a:r>
            <a:endParaRPr lang="en-US" sz="1400" dirty="0"/>
          </a:p>
        </p:txBody>
      </p:sp>
      <p:sp>
        <p:nvSpPr>
          <p:cNvPr id="60" name="Shape 43"/>
          <p:cNvSpPr/>
          <p:nvPr/>
        </p:nvSpPr>
        <p:spPr>
          <a:xfrm>
            <a:off x="9136643" y="4142232"/>
            <a:ext cx="768096" cy="768096"/>
          </a:xfrm>
          <a:prstGeom prst="ellipse">
            <a:avLst/>
          </a:prstGeom>
          <a:solidFill>
            <a:srgbClr val="1F4A82"/>
          </a:solidFill>
          <a:ln w="25400">
            <a:solidFill>
              <a:srgbClr val="FFFFFF"/>
            </a:solidFill>
            <a:prstDash val="solid"/>
          </a:ln>
        </p:spPr>
      </p:sp>
      <p:pic>
        <p:nvPicPr>
          <p:cNvPr id="61" name="Image 14" descr="FaBrain icon">    </p:cNvPr>
          <p:cNvPicPr>
            <a:picLocks noChangeAspect="1"/>
          </p:cNvPicPr>
          <p:nvPr/>
        </p:nvPicPr>
        <p:blipFill>
          <a:blip r:embed="rId15"/>
          <a:stretch>
            <a:fillRect/>
          </a:stretch>
        </p:blipFill>
        <p:spPr>
          <a:xfrm>
            <a:off x="9337811" y="4343400"/>
            <a:ext cx="365760" cy="365760"/>
          </a:xfrm>
          <a:prstGeom prst="rect">
            <a:avLst/>
          </a:prstGeom>
        </p:spPr>
      </p:pic>
      <p:sp>
        <p:nvSpPr>
          <p:cNvPr id="62" name="Text 44"/>
          <p:cNvSpPr txBox="1"/>
          <p:nvPr/>
        </p:nvSpPr>
        <p:spPr>
          <a:xfrm>
            <a:off x="10023611" y="4114800"/>
            <a:ext cx="1828800" cy="868680"/>
          </a:xfrm>
          <a:prstGeom prst="rect">
            <a:avLst/>
          </a:prstGeom>
          <a:noFill/>
          <a:ln/>
        </p:spPr>
        <p:txBody>
          <a:bodyPr wrap="square" lIns="0" tIns="0" rIns="0" bIns="0" rtlCol="0" anchor="t"/>
          <a:lstStyle/>
          <a:p>
            <a:pPr algn="l" indent="0" marL="0">
              <a:buNone/>
            </a:pPr>
            <a:r>
              <a:rPr lang="en-US" sz="1300" b="1" dirty="0">
                <a:solidFill>
                  <a:srgbClr val="1F4A82"/>
                </a:solidFill>
                <a:latin typeface="Calibri" pitchFamily="34" charset="0"/>
                <a:ea typeface="Calibri" pitchFamily="34" charset="-122"/>
                <a:cs typeface="Calibri" pitchFamily="34" charset="-120"/>
              </a:rPr>
              <a:t>3 Estimate</a:t>
            </a:r>
            <a:endParaRPr lang="en-US" sz="1400" dirty="0"/>
          </a:p>
          <a:p>
            <a:pPr algn="l" indent="0" marL="0">
              <a:buNone/>
            </a:pPr>
            <a:r>
              <a:rPr lang="en-US" sz="1050" dirty="0">
                <a:solidFill>
                  <a:srgbClr val="1F2937"/>
                </a:solidFill>
                <a:latin typeface="Calibri" pitchFamily="34" charset="0"/>
                <a:ea typeface="Calibri" pitchFamily="34" charset="-122"/>
                <a:cs typeface="Calibri" pitchFamily="34" charset="-120"/>
              </a:rPr>
              <a:t>Knows each student's strengths, topic by topic</a:t>
            </a:r>
            <a:endParaRPr lang="en-US" sz="1400" dirty="0"/>
          </a:p>
          <a:p>
            <a:pPr algn="l" indent="0" marL="0">
              <a:buNone/>
            </a:pPr>
            <a:r>
              <a:rPr lang="en-US" sz="850" i="1" dirty="0">
                <a:solidFill>
                  <a:srgbClr val="5B6573"/>
                </a:solidFill>
                <a:latin typeface="Calibri" pitchFamily="34" charset="0"/>
                <a:ea typeface="Calibri" pitchFamily="34" charset="-122"/>
                <a:cs typeface="Calibri" pitchFamily="34" charset="-120"/>
              </a:rPr>
              <a:t>IRT mastery model</a:t>
            </a:r>
            <a:endParaRPr lang="en-US" sz="1400" dirty="0"/>
          </a:p>
        </p:txBody>
      </p:sp>
      <p:sp>
        <p:nvSpPr>
          <p:cNvPr id="63" name="Shape 45"/>
          <p:cNvSpPr/>
          <p:nvPr/>
        </p:nvSpPr>
        <p:spPr>
          <a:xfrm>
            <a:off x="7434072" y="4919472"/>
            <a:ext cx="768096" cy="768096"/>
          </a:xfrm>
          <a:prstGeom prst="ellipse">
            <a:avLst/>
          </a:prstGeom>
          <a:solidFill>
            <a:srgbClr val="2E6DB4"/>
          </a:solidFill>
          <a:ln w="25400">
            <a:solidFill>
              <a:srgbClr val="FFFFFF"/>
            </a:solidFill>
            <a:prstDash val="solid"/>
          </a:ln>
        </p:spPr>
      </p:sp>
      <p:pic>
        <p:nvPicPr>
          <p:cNvPr id="64" name="Image 15" descr="FaFlag icon">    </p:cNvPr>
          <p:cNvPicPr>
            <a:picLocks noChangeAspect="1"/>
          </p:cNvPicPr>
          <p:nvPr/>
        </p:nvPicPr>
        <p:blipFill>
          <a:blip r:embed="rId16"/>
          <a:stretch>
            <a:fillRect/>
          </a:stretch>
        </p:blipFill>
        <p:spPr>
          <a:xfrm>
            <a:off x="7635240" y="5120640"/>
            <a:ext cx="365760" cy="365760"/>
          </a:xfrm>
          <a:prstGeom prst="rect">
            <a:avLst/>
          </a:prstGeom>
        </p:spPr>
      </p:pic>
      <p:sp>
        <p:nvSpPr>
          <p:cNvPr id="65" name="Text 46"/>
          <p:cNvSpPr txBox="1"/>
          <p:nvPr/>
        </p:nvSpPr>
        <p:spPr>
          <a:xfrm>
            <a:off x="5212080" y="5029200"/>
            <a:ext cx="2103120" cy="868680"/>
          </a:xfrm>
          <a:prstGeom prst="rect">
            <a:avLst/>
          </a:prstGeom>
          <a:noFill/>
          <a:ln/>
        </p:spPr>
        <p:txBody>
          <a:bodyPr wrap="square" lIns="0" tIns="0" rIns="0" bIns="0" rtlCol="0" anchor="t"/>
          <a:lstStyle/>
          <a:p>
            <a:pPr algn="r" indent="0" marL="0">
              <a:buNone/>
            </a:pPr>
            <a:r>
              <a:rPr lang="en-US" sz="1300" b="1" dirty="0">
                <a:solidFill>
                  <a:srgbClr val="1F4A82"/>
                </a:solidFill>
                <a:latin typeface="Calibri" pitchFamily="34" charset="0"/>
                <a:ea typeface="Calibri" pitchFamily="34" charset="-122"/>
                <a:cs typeface="Calibri" pitchFamily="34" charset="-120"/>
              </a:rPr>
              <a:t>4 Flag</a:t>
            </a:r>
            <a:endParaRPr lang="en-US" sz="1400" dirty="0"/>
          </a:p>
          <a:p>
            <a:pPr algn="r" indent="0" marL="0">
              <a:buNone/>
            </a:pPr>
            <a:r>
              <a:rPr lang="en-US" sz="1050" dirty="0">
                <a:solidFill>
                  <a:srgbClr val="1F2937"/>
                </a:solidFill>
                <a:latin typeface="Calibri" pitchFamily="34" charset="0"/>
                <a:ea typeface="Calibri" pitchFamily="34" charset="-122"/>
                <a:cs typeface="Calibri" pitchFamily="34" charset="-120"/>
              </a:rPr>
              <a:t>A short weekly list: who needs help, why</a:t>
            </a:r>
            <a:endParaRPr lang="en-US" sz="1400" dirty="0"/>
          </a:p>
          <a:p>
            <a:pPr algn="r" indent="0" marL="0">
              <a:buNone/>
            </a:pPr>
            <a:r>
              <a:rPr lang="en-US" sz="850" i="1" dirty="0">
                <a:solidFill>
                  <a:srgbClr val="5B6573"/>
                </a:solidFill>
                <a:latin typeface="Calibri" pitchFamily="34" charset="0"/>
                <a:ea typeface="Calibri" pitchFamily="34" charset="-122"/>
                <a:cs typeface="Calibri" pitchFamily="34" charset="-120"/>
              </a:rPr>
              <a:t>Calibrated risk model</a:t>
            </a:r>
            <a:endParaRPr lang="en-US" sz="1400" dirty="0"/>
          </a:p>
        </p:txBody>
      </p:sp>
      <p:sp>
        <p:nvSpPr>
          <p:cNvPr id="66" name="Shape 47"/>
          <p:cNvSpPr/>
          <p:nvPr/>
        </p:nvSpPr>
        <p:spPr>
          <a:xfrm>
            <a:off x="5731501" y="4142232"/>
            <a:ext cx="768096" cy="768096"/>
          </a:xfrm>
          <a:prstGeom prst="ellipse">
            <a:avLst/>
          </a:prstGeom>
          <a:solidFill>
            <a:srgbClr val="1F4A82"/>
          </a:solidFill>
          <a:ln w="25400">
            <a:solidFill>
              <a:srgbClr val="FFFFFF"/>
            </a:solidFill>
            <a:prstDash val="solid"/>
          </a:ln>
        </p:spPr>
      </p:sp>
      <p:pic>
        <p:nvPicPr>
          <p:cNvPr id="67" name="Image 16" descr="FaHandshake icon">    </p:cNvPr>
          <p:cNvPicPr>
            <a:picLocks noChangeAspect="1"/>
          </p:cNvPicPr>
          <p:nvPr/>
        </p:nvPicPr>
        <p:blipFill>
          <a:blip r:embed="rId17"/>
          <a:stretch>
            <a:fillRect/>
          </a:stretch>
        </p:blipFill>
        <p:spPr>
          <a:xfrm>
            <a:off x="5932669" y="4343400"/>
            <a:ext cx="365760" cy="365760"/>
          </a:xfrm>
          <a:prstGeom prst="rect">
            <a:avLst/>
          </a:prstGeom>
        </p:spPr>
      </p:pic>
      <p:sp>
        <p:nvSpPr>
          <p:cNvPr id="68" name="Text 48"/>
          <p:cNvSpPr txBox="1"/>
          <p:nvPr/>
        </p:nvSpPr>
        <p:spPr>
          <a:xfrm>
            <a:off x="3783829" y="4114800"/>
            <a:ext cx="1828800" cy="868680"/>
          </a:xfrm>
          <a:prstGeom prst="rect">
            <a:avLst/>
          </a:prstGeom>
          <a:noFill/>
          <a:ln/>
        </p:spPr>
        <p:txBody>
          <a:bodyPr wrap="square" lIns="0" tIns="0" rIns="0" bIns="0" rtlCol="0" anchor="t"/>
          <a:lstStyle/>
          <a:p>
            <a:pPr algn="r" indent="0" marL="0">
              <a:buNone/>
            </a:pPr>
            <a:r>
              <a:rPr lang="en-US" sz="1300" b="1" dirty="0">
                <a:solidFill>
                  <a:srgbClr val="1F4A82"/>
                </a:solidFill>
                <a:latin typeface="Calibri" pitchFamily="34" charset="0"/>
                <a:ea typeface="Calibri" pitchFamily="34" charset="-122"/>
                <a:cs typeface="Calibri" pitchFamily="34" charset="-120"/>
              </a:rPr>
              <a:t>5 Act</a:t>
            </a:r>
            <a:endParaRPr lang="en-US" sz="1400" dirty="0"/>
          </a:p>
          <a:p>
            <a:pPr algn="r" indent="0" marL="0">
              <a:buNone/>
            </a:pPr>
            <a:r>
              <a:rPr lang="en-US" sz="1050" dirty="0">
                <a:solidFill>
                  <a:srgbClr val="1F2937"/>
                </a:solidFill>
                <a:latin typeface="Calibri" pitchFamily="34" charset="0"/>
                <a:ea typeface="Calibri" pitchFamily="34" charset="-122"/>
                <a:cs typeface="Calibri" pitchFamily="34" charset="-120"/>
              </a:rPr>
              <a:t>Mentors call; every outcome is logged</a:t>
            </a:r>
            <a:endParaRPr lang="en-US" sz="1400" dirty="0"/>
          </a:p>
          <a:p>
            <a:pPr algn="r" indent="0" marL="0">
              <a:buNone/>
            </a:pPr>
            <a:r>
              <a:rPr lang="en-US" sz="850" i="1" dirty="0">
                <a:solidFill>
                  <a:srgbClr val="5B6573"/>
                </a:solidFill>
                <a:latin typeface="Calibri" pitchFamily="34" charset="0"/>
                <a:ea typeface="Calibri" pitchFamily="34" charset="-122"/>
                <a:cs typeface="Calibri" pitchFamily="34" charset="-120"/>
              </a:rPr>
              <a:t>Intervention log</a:t>
            </a:r>
            <a:endParaRPr lang="en-US" sz="1400" dirty="0"/>
          </a:p>
        </p:txBody>
      </p:sp>
      <p:sp>
        <p:nvSpPr>
          <p:cNvPr id="69" name="Shape 49"/>
          <p:cNvSpPr/>
          <p:nvPr/>
        </p:nvSpPr>
        <p:spPr>
          <a:xfrm>
            <a:off x="5731501" y="2587752"/>
            <a:ext cx="768096" cy="768096"/>
          </a:xfrm>
          <a:prstGeom prst="ellipse">
            <a:avLst/>
          </a:prstGeom>
          <a:solidFill>
            <a:srgbClr val="2E6DB4"/>
          </a:solidFill>
          <a:ln w="25400">
            <a:solidFill>
              <a:srgbClr val="FFFFFF"/>
            </a:solidFill>
            <a:prstDash val="solid"/>
          </a:ln>
        </p:spPr>
      </p:sp>
      <p:pic>
        <p:nvPicPr>
          <p:cNvPr id="70" name="Image 17" descr="FaFileLines icon">    </p:cNvPr>
          <p:cNvPicPr>
            <a:picLocks noChangeAspect="1"/>
          </p:cNvPicPr>
          <p:nvPr/>
        </p:nvPicPr>
        <p:blipFill>
          <a:blip r:embed="rId18"/>
          <a:stretch>
            <a:fillRect/>
          </a:stretch>
        </p:blipFill>
        <p:spPr>
          <a:xfrm>
            <a:off x="5932669" y="2788920"/>
            <a:ext cx="365760" cy="365760"/>
          </a:xfrm>
          <a:prstGeom prst="rect">
            <a:avLst/>
          </a:prstGeom>
        </p:spPr>
      </p:pic>
      <p:sp>
        <p:nvSpPr>
          <p:cNvPr id="71" name="Text 50"/>
          <p:cNvSpPr txBox="1"/>
          <p:nvPr/>
        </p:nvSpPr>
        <p:spPr>
          <a:xfrm>
            <a:off x="3783829" y="2560320"/>
            <a:ext cx="1828800" cy="868680"/>
          </a:xfrm>
          <a:prstGeom prst="rect">
            <a:avLst/>
          </a:prstGeom>
          <a:noFill/>
          <a:ln/>
        </p:spPr>
        <p:txBody>
          <a:bodyPr wrap="square" lIns="0" tIns="0" rIns="0" bIns="0" rtlCol="0" anchor="t"/>
          <a:lstStyle/>
          <a:p>
            <a:pPr algn="r" indent="0" marL="0">
              <a:buNone/>
            </a:pPr>
            <a:r>
              <a:rPr lang="en-US" sz="1300" b="1" dirty="0">
                <a:solidFill>
                  <a:srgbClr val="1F4A82"/>
                </a:solidFill>
                <a:latin typeface="Calibri" pitchFamily="34" charset="0"/>
                <a:ea typeface="Calibri" pitchFamily="34" charset="-122"/>
                <a:cs typeface="Calibri" pitchFamily="34" charset="-120"/>
              </a:rPr>
              <a:t>6 Report</a:t>
            </a:r>
            <a:endParaRPr lang="en-US" sz="1400" dirty="0"/>
          </a:p>
          <a:p>
            <a:pPr algn="r" indent="0" marL="0">
              <a:buNone/>
            </a:pPr>
            <a:r>
              <a:rPr lang="en-US" sz="1050" dirty="0">
                <a:solidFill>
                  <a:srgbClr val="1F2937"/>
                </a:solidFill>
                <a:latin typeface="Calibri" pitchFamily="34" charset="0"/>
                <a:ea typeface="Calibri" pitchFamily="34" charset="-122"/>
                <a:cs typeface="Calibri" pitchFamily="34" charset="-120"/>
              </a:rPr>
              <a:t>Checked Hindi and English parent updates</a:t>
            </a:r>
            <a:endParaRPr lang="en-US" sz="1400" dirty="0"/>
          </a:p>
          <a:p>
            <a:pPr algn="r" indent="0" marL="0">
              <a:buNone/>
            </a:pPr>
            <a:r>
              <a:rPr lang="en-US" sz="850" i="1" dirty="0">
                <a:solidFill>
                  <a:srgbClr val="5B6573"/>
                </a:solidFill>
                <a:latin typeface="Calibri" pitchFamily="34" charset="0"/>
                <a:ea typeface="Calibri" pitchFamily="34" charset="-122"/>
                <a:cs typeface="Calibri" pitchFamily="34" charset="-120"/>
              </a:rPr>
              <a:t>8-check verifier</a:t>
            </a:r>
            <a:endParaRPr lang="en-US" sz="1400" dirty="0"/>
          </a:p>
        </p:txBody>
      </p:sp>
      <p:sp>
        <p:nvSpPr>
          <p:cNvPr id="72" name="Text 51"/>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product design; financial model v1.1 (₹3.6 all-in cost, Base); case guide baselines. Technical names appear in grey as proof of rigour.</a:t>
            </a:r>
            <a:endParaRPr lang="en-US" sz="85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D4A24C"/>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debt">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2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THE PROBLEM: LEAKY REVENUE, MESSY DATA</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Institutes have the marks, but notice a struggling student only after that student has left</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88720"/>
            <a:ext cx="5440680" cy="274320"/>
          </a:xfrm>
          <a:prstGeom prst="rect">
            <a:avLst/>
          </a:prstGeom>
          <a:solidFill>
            <a:srgbClr val="1F4A82"/>
          </a:solidFill>
          <a:ln/>
        </p:spPr>
      </p:sp>
      <p:sp>
        <p:nvSpPr>
          <p:cNvPr id="27" name="Text 23"/>
          <p:cNvSpPr txBox="1"/>
          <p:nvPr/>
        </p:nvSpPr>
        <p:spPr>
          <a:xfrm>
            <a:off x="484632" y="1188720"/>
            <a:ext cx="5294376"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LEAKY REVENUE</a:t>
            </a:r>
            <a:endParaRPr lang="en-US" sz="1150" dirty="0"/>
          </a:p>
        </p:txBody>
      </p:sp>
      <p:sp>
        <p:nvSpPr>
          <p:cNvPr id="28" name="Shape 24"/>
          <p:cNvSpPr/>
          <p:nvPr/>
        </p:nvSpPr>
        <p:spPr>
          <a:xfrm>
            <a:off x="411480" y="1463040"/>
            <a:ext cx="2697480" cy="1051560"/>
          </a:xfrm>
          <a:prstGeom prst="rect">
            <a:avLst/>
          </a:prstGeom>
          <a:solidFill>
            <a:srgbClr val="1F4A82"/>
          </a:solidFill>
          <a:ln/>
        </p:spPr>
      </p:sp>
      <p:sp>
        <p:nvSpPr>
          <p:cNvPr id="29" name="Text 25"/>
          <p:cNvSpPr txBox="1"/>
          <p:nvPr/>
        </p:nvSpPr>
        <p:spPr>
          <a:xfrm>
            <a:off x="411480" y="1517904"/>
            <a:ext cx="2697480" cy="59436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8–15 %</a:t>
            </a:r>
            <a:endParaRPr lang="en-US" sz="3200" dirty="0"/>
          </a:p>
        </p:txBody>
      </p:sp>
      <p:sp>
        <p:nvSpPr>
          <p:cNvPr id="30" name="Text 26"/>
          <p:cNvSpPr txBox="1"/>
          <p:nvPr/>
        </p:nvSpPr>
        <p:spPr>
          <a:xfrm>
            <a:off x="502920" y="2103120"/>
            <a:ext cx="251460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 students leave mid-session</a:t>
            </a:r>
            <a:endParaRPr lang="en-US" sz="1050" dirty="0"/>
          </a:p>
        </p:txBody>
      </p:sp>
      <p:sp>
        <p:nvSpPr>
          <p:cNvPr id="31" name="Shape 27"/>
          <p:cNvSpPr/>
          <p:nvPr/>
        </p:nvSpPr>
        <p:spPr>
          <a:xfrm>
            <a:off x="3154680" y="1463040"/>
            <a:ext cx="2697480" cy="1051560"/>
          </a:xfrm>
          <a:prstGeom prst="rect">
            <a:avLst/>
          </a:prstGeom>
          <a:solidFill>
            <a:srgbClr val="C0392B"/>
          </a:solidFill>
          <a:ln/>
        </p:spPr>
      </p:sp>
      <p:sp>
        <p:nvSpPr>
          <p:cNvPr id="32" name="Text 28"/>
          <p:cNvSpPr txBox="1"/>
          <p:nvPr/>
        </p:nvSpPr>
        <p:spPr>
          <a:xfrm>
            <a:off x="3154680" y="1517904"/>
            <a:ext cx="2697480" cy="59436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₹17.3 L</a:t>
            </a:r>
            <a:endParaRPr lang="en-US" sz="3200" dirty="0"/>
          </a:p>
        </p:txBody>
      </p:sp>
      <p:sp>
        <p:nvSpPr>
          <p:cNvPr id="33" name="Text 29"/>
          <p:cNvSpPr txBox="1"/>
          <p:nvPr/>
        </p:nvSpPr>
        <p:spPr>
          <a:xfrm>
            <a:off x="3246120" y="2103120"/>
            <a:ext cx="251460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fees lost a year, per 400 students</a:t>
            </a:r>
            <a:endParaRPr lang="en-US" sz="1050" dirty="0"/>
          </a:p>
        </p:txBody>
      </p:sp>
      <p:sp>
        <p:nvSpPr>
          <p:cNvPr id="34" name="Shape 30"/>
          <p:cNvSpPr/>
          <p:nvPr/>
        </p:nvSpPr>
        <p:spPr>
          <a:xfrm>
            <a:off x="411480" y="2697480"/>
            <a:ext cx="256032" cy="256032"/>
          </a:xfrm>
          <a:prstGeom prst="rect">
            <a:avLst/>
          </a:prstGeom>
          <a:solidFill>
            <a:srgbClr val="1F4A82"/>
          </a:solidFill>
          <a:ln/>
        </p:spPr>
      </p:sp>
      <p:sp>
        <p:nvSpPr>
          <p:cNvPr id="35" name="Text 31"/>
          <p:cNvSpPr txBox="1"/>
          <p:nvPr/>
        </p:nvSpPr>
        <p:spPr>
          <a:xfrm>
            <a:off x="411480" y="269748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36" name="Text 32"/>
          <p:cNvSpPr txBox="1"/>
          <p:nvPr/>
        </p:nvSpPr>
        <p:spPr>
          <a:xfrm>
            <a:off x="740664" y="2697480"/>
            <a:ext cx="506577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WHERE THE DATA LIVES</a:t>
            </a:r>
            <a:endParaRPr lang="en-US" sz="1200" dirty="0"/>
          </a:p>
        </p:txBody>
      </p:sp>
      <p:sp>
        <p:nvSpPr>
          <p:cNvPr id="37" name="Shape 33"/>
          <p:cNvSpPr/>
          <p:nvPr/>
        </p:nvSpPr>
        <p:spPr>
          <a:xfrm>
            <a:off x="411480" y="3017520"/>
            <a:ext cx="1737360" cy="457200"/>
          </a:xfrm>
          <a:prstGeom prst="rect">
            <a:avLst/>
          </a:prstGeom>
          <a:solidFill>
            <a:srgbClr val="EEF2F7"/>
          </a:solidFill>
          <a:ln w="12700">
            <a:solidFill>
              <a:srgbClr val="9AA6B5"/>
            </a:solidFill>
            <a:prstDash val="dash"/>
          </a:ln>
        </p:spPr>
      </p:sp>
      <p:pic>
        <p:nvPicPr>
          <p:cNvPr id="38" name="Image 1" descr="FaMobileScreen icon">    </p:cNvPr>
          <p:cNvPicPr>
            <a:picLocks noChangeAspect="1"/>
          </p:cNvPicPr>
          <p:nvPr/>
        </p:nvPicPr>
        <p:blipFill>
          <a:blip r:embed="rId2"/>
          <a:stretch>
            <a:fillRect/>
          </a:stretch>
        </p:blipFill>
        <p:spPr>
          <a:xfrm>
            <a:off x="3482264" y="100584"/>
            <a:ext cx="182880" cy="182880"/>
          </a:xfrm>
          <a:prstGeom prst="rect">
            <a:avLst/>
          </a:prstGeom>
        </p:spPr>
      </p:pic>
      <p:pic>
        <p:nvPicPr>
          <p:cNvPr id="39" name="Image 2" descr="FaGears icon">    </p:cNvPr>
          <p:cNvPicPr>
            <a:picLocks noChangeAspect="1"/>
          </p:cNvPicPr>
          <p:nvPr/>
        </p:nvPicPr>
        <p:blipFill>
          <a:blip r:embed="rId3"/>
          <a:stretch>
            <a:fillRect/>
          </a:stretch>
        </p:blipFill>
        <p:spPr>
          <a:xfrm>
            <a:off x="4880496" y="100584"/>
            <a:ext cx="182880" cy="182880"/>
          </a:xfrm>
          <a:prstGeom prst="rect">
            <a:avLst/>
          </a:prstGeom>
        </p:spPr>
      </p:pic>
      <p:pic>
        <p:nvPicPr>
          <p:cNvPr id="40" name="Image 3" descr="FaShieldHalved icon">    </p:cNvPr>
          <p:cNvPicPr>
            <a:picLocks noChangeAspect="1"/>
          </p:cNvPicPr>
          <p:nvPr/>
        </p:nvPicPr>
        <p:blipFill>
          <a:blip r:embed="rId4"/>
          <a:stretch>
            <a:fillRect/>
          </a:stretch>
        </p:blipFill>
        <p:spPr>
          <a:xfrm>
            <a:off x="6278728" y="100584"/>
            <a:ext cx="182880" cy="182880"/>
          </a:xfrm>
          <a:prstGeom prst="rect">
            <a:avLst/>
          </a:prstGeom>
        </p:spPr>
      </p:pic>
      <p:pic>
        <p:nvPicPr>
          <p:cNvPr id="41" name="Image 4" descr="FaIndianRupeeSign icon">    </p:cNvPr>
          <p:cNvPicPr>
            <a:picLocks noChangeAspect="1"/>
          </p:cNvPicPr>
          <p:nvPr/>
        </p:nvPicPr>
        <p:blipFill>
          <a:blip r:embed="rId5"/>
          <a:stretch>
            <a:fillRect/>
          </a:stretch>
        </p:blipFill>
        <p:spPr>
          <a:xfrm>
            <a:off x="7676960" y="100584"/>
            <a:ext cx="182880" cy="182880"/>
          </a:xfrm>
          <a:prstGeom prst="rect">
            <a:avLst/>
          </a:prstGeom>
        </p:spPr>
      </p:pic>
      <p:pic>
        <p:nvPicPr>
          <p:cNvPr id="42" name="Image 5" descr="FaBullseye icon">    </p:cNvPr>
          <p:cNvPicPr>
            <a:picLocks noChangeAspect="1"/>
          </p:cNvPicPr>
          <p:nvPr/>
        </p:nvPicPr>
        <p:blipFill>
          <a:blip r:embed="rId6"/>
          <a:stretch>
            <a:fillRect/>
          </a:stretch>
        </p:blipFill>
        <p:spPr>
          <a:xfrm>
            <a:off x="9075191" y="100584"/>
            <a:ext cx="182880" cy="182880"/>
          </a:xfrm>
          <a:prstGeom prst="rect">
            <a:avLst/>
          </a:prstGeom>
        </p:spPr>
      </p:pic>
      <p:pic>
        <p:nvPicPr>
          <p:cNvPr id="43" name="Image 6" descr="FaBookOpen icon">    </p:cNvPr>
          <p:cNvPicPr>
            <a:picLocks noChangeAspect="1"/>
          </p:cNvPicPr>
          <p:nvPr/>
        </p:nvPicPr>
        <p:blipFill>
          <a:blip r:embed="rId7"/>
          <a:stretch>
            <a:fillRect/>
          </a:stretch>
        </p:blipFill>
        <p:spPr>
          <a:xfrm>
            <a:off x="10473423" y="100584"/>
            <a:ext cx="182880" cy="182880"/>
          </a:xfrm>
          <a:prstGeom prst="rect">
            <a:avLst/>
          </a:prstGeom>
        </p:spPr>
      </p:pic>
      <p:pic>
        <p:nvPicPr>
          <p:cNvPr id="44" name="Image 7" descr="FaClipboardList icon">    </p:cNvPr>
          <p:cNvPicPr>
            <a:picLocks noChangeAspect="1"/>
          </p:cNvPicPr>
          <p:nvPr/>
        </p:nvPicPr>
        <p:blipFill>
          <a:blip r:embed="rId8"/>
          <a:stretch>
            <a:fillRect/>
          </a:stretch>
        </p:blipFill>
        <p:spPr>
          <a:xfrm>
            <a:off x="521208" y="100584"/>
            <a:ext cx="182880" cy="182880"/>
          </a:xfrm>
          <a:prstGeom prst="rect">
            <a:avLst/>
          </a:prstGeom>
        </p:spPr>
      </p:pic>
      <p:pic>
        <p:nvPicPr>
          <p:cNvPr id="45" name="Image 8" descr="FaTriangleExclamation icon">    </p:cNvPr>
          <p:cNvPicPr>
            <a:picLocks noChangeAspect="1"/>
          </p:cNvPicPr>
          <p:nvPr/>
        </p:nvPicPr>
        <p:blipFill>
          <a:blip r:embed="rId9"/>
          <a:stretch>
            <a:fillRect/>
          </a:stretch>
        </p:blipFill>
        <p:spPr>
          <a:xfrm>
            <a:off x="2084032" y="100584"/>
            <a:ext cx="182880" cy="182880"/>
          </a:xfrm>
          <a:prstGeom prst="rect">
            <a:avLst/>
          </a:prstGeom>
        </p:spPr>
      </p:pic>
      <p:pic>
        <p:nvPicPr>
          <p:cNvPr id="46" name="Image 9" descr="FaFileExcel icon">    </p:cNvPr>
          <p:cNvPicPr>
            <a:picLocks noChangeAspect="1"/>
          </p:cNvPicPr>
          <p:nvPr/>
        </p:nvPicPr>
        <p:blipFill>
          <a:blip r:embed="rId10"/>
          <a:stretch>
            <a:fillRect/>
          </a:stretch>
        </p:blipFill>
        <p:spPr>
          <a:xfrm>
            <a:off x="502920" y="3108960"/>
            <a:ext cx="274320" cy="274320"/>
          </a:xfrm>
          <a:prstGeom prst="rect">
            <a:avLst/>
          </a:prstGeom>
        </p:spPr>
      </p:pic>
      <p:sp>
        <p:nvSpPr>
          <p:cNvPr id="47" name="Text 34"/>
          <p:cNvSpPr txBox="1"/>
          <p:nvPr/>
        </p:nvSpPr>
        <p:spPr>
          <a:xfrm>
            <a:off x="868680" y="3017520"/>
            <a:ext cx="1261872" cy="457200"/>
          </a:xfrm>
          <a:prstGeom prst="rect">
            <a:avLst/>
          </a:prstGeom>
          <a:noFill/>
          <a:ln/>
        </p:spPr>
        <p:txBody>
          <a:bodyPr wrap="square" lIns="0" tIns="0" rIns="0" bIns="0" rtlCol="0" anchor="ctr"/>
          <a:lstStyle/>
          <a:p>
            <a:pPr algn="l" indent="0" marL="0">
              <a:buNone/>
            </a:pPr>
            <a:r>
              <a:rPr lang="en-US" sz="1050" b="1" dirty="0">
                <a:solidFill>
                  <a:srgbClr val="5B6573"/>
                </a:solidFill>
                <a:latin typeface="Calibri" pitchFamily="34" charset="0"/>
                <a:ea typeface="Calibri" pitchFamily="34" charset="-122"/>
                <a:cs typeface="Calibri" pitchFamily="34" charset="-120"/>
              </a:rPr>
              <a:t>Excel files</a:t>
            </a:r>
            <a:endParaRPr lang="en-US" sz="1050" dirty="0"/>
          </a:p>
        </p:txBody>
      </p:sp>
      <p:sp>
        <p:nvSpPr>
          <p:cNvPr id="48" name="Shape 35"/>
          <p:cNvSpPr/>
          <p:nvPr/>
        </p:nvSpPr>
        <p:spPr>
          <a:xfrm>
            <a:off x="2240280" y="3017520"/>
            <a:ext cx="1737360" cy="457200"/>
          </a:xfrm>
          <a:prstGeom prst="rect">
            <a:avLst/>
          </a:prstGeom>
          <a:solidFill>
            <a:srgbClr val="EEF2F7"/>
          </a:solidFill>
          <a:ln w="12700">
            <a:solidFill>
              <a:srgbClr val="9AA6B5"/>
            </a:solidFill>
            <a:prstDash val="dash"/>
          </a:ln>
        </p:spPr>
      </p:sp>
      <p:pic>
        <p:nvPicPr>
          <p:cNvPr id="49" name="Image 10" descr="FaFileLines icon">    </p:cNvPr>
          <p:cNvPicPr>
            <a:picLocks noChangeAspect="1"/>
          </p:cNvPicPr>
          <p:nvPr/>
        </p:nvPicPr>
        <p:blipFill>
          <a:blip r:embed="rId11"/>
          <a:stretch>
            <a:fillRect/>
          </a:stretch>
        </p:blipFill>
        <p:spPr>
          <a:xfrm>
            <a:off x="2331720" y="3108960"/>
            <a:ext cx="274320" cy="274320"/>
          </a:xfrm>
          <a:prstGeom prst="rect">
            <a:avLst/>
          </a:prstGeom>
        </p:spPr>
      </p:pic>
      <p:sp>
        <p:nvSpPr>
          <p:cNvPr id="50" name="Text 36"/>
          <p:cNvSpPr txBox="1"/>
          <p:nvPr/>
        </p:nvSpPr>
        <p:spPr>
          <a:xfrm>
            <a:off x="2697480" y="3017520"/>
            <a:ext cx="1261872" cy="457200"/>
          </a:xfrm>
          <a:prstGeom prst="rect">
            <a:avLst/>
          </a:prstGeom>
          <a:noFill/>
          <a:ln/>
        </p:spPr>
        <p:txBody>
          <a:bodyPr wrap="square" lIns="0" tIns="0" rIns="0" bIns="0" rtlCol="0" anchor="ctr"/>
          <a:lstStyle/>
          <a:p>
            <a:pPr algn="l" indent="0" marL="0">
              <a:buNone/>
            </a:pPr>
            <a:r>
              <a:rPr lang="en-US" sz="1050" b="1" dirty="0">
                <a:solidFill>
                  <a:srgbClr val="5B6573"/>
                </a:solidFill>
                <a:latin typeface="Calibri" pitchFamily="34" charset="0"/>
                <a:ea typeface="Calibri" pitchFamily="34" charset="-122"/>
                <a:cs typeface="Calibri" pitchFamily="34" charset="-120"/>
              </a:rPr>
              <a:t>Paper OMR sheets</a:t>
            </a:r>
            <a:endParaRPr lang="en-US" sz="1050" dirty="0"/>
          </a:p>
        </p:txBody>
      </p:sp>
      <p:sp>
        <p:nvSpPr>
          <p:cNvPr id="51" name="Shape 37"/>
          <p:cNvSpPr/>
          <p:nvPr/>
        </p:nvSpPr>
        <p:spPr>
          <a:xfrm>
            <a:off x="4069080" y="3017520"/>
            <a:ext cx="1737360" cy="457200"/>
          </a:xfrm>
          <a:prstGeom prst="rect">
            <a:avLst/>
          </a:prstGeom>
          <a:solidFill>
            <a:srgbClr val="EEF2F7"/>
          </a:solidFill>
          <a:ln w="12700">
            <a:solidFill>
              <a:srgbClr val="9AA6B5"/>
            </a:solidFill>
            <a:prstDash val="dash"/>
          </a:ln>
        </p:spPr>
      </p:sp>
      <p:pic>
        <p:nvPicPr>
          <p:cNvPr id="52" name="Image 11" descr="FaWhatsapp icon">    </p:cNvPr>
          <p:cNvPicPr>
            <a:picLocks noChangeAspect="1"/>
          </p:cNvPicPr>
          <p:nvPr/>
        </p:nvPicPr>
        <p:blipFill>
          <a:blip r:embed="rId12"/>
          <a:stretch>
            <a:fillRect/>
          </a:stretch>
        </p:blipFill>
        <p:spPr>
          <a:xfrm>
            <a:off x="4160520" y="3108960"/>
            <a:ext cx="274320" cy="274320"/>
          </a:xfrm>
          <a:prstGeom prst="rect">
            <a:avLst/>
          </a:prstGeom>
        </p:spPr>
      </p:pic>
      <p:sp>
        <p:nvSpPr>
          <p:cNvPr id="53" name="Text 38"/>
          <p:cNvSpPr txBox="1"/>
          <p:nvPr/>
        </p:nvSpPr>
        <p:spPr>
          <a:xfrm>
            <a:off x="4526280" y="3017520"/>
            <a:ext cx="1261872" cy="457200"/>
          </a:xfrm>
          <a:prstGeom prst="rect">
            <a:avLst/>
          </a:prstGeom>
          <a:noFill/>
          <a:ln/>
        </p:spPr>
        <p:txBody>
          <a:bodyPr wrap="square" lIns="0" tIns="0" rIns="0" bIns="0" rtlCol="0" anchor="ctr"/>
          <a:lstStyle/>
          <a:p>
            <a:pPr algn="l" indent="0" marL="0">
              <a:buNone/>
            </a:pPr>
            <a:r>
              <a:rPr lang="en-US" sz="1050" b="1" dirty="0">
                <a:solidFill>
                  <a:srgbClr val="5B6573"/>
                </a:solidFill>
                <a:latin typeface="Calibri" pitchFamily="34" charset="0"/>
                <a:ea typeface="Calibri" pitchFamily="34" charset="-122"/>
                <a:cs typeface="Calibri" pitchFamily="34" charset="-120"/>
              </a:rPr>
              <a:t>WhatsApp groups</a:t>
            </a:r>
            <a:endParaRPr lang="en-US" sz="1050" dirty="0"/>
          </a:p>
        </p:txBody>
      </p:sp>
      <p:sp>
        <p:nvSpPr>
          <p:cNvPr id="54" name="Shape 39"/>
          <p:cNvSpPr/>
          <p:nvPr/>
        </p:nvSpPr>
        <p:spPr>
          <a:xfrm flipV="1">
            <a:off x="411480" y="3611880"/>
            <a:ext cx="5440680" cy="585216"/>
          </a:xfrm>
          <a:prstGeom prst="trapezoid">
            <a:avLst/>
          </a:prstGeom>
          <a:solidFill>
            <a:srgbClr val="9AA6B5"/>
          </a:solidFill>
          <a:ln w="19050">
            <a:solidFill>
              <a:srgbClr val="FFFFFF"/>
            </a:solidFill>
            <a:prstDash val="solid"/>
          </a:ln>
        </p:spPr>
      </p:sp>
      <p:sp>
        <p:nvSpPr>
          <p:cNvPr id="55" name="Text 40"/>
          <p:cNvSpPr txBox="1"/>
          <p:nvPr/>
        </p:nvSpPr>
        <p:spPr>
          <a:xfrm>
            <a:off x="685800" y="3611880"/>
            <a:ext cx="4892040" cy="58521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Messy, unconnected data</a:t>
            </a:r>
            <a:endParaRPr lang="en-US" sz="1400" dirty="0"/>
          </a:p>
          <a:p>
            <a:pPr algn="ctr" indent="0" marL="0">
              <a:buNone/>
            </a:pPr>
            <a:r>
              <a:rPr lang="en-US" sz="900" dirty="0">
                <a:solidFill>
                  <a:srgbClr val="FFFFFF"/>
                </a:solidFill>
                <a:latin typeface="Calibri" pitchFamily="34" charset="0"/>
                <a:ea typeface="Calibri" pitchFamily="34" charset="-122"/>
                <a:cs typeface="Calibri" pitchFamily="34" charset="-120"/>
              </a:rPr>
              <a:t>No topic view. No early warning.</a:t>
            </a:r>
            <a:endParaRPr lang="en-US" sz="1400" dirty="0"/>
          </a:p>
        </p:txBody>
      </p:sp>
      <p:sp>
        <p:nvSpPr>
          <p:cNvPr id="56" name="Shape 41"/>
          <p:cNvSpPr/>
          <p:nvPr/>
        </p:nvSpPr>
        <p:spPr>
          <a:xfrm flipV="1">
            <a:off x="1257300" y="4251960"/>
            <a:ext cx="3749040" cy="585216"/>
          </a:xfrm>
          <a:prstGeom prst="trapezoid">
            <a:avLst/>
          </a:prstGeom>
          <a:solidFill>
            <a:srgbClr val="5B8DC9"/>
          </a:solidFill>
          <a:ln w="19050">
            <a:solidFill>
              <a:srgbClr val="FFFFFF"/>
            </a:solidFill>
            <a:prstDash val="solid"/>
          </a:ln>
        </p:spPr>
      </p:sp>
      <p:sp>
        <p:nvSpPr>
          <p:cNvPr id="57" name="Text 42"/>
          <p:cNvSpPr txBox="1"/>
          <p:nvPr/>
        </p:nvSpPr>
        <p:spPr>
          <a:xfrm>
            <a:off x="1531620" y="4251960"/>
            <a:ext cx="3200400" cy="58521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The bottleneck</a:t>
            </a:r>
            <a:endParaRPr lang="en-US" sz="1400" dirty="0"/>
          </a:p>
          <a:p>
            <a:pPr algn="ctr" indent="0" marL="0">
              <a:buNone/>
            </a:pPr>
            <a:r>
              <a:rPr lang="en-US" sz="900" dirty="0">
                <a:solidFill>
                  <a:srgbClr val="FFFFFF"/>
                </a:solidFill>
                <a:latin typeface="Calibri" pitchFamily="34" charset="0"/>
                <a:ea typeface="Calibri" pitchFamily="34" charset="-122"/>
                <a:cs typeface="Calibri" pitchFamily="34" charset="-120"/>
              </a:rPr>
              <a:t>Staff time, no analysis</a:t>
            </a:r>
            <a:endParaRPr lang="en-US" sz="1400" dirty="0"/>
          </a:p>
        </p:txBody>
      </p:sp>
      <p:sp>
        <p:nvSpPr>
          <p:cNvPr id="58" name="Shape 43"/>
          <p:cNvSpPr/>
          <p:nvPr/>
        </p:nvSpPr>
        <p:spPr>
          <a:xfrm flipV="1">
            <a:off x="1943100" y="4892040"/>
            <a:ext cx="2377440" cy="585216"/>
          </a:xfrm>
          <a:prstGeom prst="trapezoid">
            <a:avLst/>
          </a:prstGeom>
          <a:solidFill>
            <a:srgbClr val="1F4A82"/>
          </a:solidFill>
          <a:ln w="19050">
            <a:solidFill>
              <a:srgbClr val="FFFFFF"/>
            </a:solidFill>
            <a:prstDash val="solid"/>
          </a:ln>
        </p:spPr>
      </p:sp>
      <p:sp>
        <p:nvSpPr>
          <p:cNvPr id="59" name="Text 44"/>
          <p:cNvSpPr txBox="1"/>
          <p:nvPr/>
        </p:nvSpPr>
        <p:spPr>
          <a:xfrm>
            <a:off x="2217420" y="4892040"/>
            <a:ext cx="1828800" cy="58521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Pragati</a:t>
            </a:r>
            <a:endParaRPr lang="en-US" sz="1400" dirty="0"/>
          </a:p>
          <a:p>
            <a:pPr algn="ctr" indent="0" marL="0">
              <a:buNone/>
            </a:pPr>
            <a:r>
              <a:rPr lang="en-US" sz="900" dirty="0">
                <a:solidFill>
                  <a:srgbClr val="FFFFFF"/>
                </a:solidFill>
                <a:latin typeface="Calibri" pitchFamily="34" charset="0"/>
                <a:ea typeface="Calibri" pitchFamily="34" charset="-122"/>
                <a:cs typeface="Calibri" pitchFamily="34" charset="-120"/>
              </a:rPr>
              <a:t>Clean topic map, weekly list</a:t>
            </a:r>
            <a:endParaRPr lang="en-US" sz="1400" dirty="0"/>
          </a:p>
        </p:txBody>
      </p:sp>
      <p:sp>
        <p:nvSpPr>
          <p:cNvPr id="60" name="Shape 45"/>
          <p:cNvSpPr/>
          <p:nvPr/>
        </p:nvSpPr>
        <p:spPr>
          <a:xfrm>
            <a:off x="411480" y="5577840"/>
            <a:ext cx="5440680" cy="731520"/>
          </a:xfrm>
          <a:prstGeom prst="rect">
            <a:avLst/>
          </a:prstGeom>
          <a:solidFill>
            <a:srgbClr val="F4F7FB"/>
          </a:solidFill>
          <a:ln/>
        </p:spPr>
      </p:sp>
      <p:sp>
        <p:nvSpPr>
          <p:cNvPr id="61" name="Text 46"/>
          <p:cNvSpPr txBox="1"/>
          <p:nvPr/>
        </p:nvSpPr>
        <p:spPr>
          <a:xfrm>
            <a:off x="548640" y="5577840"/>
            <a:ext cx="5166360" cy="731520"/>
          </a:xfrm>
          <a:prstGeom prst="rect">
            <a:avLst/>
          </a:prstGeom>
          <a:noFill/>
          <a:ln/>
        </p:spPr>
        <p:txBody>
          <a:bodyPr wrap="square" lIns="0" tIns="0" rIns="0" bIns="0" rtlCol="0" anchor="ctr"/>
          <a:lstStyle/>
          <a:p>
            <a:pPr algn="l" indent="0" marL="0">
              <a:buNone/>
            </a:pPr>
            <a:r>
              <a:rPr lang="en-US" sz="1000" b="1" dirty="0">
                <a:solidFill>
                  <a:srgbClr val="1F4A82"/>
                </a:solidFill>
                <a:latin typeface="Calibri" pitchFamily="34" charset="0"/>
                <a:ea typeface="Calibri" pitchFamily="34" charset="-122"/>
                <a:cs typeface="Calibri" pitchFamily="34" charset="-120"/>
              </a:rPr>
              <a:t>Who we serve: </a:t>
            </a:r>
            <a:pPr algn="l" indent="0" marL="0">
              <a:buNone/>
            </a:pPr>
            <a:r>
              <a:rPr lang="en-US" sz="1000" dirty="0">
                <a:solidFill>
                  <a:srgbClr val="1F2937"/>
                </a:solidFill>
                <a:latin typeface="Calibri" pitchFamily="34" charset="0"/>
                <a:ea typeface="Calibri" pitchFamily="34" charset="-122"/>
                <a:cs typeface="Calibri" pitchFamily="34" charset="-120"/>
              </a:rPr>
              <a:t>22.8 lakh NEET and about 15.4 lakh JEE Main candidates registered in 2025. 27 % of school students use private coaching.</a:t>
            </a:r>
            <a:endParaRPr lang="en-US" sz="1000" dirty="0"/>
          </a:p>
        </p:txBody>
      </p:sp>
      <p:sp>
        <p:nvSpPr>
          <p:cNvPr id="62" name="Text 47"/>
          <p:cNvSpPr txBox="1"/>
          <p:nvPr/>
        </p:nvSpPr>
        <p:spPr>
          <a:xfrm>
            <a:off x="6172200" y="1188720"/>
            <a:ext cx="3657600" cy="274320"/>
          </a:xfrm>
          <a:prstGeom prst="rect">
            <a:avLst/>
          </a:prstGeom>
          <a:noFill/>
          <a:ln/>
        </p:spPr>
        <p:txBody>
          <a:bodyPr wrap="square" lIns="0" tIns="0" rIns="0" bIns="0" rtlCol="0" anchor="ctr"/>
          <a:lstStyle/>
          <a:p>
            <a:pPr algn="l" indent="0" marL="0">
              <a:buNone/>
            </a:pPr>
            <a:r>
              <a:rPr lang="en-US" sz="1150" b="1" spc="100" kern="0" dirty="0">
                <a:solidFill>
                  <a:srgbClr val="1F4A82"/>
                </a:solidFill>
                <a:latin typeface="Calibri" pitchFamily="34" charset="0"/>
                <a:ea typeface="Calibri" pitchFamily="34" charset="-122"/>
                <a:cs typeface="Calibri" pitchFamily="34" charset="-120"/>
              </a:rPr>
              <a:t>THE FRICTION MATRIX</a:t>
            </a:r>
            <a:endParaRPr lang="en-US" sz="1150" dirty="0"/>
          </a:p>
        </p:txBody>
      </p:sp>
      <p:sp>
        <p:nvSpPr>
          <p:cNvPr id="63" name="Shape 48"/>
          <p:cNvSpPr/>
          <p:nvPr/>
        </p:nvSpPr>
        <p:spPr>
          <a:xfrm>
            <a:off x="6172200" y="1481328"/>
            <a:ext cx="2743200" cy="2331720"/>
          </a:xfrm>
          <a:prstGeom prst="rect">
            <a:avLst/>
          </a:prstGeom>
          <a:solidFill>
            <a:srgbClr val="FFFFFF"/>
          </a:solidFill>
          <a:ln w="15875">
            <a:solidFill>
              <a:srgbClr val="1F4A82"/>
            </a:solidFill>
            <a:prstDash val="solid"/>
          </a:ln>
        </p:spPr>
      </p:sp>
      <p:sp>
        <p:nvSpPr>
          <p:cNvPr id="64" name="Shape 49"/>
          <p:cNvSpPr/>
          <p:nvPr/>
        </p:nvSpPr>
        <p:spPr>
          <a:xfrm>
            <a:off x="6172200" y="1481328"/>
            <a:ext cx="2743200" cy="457200"/>
          </a:xfrm>
          <a:prstGeom prst="rect">
            <a:avLst/>
          </a:prstGeom>
          <a:solidFill>
            <a:srgbClr val="1F4A82"/>
          </a:solidFill>
          <a:ln/>
        </p:spPr>
      </p:sp>
      <p:pic>
        <p:nvPicPr>
          <p:cNvPr id="65" name="Image 12" descr="FaChalkboardUser icon">    </p:cNvPr>
          <p:cNvPicPr>
            <a:picLocks noChangeAspect="1"/>
          </p:cNvPicPr>
          <p:nvPr/>
        </p:nvPicPr>
        <p:blipFill>
          <a:blip r:embed="rId13"/>
          <a:stretch>
            <a:fillRect/>
          </a:stretch>
        </p:blipFill>
        <p:spPr>
          <a:xfrm>
            <a:off x="6309360" y="1572768"/>
            <a:ext cx="274320" cy="274320"/>
          </a:xfrm>
          <a:prstGeom prst="rect">
            <a:avLst/>
          </a:prstGeom>
        </p:spPr>
      </p:pic>
      <p:sp>
        <p:nvSpPr>
          <p:cNvPr id="66" name="Text 50"/>
          <p:cNvSpPr txBox="1"/>
          <p:nvPr/>
        </p:nvSpPr>
        <p:spPr>
          <a:xfrm>
            <a:off x="6720840" y="1481328"/>
            <a:ext cx="2103120"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Teachers</a:t>
            </a:r>
            <a:endParaRPr lang="en-US" sz="1400" dirty="0"/>
          </a:p>
        </p:txBody>
      </p:sp>
      <p:sp>
        <p:nvSpPr>
          <p:cNvPr id="67" name="Text 51"/>
          <p:cNvSpPr txBox="1"/>
          <p:nvPr/>
        </p:nvSpPr>
        <p:spPr>
          <a:xfrm>
            <a:off x="6281928" y="2103120"/>
            <a:ext cx="2542032" cy="1645920"/>
          </a:xfrm>
          <a:prstGeom prst="rect">
            <a:avLst/>
          </a:prstGeom>
          <a:noFill/>
          <a:ln/>
        </p:spPr>
        <p:txBody>
          <a:bodyPr wrap="square" lIns="0" tIns="0" rIns="0" bIns="0" rtlCol="0" anchor="t"/>
          <a:lstStyle/>
          <a:p>
            <a:pPr algn="l" marL="152400" indent="-152400">
              <a:spcAft>
                <a:spcPts val="1400"/>
              </a:spcAft>
              <a:buSzPct val="100000"/>
              <a:buChar char="•"/>
            </a:pPr>
            <a:r>
              <a:rPr lang="en-US" sz="1300" dirty="0">
                <a:solidFill>
                  <a:srgbClr val="1F2937"/>
                </a:solidFill>
                <a:latin typeface="Calibri" pitchFamily="34" charset="0"/>
                <a:ea typeface="Calibri" pitchFamily="34" charset="-122"/>
                <a:cs typeface="Calibri" pitchFamily="34" charset="-120"/>
              </a:rPr>
              <a:t>Check OMR sheets by hand</a:t>
            </a:r>
            <a:endParaRPr lang="en-US" sz="1300" dirty="0"/>
          </a:p>
          <a:p>
            <a:pPr algn="l" marL="152400" indent="-152400">
              <a:spcAft>
                <a:spcPts val="1400"/>
              </a:spcAft>
              <a:buSzPct val="100000"/>
              <a:buChar char="•"/>
            </a:pPr>
            <a:r>
              <a:rPr lang="en-US" sz="1300" dirty="0">
                <a:solidFill>
                  <a:srgbClr val="1F2937"/>
                </a:solidFill>
                <a:latin typeface="Calibri" pitchFamily="34" charset="0"/>
                <a:ea typeface="Calibri" pitchFamily="34" charset="-122"/>
                <a:cs typeface="Calibri" pitchFamily="34" charset="-120"/>
              </a:rPr>
              <a:t>See weak topics after exams</a:t>
            </a:r>
            <a:endParaRPr lang="en-US" sz="1300" dirty="0"/>
          </a:p>
          <a:p>
            <a:pPr algn="l" marL="152400" indent="-152400">
              <a:spcAft>
                <a:spcPts val="1400"/>
              </a:spcAft>
              <a:buSzPct val="100000"/>
              <a:buChar char="•"/>
            </a:pPr>
            <a:r>
              <a:rPr lang="en-US" sz="1300" dirty="0">
                <a:solidFill>
                  <a:srgbClr val="1F2937"/>
                </a:solidFill>
                <a:latin typeface="Calibri" pitchFamily="34" charset="0"/>
                <a:ea typeface="Calibri" pitchFamily="34" charset="-122"/>
                <a:cs typeface="Calibri" pitchFamily="34" charset="-120"/>
              </a:rPr>
              <a:t>No time for each student</a:t>
            </a:r>
            <a:endParaRPr lang="en-US" sz="1300" dirty="0"/>
          </a:p>
        </p:txBody>
      </p:sp>
      <p:sp>
        <p:nvSpPr>
          <p:cNvPr id="68" name="Shape 52"/>
          <p:cNvSpPr/>
          <p:nvPr/>
        </p:nvSpPr>
        <p:spPr>
          <a:xfrm>
            <a:off x="9006840" y="1481328"/>
            <a:ext cx="2743200" cy="2331720"/>
          </a:xfrm>
          <a:prstGeom prst="rect">
            <a:avLst/>
          </a:prstGeom>
          <a:solidFill>
            <a:srgbClr val="F4F7FB"/>
          </a:solidFill>
          <a:ln w="15875">
            <a:solidFill>
              <a:srgbClr val="1F4A82"/>
            </a:solidFill>
            <a:prstDash val="solid"/>
          </a:ln>
        </p:spPr>
      </p:sp>
      <p:sp>
        <p:nvSpPr>
          <p:cNvPr id="69" name="Shape 53"/>
          <p:cNvSpPr/>
          <p:nvPr/>
        </p:nvSpPr>
        <p:spPr>
          <a:xfrm>
            <a:off x="9006840" y="1481328"/>
            <a:ext cx="2743200" cy="457200"/>
          </a:xfrm>
          <a:prstGeom prst="rect">
            <a:avLst/>
          </a:prstGeom>
          <a:solidFill>
            <a:srgbClr val="1F4A82"/>
          </a:solidFill>
          <a:ln/>
        </p:spPr>
      </p:sp>
      <p:pic>
        <p:nvPicPr>
          <p:cNvPr id="70" name="Image 13" descr="FaBuilding icon">    </p:cNvPr>
          <p:cNvPicPr>
            <a:picLocks noChangeAspect="1"/>
          </p:cNvPicPr>
          <p:nvPr/>
        </p:nvPicPr>
        <p:blipFill>
          <a:blip r:embed="rId14"/>
          <a:stretch>
            <a:fillRect/>
          </a:stretch>
        </p:blipFill>
        <p:spPr>
          <a:xfrm>
            <a:off x="9144000" y="1572768"/>
            <a:ext cx="274320" cy="274320"/>
          </a:xfrm>
          <a:prstGeom prst="rect">
            <a:avLst/>
          </a:prstGeom>
        </p:spPr>
      </p:pic>
      <p:sp>
        <p:nvSpPr>
          <p:cNvPr id="71" name="Text 54"/>
          <p:cNvSpPr txBox="1"/>
          <p:nvPr/>
        </p:nvSpPr>
        <p:spPr>
          <a:xfrm>
            <a:off x="9555480" y="1481328"/>
            <a:ext cx="2103120"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Owners</a:t>
            </a:r>
            <a:endParaRPr lang="en-US" sz="1400" dirty="0"/>
          </a:p>
        </p:txBody>
      </p:sp>
      <p:sp>
        <p:nvSpPr>
          <p:cNvPr id="72" name="Text 55"/>
          <p:cNvSpPr txBox="1"/>
          <p:nvPr/>
        </p:nvSpPr>
        <p:spPr>
          <a:xfrm>
            <a:off x="9116568" y="2103120"/>
            <a:ext cx="2542032" cy="1645920"/>
          </a:xfrm>
          <a:prstGeom prst="rect">
            <a:avLst/>
          </a:prstGeom>
          <a:noFill/>
          <a:ln/>
        </p:spPr>
        <p:txBody>
          <a:bodyPr wrap="square" lIns="0" tIns="0" rIns="0" bIns="0" rtlCol="0" anchor="t"/>
          <a:lstStyle/>
          <a:p>
            <a:pPr algn="l" marL="152400" indent="-152400">
              <a:spcAft>
                <a:spcPts val="1400"/>
              </a:spcAft>
              <a:buSzPct val="100000"/>
              <a:buChar char="•"/>
            </a:pPr>
            <a:r>
              <a:rPr lang="en-US" sz="1300" dirty="0">
                <a:solidFill>
                  <a:srgbClr val="1F2937"/>
                </a:solidFill>
                <a:latin typeface="Calibri" pitchFamily="34" charset="0"/>
                <a:ea typeface="Calibri" pitchFamily="34" charset="-122"/>
                <a:cs typeface="Calibri" pitchFamily="34" charset="-120"/>
              </a:rPr>
              <a:t>Can't compare batches or teachers</a:t>
            </a:r>
            <a:endParaRPr lang="en-US" sz="1300" dirty="0"/>
          </a:p>
          <a:p>
            <a:pPr algn="l" marL="152400" indent="-152400">
              <a:spcAft>
                <a:spcPts val="1400"/>
              </a:spcAft>
              <a:buSzPct val="100000"/>
              <a:buChar char="•"/>
            </a:pPr>
            <a:r>
              <a:rPr lang="en-US" sz="1300" dirty="0">
                <a:solidFill>
                  <a:srgbClr val="1F2937"/>
                </a:solidFill>
                <a:latin typeface="Calibri" pitchFamily="34" charset="0"/>
                <a:ea typeface="Calibri" pitchFamily="34" charset="-122"/>
                <a:cs typeface="Calibri" pitchFamily="34" charset="-120"/>
              </a:rPr>
              <a:t>Learn of dropouts too late</a:t>
            </a:r>
            <a:endParaRPr lang="en-US" sz="1300" dirty="0"/>
          </a:p>
          <a:p>
            <a:pPr algn="l" marL="152400" indent="-152400">
              <a:spcAft>
                <a:spcPts val="1400"/>
              </a:spcAft>
              <a:buSzPct val="100000"/>
              <a:buChar char="•"/>
            </a:pPr>
            <a:r>
              <a:rPr lang="en-US" sz="1300" dirty="0">
                <a:solidFill>
                  <a:srgbClr val="1F2937"/>
                </a:solidFill>
                <a:latin typeface="Calibri" pitchFamily="34" charset="0"/>
                <a:ea typeface="Calibri" pitchFamily="34" charset="-122"/>
                <a:cs typeface="Calibri" pitchFamily="34" charset="-120"/>
              </a:rPr>
              <a:t>Generic apps give no insight</a:t>
            </a:r>
            <a:endParaRPr lang="en-US" sz="1300" dirty="0"/>
          </a:p>
        </p:txBody>
      </p:sp>
      <p:sp>
        <p:nvSpPr>
          <p:cNvPr id="73" name="Shape 56"/>
          <p:cNvSpPr/>
          <p:nvPr/>
        </p:nvSpPr>
        <p:spPr>
          <a:xfrm>
            <a:off x="6172200" y="3904488"/>
            <a:ext cx="2743200" cy="2331720"/>
          </a:xfrm>
          <a:prstGeom prst="rect">
            <a:avLst/>
          </a:prstGeom>
          <a:solidFill>
            <a:srgbClr val="F4F7FB"/>
          </a:solidFill>
          <a:ln w="15875">
            <a:solidFill>
              <a:srgbClr val="1F4A82"/>
            </a:solidFill>
            <a:prstDash val="solid"/>
          </a:ln>
        </p:spPr>
      </p:sp>
      <p:sp>
        <p:nvSpPr>
          <p:cNvPr id="74" name="Shape 57"/>
          <p:cNvSpPr/>
          <p:nvPr/>
        </p:nvSpPr>
        <p:spPr>
          <a:xfrm>
            <a:off x="6172200" y="3904488"/>
            <a:ext cx="2743200" cy="457200"/>
          </a:xfrm>
          <a:prstGeom prst="rect">
            <a:avLst/>
          </a:prstGeom>
          <a:solidFill>
            <a:srgbClr val="1F4A82"/>
          </a:solidFill>
          <a:ln/>
        </p:spPr>
      </p:sp>
      <p:pic>
        <p:nvPicPr>
          <p:cNvPr id="75" name="Image 14" descr="FaUsers icon">    </p:cNvPr>
          <p:cNvPicPr>
            <a:picLocks noChangeAspect="1"/>
          </p:cNvPicPr>
          <p:nvPr/>
        </p:nvPicPr>
        <p:blipFill>
          <a:blip r:embed="rId15"/>
          <a:stretch>
            <a:fillRect/>
          </a:stretch>
        </p:blipFill>
        <p:spPr>
          <a:xfrm>
            <a:off x="6309360" y="3995928"/>
            <a:ext cx="274320" cy="274320"/>
          </a:xfrm>
          <a:prstGeom prst="rect">
            <a:avLst/>
          </a:prstGeom>
        </p:spPr>
      </p:pic>
      <p:sp>
        <p:nvSpPr>
          <p:cNvPr id="76" name="Text 58"/>
          <p:cNvSpPr txBox="1"/>
          <p:nvPr/>
        </p:nvSpPr>
        <p:spPr>
          <a:xfrm>
            <a:off x="6720840" y="3904488"/>
            <a:ext cx="2103120"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Parents</a:t>
            </a:r>
            <a:endParaRPr lang="en-US" sz="1400" dirty="0"/>
          </a:p>
        </p:txBody>
      </p:sp>
      <p:sp>
        <p:nvSpPr>
          <p:cNvPr id="77" name="Text 59"/>
          <p:cNvSpPr txBox="1"/>
          <p:nvPr/>
        </p:nvSpPr>
        <p:spPr>
          <a:xfrm>
            <a:off x="6281928" y="4526280"/>
            <a:ext cx="2542032" cy="1645920"/>
          </a:xfrm>
          <a:prstGeom prst="rect">
            <a:avLst/>
          </a:prstGeom>
          <a:noFill/>
          <a:ln/>
        </p:spPr>
        <p:txBody>
          <a:bodyPr wrap="square" lIns="0" tIns="0" rIns="0" bIns="0" rtlCol="0" anchor="t"/>
          <a:lstStyle/>
          <a:p>
            <a:pPr algn="l" marL="152400" indent="-152400">
              <a:spcAft>
                <a:spcPts val="1400"/>
              </a:spcAft>
              <a:buSzPct val="100000"/>
              <a:buChar char="•"/>
            </a:pPr>
            <a:r>
              <a:rPr lang="en-US" sz="1300" dirty="0">
                <a:solidFill>
                  <a:srgbClr val="1F2937"/>
                </a:solidFill>
                <a:latin typeface="Calibri" pitchFamily="34" charset="0"/>
                <a:ea typeface="Calibri" pitchFamily="34" charset="-122"/>
                <a:cs typeface="Calibri" pitchFamily="34" charset="-120"/>
              </a:rPr>
              <a:t>Get a marks list, nothing more</a:t>
            </a:r>
            <a:endParaRPr lang="en-US" sz="1300" dirty="0"/>
          </a:p>
          <a:p>
            <a:pPr algn="l" marL="152400" indent="-152400">
              <a:spcAft>
                <a:spcPts val="1400"/>
              </a:spcAft>
              <a:buSzPct val="100000"/>
              <a:buChar char="•"/>
            </a:pPr>
            <a:r>
              <a:rPr lang="en-US" sz="1300" dirty="0">
                <a:solidFill>
                  <a:srgbClr val="1F2937"/>
                </a:solidFill>
                <a:latin typeface="Calibri" pitchFamily="34" charset="0"/>
                <a:ea typeface="Calibri" pitchFamily="34" charset="-122"/>
                <a:cs typeface="Calibri" pitchFamily="34" charset="-120"/>
              </a:rPr>
              <a:t>Can't tell if child improves</a:t>
            </a:r>
            <a:endParaRPr lang="en-US" sz="1300" dirty="0"/>
          </a:p>
          <a:p>
            <a:pPr algn="l" marL="152400" indent="-152400">
              <a:spcAft>
                <a:spcPts val="1400"/>
              </a:spcAft>
              <a:buSzPct val="100000"/>
              <a:buChar char="•"/>
            </a:pPr>
            <a:r>
              <a:rPr lang="en-US" sz="1300" dirty="0">
                <a:solidFill>
                  <a:srgbClr val="1F2937"/>
                </a:solidFill>
                <a:latin typeface="Calibri" pitchFamily="34" charset="0"/>
                <a:ea typeface="Calibri" pitchFamily="34" charset="-122"/>
                <a:cs typeface="Calibri" pitchFamily="34" charset="-120"/>
              </a:rPr>
              <a:t>Trust slips, fee questions grow</a:t>
            </a:r>
            <a:endParaRPr lang="en-US" sz="1300" dirty="0"/>
          </a:p>
        </p:txBody>
      </p:sp>
      <p:sp>
        <p:nvSpPr>
          <p:cNvPr id="78" name="Shape 60"/>
          <p:cNvSpPr/>
          <p:nvPr/>
        </p:nvSpPr>
        <p:spPr>
          <a:xfrm>
            <a:off x="9006840" y="3904488"/>
            <a:ext cx="2743200" cy="2331720"/>
          </a:xfrm>
          <a:prstGeom prst="rect">
            <a:avLst/>
          </a:prstGeom>
          <a:solidFill>
            <a:srgbClr val="FFFFFF"/>
          </a:solidFill>
          <a:ln w="15875">
            <a:solidFill>
              <a:srgbClr val="1F4A82"/>
            </a:solidFill>
            <a:prstDash val="solid"/>
          </a:ln>
        </p:spPr>
      </p:sp>
      <p:sp>
        <p:nvSpPr>
          <p:cNvPr id="79" name="Shape 61"/>
          <p:cNvSpPr/>
          <p:nvPr/>
        </p:nvSpPr>
        <p:spPr>
          <a:xfrm>
            <a:off x="9006840" y="3904488"/>
            <a:ext cx="2743200" cy="457200"/>
          </a:xfrm>
          <a:prstGeom prst="rect">
            <a:avLst/>
          </a:prstGeom>
          <a:solidFill>
            <a:srgbClr val="1F4A82"/>
          </a:solidFill>
          <a:ln/>
        </p:spPr>
      </p:sp>
      <p:pic>
        <p:nvPicPr>
          <p:cNvPr id="80" name="Image 15" descr="FaChildReaching icon">    </p:cNvPr>
          <p:cNvPicPr>
            <a:picLocks noChangeAspect="1"/>
          </p:cNvPicPr>
          <p:nvPr/>
        </p:nvPicPr>
        <p:blipFill>
          <a:blip r:embed="rId16"/>
          <a:stretch>
            <a:fillRect/>
          </a:stretch>
        </p:blipFill>
        <p:spPr>
          <a:xfrm>
            <a:off x="9144000" y="3995928"/>
            <a:ext cx="274320" cy="274320"/>
          </a:xfrm>
          <a:prstGeom prst="rect">
            <a:avLst/>
          </a:prstGeom>
        </p:spPr>
      </p:pic>
      <p:sp>
        <p:nvSpPr>
          <p:cNvPr id="81" name="Text 62"/>
          <p:cNvSpPr txBox="1"/>
          <p:nvPr/>
        </p:nvSpPr>
        <p:spPr>
          <a:xfrm>
            <a:off x="9555480" y="3904488"/>
            <a:ext cx="2103120"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Students</a:t>
            </a:r>
            <a:endParaRPr lang="en-US" sz="1400" dirty="0"/>
          </a:p>
        </p:txBody>
      </p:sp>
      <p:sp>
        <p:nvSpPr>
          <p:cNvPr id="82" name="Text 63"/>
          <p:cNvSpPr txBox="1"/>
          <p:nvPr/>
        </p:nvSpPr>
        <p:spPr>
          <a:xfrm>
            <a:off x="9116568" y="4526280"/>
            <a:ext cx="2542032" cy="1645920"/>
          </a:xfrm>
          <a:prstGeom prst="rect">
            <a:avLst/>
          </a:prstGeom>
          <a:noFill/>
          <a:ln/>
        </p:spPr>
        <p:txBody>
          <a:bodyPr wrap="square" lIns="0" tIns="0" rIns="0" bIns="0" rtlCol="0" anchor="t"/>
          <a:lstStyle/>
          <a:p>
            <a:pPr algn="l" marL="152400" indent="-152400">
              <a:spcAft>
                <a:spcPts val="1400"/>
              </a:spcAft>
              <a:buSzPct val="100000"/>
              <a:buChar char="•"/>
            </a:pPr>
            <a:r>
              <a:rPr lang="en-US" sz="1300" dirty="0">
                <a:solidFill>
                  <a:srgbClr val="1F2937"/>
                </a:solidFill>
                <a:latin typeface="Calibri" pitchFamily="34" charset="0"/>
                <a:ea typeface="Calibri" pitchFamily="34" charset="-122"/>
                <a:cs typeface="Calibri" pitchFamily="34" charset="-120"/>
              </a:rPr>
              <a:t>Struggle quietly for weeks</a:t>
            </a:r>
            <a:endParaRPr lang="en-US" sz="1300" dirty="0"/>
          </a:p>
          <a:p>
            <a:pPr algn="l" marL="152400" indent="-152400">
              <a:spcAft>
                <a:spcPts val="1400"/>
              </a:spcAft>
              <a:buSzPct val="100000"/>
              <a:buChar char="•"/>
            </a:pPr>
            <a:r>
              <a:rPr lang="en-US" sz="1300" dirty="0">
                <a:solidFill>
                  <a:srgbClr val="1F2937"/>
                </a:solidFill>
                <a:latin typeface="Calibri" pitchFamily="34" charset="0"/>
                <a:ea typeface="Calibri" pitchFamily="34" charset="-122"/>
                <a:cs typeface="Calibri" pitchFamily="34" charset="-120"/>
              </a:rPr>
              <a:t>Same plan as whole batch</a:t>
            </a:r>
            <a:endParaRPr lang="en-US" sz="1300" dirty="0"/>
          </a:p>
          <a:p>
            <a:pPr algn="l" marL="152400" indent="-152400">
              <a:spcAft>
                <a:spcPts val="1400"/>
              </a:spcAft>
              <a:buSzPct val="100000"/>
              <a:buChar char="•"/>
            </a:pPr>
            <a:r>
              <a:rPr lang="en-US" sz="1300" dirty="0">
                <a:solidFill>
                  <a:srgbClr val="1F2937"/>
                </a:solidFill>
                <a:latin typeface="Calibri" pitchFamily="34" charset="0"/>
                <a:ea typeface="Calibri" pitchFamily="34" charset="-122"/>
                <a:cs typeface="Calibri" pitchFamily="34" charset="-120"/>
              </a:rPr>
              <a:t>Noticed only when they stop</a:t>
            </a:r>
            <a:endParaRPr lang="en-US" sz="1300" dirty="0"/>
          </a:p>
        </p:txBody>
      </p:sp>
      <p:sp>
        <p:nvSpPr>
          <p:cNvPr id="83" name="Text 64"/>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Participant Guide §2, §7 (illustrative baselines: 12 % dropout, ₹36,000 per leaver); NTA NEET UG 2025 result data; JEE Main 2025 statistics (secondary); NSO CMS Education 2025.</a:t>
            </a:r>
            <a:endParaRPr lang="en-US" sz="85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D4A24C"/>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inspection">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2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REALITY CHECK: MYTH VS PRAGATI</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We tested the guide's headline numbers and built around what survives</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88720"/>
            <a:ext cx="4754880" cy="347472"/>
          </a:xfrm>
          <a:prstGeom prst="rect">
            <a:avLst/>
          </a:prstGeom>
          <a:solidFill>
            <a:srgbClr val="6B7280"/>
          </a:solidFill>
          <a:ln/>
        </p:spPr>
      </p:sp>
      <p:sp>
        <p:nvSpPr>
          <p:cNvPr id="27" name="Text 23"/>
          <p:cNvSpPr txBox="1"/>
          <p:nvPr/>
        </p:nvSpPr>
        <p:spPr>
          <a:xfrm>
            <a:off x="411480" y="1188720"/>
            <a:ext cx="4754880" cy="347472"/>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THE INDUSTRY MYTH</a:t>
            </a:r>
            <a:endParaRPr lang="en-US" sz="1200" dirty="0"/>
          </a:p>
        </p:txBody>
      </p:sp>
      <p:sp>
        <p:nvSpPr>
          <p:cNvPr id="28" name="Shape 24"/>
          <p:cNvSpPr/>
          <p:nvPr/>
        </p:nvSpPr>
        <p:spPr>
          <a:xfrm>
            <a:off x="6629400" y="1188720"/>
            <a:ext cx="5148072" cy="347472"/>
          </a:xfrm>
          <a:prstGeom prst="rect">
            <a:avLst/>
          </a:prstGeom>
          <a:solidFill>
            <a:srgbClr val="1F4A82"/>
          </a:solidFill>
          <a:ln/>
        </p:spPr>
      </p:sp>
      <p:sp>
        <p:nvSpPr>
          <p:cNvPr id="29" name="Text 25"/>
          <p:cNvSpPr txBox="1"/>
          <p:nvPr/>
        </p:nvSpPr>
        <p:spPr>
          <a:xfrm>
            <a:off x="6629400" y="1188720"/>
            <a:ext cx="5148072" cy="347472"/>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THE PRAGATI REALITY</a:t>
            </a:r>
            <a:endParaRPr lang="en-US" sz="1200" dirty="0"/>
          </a:p>
        </p:txBody>
      </p:sp>
      <p:sp>
        <p:nvSpPr>
          <p:cNvPr id="30" name="Shape 26"/>
          <p:cNvSpPr/>
          <p:nvPr/>
        </p:nvSpPr>
        <p:spPr>
          <a:xfrm>
            <a:off x="411480" y="1645920"/>
            <a:ext cx="4754880" cy="841248"/>
          </a:xfrm>
          <a:prstGeom prst="rect">
            <a:avLst/>
          </a:prstGeom>
          <a:solidFill>
            <a:srgbClr val="F1F2F4"/>
          </a:solidFill>
          <a:ln w="12700">
            <a:solidFill>
              <a:srgbClr val="C5CAD3"/>
            </a:solidFill>
            <a:prstDash val="solid"/>
          </a:ln>
        </p:spPr>
      </p:sp>
      <p:pic>
        <p:nvPicPr>
          <p:cNvPr id="31"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32"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33"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34"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35"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36"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37" name="Image 7" descr="FaBullseye icon">    </p:cNvPr>
          <p:cNvPicPr>
            <a:picLocks noChangeAspect="1"/>
          </p:cNvPicPr>
          <p:nvPr/>
        </p:nvPicPr>
        <p:blipFill>
          <a:blip r:embed="rId8"/>
          <a:stretch>
            <a:fillRect/>
          </a:stretch>
        </p:blipFill>
        <p:spPr>
          <a:xfrm>
            <a:off x="9075191" y="100584"/>
            <a:ext cx="182880" cy="182880"/>
          </a:xfrm>
          <a:prstGeom prst="rect">
            <a:avLst/>
          </a:prstGeom>
        </p:spPr>
      </p:pic>
      <p:pic>
        <p:nvPicPr>
          <p:cNvPr id="38" name="Image 8" descr="FaBookOpen icon">    </p:cNvPr>
          <p:cNvPicPr>
            <a:picLocks noChangeAspect="1"/>
          </p:cNvPicPr>
          <p:nvPr/>
        </p:nvPicPr>
        <p:blipFill>
          <a:blip r:embed="rId9"/>
          <a:stretch>
            <a:fillRect/>
          </a:stretch>
        </p:blipFill>
        <p:spPr>
          <a:xfrm>
            <a:off x="10473423" y="100584"/>
            <a:ext cx="182880" cy="182880"/>
          </a:xfrm>
          <a:prstGeom prst="rect">
            <a:avLst/>
          </a:prstGeom>
        </p:spPr>
      </p:pic>
      <p:pic>
        <p:nvPicPr>
          <p:cNvPr id="39" name="Image 9" descr="FaCircleXmark icon">    </p:cNvPr>
          <p:cNvPicPr>
            <a:picLocks noChangeAspect="1"/>
          </p:cNvPicPr>
          <p:nvPr/>
        </p:nvPicPr>
        <p:blipFill>
          <a:blip r:embed="rId10"/>
          <a:stretch>
            <a:fillRect/>
          </a:stretch>
        </p:blipFill>
        <p:spPr>
          <a:xfrm>
            <a:off x="548640" y="1901952"/>
            <a:ext cx="329184" cy="329184"/>
          </a:xfrm>
          <a:prstGeom prst="rect">
            <a:avLst/>
          </a:prstGeom>
        </p:spPr>
      </p:pic>
      <p:sp>
        <p:nvSpPr>
          <p:cNvPr id="40" name="Text 27"/>
          <p:cNvSpPr txBox="1"/>
          <p:nvPr/>
        </p:nvSpPr>
        <p:spPr>
          <a:xfrm>
            <a:off x="1051560" y="1645920"/>
            <a:ext cx="4023360" cy="841248"/>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Owners will happily pay ₹40</a:t>
            </a:r>
            <a:endParaRPr lang="en-US" sz="1400" dirty="0"/>
          </a:p>
        </p:txBody>
      </p:sp>
      <p:sp>
        <p:nvSpPr>
          <p:cNvPr id="41" name="Shape 28"/>
          <p:cNvSpPr/>
          <p:nvPr/>
        </p:nvSpPr>
        <p:spPr>
          <a:xfrm>
            <a:off x="5303520" y="1828800"/>
            <a:ext cx="1188720" cy="475488"/>
          </a:xfrm>
          <a:prstGeom prst="roundRect">
            <a:avLst>
              <a:gd name="adj" fmla="val 50000"/>
            </a:avLst>
          </a:prstGeom>
          <a:solidFill>
            <a:srgbClr val="FFFFFF"/>
          </a:solidFill>
          <a:ln w="19050">
            <a:solidFill>
              <a:srgbClr val="1F4A82"/>
            </a:solidFill>
            <a:prstDash val="solid"/>
          </a:ln>
        </p:spPr>
      </p:sp>
      <p:pic>
        <p:nvPicPr>
          <p:cNvPr id="42" name="Image 10" descr="FaIndianRupeeSign icon">    </p:cNvPr>
          <p:cNvPicPr>
            <a:picLocks noChangeAspect="1"/>
          </p:cNvPicPr>
          <p:nvPr/>
        </p:nvPicPr>
        <p:blipFill>
          <a:blip r:embed="rId11"/>
          <a:stretch>
            <a:fillRect/>
          </a:stretch>
        </p:blipFill>
        <p:spPr>
          <a:xfrm>
            <a:off x="5376672" y="1929384"/>
            <a:ext cx="256032" cy="256032"/>
          </a:xfrm>
          <a:prstGeom prst="rect">
            <a:avLst/>
          </a:prstGeom>
        </p:spPr>
      </p:pic>
      <p:sp>
        <p:nvSpPr>
          <p:cNvPr id="43" name="Text 29"/>
          <p:cNvSpPr txBox="1"/>
          <p:nvPr/>
        </p:nvSpPr>
        <p:spPr>
          <a:xfrm>
            <a:off x="5705856" y="1828800"/>
            <a:ext cx="777240" cy="475488"/>
          </a:xfrm>
          <a:prstGeom prst="rect">
            <a:avLst/>
          </a:prstGeom>
          <a:noFill/>
          <a:ln/>
        </p:spPr>
        <p:txBody>
          <a:bodyPr wrap="square" lIns="0" tIns="0" rIns="0" bIns="0" rtlCol="0" anchor="ctr"/>
          <a:lstStyle/>
          <a:p>
            <a:pPr algn="l" indent="0" marL="0">
              <a:buNone/>
            </a:pPr>
            <a:r>
              <a:rPr lang="en-US" sz="700" b="1" dirty="0">
                <a:solidFill>
                  <a:srgbClr val="1F4A82"/>
                </a:solidFill>
                <a:latin typeface="Calibri" pitchFamily="34" charset="0"/>
                <a:ea typeface="Calibri" pitchFamily="34" charset="-122"/>
                <a:cs typeface="Calibri" pitchFamily="34" charset="-120"/>
              </a:rPr>
              <a:t>COST</a:t>
            </a:r>
            <a:endParaRPr lang="en-US" sz="700" dirty="0"/>
          </a:p>
        </p:txBody>
      </p:sp>
      <p:sp>
        <p:nvSpPr>
          <p:cNvPr id="44" name="Shape 30"/>
          <p:cNvSpPr/>
          <p:nvPr/>
        </p:nvSpPr>
        <p:spPr>
          <a:xfrm>
            <a:off x="6629400" y="1645920"/>
            <a:ext cx="5148072" cy="841248"/>
          </a:xfrm>
          <a:prstGeom prst="rect">
            <a:avLst/>
          </a:prstGeom>
          <a:solidFill>
            <a:srgbClr val="E3ECF7"/>
          </a:solidFill>
          <a:ln w="19050">
            <a:solidFill>
              <a:srgbClr val="1F4A82"/>
            </a:solidFill>
            <a:prstDash val="solid"/>
          </a:ln>
        </p:spPr>
      </p:sp>
      <p:pic>
        <p:nvPicPr>
          <p:cNvPr id="45" name="Image 11" descr="FaCircleCheck icon">    </p:cNvPr>
          <p:cNvPicPr>
            <a:picLocks noChangeAspect="1"/>
          </p:cNvPicPr>
          <p:nvPr/>
        </p:nvPicPr>
        <p:blipFill>
          <a:blip r:embed="rId12"/>
          <a:stretch>
            <a:fillRect/>
          </a:stretch>
        </p:blipFill>
        <p:spPr>
          <a:xfrm>
            <a:off x="6766560" y="1901952"/>
            <a:ext cx="329184" cy="329184"/>
          </a:xfrm>
          <a:prstGeom prst="rect">
            <a:avLst/>
          </a:prstGeom>
        </p:spPr>
      </p:pic>
      <p:sp>
        <p:nvSpPr>
          <p:cNvPr id="46" name="Text 31"/>
          <p:cNvSpPr txBox="1"/>
          <p:nvPr/>
        </p:nvSpPr>
        <p:spPr>
          <a:xfrm>
            <a:off x="7269480" y="1645920"/>
            <a:ext cx="4434840" cy="841248"/>
          </a:xfrm>
          <a:prstGeom prst="rect">
            <a:avLst/>
          </a:prstGeom>
          <a:noFill/>
          <a:ln/>
        </p:spPr>
        <p:txBody>
          <a:bodyPr wrap="square" lIns="0" tIns="0" rIns="0" bIns="0" rtlCol="0" anchor="ctr"/>
          <a:lstStyle/>
          <a:p>
            <a:pPr algn="l" indent="0" marL="0">
              <a:buNone/>
            </a:pPr>
            <a:r>
              <a:rPr lang="en-US" sz="1350" b="1" dirty="0">
                <a:solidFill>
                  <a:srgbClr val="17325C"/>
                </a:solidFill>
                <a:latin typeface="Calibri" pitchFamily="34" charset="0"/>
                <a:ea typeface="Calibri" pitchFamily="34" charset="-122"/>
                <a:cs typeface="Calibri" pitchFamily="34" charset="-120"/>
              </a:rPr>
              <a:t>Rivals list ₹4–21 a student; we test ₹30</a:t>
            </a:r>
            <a:endParaRPr lang="en-US" sz="1350" dirty="0"/>
          </a:p>
        </p:txBody>
      </p:sp>
      <p:sp>
        <p:nvSpPr>
          <p:cNvPr id="47" name="Shape 32"/>
          <p:cNvSpPr/>
          <p:nvPr/>
        </p:nvSpPr>
        <p:spPr>
          <a:xfrm>
            <a:off x="411480" y="2578608"/>
            <a:ext cx="4754880" cy="841248"/>
          </a:xfrm>
          <a:prstGeom prst="rect">
            <a:avLst/>
          </a:prstGeom>
          <a:solidFill>
            <a:srgbClr val="F1F2F4"/>
          </a:solidFill>
          <a:ln w="12700">
            <a:solidFill>
              <a:srgbClr val="C5CAD3"/>
            </a:solidFill>
            <a:prstDash val="solid"/>
          </a:ln>
        </p:spPr>
      </p:sp>
      <p:pic>
        <p:nvPicPr>
          <p:cNvPr id="48" name="Image 12" descr="FaCircleXmark icon">    </p:cNvPr>
          <p:cNvPicPr>
            <a:picLocks noChangeAspect="1"/>
          </p:cNvPicPr>
          <p:nvPr/>
        </p:nvPicPr>
        <p:blipFill>
          <a:blip r:embed="rId13"/>
          <a:stretch>
            <a:fillRect/>
          </a:stretch>
        </p:blipFill>
        <p:spPr>
          <a:xfrm>
            <a:off x="548640" y="2834640"/>
            <a:ext cx="329184" cy="329184"/>
          </a:xfrm>
          <a:prstGeom prst="rect">
            <a:avLst/>
          </a:prstGeom>
        </p:spPr>
      </p:pic>
      <p:sp>
        <p:nvSpPr>
          <p:cNvPr id="49" name="Text 33"/>
          <p:cNvSpPr txBox="1"/>
          <p:nvPr/>
        </p:nvSpPr>
        <p:spPr>
          <a:xfrm>
            <a:off x="1051560" y="2578608"/>
            <a:ext cx="4023360" cy="841248"/>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Saves a quarter of dropouts</a:t>
            </a:r>
            <a:endParaRPr lang="en-US" sz="1400" dirty="0"/>
          </a:p>
        </p:txBody>
      </p:sp>
      <p:sp>
        <p:nvSpPr>
          <p:cNvPr id="50" name="Shape 34"/>
          <p:cNvSpPr/>
          <p:nvPr/>
        </p:nvSpPr>
        <p:spPr>
          <a:xfrm>
            <a:off x="5303520" y="2761488"/>
            <a:ext cx="1188720" cy="475488"/>
          </a:xfrm>
          <a:prstGeom prst="roundRect">
            <a:avLst>
              <a:gd name="adj" fmla="val 50000"/>
            </a:avLst>
          </a:prstGeom>
          <a:solidFill>
            <a:srgbClr val="FFFFFF"/>
          </a:solidFill>
          <a:ln w="19050">
            <a:solidFill>
              <a:srgbClr val="1F4A82"/>
            </a:solidFill>
            <a:prstDash val="solid"/>
          </a:ln>
        </p:spPr>
      </p:sp>
      <p:pic>
        <p:nvPicPr>
          <p:cNvPr id="51" name="Image 13" descr="FaUserMinus icon">    </p:cNvPr>
          <p:cNvPicPr>
            <a:picLocks noChangeAspect="1"/>
          </p:cNvPicPr>
          <p:nvPr/>
        </p:nvPicPr>
        <p:blipFill>
          <a:blip r:embed="rId14"/>
          <a:stretch>
            <a:fillRect/>
          </a:stretch>
        </p:blipFill>
        <p:spPr>
          <a:xfrm>
            <a:off x="5376672" y="2862072"/>
            <a:ext cx="256032" cy="256032"/>
          </a:xfrm>
          <a:prstGeom prst="rect">
            <a:avLst/>
          </a:prstGeom>
        </p:spPr>
      </p:pic>
      <p:sp>
        <p:nvSpPr>
          <p:cNvPr id="52" name="Text 35"/>
          <p:cNvSpPr txBox="1"/>
          <p:nvPr/>
        </p:nvSpPr>
        <p:spPr>
          <a:xfrm>
            <a:off x="5705856" y="2761488"/>
            <a:ext cx="777240" cy="475488"/>
          </a:xfrm>
          <a:prstGeom prst="rect">
            <a:avLst/>
          </a:prstGeom>
          <a:noFill/>
          <a:ln/>
        </p:spPr>
        <p:txBody>
          <a:bodyPr wrap="square" lIns="0" tIns="0" rIns="0" bIns="0" rtlCol="0" anchor="ctr"/>
          <a:lstStyle/>
          <a:p>
            <a:pPr algn="l" indent="0" marL="0">
              <a:buNone/>
            </a:pPr>
            <a:r>
              <a:rPr lang="en-US" sz="700" b="1" dirty="0">
                <a:solidFill>
                  <a:srgbClr val="1F4A82"/>
                </a:solidFill>
                <a:latin typeface="Calibri" pitchFamily="34" charset="0"/>
                <a:ea typeface="Calibri" pitchFamily="34" charset="-122"/>
                <a:cs typeface="Calibri" pitchFamily="34" charset="-120"/>
              </a:rPr>
              <a:t>DROPOUTS</a:t>
            </a:r>
            <a:endParaRPr lang="en-US" sz="700" dirty="0"/>
          </a:p>
        </p:txBody>
      </p:sp>
      <p:sp>
        <p:nvSpPr>
          <p:cNvPr id="53" name="Shape 36"/>
          <p:cNvSpPr/>
          <p:nvPr/>
        </p:nvSpPr>
        <p:spPr>
          <a:xfrm>
            <a:off x="6629400" y="2578608"/>
            <a:ext cx="5148072" cy="841248"/>
          </a:xfrm>
          <a:prstGeom prst="rect">
            <a:avLst/>
          </a:prstGeom>
          <a:solidFill>
            <a:srgbClr val="E3ECF7"/>
          </a:solidFill>
          <a:ln w="19050">
            <a:solidFill>
              <a:srgbClr val="1F4A82"/>
            </a:solidFill>
            <a:prstDash val="solid"/>
          </a:ln>
        </p:spPr>
      </p:sp>
      <p:pic>
        <p:nvPicPr>
          <p:cNvPr id="54" name="Image 14" descr="FaCircleCheck icon">    </p:cNvPr>
          <p:cNvPicPr>
            <a:picLocks noChangeAspect="1"/>
          </p:cNvPicPr>
          <p:nvPr/>
        </p:nvPicPr>
        <p:blipFill>
          <a:blip r:embed="rId15"/>
          <a:stretch>
            <a:fillRect/>
          </a:stretch>
        </p:blipFill>
        <p:spPr>
          <a:xfrm>
            <a:off x="6766560" y="2834640"/>
            <a:ext cx="329184" cy="329184"/>
          </a:xfrm>
          <a:prstGeom prst="rect">
            <a:avLst/>
          </a:prstGeom>
        </p:spPr>
      </p:pic>
      <p:sp>
        <p:nvSpPr>
          <p:cNvPr id="55" name="Text 37"/>
          <p:cNvSpPr txBox="1"/>
          <p:nvPr/>
        </p:nvSpPr>
        <p:spPr>
          <a:xfrm>
            <a:off x="7269480" y="2578608"/>
            <a:ext cx="4434840" cy="841248"/>
          </a:xfrm>
          <a:prstGeom prst="rect">
            <a:avLst/>
          </a:prstGeom>
          <a:noFill/>
          <a:ln/>
        </p:spPr>
        <p:txBody>
          <a:bodyPr wrap="square" lIns="0" tIns="0" rIns="0" bIns="0" rtlCol="0" anchor="ctr"/>
          <a:lstStyle/>
          <a:p>
            <a:pPr algn="l" indent="0" marL="0">
              <a:buNone/>
            </a:pPr>
            <a:r>
              <a:rPr lang="en-US" sz="1350" b="1" dirty="0">
                <a:solidFill>
                  <a:srgbClr val="17325C"/>
                </a:solidFill>
                <a:latin typeface="Calibri" pitchFamily="34" charset="0"/>
                <a:ea typeface="Calibri" pitchFamily="34" charset="-122"/>
                <a:cs typeface="Calibri" pitchFamily="34" charset="-120"/>
              </a:rPr>
              <a:t>Honest base case: 4 % fewer dropouts, proven in pilots</a:t>
            </a:r>
            <a:endParaRPr lang="en-US" sz="1350" dirty="0"/>
          </a:p>
        </p:txBody>
      </p:sp>
      <p:sp>
        <p:nvSpPr>
          <p:cNvPr id="56" name="Shape 38"/>
          <p:cNvSpPr/>
          <p:nvPr/>
        </p:nvSpPr>
        <p:spPr>
          <a:xfrm>
            <a:off x="411480" y="3511296"/>
            <a:ext cx="4754880" cy="841248"/>
          </a:xfrm>
          <a:prstGeom prst="rect">
            <a:avLst/>
          </a:prstGeom>
          <a:solidFill>
            <a:srgbClr val="F1F2F4"/>
          </a:solidFill>
          <a:ln w="12700">
            <a:solidFill>
              <a:srgbClr val="C5CAD3"/>
            </a:solidFill>
            <a:prstDash val="solid"/>
          </a:ln>
        </p:spPr>
      </p:sp>
      <p:pic>
        <p:nvPicPr>
          <p:cNvPr id="57" name="Image 15" descr="FaCircleXmark icon">    </p:cNvPr>
          <p:cNvPicPr>
            <a:picLocks noChangeAspect="1"/>
          </p:cNvPicPr>
          <p:nvPr/>
        </p:nvPicPr>
        <p:blipFill>
          <a:blip r:embed="rId16"/>
          <a:stretch>
            <a:fillRect/>
          </a:stretch>
        </p:blipFill>
        <p:spPr>
          <a:xfrm>
            <a:off x="548640" y="3767328"/>
            <a:ext cx="329184" cy="329184"/>
          </a:xfrm>
          <a:prstGeom prst="rect">
            <a:avLst/>
          </a:prstGeom>
        </p:spPr>
      </p:pic>
      <p:sp>
        <p:nvSpPr>
          <p:cNvPr id="58" name="Text 39"/>
          <p:cNvSpPr txBox="1"/>
          <p:nvPr/>
        </p:nvSpPr>
        <p:spPr>
          <a:xfrm>
            <a:off x="1051560" y="3511296"/>
            <a:ext cx="4023360" cy="841248"/>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Track every student's app activity</a:t>
            </a:r>
            <a:endParaRPr lang="en-US" sz="1400" dirty="0"/>
          </a:p>
        </p:txBody>
      </p:sp>
      <p:sp>
        <p:nvSpPr>
          <p:cNvPr id="59" name="Shape 40"/>
          <p:cNvSpPr/>
          <p:nvPr/>
        </p:nvSpPr>
        <p:spPr>
          <a:xfrm>
            <a:off x="5303520" y="3694176"/>
            <a:ext cx="1188720" cy="475488"/>
          </a:xfrm>
          <a:prstGeom prst="roundRect">
            <a:avLst>
              <a:gd name="adj" fmla="val 50000"/>
            </a:avLst>
          </a:prstGeom>
          <a:solidFill>
            <a:srgbClr val="FFFFFF"/>
          </a:solidFill>
          <a:ln w="19050">
            <a:solidFill>
              <a:srgbClr val="1F4A82"/>
            </a:solidFill>
            <a:prstDash val="solid"/>
          </a:ln>
        </p:spPr>
      </p:sp>
      <p:pic>
        <p:nvPicPr>
          <p:cNvPr id="60" name="Image 16" descr="FaChildReaching icon">    </p:cNvPr>
          <p:cNvPicPr>
            <a:picLocks noChangeAspect="1"/>
          </p:cNvPicPr>
          <p:nvPr/>
        </p:nvPicPr>
        <p:blipFill>
          <a:blip r:embed="rId17"/>
          <a:stretch>
            <a:fillRect/>
          </a:stretch>
        </p:blipFill>
        <p:spPr>
          <a:xfrm>
            <a:off x="5376672" y="3794760"/>
            <a:ext cx="256032" cy="256032"/>
          </a:xfrm>
          <a:prstGeom prst="rect">
            <a:avLst/>
          </a:prstGeom>
        </p:spPr>
      </p:pic>
      <p:sp>
        <p:nvSpPr>
          <p:cNvPr id="61" name="Text 41"/>
          <p:cNvSpPr txBox="1"/>
          <p:nvPr/>
        </p:nvSpPr>
        <p:spPr>
          <a:xfrm>
            <a:off x="5705856" y="3694176"/>
            <a:ext cx="777240" cy="475488"/>
          </a:xfrm>
          <a:prstGeom prst="rect">
            <a:avLst/>
          </a:prstGeom>
          <a:noFill/>
          <a:ln/>
        </p:spPr>
        <p:txBody>
          <a:bodyPr wrap="square" lIns="0" tIns="0" rIns="0" bIns="0" rtlCol="0" anchor="ctr"/>
          <a:lstStyle/>
          <a:p>
            <a:pPr algn="l" indent="0" marL="0">
              <a:buNone/>
            </a:pPr>
            <a:r>
              <a:rPr lang="en-US" sz="700" b="1" dirty="0">
                <a:solidFill>
                  <a:srgbClr val="1F4A82"/>
                </a:solidFill>
                <a:latin typeface="Calibri" pitchFamily="34" charset="0"/>
                <a:ea typeface="Calibri" pitchFamily="34" charset="-122"/>
                <a:cs typeface="Calibri" pitchFamily="34" charset="-120"/>
              </a:rPr>
              <a:t>MINORS' DATA</a:t>
            </a:r>
            <a:endParaRPr lang="en-US" sz="700" dirty="0"/>
          </a:p>
        </p:txBody>
      </p:sp>
      <p:sp>
        <p:nvSpPr>
          <p:cNvPr id="62" name="Shape 42"/>
          <p:cNvSpPr/>
          <p:nvPr/>
        </p:nvSpPr>
        <p:spPr>
          <a:xfrm>
            <a:off x="6629400" y="3511296"/>
            <a:ext cx="5148072" cy="841248"/>
          </a:xfrm>
          <a:prstGeom prst="rect">
            <a:avLst/>
          </a:prstGeom>
          <a:solidFill>
            <a:srgbClr val="E3ECF7"/>
          </a:solidFill>
          <a:ln w="19050">
            <a:solidFill>
              <a:srgbClr val="1F4A82"/>
            </a:solidFill>
            <a:prstDash val="solid"/>
          </a:ln>
        </p:spPr>
      </p:sp>
      <p:pic>
        <p:nvPicPr>
          <p:cNvPr id="63" name="Image 17" descr="FaCircleCheck icon">    </p:cNvPr>
          <p:cNvPicPr>
            <a:picLocks noChangeAspect="1"/>
          </p:cNvPicPr>
          <p:nvPr/>
        </p:nvPicPr>
        <p:blipFill>
          <a:blip r:embed="rId18"/>
          <a:stretch>
            <a:fillRect/>
          </a:stretch>
        </p:blipFill>
        <p:spPr>
          <a:xfrm>
            <a:off x="6766560" y="3767328"/>
            <a:ext cx="329184" cy="329184"/>
          </a:xfrm>
          <a:prstGeom prst="rect">
            <a:avLst/>
          </a:prstGeom>
        </p:spPr>
      </p:pic>
      <p:sp>
        <p:nvSpPr>
          <p:cNvPr id="64" name="Text 43"/>
          <p:cNvSpPr txBox="1"/>
          <p:nvPr/>
        </p:nvSpPr>
        <p:spPr>
          <a:xfrm>
            <a:off x="7269480" y="3511296"/>
            <a:ext cx="4434840" cy="841248"/>
          </a:xfrm>
          <a:prstGeom prst="rect">
            <a:avLst/>
          </a:prstGeom>
          <a:noFill/>
          <a:ln/>
        </p:spPr>
        <p:txBody>
          <a:bodyPr wrap="square" lIns="0" tIns="0" rIns="0" bIns="0" rtlCol="0" anchor="ctr"/>
          <a:lstStyle/>
          <a:p>
            <a:pPr algn="l" indent="0" marL="0">
              <a:buNone/>
            </a:pPr>
            <a:r>
              <a:rPr lang="en-US" sz="1350" b="1" dirty="0">
                <a:solidFill>
                  <a:srgbClr val="17325C"/>
                </a:solidFill>
                <a:latin typeface="Calibri" pitchFamily="34" charset="0"/>
                <a:ea typeface="Calibri" pitchFamily="34" charset="-122"/>
                <a:cs typeface="Calibri" pitchFamily="34" charset="-120"/>
              </a:rPr>
              <a:t>Law bans tracking minors; under-18s get academic data only</a:t>
            </a:r>
            <a:endParaRPr lang="en-US" sz="1350" dirty="0"/>
          </a:p>
        </p:txBody>
      </p:sp>
      <p:sp>
        <p:nvSpPr>
          <p:cNvPr id="65" name="Shape 44"/>
          <p:cNvSpPr/>
          <p:nvPr/>
        </p:nvSpPr>
        <p:spPr>
          <a:xfrm>
            <a:off x="411480" y="4443984"/>
            <a:ext cx="4754880" cy="841248"/>
          </a:xfrm>
          <a:prstGeom prst="rect">
            <a:avLst/>
          </a:prstGeom>
          <a:solidFill>
            <a:srgbClr val="F1F2F4"/>
          </a:solidFill>
          <a:ln w="12700">
            <a:solidFill>
              <a:srgbClr val="C5CAD3"/>
            </a:solidFill>
            <a:prstDash val="solid"/>
          </a:ln>
        </p:spPr>
      </p:sp>
      <p:pic>
        <p:nvPicPr>
          <p:cNvPr id="66" name="Image 18" descr="FaCircleXmark icon">    </p:cNvPr>
          <p:cNvPicPr>
            <a:picLocks noChangeAspect="1"/>
          </p:cNvPicPr>
          <p:nvPr/>
        </p:nvPicPr>
        <p:blipFill>
          <a:blip r:embed="rId19"/>
          <a:stretch>
            <a:fillRect/>
          </a:stretch>
        </p:blipFill>
        <p:spPr>
          <a:xfrm>
            <a:off x="548640" y="4700016"/>
            <a:ext cx="329184" cy="329184"/>
          </a:xfrm>
          <a:prstGeom prst="rect">
            <a:avLst/>
          </a:prstGeom>
        </p:spPr>
      </p:pic>
      <p:sp>
        <p:nvSpPr>
          <p:cNvPr id="67" name="Text 45"/>
          <p:cNvSpPr txBox="1"/>
          <p:nvPr/>
        </p:nvSpPr>
        <p:spPr>
          <a:xfrm>
            <a:off x="1051560" y="4443984"/>
            <a:ext cx="4023360" cy="841248"/>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Quote the best published score</a:t>
            </a:r>
            <a:endParaRPr lang="en-US" sz="1400" dirty="0"/>
          </a:p>
        </p:txBody>
      </p:sp>
      <p:sp>
        <p:nvSpPr>
          <p:cNvPr id="68" name="Shape 46"/>
          <p:cNvSpPr/>
          <p:nvPr/>
        </p:nvSpPr>
        <p:spPr>
          <a:xfrm>
            <a:off x="5303520" y="4626864"/>
            <a:ext cx="1188720" cy="475488"/>
          </a:xfrm>
          <a:prstGeom prst="roundRect">
            <a:avLst>
              <a:gd name="adj" fmla="val 50000"/>
            </a:avLst>
          </a:prstGeom>
          <a:solidFill>
            <a:srgbClr val="FFFFFF"/>
          </a:solidFill>
          <a:ln w="19050">
            <a:solidFill>
              <a:srgbClr val="1F4A82"/>
            </a:solidFill>
            <a:prstDash val="solid"/>
          </a:ln>
        </p:spPr>
      </p:sp>
      <p:pic>
        <p:nvPicPr>
          <p:cNvPr id="69" name="Image 19" descr="FaBullseye icon">    </p:cNvPr>
          <p:cNvPicPr>
            <a:picLocks noChangeAspect="1"/>
          </p:cNvPicPr>
          <p:nvPr/>
        </p:nvPicPr>
        <p:blipFill>
          <a:blip r:embed="rId20"/>
          <a:stretch>
            <a:fillRect/>
          </a:stretch>
        </p:blipFill>
        <p:spPr>
          <a:xfrm>
            <a:off x="5376672" y="4727448"/>
            <a:ext cx="256032" cy="256032"/>
          </a:xfrm>
          <a:prstGeom prst="rect">
            <a:avLst/>
          </a:prstGeom>
        </p:spPr>
      </p:pic>
      <p:sp>
        <p:nvSpPr>
          <p:cNvPr id="70" name="Text 47"/>
          <p:cNvSpPr txBox="1"/>
          <p:nvPr/>
        </p:nvSpPr>
        <p:spPr>
          <a:xfrm>
            <a:off x="5705856" y="4626864"/>
            <a:ext cx="777240" cy="475488"/>
          </a:xfrm>
          <a:prstGeom prst="rect">
            <a:avLst/>
          </a:prstGeom>
          <a:noFill/>
          <a:ln/>
        </p:spPr>
        <p:txBody>
          <a:bodyPr wrap="square" lIns="0" tIns="0" rIns="0" bIns="0" rtlCol="0" anchor="ctr"/>
          <a:lstStyle/>
          <a:p>
            <a:pPr algn="l" indent="0" marL="0">
              <a:buNone/>
            </a:pPr>
            <a:r>
              <a:rPr lang="en-US" sz="700" b="1" dirty="0">
                <a:solidFill>
                  <a:srgbClr val="1F4A82"/>
                </a:solidFill>
                <a:latin typeface="Calibri" pitchFamily="34" charset="0"/>
                <a:ea typeface="Calibri" pitchFamily="34" charset="-122"/>
                <a:cs typeface="Calibri" pitchFamily="34" charset="-120"/>
              </a:rPr>
              <a:t>ACCURACY</a:t>
            </a:r>
            <a:endParaRPr lang="en-US" sz="700" dirty="0"/>
          </a:p>
        </p:txBody>
      </p:sp>
      <p:sp>
        <p:nvSpPr>
          <p:cNvPr id="71" name="Shape 48"/>
          <p:cNvSpPr/>
          <p:nvPr/>
        </p:nvSpPr>
        <p:spPr>
          <a:xfrm>
            <a:off x="6629400" y="4443984"/>
            <a:ext cx="5148072" cy="841248"/>
          </a:xfrm>
          <a:prstGeom prst="rect">
            <a:avLst/>
          </a:prstGeom>
          <a:solidFill>
            <a:srgbClr val="E3ECF7"/>
          </a:solidFill>
          <a:ln w="19050">
            <a:solidFill>
              <a:srgbClr val="1F4A82"/>
            </a:solidFill>
            <a:prstDash val="solid"/>
          </a:ln>
        </p:spPr>
      </p:sp>
      <p:pic>
        <p:nvPicPr>
          <p:cNvPr id="72" name="Image 20" descr="FaCircleCheck icon">    </p:cNvPr>
          <p:cNvPicPr>
            <a:picLocks noChangeAspect="1"/>
          </p:cNvPicPr>
          <p:nvPr/>
        </p:nvPicPr>
        <p:blipFill>
          <a:blip r:embed="rId21"/>
          <a:stretch>
            <a:fillRect/>
          </a:stretch>
        </p:blipFill>
        <p:spPr>
          <a:xfrm>
            <a:off x="6766560" y="4700016"/>
            <a:ext cx="329184" cy="329184"/>
          </a:xfrm>
          <a:prstGeom prst="rect">
            <a:avLst/>
          </a:prstGeom>
        </p:spPr>
      </p:pic>
      <p:sp>
        <p:nvSpPr>
          <p:cNvPr id="73" name="Text 49"/>
          <p:cNvSpPr txBox="1"/>
          <p:nvPr/>
        </p:nvSpPr>
        <p:spPr>
          <a:xfrm>
            <a:off x="7269480" y="4443984"/>
            <a:ext cx="4434840" cy="841248"/>
          </a:xfrm>
          <a:prstGeom prst="rect">
            <a:avLst/>
          </a:prstGeom>
          <a:noFill/>
          <a:ln/>
        </p:spPr>
        <p:txBody>
          <a:bodyPr wrap="square" lIns="0" tIns="0" rIns="0" bIns="0" rtlCol="0" anchor="ctr"/>
          <a:lstStyle/>
          <a:p>
            <a:pPr algn="l" indent="0" marL="0">
              <a:buNone/>
            </a:pPr>
            <a:r>
              <a:rPr lang="en-US" sz="1350" b="1" dirty="0">
                <a:solidFill>
                  <a:srgbClr val="17325C"/>
                </a:solidFill>
                <a:latin typeface="Calibri" pitchFamily="34" charset="0"/>
                <a:ea typeface="Calibri" pitchFamily="34" charset="-122"/>
                <a:cs typeface="Calibri" pitchFamily="34" charset="-120"/>
              </a:rPr>
              <a:t>Our strict student-level test scores 0.71 against 0.79 published</a:t>
            </a:r>
            <a:endParaRPr lang="en-US" sz="1350" dirty="0"/>
          </a:p>
        </p:txBody>
      </p:sp>
      <p:sp>
        <p:nvSpPr>
          <p:cNvPr id="74" name="Shape 50"/>
          <p:cNvSpPr/>
          <p:nvPr/>
        </p:nvSpPr>
        <p:spPr>
          <a:xfrm>
            <a:off x="411480" y="5468112"/>
            <a:ext cx="3017520" cy="868680"/>
          </a:xfrm>
          <a:prstGeom prst="rect">
            <a:avLst/>
          </a:prstGeom>
          <a:solidFill>
            <a:srgbClr val="1F4A82"/>
          </a:solidFill>
          <a:ln/>
        </p:spPr>
      </p:sp>
      <p:sp>
        <p:nvSpPr>
          <p:cNvPr id="75" name="Text 51"/>
          <p:cNvSpPr txBox="1"/>
          <p:nvPr/>
        </p:nvSpPr>
        <p:spPr>
          <a:xfrm>
            <a:off x="521208" y="5468112"/>
            <a:ext cx="2798064" cy="868680"/>
          </a:xfrm>
          <a:prstGeom prst="rect">
            <a:avLst/>
          </a:prstGeom>
          <a:noFill/>
          <a:ln/>
        </p:spPr>
        <p:txBody>
          <a:bodyPr wrap="square" lIns="0" tIns="0" rIns="0" bIns="0" rtlCol="0" anchor="ctr"/>
          <a:lstStyle/>
          <a:p>
            <a:pPr algn="l" indent="0" marL="0">
              <a:buNone/>
            </a:pPr>
            <a:r>
              <a:rPr lang="en-US" sz="1000" b="1" dirty="0">
                <a:solidFill>
                  <a:srgbClr val="C9DBF0"/>
                </a:solidFill>
                <a:latin typeface="Calibri" pitchFamily="34" charset="0"/>
                <a:ea typeface="Calibri" pitchFamily="34" charset="-122"/>
                <a:cs typeface="Calibri" pitchFamily="34" charset="-120"/>
              </a:rPr>
              <a:t>THE DECISION REFRAME</a:t>
            </a:r>
            <a:endParaRPr lang="en-US" sz="1400" dirty="0"/>
          </a:p>
          <a:p>
            <a:pPr algn="l" indent="0" marL="0">
              <a:buNone/>
            </a:pPr>
            <a:r>
              <a:rPr lang="en-US" sz="1250" b="1" dirty="0">
                <a:solidFill>
                  <a:srgbClr val="FFFFFF"/>
                </a:solidFill>
                <a:latin typeface="Calibri" pitchFamily="34" charset="0"/>
                <a:ea typeface="Calibri" pitchFamily="34" charset="-122"/>
                <a:cs typeface="Calibri" pitchFamily="34" charset="-120"/>
              </a:rPr>
              <a:t>Not “who will drop out?” but “who do we call this week?”</a:t>
            </a:r>
            <a:endParaRPr lang="en-US" sz="1400" dirty="0"/>
          </a:p>
        </p:txBody>
      </p:sp>
      <p:sp>
        <p:nvSpPr>
          <p:cNvPr id="76" name="Shape 52"/>
          <p:cNvSpPr/>
          <p:nvPr/>
        </p:nvSpPr>
        <p:spPr>
          <a:xfrm>
            <a:off x="3611880" y="5577840"/>
            <a:ext cx="2192000" cy="658368"/>
          </a:xfrm>
          <a:prstGeom prst="homePlate">
            <a:avLst/>
          </a:prstGeom>
          <a:solidFill>
            <a:srgbClr val="1F4A82"/>
          </a:solidFill>
          <a:ln w="25400">
            <a:solidFill>
              <a:srgbClr val="FFFFFF"/>
            </a:solidFill>
            <a:prstDash val="solid"/>
          </a:ln>
        </p:spPr>
      </p:sp>
      <p:sp>
        <p:nvSpPr>
          <p:cNvPr id="77" name="Text 53"/>
          <p:cNvSpPr txBox="1"/>
          <p:nvPr/>
        </p:nvSpPr>
        <p:spPr>
          <a:xfrm>
            <a:off x="3739896" y="5577840"/>
            <a:ext cx="1789664"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Score</a:t>
            </a:r>
            <a:endParaRPr lang="en-US" sz="1400" dirty="0"/>
          </a:p>
          <a:p>
            <a:pPr algn="ctr" indent="0" marL="0">
              <a:buNone/>
            </a:pPr>
            <a:r>
              <a:rPr lang="en-US" sz="1050" dirty="0">
                <a:solidFill>
                  <a:srgbClr val="FFFFFF"/>
                </a:solidFill>
                <a:latin typeface="Calibri" pitchFamily="34" charset="0"/>
                <a:ea typeface="Calibri" pitchFamily="34" charset="-122"/>
                <a:cs typeface="Calibri" pitchFamily="34" charset="-120"/>
              </a:rPr>
              <a:t>who is slipping</a:t>
            </a:r>
            <a:endParaRPr lang="en-US" sz="1400" dirty="0"/>
          </a:p>
        </p:txBody>
      </p:sp>
      <p:sp>
        <p:nvSpPr>
          <p:cNvPr id="78" name="Shape 54"/>
          <p:cNvSpPr/>
          <p:nvPr/>
        </p:nvSpPr>
        <p:spPr>
          <a:xfrm>
            <a:off x="5593933" y="5577840"/>
            <a:ext cx="2192000" cy="658368"/>
          </a:xfrm>
          <a:prstGeom prst="chevron">
            <a:avLst/>
          </a:prstGeom>
          <a:solidFill>
            <a:srgbClr val="2E6DB4"/>
          </a:solidFill>
          <a:ln w="25400">
            <a:solidFill>
              <a:srgbClr val="FFFFFF"/>
            </a:solidFill>
            <a:prstDash val="solid"/>
          </a:ln>
        </p:spPr>
      </p:sp>
      <p:sp>
        <p:nvSpPr>
          <p:cNvPr id="79" name="Text 55"/>
          <p:cNvSpPr txBox="1"/>
          <p:nvPr/>
        </p:nvSpPr>
        <p:spPr>
          <a:xfrm>
            <a:off x="5886541" y="5577840"/>
            <a:ext cx="1625072"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Explain</a:t>
            </a:r>
            <a:endParaRPr lang="en-US" sz="1400" dirty="0"/>
          </a:p>
          <a:p>
            <a:pPr algn="ctr" indent="0" marL="0">
              <a:buNone/>
            </a:pPr>
            <a:r>
              <a:rPr lang="en-US" sz="1050" dirty="0">
                <a:solidFill>
                  <a:srgbClr val="FFFFFF"/>
                </a:solidFill>
                <a:latin typeface="Calibri" pitchFamily="34" charset="0"/>
                <a:ea typeface="Calibri" pitchFamily="34" charset="-122"/>
                <a:cs typeface="Calibri" pitchFamily="34" charset="-120"/>
              </a:rPr>
              <a:t>plain reasons</a:t>
            </a:r>
            <a:endParaRPr lang="en-US" sz="1400" dirty="0"/>
          </a:p>
        </p:txBody>
      </p:sp>
      <p:sp>
        <p:nvSpPr>
          <p:cNvPr id="80" name="Shape 56"/>
          <p:cNvSpPr/>
          <p:nvPr/>
        </p:nvSpPr>
        <p:spPr>
          <a:xfrm>
            <a:off x="7575987" y="5577840"/>
            <a:ext cx="2192000" cy="658368"/>
          </a:xfrm>
          <a:prstGeom prst="chevron">
            <a:avLst/>
          </a:prstGeom>
          <a:solidFill>
            <a:srgbClr val="1F4A82"/>
          </a:solidFill>
          <a:ln w="25400">
            <a:solidFill>
              <a:srgbClr val="FFFFFF"/>
            </a:solidFill>
            <a:prstDash val="solid"/>
          </a:ln>
        </p:spPr>
      </p:sp>
      <p:sp>
        <p:nvSpPr>
          <p:cNvPr id="81" name="Text 57"/>
          <p:cNvSpPr txBox="1"/>
          <p:nvPr/>
        </p:nvSpPr>
        <p:spPr>
          <a:xfrm>
            <a:off x="7868595" y="5577840"/>
            <a:ext cx="1625072"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Assign</a:t>
            </a:r>
            <a:endParaRPr lang="en-US" sz="1400" dirty="0"/>
          </a:p>
          <a:p>
            <a:pPr algn="ctr" indent="0" marL="0">
              <a:buNone/>
            </a:pPr>
            <a:r>
              <a:rPr lang="en-US" sz="1050" dirty="0">
                <a:solidFill>
                  <a:srgbClr val="FFFFFF"/>
                </a:solidFill>
                <a:latin typeface="Calibri" pitchFamily="34" charset="0"/>
                <a:ea typeface="Calibri" pitchFamily="34" charset="-122"/>
                <a:cs typeface="Calibri" pitchFamily="34" charset="-120"/>
              </a:rPr>
              <a:t>to a mentor</a:t>
            </a:r>
            <a:endParaRPr lang="en-US" sz="1400" dirty="0"/>
          </a:p>
        </p:txBody>
      </p:sp>
      <p:sp>
        <p:nvSpPr>
          <p:cNvPr id="82" name="Shape 58"/>
          <p:cNvSpPr/>
          <p:nvPr/>
        </p:nvSpPr>
        <p:spPr>
          <a:xfrm>
            <a:off x="9558040" y="5577840"/>
            <a:ext cx="2192000" cy="658368"/>
          </a:xfrm>
          <a:prstGeom prst="chevron">
            <a:avLst/>
          </a:prstGeom>
          <a:solidFill>
            <a:srgbClr val="5B8DC9"/>
          </a:solidFill>
          <a:ln w="25400">
            <a:solidFill>
              <a:srgbClr val="FFFFFF"/>
            </a:solidFill>
            <a:prstDash val="solid"/>
          </a:ln>
        </p:spPr>
      </p:sp>
      <p:sp>
        <p:nvSpPr>
          <p:cNvPr id="83" name="Text 59"/>
          <p:cNvSpPr txBox="1"/>
          <p:nvPr/>
        </p:nvSpPr>
        <p:spPr>
          <a:xfrm>
            <a:off x="9850648" y="5577840"/>
            <a:ext cx="1625072"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Log</a:t>
            </a:r>
            <a:endParaRPr lang="en-US" sz="1400" dirty="0"/>
          </a:p>
          <a:p>
            <a:pPr algn="ctr" indent="0" marL="0">
              <a:buNone/>
            </a:pPr>
            <a:r>
              <a:rPr lang="en-US" sz="1050" dirty="0">
                <a:solidFill>
                  <a:srgbClr val="FFFFFF"/>
                </a:solidFill>
                <a:latin typeface="Calibri" pitchFamily="34" charset="0"/>
                <a:ea typeface="Calibri" pitchFamily="34" charset="-122"/>
                <a:cs typeface="Calibri" pitchFamily="34" charset="-120"/>
              </a:rPr>
              <a:t>what worked</a:t>
            </a:r>
            <a:endParaRPr lang="en-US" sz="1400" dirty="0"/>
          </a:p>
        </p:txBody>
      </p:sp>
      <p:sp>
        <p:nvSpPr>
          <p:cNvPr id="84" name="Text 60"/>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case guide; vendor listings (financial/research R1); financial model v1.1 (Base: 4.0 % effective reduction); OULAD student-grouped test, PLOS ONE 2026 (0.794); DPDP Act 2023 s.9(3).</a:t>
            </a:r>
            <a:endParaRPr lang="en-US" sz="85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D4A24C"/>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data-protection">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4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SYSTEM ARCHITECTURE: THREE LAYERS</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Three layers, one rule: each institute's data stays its own</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1944929" y="1280160"/>
            <a:ext cx="8412480" cy="1353312"/>
          </a:xfrm>
          <a:prstGeom prst="rect">
            <a:avLst/>
          </a:prstGeom>
          <a:solidFill>
            <a:srgbClr val="DDE3EC"/>
          </a:solidFill>
          <a:ln/>
        </p:spPr>
      </p:sp>
      <p:sp>
        <p:nvSpPr>
          <p:cNvPr id="27" name="Shape 23"/>
          <p:cNvSpPr/>
          <p:nvPr/>
        </p:nvSpPr>
        <p:spPr>
          <a:xfrm>
            <a:off x="1890065" y="1207008"/>
            <a:ext cx="8412480" cy="1353312"/>
          </a:xfrm>
          <a:prstGeom prst="rect">
            <a:avLst/>
          </a:prstGeom>
          <a:solidFill>
            <a:srgbClr val="FFFFFF"/>
          </a:solidFill>
          <a:ln w="19050">
            <a:solidFill>
              <a:srgbClr val="1F4A82"/>
            </a:solidFill>
            <a:prstDash val="solid"/>
          </a:ln>
        </p:spPr>
      </p:sp>
      <p:sp>
        <p:nvSpPr>
          <p:cNvPr id="28" name="Shape 24"/>
          <p:cNvSpPr/>
          <p:nvPr/>
        </p:nvSpPr>
        <p:spPr>
          <a:xfrm>
            <a:off x="1890065" y="1207008"/>
            <a:ext cx="1920240" cy="1353312"/>
          </a:xfrm>
          <a:prstGeom prst="rect">
            <a:avLst/>
          </a:prstGeom>
          <a:solidFill>
            <a:srgbClr val="1F4A82"/>
          </a:solidFill>
          <a:ln/>
        </p:spPr>
      </p:sp>
      <p:pic>
        <p:nvPicPr>
          <p:cNvPr id="29"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30"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31"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32" name="Image 4" descr="FaShieldHalved icon">    </p:cNvPr>
          <p:cNvPicPr>
            <a:picLocks noChangeAspect="1"/>
          </p:cNvPicPr>
          <p:nvPr/>
        </p:nvPicPr>
        <p:blipFill>
          <a:blip r:embed="rId5"/>
          <a:stretch>
            <a:fillRect/>
          </a:stretch>
        </p:blipFill>
        <p:spPr>
          <a:xfrm>
            <a:off x="6278728" y="100584"/>
            <a:ext cx="182880" cy="182880"/>
          </a:xfrm>
          <a:prstGeom prst="rect">
            <a:avLst/>
          </a:prstGeom>
        </p:spPr>
      </p:pic>
      <p:pic>
        <p:nvPicPr>
          <p:cNvPr id="33" name="Image 5" descr="FaIndianRupeeSign icon">    </p:cNvPr>
          <p:cNvPicPr>
            <a:picLocks noChangeAspect="1"/>
          </p:cNvPicPr>
          <p:nvPr/>
        </p:nvPicPr>
        <p:blipFill>
          <a:blip r:embed="rId6"/>
          <a:stretch>
            <a:fillRect/>
          </a:stretch>
        </p:blipFill>
        <p:spPr>
          <a:xfrm>
            <a:off x="7676960" y="100584"/>
            <a:ext cx="182880" cy="182880"/>
          </a:xfrm>
          <a:prstGeom prst="rect">
            <a:avLst/>
          </a:prstGeom>
        </p:spPr>
      </p:pic>
      <p:pic>
        <p:nvPicPr>
          <p:cNvPr id="34" name="Image 6" descr="FaBullseye icon">    </p:cNvPr>
          <p:cNvPicPr>
            <a:picLocks noChangeAspect="1"/>
          </p:cNvPicPr>
          <p:nvPr/>
        </p:nvPicPr>
        <p:blipFill>
          <a:blip r:embed="rId7"/>
          <a:stretch>
            <a:fillRect/>
          </a:stretch>
        </p:blipFill>
        <p:spPr>
          <a:xfrm>
            <a:off x="9075191" y="100584"/>
            <a:ext cx="182880" cy="182880"/>
          </a:xfrm>
          <a:prstGeom prst="rect">
            <a:avLst/>
          </a:prstGeom>
        </p:spPr>
      </p:pic>
      <p:pic>
        <p:nvPicPr>
          <p:cNvPr id="35" name="Image 7" descr="FaBookOpen icon">    </p:cNvPr>
          <p:cNvPicPr>
            <a:picLocks noChangeAspect="1"/>
          </p:cNvPicPr>
          <p:nvPr/>
        </p:nvPicPr>
        <p:blipFill>
          <a:blip r:embed="rId8"/>
          <a:stretch>
            <a:fillRect/>
          </a:stretch>
        </p:blipFill>
        <p:spPr>
          <a:xfrm>
            <a:off x="10473423" y="100584"/>
            <a:ext cx="182880" cy="182880"/>
          </a:xfrm>
          <a:prstGeom prst="rect">
            <a:avLst/>
          </a:prstGeom>
        </p:spPr>
      </p:pic>
      <p:pic>
        <p:nvPicPr>
          <p:cNvPr id="36" name="Image 8" descr="FaGears icon">    </p:cNvPr>
          <p:cNvPicPr>
            <a:picLocks noChangeAspect="1"/>
          </p:cNvPicPr>
          <p:nvPr/>
        </p:nvPicPr>
        <p:blipFill>
          <a:blip r:embed="rId9"/>
          <a:stretch>
            <a:fillRect/>
          </a:stretch>
        </p:blipFill>
        <p:spPr>
          <a:xfrm>
            <a:off x="4880496" y="100584"/>
            <a:ext cx="182880" cy="182880"/>
          </a:xfrm>
          <a:prstGeom prst="rect">
            <a:avLst/>
          </a:prstGeom>
        </p:spPr>
      </p:pic>
      <p:pic>
        <p:nvPicPr>
          <p:cNvPr id="37" name="Image 9" descr="FaDisplay icon">    </p:cNvPr>
          <p:cNvPicPr>
            <a:picLocks noChangeAspect="1"/>
          </p:cNvPicPr>
          <p:nvPr/>
        </p:nvPicPr>
        <p:blipFill>
          <a:blip r:embed="rId10"/>
          <a:stretch>
            <a:fillRect/>
          </a:stretch>
        </p:blipFill>
        <p:spPr>
          <a:xfrm>
            <a:off x="2603297" y="1371600"/>
            <a:ext cx="502920" cy="502920"/>
          </a:xfrm>
          <a:prstGeom prst="rect">
            <a:avLst/>
          </a:prstGeom>
        </p:spPr>
      </p:pic>
      <p:sp>
        <p:nvSpPr>
          <p:cNvPr id="38" name="Text 25"/>
          <p:cNvSpPr txBox="1"/>
          <p:nvPr/>
        </p:nvSpPr>
        <p:spPr>
          <a:xfrm>
            <a:off x="1890065" y="1920240"/>
            <a:ext cx="19202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DELIVERY</a:t>
            </a:r>
            <a:endParaRPr lang="en-US" sz="1300" dirty="0"/>
          </a:p>
        </p:txBody>
      </p:sp>
      <p:sp>
        <p:nvSpPr>
          <p:cNvPr id="39" name="Text 26"/>
          <p:cNvSpPr txBox="1"/>
          <p:nvPr/>
        </p:nvSpPr>
        <p:spPr>
          <a:xfrm>
            <a:off x="1890065" y="2194560"/>
            <a:ext cx="1920240" cy="274320"/>
          </a:xfrm>
          <a:prstGeom prst="rect">
            <a:avLst/>
          </a:prstGeom>
          <a:noFill/>
          <a:ln/>
        </p:spPr>
        <p:txBody>
          <a:bodyPr wrap="square" lIns="0" tIns="0" rIns="0" bIns="0" rtlCol="0" anchor="ctr"/>
          <a:lstStyle/>
          <a:p>
            <a:pPr algn="ctr" indent="0" marL="0">
              <a:buNone/>
            </a:pPr>
            <a:r>
              <a:rPr lang="en-US" sz="950" dirty="0">
                <a:solidFill>
                  <a:srgbClr val="C9DBF0"/>
                </a:solidFill>
                <a:latin typeface="Calibri" pitchFamily="34" charset="0"/>
                <a:ea typeface="Calibri" pitchFamily="34" charset="-122"/>
                <a:cs typeface="Calibri" pitchFamily="34" charset="-120"/>
              </a:rPr>
              <a:t>What people use</a:t>
            </a:r>
            <a:endParaRPr lang="en-US" sz="950" dirty="0"/>
          </a:p>
        </p:txBody>
      </p:sp>
      <p:sp>
        <p:nvSpPr>
          <p:cNvPr id="40" name="Shape 27"/>
          <p:cNvSpPr/>
          <p:nvPr/>
        </p:nvSpPr>
        <p:spPr>
          <a:xfrm>
            <a:off x="3901745" y="1371600"/>
            <a:ext cx="1481328" cy="1024128"/>
          </a:xfrm>
          <a:prstGeom prst="rect">
            <a:avLst/>
          </a:prstGeom>
          <a:solidFill>
            <a:srgbClr val="E3ECF7"/>
          </a:solidFill>
          <a:ln w="9525">
            <a:solidFill>
              <a:srgbClr val="B9CBE4"/>
            </a:solidFill>
            <a:prstDash val="solid"/>
          </a:ln>
        </p:spPr>
      </p:sp>
      <p:sp>
        <p:nvSpPr>
          <p:cNvPr id="41" name="Text 28"/>
          <p:cNvSpPr txBox="1"/>
          <p:nvPr/>
        </p:nvSpPr>
        <p:spPr>
          <a:xfrm>
            <a:off x="3974897" y="1371600"/>
            <a:ext cx="133502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Web console</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Owner and teacher views</a:t>
            </a:r>
            <a:endParaRPr lang="en-US" sz="1400" dirty="0"/>
          </a:p>
        </p:txBody>
      </p:sp>
      <p:sp>
        <p:nvSpPr>
          <p:cNvPr id="42" name="Shape 29"/>
          <p:cNvSpPr/>
          <p:nvPr/>
        </p:nvSpPr>
        <p:spPr>
          <a:xfrm>
            <a:off x="5483657" y="1371600"/>
            <a:ext cx="1481328" cy="1024128"/>
          </a:xfrm>
          <a:prstGeom prst="rect">
            <a:avLst/>
          </a:prstGeom>
          <a:solidFill>
            <a:srgbClr val="E3ECF7"/>
          </a:solidFill>
          <a:ln w="9525">
            <a:solidFill>
              <a:srgbClr val="B9CBE4"/>
            </a:solidFill>
            <a:prstDash val="solid"/>
          </a:ln>
        </p:spPr>
      </p:sp>
      <p:sp>
        <p:nvSpPr>
          <p:cNvPr id="43" name="Text 30"/>
          <p:cNvSpPr txBox="1"/>
          <p:nvPr/>
        </p:nvSpPr>
        <p:spPr>
          <a:xfrm>
            <a:off x="5556809" y="1371600"/>
            <a:ext cx="133502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Phone app</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Scan, weekly list, parent view</a:t>
            </a:r>
            <a:endParaRPr lang="en-US" sz="1400" dirty="0"/>
          </a:p>
        </p:txBody>
      </p:sp>
      <p:sp>
        <p:nvSpPr>
          <p:cNvPr id="44" name="Shape 31"/>
          <p:cNvSpPr/>
          <p:nvPr/>
        </p:nvSpPr>
        <p:spPr>
          <a:xfrm>
            <a:off x="7065569" y="1371600"/>
            <a:ext cx="1481328" cy="1024128"/>
          </a:xfrm>
          <a:prstGeom prst="rect">
            <a:avLst/>
          </a:prstGeom>
          <a:solidFill>
            <a:srgbClr val="E3ECF7"/>
          </a:solidFill>
          <a:ln w="9525">
            <a:solidFill>
              <a:srgbClr val="B9CBE4"/>
            </a:solidFill>
            <a:prstDash val="solid"/>
          </a:ln>
        </p:spPr>
      </p:sp>
      <p:sp>
        <p:nvSpPr>
          <p:cNvPr id="45" name="Text 32"/>
          <p:cNvSpPr txBox="1"/>
          <p:nvPr/>
        </p:nvSpPr>
        <p:spPr>
          <a:xfrm>
            <a:off x="7138721" y="1371600"/>
            <a:ext cx="133502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Hindi + English</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Reports in both languages</a:t>
            </a:r>
            <a:endParaRPr lang="en-US" sz="1400" dirty="0"/>
          </a:p>
        </p:txBody>
      </p:sp>
      <p:sp>
        <p:nvSpPr>
          <p:cNvPr id="46" name="Shape 33"/>
          <p:cNvSpPr/>
          <p:nvPr/>
        </p:nvSpPr>
        <p:spPr>
          <a:xfrm>
            <a:off x="8647481" y="1371600"/>
            <a:ext cx="1481328" cy="1024128"/>
          </a:xfrm>
          <a:prstGeom prst="rect">
            <a:avLst/>
          </a:prstGeom>
          <a:solidFill>
            <a:srgbClr val="E3ECF7"/>
          </a:solidFill>
          <a:ln w="9525">
            <a:solidFill>
              <a:srgbClr val="B9CBE4"/>
            </a:solidFill>
            <a:prstDash val="solid"/>
          </a:ln>
        </p:spPr>
      </p:sp>
      <p:sp>
        <p:nvSpPr>
          <p:cNvPr id="47" name="Text 34"/>
          <p:cNvSpPr txBox="1"/>
          <p:nvPr/>
        </p:nvSpPr>
        <p:spPr>
          <a:xfrm>
            <a:off x="8720633" y="1371600"/>
            <a:ext cx="133502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Open export</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CSV and API; you own the data</a:t>
            </a:r>
            <a:endParaRPr lang="en-US" sz="1400" dirty="0"/>
          </a:p>
        </p:txBody>
      </p:sp>
      <p:sp>
        <p:nvSpPr>
          <p:cNvPr id="48" name="Shape 35"/>
          <p:cNvSpPr/>
          <p:nvPr/>
        </p:nvSpPr>
        <p:spPr>
          <a:xfrm>
            <a:off x="1350569" y="2724912"/>
            <a:ext cx="9601200" cy="1353312"/>
          </a:xfrm>
          <a:prstGeom prst="rect">
            <a:avLst/>
          </a:prstGeom>
          <a:solidFill>
            <a:srgbClr val="DDE3EC"/>
          </a:solidFill>
          <a:ln/>
        </p:spPr>
      </p:sp>
      <p:sp>
        <p:nvSpPr>
          <p:cNvPr id="49" name="Shape 36"/>
          <p:cNvSpPr/>
          <p:nvPr/>
        </p:nvSpPr>
        <p:spPr>
          <a:xfrm>
            <a:off x="1295705" y="2651760"/>
            <a:ext cx="9601200" cy="1353312"/>
          </a:xfrm>
          <a:prstGeom prst="rect">
            <a:avLst/>
          </a:prstGeom>
          <a:solidFill>
            <a:srgbClr val="FFFFFF"/>
          </a:solidFill>
          <a:ln w="19050">
            <a:solidFill>
              <a:srgbClr val="2E6DB4"/>
            </a:solidFill>
            <a:prstDash val="solid"/>
          </a:ln>
        </p:spPr>
      </p:sp>
      <p:sp>
        <p:nvSpPr>
          <p:cNvPr id="50" name="Shape 37"/>
          <p:cNvSpPr/>
          <p:nvPr/>
        </p:nvSpPr>
        <p:spPr>
          <a:xfrm>
            <a:off x="1295705" y="2651760"/>
            <a:ext cx="1920240" cy="1353312"/>
          </a:xfrm>
          <a:prstGeom prst="rect">
            <a:avLst/>
          </a:prstGeom>
          <a:solidFill>
            <a:srgbClr val="2E6DB4"/>
          </a:solidFill>
          <a:ln/>
        </p:spPr>
      </p:sp>
      <p:pic>
        <p:nvPicPr>
          <p:cNvPr id="51" name="Image 10" descr="FaBrain icon">    </p:cNvPr>
          <p:cNvPicPr>
            <a:picLocks noChangeAspect="1"/>
          </p:cNvPicPr>
          <p:nvPr/>
        </p:nvPicPr>
        <p:blipFill>
          <a:blip r:embed="rId11"/>
          <a:stretch>
            <a:fillRect/>
          </a:stretch>
        </p:blipFill>
        <p:spPr>
          <a:xfrm>
            <a:off x="2008937" y="2816352"/>
            <a:ext cx="502920" cy="502920"/>
          </a:xfrm>
          <a:prstGeom prst="rect">
            <a:avLst/>
          </a:prstGeom>
        </p:spPr>
      </p:pic>
      <p:sp>
        <p:nvSpPr>
          <p:cNvPr id="52" name="Text 38"/>
          <p:cNvSpPr txBox="1"/>
          <p:nvPr/>
        </p:nvSpPr>
        <p:spPr>
          <a:xfrm>
            <a:off x="1295705" y="3364992"/>
            <a:ext cx="19202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INTELLIGENCE</a:t>
            </a:r>
            <a:endParaRPr lang="en-US" sz="1300" dirty="0"/>
          </a:p>
        </p:txBody>
      </p:sp>
      <p:sp>
        <p:nvSpPr>
          <p:cNvPr id="53" name="Text 39"/>
          <p:cNvSpPr txBox="1"/>
          <p:nvPr/>
        </p:nvSpPr>
        <p:spPr>
          <a:xfrm>
            <a:off x="1295705" y="3639312"/>
            <a:ext cx="1920240" cy="274320"/>
          </a:xfrm>
          <a:prstGeom prst="rect">
            <a:avLst/>
          </a:prstGeom>
          <a:noFill/>
          <a:ln/>
        </p:spPr>
        <p:txBody>
          <a:bodyPr wrap="square" lIns="0" tIns="0" rIns="0" bIns="0" rtlCol="0" anchor="ctr"/>
          <a:lstStyle/>
          <a:p>
            <a:pPr algn="ctr" indent="0" marL="0">
              <a:buNone/>
            </a:pPr>
            <a:r>
              <a:rPr lang="en-US" sz="950" dirty="0">
                <a:solidFill>
                  <a:srgbClr val="C9DBF0"/>
                </a:solidFill>
                <a:latin typeface="Calibri" pitchFamily="34" charset="0"/>
                <a:ea typeface="Calibri" pitchFamily="34" charset="-122"/>
                <a:cs typeface="Calibri" pitchFamily="34" charset="-120"/>
              </a:rPr>
              <a:t>What it works out</a:t>
            </a:r>
            <a:endParaRPr lang="en-US" sz="950" dirty="0"/>
          </a:p>
        </p:txBody>
      </p:sp>
      <p:sp>
        <p:nvSpPr>
          <p:cNvPr id="54" name="Shape 40"/>
          <p:cNvSpPr/>
          <p:nvPr/>
        </p:nvSpPr>
        <p:spPr>
          <a:xfrm>
            <a:off x="3307385" y="2816352"/>
            <a:ext cx="1778508" cy="1024128"/>
          </a:xfrm>
          <a:prstGeom prst="rect">
            <a:avLst/>
          </a:prstGeom>
          <a:solidFill>
            <a:srgbClr val="E3ECF7"/>
          </a:solidFill>
          <a:ln w="9525">
            <a:solidFill>
              <a:srgbClr val="B9CBE4"/>
            </a:solidFill>
            <a:prstDash val="solid"/>
          </a:ln>
        </p:spPr>
      </p:sp>
      <p:sp>
        <p:nvSpPr>
          <p:cNvPr id="55" name="Text 41"/>
          <p:cNvSpPr txBox="1"/>
          <p:nvPr/>
        </p:nvSpPr>
        <p:spPr>
          <a:xfrm>
            <a:off x="3380537" y="2816352"/>
            <a:ext cx="163220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Topic mastery</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Finds weak topics (IRT)</a:t>
            </a:r>
            <a:endParaRPr lang="en-US" sz="1400" dirty="0"/>
          </a:p>
        </p:txBody>
      </p:sp>
      <p:sp>
        <p:nvSpPr>
          <p:cNvPr id="56" name="Shape 42"/>
          <p:cNvSpPr/>
          <p:nvPr/>
        </p:nvSpPr>
        <p:spPr>
          <a:xfrm>
            <a:off x="5186477" y="2816352"/>
            <a:ext cx="1778508" cy="1024128"/>
          </a:xfrm>
          <a:prstGeom prst="rect">
            <a:avLst/>
          </a:prstGeom>
          <a:solidFill>
            <a:srgbClr val="E3ECF7"/>
          </a:solidFill>
          <a:ln w="9525">
            <a:solidFill>
              <a:srgbClr val="B9CBE4"/>
            </a:solidFill>
            <a:prstDash val="solid"/>
          </a:ln>
        </p:spPr>
      </p:sp>
      <p:sp>
        <p:nvSpPr>
          <p:cNvPr id="57" name="Text 43"/>
          <p:cNvSpPr txBox="1"/>
          <p:nvPr/>
        </p:nvSpPr>
        <p:spPr>
          <a:xfrm>
            <a:off x="5259629" y="2816352"/>
            <a:ext cx="163220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Early warning</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Flags who needs help (LightGBM)</a:t>
            </a:r>
            <a:endParaRPr lang="en-US" sz="1400" dirty="0"/>
          </a:p>
        </p:txBody>
      </p:sp>
      <p:sp>
        <p:nvSpPr>
          <p:cNvPr id="58" name="Shape 44"/>
          <p:cNvSpPr/>
          <p:nvPr/>
        </p:nvSpPr>
        <p:spPr>
          <a:xfrm>
            <a:off x="7065569" y="2816352"/>
            <a:ext cx="1778508" cy="1024128"/>
          </a:xfrm>
          <a:prstGeom prst="rect">
            <a:avLst/>
          </a:prstGeom>
          <a:solidFill>
            <a:srgbClr val="E3ECF7"/>
          </a:solidFill>
          <a:ln w="9525">
            <a:solidFill>
              <a:srgbClr val="B9CBE4"/>
            </a:solidFill>
            <a:prstDash val="solid"/>
          </a:ln>
        </p:spPr>
      </p:sp>
      <p:sp>
        <p:nvSpPr>
          <p:cNvPr id="59" name="Text 45"/>
          <p:cNvSpPr txBox="1"/>
          <p:nvPr/>
        </p:nvSpPr>
        <p:spPr>
          <a:xfrm>
            <a:off x="7138721" y="2816352"/>
            <a:ext cx="163220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Honest ranges</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Percentile bands (conformal)</a:t>
            </a:r>
            <a:endParaRPr lang="en-US" sz="1400" dirty="0"/>
          </a:p>
        </p:txBody>
      </p:sp>
      <p:sp>
        <p:nvSpPr>
          <p:cNvPr id="60" name="Shape 46"/>
          <p:cNvSpPr/>
          <p:nvPr/>
        </p:nvSpPr>
        <p:spPr>
          <a:xfrm>
            <a:off x="8944661" y="2816352"/>
            <a:ext cx="1778508" cy="1024128"/>
          </a:xfrm>
          <a:prstGeom prst="rect">
            <a:avLst/>
          </a:prstGeom>
          <a:solidFill>
            <a:srgbClr val="E3ECF7"/>
          </a:solidFill>
          <a:ln w="9525">
            <a:solidFill>
              <a:srgbClr val="B9CBE4"/>
            </a:solidFill>
            <a:prstDash val="solid"/>
          </a:ln>
        </p:spPr>
      </p:sp>
      <p:sp>
        <p:nvSpPr>
          <p:cNvPr id="61" name="Text 47"/>
          <p:cNvSpPr txBox="1"/>
          <p:nvPr/>
        </p:nvSpPr>
        <p:spPr>
          <a:xfrm>
            <a:off x="9017813" y="2816352"/>
            <a:ext cx="163220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Safe reports</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No invented numbers (8 checks)</a:t>
            </a:r>
            <a:endParaRPr lang="en-US" sz="1400" dirty="0"/>
          </a:p>
        </p:txBody>
      </p:sp>
      <p:sp>
        <p:nvSpPr>
          <p:cNvPr id="62" name="Shape 48"/>
          <p:cNvSpPr/>
          <p:nvPr/>
        </p:nvSpPr>
        <p:spPr>
          <a:xfrm>
            <a:off x="756209" y="4169664"/>
            <a:ext cx="10789920" cy="1353312"/>
          </a:xfrm>
          <a:prstGeom prst="rect">
            <a:avLst/>
          </a:prstGeom>
          <a:solidFill>
            <a:srgbClr val="DDE3EC"/>
          </a:solidFill>
          <a:ln/>
        </p:spPr>
      </p:sp>
      <p:sp>
        <p:nvSpPr>
          <p:cNvPr id="63" name="Shape 49"/>
          <p:cNvSpPr/>
          <p:nvPr/>
        </p:nvSpPr>
        <p:spPr>
          <a:xfrm>
            <a:off x="701345" y="4096512"/>
            <a:ext cx="10789920" cy="1353312"/>
          </a:xfrm>
          <a:prstGeom prst="rect">
            <a:avLst/>
          </a:prstGeom>
          <a:solidFill>
            <a:srgbClr val="FFFFFF"/>
          </a:solidFill>
          <a:ln w="19050">
            <a:solidFill>
              <a:srgbClr val="17325C"/>
            </a:solidFill>
            <a:prstDash val="solid"/>
          </a:ln>
        </p:spPr>
      </p:sp>
      <p:sp>
        <p:nvSpPr>
          <p:cNvPr id="64" name="Shape 50"/>
          <p:cNvSpPr/>
          <p:nvPr/>
        </p:nvSpPr>
        <p:spPr>
          <a:xfrm>
            <a:off x="701345" y="4096512"/>
            <a:ext cx="1920240" cy="1353312"/>
          </a:xfrm>
          <a:prstGeom prst="rect">
            <a:avLst/>
          </a:prstGeom>
          <a:solidFill>
            <a:srgbClr val="17325C"/>
          </a:solidFill>
          <a:ln/>
        </p:spPr>
      </p:sp>
      <p:pic>
        <p:nvPicPr>
          <p:cNvPr id="65" name="Image 11" descr="FaShieldHalved icon">    </p:cNvPr>
          <p:cNvPicPr>
            <a:picLocks noChangeAspect="1"/>
          </p:cNvPicPr>
          <p:nvPr/>
        </p:nvPicPr>
        <p:blipFill>
          <a:blip r:embed="rId12"/>
          <a:stretch>
            <a:fillRect/>
          </a:stretch>
        </p:blipFill>
        <p:spPr>
          <a:xfrm>
            <a:off x="1414577" y="4261104"/>
            <a:ext cx="502920" cy="502920"/>
          </a:xfrm>
          <a:prstGeom prst="rect">
            <a:avLst/>
          </a:prstGeom>
        </p:spPr>
      </p:pic>
      <p:sp>
        <p:nvSpPr>
          <p:cNvPr id="66" name="Text 51"/>
          <p:cNvSpPr txBox="1"/>
          <p:nvPr/>
        </p:nvSpPr>
        <p:spPr>
          <a:xfrm>
            <a:off x="701345" y="4809744"/>
            <a:ext cx="19202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TRUST &amp; DATA</a:t>
            </a:r>
            <a:endParaRPr lang="en-US" sz="1300" dirty="0"/>
          </a:p>
        </p:txBody>
      </p:sp>
      <p:sp>
        <p:nvSpPr>
          <p:cNvPr id="67" name="Text 52"/>
          <p:cNvSpPr txBox="1"/>
          <p:nvPr/>
        </p:nvSpPr>
        <p:spPr>
          <a:xfrm>
            <a:off x="701345" y="5084064"/>
            <a:ext cx="1920240" cy="274320"/>
          </a:xfrm>
          <a:prstGeom prst="rect">
            <a:avLst/>
          </a:prstGeom>
          <a:noFill/>
          <a:ln/>
        </p:spPr>
        <p:txBody>
          <a:bodyPr wrap="square" lIns="0" tIns="0" rIns="0" bIns="0" rtlCol="0" anchor="ctr"/>
          <a:lstStyle/>
          <a:p>
            <a:pPr algn="ctr" indent="0" marL="0">
              <a:buNone/>
            </a:pPr>
            <a:r>
              <a:rPr lang="en-US" sz="950" dirty="0">
                <a:solidFill>
                  <a:srgbClr val="C9DBF0"/>
                </a:solidFill>
                <a:latin typeface="Calibri" pitchFamily="34" charset="0"/>
                <a:ea typeface="Calibri" pitchFamily="34" charset="-122"/>
                <a:cs typeface="Calibri" pitchFamily="34" charset="-120"/>
              </a:rPr>
              <a:t>What keeps it safe</a:t>
            </a:r>
            <a:endParaRPr lang="en-US" sz="950" dirty="0"/>
          </a:p>
        </p:txBody>
      </p:sp>
      <p:sp>
        <p:nvSpPr>
          <p:cNvPr id="68" name="Shape 53"/>
          <p:cNvSpPr/>
          <p:nvPr/>
        </p:nvSpPr>
        <p:spPr>
          <a:xfrm>
            <a:off x="2713025" y="4261104"/>
            <a:ext cx="2075688" cy="1024128"/>
          </a:xfrm>
          <a:prstGeom prst="rect">
            <a:avLst/>
          </a:prstGeom>
          <a:solidFill>
            <a:srgbClr val="E3ECF7"/>
          </a:solidFill>
          <a:ln w="9525">
            <a:solidFill>
              <a:srgbClr val="B9CBE4"/>
            </a:solidFill>
            <a:prstDash val="solid"/>
          </a:ln>
        </p:spPr>
      </p:sp>
      <p:sp>
        <p:nvSpPr>
          <p:cNvPr id="69" name="Text 54"/>
          <p:cNvSpPr txBox="1"/>
          <p:nvPr/>
        </p:nvSpPr>
        <p:spPr>
          <a:xfrm>
            <a:off x="2786177" y="4261104"/>
            <a:ext cx="192938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Row-level security</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Institutes never mix</a:t>
            </a:r>
            <a:endParaRPr lang="en-US" sz="1400" dirty="0"/>
          </a:p>
        </p:txBody>
      </p:sp>
      <p:sp>
        <p:nvSpPr>
          <p:cNvPr id="70" name="Shape 55"/>
          <p:cNvSpPr/>
          <p:nvPr/>
        </p:nvSpPr>
        <p:spPr>
          <a:xfrm>
            <a:off x="4889297" y="4261104"/>
            <a:ext cx="2075688" cy="1024128"/>
          </a:xfrm>
          <a:prstGeom prst="rect">
            <a:avLst/>
          </a:prstGeom>
          <a:solidFill>
            <a:srgbClr val="E3ECF7"/>
          </a:solidFill>
          <a:ln w="9525">
            <a:solidFill>
              <a:srgbClr val="B9CBE4"/>
            </a:solidFill>
            <a:prstDash val="solid"/>
          </a:ln>
        </p:spPr>
      </p:sp>
      <p:sp>
        <p:nvSpPr>
          <p:cNvPr id="71" name="Text 56"/>
          <p:cNvSpPr txBox="1"/>
          <p:nvPr/>
        </p:nvSpPr>
        <p:spPr>
          <a:xfrm>
            <a:off x="4962449" y="4261104"/>
            <a:ext cx="192938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Consent gate</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No consent, no model</a:t>
            </a:r>
            <a:endParaRPr lang="en-US" sz="1400" dirty="0"/>
          </a:p>
        </p:txBody>
      </p:sp>
      <p:sp>
        <p:nvSpPr>
          <p:cNvPr id="72" name="Shape 57"/>
          <p:cNvSpPr/>
          <p:nvPr/>
        </p:nvSpPr>
        <p:spPr>
          <a:xfrm>
            <a:off x="7065569" y="4261104"/>
            <a:ext cx="2075688" cy="1024128"/>
          </a:xfrm>
          <a:prstGeom prst="rect">
            <a:avLst/>
          </a:prstGeom>
          <a:solidFill>
            <a:srgbClr val="E3ECF7"/>
          </a:solidFill>
          <a:ln w="9525">
            <a:solidFill>
              <a:srgbClr val="B9CBE4"/>
            </a:solidFill>
            <a:prstDash val="solid"/>
          </a:ln>
        </p:spPr>
      </p:sp>
      <p:sp>
        <p:nvSpPr>
          <p:cNvPr id="73" name="Text 58"/>
          <p:cNvSpPr txBox="1"/>
          <p:nvPr/>
        </p:nvSpPr>
        <p:spPr>
          <a:xfrm>
            <a:off x="7138721" y="4261104"/>
            <a:ext cx="192938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Offline-first</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Works without internet</a:t>
            </a:r>
            <a:endParaRPr lang="en-US" sz="1400" dirty="0"/>
          </a:p>
        </p:txBody>
      </p:sp>
      <p:sp>
        <p:nvSpPr>
          <p:cNvPr id="74" name="Shape 59"/>
          <p:cNvSpPr/>
          <p:nvPr/>
        </p:nvSpPr>
        <p:spPr>
          <a:xfrm>
            <a:off x="9241841" y="4261104"/>
            <a:ext cx="2075688" cy="1024128"/>
          </a:xfrm>
          <a:prstGeom prst="rect">
            <a:avLst/>
          </a:prstGeom>
          <a:solidFill>
            <a:srgbClr val="E3ECF7"/>
          </a:solidFill>
          <a:ln w="9525">
            <a:solidFill>
              <a:srgbClr val="B9CBE4"/>
            </a:solidFill>
            <a:prstDash val="solid"/>
          </a:ln>
        </p:spPr>
      </p:sp>
      <p:sp>
        <p:nvSpPr>
          <p:cNvPr id="75" name="Text 60"/>
          <p:cNvSpPr txBox="1"/>
          <p:nvPr/>
        </p:nvSpPr>
        <p:spPr>
          <a:xfrm>
            <a:off x="9314993" y="4261104"/>
            <a:ext cx="192938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Audit log</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Who saw what, kept a year</a:t>
            </a:r>
            <a:endParaRPr lang="en-US" sz="1400" dirty="0"/>
          </a:p>
        </p:txBody>
      </p:sp>
      <p:sp>
        <p:nvSpPr>
          <p:cNvPr id="76" name="Shape 61"/>
          <p:cNvSpPr/>
          <p:nvPr/>
        </p:nvSpPr>
        <p:spPr>
          <a:xfrm>
            <a:off x="411480" y="5596128"/>
            <a:ext cx="2200595" cy="749808"/>
          </a:xfrm>
          <a:prstGeom prst="rect">
            <a:avLst/>
          </a:prstGeom>
          <a:solidFill>
            <a:srgbClr val="1F4A82"/>
          </a:solidFill>
          <a:ln/>
        </p:spPr>
      </p:sp>
      <p:sp>
        <p:nvSpPr>
          <p:cNvPr id="77" name="Text 62"/>
          <p:cNvSpPr txBox="1"/>
          <p:nvPr/>
        </p:nvSpPr>
        <p:spPr>
          <a:xfrm>
            <a:off x="502920" y="5596128"/>
            <a:ext cx="1143000" cy="74980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31</a:t>
            </a:r>
            <a:endParaRPr lang="en-US" sz="2400" dirty="0"/>
          </a:p>
        </p:txBody>
      </p:sp>
      <p:sp>
        <p:nvSpPr>
          <p:cNvPr id="78" name="Text 63"/>
          <p:cNvSpPr txBox="1"/>
          <p:nvPr/>
        </p:nvSpPr>
        <p:spPr>
          <a:xfrm>
            <a:off x="1645920" y="5596128"/>
            <a:ext cx="920435" cy="749808"/>
          </a:xfrm>
          <a:prstGeom prst="rect">
            <a:avLst/>
          </a:prstGeom>
          <a:noFill/>
          <a:ln/>
        </p:spPr>
        <p:txBody>
          <a:bodyPr wrap="square" lIns="0" tIns="0" rIns="0" bIns="0" rtlCol="0" anchor="ctr"/>
          <a:lstStyle/>
          <a:p>
            <a:pPr algn="l" indent="0" marL="0">
              <a:buNone/>
            </a:pPr>
            <a:r>
              <a:rPr lang="en-US" sz="1050" dirty="0">
                <a:solidFill>
                  <a:srgbClr val="C9DBF0"/>
                </a:solidFill>
                <a:latin typeface="Calibri" pitchFamily="34" charset="0"/>
                <a:ea typeface="Calibri" pitchFamily="34" charset="-122"/>
                <a:cs typeface="Calibri" pitchFamily="34" charset="-120"/>
              </a:rPr>
              <a:t>tables, all isolated</a:t>
            </a:r>
            <a:endParaRPr lang="en-US" sz="1050" dirty="0"/>
          </a:p>
        </p:txBody>
      </p:sp>
      <p:sp>
        <p:nvSpPr>
          <p:cNvPr id="79" name="Shape 64"/>
          <p:cNvSpPr/>
          <p:nvPr/>
        </p:nvSpPr>
        <p:spPr>
          <a:xfrm>
            <a:off x="2703515" y="5596128"/>
            <a:ext cx="2200595" cy="749808"/>
          </a:xfrm>
          <a:prstGeom prst="rect">
            <a:avLst/>
          </a:prstGeom>
          <a:solidFill>
            <a:srgbClr val="1F4A82"/>
          </a:solidFill>
          <a:ln/>
        </p:spPr>
      </p:sp>
      <p:sp>
        <p:nvSpPr>
          <p:cNvPr id="80" name="Text 65"/>
          <p:cNvSpPr txBox="1"/>
          <p:nvPr/>
        </p:nvSpPr>
        <p:spPr>
          <a:xfrm>
            <a:off x="2794955" y="5596128"/>
            <a:ext cx="1143000" cy="74980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23</a:t>
            </a:r>
            <a:endParaRPr lang="en-US" sz="2400" dirty="0"/>
          </a:p>
        </p:txBody>
      </p:sp>
      <p:sp>
        <p:nvSpPr>
          <p:cNvPr id="81" name="Text 66"/>
          <p:cNvSpPr txBox="1"/>
          <p:nvPr/>
        </p:nvSpPr>
        <p:spPr>
          <a:xfrm>
            <a:off x="3937955" y="5596128"/>
            <a:ext cx="920435" cy="749808"/>
          </a:xfrm>
          <a:prstGeom prst="rect">
            <a:avLst/>
          </a:prstGeom>
          <a:noFill/>
          <a:ln/>
        </p:spPr>
        <p:txBody>
          <a:bodyPr wrap="square" lIns="0" tIns="0" rIns="0" bIns="0" rtlCol="0" anchor="ctr"/>
          <a:lstStyle/>
          <a:p>
            <a:pPr algn="l" indent="0" marL="0">
              <a:buNone/>
            </a:pPr>
            <a:r>
              <a:rPr lang="en-US" sz="1050" dirty="0">
                <a:solidFill>
                  <a:srgbClr val="C9DBF0"/>
                </a:solidFill>
                <a:latin typeface="Calibri" pitchFamily="34" charset="0"/>
                <a:ea typeface="Calibri" pitchFamily="34" charset="-122"/>
                <a:cs typeface="Calibri" pitchFamily="34" charset="-120"/>
              </a:rPr>
              <a:t>API endpoints</a:t>
            </a:r>
            <a:endParaRPr lang="en-US" sz="1050" dirty="0"/>
          </a:p>
        </p:txBody>
      </p:sp>
      <p:sp>
        <p:nvSpPr>
          <p:cNvPr id="82" name="Shape 67"/>
          <p:cNvSpPr/>
          <p:nvPr/>
        </p:nvSpPr>
        <p:spPr>
          <a:xfrm>
            <a:off x="4995550" y="5596128"/>
            <a:ext cx="2200595" cy="749808"/>
          </a:xfrm>
          <a:prstGeom prst="rect">
            <a:avLst/>
          </a:prstGeom>
          <a:solidFill>
            <a:srgbClr val="1F4A82"/>
          </a:solidFill>
          <a:ln/>
        </p:spPr>
      </p:sp>
      <p:sp>
        <p:nvSpPr>
          <p:cNvPr id="83" name="Text 68"/>
          <p:cNvSpPr txBox="1"/>
          <p:nvPr/>
        </p:nvSpPr>
        <p:spPr>
          <a:xfrm>
            <a:off x="5086990" y="5596128"/>
            <a:ext cx="1143000" cy="74980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380</a:t>
            </a:r>
            <a:endParaRPr lang="en-US" sz="2400" dirty="0"/>
          </a:p>
        </p:txBody>
      </p:sp>
      <p:sp>
        <p:nvSpPr>
          <p:cNvPr id="84" name="Text 69"/>
          <p:cNvSpPr txBox="1"/>
          <p:nvPr/>
        </p:nvSpPr>
        <p:spPr>
          <a:xfrm>
            <a:off x="6229990" y="5596128"/>
            <a:ext cx="920435" cy="749808"/>
          </a:xfrm>
          <a:prstGeom prst="rect">
            <a:avLst/>
          </a:prstGeom>
          <a:noFill/>
          <a:ln/>
        </p:spPr>
        <p:txBody>
          <a:bodyPr wrap="square" lIns="0" tIns="0" rIns="0" bIns="0" rtlCol="0" anchor="ctr"/>
          <a:lstStyle/>
          <a:p>
            <a:pPr algn="l" indent="0" marL="0">
              <a:buNone/>
            </a:pPr>
            <a:r>
              <a:rPr lang="en-US" sz="1050" dirty="0">
                <a:solidFill>
                  <a:srgbClr val="C9DBF0"/>
                </a:solidFill>
                <a:latin typeface="Calibri" pitchFamily="34" charset="0"/>
                <a:ea typeface="Calibri" pitchFamily="34" charset="-122"/>
                <a:cs typeface="Calibri" pitchFamily="34" charset="-120"/>
              </a:rPr>
              <a:t>syllabus topics</a:t>
            </a:r>
            <a:endParaRPr lang="en-US" sz="1050" dirty="0"/>
          </a:p>
        </p:txBody>
      </p:sp>
      <p:sp>
        <p:nvSpPr>
          <p:cNvPr id="85" name="Shape 70"/>
          <p:cNvSpPr/>
          <p:nvPr/>
        </p:nvSpPr>
        <p:spPr>
          <a:xfrm>
            <a:off x="7287585" y="5596128"/>
            <a:ext cx="2200595" cy="749808"/>
          </a:xfrm>
          <a:prstGeom prst="rect">
            <a:avLst/>
          </a:prstGeom>
          <a:solidFill>
            <a:srgbClr val="1F4A82"/>
          </a:solidFill>
          <a:ln/>
        </p:spPr>
      </p:sp>
      <p:sp>
        <p:nvSpPr>
          <p:cNvPr id="86" name="Text 71"/>
          <p:cNvSpPr txBox="1"/>
          <p:nvPr/>
        </p:nvSpPr>
        <p:spPr>
          <a:xfrm>
            <a:off x="7379025" y="5596128"/>
            <a:ext cx="1143000" cy="74980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116</a:t>
            </a:r>
            <a:endParaRPr lang="en-US" sz="2400" dirty="0"/>
          </a:p>
        </p:txBody>
      </p:sp>
      <p:sp>
        <p:nvSpPr>
          <p:cNvPr id="87" name="Text 72"/>
          <p:cNvSpPr txBox="1"/>
          <p:nvPr/>
        </p:nvSpPr>
        <p:spPr>
          <a:xfrm>
            <a:off x="8522025" y="5596128"/>
            <a:ext cx="920435" cy="749808"/>
          </a:xfrm>
          <a:prstGeom prst="rect">
            <a:avLst/>
          </a:prstGeom>
          <a:noFill/>
          <a:ln/>
        </p:spPr>
        <p:txBody>
          <a:bodyPr wrap="square" lIns="0" tIns="0" rIns="0" bIns="0" rtlCol="0" anchor="ctr"/>
          <a:lstStyle/>
          <a:p>
            <a:pPr algn="l" indent="0" marL="0">
              <a:buNone/>
            </a:pPr>
            <a:r>
              <a:rPr lang="en-US" sz="1050" dirty="0">
                <a:solidFill>
                  <a:srgbClr val="C9DBF0"/>
                </a:solidFill>
                <a:latin typeface="Calibri" pitchFamily="34" charset="0"/>
                <a:ea typeface="Calibri" pitchFamily="34" charset="-122"/>
                <a:cs typeface="Calibri" pitchFamily="34" charset="-120"/>
              </a:rPr>
              <a:t>automated tests</a:t>
            </a:r>
            <a:endParaRPr lang="en-US" sz="1050" dirty="0"/>
          </a:p>
        </p:txBody>
      </p:sp>
      <p:sp>
        <p:nvSpPr>
          <p:cNvPr id="88" name="Shape 73"/>
          <p:cNvSpPr/>
          <p:nvPr/>
        </p:nvSpPr>
        <p:spPr>
          <a:xfrm>
            <a:off x="9579620" y="5596128"/>
            <a:ext cx="2200595" cy="749808"/>
          </a:xfrm>
          <a:prstGeom prst="rect">
            <a:avLst/>
          </a:prstGeom>
          <a:solidFill>
            <a:srgbClr val="1F4A82"/>
          </a:solidFill>
          <a:ln/>
        </p:spPr>
      </p:sp>
      <p:sp>
        <p:nvSpPr>
          <p:cNvPr id="89" name="Text 74"/>
          <p:cNvSpPr txBox="1"/>
          <p:nvPr/>
        </p:nvSpPr>
        <p:spPr>
          <a:xfrm>
            <a:off x="9671060" y="5596128"/>
            <a:ext cx="1143000" cy="74980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₹3.6</a:t>
            </a:r>
            <a:endParaRPr lang="en-US" sz="2400" dirty="0"/>
          </a:p>
        </p:txBody>
      </p:sp>
      <p:sp>
        <p:nvSpPr>
          <p:cNvPr id="90" name="Text 75"/>
          <p:cNvSpPr txBox="1"/>
          <p:nvPr/>
        </p:nvSpPr>
        <p:spPr>
          <a:xfrm>
            <a:off x="10814060" y="5596128"/>
            <a:ext cx="920435" cy="749808"/>
          </a:xfrm>
          <a:prstGeom prst="rect">
            <a:avLst/>
          </a:prstGeom>
          <a:noFill/>
          <a:ln/>
        </p:spPr>
        <p:txBody>
          <a:bodyPr wrap="square" lIns="0" tIns="0" rIns="0" bIns="0" rtlCol="0" anchor="ctr"/>
          <a:lstStyle/>
          <a:p>
            <a:pPr algn="l" indent="0" marL="0">
              <a:buNone/>
            </a:pPr>
            <a:r>
              <a:rPr lang="en-US" sz="1050" dirty="0">
                <a:solidFill>
                  <a:srgbClr val="C9DBF0"/>
                </a:solidFill>
                <a:latin typeface="Calibri" pitchFamily="34" charset="0"/>
                <a:ea typeface="Calibri" pitchFamily="34" charset="-122"/>
                <a:cs typeface="Calibri" pitchFamily="34" charset="-120"/>
              </a:rPr>
              <a:t>per student a month</a:t>
            </a:r>
            <a:endParaRPr lang="en-US" sz="1050" dirty="0"/>
          </a:p>
        </p:txBody>
      </p:sp>
      <p:sp>
        <p:nvSpPr>
          <p:cNvPr id="91" name="Text 76"/>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technical/contracts (31 tables, 23 endpoints, 380 topics); tenant isolation tested on PostgreSQL 16; test suites; financial model v1.1 (Base, ₹3.6 all-in).</a:t>
            </a:r>
            <a:endParaRPr lang="en-US" sz="85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D4A24C"/>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multiple-smartphones">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3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THE PRODUCT: WEB AND PHONE</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A web console for the office, a phone app for mentors and parents</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88720"/>
            <a:ext cx="11365992" cy="3429000"/>
          </a:xfrm>
          <a:prstGeom prst="rect">
            <a:avLst/>
          </a:prstGeom>
          <a:solidFill>
            <a:srgbClr val="F4F7FB"/>
          </a:solidFill>
          <a:ln/>
        </p:spPr>
      </p:sp>
      <p:sp>
        <p:nvSpPr>
          <p:cNvPr id="27" name="Shape 23"/>
          <p:cNvSpPr/>
          <p:nvPr/>
        </p:nvSpPr>
        <p:spPr>
          <a:xfrm>
            <a:off x="502920" y="1261872"/>
            <a:ext cx="5897880" cy="3319272"/>
          </a:xfrm>
          <a:prstGeom prst="rect">
            <a:avLst/>
          </a:prstGeom>
          <a:solidFill>
            <a:srgbClr val="FFFFFF"/>
          </a:solidFill>
          <a:ln w="19050">
            <a:solidFill>
              <a:srgbClr val="1F4A82"/>
            </a:solidFill>
            <a:prstDash val="solid"/>
          </a:ln>
        </p:spPr>
      </p:sp>
      <p:pic>
        <p:nvPicPr>
          <p:cNvPr id="28" name="Image 1" descr="Pragati web console (illustrative)">    </p:cNvPr>
          <p:cNvPicPr>
            <a:picLocks noChangeAspect="1"/>
          </p:cNvPicPr>
          <p:nvPr/>
        </p:nvPicPr>
        <p:blipFill>
          <a:blip r:embed="rId2"/>
          <a:stretch>
            <a:fillRect/>
          </a:stretch>
        </p:blipFill>
        <p:spPr>
          <a:xfrm>
            <a:off x="521208" y="1280160"/>
            <a:ext cx="5861304" cy="3291840"/>
          </a:xfrm>
          <a:prstGeom prst="rect">
            <a:avLst/>
          </a:prstGeom>
        </p:spPr>
      </p:pic>
      <p:pic>
        <p:nvPicPr>
          <p:cNvPr id="29" name="Image 2" descr="Pragati phone screen (illustrative)">    </p:cNvPr>
          <p:cNvPicPr>
            <a:picLocks noChangeAspect="1"/>
          </p:cNvPicPr>
          <p:nvPr/>
        </p:nvPicPr>
        <p:blipFill>
          <a:blip r:embed="rId3"/>
          <a:stretch>
            <a:fillRect/>
          </a:stretch>
        </p:blipFill>
        <p:spPr>
          <a:xfrm>
            <a:off x="6583680" y="1188720"/>
            <a:ext cx="1645920" cy="3291840"/>
          </a:xfrm>
          <a:prstGeom prst="rect">
            <a:avLst/>
          </a:prstGeom>
        </p:spPr>
      </p:pic>
      <p:pic>
        <p:nvPicPr>
          <p:cNvPr id="30" name="Image 3" descr="Pragati phone screen (illustrative)">    </p:cNvPr>
          <p:cNvPicPr>
            <a:picLocks noChangeAspect="1"/>
          </p:cNvPicPr>
          <p:nvPr/>
        </p:nvPicPr>
        <p:blipFill>
          <a:blip r:embed="rId4"/>
          <a:stretch>
            <a:fillRect/>
          </a:stretch>
        </p:blipFill>
        <p:spPr>
          <a:xfrm>
            <a:off x="8321040" y="1188720"/>
            <a:ext cx="1645920" cy="3291840"/>
          </a:xfrm>
          <a:prstGeom prst="rect">
            <a:avLst/>
          </a:prstGeom>
        </p:spPr>
      </p:pic>
      <p:pic>
        <p:nvPicPr>
          <p:cNvPr id="31" name="Image 4" descr="Pragati phone screen (illustrative)">    </p:cNvPr>
          <p:cNvPicPr>
            <a:picLocks noChangeAspect="1"/>
          </p:cNvPicPr>
          <p:nvPr/>
        </p:nvPicPr>
        <p:blipFill>
          <a:blip r:embed="rId5"/>
          <a:stretch>
            <a:fillRect/>
          </a:stretch>
        </p:blipFill>
        <p:spPr>
          <a:xfrm>
            <a:off x="10058400" y="1188720"/>
            <a:ext cx="1645920" cy="3291840"/>
          </a:xfrm>
          <a:prstGeom prst="rect">
            <a:avLst/>
          </a:prstGeom>
        </p:spPr>
      </p:pic>
      <p:sp>
        <p:nvSpPr>
          <p:cNvPr id="32" name="Shape 24"/>
          <p:cNvSpPr/>
          <p:nvPr/>
        </p:nvSpPr>
        <p:spPr>
          <a:xfrm>
            <a:off x="8001000" y="3840480"/>
            <a:ext cx="274320" cy="274320"/>
          </a:xfrm>
          <a:prstGeom prst="ellipse">
            <a:avLst/>
          </a:prstGeom>
          <a:solidFill>
            <a:srgbClr val="1F4A82"/>
          </a:solidFill>
          <a:ln w="19050">
            <a:solidFill>
              <a:srgbClr val="FFFFFF"/>
            </a:solidFill>
            <a:prstDash val="solid"/>
          </a:ln>
        </p:spPr>
      </p:sp>
      <p:sp>
        <p:nvSpPr>
          <p:cNvPr id="33" name="Text 25"/>
          <p:cNvSpPr txBox="1"/>
          <p:nvPr/>
        </p:nvSpPr>
        <p:spPr>
          <a:xfrm>
            <a:off x="8001000" y="38404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4" name="Shape 26"/>
          <p:cNvSpPr/>
          <p:nvPr/>
        </p:nvSpPr>
        <p:spPr>
          <a:xfrm>
            <a:off x="2194560" y="2880360"/>
            <a:ext cx="274320" cy="274320"/>
          </a:xfrm>
          <a:prstGeom prst="ellipse">
            <a:avLst/>
          </a:prstGeom>
          <a:solidFill>
            <a:srgbClr val="1F4A82"/>
          </a:solidFill>
          <a:ln w="19050">
            <a:solidFill>
              <a:srgbClr val="FFFFFF"/>
            </a:solidFill>
            <a:prstDash val="solid"/>
          </a:ln>
        </p:spPr>
      </p:sp>
      <p:sp>
        <p:nvSpPr>
          <p:cNvPr id="35" name="Text 27"/>
          <p:cNvSpPr txBox="1"/>
          <p:nvPr/>
        </p:nvSpPr>
        <p:spPr>
          <a:xfrm>
            <a:off x="2194560" y="28803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6" name="Shape 28"/>
          <p:cNvSpPr/>
          <p:nvPr/>
        </p:nvSpPr>
        <p:spPr>
          <a:xfrm>
            <a:off x="8458200" y="2148840"/>
            <a:ext cx="274320" cy="274320"/>
          </a:xfrm>
          <a:prstGeom prst="ellipse">
            <a:avLst/>
          </a:prstGeom>
          <a:solidFill>
            <a:srgbClr val="1F4A82"/>
          </a:solidFill>
          <a:ln w="19050">
            <a:solidFill>
              <a:srgbClr val="FFFFFF"/>
            </a:solidFill>
            <a:prstDash val="solid"/>
          </a:ln>
        </p:spPr>
      </p:sp>
      <p:sp>
        <p:nvSpPr>
          <p:cNvPr id="37" name="Text 29"/>
          <p:cNvSpPr txBox="1"/>
          <p:nvPr/>
        </p:nvSpPr>
        <p:spPr>
          <a:xfrm>
            <a:off x="8458200" y="2148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8" name="Shape 30"/>
          <p:cNvSpPr/>
          <p:nvPr/>
        </p:nvSpPr>
        <p:spPr>
          <a:xfrm>
            <a:off x="10424160" y="3017520"/>
            <a:ext cx="274320" cy="274320"/>
          </a:xfrm>
          <a:prstGeom prst="ellipse">
            <a:avLst/>
          </a:prstGeom>
          <a:solidFill>
            <a:srgbClr val="1F4A82"/>
          </a:solidFill>
          <a:ln w="19050">
            <a:solidFill>
              <a:srgbClr val="FFFFFF"/>
            </a:solidFill>
            <a:prstDash val="solid"/>
          </a:ln>
        </p:spPr>
      </p:sp>
      <p:sp>
        <p:nvSpPr>
          <p:cNvPr id="39" name="Text 31"/>
          <p:cNvSpPr txBox="1"/>
          <p:nvPr/>
        </p:nvSpPr>
        <p:spPr>
          <a:xfrm>
            <a:off x="10424160" y="30175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0" name="Text 32"/>
          <p:cNvSpPr txBox="1"/>
          <p:nvPr/>
        </p:nvSpPr>
        <p:spPr>
          <a:xfrm>
            <a:off x="6583680" y="4480560"/>
            <a:ext cx="5166360" cy="201168"/>
          </a:xfrm>
          <a:prstGeom prst="rect">
            <a:avLst/>
          </a:prstGeom>
          <a:noFill/>
          <a:ln/>
        </p:spPr>
        <p:txBody>
          <a:bodyPr wrap="square" lIns="0" tIns="0" rIns="0" bIns="0" rtlCol="0" anchor="t"/>
          <a:lstStyle/>
          <a:p>
            <a:pPr algn="r" indent="0" marL="0">
              <a:buNone/>
            </a:pPr>
            <a:r>
              <a:rPr lang="en-US" sz="850" i="1" dirty="0">
                <a:solidFill>
                  <a:srgbClr val="5B6573"/>
                </a:solidFill>
                <a:latin typeface="Calibri" pitchFamily="34" charset="0"/>
                <a:ea typeface="Calibri" pitchFamily="34" charset="-122"/>
                <a:cs typeface="Calibri" pitchFamily="34" charset="-120"/>
              </a:rPr>
              <a:t>Illustrative mock-ups, synthetic students</a:t>
            </a:r>
            <a:endParaRPr lang="en-US" sz="850" dirty="0"/>
          </a:p>
        </p:txBody>
      </p:sp>
      <p:sp>
        <p:nvSpPr>
          <p:cNvPr id="41" name="Shape 33"/>
          <p:cNvSpPr/>
          <p:nvPr/>
        </p:nvSpPr>
        <p:spPr>
          <a:xfrm>
            <a:off x="411480" y="4800600"/>
            <a:ext cx="2739314" cy="914400"/>
          </a:xfrm>
          <a:prstGeom prst="rect">
            <a:avLst/>
          </a:prstGeom>
          <a:solidFill>
            <a:srgbClr val="FFFFFF"/>
          </a:solidFill>
          <a:ln w="15875">
            <a:solidFill>
              <a:srgbClr val="1F4A82"/>
            </a:solidFill>
            <a:prstDash val="solid"/>
          </a:ln>
        </p:spPr>
      </p:sp>
      <p:sp>
        <p:nvSpPr>
          <p:cNvPr id="42" name="Shape 34"/>
          <p:cNvSpPr/>
          <p:nvPr/>
        </p:nvSpPr>
        <p:spPr>
          <a:xfrm>
            <a:off x="411480" y="4800600"/>
            <a:ext cx="566928" cy="914400"/>
          </a:xfrm>
          <a:prstGeom prst="rect">
            <a:avLst/>
          </a:prstGeom>
          <a:solidFill>
            <a:srgbClr val="1F4A82"/>
          </a:solidFill>
          <a:ln/>
        </p:spPr>
      </p:sp>
      <p:pic>
        <p:nvPicPr>
          <p:cNvPr id="43" name="Image 5" descr="FaClipboardList icon">    </p:cNvPr>
          <p:cNvPicPr>
            <a:picLocks noChangeAspect="1"/>
          </p:cNvPicPr>
          <p:nvPr/>
        </p:nvPicPr>
        <p:blipFill>
          <a:blip r:embed="rId6"/>
          <a:stretch>
            <a:fillRect/>
          </a:stretch>
        </p:blipFill>
        <p:spPr>
          <a:xfrm>
            <a:off x="521208" y="100584"/>
            <a:ext cx="182880" cy="182880"/>
          </a:xfrm>
          <a:prstGeom prst="rect">
            <a:avLst/>
          </a:prstGeom>
        </p:spPr>
      </p:pic>
      <p:pic>
        <p:nvPicPr>
          <p:cNvPr id="44" name="Image 6" descr="FaTriangleExclamation icon">    </p:cNvPr>
          <p:cNvPicPr>
            <a:picLocks noChangeAspect="1"/>
          </p:cNvPicPr>
          <p:nvPr/>
        </p:nvPicPr>
        <p:blipFill>
          <a:blip r:embed="rId7"/>
          <a:stretch>
            <a:fillRect/>
          </a:stretch>
        </p:blipFill>
        <p:spPr>
          <a:xfrm>
            <a:off x="2084032" y="100584"/>
            <a:ext cx="182880" cy="182880"/>
          </a:xfrm>
          <a:prstGeom prst="rect">
            <a:avLst/>
          </a:prstGeom>
        </p:spPr>
      </p:pic>
      <p:pic>
        <p:nvPicPr>
          <p:cNvPr id="45" name="Image 7" descr="FaGears icon">    </p:cNvPr>
          <p:cNvPicPr>
            <a:picLocks noChangeAspect="1"/>
          </p:cNvPicPr>
          <p:nvPr/>
        </p:nvPicPr>
        <p:blipFill>
          <a:blip r:embed="rId8"/>
          <a:stretch>
            <a:fillRect/>
          </a:stretch>
        </p:blipFill>
        <p:spPr>
          <a:xfrm>
            <a:off x="4880496" y="100584"/>
            <a:ext cx="182880" cy="182880"/>
          </a:xfrm>
          <a:prstGeom prst="rect">
            <a:avLst/>
          </a:prstGeom>
        </p:spPr>
      </p:pic>
      <p:pic>
        <p:nvPicPr>
          <p:cNvPr id="46" name="Image 8" descr="FaShieldHalved icon">    </p:cNvPr>
          <p:cNvPicPr>
            <a:picLocks noChangeAspect="1"/>
          </p:cNvPicPr>
          <p:nvPr/>
        </p:nvPicPr>
        <p:blipFill>
          <a:blip r:embed="rId9"/>
          <a:stretch>
            <a:fillRect/>
          </a:stretch>
        </p:blipFill>
        <p:spPr>
          <a:xfrm>
            <a:off x="6278728" y="100584"/>
            <a:ext cx="182880" cy="182880"/>
          </a:xfrm>
          <a:prstGeom prst="rect">
            <a:avLst/>
          </a:prstGeom>
        </p:spPr>
      </p:pic>
      <p:pic>
        <p:nvPicPr>
          <p:cNvPr id="47" name="Image 9" descr="FaIndianRupeeSign icon">    </p:cNvPr>
          <p:cNvPicPr>
            <a:picLocks noChangeAspect="1"/>
          </p:cNvPicPr>
          <p:nvPr/>
        </p:nvPicPr>
        <p:blipFill>
          <a:blip r:embed="rId10"/>
          <a:stretch>
            <a:fillRect/>
          </a:stretch>
        </p:blipFill>
        <p:spPr>
          <a:xfrm>
            <a:off x="7676960" y="100584"/>
            <a:ext cx="182880" cy="182880"/>
          </a:xfrm>
          <a:prstGeom prst="rect">
            <a:avLst/>
          </a:prstGeom>
        </p:spPr>
      </p:pic>
      <p:pic>
        <p:nvPicPr>
          <p:cNvPr id="48" name="Image 10" descr="FaBullseye icon">    </p:cNvPr>
          <p:cNvPicPr>
            <a:picLocks noChangeAspect="1"/>
          </p:cNvPicPr>
          <p:nvPr/>
        </p:nvPicPr>
        <p:blipFill>
          <a:blip r:embed="rId11"/>
          <a:stretch>
            <a:fillRect/>
          </a:stretch>
        </p:blipFill>
        <p:spPr>
          <a:xfrm>
            <a:off x="9075191" y="100584"/>
            <a:ext cx="182880" cy="182880"/>
          </a:xfrm>
          <a:prstGeom prst="rect">
            <a:avLst/>
          </a:prstGeom>
        </p:spPr>
      </p:pic>
      <p:pic>
        <p:nvPicPr>
          <p:cNvPr id="49" name="Image 11" descr="FaBookOpen icon">    </p:cNvPr>
          <p:cNvPicPr>
            <a:picLocks noChangeAspect="1"/>
          </p:cNvPicPr>
          <p:nvPr/>
        </p:nvPicPr>
        <p:blipFill>
          <a:blip r:embed="rId12"/>
          <a:stretch>
            <a:fillRect/>
          </a:stretch>
        </p:blipFill>
        <p:spPr>
          <a:xfrm>
            <a:off x="10473423" y="100584"/>
            <a:ext cx="182880" cy="182880"/>
          </a:xfrm>
          <a:prstGeom prst="rect">
            <a:avLst/>
          </a:prstGeom>
        </p:spPr>
      </p:pic>
      <p:pic>
        <p:nvPicPr>
          <p:cNvPr id="50" name="Image 12" descr="FaCamera icon">    </p:cNvPr>
          <p:cNvPicPr>
            <a:picLocks noChangeAspect="1"/>
          </p:cNvPicPr>
          <p:nvPr/>
        </p:nvPicPr>
        <p:blipFill>
          <a:blip r:embed="rId13"/>
          <a:stretch>
            <a:fillRect/>
          </a:stretch>
        </p:blipFill>
        <p:spPr>
          <a:xfrm>
            <a:off x="539496" y="5074920"/>
            <a:ext cx="310896" cy="310896"/>
          </a:xfrm>
          <a:prstGeom prst="rect">
            <a:avLst/>
          </a:prstGeom>
        </p:spPr>
      </p:pic>
      <p:sp>
        <p:nvSpPr>
          <p:cNvPr id="51" name="Text 35"/>
          <p:cNvSpPr txBox="1"/>
          <p:nvPr/>
        </p:nvSpPr>
        <p:spPr>
          <a:xfrm>
            <a:off x="1069848" y="4846320"/>
            <a:ext cx="2007794" cy="329184"/>
          </a:xfrm>
          <a:prstGeom prst="rect">
            <a:avLst/>
          </a:prstGeom>
          <a:noFill/>
          <a:ln/>
        </p:spPr>
        <p:txBody>
          <a:bodyPr wrap="square" lIns="0" tIns="0" rIns="0" bIns="0" rtlCol="0" anchor="ctr"/>
          <a:lstStyle/>
          <a:p>
            <a:pPr algn="l" indent="0" marL="0">
              <a:buNone/>
            </a:pPr>
            <a:r>
              <a:rPr lang="en-US" sz="1200" b="1" dirty="0">
                <a:solidFill>
                  <a:srgbClr val="17325C"/>
                </a:solidFill>
                <a:latin typeface="Calibri" pitchFamily="34" charset="0"/>
                <a:ea typeface="Calibri" pitchFamily="34" charset="-122"/>
                <a:cs typeface="Calibri" pitchFamily="34" charset="-120"/>
              </a:rPr>
              <a:t>1  Scan on a phone</a:t>
            </a:r>
            <a:endParaRPr lang="en-US" sz="1200" dirty="0"/>
          </a:p>
        </p:txBody>
      </p:sp>
      <p:sp>
        <p:nvSpPr>
          <p:cNvPr id="52" name="Text 36"/>
          <p:cNvSpPr txBox="1"/>
          <p:nvPr/>
        </p:nvSpPr>
        <p:spPr>
          <a:xfrm>
            <a:off x="1069848" y="5175504"/>
            <a:ext cx="2007794" cy="50292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Unclear bubbles fixed in one tap</a:t>
            </a:r>
            <a:endParaRPr lang="en-US" sz="1050" dirty="0"/>
          </a:p>
        </p:txBody>
      </p:sp>
      <p:sp>
        <p:nvSpPr>
          <p:cNvPr id="53" name="Shape 37"/>
          <p:cNvSpPr/>
          <p:nvPr/>
        </p:nvSpPr>
        <p:spPr>
          <a:xfrm>
            <a:off x="3287954" y="4800600"/>
            <a:ext cx="2739314" cy="914400"/>
          </a:xfrm>
          <a:prstGeom prst="rect">
            <a:avLst/>
          </a:prstGeom>
          <a:solidFill>
            <a:srgbClr val="FFFFFF"/>
          </a:solidFill>
          <a:ln w="15875">
            <a:solidFill>
              <a:srgbClr val="1F4A82"/>
            </a:solidFill>
            <a:prstDash val="solid"/>
          </a:ln>
        </p:spPr>
      </p:sp>
      <p:sp>
        <p:nvSpPr>
          <p:cNvPr id="54" name="Shape 38"/>
          <p:cNvSpPr/>
          <p:nvPr/>
        </p:nvSpPr>
        <p:spPr>
          <a:xfrm>
            <a:off x="3287954" y="4800600"/>
            <a:ext cx="566928" cy="914400"/>
          </a:xfrm>
          <a:prstGeom prst="rect">
            <a:avLst/>
          </a:prstGeom>
          <a:solidFill>
            <a:srgbClr val="1F4A82"/>
          </a:solidFill>
          <a:ln/>
        </p:spPr>
      </p:sp>
      <p:pic>
        <p:nvPicPr>
          <p:cNvPr id="55" name="Image 13" descr="FaMobileScreen icon">    </p:cNvPr>
          <p:cNvPicPr>
            <a:picLocks noChangeAspect="1"/>
          </p:cNvPicPr>
          <p:nvPr/>
        </p:nvPicPr>
        <p:blipFill>
          <a:blip r:embed="rId14"/>
          <a:stretch>
            <a:fillRect/>
          </a:stretch>
        </p:blipFill>
        <p:spPr>
          <a:xfrm>
            <a:off x="3482264" y="100584"/>
            <a:ext cx="182880" cy="182880"/>
          </a:xfrm>
          <a:prstGeom prst="rect">
            <a:avLst/>
          </a:prstGeom>
        </p:spPr>
      </p:pic>
      <p:pic>
        <p:nvPicPr>
          <p:cNvPr id="56" name="Image 14" descr="FaTableCells icon">    </p:cNvPr>
          <p:cNvPicPr>
            <a:picLocks noChangeAspect="1"/>
          </p:cNvPicPr>
          <p:nvPr/>
        </p:nvPicPr>
        <p:blipFill>
          <a:blip r:embed="rId15"/>
          <a:stretch>
            <a:fillRect/>
          </a:stretch>
        </p:blipFill>
        <p:spPr>
          <a:xfrm>
            <a:off x="3415970" y="5074920"/>
            <a:ext cx="310896" cy="310896"/>
          </a:xfrm>
          <a:prstGeom prst="rect">
            <a:avLst/>
          </a:prstGeom>
        </p:spPr>
      </p:pic>
      <p:sp>
        <p:nvSpPr>
          <p:cNvPr id="57" name="Text 39"/>
          <p:cNvSpPr txBox="1"/>
          <p:nvPr/>
        </p:nvSpPr>
        <p:spPr>
          <a:xfrm>
            <a:off x="3946322" y="4846320"/>
            <a:ext cx="2007794" cy="329184"/>
          </a:xfrm>
          <a:prstGeom prst="rect">
            <a:avLst/>
          </a:prstGeom>
          <a:noFill/>
          <a:ln/>
        </p:spPr>
        <p:txBody>
          <a:bodyPr wrap="square" lIns="0" tIns="0" rIns="0" bIns="0" rtlCol="0" anchor="ctr"/>
          <a:lstStyle/>
          <a:p>
            <a:pPr algn="l" indent="0" marL="0">
              <a:buNone/>
            </a:pPr>
            <a:r>
              <a:rPr lang="en-US" sz="1200" b="1" dirty="0">
                <a:solidFill>
                  <a:srgbClr val="17325C"/>
                </a:solidFill>
                <a:latin typeface="Calibri" pitchFamily="34" charset="0"/>
                <a:ea typeface="Calibri" pitchFamily="34" charset="-122"/>
                <a:cs typeface="Calibri" pitchFamily="34" charset="-120"/>
              </a:rPr>
              <a:t>2  Topic map</a:t>
            </a:r>
            <a:endParaRPr lang="en-US" sz="1200" dirty="0"/>
          </a:p>
        </p:txBody>
      </p:sp>
      <p:sp>
        <p:nvSpPr>
          <p:cNvPr id="58" name="Text 40"/>
          <p:cNvSpPr txBox="1"/>
          <p:nvPr/>
        </p:nvSpPr>
        <p:spPr>
          <a:xfrm>
            <a:off x="3946322" y="5175504"/>
            <a:ext cx="2007794" cy="50292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Weak topics for the whole batch</a:t>
            </a:r>
            <a:endParaRPr lang="en-US" sz="1050" dirty="0"/>
          </a:p>
        </p:txBody>
      </p:sp>
      <p:sp>
        <p:nvSpPr>
          <p:cNvPr id="59" name="Shape 41"/>
          <p:cNvSpPr/>
          <p:nvPr/>
        </p:nvSpPr>
        <p:spPr>
          <a:xfrm>
            <a:off x="6164428" y="4800600"/>
            <a:ext cx="2739314" cy="914400"/>
          </a:xfrm>
          <a:prstGeom prst="rect">
            <a:avLst/>
          </a:prstGeom>
          <a:solidFill>
            <a:srgbClr val="FFFFFF"/>
          </a:solidFill>
          <a:ln w="15875">
            <a:solidFill>
              <a:srgbClr val="1F4A82"/>
            </a:solidFill>
            <a:prstDash val="solid"/>
          </a:ln>
        </p:spPr>
      </p:sp>
      <p:sp>
        <p:nvSpPr>
          <p:cNvPr id="60" name="Shape 42"/>
          <p:cNvSpPr/>
          <p:nvPr/>
        </p:nvSpPr>
        <p:spPr>
          <a:xfrm>
            <a:off x="6164428" y="4800600"/>
            <a:ext cx="566928" cy="914400"/>
          </a:xfrm>
          <a:prstGeom prst="rect">
            <a:avLst/>
          </a:prstGeom>
          <a:solidFill>
            <a:srgbClr val="1F4A82"/>
          </a:solidFill>
          <a:ln/>
        </p:spPr>
      </p:sp>
      <p:pic>
        <p:nvPicPr>
          <p:cNvPr id="61" name="Image 15" descr="FaListCheck icon">    </p:cNvPr>
          <p:cNvPicPr>
            <a:picLocks noChangeAspect="1"/>
          </p:cNvPicPr>
          <p:nvPr/>
        </p:nvPicPr>
        <p:blipFill>
          <a:blip r:embed="rId16"/>
          <a:stretch>
            <a:fillRect/>
          </a:stretch>
        </p:blipFill>
        <p:spPr>
          <a:xfrm>
            <a:off x="6292444" y="5074920"/>
            <a:ext cx="310896" cy="310896"/>
          </a:xfrm>
          <a:prstGeom prst="rect">
            <a:avLst/>
          </a:prstGeom>
        </p:spPr>
      </p:pic>
      <p:sp>
        <p:nvSpPr>
          <p:cNvPr id="62" name="Text 43"/>
          <p:cNvSpPr txBox="1"/>
          <p:nvPr/>
        </p:nvSpPr>
        <p:spPr>
          <a:xfrm>
            <a:off x="6822796" y="4846320"/>
            <a:ext cx="2007794" cy="329184"/>
          </a:xfrm>
          <a:prstGeom prst="rect">
            <a:avLst/>
          </a:prstGeom>
          <a:noFill/>
          <a:ln/>
        </p:spPr>
        <p:txBody>
          <a:bodyPr wrap="square" lIns="0" tIns="0" rIns="0" bIns="0" rtlCol="0" anchor="ctr"/>
          <a:lstStyle/>
          <a:p>
            <a:pPr algn="l" indent="0" marL="0">
              <a:buNone/>
            </a:pPr>
            <a:r>
              <a:rPr lang="en-US" sz="1200" b="1" dirty="0">
                <a:solidFill>
                  <a:srgbClr val="17325C"/>
                </a:solidFill>
                <a:latin typeface="Calibri" pitchFamily="34" charset="0"/>
                <a:ea typeface="Calibri" pitchFamily="34" charset="-122"/>
                <a:cs typeface="Calibri" pitchFamily="34" charset="-120"/>
              </a:rPr>
              <a:t>3  Weekly list</a:t>
            </a:r>
            <a:endParaRPr lang="en-US" sz="1200" dirty="0"/>
          </a:p>
        </p:txBody>
      </p:sp>
      <p:sp>
        <p:nvSpPr>
          <p:cNvPr id="63" name="Text 44"/>
          <p:cNvSpPr txBox="1"/>
          <p:nvPr/>
        </p:nvSpPr>
        <p:spPr>
          <a:xfrm>
            <a:off x="6822796" y="5175504"/>
            <a:ext cx="2007794" cy="50292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Up to 8 students, with plain reasons</a:t>
            </a:r>
            <a:endParaRPr lang="en-US" sz="1050" dirty="0"/>
          </a:p>
        </p:txBody>
      </p:sp>
      <p:sp>
        <p:nvSpPr>
          <p:cNvPr id="64" name="Shape 45"/>
          <p:cNvSpPr/>
          <p:nvPr/>
        </p:nvSpPr>
        <p:spPr>
          <a:xfrm>
            <a:off x="9040901" y="4800600"/>
            <a:ext cx="2739314" cy="914400"/>
          </a:xfrm>
          <a:prstGeom prst="rect">
            <a:avLst/>
          </a:prstGeom>
          <a:solidFill>
            <a:srgbClr val="FFFFFF"/>
          </a:solidFill>
          <a:ln w="15875">
            <a:solidFill>
              <a:srgbClr val="1F4A82"/>
            </a:solidFill>
            <a:prstDash val="solid"/>
          </a:ln>
        </p:spPr>
      </p:sp>
      <p:sp>
        <p:nvSpPr>
          <p:cNvPr id="65" name="Shape 46"/>
          <p:cNvSpPr/>
          <p:nvPr/>
        </p:nvSpPr>
        <p:spPr>
          <a:xfrm>
            <a:off x="9040901" y="4800600"/>
            <a:ext cx="566928" cy="914400"/>
          </a:xfrm>
          <a:prstGeom prst="rect">
            <a:avLst/>
          </a:prstGeom>
          <a:solidFill>
            <a:srgbClr val="1F4A82"/>
          </a:solidFill>
          <a:ln/>
        </p:spPr>
      </p:sp>
      <p:pic>
        <p:nvPicPr>
          <p:cNvPr id="66" name="Image 16" descr="FaLanguage icon">    </p:cNvPr>
          <p:cNvPicPr>
            <a:picLocks noChangeAspect="1"/>
          </p:cNvPicPr>
          <p:nvPr/>
        </p:nvPicPr>
        <p:blipFill>
          <a:blip r:embed="rId17"/>
          <a:stretch>
            <a:fillRect/>
          </a:stretch>
        </p:blipFill>
        <p:spPr>
          <a:xfrm>
            <a:off x="9168917" y="5074920"/>
            <a:ext cx="310896" cy="310896"/>
          </a:xfrm>
          <a:prstGeom prst="rect">
            <a:avLst/>
          </a:prstGeom>
        </p:spPr>
      </p:pic>
      <p:sp>
        <p:nvSpPr>
          <p:cNvPr id="67" name="Text 47"/>
          <p:cNvSpPr txBox="1"/>
          <p:nvPr/>
        </p:nvSpPr>
        <p:spPr>
          <a:xfrm>
            <a:off x="9699269" y="4846320"/>
            <a:ext cx="2007794" cy="329184"/>
          </a:xfrm>
          <a:prstGeom prst="rect">
            <a:avLst/>
          </a:prstGeom>
          <a:noFill/>
          <a:ln/>
        </p:spPr>
        <p:txBody>
          <a:bodyPr wrap="square" lIns="0" tIns="0" rIns="0" bIns="0" rtlCol="0" anchor="ctr"/>
          <a:lstStyle/>
          <a:p>
            <a:pPr algn="l" indent="0" marL="0">
              <a:buNone/>
            </a:pPr>
            <a:r>
              <a:rPr lang="en-US" sz="1200" b="1" dirty="0">
                <a:solidFill>
                  <a:srgbClr val="17325C"/>
                </a:solidFill>
                <a:latin typeface="Calibri" pitchFamily="34" charset="0"/>
                <a:ea typeface="Calibri" pitchFamily="34" charset="-122"/>
                <a:cs typeface="Calibri" pitchFamily="34" charset="-120"/>
              </a:rPr>
              <a:t>4  Parent update</a:t>
            </a:r>
            <a:endParaRPr lang="en-US" sz="1200" dirty="0"/>
          </a:p>
        </p:txBody>
      </p:sp>
      <p:sp>
        <p:nvSpPr>
          <p:cNvPr id="68" name="Text 48"/>
          <p:cNvSpPr txBox="1"/>
          <p:nvPr/>
        </p:nvSpPr>
        <p:spPr>
          <a:xfrm>
            <a:off x="9699269" y="5175504"/>
            <a:ext cx="2007794" cy="50292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Hindi or English, numbers checked</a:t>
            </a:r>
            <a:endParaRPr lang="en-US" sz="1050" dirty="0"/>
          </a:p>
        </p:txBody>
      </p:sp>
      <p:sp>
        <p:nvSpPr>
          <p:cNvPr id="69" name="Shape 49"/>
          <p:cNvSpPr/>
          <p:nvPr/>
        </p:nvSpPr>
        <p:spPr>
          <a:xfrm>
            <a:off x="411480" y="5852160"/>
            <a:ext cx="2393716" cy="502920"/>
          </a:xfrm>
          <a:prstGeom prst="homePlate">
            <a:avLst/>
          </a:prstGeom>
          <a:solidFill>
            <a:srgbClr val="1F4A82"/>
          </a:solidFill>
          <a:ln w="25400">
            <a:solidFill>
              <a:srgbClr val="FFFFFF"/>
            </a:solidFill>
            <a:prstDash val="solid"/>
          </a:ln>
        </p:spPr>
      </p:sp>
      <p:sp>
        <p:nvSpPr>
          <p:cNvPr id="70" name="Text 50"/>
          <p:cNvSpPr txBox="1"/>
          <p:nvPr/>
        </p:nvSpPr>
        <p:spPr>
          <a:xfrm>
            <a:off x="539496" y="5852160"/>
            <a:ext cx="2064532"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Mon: Test scanned</a:t>
            </a:r>
            <a:endParaRPr lang="en-US" sz="1100" dirty="0"/>
          </a:p>
        </p:txBody>
      </p:sp>
      <p:sp>
        <p:nvSpPr>
          <p:cNvPr id="71" name="Shape 51"/>
          <p:cNvSpPr/>
          <p:nvPr/>
        </p:nvSpPr>
        <p:spPr>
          <a:xfrm>
            <a:off x="2655235" y="5852160"/>
            <a:ext cx="2393716" cy="502920"/>
          </a:xfrm>
          <a:prstGeom prst="chevron">
            <a:avLst/>
          </a:prstGeom>
          <a:solidFill>
            <a:srgbClr val="2E6DB4"/>
          </a:solidFill>
          <a:ln w="25400">
            <a:solidFill>
              <a:srgbClr val="FFFFFF"/>
            </a:solidFill>
            <a:prstDash val="solid"/>
          </a:ln>
        </p:spPr>
      </p:sp>
      <p:sp>
        <p:nvSpPr>
          <p:cNvPr id="72" name="Text 52"/>
          <p:cNvSpPr txBox="1"/>
          <p:nvPr/>
        </p:nvSpPr>
        <p:spPr>
          <a:xfrm>
            <a:off x="2874691" y="5852160"/>
            <a:ext cx="1973092"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Tue: Mentor calls</a:t>
            </a:r>
            <a:endParaRPr lang="en-US" sz="1100" dirty="0"/>
          </a:p>
        </p:txBody>
      </p:sp>
      <p:sp>
        <p:nvSpPr>
          <p:cNvPr id="73" name="Shape 53"/>
          <p:cNvSpPr/>
          <p:nvPr/>
        </p:nvSpPr>
        <p:spPr>
          <a:xfrm>
            <a:off x="4898989" y="5852160"/>
            <a:ext cx="2393716" cy="502920"/>
          </a:xfrm>
          <a:prstGeom prst="chevron">
            <a:avLst/>
          </a:prstGeom>
          <a:solidFill>
            <a:srgbClr val="1F4A82"/>
          </a:solidFill>
          <a:ln w="25400">
            <a:solidFill>
              <a:srgbClr val="FFFFFF"/>
            </a:solidFill>
            <a:prstDash val="solid"/>
          </a:ln>
        </p:spPr>
      </p:sp>
      <p:sp>
        <p:nvSpPr>
          <p:cNvPr id="74" name="Text 54"/>
          <p:cNvSpPr txBox="1"/>
          <p:nvPr/>
        </p:nvSpPr>
        <p:spPr>
          <a:xfrm>
            <a:off x="5118445" y="5852160"/>
            <a:ext cx="1973092"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Wed: Remedial session</a:t>
            </a:r>
            <a:endParaRPr lang="en-US" sz="1100" dirty="0"/>
          </a:p>
        </p:txBody>
      </p:sp>
      <p:sp>
        <p:nvSpPr>
          <p:cNvPr id="75" name="Shape 55"/>
          <p:cNvSpPr/>
          <p:nvPr/>
        </p:nvSpPr>
        <p:spPr>
          <a:xfrm>
            <a:off x="7142744" y="5852160"/>
            <a:ext cx="2393716" cy="502920"/>
          </a:xfrm>
          <a:prstGeom prst="chevron">
            <a:avLst/>
          </a:prstGeom>
          <a:solidFill>
            <a:srgbClr val="5B8DC9"/>
          </a:solidFill>
          <a:ln w="25400">
            <a:solidFill>
              <a:srgbClr val="FFFFFF"/>
            </a:solidFill>
            <a:prstDash val="solid"/>
          </a:ln>
        </p:spPr>
      </p:sp>
      <p:sp>
        <p:nvSpPr>
          <p:cNvPr id="76" name="Text 56"/>
          <p:cNvSpPr txBox="1"/>
          <p:nvPr/>
        </p:nvSpPr>
        <p:spPr>
          <a:xfrm>
            <a:off x="7362200" y="5852160"/>
            <a:ext cx="1973092"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Sat: Parent update</a:t>
            </a:r>
            <a:endParaRPr lang="en-US" sz="1100" dirty="0"/>
          </a:p>
        </p:txBody>
      </p:sp>
      <p:sp>
        <p:nvSpPr>
          <p:cNvPr id="77" name="Shape 57"/>
          <p:cNvSpPr/>
          <p:nvPr/>
        </p:nvSpPr>
        <p:spPr>
          <a:xfrm>
            <a:off x="9386499" y="5852160"/>
            <a:ext cx="2393716" cy="502920"/>
          </a:xfrm>
          <a:prstGeom prst="chevron">
            <a:avLst/>
          </a:prstGeom>
          <a:solidFill>
            <a:srgbClr val="1F4A82"/>
          </a:solidFill>
          <a:ln w="25400">
            <a:solidFill>
              <a:srgbClr val="FFFFFF"/>
            </a:solidFill>
            <a:prstDash val="solid"/>
          </a:ln>
        </p:spPr>
      </p:sp>
      <p:sp>
        <p:nvSpPr>
          <p:cNvPr id="78" name="Text 58"/>
          <p:cNvSpPr txBox="1"/>
          <p:nvPr/>
        </p:nvSpPr>
        <p:spPr>
          <a:xfrm>
            <a:off x="9605955" y="5852160"/>
            <a:ext cx="1973092"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Month: Owner sees outcomes</a:t>
            </a:r>
            <a:endParaRPr lang="en-US" sz="1100" dirty="0"/>
          </a:p>
        </p:txBody>
      </p:sp>
      <p:sp>
        <p:nvSpPr>
          <p:cNvPr id="79" name="Text 59"/>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Both surfaces share one API. The phone app is a progressive web app installed from the browser (no app-store fee). Mock-ups use synthetic students; report text comes from our report module.</a:t>
            </a:r>
            <a:endParaRPr lang="en-US" sz="85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D4A24C"/>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heat-map">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4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KNOW EVERY STUDENT'S WEAK TOPICS</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Pragati knows each student's weak topics, and tells the teacher how sure it is</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88720"/>
            <a:ext cx="5989320" cy="3246120"/>
          </a:xfrm>
          <a:prstGeom prst="roundRect">
            <a:avLst>
              <a:gd name="adj" fmla="val 2817"/>
            </a:avLst>
          </a:prstGeom>
          <a:solidFill>
            <a:srgbClr val="FFFFFF"/>
          </a:solidFill>
          <a:ln w="12700">
            <a:solidFill>
              <a:srgbClr val="C9D6E8"/>
            </a:solidFill>
            <a:prstDash val="solid"/>
          </a:ln>
        </p:spPr>
      </p:sp>
      <p:sp>
        <p:nvSpPr>
          <p:cNvPr id="27" name="Text 23"/>
          <p:cNvSpPr txBox="1"/>
          <p:nvPr/>
        </p:nvSpPr>
        <p:spPr>
          <a:xfrm>
            <a:off x="1051560" y="1261872"/>
            <a:ext cx="668655" cy="493776"/>
          </a:xfrm>
          <a:prstGeom prst="rect">
            <a:avLst/>
          </a:prstGeom>
          <a:noFill/>
          <a:ln/>
        </p:spPr>
        <p:txBody>
          <a:bodyPr wrap="square" lIns="0" tIns="0" rIns="0" bIns="0" rtlCol="0" anchor="ctr"/>
          <a:lstStyle/>
          <a:p>
            <a:pPr algn="ctr" indent="0" marL="0">
              <a:buNone/>
            </a:pPr>
            <a:r>
              <a:rPr lang="en-US" sz="950" dirty="0">
                <a:solidFill>
                  <a:srgbClr val="5B6573"/>
                </a:solidFill>
                <a:latin typeface="Calibri" pitchFamily="34" charset="0"/>
                <a:ea typeface="Calibri" pitchFamily="34" charset="-122"/>
                <a:cs typeface="Calibri" pitchFamily="34" charset="-120"/>
              </a:rPr>
              <a:t>Kinematics</a:t>
            </a:r>
            <a:endParaRPr lang="en-US" sz="950" dirty="0"/>
          </a:p>
        </p:txBody>
      </p:sp>
      <p:sp>
        <p:nvSpPr>
          <p:cNvPr id="28" name="Text 24"/>
          <p:cNvSpPr txBox="1"/>
          <p:nvPr/>
        </p:nvSpPr>
        <p:spPr>
          <a:xfrm>
            <a:off x="1720215" y="1261872"/>
            <a:ext cx="668655" cy="493776"/>
          </a:xfrm>
          <a:prstGeom prst="rect">
            <a:avLst/>
          </a:prstGeom>
          <a:noFill/>
          <a:ln/>
        </p:spPr>
        <p:txBody>
          <a:bodyPr wrap="square" lIns="0" tIns="0" rIns="0" bIns="0" rtlCol="0" anchor="ctr"/>
          <a:lstStyle/>
          <a:p>
            <a:pPr algn="ctr" indent="0" marL="0">
              <a:buNone/>
            </a:pPr>
            <a:r>
              <a:rPr lang="en-US" sz="950" dirty="0">
                <a:solidFill>
                  <a:srgbClr val="5B6573"/>
                </a:solidFill>
                <a:latin typeface="Calibri" pitchFamily="34" charset="0"/>
                <a:ea typeface="Calibri" pitchFamily="34" charset="-122"/>
                <a:cs typeface="Calibri" pitchFamily="34" charset="-120"/>
              </a:rPr>
              <a:t>Laws of motion</a:t>
            </a:r>
            <a:endParaRPr lang="en-US" sz="950" dirty="0"/>
          </a:p>
        </p:txBody>
      </p:sp>
      <p:sp>
        <p:nvSpPr>
          <p:cNvPr id="29" name="Text 25"/>
          <p:cNvSpPr txBox="1"/>
          <p:nvPr/>
        </p:nvSpPr>
        <p:spPr>
          <a:xfrm>
            <a:off x="2388870" y="1261872"/>
            <a:ext cx="668655" cy="493776"/>
          </a:xfrm>
          <a:prstGeom prst="rect">
            <a:avLst/>
          </a:prstGeom>
          <a:noFill/>
          <a:ln/>
        </p:spPr>
        <p:txBody>
          <a:bodyPr wrap="square" lIns="0" tIns="0" rIns="0" bIns="0" rtlCol="0" anchor="ctr"/>
          <a:lstStyle/>
          <a:p>
            <a:pPr algn="ctr" indent="0" marL="0">
              <a:buNone/>
            </a:pPr>
            <a:r>
              <a:rPr lang="en-US" sz="950" dirty="0">
                <a:solidFill>
                  <a:srgbClr val="5B6573"/>
                </a:solidFill>
                <a:latin typeface="Calibri" pitchFamily="34" charset="0"/>
                <a:ea typeface="Calibri" pitchFamily="34" charset="-122"/>
                <a:cs typeface="Calibri" pitchFamily="34" charset="-120"/>
              </a:rPr>
              <a:t>Work and energy</a:t>
            </a:r>
            <a:endParaRPr lang="en-US" sz="950" dirty="0"/>
          </a:p>
        </p:txBody>
      </p:sp>
      <p:sp>
        <p:nvSpPr>
          <p:cNvPr id="30" name="Text 26"/>
          <p:cNvSpPr txBox="1"/>
          <p:nvPr/>
        </p:nvSpPr>
        <p:spPr>
          <a:xfrm>
            <a:off x="3057525" y="1261872"/>
            <a:ext cx="668655" cy="493776"/>
          </a:xfrm>
          <a:prstGeom prst="rect">
            <a:avLst/>
          </a:prstGeom>
          <a:noFill/>
          <a:ln/>
        </p:spPr>
        <p:txBody>
          <a:bodyPr wrap="square" lIns="0" tIns="0" rIns="0" bIns="0" rtlCol="0" anchor="ctr"/>
          <a:lstStyle/>
          <a:p>
            <a:pPr algn="ctr" indent="0" marL="0">
              <a:buNone/>
            </a:pPr>
            <a:r>
              <a:rPr lang="en-US" sz="950" dirty="0">
                <a:solidFill>
                  <a:srgbClr val="5B6573"/>
                </a:solidFill>
                <a:latin typeface="Calibri" pitchFamily="34" charset="0"/>
                <a:ea typeface="Calibri" pitchFamily="34" charset="-122"/>
                <a:cs typeface="Calibri" pitchFamily="34" charset="-120"/>
              </a:rPr>
              <a:t>Rotation</a:t>
            </a:r>
            <a:endParaRPr lang="en-US" sz="950" dirty="0"/>
          </a:p>
        </p:txBody>
      </p:sp>
      <p:sp>
        <p:nvSpPr>
          <p:cNvPr id="31" name="Text 27"/>
          <p:cNvSpPr txBox="1"/>
          <p:nvPr/>
        </p:nvSpPr>
        <p:spPr>
          <a:xfrm>
            <a:off x="3726180" y="1261872"/>
            <a:ext cx="668655" cy="493776"/>
          </a:xfrm>
          <a:prstGeom prst="rect">
            <a:avLst/>
          </a:prstGeom>
          <a:noFill/>
          <a:ln/>
        </p:spPr>
        <p:txBody>
          <a:bodyPr wrap="square" lIns="0" tIns="0" rIns="0" bIns="0" rtlCol="0" anchor="ctr"/>
          <a:lstStyle/>
          <a:p>
            <a:pPr algn="ctr" indent="0" marL="0">
              <a:buNone/>
            </a:pPr>
            <a:r>
              <a:rPr lang="en-US" sz="950" dirty="0">
                <a:solidFill>
                  <a:srgbClr val="5B6573"/>
                </a:solidFill>
                <a:latin typeface="Calibri" pitchFamily="34" charset="0"/>
                <a:ea typeface="Calibri" pitchFamily="34" charset="-122"/>
                <a:cs typeface="Calibri" pitchFamily="34" charset="-120"/>
              </a:rPr>
              <a:t>Gravity</a:t>
            </a:r>
            <a:endParaRPr lang="en-US" sz="950" dirty="0"/>
          </a:p>
        </p:txBody>
      </p:sp>
      <p:sp>
        <p:nvSpPr>
          <p:cNvPr id="32" name="Text 28"/>
          <p:cNvSpPr txBox="1"/>
          <p:nvPr/>
        </p:nvSpPr>
        <p:spPr>
          <a:xfrm>
            <a:off x="4394835" y="1261872"/>
            <a:ext cx="668655" cy="493776"/>
          </a:xfrm>
          <a:prstGeom prst="rect">
            <a:avLst/>
          </a:prstGeom>
          <a:noFill/>
          <a:ln/>
        </p:spPr>
        <p:txBody>
          <a:bodyPr wrap="square" lIns="0" tIns="0" rIns="0" bIns="0" rtlCol="0" anchor="ctr"/>
          <a:lstStyle/>
          <a:p>
            <a:pPr algn="ctr" indent="0" marL="0">
              <a:buNone/>
            </a:pPr>
            <a:r>
              <a:rPr lang="en-US" sz="950" dirty="0">
                <a:solidFill>
                  <a:srgbClr val="5B6573"/>
                </a:solidFill>
                <a:latin typeface="Calibri" pitchFamily="34" charset="0"/>
                <a:ea typeface="Calibri" pitchFamily="34" charset="-122"/>
                <a:cs typeface="Calibri" pitchFamily="34" charset="-120"/>
              </a:rPr>
              <a:t>Heat</a:t>
            </a:r>
            <a:endParaRPr lang="en-US" sz="950" dirty="0"/>
          </a:p>
        </p:txBody>
      </p:sp>
      <p:sp>
        <p:nvSpPr>
          <p:cNvPr id="33" name="Text 29"/>
          <p:cNvSpPr txBox="1"/>
          <p:nvPr/>
        </p:nvSpPr>
        <p:spPr>
          <a:xfrm>
            <a:off x="5063490" y="1261872"/>
            <a:ext cx="668655" cy="493776"/>
          </a:xfrm>
          <a:prstGeom prst="rect">
            <a:avLst/>
          </a:prstGeom>
          <a:noFill/>
          <a:ln/>
        </p:spPr>
        <p:txBody>
          <a:bodyPr wrap="square" lIns="0" tIns="0" rIns="0" bIns="0" rtlCol="0" anchor="ctr"/>
          <a:lstStyle/>
          <a:p>
            <a:pPr algn="ctr" indent="0" marL="0">
              <a:buNone/>
            </a:pPr>
            <a:r>
              <a:rPr lang="en-US" sz="950" dirty="0">
                <a:solidFill>
                  <a:srgbClr val="5B6573"/>
                </a:solidFill>
                <a:latin typeface="Calibri" pitchFamily="34" charset="0"/>
                <a:ea typeface="Calibri" pitchFamily="34" charset="-122"/>
                <a:cs typeface="Calibri" pitchFamily="34" charset="-120"/>
              </a:rPr>
              <a:t>Electricity</a:t>
            </a:r>
            <a:endParaRPr lang="en-US" sz="950" dirty="0"/>
          </a:p>
        </p:txBody>
      </p:sp>
      <p:sp>
        <p:nvSpPr>
          <p:cNvPr id="34" name="Text 30"/>
          <p:cNvSpPr txBox="1"/>
          <p:nvPr/>
        </p:nvSpPr>
        <p:spPr>
          <a:xfrm>
            <a:off x="5732145" y="1261872"/>
            <a:ext cx="668655" cy="493776"/>
          </a:xfrm>
          <a:prstGeom prst="rect">
            <a:avLst/>
          </a:prstGeom>
          <a:noFill/>
          <a:ln/>
        </p:spPr>
        <p:txBody>
          <a:bodyPr wrap="square" lIns="0" tIns="0" rIns="0" bIns="0" rtlCol="0" anchor="ctr"/>
          <a:lstStyle/>
          <a:p>
            <a:pPr algn="ctr" indent="0" marL="0">
              <a:buNone/>
            </a:pPr>
            <a:r>
              <a:rPr lang="en-US" sz="950" dirty="0">
                <a:solidFill>
                  <a:srgbClr val="5B6573"/>
                </a:solidFill>
                <a:latin typeface="Calibri" pitchFamily="34" charset="0"/>
                <a:ea typeface="Calibri" pitchFamily="34" charset="-122"/>
                <a:cs typeface="Calibri" pitchFamily="34" charset="-120"/>
              </a:rPr>
              <a:t>Optics</a:t>
            </a:r>
            <a:endParaRPr lang="en-US" sz="950" dirty="0"/>
          </a:p>
        </p:txBody>
      </p:sp>
      <p:sp>
        <p:nvSpPr>
          <p:cNvPr id="35" name="Text 31"/>
          <p:cNvSpPr txBox="1"/>
          <p:nvPr/>
        </p:nvSpPr>
        <p:spPr>
          <a:xfrm>
            <a:off x="502920" y="1755648"/>
            <a:ext cx="548640" cy="25501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S-101</a:t>
            </a:r>
            <a:endParaRPr lang="en-US" sz="950" dirty="0"/>
          </a:p>
        </p:txBody>
      </p:sp>
      <p:sp>
        <p:nvSpPr>
          <p:cNvPr id="36" name="Shape 32"/>
          <p:cNvSpPr/>
          <p:nvPr/>
        </p:nvSpPr>
        <p:spPr>
          <a:xfrm>
            <a:off x="1069848" y="1773936"/>
            <a:ext cx="632079" cy="218440"/>
          </a:xfrm>
          <a:prstGeom prst="rect">
            <a:avLst/>
          </a:prstGeom>
          <a:solidFill>
            <a:srgbClr val="C9DBF0"/>
          </a:solidFill>
          <a:ln/>
        </p:spPr>
      </p:sp>
      <p:sp>
        <p:nvSpPr>
          <p:cNvPr id="37" name="Shape 33"/>
          <p:cNvSpPr/>
          <p:nvPr/>
        </p:nvSpPr>
        <p:spPr>
          <a:xfrm>
            <a:off x="1738503" y="1773936"/>
            <a:ext cx="632079" cy="218440"/>
          </a:xfrm>
          <a:prstGeom prst="rect">
            <a:avLst/>
          </a:prstGeom>
          <a:solidFill>
            <a:srgbClr val="C9DBF0"/>
          </a:solidFill>
          <a:ln/>
        </p:spPr>
      </p:sp>
      <p:sp>
        <p:nvSpPr>
          <p:cNvPr id="38" name="Shape 34"/>
          <p:cNvSpPr/>
          <p:nvPr/>
        </p:nvSpPr>
        <p:spPr>
          <a:xfrm>
            <a:off x="2407158" y="1773936"/>
            <a:ext cx="632079" cy="218440"/>
          </a:xfrm>
          <a:prstGeom prst="rect">
            <a:avLst/>
          </a:prstGeom>
          <a:solidFill>
            <a:srgbClr val="7FA6D6"/>
          </a:solidFill>
          <a:ln/>
        </p:spPr>
      </p:sp>
      <p:sp>
        <p:nvSpPr>
          <p:cNvPr id="39" name="Shape 35"/>
          <p:cNvSpPr/>
          <p:nvPr/>
        </p:nvSpPr>
        <p:spPr>
          <a:xfrm>
            <a:off x="3075813" y="1773936"/>
            <a:ext cx="632079" cy="218440"/>
          </a:xfrm>
          <a:prstGeom prst="rect">
            <a:avLst/>
          </a:prstGeom>
          <a:solidFill>
            <a:srgbClr val="7FA6D6"/>
          </a:solidFill>
          <a:ln/>
        </p:spPr>
      </p:sp>
      <p:sp>
        <p:nvSpPr>
          <p:cNvPr id="40" name="Shape 36"/>
          <p:cNvSpPr/>
          <p:nvPr/>
        </p:nvSpPr>
        <p:spPr>
          <a:xfrm>
            <a:off x="3744468" y="1773936"/>
            <a:ext cx="632079" cy="218440"/>
          </a:xfrm>
          <a:prstGeom prst="rect">
            <a:avLst/>
          </a:prstGeom>
          <a:solidFill>
            <a:srgbClr val="C9DBF0"/>
          </a:solidFill>
          <a:ln/>
        </p:spPr>
      </p:sp>
      <p:sp>
        <p:nvSpPr>
          <p:cNvPr id="41" name="Shape 37"/>
          <p:cNvSpPr/>
          <p:nvPr/>
        </p:nvSpPr>
        <p:spPr>
          <a:xfrm>
            <a:off x="4413123" y="1773936"/>
            <a:ext cx="632079" cy="218440"/>
          </a:xfrm>
          <a:prstGeom prst="rect">
            <a:avLst/>
          </a:prstGeom>
          <a:solidFill>
            <a:srgbClr val="C9DBF0"/>
          </a:solidFill>
          <a:ln/>
        </p:spPr>
      </p:sp>
      <p:sp>
        <p:nvSpPr>
          <p:cNvPr id="42" name="Shape 38"/>
          <p:cNvSpPr/>
          <p:nvPr/>
        </p:nvSpPr>
        <p:spPr>
          <a:xfrm>
            <a:off x="5081778" y="1773936"/>
            <a:ext cx="632079" cy="218440"/>
          </a:xfrm>
          <a:prstGeom prst="rect">
            <a:avLst/>
          </a:prstGeom>
          <a:solidFill>
            <a:srgbClr val="7FA6D6"/>
          </a:solidFill>
          <a:ln/>
        </p:spPr>
      </p:sp>
      <p:sp>
        <p:nvSpPr>
          <p:cNvPr id="43" name="Shape 39"/>
          <p:cNvSpPr/>
          <p:nvPr/>
        </p:nvSpPr>
        <p:spPr>
          <a:xfrm>
            <a:off x="5750433" y="1773936"/>
            <a:ext cx="632079" cy="218440"/>
          </a:xfrm>
          <a:prstGeom prst="rect">
            <a:avLst/>
          </a:prstGeom>
          <a:solidFill>
            <a:srgbClr val="C9DBF0"/>
          </a:solidFill>
          <a:ln/>
        </p:spPr>
      </p:sp>
      <p:sp>
        <p:nvSpPr>
          <p:cNvPr id="44" name="Text 40"/>
          <p:cNvSpPr txBox="1"/>
          <p:nvPr/>
        </p:nvSpPr>
        <p:spPr>
          <a:xfrm>
            <a:off x="502920" y="2010664"/>
            <a:ext cx="548640" cy="25501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S-108</a:t>
            </a:r>
            <a:endParaRPr lang="en-US" sz="950" dirty="0"/>
          </a:p>
        </p:txBody>
      </p:sp>
      <p:sp>
        <p:nvSpPr>
          <p:cNvPr id="45" name="Shape 41"/>
          <p:cNvSpPr/>
          <p:nvPr/>
        </p:nvSpPr>
        <p:spPr>
          <a:xfrm>
            <a:off x="1069848" y="2028952"/>
            <a:ext cx="632079" cy="218440"/>
          </a:xfrm>
          <a:prstGeom prst="rect">
            <a:avLst/>
          </a:prstGeom>
          <a:solidFill>
            <a:srgbClr val="7FA6D6"/>
          </a:solidFill>
          <a:ln/>
        </p:spPr>
      </p:sp>
      <p:sp>
        <p:nvSpPr>
          <p:cNvPr id="46" name="Shape 42"/>
          <p:cNvSpPr/>
          <p:nvPr/>
        </p:nvSpPr>
        <p:spPr>
          <a:xfrm>
            <a:off x="1738503" y="2028952"/>
            <a:ext cx="632079" cy="218440"/>
          </a:xfrm>
          <a:prstGeom prst="rect">
            <a:avLst/>
          </a:prstGeom>
          <a:solidFill>
            <a:srgbClr val="1F4A82"/>
          </a:solidFill>
          <a:ln/>
        </p:spPr>
      </p:sp>
      <p:sp>
        <p:nvSpPr>
          <p:cNvPr id="47" name="Shape 43"/>
          <p:cNvSpPr/>
          <p:nvPr/>
        </p:nvSpPr>
        <p:spPr>
          <a:xfrm>
            <a:off x="2407158" y="2028952"/>
            <a:ext cx="632079" cy="218440"/>
          </a:xfrm>
          <a:prstGeom prst="rect">
            <a:avLst/>
          </a:prstGeom>
          <a:solidFill>
            <a:srgbClr val="7FA6D6"/>
          </a:solidFill>
          <a:ln/>
        </p:spPr>
      </p:sp>
      <p:sp>
        <p:nvSpPr>
          <p:cNvPr id="48" name="Shape 44"/>
          <p:cNvSpPr/>
          <p:nvPr/>
        </p:nvSpPr>
        <p:spPr>
          <a:xfrm>
            <a:off x="3075813" y="2028952"/>
            <a:ext cx="632079" cy="218440"/>
          </a:xfrm>
          <a:prstGeom prst="rect">
            <a:avLst/>
          </a:prstGeom>
          <a:solidFill>
            <a:srgbClr val="7FA6D6"/>
          </a:solidFill>
          <a:ln/>
        </p:spPr>
      </p:sp>
      <p:sp>
        <p:nvSpPr>
          <p:cNvPr id="49" name="Shape 45"/>
          <p:cNvSpPr/>
          <p:nvPr/>
        </p:nvSpPr>
        <p:spPr>
          <a:xfrm>
            <a:off x="3744468" y="2028952"/>
            <a:ext cx="632079" cy="218440"/>
          </a:xfrm>
          <a:prstGeom prst="rect">
            <a:avLst/>
          </a:prstGeom>
          <a:solidFill>
            <a:srgbClr val="C9DBF0"/>
          </a:solidFill>
          <a:ln/>
        </p:spPr>
      </p:sp>
      <p:sp>
        <p:nvSpPr>
          <p:cNvPr id="50" name="Shape 46"/>
          <p:cNvSpPr/>
          <p:nvPr/>
        </p:nvSpPr>
        <p:spPr>
          <a:xfrm>
            <a:off x="4413123" y="2028952"/>
            <a:ext cx="632079" cy="218440"/>
          </a:xfrm>
          <a:prstGeom prst="rect">
            <a:avLst/>
          </a:prstGeom>
          <a:solidFill>
            <a:srgbClr val="1F4A82"/>
          </a:solidFill>
          <a:ln/>
        </p:spPr>
      </p:sp>
      <p:sp>
        <p:nvSpPr>
          <p:cNvPr id="51" name="Shape 47"/>
          <p:cNvSpPr/>
          <p:nvPr/>
        </p:nvSpPr>
        <p:spPr>
          <a:xfrm>
            <a:off x="5081778" y="2028952"/>
            <a:ext cx="632079" cy="218440"/>
          </a:xfrm>
          <a:prstGeom prst="rect">
            <a:avLst/>
          </a:prstGeom>
          <a:solidFill>
            <a:srgbClr val="EEF2F7"/>
          </a:solidFill>
          <a:ln/>
        </p:spPr>
      </p:sp>
      <p:sp>
        <p:nvSpPr>
          <p:cNvPr id="52" name="Shape 48"/>
          <p:cNvSpPr/>
          <p:nvPr/>
        </p:nvSpPr>
        <p:spPr>
          <a:xfrm>
            <a:off x="5750433" y="2028952"/>
            <a:ext cx="632079" cy="218440"/>
          </a:xfrm>
          <a:prstGeom prst="rect">
            <a:avLst/>
          </a:prstGeom>
          <a:solidFill>
            <a:srgbClr val="7FA6D6"/>
          </a:solidFill>
          <a:ln/>
        </p:spPr>
      </p:sp>
      <p:sp>
        <p:nvSpPr>
          <p:cNvPr id="53" name="Text 49"/>
          <p:cNvSpPr txBox="1"/>
          <p:nvPr/>
        </p:nvSpPr>
        <p:spPr>
          <a:xfrm>
            <a:off x="502920" y="2265680"/>
            <a:ext cx="548640" cy="25501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S-115</a:t>
            </a:r>
            <a:endParaRPr lang="en-US" sz="950" dirty="0"/>
          </a:p>
        </p:txBody>
      </p:sp>
      <p:sp>
        <p:nvSpPr>
          <p:cNvPr id="54" name="Shape 50"/>
          <p:cNvSpPr/>
          <p:nvPr/>
        </p:nvSpPr>
        <p:spPr>
          <a:xfrm>
            <a:off x="1069848" y="2283968"/>
            <a:ext cx="632079" cy="218440"/>
          </a:xfrm>
          <a:prstGeom prst="rect">
            <a:avLst/>
          </a:prstGeom>
          <a:solidFill>
            <a:srgbClr val="C9DBF0"/>
          </a:solidFill>
          <a:ln/>
        </p:spPr>
      </p:sp>
      <p:sp>
        <p:nvSpPr>
          <p:cNvPr id="55" name="Shape 51"/>
          <p:cNvSpPr/>
          <p:nvPr/>
        </p:nvSpPr>
        <p:spPr>
          <a:xfrm>
            <a:off x="1738503" y="2283968"/>
            <a:ext cx="632079" cy="218440"/>
          </a:xfrm>
          <a:prstGeom prst="rect">
            <a:avLst/>
          </a:prstGeom>
          <a:solidFill>
            <a:srgbClr val="C9DBF0"/>
          </a:solidFill>
          <a:ln/>
        </p:spPr>
      </p:sp>
      <p:sp>
        <p:nvSpPr>
          <p:cNvPr id="56" name="Shape 52"/>
          <p:cNvSpPr/>
          <p:nvPr/>
        </p:nvSpPr>
        <p:spPr>
          <a:xfrm>
            <a:off x="2407158" y="2283968"/>
            <a:ext cx="632079" cy="218440"/>
          </a:xfrm>
          <a:prstGeom prst="rect">
            <a:avLst/>
          </a:prstGeom>
          <a:solidFill>
            <a:srgbClr val="7FA6D6"/>
          </a:solidFill>
          <a:ln/>
        </p:spPr>
      </p:sp>
      <p:sp>
        <p:nvSpPr>
          <p:cNvPr id="57" name="Shape 53"/>
          <p:cNvSpPr/>
          <p:nvPr/>
        </p:nvSpPr>
        <p:spPr>
          <a:xfrm>
            <a:off x="3075813" y="2283968"/>
            <a:ext cx="632079" cy="218440"/>
          </a:xfrm>
          <a:prstGeom prst="rect">
            <a:avLst/>
          </a:prstGeom>
          <a:solidFill>
            <a:srgbClr val="7FA6D6"/>
          </a:solidFill>
          <a:ln/>
        </p:spPr>
      </p:sp>
      <p:sp>
        <p:nvSpPr>
          <p:cNvPr id="58" name="Shape 54"/>
          <p:cNvSpPr/>
          <p:nvPr/>
        </p:nvSpPr>
        <p:spPr>
          <a:xfrm>
            <a:off x="3744468" y="2283968"/>
            <a:ext cx="632079" cy="218440"/>
          </a:xfrm>
          <a:prstGeom prst="rect">
            <a:avLst/>
          </a:prstGeom>
          <a:solidFill>
            <a:srgbClr val="C9DBF0"/>
          </a:solidFill>
          <a:ln/>
        </p:spPr>
      </p:sp>
      <p:sp>
        <p:nvSpPr>
          <p:cNvPr id="59" name="Shape 55"/>
          <p:cNvSpPr/>
          <p:nvPr/>
        </p:nvSpPr>
        <p:spPr>
          <a:xfrm>
            <a:off x="4413123" y="2283968"/>
            <a:ext cx="632079" cy="218440"/>
          </a:xfrm>
          <a:prstGeom prst="rect">
            <a:avLst/>
          </a:prstGeom>
          <a:solidFill>
            <a:srgbClr val="C9DBF0"/>
          </a:solidFill>
          <a:ln/>
        </p:spPr>
      </p:sp>
      <p:sp>
        <p:nvSpPr>
          <p:cNvPr id="60" name="Shape 56"/>
          <p:cNvSpPr/>
          <p:nvPr/>
        </p:nvSpPr>
        <p:spPr>
          <a:xfrm>
            <a:off x="5081778" y="2283968"/>
            <a:ext cx="632079" cy="218440"/>
          </a:xfrm>
          <a:prstGeom prst="rect">
            <a:avLst/>
          </a:prstGeom>
          <a:solidFill>
            <a:srgbClr val="C9DBF0"/>
          </a:solidFill>
          <a:ln/>
        </p:spPr>
      </p:sp>
      <p:sp>
        <p:nvSpPr>
          <p:cNvPr id="61" name="Shape 57"/>
          <p:cNvSpPr/>
          <p:nvPr/>
        </p:nvSpPr>
        <p:spPr>
          <a:xfrm>
            <a:off x="5750433" y="2283968"/>
            <a:ext cx="632079" cy="218440"/>
          </a:xfrm>
          <a:prstGeom prst="rect">
            <a:avLst/>
          </a:prstGeom>
          <a:solidFill>
            <a:srgbClr val="EEF2F7"/>
          </a:solidFill>
          <a:ln/>
        </p:spPr>
      </p:sp>
      <p:sp>
        <p:nvSpPr>
          <p:cNvPr id="62" name="Text 58"/>
          <p:cNvSpPr txBox="1"/>
          <p:nvPr/>
        </p:nvSpPr>
        <p:spPr>
          <a:xfrm>
            <a:off x="502920" y="2520696"/>
            <a:ext cx="548640" cy="25501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S-122</a:t>
            </a:r>
            <a:endParaRPr lang="en-US" sz="950" dirty="0"/>
          </a:p>
        </p:txBody>
      </p:sp>
      <p:sp>
        <p:nvSpPr>
          <p:cNvPr id="63" name="Shape 59"/>
          <p:cNvSpPr/>
          <p:nvPr/>
        </p:nvSpPr>
        <p:spPr>
          <a:xfrm>
            <a:off x="1069848" y="2538984"/>
            <a:ext cx="632079" cy="218440"/>
          </a:xfrm>
          <a:prstGeom prst="rect">
            <a:avLst/>
          </a:prstGeom>
          <a:solidFill>
            <a:srgbClr val="EEF2F7"/>
          </a:solidFill>
          <a:ln/>
        </p:spPr>
      </p:sp>
      <p:sp>
        <p:nvSpPr>
          <p:cNvPr id="64" name="Shape 60"/>
          <p:cNvSpPr/>
          <p:nvPr/>
        </p:nvSpPr>
        <p:spPr>
          <a:xfrm>
            <a:off x="1738503" y="2538984"/>
            <a:ext cx="632079" cy="218440"/>
          </a:xfrm>
          <a:prstGeom prst="rect">
            <a:avLst/>
          </a:prstGeom>
          <a:solidFill>
            <a:srgbClr val="1F4A82"/>
          </a:solidFill>
          <a:ln/>
        </p:spPr>
      </p:sp>
      <p:sp>
        <p:nvSpPr>
          <p:cNvPr id="65" name="Shape 61"/>
          <p:cNvSpPr/>
          <p:nvPr/>
        </p:nvSpPr>
        <p:spPr>
          <a:xfrm>
            <a:off x="2407158" y="2538984"/>
            <a:ext cx="632079" cy="218440"/>
          </a:xfrm>
          <a:prstGeom prst="rect">
            <a:avLst/>
          </a:prstGeom>
          <a:solidFill>
            <a:srgbClr val="1F4A82"/>
          </a:solidFill>
          <a:ln/>
        </p:spPr>
      </p:sp>
      <p:sp>
        <p:nvSpPr>
          <p:cNvPr id="66" name="Shape 62"/>
          <p:cNvSpPr/>
          <p:nvPr/>
        </p:nvSpPr>
        <p:spPr>
          <a:xfrm>
            <a:off x="3075813" y="2538984"/>
            <a:ext cx="632079" cy="218440"/>
          </a:xfrm>
          <a:prstGeom prst="rect">
            <a:avLst/>
          </a:prstGeom>
          <a:solidFill>
            <a:srgbClr val="1F4A82"/>
          </a:solidFill>
          <a:ln/>
        </p:spPr>
      </p:sp>
      <p:sp>
        <p:nvSpPr>
          <p:cNvPr id="67" name="Shape 63"/>
          <p:cNvSpPr/>
          <p:nvPr/>
        </p:nvSpPr>
        <p:spPr>
          <a:xfrm>
            <a:off x="3744468" y="2538984"/>
            <a:ext cx="632079" cy="218440"/>
          </a:xfrm>
          <a:prstGeom prst="rect">
            <a:avLst/>
          </a:prstGeom>
          <a:solidFill>
            <a:srgbClr val="C9DBF0"/>
          </a:solidFill>
          <a:ln/>
        </p:spPr>
      </p:sp>
      <p:sp>
        <p:nvSpPr>
          <p:cNvPr id="68" name="Shape 64"/>
          <p:cNvSpPr/>
          <p:nvPr/>
        </p:nvSpPr>
        <p:spPr>
          <a:xfrm>
            <a:off x="4413123" y="2538984"/>
            <a:ext cx="632079" cy="218440"/>
          </a:xfrm>
          <a:prstGeom prst="rect">
            <a:avLst/>
          </a:prstGeom>
          <a:solidFill>
            <a:srgbClr val="7FA6D6"/>
          </a:solidFill>
          <a:ln/>
        </p:spPr>
      </p:sp>
      <p:sp>
        <p:nvSpPr>
          <p:cNvPr id="69" name="Shape 65"/>
          <p:cNvSpPr/>
          <p:nvPr/>
        </p:nvSpPr>
        <p:spPr>
          <a:xfrm>
            <a:off x="5081778" y="2538984"/>
            <a:ext cx="632079" cy="218440"/>
          </a:xfrm>
          <a:prstGeom prst="rect">
            <a:avLst/>
          </a:prstGeom>
          <a:solidFill>
            <a:srgbClr val="1F4A82"/>
          </a:solidFill>
          <a:ln/>
        </p:spPr>
      </p:sp>
      <p:sp>
        <p:nvSpPr>
          <p:cNvPr id="70" name="Shape 66"/>
          <p:cNvSpPr/>
          <p:nvPr/>
        </p:nvSpPr>
        <p:spPr>
          <a:xfrm>
            <a:off x="5750433" y="2538984"/>
            <a:ext cx="632079" cy="218440"/>
          </a:xfrm>
          <a:prstGeom prst="rect">
            <a:avLst/>
          </a:prstGeom>
          <a:solidFill>
            <a:srgbClr val="7FA6D6"/>
          </a:solidFill>
          <a:ln/>
        </p:spPr>
      </p:sp>
      <p:sp>
        <p:nvSpPr>
          <p:cNvPr id="71" name="Text 67"/>
          <p:cNvSpPr txBox="1"/>
          <p:nvPr/>
        </p:nvSpPr>
        <p:spPr>
          <a:xfrm>
            <a:off x="502920" y="2775712"/>
            <a:ext cx="548640" cy="25501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S-129</a:t>
            </a:r>
            <a:endParaRPr lang="en-US" sz="950" dirty="0"/>
          </a:p>
        </p:txBody>
      </p:sp>
      <p:sp>
        <p:nvSpPr>
          <p:cNvPr id="72" name="Shape 68"/>
          <p:cNvSpPr/>
          <p:nvPr/>
        </p:nvSpPr>
        <p:spPr>
          <a:xfrm>
            <a:off x="1069848" y="2794000"/>
            <a:ext cx="632079" cy="218440"/>
          </a:xfrm>
          <a:prstGeom prst="rect">
            <a:avLst/>
          </a:prstGeom>
          <a:solidFill>
            <a:srgbClr val="7FA6D6"/>
          </a:solidFill>
          <a:ln/>
        </p:spPr>
      </p:sp>
      <p:sp>
        <p:nvSpPr>
          <p:cNvPr id="73" name="Shape 69"/>
          <p:cNvSpPr/>
          <p:nvPr/>
        </p:nvSpPr>
        <p:spPr>
          <a:xfrm>
            <a:off x="1738503" y="2794000"/>
            <a:ext cx="632079" cy="218440"/>
          </a:xfrm>
          <a:prstGeom prst="rect">
            <a:avLst/>
          </a:prstGeom>
          <a:solidFill>
            <a:srgbClr val="EEF2F7"/>
          </a:solidFill>
          <a:ln/>
        </p:spPr>
      </p:sp>
      <p:sp>
        <p:nvSpPr>
          <p:cNvPr id="74" name="Shape 70"/>
          <p:cNvSpPr/>
          <p:nvPr/>
        </p:nvSpPr>
        <p:spPr>
          <a:xfrm>
            <a:off x="2407158" y="2794000"/>
            <a:ext cx="632079" cy="218440"/>
          </a:xfrm>
          <a:prstGeom prst="rect">
            <a:avLst/>
          </a:prstGeom>
          <a:solidFill>
            <a:srgbClr val="7FA6D6"/>
          </a:solidFill>
          <a:ln/>
        </p:spPr>
      </p:sp>
      <p:sp>
        <p:nvSpPr>
          <p:cNvPr id="75" name="Shape 71"/>
          <p:cNvSpPr/>
          <p:nvPr/>
        </p:nvSpPr>
        <p:spPr>
          <a:xfrm>
            <a:off x="3075813" y="2794000"/>
            <a:ext cx="632079" cy="218440"/>
          </a:xfrm>
          <a:prstGeom prst="rect">
            <a:avLst/>
          </a:prstGeom>
          <a:solidFill>
            <a:srgbClr val="C9DBF0"/>
          </a:solidFill>
          <a:ln/>
        </p:spPr>
      </p:sp>
      <p:sp>
        <p:nvSpPr>
          <p:cNvPr id="76" name="Shape 72"/>
          <p:cNvSpPr/>
          <p:nvPr/>
        </p:nvSpPr>
        <p:spPr>
          <a:xfrm>
            <a:off x="3744468" y="2794000"/>
            <a:ext cx="632079" cy="218440"/>
          </a:xfrm>
          <a:prstGeom prst="rect">
            <a:avLst/>
          </a:prstGeom>
          <a:solidFill>
            <a:srgbClr val="C9DBF0"/>
          </a:solidFill>
          <a:ln/>
        </p:spPr>
      </p:sp>
      <p:sp>
        <p:nvSpPr>
          <p:cNvPr id="77" name="Shape 73"/>
          <p:cNvSpPr/>
          <p:nvPr/>
        </p:nvSpPr>
        <p:spPr>
          <a:xfrm>
            <a:off x="4413123" y="2794000"/>
            <a:ext cx="632079" cy="218440"/>
          </a:xfrm>
          <a:prstGeom prst="rect">
            <a:avLst/>
          </a:prstGeom>
          <a:solidFill>
            <a:srgbClr val="C9DBF0"/>
          </a:solidFill>
          <a:ln/>
        </p:spPr>
      </p:sp>
      <p:sp>
        <p:nvSpPr>
          <p:cNvPr id="78" name="Shape 74"/>
          <p:cNvSpPr/>
          <p:nvPr/>
        </p:nvSpPr>
        <p:spPr>
          <a:xfrm>
            <a:off x="5081778" y="2794000"/>
            <a:ext cx="632079" cy="218440"/>
          </a:xfrm>
          <a:prstGeom prst="rect">
            <a:avLst/>
          </a:prstGeom>
          <a:solidFill>
            <a:srgbClr val="C9DBF0"/>
          </a:solidFill>
          <a:ln/>
        </p:spPr>
      </p:sp>
      <p:sp>
        <p:nvSpPr>
          <p:cNvPr id="79" name="Shape 75"/>
          <p:cNvSpPr/>
          <p:nvPr/>
        </p:nvSpPr>
        <p:spPr>
          <a:xfrm>
            <a:off x="5750433" y="2794000"/>
            <a:ext cx="632079" cy="218440"/>
          </a:xfrm>
          <a:prstGeom prst="rect">
            <a:avLst/>
          </a:prstGeom>
          <a:solidFill>
            <a:srgbClr val="EEF2F7"/>
          </a:solidFill>
          <a:ln/>
        </p:spPr>
      </p:sp>
      <p:sp>
        <p:nvSpPr>
          <p:cNvPr id="80" name="Text 76"/>
          <p:cNvSpPr txBox="1"/>
          <p:nvPr/>
        </p:nvSpPr>
        <p:spPr>
          <a:xfrm>
            <a:off x="502920" y="3030728"/>
            <a:ext cx="548640" cy="25501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S-136</a:t>
            </a:r>
            <a:endParaRPr lang="en-US" sz="950" dirty="0"/>
          </a:p>
        </p:txBody>
      </p:sp>
      <p:sp>
        <p:nvSpPr>
          <p:cNvPr id="81" name="Shape 77"/>
          <p:cNvSpPr/>
          <p:nvPr/>
        </p:nvSpPr>
        <p:spPr>
          <a:xfrm>
            <a:off x="1069848" y="3049016"/>
            <a:ext cx="632079" cy="218440"/>
          </a:xfrm>
          <a:prstGeom prst="rect">
            <a:avLst/>
          </a:prstGeom>
          <a:solidFill>
            <a:srgbClr val="7FA6D6"/>
          </a:solidFill>
          <a:ln/>
        </p:spPr>
      </p:sp>
      <p:sp>
        <p:nvSpPr>
          <p:cNvPr id="82" name="Shape 78"/>
          <p:cNvSpPr/>
          <p:nvPr/>
        </p:nvSpPr>
        <p:spPr>
          <a:xfrm>
            <a:off x="1738503" y="3049016"/>
            <a:ext cx="632079" cy="218440"/>
          </a:xfrm>
          <a:prstGeom prst="rect">
            <a:avLst/>
          </a:prstGeom>
          <a:solidFill>
            <a:srgbClr val="7FA6D6"/>
          </a:solidFill>
          <a:ln/>
        </p:spPr>
      </p:sp>
      <p:sp>
        <p:nvSpPr>
          <p:cNvPr id="83" name="Shape 79"/>
          <p:cNvSpPr/>
          <p:nvPr/>
        </p:nvSpPr>
        <p:spPr>
          <a:xfrm>
            <a:off x="2407158" y="3049016"/>
            <a:ext cx="632079" cy="218440"/>
          </a:xfrm>
          <a:prstGeom prst="rect">
            <a:avLst/>
          </a:prstGeom>
          <a:solidFill>
            <a:srgbClr val="7FA6D6"/>
          </a:solidFill>
          <a:ln/>
        </p:spPr>
      </p:sp>
      <p:sp>
        <p:nvSpPr>
          <p:cNvPr id="84" name="Shape 80"/>
          <p:cNvSpPr/>
          <p:nvPr/>
        </p:nvSpPr>
        <p:spPr>
          <a:xfrm>
            <a:off x="3075813" y="3049016"/>
            <a:ext cx="632079" cy="218440"/>
          </a:xfrm>
          <a:prstGeom prst="rect">
            <a:avLst/>
          </a:prstGeom>
          <a:solidFill>
            <a:srgbClr val="1F4A82"/>
          </a:solidFill>
          <a:ln/>
        </p:spPr>
      </p:sp>
      <p:sp>
        <p:nvSpPr>
          <p:cNvPr id="85" name="Shape 81"/>
          <p:cNvSpPr/>
          <p:nvPr/>
        </p:nvSpPr>
        <p:spPr>
          <a:xfrm>
            <a:off x="3744468" y="3049016"/>
            <a:ext cx="632079" cy="218440"/>
          </a:xfrm>
          <a:prstGeom prst="rect">
            <a:avLst/>
          </a:prstGeom>
          <a:solidFill>
            <a:srgbClr val="C9DBF0"/>
          </a:solidFill>
          <a:ln/>
        </p:spPr>
      </p:sp>
      <p:sp>
        <p:nvSpPr>
          <p:cNvPr id="86" name="Shape 82"/>
          <p:cNvSpPr/>
          <p:nvPr/>
        </p:nvSpPr>
        <p:spPr>
          <a:xfrm>
            <a:off x="4413123" y="3049016"/>
            <a:ext cx="632079" cy="218440"/>
          </a:xfrm>
          <a:prstGeom prst="rect">
            <a:avLst/>
          </a:prstGeom>
          <a:solidFill>
            <a:srgbClr val="7FA6D6"/>
          </a:solidFill>
          <a:ln/>
        </p:spPr>
      </p:sp>
      <p:sp>
        <p:nvSpPr>
          <p:cNvPr id="87" name="Shape 83"/>
          <p:cNvSpPr/>
          <p:nvPr/>
        </p:nvSpPr>
        <p:spPr>
          <a:xfrm>
            <a:off x="5081778" y="3049016"/>
            <a:ext cx="632079" cy="218440"/>
          </a:xfrm>
          <a:prstGeom prst="rect">
            <a:avLst/>
          </a:prstGeom>
          <a:solidFill>
            <a:srgbClr val="7FA6D6"/>
          </a:solidFill>
          <a:ln/>
        </p:spPr>
      </p:sp>
      <p:sp>
        <p:nvSpPr>
          <p:cNvPr id="88" name="Shape 84"/>
          <p:cNvSpPr/>
          <p:nvPr/>
        </p:nvSpPr>
        <p:spPr>
          <a:xfrm>
            <a:off x="5750433" y="3049016"/>
            <a:ext cx="632079" cy="218440"/>
          </a:xfrm>
          <a:prstGeom prst="rect">
            <a:avLst/>
          </a:prstGeom>
          <a:solidFill>
            <a:srgbClr val="7FA6D6"/>
          </a:solidFill>
          <a:ln/>
        </p:spPr>
      </p:sp>
      <p:sp>
        <p:nvSpPr>
          <p:cNvPr id="89" name="Text 85"/>
          <p:cNvSpPr txBox="1"/>
          <p:nvPr/>
        </p:nvSpPr>
        <p:spPr>
          <a:xfrm>
            <a:off x="502920" y="3285744"/>
            <a:ext cx="548640" cy="25501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S-143</a:t>
            </a:r>
            <a:endParaRPr lang="en-US" sz="950" dirty="0"/>
          </a:p>
        </p:txBody>
      </p:sp>
      <p:sp>
        <p:nvSpPr>
          <p:cNvPr id="90" name="Shape 86"/>
          <p:cNvSpPr/>
          <p:nvPr/>
        </p:nvSpPr>
        <p:spPr>
          <a:xfrm>
            <a:off x="1069848" y="3304032"/>
            <a:ext cx="632079" cy="218440"/>
          </a:xfrm>
          <a:prstGeom prst="rect">
            <a:avLst/>
          </a:prstGeom>
          <a:solidFill>
            <a:srgbClr val="7FA6D6"/>
          </a:solidFill>
          <a:ln/>
        </p:spPr>
      </p:sp>
      <p:sp>
        <p:nvSpPr>
          <p:cNvPr id="91" name="Shape 87"/>
          <p:cNvSpPr/>
          <p:nvPr/>
        </p:nvSpPr>
        <p:spPr>
          <a:xfrm>
            <a:off x="1738503" y="3304032"/>
            <a:ext cx="632079" cy="218440"/>
          </a:xfrm>
          <a:prstGeom prst="rect">
            <a:avLst/>
          </a:prstGeom>
          <a:solidFill>
            <a:srgbClr val="7FA6D6"/>
          </a:solidFill>
          <a:ln/>
        </p:spPr>
      </p:sp>
      <p:sp>
        <p:nvSpPr>
          <p:cNvPr id="92" name="Shape 88"/>
          <p:cNvSpPr/>
          <p:nvPr/>
        </p:nvSpPr>
        <p:spPr>
          <a:xfrm>
            <a:off x="2407158" y="3304032"/>
            <a:ext cx="632079" cy="218440"/>
          </a:xfrm>
          <a:prstGeom prst="rect">
            <a:avLst/>
          </a:prstGeom>
          <a:solidFill>
            <a:srgbClr val="C9DBF0"/>
          </a:solidFill>
          <a:ln/>
        </p:spPr>
      </p:sp>
      <p:sp>
        <p:nvSpPr>
          <p:cNvPr id="93" name="Shape 89"/>
          <p:cNvSpPr/>
          <p:nvPr/>
        </p:nvSpPr>
        <p:spPr>
          <a:xfrm>
            <a:off x="3075813" y="3304032"/>
            <a:ext cx="632079" cy="218440"/>
          </a:xfrm>
          <a:prstGeom prst="rect">
            <a:avLst/>
          </a:prstGeom>
          <a:solidFill>
            <a:srgbClr val="7FA6D6"/>
          </a:solidFill>
          <a:ln/>
        </p:spPr>
      </p:sp>
      <p:sp>
        <p:nvSpPr>
          <p:cNvPr id="94" name="Shape 90"/>
          <p:cNvSpPr/>
          <p:nvPr/>
        </p:nvSpPr>
        <p:spPr>
          <a:xfrm>
            <a:off x="3744468" y="3304032"/>
            <a:ext cx="632079" cy="218440"/>
          </a:xfrm>
          <a:prstGeom prst="rect">
            <a:avLst/>
          </a:prstGeom>
          <a:solidFill>
            <a:srgbClr val="C9DBF0"/>
          </a:solidFill>
          <a:ln/>
        </p:spPr>
      </p:sp>
      <p:sp>
        <p:nvSpPr>
          <p:cNvPr id="95" name="Shape 91"/>
          <p:cNvSpPr/>
          <p:nvPr/>
        </p:nvSpPr>
        <p:spPr>
          <a:xfrm>
            <a:off x="4413123" y="3304032"/>
            <a:ext cx="632079" cy="218440"/>
          </a:xfrm>
          <a:prstGeom prst="rect">
            <a:avLst/>
          </a:prstGeom>
          <a:solidFill>
            <a:srgbClr val="EEF2F7"/>
          </a:solidFill>
          <a:ln/>
        </p:spPr>
      </p:sp>
      <p:sp>
        <p:nvSpPr>
          <p:cNvPr id="96" name="Shape 92"/>
          <p:cNvSpPr/>
          <p:nvPr/>
        </p:nvSpPr>
        <p:spPr>
          <a:xfrm>
            <a:off x="5081778" y="3304032"/>
            <a:ext cx="632079" cy="218440"/>
          </a:xfrm>
          <a:prstGeom prst="rect">
            <a:avLst/>
          </a:prstGeom>
          <a:solidFill>
            <a:srgbClr val="C9DBF0"/>
          </a:solidFill>
          <a:ln/>
        </p:spPr>
      </p:sp>
      <p:sp>
        <p:nvSpPr>
          <p:cNvPr id="97" name="Shape 93"/>
          <p:cNvSpPr/>
          <p:nvPr/>
        </p:nvSpPr>
        <p:spPr>
          <a:xfrm>
            <a:off x="5750433" y="3304032"/>
            <a:ext cx="632079" cy="218440"/>
          </a:xfrm>
          <a:prstGeom prst="rect">
            <a:avLst/>
          </a:prstGeom>
          <a:solidFill>
            <a:srgbClr val="7FA6D6"/>
          </a:solidFill>
          <a:ln/>
        </p:spPr>
      </p:sp>
      <p:sp>
        <p:nvSpPr>
          <p:cNvPr id="98" name="Text 94"/>
          <p:cNvSpPr txBox="1"/>
          <p:nvPr/>
        </p:nvSpPr>
        <p:spPr>
          <a:xfrm>
            <a:off x="502920" y="3540760"/>
            <a:ext cx="548640" cy="25501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S-150</a:t>
            </a:r>
            <a:endParaRPr lang="en-US" sz="950" dirty="0"/>
          </a:p>
        </p:txBody>
      </p:sp>
      <p:sp>
        <p:nvSpPr>
          <p:cNvPr id="99" name="Shape 95"/>
          <p:cNvSpPr/>
          <p:nvPr/>
        </p:nvSpPr>
        <p:spPr>
          <a:xfrm>
            <a:off x="1069848" y="3559048"/>
            <a:ext cx="632079" cy="218440"/>
          </a:xfrm>
          <a:prstGeom prst="rect">
            <a:avLst/>
          </a:prstGeom>
          <a:solidFill>
            <a:srgbClr val="7FA6D6"/>
          </a:solidFill>
          <a:ln/>
        </p:spPr>
      </p:sp>
      <p:sp>
        <p:nvSpPr>
          <p:cNvPr id="100" name="Shape 96"/>
          <p:cNvSpPr/>
          <p:nvPr/>
        </p:nvSpPr>
        <p:spPr>
          <a:xfrm>
            <a:off x="1738503" y="3559048"/>
            <a:ext cx="632079" cy="218440"/>
          </a:xfrm>
          <a:prstGeom prst="rect">
            <a:avLst/>
          </a:prstGeom>
          <a:solidFill>
            <a:srgbClr val="7FA6D6"/>
          </a:solidFill>
          <a:ln/>
        </p:spPr>
      </p:sp>
      <p:sp>
        <p:nvSpPr>
          <p:cNvPr id="101" name="Shape 97"/>
          <p:cNvSpPr/>
          <p:nvPr/>
        </p:nvSpPr>
        <p:spPr>
          <a:xfrm>
            <a:off x="2407158" y="3559048"/>
            <a:ext cx="632079" cy="218440"/>
          </a:xfrm>
          <a:prstGeom prst="rect">
            <a:avLst/>
          </a:prstGeom>
          <a:solidFill>
            <a:srgbClr val="7FA6D6"/>
          </a:solidFill>
          <a:ln/>
        </p:spPr>
      </p:sp>
      <p:sp>
        <p:nvSpPr>
          <p:cNvPr id="102" name="Shape 98"/>
          <p:cNvSpPr/>
          <p:nvPr/>
        </p:nvSpPr>
        <p:spPr>
          <a:xfrm>
            <a:off x="3075813" y="3559048"/>
            <a:ext cx="632079" cy="218440"/>
          </a:xfrm>
          <a:prstGeom prst="rect">
            <a:avLst/>
          </a:prstGeom>
          <a:solidFill>
            <a:srgbClr val="C9DBF0"/>
          </a:solidFill>
          <a:ln/>
        </p:spPr>
      </p:sp>
      <p:sp>
        <p:nvSpPr>
          <p:cNvPr id="103" name="Shape 99"/>
          <p:cNvSpPr/>
          <p:nvPr/>
        </p:nvSpPr>
        <p:spPr>
          <a:xfrm>
            <a:off x="3744468" y="3559048"/>
            <a:ext cx="632079" cy="218440"/>
          </a:xfrm>
          <a:prstGeom prst="rect">
            <a:avLst/>
          </a:prstGeom>
          <a:solidFill>
            <a:srgbClr val="C9DBF0"/>
          </a:solidFill>
          <a:ln/>
        </p:spPr>
      </p:sp>
      <p:sp>
        <p:nvSpPr>
          <p:cNvPr id="104" name="Shape 100"/>
          <p:cNvSpPr/>
          <p:nvPr/>
        </p:nvSpPr>
        <p:spPr>
          <a:xfrm>
            <a:off x="4413123" y="3559048"/>
            <a:ext cx="632079" cy="218440"/>
          </a:xfrm>
          <a:prstGeom prst="rect">
            <a:avLst/>
          </a:prstGeom>
          <a:solidFill>
            <a:srgbClr val="7FA6D6"/>
          </a:solidFill>
          <a:ln/>
        </p:spPr>
      </p:sp>
      <p:sp>
        <p:nvSpPr>
          <p:cNvPr id="105" name="Shape 101"/>
          <p:cNvSpPr/>
          <p:nvPr/>
        </p:nvSpPr>
        <p:spPr>
          <a:xfrm>
            <a:off x="5081778" y="3559048"/>
            <a:ext cx="632079" cy="218440"/>
          </a:xfrm>
          <a:prstGeom prst="rect">
            <a:avLst/>
          </a:prstGeom>
          <a:solidFill>
            <a:srgbClr val="7FA6D6"/>
          </a:solidFill>
          <a:ln/>
        </p:spPr>
      </p:sp>
      <p:sp>
        <p:nvSpPr>
          <p:cNvPr id="106" name="Shape 102"/>
          <p:cNvSpPr/>
          <p:nvPr/>
        </p:nvSpPr>
        <p:spPr>
          <a:xfrm>
            <a:off x="5750433" y="3559048"/>
            <a:ext cx="632079" cy="218440"/>
          </a:xfrm>
          <a:prstGeom prst="rect">
            <a:avLst/>
          </a:prstGeom>
          <a:solidFill>
            <a:srgbClr val="7FA6D6"/>
          </a:solidFill>
          <a:ln/>
        </p:spPr>
      </p:sp>
      <p:sp>
        <p:nvSpPr>
          <p:cNvPr id="107" name="Text 103"/>
          <p:cNvSpPr txBox="1"/>
          <p:nvPr/>
        </p:nvSpPr>
        <p:spPr>
          <a:xfrm>
            <a:off x="502920" y="3795776"/>
            <a:ext cx="548640" cy="25501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S-157</a:t>
            </a:r>
            <a:endParaRPr lang="en-US" sz="950" dirty="0"/>
          </a:p>
        </p:txBody>
      </p:sp>
      <p:sp>
        <p:nvSpPr>
          <p:cNvPr id="108" name="Shape 104"/>
          <p:cNvSpPr/>
          <p:nvPr/>
        </p:nvSpPr>
        <p:spPr>
          <a:xfrm>
            <a:off x="1069848" y="3814064"/>
            <a:ext cx="632079" cy="218440"/>
          </a:xfrm>
          <a:prstGeom prst="rect">
            <a:avLst/>
          </a:prstGeom>
          <a:solidFill>
            <a:srgbClr val="7FA6D6"/>
          </a:solidFill>
          <a:ln/>
        </p:spPr>
      </p:sp>
      <p:sp>
        <p:nvSpPr>
          <p:cNvPr id="109" name="Shape 105"/>
          <p:cNvSpPr/>
          <p:nvPr/>
        </p:nvSpPr>
        <p:spPr>
          <a:xfrm>
            <a:off x="1738503" y="3814064"/>
            <a:ext cx="632079" cy="218440"/>
          </a:xfrm>
          <a:prstGeom prst="rect">
            <a:avLst/>
          </a:prstGeom>
          <a:solidFill>
            <a:srgbClr val="7FA6D6"/>
          </a:solidFill>
          <a:ln/>
        </p:spPr>
      </p:sp>
      <p:sp>
        <p:nvSpPr>
          <p:cNvPr id="110" name="Shape 106"/>
          <p:cNvSpPr/>
          <p:nvPr/>
        </p:nvSpPr>
        <p:spPr>
          <a:xfrm>
            <a:off x="2407158" y="3814064"/>
            <a:ext cx="632079" cy="218440"/>
          </a:xfrm>
          <a:prstGeom prst="rect">
            <a:avLst/>
          </a:prstGeom>
          <a:solidFill>
            <a:srgbClr val="7FA6D6"/>
          </a:solidFill>
          <a:ln/>
        </p:spPr>
      </p:sp>
      <p:sp>
        <p:nvSpPr>
          <p:cNvPr id="111" name="Shape 107"/>
          <p:cNvSpPr/>
          <p:nvPr/>
        </p:nvSpPr>
        <p:spPr>
          <a:xfrm>
            <a:off x="3075813" y="3814064"/>
            <a:ext cx="632079" cy="218440"/>
          </a:xfrm>
          <a:prstGeom prst="rect">
            <a:avLst/>
          </a:prstGeom>
          <a:solidFill>
            <a:srgbClr val="7FA6D6"/>
          </a:solidFill>
          <a:ln/>
        </p:spPr>
      </p:sp>
      <p:sp>
        <p:nvSpPr>
          <p:cNvPr id="112" name="Shape 108"/>
          <p:cNvSpPr/>
          <p:nvPr/>
        </p:nvSpPr>
        <p:spPr>
          <a:xfrm>
            <a:off x="3744468" y="3814064"/>
            <a:ext cx="632079" cy="218440"/>
          </a:xfrm>
          <a:prstGeom prst="rect">
            <a:avLst/>
          </a:prstGeom>
          <a:solidFill>
            <a:srgbClr val="C9DBF0"/>
          </a:solidFill>
          <a:ln/>
        </p:spPr>
      </p:sp>
      <p:sp>
        <p:nvSpPr>
          <p:cNvPr id="113" name="Shape 109"/>
          <p:cNvSpPr/>
          <p:nvPr/>
        </p:nvSpPr>
        <p:spPr>
          <a:xfrm>
            <a:off x="4413123" y="3814064"/>
            <a:ext cx="632079" cy="218440"/>
          </a:xfrm>
          <a:prstGeom prst="rect">
            <a:avLst/>
          </a:prstGeom>
          <a:solidFill>
            <a:srgbClr val="7FA6D6"/>
          </a:solidFill>
          <a:ln/>
        </p:spPr>
      </p:sp>
      <p:sp>
        <p:nvSpPr>
          <p:cNvPr id="114" name="Shape 110"/>
          <p:cNvSpPr/>
          <p:nvPr/>
        </p:nvSpPr>
        <p:spPr>
          <a:xfrm>
            <a:off x="5081778" y="3814064"/>
            <a:ext cx="632079" cy="218440"/>
          </a:xfrm>
          <a:prstGeom prst="rect">
            <a:avLst/>
          </a:prstGeom>
          <a:solidFill>
            <a:srgbClr val="7FA6D6"/>
          </a:solidFill>
          <a:ln/>
        </p:spPr>
      </p:sp>
      <p:sp>
        <p:nvSpPr>
          <p:cNvPr id="115" name="Shape 111"/>
          <p:cNvSpPr/>
          <p:nvPr/>
        </p:nvSpPr>
        <p:spPr>
          <a:xfrm>
            <a:off x="5750433" y="3814064"/>
            <a:ext cx="632079" cy="218440"/>
          </a:xfrm>
          <a:prstGeom prst="rect">
            <a:avLst/>
          </a:prstGeom>
          <a:solidFill>
            <a:srgbClr val="7FA6D6"/>
          </a:solidFill>
          <a:ln/>
        </p:spPr>
      </p:sp>
      <p:sp>
        <p:nvSpPr>
          <p:cNvPr id="116" name="Shape 112"/>
          <p:cNvSpPr/>
          <p:nvPr/>
        </p:nvSpPr>
        <p:spPr>
          <a:xfrm>
            <a:off x="3730752" y="1737360"/>
            <a:ext cx="659511" cy="2331720"/>
          </a:xfrm>
          <a:prstGeom prst="roundRect">
            <a:avLst>
              <a:gd name="adj" fmla="val 8319"/>
            </a:avLst>
          </a:prstGeom>
          <a:ln w="25400">
            <a:solidFill>
              <a:srgbClr val="17325C"/>
            </a:solidFill>
            <a:prstDash val="solid"/>
          </a:ln>
        </p:spPr>
      </p:sp>
      <p:sp>
        <p:nvSpPr>
          <p:cNvPr id="117" name="Shape 113"/>
          <p:cNvSpPr/>
          <p:nvPr/>
        </p:nvSpPr>
        <p:spPr>
          <a:xfrm>
            <a:off x="521208" y="4187952"/>
            <a:ext cx="182880" cy="182880"/>
          </a:xfrm>
          <a:prstGeom prst="rect">
            <a:avLst/>
          </a:prstGeom>
          <a:solidFill>
            <a:srgbClr val="EEF2F7"/>
          </a:solidFill>
          <a:ln/>
        </p:spPr>
      </p:sp>
      <p:sp>
        <p:nvSpPr>
          <p:cNvPr id="118" name="Text 114"/>
          <p:cNvSpPr txBox="1"/>
          <p:nvPr/>
        </p:nvSpPr>
        <p:spPr>
          <a:xfrm>
            <a:off x="777240" y="4123944"/>
            <a:ext cx="1371600" cy="310896"/>
          </a:xfrm>
          <a:prstGeom prst="rect">
            <a:avLst/>
          </a:prstGeom>
          <a:noFill/>
          <a:ln/>
        </p:spPr>
        <p:txBody>
          <a:bodyPr wrap="square" lIns="0" tIns="0" rIns="0" bIns="0" rtlCol="0" anchor="ctr"/>
          <a:lstStyle/>
          <a:p>
            <a:pPr algn="l" indent="0" marL="0">
              <a:buNone/>
            </a:pPr>
            <a:r>
              <a:rPr lang="en-US" sz="1100" dirty="0">
                <a:solidFill>
                  <a:srgbClr val="5B6573"/>
                </a:solidFill>
                <a:latin typeface="Calibri" pitchFamily="34" charset="0"/>
                <a:ea typeface="Calibri" pitchFamily="34" charset="-122"/>
                <a:cs typeface="Calibri" pitchFamily="34" charset="-120"/>
              </a:rPr>
              <a:t>Not enough data</a:t>
            </a:r>
            <a:endParaRPr lang="en-US" sz="1100" dirty="0"/>
          </a:p>
        </p:txBody>
      </p:sp>
      <p:sp>
        <p:nvSpPr>
          <p:cNvPr id="119" name="Shape 115"/>
          <p:cNvSpPr/>
          <p:nvPr/>
        </p:nvSpPr>
        <p:spPr>
          <a:xfrm>
            <a:off x="2171700" y="4187952"/>
            <a:ext cx="182880" cy="182880"/>
          </a:xfrm>
          <a:prstGeom prst="rect">
            <a:avLst/>
          </a:prstGeom>
          <a:solidFill>
            <a:srgbClr val="C9DBF0"/>
          </a:solidFill>
          <a:ln/>
        </p:spPr>
      </p:sp>
      <p:sp>
        <p:nvSpPr>
          <p:cNvPr id="120" name="Text 116"/>
          <p:cNvSpPr txBox="1"/>
          <p:nvPr/>
        </p:nvSpPr>
        <p:spPr>
          <a:xfrm>
            <a:off x="2427732" y="4123944"/>
            <a:ext cx="1371600" cy="310896"/>
          </a:xfrm>
          <a:prstGeom prst="rect">
            <a:avLst/>
          </a:prstGeom>
          <a:noFill/>
          <a:ln/>
        </p:spPr>
        <p:txBody>
          <a:bodyPr wrap="square" lIns="0" tIns="0" rIns="0" bIns="0" rtlCol="0" anchor="ctr"/>
          <a:lstStyle/>
          <a:p>
            <a:pPr algn="l" indent="0" marL="0">
              <a:buNone/>
            </a:pPr>
            <a:r>
              <a:rPr lang="en-US" sz="1100" dirty="0">
                <a:solidFill>
                  <a:srgbClr val="5B6573"/>
                </a:solidFill>
                <a:latin typeface="Calibri" pitchFamily="34" charset="0"/>
                <a:ea typeface="Calibri" pitchFamily="34" charset="-122"/>
                <a:cs typeface="Calibri" pitchFamily="34" charset="-120"/>
              </a:rPr>
              <a:t>Building</a:t>
            </a:r>
            <a:endParaRPr lang="en-US" sz="1100" dirty="0"/>
          </a:p>
        </p:txBody>
      </p:sp>
      <p:sp>
        <p:nvSpPr>
          <p:cNvPr id="121" name="Shape 117"/>
          <p:cNvSpPr/>
          <p:nvPr/>
        </p:nvSpPr>
        <p:spPr>
          <a:xfrm>
            <a:off x="3278124" y="4187952"/>
            <a:ext cx="182880" cy="182880"/>
          </a:xfrm>
          <a:prstGeom prst="rect">
            <a:avLst/>
          </a:prstGeom>
          <a:solidFill>
            <a:srgbClr val="7FA6D6"/>
          </a:solidFill>
          <a:ln/>
        </p:spPr>
      </p:sp>
      <p:sp>
        <p:nvSpPr>
          <p:cNvPr id="122" name="Text 118"/>
          <p:cNvSpPr txBox="1"/>
          <p:nvPr/>
        </p:nvSpPr>
        <p:spPr>
          <a:xfrm>
            <a:off x="3534156" y="4123944"/>
            <a:ext cx="1371600" cy="310896"/>
          </a:xfrm>
          <a:prstGeom prst="rect">
            <a:avLst/>
          </a:prstGeom>
          <a:noFill/>
          <a:ln/>
        </p:spPr>
        <p:txBody>
          <a:bodyPr wrap="square" lIns="0" tIns="0" rIns="0" bIns="0" rtlCol="0" anchor="ctr"/>
          <a:lstStyle/>
          <a:p>
            <a:pPr algn="l" indent="0" marL="0">
              <a:buNone/>
            </a:pPr>
            <a:r>
              <a:rPr lang="en-US" sz="1100" dirty="0">
                <a:solidFill>
                  <a:srgbClr val="5B6573"/>
                </a:solidFill>
                <a:latin typeface="Calibri" pitchFamily="34" charset="0"/>
                <a:ea typeface="Calibri" pitchFamily="34" charset="-122"/>
                <a:cs typeface="Calibri" pitchFamily="34" charset="-120"/>
              </a:rPr>
              <a:t>Steady</a:t>
            </a:r>
            <a:endParaRPr lang="en-US" sz="1100" dirty="0"/>
          </a:p>
        </p:txBody>
      </p:sp>
      <p:sp>
        <p:nvSpPr>
          <p:cNvPr id="123" name="Shape 119"/>
          <p:cNvSpPr/>
          <p:nvPr/>
        </p:nvSpPr>
        <p:spPr>
          <a:xfrm>
            <a:off x="4229100" y="4187952"/>
            <a:ext cx="182880" cy="182880"/>
          </a:xfrm>
          <a:prstGeom prst="rect">
            <a:avLst/>
          </a:prstGeom>
          <a:solidFill>
            <a:srgbClr val="1F4A82"/>
          </a:solidFill>
          <a:ln/>
        </p:spPr>
      </p:sp>
      <p:sp>
        <p:nvSpPr>
          <p:cNvPr id="124" name="Text 120"/>
          <p:cNvSpPr txBox="1"/>
          <p:nvPr/>
        </p:nvSpPr>
        <p:spPr>
          <a:xfrm>
            <a:off x="4485132" y="4123944"/>
            <a:ext cx="1371600" cy="310896"/>
          </a:xfrm>
          <a:prstGeom prst="rect">
            <a:avLst/>
          </a:prstGeom>
          <a:noFill/>
          <a:ln/>
        </p:spPr>
        <p:txBody>
          <a:bodyPr wrap="square" lIns="0" tIns="0" rIns="0" bIns="0" rtlCol="0" anchor="ctr"/>
          <a:lstStyle/>
          <a:p>
            <a:pPr algn="l" indent="0" marL="0">
              <a:buNone/>
            </a:pPr>
            <a:r>
              <a:rPr lang="en-US" sz="1100" dirty="0">
                <a:solidFill>
                  <a:srgbClr val="5B6573"/>
                </a:solidFill>
                <a:latin typeface="Calibri" pitchFamily="34" charset="0"/>
                <a:ea typeface="Calibri" pitchFamily="34" charset="-122"/>
                <a:cs typeface="Calibri" pitchFamily="34" charset="-120"/>
              </a:rPr>
              <a:t>Strong</a:t>
            </a:r>
            <a:endParaRPr lang="en-US" sz="1100" dirty="0"/>
          </a:p>
        </p:txBody>
      </p:sp>
      <p:sp>
        <p:nvSpPr>
          <p:cNvPr id="125" name="Shape 121"/>
          <p:cNvSpPr/>
          <p:nvPr/>
        </p:nvSpPr>
        <p:spPr>
          <a:xfrm>
            <a:off x="3657600" y="1115568"/>
            <a:ext cx="274320" cy="274320"/>
          </a:xfrm>
          <a:prstGeom prst="ellipse">
            <a:avLst/>
          </a:prstGeom>
          <a:solidFill>
            <a:srgbClr val="1F4A82"/>
          </a:solidFill>
          <a:ln w="19050">
            <a:solidFill>
              <a:srgbClr val="FFFFFF"/>
            </a:solidFill>
            <a:prstDash val="solid"/>
          </a:ln>
        </p:spPr>
      </p:sp>
      <p:sp>
        <p:nvSpPr>
          <p:cNvPr id="126" name="Text 122"/>
          <p:cNvSpPr txBox="1"/>
          <p:nvPr/>
        </p:nvSpPr>
        <p:spPr>
          <a:xfrm>
            <a:off x="3657600" y="11155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7" name="Text 123"/>
          <p:cNvSpPr txBox="1"/>
          <p:nvPr/>
        </p:nvSpPr>
        <p:spPr>
          <a:xfrm>
            <a:off x="3977640" y="1115568"/>
            <a:ext cx="2377440" cy="274320"/>
          </a:xfrm>
          <a:prstGeom prst="rect">
            <a:avLst/>
          </a:prstGeom>
          <a:noFill/>
          <a:ln/>
        </p:spPr>
        <p:txBody>
          <a:bodyPr wrap="square" lIns="0" tIns="0" rIns="0" bIns="0" rtlCol="0" anchor="ctr"/>
          <a:lstStyle/>
          <a:p>
            <a:pPr algn="l" indent="0" marL="0">
              <a:buNone/>
            </a:pPr>
            <a:r>
              <a:rPr lang="en-US" sz="900" b="1" dirty="0">
                <a:solidFill>
                  <a:srgbClr val="1F4A82"/>
                </a:solidFill>
                <a:latin typeface="Calibri" pitchFamily="34" charset="0"/>
                <a:ea typeface="Calibri" pitchFamily="34" charset="-122"/>
                <a:cs typeface="Calibri" pitchFamily="34" charset="-120"/>
              </a:rPr>
              <a:t>Pale column = topic probably not taught yet</a:t>
            </a:r>
            <a:endParaRPr lang="en-US" sz="900" dirty="0"/>
          </a:p>
        </p:txBody>
      </p:sp>
      <p:sp>
        <p:nvSpPr>
          <p:cNvPr id="128" name="Shape 124"/>
          <p:cNvSpPr/>
          <p:nvPr/>
        </p:nvSpPr>
        <p:spPr>
          <a:xfrm>
            <a:off x="6675120" y="1188720"/>
            <a:ext cx="256032" cy="256032"/>
          </a:xfrm>
          <a:prstGeom prst="rect">
            <a:avLst/>
          </a:prstGeom>
          <a:solidFill>
            <a:srgbClr val="1F4A82"/>
          </a:solidFill>
          <a:ln/>
        </p:spPr>
      </p:sp>
      <p:sp>
        <p:nvSpPr>
          <p:cNvPr id="129" name="Text 125"/>
          <p:cNvSpPr txBox="1"/>
          <p:nvPr/>
        </p:nvSpPr>
        <p:spPr>
          <a:xfrm>
            <a:off x="6675120" y="1188720"/>
            <a:ext cx="256032" cy="256032"/>
          </a:xfrm>
          <a:prstGeom prst="rect">
            <a:avLst/>
          </a:prstGeom>
          <a:noFill/>
          <a:ln/>
        </p:spPr>
        <p:txBody>
          <a:bodyPr wrap="square" lIns="0" tIns="0" rIns="0" bIns="0" rtlCol="0" anchor="ctr"/>
          <a:lstStyle/>
          <a:p>
            <a:pPr algn="ctr" indent="0" marL="0">
              <a:buNone/>
            </a:pPr>
            <a:endParaRPr lang="en-US" sz="1150" dirty="0"/>
          </a:p>
        </p:txBody>
      </p:sp>
      <p:sp>
        <p:nvSpPr>
          <p:cNvPr id="130" name="Text 126"/>
          <p:cNvSpPr txBox="1"/>
          <p:nvPr/>
        </p:nvSpPr>
        <p:spPr>
          <a:xfrm>
            <a:off x="7004304" y="1188720"/>
            <a:ext cx="474573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HOW IT WORKS, IN PLAIN ENGLISH</a:t>
            </a:r>
            <a:endParaRPr lang="en-US" sz="1200" dirty="0"/>
          </a:p>
        </p:txBody>
      </p:sp>
      <p:sp>
        <p:nvSpPr>
          <p:cNvPr id="131" name="Shape 127"/>
          <p:cNvSpPr/>
          <p:nvPr/>
        </p:nvSpPr>
        <p:spPr>
          <a:xfrm>
            <a:off x="6675120" y="1572768"/>
            <a:ext cx="5102352" cy="658368"/>
          </a:xfrm>
          <a:prstGeom prst="rect">
            <a:avLst/>
          </a:prstGeom>
          <a:solidFill>
            <a:srgbClr val="F4F7FB"/>
          </a:solidFill>
          <a:ln w="12700">
            <a:solidFill>
              <a:srgbClr val="C9D6E8"/>
            </a:solidFill>
            <a:prstDash val="solid"/>
          </a:ln>
        </p:spPr>
      </p:sp>
      <p:sp>
        <p:nvSpPr>
          <p:cNvPr id="132" name="Shape 128"/>
          <p:cNvSpPr/>
          <p:nvPr/>
        </p:nvSpPr>
        <p:spPr>
          <a:xfrm>
            <a:off x="6675120" y="1572768"/>
            <a:ext cx="548640" cy="658368"/>
          </a:xfrm>
          <a:prstGeom prst="rect">
            <a:avLst/>
          </a:prstGeom>
          <a:solidFill>
            <a:srgbClr val="1F4A82"/>
          </a:solidFill>
          <a:ln/>
        </p:spPr>
      </p:sp>
      <p:sp>
        <p:nvSpPr>
          <p:cNvPr id="133" name="Text 129"/>
          <p:cNvSpPr txBox="1"/>
          <p:nvPr/>
        </p:nvSpPr>
        <p:spPr>
          <a:xfrm>
            <a:off x="6675120" y="1572768"/>
            <a:ext cx="548640"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34" name="Text 130"/>
          <p:cNvSpPr txBox="1"/>
          <p:nvPr/>
        </p:nvSpPr>
        <p:spPr>
          <a:xfrm>
            <a:off x="7360920" y="1572768"/>
            <a:ext cx="4343400" cy="658368"/>
          </a:xfrm>
          <a:prstGeom prst="rect">
            <a:avLst/>
          </a:prstGeom>
          <a:noFill/>
          <a:ln/>
        </p:spPr>
        <p:txBody>
          <a:bodyPr wrap="square" lIns="0" tIns="0" rIns="0" bIns="0" rtlCol="0" anchor="ctr"/>
          <a:lstStyle/>
          <a:p>
            <a:pPr algn="l" indent="0" marL="0">
              <a:buNone/>
            </a:pPr>
            <a:r>
              <a:rPr lang="en-US" sz="1250" b="1" dirty="0">
                <a:solidFill>
                  <a:srgbClr val="17325C"/>
                </a:solidFill>
                <a:latin typeface="Calibri" pitchFamily="34" charset="0"/>
                <a:ea typeface="Calibri" pitchFamily="34" charset="-122"/>
                <a:cs typeface="Calibri" pitchFamily="34" charset="-120"/>
              </a:rPr>
              <a:t>Rates how hard every question is</a:t>
            </a:r>
            <a:endParaRPr lang="en-US" sz="1400" dirty="0"/>
          </a:p>
          <a:p>
            <a:pPr algn="l" indent="0" marL="0">
              <a:buNone/>
            </a:pPr>
            <a:r>
              <a:rPr lang="en-US" sz="950" i="1" dirty="0">
                <a:solidFill>
                  <a:srgbClr val="5B6573"/>
                </a:solidFill>
                <a:latin typeface="Calibri" pitchFamily="34" charset="0"/>
                <a:ea typeface="Calibri" pitchFamily="34" charset="-122"/>
                <a:cs typeface="Calibri" pitchFamily="34" charset="-120"/>
              </a:rPr>
              <a:t>2-parameter IRT, guessing prior</a:t>
            </a:r>
            <a:endParaRPr lang="en-US" sz="1400" dirty="0"/>
          </a:p>
        </p:txBody>
      </p:sp>
      <p:sp>
        <p:nvSpPr>
          <p:cNvPr id="135" name="Shape 131"/>
          <p:cNvSpPr/>
          <p:nvPr/>
        </p:nvSpPr>
        <p:spPr>
          <a:xfrm>
            <a:off x="6675120" y="2304288"/>
            <a:ext cx="5102352" cy="658368"/>
          </a:xfrm>
          <a:prstGeom prst="rect">
            <a:avLst/>
          </a:prstGeom>
          <a:solidFill>
            <a:srgbClr val="FFFFFF"/>
          </a:solidFill>
          <a:ln w="12700">
            <a:solidFill>
              <a:srgbClr val="C9D6E8"/>
            </a:solidFill>
            <a:prstDash val="solid"/>
          </a:ln>
        </p:spPr>
      </p:sp>
      <p:sp>
        <p:nvSpPr>
          <p:cNvPr id="136" name="Shape 132"/>
          <p:cNvSpPr/>
          <p:nvPr/>
        </p:nvSpPr>
        <p:spPr>
          <a:xfrm>
            <a:off x="6675120" y="2304288"/>
            <a:ext cx="548640" cy="658368"/>
          </a:xfrm>
          <a:prstGeom prst="rect">
            <a:avLst/>
          </a:prstGeom>
          <a:solidFill>
            <a:srgbClr val="1F4A82"/>
          </a:solidFill>
          <a:ln/>
        </p:spPr>
      </p:sp>
      <p:sp>
        <p:nvSpPr>
          <p:cNvPr id="137" name="Text 133"/>
          <p:cNvSpPr txBox="1"/>
          <p:nvPr/>
        </p:nvSpPr>
        <p:spPr>
          <a:xfrm>
            <a:off x="6675120" y="2304288"/>
            <a:ext cx="548640"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8" name="Text 134"/>
          <p:cNvSpPr txBox="1"/>
          <p:nvPr/>
        </p:nvSpPr>
        <p:spPr>
          <a:xfrm>
            <a:off x="7360920" y="2304288"/>
            <a:ext cx="4343400" cy="658368"/>
          </a:xfrm>
          <a:prstGeom prst="rect">
            <a:avLst/>
          </a:prstGeom>
          <a:noFill/>
          <a:ln/>
        </p:spPr>
        <p:txBody>
          <a:bodyPr wrap="square" lIns="0" tIns="0" rIns="0" bIns="0" rtlCol="0" anchor="ctr"/>
          <a:lstStyle/>
          <a:p>
            <a:pPr algn="l" indent="0" marL="0">
              <a:buNone/>
            </a:pPr>
            <a:r>
              <a:rPr lang="en-US" sz="1250" b="1" dirty="0">
                <a:solidFill>
                  <a:srgbClr val="17325C"/>
                </a:solidFill>
                <a:latin typeface="Calibri" pitchFamily="34" charset="0"/>
                <a:ea typeface="Calibri" pitchFamily="34" charset="-122"/>
                <a:cs typeface="Calibri" pitchFamily="34" charset="-120"/>
              </a:rPr>
              <a:t>Estimates mastery per topic, with doubt</a:t>
            </a:r>
            <a:endParaRPr lang="en-US" sz="1400" dirty="0"/>
          </a:p>
          <a:p>
            <a:pPr algn="l" indent="0" marL="0">
              <a:buNone/>
            </a:pPr>
            <a:r>
              <a:rPr lang="en-US" sz="950" i="1" dirty="0">
                <a:solidFill>
                  <a:srgbClr val="5B6573"/>
                </a:solidFill>
                <a:latin typeface="Calibri" pitchFamily="34" charset="0"/>
                <a:ea typeface="Calibri" pitchFamily="34" charset="-122"/>
                <a:cs typeface="Calibri" pitchFamily="34" charset="-120"/>
              </a:rPr>
              <a:t>Per-topic ability, shrunk to the batch</a:t>
            </a:r>
            <a:endParaRPr lang="en-US" sz="1400" dirty="0"/>
          </a:p>
        </p:txBody>
      </p:sp>
      <p:sp>
        <p:nvSpPr>
          <p:cNvPr id="139" name="Shape 135"/>
          <p:cNvSpPr/>
          <p:nvPr/>
        </p:nvSpPr>
        <p:spPr>
          <a:xfrm>
            <a:off x="6675120" y="3035808"/>
            <a:ext cx="5102352" cy="658368"/>
          </a:xfrm>
          <a:prstGeom prst="rect">
            <a:avLst/>
          </a:prstGeom>
          <a:solidFill>
            <a:srgbClr val="F4F7FB"/>
          </a:solidFill>
          <a:ln w="12700">
            <a:solidFill>
              <a:srgbClr val="C9D6E8"/>
            </a:solidFill>
            <a:prstDash val="solid"/>
          </a:ln>
        </p:spPr>
      </p:sp>
      <p:sp>
        <p:nvSpPr>
          <p:cNvPr id="140" name="Shape 136"/>
          <p:cNvSpPr/>
          <p:nvPr/>
        </p:nvSpPr>
        <p:spPr>
          <a:xfrm>
            <a:off x="6675120" y="3035808"/>
            <a:ext cx="548640" cy="658368"/>
          </a:xfrm>
          <a:prstGeom prst="rect">
            <a:avLst/>
          </a:prstGeom>
          <a:solidFill>
            <a:srgbClr val="1F4A82"/>
          </a:solidFill>
          <a:ln/>
        </p:spPr>
      </p:sp>
      <p:sp>
        <p:nvSpPr>
          <p:cNvPr id="141" name="Text 137"/>
          <p:cNvSpPr txBox="1"/>
          <p:nvPr/>
        </p:nvSpPr>
        <p:spPr>
          <a:xfrm>
            <a:off x="6675120" y="3035808"/>
            <a:ext cx="548640"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2" name="Text 138"/>
          <p:cNvSpPr txBox="1"/>
          <p:nvPr/>
        </p:nvSpPr>
        <p:spPr>
          <a:xfrm>
            <a:off x="7360920" y="3035808"/>
            <a:ext cx="4343400" cy="658368"/>
          </a:xfrm>
          <a:prstGeom prst="rect">
            <a:avLst/>
          </a:prstGeom>
          <a:noFill/>
          <a:ln/>
        </p:spPr>
        <p:txBody>
          <a:bodyPr wrap="square" lIns="0" tIns="0" rIns="0" bIns="0" rtlCol="0" anchor="ctr"/>
          <a:lstStyle/>
          <a:p>
            <a:pPr algn="l" indent="0" marL="0">
              <a:buNone/>
            </a:pPr>
            <a:r>
              <a:rPr lang="en-US" sz="1250" b="1" dirty="0">
                <a:solidFill>
                  <a:srgbClr val="17325C"/>
                </a:solidFill>
                <a:latin typeface="Calibri" pitchFamily="34" charset="0"/>
                <a:ea typeface="Calibri" pitchFamily="34" charset="-122"/>
                <a:cs typeface="Calibri" pitchFamily="34" charset="-120"/>
              </a:rPr>
              <a:t>Says “not enough data” when unsure</a:t>
            </a:r>
            <a:endParaRPr lang="en-US" sz="1400" dirty="0"/>
          </a:p>
          <a:p>
            <a:pPr algn="l" indent="0" marL="0">
              <a:buNone/>
            </a:pPr>
            <a:r>
              <a:rPr lang="en-US" sz="950" i="1" dirty="0">
                <a:solidFill>
                  <a:srgbClr val="5B6573"/>
                </a:solidFill>
                <a:latin typeface="Calibri" pitchFamily="34" charset="0"/>
                <a:ea typeface="Calibri" pitchFamily="34" charset="-122"/>
                <a:cs typeface="Calibri" pitchFamily="34" charset="-120"/>
              </a:rPr>
              <a:t>Uncertainty gate on every band</a:t>
            </a:r>
            <a:endParaRPr lang="en-US" sz="1400" dirty="0"/>
          </a:p>
        </p:txBody>
      </p:sp>
      <p:sp>
        <p:nvSpPr>
          <p:cNvPr id="143" name="Shape 139"/>
          <p:cNvSpPr/>
          <p:nvPr/>
        </p:nvSpPr>
        <p:spPr>
          <a:xfrm>
            <a:off x="6675120" y="3767328"/>
            <a:ext cx="5102352" cy="658368"/>
          </a:xfrm>
          <a:prstGeom prst="rect">
            <a:avLst/>
          </a:prstGeom>
          <a:solidFill>
            <a:srgbClr val="FFFFFF"/>
          </a:solidFill>
          <a:ln w="12700">
            <a:solidFill>
              <a:srgbClr val="C9D6E8"/>
            </a:solidFill>
            <a:prstDash val="solid"/>
          </a:ln>
        </p:spPr>
      </p:sp>
      <p:sp>
        <p:nvSpPr>
          <p:cNvPr id="144" name="Shape 140"/>
          <p:cNvSpPr/>
          <p:nvPr/>
        </p:nvSpPr>
        <p:spPr>
          <a:xfrm>
            <a:off x="6675120" y="3767328"/>
            <a:ext cx="548640" cy="658368"/>
          </a:xfrm>
          <a:prstGeom prst="rect">
            <a:avLst/>
          </a:prstGeom>
          <a:solidFill>
            <a:srgbClr val="1F4A82"/>
          </a:solidFill>
          <a:ln/>
        </p:spPr>
      </p:sp>
      <p:sp>
        <p:nvSpPr>
          <p:cNvPr id="145" name="Text 141"/>
          <p:cNvSpPr txBox="1"/>
          <p:nvPr/>
        </p:nvSpPr>
        <p:spPr>
          <a:xfrm>
            <a:off x="6675120" y="3767328"/>
            <a:ext cx="548640"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46" name="Text 142"/>
          <p:cNvSpPr txBox="1"/>
          <p:nvPr/>
        </p:nvSpPr>
        <p:spPr>
          <a:xfrm>
            <a:off x="7360920" y="3767328"/>
            <a:ext cx="4343400" cy="658368"/>
          </a:xfrm>
          <a:prstGeom prst="rect">
            <a:avLst/>
          </a:prstGeom>
          <a:noFill/>
          <a:ln/>
        </p:spPr>
        <p:txBody>
          <a:bodyPr wrap="square" lIns="0" tIns="0" rIns="0" bIns="0" rtlCol="0" anchor="ctr"/>
          <a:lstStyle/>
          <a:p>
            <a:pPr algn="l" indent="0" marL="0">
              <a:buNone/>
            </a:pPr>
            <a:r>
              <a:rPr lang="en-US" sz="1250" b="1" dirty="0">
                <a:solidFill>
                  <a:srgbClr val="17325C"/>
                </a:solidFill>
                <a:latin typeface="Calibri" pitchFamily="34" charset="0"/>
                <a:ea typeface="Calibri" pitchFamily="34" charset="-122"/>
                <a:cs typeface="Calibri" pitchFamily="34" charset="-120"/>
              </a:rPr>
              <a:t>Flags a likely wrong answer key</a:t>
            </a:r>
            <a:endParaRPr lang="en-US" sz="1400" dirty="0"/>
          </a:p>
          <a:p>
            <a:pPr algn="l" indent="0" marL="0">
              <a:buNone/>
            </a:pPr>
            <a:r>
              <a:rPr lang="en-US" sz="950" i="1" dirty="0">
                <a:solidFill>
                  <a:srgbClr val="5B6573"/>
                </a:solidFill>
                <a:latin typeface="Calibri" pitchFamily="34" charset="0"/>
                <a:ea typeface="Calibri" pitchFamily="34" charset="-122"/>
                <a:cs typeface="Calibri" pitchFamily="34" charset="-120"/>
              </a:rPr>
              <a:t>Negative-discrimination detector</a:t>
            </a:r>
            <a:endParaRPr lang="en-US" sz="1400" dirty="0"/>
          </a:p>
        </p:txBody>
      </p:sp>
      <p:sp>
        <p:nvSpPr>
          <p:cNvPr id="147" name="Shape 143"/>
          <p:cNvSpPr/>
          <p:nvPr/>
        </p:nvSpPr>
        <p:spPr>
          <a:xfrm>
            <a:off x="6675120" y="4553712"/>
            <a:ext cx="5102352" cy="329184"/>
          </a:xfrm>
          <a:prstGeom prst="rect">
            <a:avLst/>
          </a:prstGeom>
          <a:solidFill>
            <a:srgbClr val="E3ECF7"/>
          </a:solidFill>
          <a:ln/>
        </p:spPr>
      </p:sp>
      <p:sp>
        <p:nvSpPr>
          <p:cNvPr id="148" name="Text 144"/>
          <p:cNvSpPr txBox="1"/>
          <p:nvPr/>
        </p:nvSpPr>
        <p:spPr>
          <a:xfrm>
            <a:off x="6766560" y="4553712"/>
            <a:ext cx="4937760" cy="329184"/>
          </a:xfrm>
          <a:prstGeom prst="rect">
            <a:avLst/>
          </a:prstGeom>
          <a:noFill/>
          <a:ln/>
        </p:spPr>
        <p:txBody>
          <a:bodyPr wrap="square" lIns="0" tIns="0" rIns="0" bIns="0" rtlCol="0" anchor="ctr"/>
          <a:lstStyle/>
          <a:p>
            <a:pPr algn="l" indent="0" marL="0">
              <a:buNone/>
            </a:pPr>
            <a:r>
              <a:rPr lang="en-US" sz="1000" b="1" dirty="0">
                <a:solidFill>
                  <a:srgbClr val="1F4A82"/>
                </a:solidFill>
                <a:latin typeface="Calibri" pitchFamily="34" charset="0"/>
                <a:ea typeface="Calibri" pitchFamily="34" charset="-122"/>
                <a:cs typeface="Calibri" pitchFamily="34" charset="-120"/>
              </a:rPr>
              <a:t>Works with small batches: question difficulty pooled across institutes</a:t>
            </a:r>
            <a:endParaRPr lang="en-US" sz="1000" dirty="0"/>
          </a:p>
        </p:txBody>
      </p:sp>
      <p:pic>
        <p:nvPicPr>
          <p:cNvPr id="149" name="Image 1" descr="Next-answer accuracy: ours vs published">    </p:cNvPr>
          <p:cNvPicPr>
            <a:picLocks noChangeAspect="1"/>
          </p:cNvPicPr>
          <p:nvPr/>
        </p:nvPicPr>
        <p:blipFill>
          <a:blip r:embed="rId2"/>
          <a:stretch>
            <a:fillRect/>
          </a:stretch>
        </p:blipFill>
        <p:spPr>
          <a:xfrm>
            <a:off x="411480" y="4572000"/>
            <a:ext cx="2743200" cy="1700784"/>
          </a:xfrm>
          <a:prstGeom prst="rect">
            <a:avLst/>
          </a:prstGeom>
        </p:spPr>
      </p:pic>
      <p:sp>
        <p:nvSpPr>
          <p:cNvPr id="150" name="Shape 145"/>
          <p:cNvSpPr/>
          <p:nvPr/>
        </p:nvSpPr>
        <p:spPr>
          <a:xfrm>
            <a:off x="3291840" y="4590288"/>
            <a:ext cx="992124" cy="219456"/>
          </a:xfrm>
          <a:prstGeom prst="roundRect">
            <a:avLst>
              <a:gd name="adj" fmla="val 50000"/>
            </a:avLst>
          </a:prstGeom>
          <a:solidFill>
            <a:srgbClr val="FFFFFF"/>
          </a:solidFill>
          <a:ln w="12700">
            <a:solidFill>
              <a:srgbClr val="1F4A82"/>
            </a:solidFill>
            <a:prstDash val="solid"/>
          </a:ln>
        </p:spPr>
      </p:sp>
      <p:sp>
        <p:nvSpPr>
          <p:cNvPr id="151" name="Text 146"/>
          <p:cNvSpPr txBox="1"/>
          <p:nvPr/>
        </p:nvSpPr>
        <p:spPr>
          <a:xfrm>
            <a:off x="3291840" y="4590288"/>
            <a:ext cx="992124" cy="219456"/>
          </a:xfrm>
          <a:prstGeom prst="rect">
            <a:avLst/>
          </a:prstGeom>
          <a:noFill/>
          <a:ln/>
        </p:spPr>
        <p:txBody>
          <a:bodyPr wrap="square" lIns="0" tIns="0" rIns="0" bIns="0" rtlCol="0" anchor="ctr"/>
          <a:lstStyle/>
          <a:p>
            <a:pPr algn="ctr" indent="0" marL="0">
              <a:buNone/>
            </a:pPr>
            <a:r>
              <a:rPr lang="en-US" sz="900" b="1" spc="100" kern="0" dirty="0">
                <a:solidFill>
                  <a:srgbClr val="1F4A82"/>
                </a:solidFill>
                <a:latin typeface="Calibri" pitchFamily="34" charset="0"/>
                <a:ea typeface="Calibri" pitchFamily="34" charset="-122"/>
                <a:cs typeface="Calibri" pitchFamily="34" charset="-120"/>
              </a:rPr>
              <a:t>PUBLIC DATA</a:t>
            </a:r>
            <a:endParaRPr lang="en-US" sz="900" dirty="0"/>
          </a:p>
        </p:txBody>
      </p:sp>
      <p:sp>
        <p:nvSpPr>
          <p:cNvPr id="152" name="Text 147"/>
          <p:cNvSpPr txBox="1"/>
          <p:nvPr/>
        </p:nvSpPr>
        <p:spPr>
          <a:xfrm>
            <a:off x="3291840" y="4864608"/>
            <a:ext cx="3108960" cy="1417320"/>
          </a:xfrm>
          <a:prstGeom prst="rect">
            <a:avLst/>
          </a:prstGeom>
          <a:noFill/>
          <a:ln/>
        </p:spPr>
        <p:txBody>
          <a:bodyPr wrap="square" lIns="0" tIns="0" rIns="0" bIns="0" rtlCol="0" anchor="t"/>
          <a:lstStyle/>
          <a:p>
            <a:pPr algn="l" indent="0" marL="0">
              <a:buNone/>
            </a:pPr>
            <a:r>
              <a:rPr lang="en-US" sz="2200" b="1" dirty="0">
                <a:solidFill>
                  <a:srgbClr val="1F4A82"/>
                </a:solidFill>
                <a:latin typeface="Calibri" pitchFamily="34" charset="0"/>
                <a:ea typeface="Calibri" pitchFamily="34" charset="-122"/>
                <a:cs typeface="Calibri" pitchFamily="34" charset="-120"/>
              </a:rPr>
              <a:t>0.76 vs 0.75</a:t>
            </a:r>
            <a:endParaRPr lang="en-US" sz="1400" dirty="0"/>
          </a:p>
          <a:p>
            <a:pPr algn="l" indent="0" marL="0">
              <a:buNone/>
            </a:pPr>
            <a:r>
              <a:rPr lang="en-US" sz="950" dirty="0">
                <a:solidFill>
                  <a:srgbClr val="1F2937"/>
                </a:solidFill>
                <a:latin typeface="Calibri" pitchFamily="34" charset="0"/>
                <a:ea typeface="Calibri" pitchFamily="34" charset="-122"/>
                <a:cs typeface="Calibri" pitchFamily="34" charset="-120"/>
              </a:rPr>
              <a:t>Accuracy on 770 unseen students, public data. Published rival AKT scores higher (0.785); we say so.</a:t>
            </a:r>
            <a:endParaRPr lang="en-US" sz="1400" dirty="0"/>
          </a:p>
        </p:txBody>
      </p:sp>
      <p:sp>
        <p:nvSpPr>
          <p:cNvPr id="153" name="Text 148"/>
          <p:cNvSpPr txBox="1"/>
          <p:nvPr/>
        </p:nvSpPr>
        <p:spPr>
          <a:xfrm>
            <a:off x="6675120" y="5029200"/>
            <a:ext cx="5029200" cy="219456"/>
          </a:xfrm>
          <a:prstGeom prst="rect">
            <a:avLst/>
          </a:prstGeom>
          <a:noFill/>
          <a:ln/>
        </p:spPr>
        <p:txBody>
          <a:bodyPr wrap="square" lIns="0" tIns="0" rIns="0" bIns="0" rtlCol="0" anchor="t"/>
          <a:lstStyle/>
          <a:p>
            <a:pPr algn="l" indent="0" marL="0">
              <a:buNone/>
            </a:pPr>
            <a:r>
              <a:rPr lang="en-US" sz="950" b="1" spc="100" kern="0" dirty="0">
                <a:solidFill>
                  <a:srgbClr val="5B6573"/>
                </a:solidFill>
                <a:latin typeface="Calibri" pitchFamily="34" charset="0"/>
                <a:ea typeface="Calibri" pitchFamily="34" charset="-122"/>
                <a:cs typeface="Calibri" pitchFamily="34" charset="-120"/>
              </a:rPr>
              <a:t>SYNTHETIC-DATA GATES</a:t>
            </a:r>
            <a:endParaRPr lang="en-US" sz="950" dirty="0"/>
          </a:p>
        </p:txBody>
      </p:sp>
      <p:sp>
        <p:nvSpPr>
          <p:cNvPr id="154" name="Text 149"/>
          <p:cNvSpPr txBox="1"/>
          <p:nvPr/>
        </p:nvSpPr>
        <p:spPr>
          <a:xfrm>
            <a:off x="6675120" y="5285232"/>
            <a:ext cx="3566160" cy="30175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Question difficulty recovered</a:t>
            </a:r>
            <a:endParaRPr lang="en-US" sz="1050" dirty="0"/>
          </a:p>
        </p:txBody>
      </p:sp>
      <p:sp>
        <p:nvSpPr>
          <p:cNvPr id="155" name="Shape 150"/>
          <p:cNvSpPr/>
          <p:nvPr/>
        </p:nvSpPr>
        <p:spPr>
          <a:xfrm>
            <a:off x="10561320" y="5330952"/>
            <a:ext cx="664464" cy="201168"/>
          </a:xfrm>
          <a:prstGeom prst="roundRect">
            <a:avLst>
              <a:gd name="adj" fmla="val 50000"/>
            </a:avLst>
          </a:prstGeom>
          <a:solidFill>
            <a:srgbClr val="D4A24C"/>
          </a:solidFill>
          <a:ln/>
        </p:spPr>
      </p:sp>
      <p:sp>
        <p:nvSpPr>
          <p:cNvPr id="156" name="Text 151"/>
          <p:cNvSpPr txBox="1"/>
          <p:nvPr/>
        </p:nvSpPr>
        <p:spPr>
          <a:xfrm>
            <a:off x="10561320" y="5330952"/>
            <a:ext cx="664464" cy="201168"/>
          </a:xfrm>
          <a:prstGeom prst="rect">
            <a:avLst/>
          </a:prstGeom>
          <a:noFill/>
          <a:ln/>
        </p:spPr>
        <p:txBody>
          <a:bodyPr wrap="square" lIns="0" tIns="0" rIns="0" bIns="0" rtlCol="0" anchor="ctr"/>
          <a:lstStyle/>
          <a:p>
            <a:pPr algn="ctr" indent="0" marL="0">
              <a:buNone/>
            </a:pPr>
            <a:r>
              <a:rPr lang="en-US" sz="800" b="1" spc="100" kern="0" dirty="0">
                <a:solidFill>
                  <a:srgbClr val="17325C"/>
                </a:solidFill>
                <a:latin typeface="Calibri" pitchFamily="34" charset="0"/>
                <a:ea typeface="Calibri" pitchFamily="34" charset="-122"/>
                <a:cs typeface="Calibri" pitchFamily="34" charset="-120"/>
              </a:rPr>
              <a:t>PENDING</a:t>
            </a:r>
            <a:endParaRPr lang="en-US" sz="800" dirty="0"/>
          </a:p>
        </p:txBody>
      </p:sp>
      <p:sp>
        <p:nvSpPr>
          <p:cNvPr id="157" name="Text 152"/>
          <p:cNvSpPr txBox="1"/>
          <p:nvPr/>
        </p:nvSpPr>
        <p:spPr>
          <a:xfrm>
            <a:off x="6675120" y="5623560"/>
            <a:ext cx="3566160" cy="30175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Wrong keys caught, few false alarms</a:t>
            </a:r>
            <a:endParaRPr lang="en-US" sz="1050" dirty="0"/>
          </a:p>
        </p:txBody>
      </p:sp>
      <p:sp>
        <p:nvSpPr>
          <p:cNvPr id="158" name="Shape 153"/>
          <p:cNvSpPr/>
          <p:nvPr/>
        </p:nvSpPr>
        <p:spPr>
          <a:xfrm>
            <a:off x="10561320" y="5669280"/>
            <a:ext cx="664464" cy="201168"/>
          </a:xfrm>
          <a:prstGeom prst="roundRect">
            <a:avLst>
              <a:gd name="adj" fmla="val 50000"/>
            </a:avLst>
          </a:prstGeom>
          <a:solidFill>
            <a:srgbClr val="D4A24C"/>
          </a:solidFill>
          <a:ln/>
        </p:spPr>
      </p:sp>
      <p:sp>
        <p:nvSpPr>
          <p:cNvPr id="159" name="Text 154"/>
          <p:cNvSpPr txBox="1"/>
          <p:nvPr/>
        </p:nvSpPr>
        <p:spPr>
          <a:xfrm>
            <a:off x="10561320" y="5669280"/>
            <a:ext cx="664464" cy="201168"/>
          </a:xfrm>
          <a:prstGeom prst="rect">
            <a:avLst/>
          </a:prstGeom>
          <a:noFill/>
          <a:ln/>
        </p:spPr>
        <p:txBody>
          <a:bodyPr wrap="square" lIns="0" tIns="0" rIns="0" bIns="0" rtlCol="0" anchor="ctr"/>
          <a:lstStyle/>
          <a:p>
            <a:pPr algn="ctr" indent="0" marL="0">
              <a:buNone/>
            </a:pPr>
            <a:r>
              <a:rPr lang="en-US" sz="800" b="1" spc="100" kern="0" dirty="0">
                <a:solidFill>
                  <a:srgbClr val="17325C"/>
                </a:solidFill>
                <a:latin typeface="Calibri" pitchFamily="34" charset="0"/>
                <a:ea typeface="Calibri" pitchFamily="34" charset="-122"/>
                <a:cs typeface="Calibri" pitchFamily="34" charset="-120"/>
              </a:rPr>
              <a:t>PENDING</a:t>
            </a:r>
            <a:endParaRPr lang="en-US" sz="800" dirty="0"/>
          </a:p>
        </p:txBody>
      </p:sp>
      <p:sp>
        <p:nvSpPr>
          <p:cNvPr id="160" name="Text 155"/>
          <p:cNvSpPr txBox="1"/>
          <p:nvPr/>
        </p:nvSpPr>
        <p:spPr>
          <a:xfrm>
            <a:off x="6675120" y="5961888"/>
            <a:ext cx="3566160" cy="30175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Mastery beats raw % correct</a:t>
            </a:r>
            <a:endParaRPr lang="en-US" sz="1050" dirty="0"/>
          </a:p>
        </p:txBody>
      </p:sp>
      <p:sp>
        <p:nvSpPr>
          <p:cNvPr id="161" name="Shape 156"/>
          <p:cNvSpPr/>
          <p:nvPr/>
        </p:nvSpPr>
        <p:spPr>
          <a:xfrm>
            <a:off x="10561320" y="6007608"/>
            <a:ext cx="664464" cy="201168"/>
          </a:xfrm>
          <a:prstGeom prst="roundRect">
            <a:avLst>
              <a:gd name="adj" fmla="val 50000"/>
            </a:avLst>
          </a:prstGeom>
          <a:solidFill>
            <a:srgbClr val="D4A24C"/>
          </a:solidFill>
          <a:ln/>
        </p:spPr>
      </p:sp>
      <p:sp>
        <p:nvSpPr>
          <p:cNvPr id="162" name="Text 157"/>
          <p:cNvSpPr txBox="1"/>
          <p:nvPr/>
        </p:nvSpPr>
        <p:spPr>
          <a:xfrm>
            <a:off x="10561320" y="6007608"/>
            <a:ext cx="664464" cy="201168"/>
          </a:xfrm>
          <a:prstGeom prst="rect">
            <a:avLst/>
          </a:prstGeom>
          <a:noFill/>
          <a:ln/>
        </p:spPr>
        <p:txBody>
          <a:bodyPr wrap="square" lIns="0" tIns="0" rIns="0" bIns="0" rtlCol="0" anchor="ctr"/>
          <a:lstStyle/>
          <a:p>
            <a:pPr algn="ctr" indent="0" marL="0">
              <a:buNone/>
            </a:pPr>
            <a:r>
              <a:rPr lang="en-US" sz="800" b="1" spc="100" kern="0" dirty="0">
                <a:solidFill>
                  <a:srgbClr val="17325C"/>
                </a:solidFill>
                <a:latin typeface="Calibri" pitchFamily="34" charset="0"/>
                <a:ea typeface="Calibri" pitchFamily="34" charset="-122"/>
                <a:cs typeface="Calibri" pitchFamily="34" charset="-120"/>
              </a:rPr>
              <a:t>PENDING</a:t>
            </a:r>
            <a:endParaRPr lang="en-US" sz="800" dirty="0"/>
          </a:p>
        </p:txBody>
      </p:sp>
      <p:sp>
        <p:nvSpPr>
          <p:cNvPr id="163" name="Text 158"/>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(ASSISTments 2009, pyKT protocol, 770 held-out students; published DKT 0.754, SAKT 0.725, AKT 0.785); heat map is an illustrative mock-up. Gates pending Agent B.</a:t>
            </a:r>
            <a:endParaRPr lang="en-US" sz="850" dirty="0"/>
          </a:p>
        </p:txBody>
      </p:sp>
      <p:pic>
        <p:nvPicPr>
          <p:cNvPr id="165" name="Image 2" descr="FaClipboardList icon">    </p:cNvPr>
          <p:cNvPicPr>
            <a:picLocks noChangeAspect="1"/>
          </p:cNvPicPr>
          <p:nvPr/>
        </p:nvPicPr>
        <p:blipFill>
          <a:blip r:embed="rId3"/>
          <a:stretch>
            <a:fillRect/>
          </a:stretch>
        </p:blipFill>
        <p:spPr>
          <a:xfrm>
            <a:off x="521208" y="100584"/>
            <a:ext cx="182880" cy="182880"/>
          </a:xfrm>
          <a:prstGeom prst="rect">
            <a:avLst/>
          </a:prstGeom>
        </p:spPr>
      </p:pic>
      <p:pic>
        <p:nvPicPr>
          <p:cNvPr id="166" name="Image 3" descr="FaTriangleExclamation icon">    </p:cNvPr>
          <p:cNvPicPr>
            <a:picLocks noChangeAspect="1"/>
          </p:cNvPicPr>
          <p:nvPr/>
        </p:nvPicPr>
        <p:blipFill>
          <a:blip r:embed="rId4"/>
          <a:stretch>
            <a:fillRect/>
          </a:stretch>
        </p:blipFill>
        <p:spPr>
          <a:xfrm>
            <a:off x="2084032" y="100584"/>
            <a:ext cx="182880" cy="182880"/>
          </a:xfrm>
          <a:prstGeom prst="rect">
            <a:avLst/>
          </a:prstGeom>
        </p:spPr>
      </p:pic>
      <p:pic>
        <p:nvPicPr>
          <p:cNvPr id="167" name="Image 4" descr="FaMobileScreen icon">    </p:cNvPr>
          <p:cNvPicPr>
            <a:picLocks noChangeAspect="1"/>
          </p:cNvPicPr>
          <p:nvPr/>
        </p:nvPicPr>
        <p:blipFill>
          <a:blip r:embed="rId5"/>
          <a:stretch>
            <a:fillRect/>
          </a:stretch>
        </p:blipFill>
        <p:spPr>
          <a:xfrm>
            <a:off x="3482264" y="100584"/>
            <a:ext cx="182880" cy="182880"/>
          </a:xfrm>
          <a:prstGeom prst="rect">
            <a:avLst/>
          </a:prstGeom>
        </p:spPr>
      </p:pic>
      <p:pic>
        <p:nvPicPr>
          <p:cNvPr id="168" name="Image 5" descr="FaGears icon">    </p:cNvPr>
          <p:cNvPicPr>
            <a:picLocks noChangeAspect="1"/>
          </p:cNvPicPr>
          <p:nvPr/>
        </p:nvPicPr>
        <p:blipFill>
          <a:blip r:embed="rId6"/>
          <a:stretch>
            <a:fillRect/>
          </a:stretch>
        </p:blipFill>
        <p:spPr>
          <a:xfrm>
            <a:off x="4880496" y="100584"/>
            <a:ext cx="182880" cy="182880"/>
          </a:xfrm>
          <a:prstGeom prst="rect">
            <a:avLst/>
          </a:prstGeom>
        </p:spPr>
      </p:pic>
      <p:pic>
        <p:nvPicPr>
          <p:cNvPr id="169" name="Image 6" descr="FaShieldHalved icon">    </p:cNvPr>
          <p:cNvPicPr>
            <a:picLocks noChangeAspect="1"/>
          </p:cNvPicPr>
          <p:nvPr/>
        </p:nvPicPr>
        <p:blipFill>
          <a:blip r:embed="rId7"/>
          <a:stretch>
            <a:fillRect/>
          </a:stretch>
        </p:blipFill>
        <p:spPr>
          <a:xfrm>
            <a:off x="6278728" y="100584"/>
            <a:ext cx="182880" cy="182880"/>
          </a:xfrm>
          <a:prstGeom prst="rect">
            <a:avLst/>
          </a:prstGeom>
        </p:spPr>
      </p:pic>
      <p:pic>
        <p:nvPicPr>
          <p:cNvPr id="170" name="Image 7" descr="FaIndianRupeeSign icon">    </p:cNvPr>
          <p:cNvPicPr>
            <a:picLocks noChangeAspect="1"/>
          </p:cNvPicPr>
          <p:nvPr/>
        </p:nvPicPr>
        <p:blipFill>
          <a:blip r:embed="rId8"/>
          <a:stretch>
            <a:fillRect/>
          </a:stretch>
        </p:blipFill>
        <p:spPr>
          <a:xfrm>
            <a:off x="7676960" y="100584"/>
            <a:ext cx="182880" cy="182880"/>
          </a:xfrm>
          <a:prstGeom prst="rect">
            <a:avLst/>
          </a:prstGeom>
        </p:spPr>
      </p:pic>
      <p:pic>
        <p:nvPicPr>
          <p:cNvPr id="171" name="Image 8" descr="FaBullseye icon">    </p:cNvPr>
          <p:cNvPicPr>
            <a:picLocks noChangeAspect="1"/>
          </p:cNvPicPr>
          <p:nvPr/>
        </p:nvPicPr>
        <p:blipFill>
          <a:blip r:embed="rId9"/>
          <a:stretch>
            <a:fillRect/>
          </a:stretch>
        </p:blipFill>
        <p:spPr>
          <a:xfrm>
            <a:off x="9075191" y="100584"/>
            <a:ext cx="182880" cy="182880"/>
          </a:xfrm>
          <a:prstGeom prst="rect">
            <a:avLst/>
          </a:prstGeom>
        </p:spPr>
      </p:pic>
      <p:pic>
        <p:nvPicPr>
          <p:cNvPr id="172" name="Image 9" descr="FaBookOpen icon">    </p:cNvPr>
          <p:cNvPicPr>
            <a:picLocks noChangeAspect="1"/>
          </p:cNvPicPr>
          <p:nvPr/>
        </p:nvPicPr>
        <p:blipFill>
          <a:blip r:embed="rId10"/>
          <a:stretch>
            <a:fillRect/>
          </a:stretch>
        </p:blipFill>
        <p:spPr>
          <a:xfrm>
            <a:off x="10473423"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D4A24C"/>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alarm-clock">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4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EARLY WARNING: THE INTERVENTION JOURNEY</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Each week a mentor gets a short list: who to call, why, and what to offer</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1463040" y="1554480"/>
            <a:ext cx="9235440" cy="0"/>
          </a:xfrm>
          <a:prstGeom prst="line">
            <a:avLst/>
          </a:prstGeom>
          <a:noFill/>
          <a:ln w="38100">
            <a:solidFill>
              <a:srgbClr val="C9D6E8"/>
            </a:solidFill>
            <a:prstDash val="solid"/>
          </a:ln>
        </p:spPr>
      </p:sp>
      <p:sp>
        <p:nvSpPr>
          <p:cNvPr id="27" name="Shape 23"/>
          <p:cNvSpPr/>
          <p:nvPr/>
        </p:nvSpPr>
        <p:spPr>
          <a:xfrm>
            <a:off x="1097280" y="1188720"/>
            <a:ext cx="731520" cy="731520"/>
          </a:xfrm>
          <a:prstGeom prst="ellipse">
            <a:avLst/>
          </a:prstGeom>
          <a:solidFill>
            <a:srgbClr val="C0392B"/>
          </a:solidFill>
          <a:ln w="38100">
            <a:solidFill>
              <a:srgbClr val="FFFFFF"/>
            </a:solidFill>
            <a:prstDash val="solid"/>
          </a:ln>
        </p:spPr>
      </p:sp>
      <p:pic>
        <p:nvPicPr>
          <p:cNvPr id="28"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29"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30"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31"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32"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33"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34" name="Image 7" descr="FaBullseye icon">    </p:cNvPr>
          <p:cNvPicPr>
            <a:picLocks noChangeAspect="1"/>
          </p:cNvPicPr>
          <p:nvPr/>
        </p:nvPicPr>
        <p:blipFill>
          <a:blip r:embed="rId8"/>
          <a:stretch>
            <a:fillRect/>
          </a:stretch>
        </p:blipFill>
        <p:spPr>
          <a:xfrm>
            <a:off x="9075191" y="100584"/>
            <a:ext cx="182880" cy="182880"/>
          </a:xfrm>
          <a:prstGeom prst="rect">
            <a:avLst/>
          </a:prstGeom>
        </p:spPr>
      </p:pic>
      <p:pic>
        <p:nvPicPr>
          <p:cNvPr id="35" name="Image 8" descr="FaBookOpen icon">    </p:cNvPr>
          <p:cNvPicPr>
            <a:picLocks noChangeAspect="1"/>
          </p:cNvPicPr>
          <p:nvPr/>
        </p:nvPicPr>
        <p:blipFill>
          <a:blip r:embed="rId9"/>
          <a:stretch>
            <a:fillRect/>
          </a:stretch>
        </p:blipFill>
        <p:spPr>
          <a:xfrm>
            <a:off x="10473423" y="100584"/>
            <a:ext cx="182880" cy="182880"/>
          </a:xfrm>
          <a:prstGeom prst="rect">
            <a:avLst/>
          </a:prstGeom>
        </p:spPr>
      </p:pic>
      <p:pic>
        <p:nvPicPr>
          <p:cNvPr id="36" name="Image 9" descr="FaArrowTrendDown icon">    </p:cNvPr>
          <p:cNvPicPr>
            <a:picLocks noChangeAspect="1"/>
          </p:cNvPicPr>
          <p:nvPr/>
        </p:nvPicPr>
        <p:blipFill>
          <a:blip r:embed="rId10"/>
          <a:stretch>
            <a:fillRect/>
          </a:stretch>
        </p:blipFill>
        <p:spPr>
          <a:xfrm>
            <a:off x="1280160" y="1371600"/>
            <a:ext cx="365760" cy="365760"/>
          </a:xfrm>
          <a:prstGeom prst="rect">
            <a:avLst/>
          </a:prstGeom>
        </p:spPr>
      </p:pic>
      <p:sp>
        <p:nvSpPr>
          <p:cNvPr id="37" name="Text 24"/>
          <p:cNvSpPr txBox="1"/>
          <p:nvPr/>
        </p:nvSpPr>
        <p:spPr>
          <a:xfrm>
            <a:off x="274320" y="1965960"/>
            <a:ext cx="2377440" cy="502920"/>
          </a:xfrm>
          <a:prstGeom prst="rect">
            <a:avLst/>
          </a:prstGeom>
          <a:noFill/>
          <a:ln/>
        </p:spPr>
        <p:txBody>
          <a:bodyPr wrap="square" lIns="0" tIns="0" rIns="0" bIns="0" rtlCol="0" anchor="t"/>
          <a:lstStyle/>
          <a:p>
            <a:pPr algn="ctr" indent="0" marL="0">
              <a:buNone/>
            </a:pPr>
            <a:r>
              <a:rPr lang="en-US" sz="1250" b="1" dirty="0">
                <a:solidFill>
                  <a:srgbClr val="17325C"/>
                </a:solidFill>
                <a:latin typeface="Calibri" pitchFamily="34" charset="0"/>
                <a:ea typeface="Calibri" pitchFamily="34" charset="-122"/>
                <a:cs typeface="Calibri" pitchFamily="34" charset="-120"/>
              </a:rPr>
              <a:t>Engagement drops</a:t>
            </a:r>
            <a:endParaRPr lang="en-US" sz="1400" dirty="0"/>
          </a:p>
          <a:p>
            <a:pPr algn="ctr" indent="0" marL="0">
              <a:buNone/>
            </a:pPr>
            <a:r>
              <a:rPr lang="en-US" sz="950" dirty="0">
                <a:solidFill>
                  <a:srgbClr val="5B6573"/>
                </a:solidFill>
                <a:latin typeface="Calibri" pitchFamily="34" charset="0"/>
                <a:ea typeface="Calibri" pitchFamily="34" charset="-122"/>
                <a:cs typeface="Calibri" pitchFamily="34" charset="-120"/>
              </a:rPr>
              <a:t>Six absences in ten classes</a:t>
            </a:r>
            <a:endParaRPr lang="en-US" sz="1400" dirty="0"/>
          </a:p>
        </p:txBody>
      </p:sp>
      <p:sp>
        <p:nvSpPr>
          <p:cNvPr id="38" name="Shape 25"/>
          <p:cNvSpPr/>
          <p:nvPr/>
        </p:nvSpPr>
        <p:spPr>
          <a:xfrm>
            <a:off x="1920240" y="1554480"/>
            <a:ext cx="2167128" cy="0"/>
          </a:xfrm>
          <a:prstGeom prst="line">
            <a:avLst/>
          </a:prstGeom>
          <a:noFill/>
          <a:ln w="25400">
            <a:solidFill>
              <a:srgbClr val="1F4A82"/>
            </a:solidFill>
            <a:prstDash val="solid"/>
            <a:tailEnd type="triangle"/>
          </a:ln>
        </p:spPr>
      </p:sp>
      <p:sp>
        <p:nvSpPr>
          <p:cNvPr id="39" name="Shape 26"/>
          <p:cNvSpPr/>
          <p:nvPr/>
        </p:nvSpPr>
        <p:spPr>
          <a:xfrm>
            <a:off x="4178808" y="1188720"/>
            <a:ext cx="731520" cy="731520"/>
          </a:xfrm>
          <a:prstGeom prst="ellipse">
            <a:avLst/>
          </a:prstGeom>
          <a:solidFill>
            <a:srgbClr val="1F4A82"/>
          </a:solidFill>
          <a:ln w="38100">
            <a:solidFill>
              <a:srgbClr val="FFFFFF"/>
            </a:solidFill>
            <a:prstDash val="solid"/>
          </a:ln>
        </p:spPr>
      </p:sp>
      <p:pic>
        <p:nvPicPr>
          <p:cNvPr id="40" name="Image 10" descr="FaFlag icon">    </p:cNvPr>
          <p:cNvPicPr>
            <a:picLocks noChangeAspect="1"/>
          </p:cNvPicPr>
          <p:nvPr/>
        </p:nvPicPr>
        <p:blipFill>
          <a:blip r:embed="rId11"/>
          <a:stretch>
            <a:fillRect/>
          </a:stretch>
        </p:blipFill>
        <p:spPr>
          <a:xfrm>
            <a:off x="4361688" y="1371600"/>
            <a:ext cx="365760" cy="365760"/>
          </a:xfrm>
          <a:prstGeom prst="rect">
            <a:avLst/>
          </a:prstGeom>
        </p:spPr>
      </p:pic>
      <p:sp>
        <p:nvSpPr>
          <p:cNvPr id="41" name="Text 27"/>
          <p:cNvSpPr txBox="1"/>
          <p:nvPr/>
        </p:nvSpPr>
        <p:spPr>
          <a:xfrm>
            <a:off x="3355848" y="1965960"/>
            <a:ext cx="2377440" cy="502920"/>
          </a:xfrm>
          <a:prstGeom prst="rect">
            <a:avLst/>
          </a:prstGeom>
          <a:noFill/>
          <a:ln/>
        </p:spPr>
        <p:txBody>
          <a:bodyPr wrap="square" lIns="0" tIns="0" rIns="0" bIns="0" rtlCol="0" anchor="t"/>
          <a:lstStyle/>
          <a:p>
            <a:pPr algn="ctr" indent="0" marL="0">
              <a:buNone/>
            </a:pPr>
            <a:r>
              <a:rPr lang="en-US" sz="1250" b="1" dirty="0">
                <a:solidFill>
                  <a:srgbClr val="17325C"/>
                </a:solidFill>
                <a:latin typeface="Calibri" pitchFamily="34" charset="0"/>
                <a:ea typeface="Calibri" pitchFamily="34" charset="-122"/>
                <a:cs typeface="Calibri" pitchFamily="34" charset="-120"/>
              </a:rPr>
              <a:t>Model flags</a:t>
            </a:r>
            <a:endParaRPr lang="en-US" sz="1400" dirty="0"/>
          </a:p>
          <a:p>
            <a:pPr algn="ctr" indent="0" marL="0">
              <a:buNone/>
            </a:pPr>
            <a:r>
              <a:rPr lang="en-US" sz="950" dirty="0">
                <a:solidFill>
                  <a:srgbClr val="5B6573"/>
                </a:solidFill>
                <a:latin typeface="Calibri" pitchFamily="34" charset="0"/>
                <a:ea typeface="Calibri" pitchFamily="34" charset="-122"/>
                <a:cs typeface="Calibri" pitchFamily="34" charset="-120"/>
              </a:rPr>
              <a:t>Appears on the weekly list</a:t>
            </a:r>
            <a:endParaRPr lang="en-US" sz="1400" dirty="0"/>
          </a:p>
        </p:txBody>
      </p:sp>
      <p:sp>
        <p:nvSpPr>
          <p:cNvPr id="42" name="Shape 28"/>
          <p:cNvSpPr/>
          <p:nvPr/>
        </p:nvSpPr>
        <p:spPr>
          <a:xfrm>
            <a:off x="5001768" y="1554480"/>
            <a:ext cx="2167128" cy="0"/>
          </a:xfrm>
          <a:prstGeom prst="line">
            <a:avLst/>
          </a:prstGeom>
          <a:noFill/>
          <a:ln w="25400">
            <a:solidFill>
              <a:srgbClr val="1F4A82"/>
            </a:solidFill>
            <a:prstDash val="solid"/>
            <a:tailEnd type="triangle"/>
          </a:ln>
        </p:spPr>
      </p:sp>
      <p:sp>
        <p:nvSpPr>
          <p:cNvPr id="43" name="Shape 29"/>
          <p:cNvSpPr/>
          <p:nvPr/>
        </p:nvSpPr>
        <p:spPr>
          <a:xfrm>
            <a:off x="7260336" y="1188720"/>
            <a:ext cx="731520" cy="731520"/>
          </a:xfrm>
          <a:prstGeom prst="ellipse">
            <a:avLst/>
          </a:prstGeom>
          <a:solidFill>
            <a:srgbClr val="1F4A82"/>
          </a:solidFill>
          <a:ln w="38100">
            <a:solidFill>
              <a:srgbClr val="FFFFFF"/>
            </a:solidFill>
            <a:prstDash val="solid"/>
          </a:ln>
        </p:spPr>
      </p:sp>
      <p:pic>
        <p:nvPicPr>
          <p:cNvPr id="44" name="Image 11" descr="FaPhone icon">    </p:cNvPr>
          <p:cNvPicPr>
            <a:picLocks noChangeAspect="1"/>
          </p:cNvPicPr>
          <p:nvPr/>
        </p:nvPicPr>
        <p:blipFill>
          <a:blip r:embed="rId12"/>
          <a:stretch>
            <a:fillRect/>
          </a:stretch>
        </p:blipFill>
        <p:spPr>
          <a:xfrm>
            <a:off x="7443216" y="1371600"/>
            <a:ext cx="365760" cy="365760"/>
          </a:xfrm>
          <a:prstGeom prst="rect">
            <a:avLst/>
          </a:prstGeom>
        </p:spPr>
      </p:pic>
      <p:sp>
        <p:nvSpPr>
          <p:cNvPr id="45" name="Text 30"/>
          <p:cNvSpPr txBox="1"/>
          <p:nvPr/>
        </p:nvSpPr>
        <p:spPr>
          <a:xfrm>
            <a:off x="6437376" y="1965960"/>
            <a:ext cx="2377440" cy="502920"/>
          </a:xfrm>
          <a:prstGeom prst="rect">
            <a:avLst/>
          </a:prstGeom>
          <a:noFill/>
          <a:ln/>
        </p:spPr>
        <p:txBody>
          <a:bodyPr wrap="square" lIns="0" tIns="0" rIns="0" bIns="0" rtlCol="0" anchor="t"/>
          <a:lstStyle/>
          <a:p>
            <a:pPr algn="ctr" indent="0" marL="0">
              <a:buNone/>
            </a:pPr>
            <a:r>
              <a:rPr lang="en-US" sz="1250" b="1" dirty="0">
                <a:solidFill>
                  <a:srgbClr val="17325C"/>
                </a:solidFill>
                <a:latin typeface="Calibri" pitchFamily="34" charset="0"/>
                <a:ea typeface="Calibri" pitchFamily="34" charset="-122"/>
                <a:cs typeface="Calibri" pitchFamily="34" charset="-120"/>
              </a:rPr>
              <a:t>Mentor calls</a:t>
            </a:r>
            <a:endParaRPr lang="en-US" sz="1400" dirty="0"/>
          </a:p>
          <a:p>
            <a:pPr algn="ctr" indent="0" marL="0">
              <a:buNone/>
            </a:pPr>
            <a:r>
              <a:rPr lang="en-US" sz="950" dirty="0">
                <a:solidFill>
                  <a:srgbClr val="5B6573"/>
                </a:solidFill>
                <a:latin typeface="Calibri" pitchFamily="34" charset="0"/>
                <a:ea typeface="Calibri" pitchFamily="34" charset="-122"/>
                <a:cs typeface="Calibri" pitchFamily="34" charset="-120"/>
              </a:rPr>
              <a:t>A supportive call, not a warning</a:t>
            </a:r>
            <a:endParaRPr lang="en-US" sz="1400" dirty="0"/>
          </a:p>
        </p:txBody>
      </p:sp>
      <p:sp>
        <p:nvSpPr>
          <p:cNvPr id="46" name="Shape 31"/>
          <p:cNvSpPr/>
          <p:nvPr/>
        </p:nvSpPr>
        <p:spPr>
          <a:xfrm>
            <a:off x="8083296" y="1554480"/>
            <a:ext cx="2167128" cy="0"/>
          </a:xfrm>
          <a:prstGeom prst="line">
            <a:avLst/>
          </a:prstGeom>
          <a:noFill/>
          <a:ln w="25400">
            <a:solidFill>
              <a:srgbClr val="1F4A82"/>
            </a:solidFill>
            <a:prstDash val="solid"/>
            <a:tailEnd type="triangle"/>
          </a:ln>
        </p:spPr>
      </p:sp>
      <p:sp>
        <p:nvSpPr>
          <p:cNvPr id="47" name="Shape 32"/>
          <p:cNvSpPr/>
          <p:nvPr/>
        </p:nvSpPr>
        <p:spPr>
          <a:xfrm>
            <a:off x="10341864" y="1188720"/>
            <a:ext cx="731520" cy="731520"/>
          </a:xfrm>
          <a:prstGeom prst="ellipse">
            <a:avLst/>
          </a:prstGeom>
          <a:solidFill>
            <a:srgbClr val="1B8F55"/>
          </a:solidFill>
          <a:ln w="38100">
            <a:solidFill>
              <a:srgbClr val="FFFFFF"/>
            </a:solidFill>
            <a:prstDash val="solid"/>
          </a:ln>
        </p:spPr>
      </p:sp>
      <p:pic>
        <p:nvPicPr>
          <p:cNvPr id="48" name="Image 12" descr="FaUserCheck icon">    </p:cNvPr>
          <p:cNvPicPr>
            <a:picLocks noChangeAspect="1"/>
          </p:cNvPicPr>
          <p:nvPr/>
        </p:nvPicPr>
        <p:blipFill>
          <a:blip r:embed="rId13"/>
          <a:stretch>
            <a:fillRect/>
          </a:stretch>
        </p:blipFill>
        <p:spPr>
          <a:xfrm>
            <a:off x="10524744" y="1371600"/>
            <a:ext cx="365760" cy="365760"/>
          </a:xfrm>
          <a:prstGeom prst="rect">
            <a:avLst/>
          </a:prstGeom>
        </p:spPr>
      </p:pic>
      <p:sp>
        <p:nvSpPr>
          <p:cNvPr id="49" name="Text 33"/>
          <p:cNvSpPr txBox="1"/>
          <p:nvPr/>
        </p:nvSpPr>
        <p:spPr>
          <a:xfrm>
            <a:off x="9518904" y="1965960"/>
            <a:ext cx="2377440" cy="502920"/>
          </a:xfrm>
          <a:prstGeom prst="rect">
            <a:avLst/>
          </a:prstGeom>
          <a:noFill/>
          <a:ln/>
        </p:spPr>
        <p:txBody>
          <a:bodyPr wrap="square" lIns="0" tIns="0" rIns="0" bIns="0" rtlCol="0" anchor="t"/>
          <a:lstStyle/>
          <a:p>
            <a:pPr algn="ctr" indent="0" marL="0">
              <a:buNone/>
            </a:pPr>
            <a:r>
              <a:rPr lang="en-US" sz="1250" b="1" dirty="0">
                <a:solidFill>
                  <a:srgbClr val="17325C"/>
                </a:solidFill>
                <a:latin typeface="Calibri" pitchFamily="34" charset="0"/>
                <a:ea typeface="Calibri" pitchFamily="34" charset="-122"/>
                <a:cs typeface="Calibri" pitchFamily="34" charset="-120"/>
              </a:rPr>
              <a:t>Student retained</a:t>
            </a:r>
            <a:endParaRPr lang="en-US" sz="1400" dirty="0"/>
          </a:p>
          <a:p>
            <a:pPr algn="ctr" indent="0" marL="0">
              <a:buNone/>
            </a:pPr>
            <a:r>
              <a:rPr lang="en-US" sz="950" dirty="0">
                <a:solidFill>
                  <a:srgbClr val="5B6573"/>
                </a:solidFill>
                <a:latin typeface="Calibri" pitchFamily="34" charset="0"/>
                <a:ea typeface="Calibri" pitchFamily="34" charset="-122"/>
                <a:cs typeface="Calibri" pitchFamily="34" charset="-120"/>
              </a:rPr>
              <a:t>Outcome logged; list updates</a:t>
            </a:r>
            <a:endParaRPr lang="en-US" sz="1400" dirty="0"/>
          </a:p>
        </p:txBody>
      </p:sp>
      <p:pic>
        <p:nvPicPr>
          <p:cNvPr id="50" name="Image 13" descr="Weekly support list (illustrative)">    </p:cNvPr>
          <p:cNvPicPr>
            <a:picLocks noChangeAspect="1"/>
          </p:cNvPicPr>
          <p:nvPr/>
        </p:nvPicPr>
        <p:blipFill>
          <a:blip r:embed="rId14"/>
          <a:stretch>
            <a:fillRect/>
          </a:stretch>
        </p:blipFill>
        <p:spPr>
          <a:xfrm>
            <a:off x="411480" y="2606040"/>
            <a:ext cx="3566160" cy="2002536"/>
          </a:xfrm>
          <a:prstGeom prst="rect">
            <a:avLst/>
          </a:prstGeom>
        </p:spPr>
      </p:pic>
      <p:sp>
        <p:nvSpPr>
          <p:cNvPr id="51" name="Text 34"/>
          <p:cNvSpPr txBox="1"/>
          <p:nvPr/>
        </p:nvSpPr>
        <p:spPr>
          <a:xfrm>
            <a:off x="411480" y="4617720"/>
            <a:ext cx="3566160" cy="201168"/>
          </a:xfrm>
          <a:prstGeom prst="rect">
            <a:avLst/>
          </a:prstGeom>
          <a:noFill/>
          <a:ln/>
        </p:spPr>
        <p:txBody>
          <a:bodyPr wrap="square" lIns="0" tIns="0" rIns="0" bIns="0" rtlCol="0" anchor="t"/>
          <a:lstStyle/>
          <a:p>
            <a:pPr algn="l" indent="0" marL="0">
              <a:buNone/>
            </a:pPr>
            <a:r>
              <a:rPr lang="en-US" sz="850" i="1" dirty="0">
                <a:solidFill>
                  <a:srgbClr val="5B6573"/>
                </a:solidFill>
                <a:latin typeface="Calibri" pitchFamily="34" charset="0"/>
                <a:ea typeface="Calibri" pitchFamily="34" charset="-122"/>
                <a:cs typeface="Calibri" pitchFamily="34" charset="-120"/>
              </a:rPr>
              <a:t>What the mentor sees (mock-up)</a:t>
            </a:r>
            <a:endParaRPr lang="en-US" sz="850" dirty="0"/>
          </a:p>
        </p:txBody>
      </p:sp>
      <p:pic>
        <p:nvPicPr>
          <p:cNvPr id="52" name="Image 14" descr="Withdrawal prediction accuracy over time, public data">    </p:cNvPr>
          <p:cNvPicPr>
            <a:picLocks noChangeAspect="1"/>
          </p:cNvPicPr>
          <p:nvPr/>
        </p:nvPicPr>
        <p:blipFill>
          <a:blip r:embed="rId15"/>
          <a:stretch>
            <a:fillRect/>
          </a:stretch>
        </p:blipFill>
        <p:spPr>
          <a:xfrm>
            <a:off x="411480" y="4846320"/>
            <a:ext cx="2011680" cy="1399032"/>
          </a:xfrm>
          <a:prstGeom prst="rect">
            <a:avLst/>
          </a:prstGeom>
        </p:spPr>
      </p:pic>
      <p:sp>
        <p:nvSpPr>
          <p:cNvPr id="53" name="Shape 35"/>
          <p:cNvSpPr/>
          <p:nvPr/>
        </p:nvSpPr>
        <p:spPr>
          <a:xfrm>
            <a:off x="2514600" y="4846320"/>
            <a:ext cx="992124" cy="219456"/>
          </a:xfrm>
          <a:prstGeom prst="roundRect">
            <a:avLst>
              <a:gd name="adj" fmla="val 50000"/>
            </a:avLst>
          </a:prstGeom>
          <a:solidFill>
            <a:srgbClr val="FFFFFF"/>
          </a:solidFill>
          <a:ln w="12700">
            <a:solidFill>
              <a:srgbClr val="1F4A82"/>
            </a:solidFill>
            <a:prstDash val="solid"/>
          </a:ln>
        </p:spPr>
      </p:sp>
      <p:sp>
        <p:nvSpPr>
          <p:cNvPr id="54" name="Text 36"/>
          <p:cNvSpPr txBox="1"/>
          <p:nvPr/>
        </p:nvSpPr>
        <p:spPr>
          <a:xfrm>
            <a:off x="2514600" y="4846320"/>
            <a:ext cx="992124" cy="219456"/>
          </a:xfrm>
          <a:prstGeom prst="rect">
            <a:avLst/>
          </a:prstGeom>
          <a:noFill/>
          <a:ln/>
        </p:spPr>
        <p:txBody>
          <a:bodyPr wrap="square" lIns="0" tIns="0" rIns="0" bIns="0" rtlCol="0" anchor="ctr"/>
          <a:lstStyle/>
          <a:p>
            <a:pPr algn="ctr" indent="0" marL="0">
              <a:buNone/>
            </a:pPr>
            <a:r>
              <a:rPr lang="en-US" sz="900" b="1" spc="100" kern="0" dirty="0">
                <a:solidFill>
                  <a:srgbClr val="1F4A82"/>
                </a:solidFill>
                <a:latin typeface="Calibri" pitchFamily="34" charset="0"/>
                <a:ea typeface="Calibri" pitchFamily="34" charset="-122"/>
                <a:cs typeface="Calibri" pitchFamily="34" charset="-120"/>
              </a:rPr>
              <a:t>PUBLIC DATA</a:t>
            </a:r>
            <a:endParaRPr lang="en-US" sz="900" dirty="0"/>
          </a:p>
        </p:txBody>
      </p:sp>
      <p:sp>
        <p:nvSpPr>
          <p:cNvPr id="55" name="Text 37"/>
          <p:cNvSpPr txBox="1"/>
          <p:nvPr/>
        </p:nvSpPr>
        <p:spPr>
          <a:xfrm>
            <a:off x="2514600" y="5102352"/>
            <a:ext cx="1600200" cy="594360"/>
          </a:xfrm>
          <a:prstGeom prst="rect">
            <a:avLst/>
          </a:prstGeom>
          <a:noFill/>
          <a:ln/>
        </p:spPr>
        <p:txBody>
          <a:bodyPr wrap="square" lIns="0" tIns="0" rIns="0" bIns="0" rtlCol="0" anchor="t"/>
          <a:lstStyle/>
          <a:p>
            <a:pPr algn="l" indent="0" marL="0">
              <a:buNone/>
            </a:pPr>
            <a:r>
              <a:rPr lang="en-US" sz="1800" b="1" dirty="0">
                <a:solidFill>
                  <a:srgbClr val="1F4A82"/>
                </a:solidFill>
                <a:latin typeface="Calibri" pitchFamily="34" charset="0"/>
                <a:ea typeface="Calibri" pitchFamily="34" charset="-122"/>
                <a:cs typeface="Calibri" pitchFamily="34" charset="-120"/>
              </a:rPr>
              <a:t>0.46</a:t>
            </a:r>
            <a:endParaRPr lang="en-US" sz="1400" dirty="0"/>
          </a:p>
          <a:p>
            <a:pPr algn="l" indent="0" marL="0">
              <a:buNone/>
            </a:pPr>
            <a:r>
              <a:rPr lang="en-US" sz="900" dirty="0">
                <a:solidFill>
                  <a:srgbClr val="1F2937"/>
                </a:solidFill>
                <a:latin typeface="Calibri" pitchFamily="34" charset="0"/>
                <a:ea typeface="Calibri" pitchFamily="34" charset="-122"/>
                <a:cs typeface="Calibri" pitchFamily="34" charset="-120"/>
              </a:rPr>
              <a:t>of the top 10 % flagged really leave; simple rules: 0.24–0.31</a:t>
            </a:r>
            <a:endParaRPr lang="en-US" sz="1400" dirty="0"/>
          </a:p>
        </p:txBody>
      </p:sp>
      <p:sp>
        <p:nvSpPr>
          <p:cNvPr id="56" name="Text 38"/>
          <p:cNvSpPr txBox="1"/>
          <p:nvPr/>
        </p:nvSpPr>
        <p:spPr>
          <a:xfrm>
            <a:off x="2514600" y="5715000"/>
            <a:ext cx="1600200" cy="594360"/>
          </a:xfrm>
          <a:prstGeom prst="rect">
            <a:avLst/>
          </a:prstGeom>
          <a:noFill/>
          <a:ln/>
        </p:spPr>
        <p:txBody>
          <a:bodyPr wrap="square" lIns="0" tIns="0" rIns="0" bIns="0" rtlCol="0" anchor="t"/>
          <a:lstStyle/>
          <a:p>
            <a:pPr algn="l" indent="0" marL="0">
              <a:buNone/>
            </a:pPr>
            <a:r>
              <a:rPr lang="en-US" sz="1800" b="1" dirty="0">
                <a:solidFill>
                  <a:srgbClr val="1F4A82"/>
                </a:solidFill>
                <a:latin typeface="Calibri" pitchFamily="34" charset="0"/>
                <a:ea typeface="Calibri" pitchFamily="34" charset="-122"/>
                <a:cs typeface="Calibri" pitchFamily="34" charset="-120"/>
              </a:rPr>
              <a:t>0.009</a:t>
            </a:r>
            <a:endParaRPr lang="en-US" sz="1400" dirty="0"/>
          </a:p>
          <a:p>
            <a:pPr algn="l" indent="0" marL="0">
              <a:buNone/>
            </a:pPr>
            <a:r>
              <a:rPr lang="en-US" sz="900" dirty="0">
                <a:solidFill>
                  <a:srgbClr val="1F2937"/>
                </a:solidFill>
                <a:latin typeface="Calibri" pitchFamily="34" charset="0"/>
                <a:ea typeface="Calibri" pitchFamily="34" charset="-122"/>
                <a:cs typeface="Calibri" pitchFamily="34" charset="-120"/>
              </a:rPr>
              <a:t>calibration error: “30 %” means 30 %</a:t>
            </a:r>
            <a:endParaRPr lang="en-US" sz="1400" dirty="0"/>
          </a:p>
        </p:txBody>
      </p:sp>
      <p:sp>
        <p:nvSpPr>
          <p:cNvPr id="57" name="Shape 39"/>
          <p:cNvSpPr/>
          <p:nvPr/>
        </p:nvSpPr>
        <p:spPr>
          <a:xfrm>
            <a:off x="4251960" y="2606040"/>
            <a:ext cx="7525512" cy="292608"/>
          </a:xfrm>
          <a:prstGeom prst="rect">
            <a:avLst/>
          </a:prstGeom>
          <a:solidFill>
            <a:srgbClr val="1F4A82"/>
          </a:solidFill>
          <a:ln/>
        </p:spPr>
      </p:sp>
      <p:sp>
        <p:nvSpPr>
          <p:cNvPr id="58" name="Text 40"/>
          <p:cNvSpPr txBox="1"/>
          <p:nvPr/>
        </p:nvSpPr>
        <p:spPr>
          <a:xfrm>
            <a:off x="4325112" y="2606040"/>
            <a:ext cx="73792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COMPLIANCE MATRIX: WHAT THE LAW LETS US USE</a:t>
            </a:r>
            <a:endParaRPr lang="en-US" sz="1100" dirty="0"/>
          </a:p>
        </p:txBody>
      </p:sp>
      <p:sp>
        <p:nvSpPr>
          <p:cNvPr id="59" name="Text 41"/>
          <p:cNvSpPr txBox="1"/>
          <p:nvPr/>
        </p:nvSpPr>
        <p:spPr>
          <a:xfrm>
            <a:off x="6035040" y="2926080"/>
            <a:ext cx="1435608" cy="310896"/>
          </a:xfrm>
          <a:prstGeom prst="rect">
            <a:avLst/>
          </a:prstGeom>
          <a:noFill/>
          <a:ln/>
        </p:spPr>
        <p:txBody>
          <a:bodyPr wrap="square" lIns="0" tIns="0" rIns="0" bIns="0" rtlCol="0" anchor="ctr"/>
          <a:lstStyle/>
          <a:p>
            <a:pPr algn="ctr" indent="0" marL="0">
              <a:buNone/>
            </a:pPr>
            <a:r>
              <a:rPr lang="en-US" sz="1050" b="1" dirty="0">
                <a:solidFill>
                  <a:srgbClr val="1F4A82"/>
                </a:solidFill>
                <a:latin typeface="Calibri" pitchFamily="34" charset="0"/>
                <a:ea typeface="Calibri" pitchFamily="34" charset="-122"/>
                <a:cs typeface="Calibri" pitchFamily="34" charset="-120"/>
              </a:rPr>
              <a:t>Academic support</a:t>
            </a:r>
            <a:endParaRPr lang="en-US" sz="1050" dirty="0"/>
          </a:p>
        </p:txBody>
      </p:sp>
      <p:sp>
        <p:nvSpPr>
          <p:cNvPr id="60" name="Text 42"/>
          <p:cNvSpPr txBox="1"/>
          <p:nvPr/>
        </p:nvSpPr>
        <p:spPr>
          <a:xfrm>
            <a:off x="7470648" y="2926080"/>
            <a:ext cx="1435608" cy="310896"/>
          </a:xfrm>
          <a:prstGeom prst="rect">
            <a:avLst/>
          </a:prstGeom>
          <a:noFill/>
          <a:ln/>
        </p:spPr>
        <p:txBody>
          <a:bodyPr wrap="square" lIns="0" tIns="0" rIns="0" bIns="0" rtlCol="0" anchor="ctr"/>
          <a:lstStyle/>
          <a:p>
            <a:pPr algn="ctr" indent="0" marL="0">
              <a:buNone/>
            </a:pPr>
            <a:r>
              <a:rPr lang="en-US" sz="1050" b="1" dirty="0">
                <a:solidFill>
                  <a:srgbClr val="1F4A82"/>
                </a:solidFill>
                <a:latin typeface="Calibri" pitchFamily="34" charset="0"/>
                <a:ea typeface="Calibri" pitchFamily="34" charset="-122"/>
                <a:cs typeface="Calibri" pitchFamily="34" charset="-120"/>
              </a:rPr>
              <a:t>Dropout risk</a:t>
            </a:r>
            <a:endParaRPr lang="en-US" sz="1050" dirty="0"/>
          </a:p>
        </p:txBody>
      </p:sp>
      <p:sp>
        <p:nvSpPr>
          <p:cNvPr id="61" name="Text 43"/>
          <p:cNvSpPr txBox="1"/>
          <p:nvPr/>
        </p:nvSpPr>
        <p:spPr>
          <a:xfrm>
            <a:off x="8906256" y="2926080"/>
            <a:ext cx="1435608" cy="310896"/>
          </a:xfrm>
          <a:prstGeom prst="rect">
            <a:avLst/>
          </a:prstGeom>
          <a:noFill/>
          <a:ln/>
        </p:spPr>
        <p:txBody>
          <a:bodyPr wrap="square" lIns="0" tIns="0" rIns="0" bIns="0" rtlCol="0" anchor="ctr"/>
          <a:lstStyle/>
          <a:p>
            <a:pPr algn="ctr" indent="0" marL="0">
              <a:buNone/>
            </a:pPr>
            <a:r>
              <a:rPr lang="en-US" sz="1050" b="1" dirty="0">
                <a:solidFill>
                  <a:srgbClr val="1F4A82"/>
                </a:solidFill>
                <a:latin typeface="Calibri" pitchFamily="34" charset="0"/>
                <a:ea typeface="Calibri" pitchFamily="34" charset="-122"/>
                <a:cs typeface="Calibri" pitchFamily="34" charset="-120"/>
              </a:rPr>
              <a:t>Fee risk</a:t>
            </a:r>
            <a:endParaRPr lang="en-US" sz="1050" dirty="0"/>
          </a:p>
        </p:txBody>
      </p:sp>
      <p:sp>
        <p:nvSpPr>
          <p:cNvPr id="62" name="Text 44"/>
          <p:cNvSpPr txBox="1"/>
          <p:nvPr/>
        </p:nvSpPr>
        <p:spPr>
          <a:xfrm>
            <a:off x="10341864" y="2926080"/>
            <a:ext cx="1435608" cy="310896"/>
          </a:xfrm>
          <a:prstGeom prst="rect">
            <a:avLst/>
          </a:prstGeom>
          <a:noFill/>
          <a:ln/>
        </p:spPr>
        <p:txBody>
          <a:bodyPr wrap="square" lIns="0" tIns="0" rIns="0" bIns="0" rtlCol="0" anchor="ctr"/>
          <a:lstStyle/>
          <a:p>
            <a:pPr algn="ctr" indent="0" marL="0">
              <a:buNone/>
            </a:pPr>
            <a:r>
              <a:rPr lang="en-US" sz="1050" b="1" dirty="0">
                <a:solidFill>
                  <a:srgbClr val="1F4A82"/>
                </a:solidFill>
                <a:latin typeface="Calibri" pitchFamily="34" charset="0"/>
                <a:ea typeface="Calibri" pitchFamily="34" charset="-122"/>
                <a:cs typeface="Calibri" pitchFamily="34" charset="-120"/>
              </a:rPr>
              <a:t>App activity</a:t>
            </a:r>
            <a:endParaRPr lang="en-US" sz="1050" dirty="0"/>
          </a:p>
        </p:txBody>
      </p:sp>
      <p:sp>
        <p:nvSpPr>
          <p:cNvPr id="63" name="Shape 45"/>
          <p:cNvSpPr/>
          <p:nvPr/>
        </p:nvSpPr>
        <p:spPr>
          <a:xfrm>
            <a:off x="4251960" y="3273552"/>
            <a:ext cx="1737360" cy="841248"/>
          </a:xfrm>
          <a:prstGeom prst="rect">
            <a:avLst/>
          </a:prstGeom>
          <a:solidFill>
            <a:srgbClr val="F4F7FB"/>
          </a:solidFill>
          <a:ln/>
        </p:spPr>
      </p:sp>
      <p:sp>
        <p:nvSpPr>
          <p:cNvPr id="64" name="Text 46"/>
          <p:cNvSpPr txBox="1"/>
          <p:nvPr/>
        </p:nvSpPr>
        <p:spPr>
          <a:xfrm>
            <a:off x="4343400" y="3273552"/>
            <a:ext cx="1600200" cy="841248"/>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Under 18</a:t>
            </a:r>
            <a:endParaRPr lang="en-US" sz="1400" dirty="0"/>
          </a:p>
          <a:p>
            <a:pPr algn="l" indent="0" marL="0">
              <a:buNone/>
            </a:pPr>
            <a:r>
              <a:rPr lang="en-US" sz="900" dirty="0">
                <a:solidFill>
                  <a:srgbClr val="5B6573"/>
                </a:solidFill>
                <a:latin typeface="Calibri" pitchFamily="34" charset="0"/>
                <a:ea typeface="Calibri" pitchFamily="34" charset="-122"/>
                <a:cs typeface="Calibri" pitchFamily="34" charset="-120"/>
              </a:rPr>
              <a:t>parent consent</a:t>
            </a:r>
            <a:endParaRPr lang="en-US" sz="1400" dirty="0"/>
          </a:p>
        </p:txBody>
      </p:sp>
      <p:sp>
        <p:nvSpPr>
          <p:cNvPr id="65" name="Shape 47"/>
          <p:cNvSpPr/>
          <p:nvPr/>
        </p:nvSpPr>
        <p:spPr>
          <a:xfrm>
            <a:off x="6062472" y="3273552"/>
            <a:ext cx="1380744" cy="841248"/>
          </a:xfrm>
          <a:prstGeom prst="rect">
            <a:avLst/>
          </a:prstGeom>
          <a:solidFill>
            <a:srgbClr val="E3ECF7"/>
          </a:solidFill>
          <a:ln/>
        </p:spPr>
      </p:sp>
      <p:pic>
        <p:nvPicPr>
          <p:cNvPr id="66" name="Image 15" descr="FaCircleCheck icon">    </p:cNvPr>
          <p:cNvPicPr>
            <a:picLocks noChangeAspect="1"/>
          </p:cNvPicPr>
          <p:nvPr/>
        </p:nvPicPr>
        <p:blipFill>
          <a:blip r:embed="rId16"/>
          <a:stretch>
            <a:fillRect/>
          </a:stretch>
        </p:blipFill>
        <p:spPr>
          <a:xfrm>
            <a:off x="6597396" y="3383280"/>
            <a:ext cx="310896" cy="310896"/>
          </a:xfrm>
          <a:prstGeom prst="rect">
            <a:avLst/>
          </a:prstGeom>
        </p:spPr>
      </p:pic>
      <p:sp>
        <p:nvSpPr>
          <p:cNvPr id="67" name="Text 48"/>
          <p:cNvSpPr txBox="1"/>
          <p:nvPr/>
        </p:nvSpPr>
        <p:spPr>
          <a:xfrm>
            <a:off x="6062472" y="3749040"/>
            <a:ext cx="1380744" cy="310896"/>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Model allowed</a:t>
            </a:r>
            <a:endParaRPr lang="en-US" sz="950" dirty="0"/>
          </a:p>
        </p:txBody>
      </p:sp>
      <p:sp>
        <p:nvSpPr>
          <p:cNvPr id="68" name="Shape 49"/>
          <p:cNvSpPr/>
          <p:nvPr/>
        </p:nvSpPr>
        <p:spPr>
          <a:xfrm>
            <a:off x="7498080" y="3273552"/>
            <a:ext cx="1380744" cy="841248"/>
          </a:xfrm>
          <a:prstGeom prst="rect">
            <a:avLst/>
          </a:prstGeom>
          <a:solidFill>
            <a:srgbClr val="F1E8D3"/>
          </a:solidFill>
          <a:ln/>
        </p:spPr>
      </p:sp>
      <p:pic>
        <p:nvPicPr>
          <p:cNvPr id="69" name="Image 16" descr="FaLock icon">    </p:cNvPr>
          <p:cNvPicPr>
            <a:picLocks noChangeAspect="1"/>
          </p:cNvPicPr>
          <p:nvPr/>
        </p:nvPicPr>
        <p:blipFill>
          <a:blip r:embed="rId17"/>
          <a:stretch>
            <a:fillRect/>
          </a:stretch>
        </p:blipFill>
        <p:spPr>
          <a:xfrm>
            <a:off x="8033004" y="3383280"/>
            <a:ext cx="310896" cy="310896"/>
          </a:xfrm>
          <a:prstGeom prst="rect">
            <a:avLst/>
          </a:prstGeom>
        </p:spPr>
      </p:pic>
      <p:sp>
        <p:nvSpPr>
          <p:cNvPr id="70" name="Text 50"/>
          <p:cNvSpPr txBox="1"/>
          <p:nvPr/>
        </p:nvSpPr>
        <p:spPr>
          <a:xfrm>
            <a:off x="7498080" y="3749040"/>
            <a:ext cx="1380744" cy="310896"/>
          </a:xfrm>
          <a:prstGeom prst="rect">
            <a:avLst/>
          </a:prstGeom>
          <a:noFill/>
          <a:ln/>
        </p:spPr>
        <p:txBody>
          <a:bodyPr wrap="square" lIns="0" tIns="0" rIns="0" bIns="0" rtlCol="0" anchor="ctr"/>
          <a:lstStyle/>
          <a:p>
            <a:pPr algn="ctr" indent="0" marL="0">
              <a:buNone/>
            </a:pPr>
            <a:r>
              <a:rPr lang="en-US" sz="950" b="1" dirty="0">
                <a:solidFill>
                  <a:srgbClr val="8A6500"/>
                </a:solidFill>
                <a:latin typeface="Calibri" pitchFamily="34" charset="0"/>
                <a:ea typeface="Calibri" pitchFamily="34" charset="-122"/>
                <a:cs typeface="Calibri" pitchFamily="34" charset="-120"/>
              </a:rPr>
              <a:t>Plain rules only</a:t>
            </a:r>
            <a:endParaRPr lang="en-US" sz="950" dirty="0"/>
          </a:p>
        </p:txBody>
      </p:sp>
      <p:sp>
        <p:nvSpPr>
          <p:cNvPr id="71" name="Shape 51"/>
          <p:cNvSpPr/>
          <p:nvPr/>
        </p:nvSpPr>
        <p:spPr>
          <a:xfrm>
            <a:off x="8933688" y="3273552"/>
            <a:ext cx="1380744" cy="841248"/>
          </a:xfrm>
          <a:prstGeom prst="rect">
            <a:avLst/>
          </a:prstGeom>
          <a:solidFill>
            <a:srgbClr val="F1E8D3"/>
          </a:solidFill>
          <a:ln/>
        </p:spPr>
      </p:sp>
      <p:pic>
        <p:nvPicPr>
          <p:cNvPr id="72" name="Image 17" descr="FaLock icon">    </p:cNvPr>
          <p:cNvPicPr>
            <a:picLocks noChangeAspect="1"/>
          </p:cNvPicPr>
          <p:nvPr/>
        </p:nvPicPr>
        <p:blipFill>
          <a:blip r:embed="rId18"/>
          <a:stretch>
            <a:fillRect/>
          </a:stretch>
        </p:blipFill>
        <p:spPr>
          <a:xfrm>
            <a:off x="9468612" y="3383280"/>
            <a:ext cx="310896" cy="310896"/>
          </a:xfrm>
          <a:prstGeom prst="rect">
            <a:avLst/>
          </a:prstGeom>
        </p:spPr>
      </p:pic>
      <p:sp>
        <p:nvSpPr>
          <p:cNvPr id="73" name="Text 52"/>
          <p:cNvSpPr txBox="1"/>
          <p:nvPr/>
        </p:nvSpPr>
        <p:spPr>
          <a:xfrm>
            <a:off x="8933688" y="3749040"/>
            <a:ext cx="1380744" cy="310896"/>
          </a:xfrm>
          <a:prstGeom prst="rect">
            <a:avLst/>
          </a:prstGeom>
          <a:noFill/>
          <a:ln/>
        </p:spPr>
        <p:txBody>
          <a:bodyPr wrap="square" lIns="0" tIns="0" rIns="0" bIns="0" rtlCol="0" anchor="ctr"/>
          <a:lstStyle/>
          <a:p>
            <a:pPr algn="ctr" indent="0" marL="0">
              <a:buNone/>
            </a:pPr>
            <a:r>
              <a:rPr lang="en-US" sz="950" b="1" dirty="0">
                <a:solidFill>
                  <a:srgbClr val="8A6500"/>
                </a:solidFill>
                <a:latin typeface="Calibri" pitchFamily="34" charset="0"/>
                <a:ea typeface="Calibri" pitchFamily="34" charset="-122"/>
                <a:cs typeface="Calibri" pitchFamily="34" charset="-120"/>
              </a:rPr>
              <a:t>Plain rules only</a:t>
            </a:r>
            <a:endParaRPr lang="en-US" sz="950" dirty="0"/>
          </a:p>
        </p:txBody>
      </p:sp>
      <p:sp>
        <p:nvSpPr>
          <p:cNvPr id="74" name="Shape 53"/>
          <p:cNvSpPr/>
          <p:nvPr/>
        </p:nvSpPr>
        <p:spPr>
          <a:xfrm>
            <a:off x="10369296" y="3273552"/>
            <a:ext cx="1380744" cy="841248"/>
          </a:xfrm>
          <a:prstGeom prst="rect">
            <a:avLst/>
          </a:prstGeom>
          <a:solidFill>
            <a:srgbClr val="F6E0DD"/>
          </a:solidFill>
          <a:ln/>
        </p:spPr>
      </p:sp>
      <p:pic>
        <p:nvPicPr>
          <p:cNvPr id="75" name="Image 18" descr="FaBan icon">    </p:cNvPr>
          <p:cNvPicPr>
            <a:picLocks noChangeAspect="1"/>
          </p:cNvPicPr>
          <p:nvPr/>
        </p:nvPicPr>
        <p:blipFill>
          <a:blip r:embed="rId19"/>
          <a:stretch>
            <a:fillRect/>
          </a:stretch>
        </p:blipFill>
        <p:spPr>
          <a:xfrm>
            <a:off x="10904220" y="3383280"/>
            <a:ext cx="310896" cy="310896"/>
          </a:xfrm>
          <a:prstGeom prst="rect">
            <a:avLst/>
          </a:prstGeom>
        </p:spPr>
      </p:pic>
      <p:sp>
        <p:nvSpPr>
          <p:cNvPr id="76" name="Text 54"/>
          <p:cNvSpPr txBox="1"/>
          <p:nvPr/>
        </p:nvSpPr>
        <p:spPr>
          <a:xfrm>
            <a:off x="10369296" y="3749040"/>
            <a:ext cx="1380744" cy="310896"/>
          </a:xfrm>
          <a:prstGeom prst="rect">
            <a:avLst/>
          </a:prstGeom>
          <a:noFill/>
          <a:ln/>
        </p:spPr>
        <p:txBody>
          <a:bodyPr wrap="square" lIns="0" tIns="0" rIns="0" bIns="0" rtlCol="0" anchor="ctr"/>
          <a:lstStyle/>
          <a:p>
            <a:pPr algn="ctr" indent="0" marL="0">
              <a:buNone/>
            </a:pPr>
            <a:r>
              <a:rPr lang="en-US" sz="950" b="1" dirty="0">
                <a:solidFill>
                  <a:srgbClr val="C0392B"/>
                </a:solidFill>
                <a:latin typeface="Calibri" pitchFamily="34" charset="0"/>
                <a:ea typeface="Calibri" pitchFamily="34" charset="-122"/>
                <a:cs typeface="Calibri" pitchFamily="34" charset="-120"/>
              </a:rPr>
              <a:t>Never used</a:t>
            </a:r>
            <a:endParaRPr lang="en-US" sz="950" dirty="0"/>
          </a:p>
        </p:txBody>
      </p:sp>
      <p:sp>
        <p:nvSpPr>
          <p:cNvPr id="77" name="Shape 55"/>
          <p:cNvSpPr/>
          <p:nvPr/>
        </p:nvSpPr>
        <p:spPr>
          <a:xfrm>
            <a:off x="4251960" y="4169664"/>
            <a:ext cx="1737360" cy="841248"/>
          </a:xfrm>
          <a:prstGeom prst="rect">
            <a:avLst/>
          </a:prstGeom>
          <a:solidFill>
            <a:srgbClr val="F4F7FB"/>
          </a:solidFill>
          <a:ln/>
        </p:spPr>
      </p:sp>
      <p:sp>
        <p:nvSpPr>
          <p:cNvPr id="78" name="Text 56"/>
          <p:cNvSpPr txBox="1"/>
          <p:nvPr/>
        </p:nvSpPr>
        <p:spPr>
          <a:xfrm>
            <a:off x="4343400" y="4169664"/>
            <a:ext cx="1600200" cy="841248"/>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18 and over</a:t>
            </a:r>
            <a:endParaRPr lang="en-US" sz="1400" dirty="0"/>
          </a:p>
          <a:p>
            <a:pPr algn="l" indent="0" marL="0">
              <a:buNone/>
            </a:pPr>
            <a:r>
              <a:rPr lang="en-US" sz="900" dirty="0">
                <a:solidFill>
                  <a:srgbClr val="5B6573"/>
                </a:solidFill>
                <a:latin typeface="Calibri" pitchFamily="34" charset="0"/>
                <a:ea typeface="Calibri" pitchFamily="34" charset="-122"/>
                <a:cs typeface="Calibri" pitchFamily="34" charset="-120"/>
              </a:rPr>
              <a:t>own consent</a:t>
            </a:r>
            <a:endParaRPr lang="en-US" sz="1400" dirty="0"/>
          </a:p>
        </p:txBody>
      </p:sp>
      <p:sp>
        <p:nvSpPr>
          <p:cNvPr id="79" name="Shape 57"/>
          <p:cNvSpPr/>
          <p:nvPr/>
        </p:nvSpPr>
        <p:spPr>
          <a:xfrm>
            <a:off x="6062472" y="4169664"/>
            <a:ext cx="1380744" cy="841248"/>
          </a:xfrm>
          <a:prstGeom prst="rect">
            <a:avLst/>
          </a:prstGeom>
          <a:solidFill>
            <a:srgbClr val="E3ECF7"/>
          </a:solidFill>
          <a:ln/>
        </p:spPr>
      </p:sp>
      <p:pic>
        <p:nvPicPr>
          <p:cNvPr id="80" name="Image 19" descr="FaCircleCheck icon">    </p:cNvPr>
          <p:cNvPicPr>
            <a:picLocks noChangeAspect="1"/>
          </p:cNvPicPr>
          <p:nvPr/>
        </p:nvPicPr>
        <p:blipFill>
          <a:blip r:embed="rId20"/>
          <a:stretch>
            <a:fillRect/>
          </a:stretch>
        </p:blipFill>
        <p:spPr>
          <a:xfrm>
            <a:off x="6597396" y="4279392"/>
            <a:ext cx="310896" cy="310896"/>
          </a:xfrm>
          <a:prstGeom prst="rect">
            <a:avLst/>
          </a:prstGeom>
        </p:spPr>
      </p:pic>
      <p:sp>
        <p:nvSpPr>
          <p:cNvPr id="81" name="Text 58"/>
          <p:cNvSpPr txBox="1"/>
          <p:nvPr/>
        </p:nvSpPr>
        <p:spPr>
          <a:xfrm>
            <a:off x="6062472" y="4645152"/>
            <a:ext cx="1380744" cy="310896"/>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Model allowed</a:t>
            </a:r>
            <a:endParaRPr lang="en-US" sz="950" dirty="0"/>
          </a:p>
        </p:txBody>
      </p:sp>
      <p:sp>
        <p:nvSpPr>
          <p:cNvPr id="82" name="Shape 59"/>
          <p:cNvSpPr/>
          <p:nvPr/>
        </p:nvSpPr>
        <p:spPr>
          <a:xfrm>
            <a:off x="7498080" y="4169664"/>
            <a:ext cx="1380744" cy="841248"/>
          </a:xfrm>
          <a:prstGeom prst="rect">
            <a:avLst/>
          </a:prstGeom>
          <a:solidFill>
            <a:srgbClr val="E3ECF7"/>
          </a:solidFill>
          <a:ln/>
        </p:spPr>
      </p:sp>
      <p:pic>
        <p:nvPicPr>
          <p:cNvPr id="83" name="Image 20" descr="FaCircleCheck icon">    </p:cNvPr>
          <p:cNvPicPr>
            <a:picLocks noChangeAspect="1"/>
          </p:cNvPicPr>
          <p:nvPr/>
        </p:nvPicPr>
        <p:blipFill>
          <a:blip r:embed="rId21"/>
          <a:stretch>
            <a:fillRect/>
          </a:stretch>
        </p:blipFill>
        <p:spPr>
          <a:xfrm>
            <a:off x="8033004" y="4279392"/>
            <a:ext cx="310896" cy="310896"/>
          </a:xfrm>
          <a:prstGeom prst="rect">
            <a:avLst/>
          </a:prstGeom>
        </p:spPr>
      </p:pic>
      <p:sp>
        <p:nvSpPr>
          <p:cNvPr id="84" name="Text 60"/>
          <p:cNvSpPr txBox="1"/>
          <p:nvPr/>
        </p:nvSpPr>
        <p:spPr>
          <a:xfrm>
            <a:off x="7498080" y="4645152"/>
            <a:ext cx="1380744" cy="310896"/>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Model allowed</a:t>
            </a:r>
            <a:endParaRPr lang="en-US" sz="950" dirty="0"/>
          </a:p>
        </p:txBody>
      </p:sp>
      <p:sp>
        <p:nvSpPr>
          <p:cNvPr id="85" name="Shape 61"/>
          <p:cNvSpPr/>
          <p:nvPr/>
        </p:nvSpPr>
        <p:spPr>
          <a:xfrm>
            <a:off x="8933688" y="4169664"/>
            <a:ext cx="1380744" cy="841248"/>
          </a:xfrm>
          <a:prstGeom prst="rect">
            <a:avLst/>
          </a:prstGeom>
          <a:solidFill>
            <a:srgbClr val="E3ECF7"/>
          </a:solidFill>
          <a:ln/>
        </p:spPr>
      </p:sp>
      <p:pic>
        <p:nvPicPr>
          <p:cNvPr id="86" name="Image 21" descr="FaCircleCheck icon">    </p:cNvPr>
          <p:cNvPicPr>
            <a:picLocks noChangeAspect="1"/>
          </p:cNvPicPr>
          <p:nvPr/>
        </p:nvPicPr>
        <p:blipFill>
          <a:blip r:embed="rId22"/>
          <a:stretch>
            <a:fillRect/>
          </a:stretch>
        </p:blipFill>
        <p:spPr>
          <a:xfrm>
            <a:off x="9468612" y="4279392"/>
            <a:ext cx="310896" cy="310896"/>
          </a:xfrm>
          <a:prstGeom prst="rect">
            <a:avLst/>
          </a:prstGeom>
        </p:spPr>
      </p:pic>
      <p:sp>
        <p:nvSpPr>
          <p:cNvPr id="87" name="Text 62"/>
          <p:cNvSpPr txBox="1"/>
          <p:nvPr/>
        </p:nvSpPr>
        <p:spPr>
          <a:xfrm>
            <a:off x="8933688" y="4645152"/>
            <a:ext cx="1380744" cy="310896"/>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Model allowed</a:t>
            </a:r>
            <a:endParaRPr lang="en-US" sz="950" dirty="0"/>
          </a:p>
        </p:txBody>
      </p:sp>
      <p:sp>
        <p:nvSpPr>
          <p:cNvPr id="88" name="Shape 63"/>
          <p:cNvSpPr/>
          <p:nvPr/>
        </p:nvSpPr>
        <p:spPr>
          <a:xfrm>
            <a:off x="10369296" y="4169664"/>
            <a:ext cx="1380744" cy="841248"/>
          </a:xfrm>
          <a:prstGeom prst="rect">
            <a:avLst/>
          </a:prstGeom>
          <a:solidFill>
            <a:srgbClr val="E3ECF7"/>
          </a:solidFill>
          <a:ln/>
        </p:spPr>
      </p:sp>
      <p:pic>
        <p:nvPicPr>
          <p:cNvPr id="89" name="Image 22" descr="FaLockOpen icon">    </p:cNvPr>
          <p:cNvPicPr>
            <a:picLocks noChangeAspect="1"/>
          </p:cNvPicPr>
          <p:nvPr/>
        </p:nvPicPr>
        <p:blipFill>
          <a:blip r:embed="rId23"/>
          <a:stretch>
            <a:fillRect/>
          </a:stretch>
        </p:blipFill>
        <p:spPr>
          <a:xfrm>
            <a:off x="10904220" y="4279392"/>
            <a:ext cx="310896" cy="310896"/>
          </a:xfrm>
          <a:prstGeom prst="rect">
            <a:avLst/>
          </a:prstGeom>
        </p:spPr>
      </p:pic>
      <p:sp>
        <p:nvSpPr>
          <p:cNvPr id="90" name="Text 64"/>
          <p:cNvSpPr txBox="1"/>
          <p:nvPr/>
        </p:nvSpPr>
        <p:spPr>
          <a:xfrm>
            <a:off x="10369296" y="4645152"/>
            <a:ext cx="1380744" cy="310896"/>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Own opt-in</a:t>
            </a:r>
            <a:endParaRPr lang="en-US" sz="950" dirty="0"/>
          </a:p>
        </p:txBody>
      </p:sp>
      <p:sp>
        <p:nvSpPr>
          <p:cNvPr id="91" name="Shape 65"/>
          <p:cNvSpPr/>
          <p:nvPr/>
        </p:nvSpPr>
        <p:spPr>
          <a:xfrm>
            <a:off x="4251960" y="5065776"/>
            <a:ext cx="1737360" cy="841248"/>
          </a:xfrm>
          <a:prstGeom prst="rect">
            <a:avLst/>
          </a:prstGeom>
          <a:solidFill>
            <a:srgbClr val="F4F7FB"/>
          </a:solidFill>
          <a:ln/>
        </p:spPr>
      </p:sp>
      <p:sp>
        <p:nvSpPr>
          <p:cNvPr id="92" name="Text 66"/>
          <p:cNvSpPr txBox="1"/>
          <p:nvPr/>
        </p:nvSpPr>
        <p:spPr>
          <a:xfrm>
            <a:off x="4343400" y="5065776"/>
            <a:ext cx="1600200" cy="841248"/>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Under 18, if counsel agrees</a:t>
            </a:r>
            <a:endParaRPr lang="en-US" sz="1400" dirty="0"/>
          </a:p>
          <a:p>
            <a:pPr algn="l" indent="0" marL="0">
              <a:buNone/>
            </a:pPr>
            <a:r>
              <a:rPr lang="en-US" sz="900" dirty="0">
                <a:solidFill>
                  <a:srgbClr val="5B6573"/>
                </a:solidFill>
                <a:latin typeface="Calibri" pitchFamily="34" charset="0"/>
                <a:ea typeface="Calibri" pitchFamily="34" charset="-122"/>
                <a:cs typeface="Calibri" pitchFamily="34" charset="-120"/>
              </a:rPr>
              <a:t>pending legal opinion</a:t>
            </a:r>
            <a:endParaRPr lang="en-US" sz="1400" dirty="0"/>
          </a:p>
        </p:txBody>
      </p:sp>
      <p:sp>
        <p:nvSpPr>
          <p:cNvPr id="93" name="Shape 67"/>
          <p:cNvSpPr/>
          <p:nvPr/>
        </p:nvSpPr>
        <p:spPr>
          <a:xfrm>
            <a:off x="6062472" y="5065776"/>
            <a:ext cx="1380744" cy="841248"/>
          </a:xfrm>
          <a:prstGeom prst="rect">
            <a:avLst/>
          </a:prstGeom>
          <a:solidFill>
            <a:srgbClr val="E3ECF7"/>
          </a:solidFill>
          <a:ln/>
        </p:spPr>
      </p:sp>
      <p:pic>
        <p:nvPicPr>
          <p:cNvPr id="94" name="Image 23" descr="FaCircleCheck icon">    </p:cNvPr>
          <p:cNvPicPr>
            <a:picLocks noChangeAspect="1"/>
          </p:cNvPicPr>
          <p:nvPr/>
        </p:nvPicPr>
        <p:blipFill>
          <a:blip r:embed="rId24"/>
          <a:stretch>
            <a:fillRect/>
          </a:stretch>
        </p:blipFill>
        <p:spPr>
          <a:xfrm>
            <a:off x="6597396" y="5175504"/>
            <a:ext cx="310896" cy="310896"/>
          </a:xfrm>
          <a:prstGeom prst="rect">
            <a:avLst/>
          </a:prstGeom>
        </p:spPr>
      </p:pic>
      <p:sp>
        <p:nvSpPr>
          <p:cNvPr id="95" name="Text 68"/>
          <p:cNvSpPr txBox="1"/>
          <p:nvPr/>
        </p:nvSpPr>
        <p:spPr>
          <a:xfrm>
            <a:off x="6062472" y="5541264"/>
            <a:ext cx="1380744" cy="310896"/>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Model allowed</a:t>
            </a:r>
            <a:endParaRPr lang="en-US" sz="950" dirty="0"/>
          </a:p>
        </p:txBody>
      </p:sp>
      <p:sp>
        <p:nvSpPr>
          <p:cNvPr id="96" name="Shape 69"/>
          <p:cNvSpPr/>
          <p:nvPr/>
        </p:nvSpPr>
        <p:spPr>
          <a:xfrm>
            <a:off x="7498080" y="5065776"/>
            <a:ext cx="1380744" cy="841248"/>
          </a:xfrm>
          <a:prstGeom prst="rect">
            <a:avLst/>
          </a:prstGeom>
          <a:solidFill>
            <a:srgbClr val="E3ECF7"/>
          </a:solidFill>
          <a:ln/>
        </p:spPr>
      </p:sp>
      <p:pic>
        <p:nvPicPr>
          <p:cNvPr id="97" name="Image 24" descr="FaCircleCheck icon">    </p:cNvPr>
          <p:cNvPicPr>
            <a:picLocks noChangeAspect="1"/>
          </p:cNvPicPr>
          <p:nvPr/>
        </p:nvPicPr>
        <p:blipFill>
          <a:blip r:embed="rId25"/>
          <a:stretch>
            <a:fillRect/>
          </a:stretch>
        </p:blipFill>
        <p:spPr>
          <a:xfrm>
            <a:off x="8033004" y="5175504"/>
            <a:ext cx="310896" cy="310896"/>
          </a:xfrm>
          <a:prstGeom prst="rect">
            <a:avLst/>
          </a:prstGeom>
        </p:spPr>
      </p:pic>
      <p:sp>
        <p:nvSpPr>
          <p:cNvPr id="98" name="Text 70"/>
          <p:cNvSpPr txBox="1"/>
          <p:nvPr/>
        </p:nvSpPr>
        <p:spPr>
          <a:xfrm>
            <a:off x="7498080" y="5541264"/>
            <a:ext cx="1380744" cy="310896"/>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Model allowed</a:t>
            </a:r>
            <a:endParaRPr lang="en-US" sz="950" dirty="0"/>
          </a:p>
        </p:txBody>
      </p:sp>
      <p:sp>
        <p:nvSpPr>
          <p:cNvPr id="99" name="Shape 71"/>
          <p:cNvSpPr/>
          <p:nvPr/>
        </p:nvSpPr>
        <p:spPr>
          <a:xfrm>
            <a:off x="8933688" y="5065776"/>
            <a:ext cx="1380744" cy="841248"/>
          </a:xfrm>
          <a:prstGeom prst="rect">
            <a:avLst/>
          </a:prstGeom>
          <a:solidFill>
            <a:srgbClr val="F1E8D3"/>
          </a:solidFill>
          <a:ln/>
        </p:spPr>
      </p:sp>
      <p:pic>
        <p:nvPicPr>
          <p:cNvPr id="100" name="Image 25" descr="FaLock icon">    </p:cNvPr>
          <p:cNvPicPr>
            <a:picLocks noChangeAspect="1"/>
          </p:cNvPicPr>
          <p:nvPr/>
        </p:nvPicPr>
        <p:blipFill>
          <a:blip r:embed="rId26"/>
          <a:stretch>
            <a:fillRect/>
          </a:stretch>
        </p:blipFill>
        <p:spPr>
          <a:xfrm>
            <a:off x="9468612" y="5175504"/>
            <a:ext cx="310896" cy="310896"/>
          </a:xfrm>
          <a:prstGeom prst="rect">
            <a:avLst/>
          </a:prstGeom>
        </p:spPr>
      </p:pic>
      <p:sp>
        <p:nvSpPr>
          <p:cNvPr id="101" name="Text 72"/>
          <p:cNvSpPr txBox="1"/>
          <p:nvPr/>
        </p:nvSpPr>
        <p:spPr>
          <a:xfrm>
            <a:off x="8933688" y="5541264"/>
            <a:ext cx="1380744" cy="310896"/>
          </a:xfrm>
          <a:prstGeom prst="rect">
            <a:avLst/>
          </a:prstGeom>
          <a:noFill/>
          <a:ln/>
        </p:spPr>
        <p:txBody>
          <a:bodyPr wrap="square" lIns="0" tIns="0" rIns="0" bIns="0" rtlCol="0" anchor="ctr"/>
          <a:lstStyle/>
          <a:p>
            <a:pPr algn="ctr" indent="0" marL="0">
              <a:buNone/>
            </a:pPr>
            <a:r>
              <a:rPr lang="en-US" sz="950" b="1" dirty="0">
                <a:solidFill>
                  <a:srgbClr val="8A6500"/>
                </a:solidFill>
                <a:latin typeface="Calibri" pitchFamily="34" charset="0"/>
                <a:ea typeface="Calibri" pitchFamily="34" charset="-122"/>
                <a:cs typeface="Calibri" pitchFamily="34" charset="-120"/>
              </a:rPr>
              <a:t>Plain rules only</a:t>
            </a:r>
            <a:endParaRPr lang="en-US" sz="950" dirty="0"/>
          </a:p>
        </p:txBody>
      </p:sp>
      <p:sp>
        <p:nvSpPr>
          <p:cNvPr id="102" name="Shape 73"/>
          <p:cNvSpPr/>
          <p:nvPr/>
        </p:nvSpPr>
        <p:spPr>
          <a:xfrm>
            <a:off x="10369296" y="5065776"/>
            <a:ext cx="1380744" cy="841248"/>
          </a:xfrm>
          <a:prstGeom prst="rect">
            <a:avLst/>
          </a:prstGeom>
          <a:solidFill>
            <a:srgbClr val="F6E0DD"/>
          </a:solidFill>
          <a:ln/>
        </p:spPr>
      </p:sp>
      <p:pic>
        <p:nvPicPr>
          <p:cNvPr id="103" name="Image 26" descr="FaBan icon">    </p:cNvPr>
          <p:cNvPicPr>
            <a:picLocks noChangeAspect="1"/>
          </p:cNvPicPr>
          <p:nvPr/>
        </p:nvPicPr>
        <p:blipFill>
          <a:blip r:embed="rId27"/>
          <a:stretch>
            <a:fillRect/>
          </a:stretch>
        </p:blipFill>
        <p:spPr>
          <a:xfrm>
            <a:off x="10904220" y="5175504"/>
            <a:ext cx="310896" cy="310896"/>
          </a:xfrm>
          <a:prstGeom prst="rect">
            <a:avLst/>
          </a:prstGeom>
        </p:spPr>
      </p:pic>
      <p:sp>
        <p:nvSpPr>
          <p:cNvPr id="104" name="Text 74"/>
          <p:cNvSpPr txBox="1"/>
          <p:nvPr/>
        </p:nvSpPr>
        <p:spPr>
          <a:xfrm>
            <a:off x="10369296" y="5541264"/>
            <a:ext cx="1380744" cy="310896"/>
          </a:xfrm>
          <a:prstGeom prst="rect">
            <a:avLst/>
          </a:prstGeom>
          <a:noFill/>
          <a:ln/>
        </p:spPr>
        <p:txBody>
          <a:bodyPr wrap="square" lIns="0" tIns="0" rIns="0" bIns="0" rtlCol="0" anchor="ctr"/>
          <a:lstStyle/>
          <a:p>
            <a:pPr algn="ctr" indent="0" marL="0">
              <a:buNone/>
            </a:pPr>
            <a:r>
              <a:rPr lang="en-US" sz="950" b="1" dirty="0">
                <a:solidFill>
                  <a:srgbClr val="C0392B"/>
                </a:solidFill>
                <a:latin typeface="Calibri" pitchFamily="34" charset="0"/>
                <a:ea typeface="Calibri" pitchFamily="34" charset="-122"/>
                <a:cs typeface="Calibri" pitchFamily="34" charset="-120"/>
              </a:rPr>
              <a:t>Never used</a:t>
            </a:r>
            <a:endParaRPr lang="en-US" sz="950" dirty="0"/>
          </a:p>
        </p:txBody>
      </p:sp>
      <p:sp>
        <p:nvSpPr>
          <p:cNvPr id="105" name="Shape 75"/>
          <p:cNvSpPr/>
          <p:nvPr/>
        </p:nvSpPr>
        <p:spPr>
          <a:xfrm>
            <a:off x="4251960" y="5989320"/>
            <a:ext cx="7525512" cy="347472"/>
          </a:xfrm>
          <a:prstGeom prst="rect">
            <a:avLst/>
          </a:prstGeom>
          <a:solidFill>
            <a:srgbClr val="1F4A82"/>
          </a:solidFill>
          <a:ln/>
        </p:spPr>
      </p:sp>
      <p:sp>
        <p:nvSpPr>
          <p:cNvPr id="106" name="Text 76"/>
          <p:cNvSpPr txBox="1"/>
          <p:nvPr/>
        </p:nvSpPr>
        <p:spPr>
          <a:xfrm>
            <a:off x="4343400" y="5989320"/>
            <a:ext cx="734263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DPDP s.9(3): no tracking of children, even with consent. Under-18 dropout and fee lists use plain rules.</a:t>
            </a:r>
            <a:endParaRPr lang="en-US" sz="1000" dirty="0"/>
          </a:p>
        </p:txBody>
      </p:sp>
      <p:sp>
        <p:nvSpPr>
          <p:cNvPr id="107" name="Text 77"/>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(OULAD day 28, student-grouped 5-fold; precision at top 10 %); contracts/routing_policy.yaml; DPDP Act 2023 s.9. On synthetic institutes, early-warning lift is pending.</a:t>
            </a:r>
            <a:endParaRPr lang="en-US" sz="85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D4A24C"/>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statistics">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4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HONEST RANGES AND SAFE PARENT REPORTS</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An honest range instead of a single rank, and parent messages where every number is checked</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88720"/>
            <a:ext cx="5120640" cy="2889504"/>
          </a:xfrm>
          <a:prstGeom prst="rect">
            <a:avLst/>
          </a:prstGeom>
          <a:solidFill>
            <a:srgbClr val="FFFFFF"/>
          </a:solidFill>
          <a:ln w="19050">
            <a:solidFill>
              <a:srgbClr val="1F4A82"/>
            </a:solidFill>
            <a:prstDash val="solid"/>
          </a:ln>
        </p:spPr>
      </p:sp>
      <p:pic>
        <p:nvPicPr>
          <p:cNvPr id="27" name="Image 1" descr="Student profile with percentile range (illustrative)">    </p:cNvPr>
          <p:cNvPicPr>
            <a:picLocks noChangeAspect="1"/>
          </p:cNvPicPr>
          <p:nvPr/>
        </p:nvPicPr>
        <p:blipFill>
          <a:blip r:embed="rId2"/>
          <a:stretch>
            <a:fillRect/>
          </a:stretch>
        </p:blipFill>
        <p:spPr>
          <a:xfrm>
            <a:off x="429768" y="1207008"/>
            <a:ext cx="5084064" cy="2852928"/>
          </a:xfrm>
          <a:prstGeom prst="rect">
            <a:avLst/>
          </a:prstGeom>
        </p:spPr>
      </p:pic>
      <p:sp>
        <p:nvSpPr>
          <p:cNvPr id="28" name="Shape 23"/>
          <p:cNvSpPr/>
          <p:nvPr/>
        </p:nvSpPr>
        <p:spPr>
          <a:xfrm>
            <a:off x="3017520" y="2514600"/>
            <a:ext cx="274320" cy="274320"/>
          </a:xfrm>
          <a:prstGeom prst="ellipse">
            <a:avLst/>
          </a:prstGeom>
          <a:solidFill>
            <a:srgbClr val="1F4A82"/>
          </a:solidFill>
          <a:ln w="19050">
            <a:solidFill>
              <a:srgbClr val="FFFFFF"/>
            </a:solidFill>
            <a:prstDash val="solid"/>
          </a:ln>
        </p:spPr>
      </p:sp>
      <p:sp>
        <p:nvSpPr>
          <p:cNvPr id="29" name="Text 24"/>
          <p:cNvSpPr txBox="1"/>
          <p:nvPr/>
        </p:nvSpPr>
        <p:spPr>
          <a:xfrm>
            <a:off x="3017520" y="25146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Shape 25"/>
          <p:cNvSpPr/>
          <p:nvPr/>
        </p:nvSpPr>
        <p:spPr>
          <a:xfrm>
            <a:off x="5897880" y="1188720"/>
            <a:ext cx="5029200" cy="3017520"/>
          </a:xfrm>
          <a:prstGeom prst="rect">
            <a:avLst/>
          </a:prstGeom>
          <a:solidFill>
            <a:srgbClr val="FFFFFF"/>
          </a:solidFill>
          <a:ln w="19050">
            <a:solidFill>
              <a:srgbClr val="1F4A82"/>
            </a:solidFill>
            <a:prstDash val="solid"/>
          </a:ln>
        </p:spPr>
      </p:sp>
      <p:pic>
        <p:nvPicPr>
          <p:cNvPr id="31" name="Image 2" descr="Parent report in Hindi and English (illustrative)">    </p:cNvPr>
          <p:cNvPicPr>
            <a:picLocks noChangeAspect="1"/>
          </p:cNvPicPr>
          <p:nvPr/>
        </p:nvPicPr>
        <p:blipFill>
          <a:blip r:embed="rId3"/>
          <a:stretch>
            <a:fillRect/>
          </a:stretch>
        </p:blipFill>
        <p:spPr>
          <a:xfrm>
            <a:off x="5916168" y="1207008"/>
            <a:ext cx="4992624" cy="2999232"/>
          </a:xfrm>
          <a:prstGeom prst="rect">
            <a:avLst/>
          </a:prstGeom>
        </p:spPr>
      </p:pic>
      <p:sp>
        <p:nvSpPr>
          <p:cNvPr id="32" name="Shape 26"/>
          <p:cNvSpPr/>
          <p:nvPr/>
        </p:nvSpPr>
        <p:spPr>
          <a:xfrm>
            <a:off x="7223760" y="3429000"/>
            <a:ext cx="274320" cy="274320"/>
          </a:xfrm>
          <a:prstGeom prst="ellipse">
            <a:avLst/>
          </a:prstGeom>
          <a:solidFill>
            <a:srgbClr val="1F4A82"/>
          </a:solidFill>
          <a:ln w="19050">
            <a:solidFill>
              <a:srgbClr val="FFFFFF"/>
            </a:solidFill>
            <a:prstDash val="solid"/>
          </a:ln>
        </p:spPr>
      </p:sp>
      <p:sp>
        <p:nvSpPr>
          <p:cNvPr id="33" name="Text 27"/>
          <p:cNvSpPr txBox="1"/>
          <p:nvPr/>
        </p:nvSpPr>
        <p:spPr>
          <a:xfrm>
            <a:off x="7223760" y="34290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28"/>
          <p:cNvSpPr txBox="1"/>
          <p:nvPr/>
        </p:nvSpPr>
        <p:spPr>
          <a:xfrm>
            <a:off x="411480" y="4114800"/>
            <a:ext cx="5120640" cy="274320"/>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1 </a:t>
            </a:r>
            <a:pPr algn="l" indent="0" marL="0">
              <a:buNone/>
            </a:pPr>
            <a:r>
              <a:rPr lang="en-US" sz="1050" dirty="0">
                <a:solidFill>
                  <a:srgbClr val="1F2937"/>
                </a:solidFill>
                <a:latin typeface="Calibri" pitchFamily="34" charset="0"/>
                <a:ea typeface="Calibri" pitchFamily="34" charset="-122"/>
                <a:cs typeface="Calibri" pitchFamily="34" charset="-120"/>
              </a:rPr>
              <a:t>The range narrows as tests add up. Never a single rank.</a:t>
            </a:r>
            <a:endParaRPr lang="en-US" sz="1050" dirty="0"/>
          </a:p>
        </p:txBody>
      </p:sp>
      <p:sp>
        <p:nvSpPr>
          <p:cNvPr id="35" name="Text 29"/>
          <p:cNvSpPr txBox="1"/>
          <p:nvPr/>
        </p:nvSpPr>
        <p:spPr>
          <a:xfrm>
            <a:off x="5897880" y="4242816"/>
            <a:ext cx="5029200" cy="274320"/>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2 </a:t>
            </a:r>
            <a:pPr algn="l" indent="0" marL="0">
              <a:buNone/>
            </a:pPr>
            <a:r>
              <a:rPr lang="en-US" sz="1050" dirty="0">
                <a:solidFill>
                  <a:srgbClr val="1F2937"/>
                </a:solidFill>
                <a:latin typeface="Calibri" pitchFamily="34" charset="0"/>
                <a:ea typeface="Calibri" pitchFamily="34" charset="-122"/>
                <a:cs typeface="Calibri" pitchFamily="34" charset="-120"/>
              </a:rPr>
              <a:t>Hindi and English; every number checked before sending.</a:t>
            </a:r>
            <a:endParaRPr lang="en-US" sz="1050" dirty="0"/>
          </a:p>
        </p:txBody>
      </p:sp>
      <p:sp>
        <p:nvSpPr>
          <p:cNvPr id="36" name="Shape 30"/>
          <p:cNvSpPr/>
          <p:nvPr/>
        </p:nvSpPr>
        <p:spPr>
          <a:xfrm>
            <a:off x="11064240" y="1188720"/>
            <a:ext cx="713232" cy="3017520"/>
          </a:xfrm>
          <a:prstGeom prst="rect">
            <a:avLst/>
          </a:prstGeom>
          <a:solidFill>
            <a:srgbClr val="1F4A82"/>
          </a:solidFill>
          <a:ln/>
        </p:spPr>
      </p:sp>
      <p:sp>
        <p:nvSpPr>
          <p:cNvPr id="37" name="Text 31"/>
          <p:cNvSpPr txBox="1"/>
          <p:nvPr/>
        </p:nvSpPr>
        <p:spPr>
          <a:xfrm>
            <a:off x="11064240" y="1325880"/>
            <a:ext cx="713232"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80 %</a:t>
            </a:r>
            <a:endParaRPr lang="en-US" sz="2000" dirty="0"/>
          </a:p>
        </p:txBody>
      </p:sp>
      <p:sp>
        <p:nvSpPr>
          <p:cNvPr id="38" name="Text 32"/>
          <p:cNvSpPr txBox="1"/>
          <p:nvPr/>
        </p:nvSpPr>
        <p:spPr>
          <a:xfrm>
            <a:off x="11082528" y="1783080"/>
            <a:ext cx="676656" cy="1188720"/>
          </a:xfrm>
          <a:prstGeom prst="rect">
            <a:avLst/>
          </a:prstGeom>
          <a:noFill/>
          <a:ln/>
        </p:spPr>
        <p:txBody>
          <a:bodyPr wrap="square" lIns="0" tIns="0" rIns="0" bIns="0" rtlCol="0" anchor="t"/>
          <a:lstStyle/>
          <a:p>
            <a:pPr algn="ctr" indent="0" marL="0">
              <a:buNone/>
            </a:pPr>
            <a:r>
              <a:rPr lang="en-US" sz="900" dirty="0">
                <a:solidFill>
                  <a:srgbClr val="C9DBF0"/>
                </a:solidFill>
                <a:latin typeface="Calibri" pitchFamily="34" charset="0"/>
                <a:ea typeface="Calibri" pitchFamily="34" charset="-122"/>
                <a:cs typeface="Calibri" pitchFamily="34" charset="-120"/>
              </a:rPr>
              <a:t>of students land inside their range</a:t>
            </a:r>
            <a:endParaRPr lang="en-US" sz="900" dirty="0"/>
          </a:p>
        </p:txBody>
      </p:sp>
      <p:sp>
        <p:nvSpPr>
          <p:cNvPr id="39" name="Text 33"/>
          <p:cNvSpPr txBox="1"/>
          <p:nvPr/>
        </p:nvSpPr>
        <p:spPr>
          <a:xfrm>
            <a:off x="11082528" y="3017520"/>
            <a:ext cx="676656" cy="1097280"/>
          </a:xfrm>
          <a:prstGeom prst="rect">
            <a:avLst/>
          </a:prstGeom>
          <a:noFill/>
          <a:ln/>
        </p:spPr>
        <p:txBody>
          <a:bodyPr wrap="square" lIns="0" tIns="0" rIns="0" bIns="0" rtlCol="0" anchor="t"/>
          <a:lstStyle/>
          <a:p>
            <a:pPr algn="ctr" indent="0" marL="0">
              <a:buNone/>
            </a:pPr>
            <a:r>
              <a:rPr lang="en-US" sz="900" dirty="0">
                <a:solidFill>
                  <a:srgbClr val="C9DBF0"/>
                </a:solidFill>
                <a:latin typeface="Calibri" pitchFamily="34" charset="0"/>
                <a:ea typeface="Calibri" pitchFamily="34" charset="-122"/>
                <a:cs typeface="Calibri" pitchFamily="34" charset="-120"/>
              </a:rPr>
              <a:t>editable exam table</a:t>
            </a:r>
            <a:endParaRPr lang="en-US" sz="900" dirty="0"/>
          </a:p>
        </p:txBody>
      </p:sp>
      <p:sp>
        <p:nvSpPr>
          <p:cNvPr id="40" name="Shape 34"/>
          <p:cNvSpPr/>
          <p:nvPr/>
        </p:nvSpPr>
        <p:spPr>
          <a:xfrm>
            <a:off x="411480" y="4572000"/>
            <a:ext cx="256032" cy="256032"/>
          </a:xfrm>
          <a:prstGeom prst="rect">
            <a:avLst/>
          </a:prstGeom>
          <a:solidFill>
            <a:srgbClr val="1F4A82"/>
          </a:solidFill>
          <a:ln/>
        </p:spPr>
      </p:sp>
      <p:sp>
        <p:nvSpPr>
          <p:cNvPr id="41" name="Text 35"/>
          <p:cNvSpPr txBox="1"/>
          <p:nvPr/>
        </p:nvSpPr>
        <p:spPr>
          <a:xfrm>
            <a:off x="411480" y="4572000"/>
            <a:ext cx="256032" cy="256032"/>
          </a:xfrm>
          <a:prstGeom prst="rect">
            <a:avLst/>
          </a:prstGeom>
          <a:noFill/>
          <a:ln/>
        </p:spPr>
        <p:txBody>
          <a:bodyPr wrap="square" lIns="0" tIns="0" rIns="0" bIns="0" rtlCol="0" anchor="ctr"/>
          <a:lstStyle/>
          <a:p>
            <a:pPr algn="ctr" indent="0" marL="0">
              <a:buNone/>
            </a:pPr>
            <a:endParaRPr lang="en-US" sz="1150" dirty="0"/>
          </a:p>
        </p:txBody>
      </p:sp>
      <p:sp>
        <p:nvSpPr>
          <p:cNvPr id="42" name="Text 36"/>
          <p:cNvSpPr txBox="1"/>
          <p:nvPr/>
        </p:nvSpPr>
        <p:spPr>
          <a:xfrm>
            <a:off x="740664" y="4572000"/>
            <a:ext cx="69860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EIGHT AUTOMATIC SAFETY CHECKS BEFORE ANY MESSAGE</a:t>
            </a:r>
            <a:endParaRPr lang="en-US" sz="1200" dirty="0"/>
          </a:p>
        </p:txBody>
      </p:sp>
      <p:sp>
        <p:nvSpPr>
          <p:cNvPr id="43" name="Shape 37"/>
          <p:cNvSpPr/>
          <p:nvPr/>
        </p:nvSpPr>
        <p:spPr>
          <a:xfrm>
            <a:off x="411480" y="4919472"/>
            <a:ext cx="329184" cy="384048"/>
          </a:xfrm>
          <a:prstGeom prst="rect">
            <a:avLst/>
          </a:prstGeom>
          <a:solidFill>
            <a:srgbClr val="1F4A82"/>
          </a:solidFill>
          <a:ln/>
        </p:spPr>
      </p:sp>
      <p:sp>
        <p:nvSpPr>
          <p:cNvPr id="44" name="Text 38"/>
          <p:cNvSpPr txBox="1"/>
          <p:nvPr/>
        </p:nvSpPr>
        <p:spPr>
          <a:xfrm>
            <a:off x="411480" y="4919472"/>
            <a:ext cx="3291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5" name="Shape 39"/>
          <p:cNvSpPr/>
          <p:nvPr/>
        </p:nvSpPr>
        <p:spPr>
          <a:xfrm>
            <a:off x="740664" y="4919472"/>
            <a:ext cx="1389888" cy="384048"/>
          </a:xfrm>
          <a:prstGeom prst="rect">
            <a:avLst/>
          </a:prstGeom>
          <a:solidFill>
            <a:srgbClr val="E3ECF7"/>
          </a:solidFill>
          <a:ln/>
        </p:spPr>
      </p:sp>
      <p:sp>
        <p:nvSpPr>
          <p:cNvPr id="46" name="Text 40"/>
          <p:cNvSpPr txBox="1"/>
          <p:nvPr/>
        </p:nvSpPr>
        <p:spPr>
          <a:xfrm>
            <a:off x="795528" y="4919472"/>
            <a:ext cx="1316736" cy="384048"/>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Numbers match the data</a:t>
            </a:r>
            <a:endParaRPr lang="en-US" sz="900" dirty="0"/>
          </a:p>
        </p:txBody>
      </p:sp>
      <p:sp>
        <p:nvSpPr>
          <p:cNvPr id="47" name="Shape 41"/>
          <p:cNvSpPr/>
          <p:nvPr/>
        </p:nvSpPr>
        <p:spPr>
          <a:xfrm>
            <a:off x="2194560" y="4919472"/>
            <a:ext cx="329184" cy="384048"/>
          </a:xfrm>
          <a:prstGeom prst="rect">
            <a:avLst/>
          </a:prstGeom>
          <a:solidFill>
            <a:srgbClr val="1F4A82"/>
          </a:solidFill>
          <a:ln/>
        </p:spPr>
      </p:sp>
      <p:sp>
        <p:nvSpPr>
          <p:cNvPr id="48" name="Text 42"/>
          <p:cNvSpPr txBox="1"/>
          <p:nvPr/>
        </p:nvSpPr>
        <p:spPr>
          <a:xfrm>
            <a:off x="2194560" y="4919472"/>
            <a:ext cx="3291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9" name="Shape 43"/>
          <p:cNvSpPr/>
          <p:nvPr/>
        </p:nvSpPr>
        <p:spPr>
          <a:xfrm>
            <a:off x="2523744" y="4919472"/>
            <a:ext cx="1389888" cy="384048"/>
          </a:xfrm>
          <a:prstGeom prst="rect">
            <a:avLst/>
          </a:prstGeom>
          <a:solidFill>
            <a:srgbClr val="E3ECF7"/>
          </a:solidFill>
          <a:ln/>
        </p:spPr>
      </p:sp>
      <p:sp>
        <p:nvSpPr>
          <p:cNvPr id="50" name="Text 44"/>
          <p:cNvSpPr txBox="1"/>
          <p:nvPr/>
        </p:nvSpPr>
        <p:spPr>
          <a:xfrm>
            <a:off x="2578608" y="4919472"/>
            <a:ext cx="1316736" cy="384048"/>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Topics are real</a:t>
            </a:r>
            <a:endParaRPr lang="en-US" sz="900" dirty="0"/>
          </a:p>
        </p:txBody>
      </p:sp>
      <p:sp>
        <p:nvSpPr>
          <p:cNvPr id="51" name="Shape 45"/>
          <p:cNvSpPr/>
          <p:nvPr/>
        </p:nvSpPr>
        <p:spPr>
          <a:xfrm>
            <a:off x="3977640" y="4919472"/>
            <a:ext cx="329184" cy="384048"/>
          </a:xfrm>
          <a:prstGeom prst="rect">
            <a:avLst/>
          </a:prstGeom>
          <a:solidFill>
            <a:srgbClr val="1F4A82"/>
          </a:solidFill>
          <a:ln/>
        </p:spPr>
      </p:sp>
      <p:sp>
        <p:nvSpPr>
          <p:cNvPr id="52" name="Text 46"/>
          <p:cNvSpPr txBox="1"/>
          <p:nvPr/>
        </p:nvSpPr>
        <p:spPr>
          <a:xfrm>
            <a:off x="3977640" y="4919472"/>
            <a:ext cx="3291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3" name="Shape 47"/>
          <p:cNvSpPr/>
          <p:nvPr/>
        </p:nvSpPr>
        <p:spPr>
          <a:xfrm>
            <a:off x="4306824" y="4919472"/>
            <a:ext cx="1389888" cy="384048"/>
          </a:xfrm>
          <a:prstGeom prst="rect">
            <a:avLst/>
          </a:prstGeom>
          <a:solidFill>
            <a:srgbClr val="E3ECF7"/>
          </a:solidFill>
          <a:ln/>
        </p:spPr>
      </p:sp>
      <p:sp>
        <p:nvSpPr>
          <p:cNvPr id="54" name="Text 48"/>
          <p:cNvSpPr txBox="1"/>
          <p:nvPr/>
        </p:nvSpPr>
        <p:spPr>
          <a:xfrm>
            <a:off x="4361688" y="4919472"/>
            <a:ext cx="1316736" cy="384048"/>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Names added last</a:t>
            </a:r>
            <a:endParaRPr lang="en-US" sz="900" dirty="0"/>
          </a:p>
        </p:txBody>
      </p:sp>
      <p:sp>
        <p:nvSpPr>
          <p:cNvPr id="55" name="Shape 49"/>
          <p:cNvSpPr/>
          <p:nvPr/>
        </p:nvSpPr>
        <p:spPr>
          <a:xfrm>
            <a:off x="5760720" y="4919472"/>
            <a:ext cx="329184" cy="384048"/>
          </a:xfrm>
          <a:prstGeom prst="rect">
            <a:avLst/>
          </a:prstGeom>
          <a:solidFill>
            <a:srgbClr val="1F4A82"/>
          </a:solidFill>
          <a:ln/>
        </p:spPr>
      </p:sp>
      <p:sp>
        <p:nvSpPr>
          <p:cNvPr id="56" name="Text 50"/>
          <p:cNvSpPr txBox="1"/>
          <p:nvPr/>
        </p:nvSpPr>
        <p:spPr>
          <a:xfrm>
            <a:off x="5760720" y="4919472"/>
            <a:ext cx="3291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Shape 51"/>
          <p:cNvSpPr/>
          <p:nvPr/>
        </p:nvSpPr>
        <p:spPr>
          <a:xfrm>
            <a:off x="6089904" y="4919472"/>
            <a:ext cx="1389888" cy="384048"/>
          </a:xfrm>
          <a:prstGeom prst="rect">
            <a:avLst/>
          </a:prstGeom>
          <a:solidFill>
            <a:srgbClr val="E3ECF7"/>
          </a:solidFill>
          <a:ln/>
        </p:spPr>
      </p:sp>
      <p:sp>
        <p:nvSpPr>
          <p:cNvPr id="58" name="Text 52"/>
          <p:cNvSpPr txBox="1"/>
          <p:nvPr/>
        </p:nvSpPr>
        <p:spPr>
          <a:xfrm>
            <a:off x="6144768" y="4919472"/>
            <a:ext cx="1316736" cy="384048"/>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No banned words</a:t>
            </a:r>
            <a:endParaRPr lang="en-US" sz="900" dirty="0"/>
          </a:p>
        </p:txBody>
      </p:sp>
      <p:sp>
        <p:nvSpPr>
          <p:cNvPr id="59" name="Shape 53"/>
          <p:cNvSpPr/>
          <p:nvPr/>
        </p:nvSpPr>
        <p:spPr>
          <a:xfrm>
            <a:off x="411480" y="5376672"/>
            <a:ext cx="329184" cy="384048"/>
          </a:xfrm>
          <a:prstGeom prst="rect">
            <a:avLst/>
          </a:prstGeom>
          <a:solidFill>
            <a:srgbClr val="1F4A82"/>
          </a:solidFill>
          <a:ln/>
        </p:spPr>
      </p:sp>
      <p:sp>
        <p:nvSpPr>
          <p:cNvPr id="60" name="Text 54"/>
          <p:cNvSpPr txBox="1"/>
          <p:nvPr/>
        </p:nvSpPr>
        <p:spPr>
          <a:xfrm>
            <a:off x="411480" y="5376672"/>
            <a:ext cx="3291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1" name="Shape 55"/>
          <p:cNvSpPr/>
          <p:nvPr/>
        </p:nvSpPr>
        <p:spPr>
          <a:xfrm>
            <a:off x="740664" y="5376672"/>
            <a:ext cx="1389888" cy="384048"/>
          </a:xfrm>
          <a:prstGeom prst="rect">
            <a:avLst/>
          </a:prstGeom>
          <a:solidFill>
            <a:srgbClr val="E3ECF7"/>
          </a:solidFill>
          <a:ln/>
        </p:spPr>
      </p:sp>
      <p:sp>
        <p:nvSpPr>
          <p:cNvPr id="62" name="Text 56"/>
          <p:cNvSpPr txBox="1"/>
          <p:nvPr/>
        </p:nvSpPr>
        <p:spPr>
          <a:xfrm>
            <a:off x="795528" y="5376672"/>
            <a:ext cx="1316736" cy="384048"/>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Right length</a:t>
            </a:r>
            <a:endParaRPr lang="en-US" sz="900" dirty="0"/>
          </a:p>
        </p:txBody>
      </p:sp>
      <p:sp>
        <p:nvSpPr>
          <p:cNvPr id="63" name="Shape 57"/>
          <p:cNvSpPr/>
          <p:nvPr/>
        </p:nvSpPr>
        <p:spPr>
          <a:xfrm>
            <a:off x="2194560" y="5376672"/>
            <a:ext cx="329184" cy="384048"/>
          </a:xfrm>
          <a:prstGeom prst="rect">
            <a:avLst/>
          </a:prstGeom>
          <a:solidFill>
            <a:srgbClr val="1F4A82"/>
          </a:solidFill>
          <a:ln/>
        </p:spPr>
      </p:sp>
      <p:sp>
        <p:nvSpPr>
          <p:cNvPr id="64" name="Text 58"/>
          <p:cNvSpPr txBox="1"/>
          <p:nvPr/>
        </p:nvSpPr>
        <p:spPr>
          <a:xfrm>
            <a:off x="2194560" y="5376672"/>
            <a:ext cx="3291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65" name="Shape 59"/>
          <p:cNvSpPr/>
          <p:nvPr/>
        </p:nvSpPr>
        <p:spPr>
          <a:xfrm>
            <a:off x="2523744" y="5376672"/>
            <a:ext cx="1389888" cy="384048"/>
          </a:xfrm>
          <a:prstGeom prst="rect">
            <a:avLst/>
          </a:prstGeom>
          <a:solidFill>
            <a:srgbClr val="E3ECF7"/>
          </a:solidFill>
          <a:ln/>
        </p:spPr>
      </p:sp>
      <p:sp>
        <p:nvSpPr>
          <p:cNvPr id="66" name="Text 60"/>
          <p:cNvSpPr txBox="1"/>
          <p:nvPr/>
        </p:nvSpPr>
        <p:spPr>
          <a:xfrm>
            <a:off x="2578608" y="5376672"/>
            <a:ext cx="1316736" cy="384048"/>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Trend is correct</a:t>
            </a:r>
            <a:endParaRPr lang="en-US" sz="900" dirty="0"/>
          </a:p>
        </p:txBody>
      </p:sp>
      <p:sp>
        <p:nvSpPr>
          <p:cNvPr id="67" name="Shape 61"/>
          <p:cNvSpPr/>
          <p:nvPr/>
        </p:nvSpPr>
        <p:spPr>
          <a:xfrm>
            <a:off x="3977640" y="5376672"/>
            <a:ext cx="329184" cy="384048"/>
          </a:xfrm>
          <a:prstGeom prst="rect">
            <a:avLst/>
          </a:prstGeom>
          <a:solidFill>
            <a:srgbClr val="1F4A82"/>
          </a:solidFill>
          <a:ln/>
        </p:spPr>
      </p:sp>
      <p:sp>
        <p:nvSpPr>
          <p:cNvPr id="68" name="Text 62"/>
          <p:cNvSpPr txBox="1"/>
          <p:nvPr/>
        </p:nvSpPr>
        <p:spPr>
          <a:xfrm>
            <a:off x="3977640" y="5376672"/>
            <a:ext cx="3291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69" name="Shape 63"/>
          <p:cNvSpPr/>
          <p:nvPr/>
        </p:nvSpPr>
        <p:spPr>
          <a:xfrm>
            <a:off x="4306824" y="5376672"/>
            <a:ext cx="1389888" cy="384048"/>
          </a:xfrm>
          <a:prstGeom prst="rect">
            <a:avLst/>
          </a:prstGeom>
          <a:solidFill>
            <a:srgbClr val="E3ECF7"/>
          </a:solidFill>
          <a:ln/>
        </p:spPr>
      </p:sp>
      <p:sp>
        <p:nvSpPr>
          <p:cNvPr id="70" name="Text 64"/>
          <p:cNvSpPr txBox="1"/>
          <p:nvPr/>
        </p:nvSpPr>
        <p:spPr>
          <a:xfrm>
            <a:off x="4361688" y="5376672"/>
            <a:ext cx="1316736" cy="384048"/>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Tips are approved</a:t>
            </a:r>
            <a:endParaRPr lang="en-US" sz="900" dirty="0"/>
          </a:p>
        </p:txBody>
      </p:sp>
      <p:sp>
        <p:nvSpPr>
          <p:cNvPr id="71" name="Shape 65"/>
          <p:cNvSpPr/>
          <p:nvPr/>
        </p:nvSpPr>
        <p:spPr>
          <a:xfrm>
            <a:off x="5760720" y="5376672"/>
            <a:ext cx="329184" cy="384048"/>
          </a:xfrm>
          <a:prstGeom prst="rect">
            <a:avLst/>
          </a:prstGeom>
          <a:solidFill>
            <a:srgbClr val="1F4A82"/>
          </a:solidFill>
          <a:ln/>
        </p:spPr>
      </p:sp>
      <p:sp>
        <p:nvSpPr>
          <p:cNvPr id="72" name="Text 66"/>
          <p:cNvSpPr txBox="1"/>
          <p:nvPr/>
        </p:nvSpPr>
        <p:spPr>
          <a:xfrm>
            <a:off x="5760720" y="5376672"/>
            <a:ext cx="3291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73" name="Shape 67"/>
          <p:cNvSpPr/>
          <p:nvPr/>
        </p:nvSpPr>
        <p:spPr>
          <a:xfrm>
            <a:off x="6089904" y="5376672"/>
            <a:ext cx="1389888" cy="384048"/>
          </a:xfrm>
          <a:prstGeom prst="rect">
            <a:avLst/>
          </a:prstGeom>
          <a:solidFill>
            <a:srgbClr val="E3ECF7"/>
          </a:solidFill>
          <a:ln/>
        </p:spPr>
      </p:sp>
      <p:sp>
        <p:nvSpPr>
          <p:cNvPr id="74" name="Text 68"/>
          <p:cNvSpPr txBox="1"/>
          <p:nvPr/>
        </p:nvSpPr>
        <p:spPr>
          <a:xfrm>
            <a:off x="6144768" y="5376672"/>
            <a:ext cx="1316736" cy="384048"/>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Format is valid</a:t>
            </a:r>
            <a:endParaRPr lang="en-US" sz="900" dirty="0"/>
          </a:p>
        </p:txBody>
      </p:sp>
      <p:sp>
        <p:nvSpPr>
          <p:cNvPr id="75" name="Shape 69"/>
          <p:cNvSpPr/>
          <p:nvPr/>
        </p:nvSpPr>
        <p:spPr>
          <a:xfrm>
            <a:off x="7772400" y="4919472"/>
            <a:ext cx="1415004" cy="384048"/>
          </a:xfrm>
          <a:prstGeom prst="homePlate">
            <a:avLst/>
          </a:prstGeom>
          <a:solidFill>
            <a:srgbClr val="1F4A82"/>
          </a:solidFill>
          <a:ln w="25400">
            <a:solidFill>
              <a:srgbClr val="FFFFFF"/>
            </a:solidFill>
            <a:prstDash val="solid"/>
          </a:ln>
        </p:spPr>
      </p:sp>
      <p:sp>
        <p:nvSpPr>
          <p:cNvPr id="76" name="Text 70"/>
          <p:cNvSpPr txBox="1"/>
          <p:nvPr/>
        </p:nvSpPr>
        <p:spPr>
          <a:xfrm>
            <a:off x="7900416" y="4919472"/>
            <a:ext cx="1122396"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AI drafts</a:t>
            </a:r>
            <a:endParaRPr lang="en-US" sz="1050" dirty="0"/>
          </a:p>
        </p:txBody>
      </p:sp>
      <p:sp>
        <p:nvSpPr>
          <p:cNvPr id="77" name="Shape 71"/>
          <p:cNvSpPr/>
          <p:nvPr/>
        </p:nvSpPr>
        <p:spPr>
          <a:xfrm>
            <a:off x="9067434" y="4919472"/>
            <a:ext cx="1415004" cy="384048"/>
          </a:xfrm>
          <a:prstGeom prst="chevron">
            <a:avLst/>
          </a:prstGeom>
          <a:solidFill>
            <a:srgbClr val="2E6DB4"/>
          </a:solidFill>
          <a:ln w="25400">
            <a:solidFill>
              <a:srgbClr val="FFFFFF"/>
            </a:solidFill>
            <a:prstDash val="solid"/>
          </a:ln>
        </p:spPr>
      </p:sp>
      <p:sp>
        <p:nvSpPr>
          <p:cNvPr id="78" name="Text 72"/>
          <p:cNvSpPr txBox="1"/>
          <p:nvPr/>
        </p:nvSpPr>
        <p:spPr>
          <a:xfrm>
            <a:off x="9250314" y="4919472"/>
            <a:ext cx="1067532"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8 checks</a:t>
            </a:r>
            <a:endParaRPr lang="en-US" sz="1050" dirty="0"/>
          </a:p>
        </p:txBody>
      </p:sp>
      <p:sp>
        <p:nvSpPr>
          <p:cNvPr id="79" name="Shape 73"/>
          <p:cNvSpPr/>
          <p:nvPr/>
        </p:nvSpPr>
        <p:spPr>
          <a:xfrm>
            <a:off x="10362468" y="4919472"/>
            <a:ext cx="1415004" cy="384048"/>
          </a:xfrm>
          <a:prstGeom prst="chevron">
            <a:avLst/>
          </a:prstGeom>
          <a:solidFill>
            <a:srgbClr val="1F4A82"/>
          </a:solidFill>
          <a:ln w="25400">
            <a:solidFill>
              <a:srgbClr val="FFFFFF"/>
            </a:solidFill>
            <a:prstDash val="solid"/>
          </a:ln>
        </p:spPr>
      </p:sp>
      <p:sp>
        <p:nvSpPr>
          <p:cNvPr id="80" name="Text 74"/>
          <p:cNvSpPr txBox="1"/>
          <p:nvPr/>
        </p:nvSpPr>
        <p:spPr>
          <a:xfrm>
            <a:off x="10545348" y="4919472"/>
            <a:ext cx="1067532"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Send</a:t>
            </a:r>
            <a:endParaRPr lang="en-US" sz="1050" dirty="0"/>
          </a:p>
        </p:txBody>
      </p:sp>
      <p:sp>
        <p:nvSpPr>
          <p:cNvPr id="81" name="Shape 75"/>
          <p:cNvSpPr/>
          <p:nvPr/>
        </p:nvSpPr>
        <p:spPr>
          <a:xfrm>
            <a:off x="7772400" y="5394960"/>
            <a:ext cx="4005072" cy="457200"/>
          </a:xfrm>
          <a:prstGeom prst="rect">
            <a:avLst/>
          </a:prstGeom>
          <a:solidFill>
            <a:srgbClr val="F1E8D3"/>
          </a:solidFill>
          <a:ln w="15875">
            <a:solidFill>
              <a:srgbClr val="D4A24C"/>
            </a:solidFill>
            <a:prstDash val="dash"/>
          </a:ln>
        </p:spPr>
      </p:sp>
      <p:pic>
        <p:nvPicPr>
          <p:cNvPr id="82" name="Image 3" descr="FaClipboardList icon">    </p:cNvPr>
          <p:cNvPicPr>
            <a:picLocks noChangeAspect="1"/>
          </p:cNvPicPr>
          <p:nvPr/>
        </p:nvPicPr>
        <p:blipFill>
          <a:blip r:embed="rId4"/>
          <a:stretch>
            <a:fillRect/>
          </a:stretch>
        </p:blipFill>
        <p:spPr>
          <a:xfrm>
            <a:off x="521208" y="100584"/>
            <a:ext cx="182880" cy="182880"/>
          </a:xfrm>
          <a:prstGeom prst="rect">
            <a:avLst/>
          </a:prstGeom>
        </p:spPr>
      </p:pic>
      <p:pic>
        <p:nvPicPr>
          <p:cNvPr id="83" name="Image 4" descr="FaTriangleExclamation icon">    </p:cNvPr>
          <p:cNvPicPr>
            <a:picLocks noChangeAspect="1"/>
          </p:cNvPicPr>
          <p:nvPr/>
        </p:nvPicPr>
        <p:blipFill>
          <a:blip r:embed="rId5"/>
          <a:stretch>
            <a:fillRect/>
          </a:stretch>
        </p:blipFill>
        <p:spPr>
          <a:xfrm>
            <a:off x="2084032" y="100584"/>
            <a:ext cx="182880" cy="182880"/>
          </a:xfrm>
          <a:prstGeom prst="rect">
            <a:avLst/>
          </a:prstGeom>
        </p:spPr>
      </p:pic>
      <p:pic>
        <p:nvPicPr>
          <p:cNvPr id="84" name="Image 5" descr="FaMobileScreen icon">    </p:cNvPr>
          <p:cNvPicPr>
            <a:picLocks noChangeAspect="1"/>
          </p:cNvPicPr>
          <p:nvPr/>
        </p:nvPicPr>
        <p:blipFill>
          <a:blip r:embed="rId6"/>
          <a:stretch>
            <a:fillRect/>
          </a:stretch>
        </p:blipFill>
        <p:spPr>
          <a:xfrm>
            <a:off x="3482264" y="100584"/>
            <a:ext cx="182880" cy="182880"/>
          </a:xfrm>
          <a:prstGeom prst="rect">
            <a:avLst/>
          </a:prstGeom>
        </p:spPr>
      </p:pic>
      <p:pic>
        <p:nvPicPr>
          <p:cNvPr id="85" name="Image 6" descr="FaGears icon">    </p:cNvPr>
          <p:cNvPicPr>
            <a:picLocks noChangeAspect="1"/>
          </p:cNvPicPr>
          <p:nvPr/>
        </p:nvPicPr>
        <p:blipFill>
          <a:blip r:embed="rId7"/>
          <a:stretch>
            <a:fillRect/>
          </a:stretch>
        </p:blipFill>
        <p:spPr>
          <a:xfrm>
            <a:off x="4880496" y="100584"/>
            <a:ext cx="182880" cy="182880"/>
          </a:xfrm>
          <a:prstGeom prst="rect">
            <a:avLst/>
          </a:prstGeom>
        </p:spPr>
      </p:pic>
      <p:pic>
        <p:nvPicPr>
          <p:cNvPr id="86" name="Image 7" descr="FaShieldHalved icon">    </p:cNvPr>
          <p:cNvPicPr>
            <a:picLocks noChangeAspect="1"/>
          </p:cNvPicPr>
          <p:nvPr/>
        </p:nvPicPr>
        <p:blipFill>
          <a:blip r:embed="rId8"/>
          <a:stretch>
            <a:fillRect/>
          </a:stretch>
        </p:blipFill>
        <p:spPr>
          <a:xfrm>
            <a:off x="6278728" y="100584"/>
            <a:ext cx="182880" cy="182880"/>
          </a:xfrm>
          <a:prstGeom prst="rect">
            <a:avLst/>
          </a:prstGeom>
        </p:spPr>
      </p:pic>
      <p:pic>
        <p:nvPicPr>
          <p:cNvPr id="87" name="Image 8" descr="FaIndianRupeeSign icon">    </p:cNvPr>
          <p:cNvPicPr>
            <a:picLocks noChangeAspect="1"/>
          </p:cNvPicPr>
          <p:nvPr/>
        </p:nvPicPr>
        <p:blipFill>
          <a:blip r:embed="rId9"/>
          <a:stretch>
            <a:fillRect/>
          </a:stretch>
        </p:blipFill>
        <p:spPr>
          <a:xfrm>
            <a:off x="7676960" y="100584"/>
            <a:ext cx="182880" cy="182880"/>
          </a:xfrm>
          <a:prstGeom prst="rect">
            <a:avLst/>
          </a:prstGeom>
        </p:spPr>
      </p:pic>
      <p:pic>
        <p:nvPicPr>
          <p:cNvPr id="88" name="Image 9" descr="FaBullseye icon">    </p:cNvPr>
          <p:cNvPicPr>
            <a:picLocks noChangeAspect="1"/>
          </p:cNvPicPr>
          <p:nvPr/>
        </p:nvPicPr>
        <p:blipFill>
          <a:blip r:embed="rId10"/>
          <a:stretch>
            <a:fillRect/>
          </a:stretch>
        </p:blipFill>
        <p:spPr>
          <a:xfrm>
            <a:off x="9075191" y="100584"/>
            <a:ext cx="182880" cy="182880"/>
          </a:xfrm>
          <a:prstGeom prst="rect">
            <a:avLst/>
          </a:prstGeom>
        </p:spPr>
      </p:pic>
      <p:pic>
        <p:nvPicPr>
          <p:cNvPr id="89" name="Image 10" descr="FaBookOpen icon">    </p:cNvPr>
          <p:cNvPicPr>
            <a:picLocks noChangeAspect="1"/>
          </p:cNvPicPr>
          <p:nvPr/>
        </p:nvPicPr>
        <p:blipFill>
          <a:blip r:embed="rId11"/>
          <a:stretch>
            <a:fillRect/>
          </a:stretch>
        </p:blipFill>
        <p:spPr>
          <a:xfrm>
            <a:off x="10473423" y="100584"/>
            <a:ext cx="182880" cy="182880"/>
          </a:xfrm>
          <a:prstGeom prst="rect">
            <a:avLst/>
          </a:prstGeom>
        </p:spPr>
      </p:pic>
      <p:pic>
        <p:nvPicPr>
          <p:cNvPr id="90" name="Image 11" descr="FaShieldHalved icon">    </p:cNvPr>
          <p:cNvPicPr>
            <a:picLocks noChangeAspect="1"/>
          </p:cNvPicPr>
          <p:nvPr/>
        </p:nvPicPr>
        <p:blipFill>
          <a:blip r:embed="rId12"/>
          <a:stretch>
            <a:fillRect/>
          </a:stretch>
        </p:blipFill>
        <p:spPr>
          <a:xfrm>
            <a:off x="7863840" y="5486400"/>
            <a:ext cx="274320" cy="274320"/>
          </a:xfrm>
          <a:prstGeom prst="rect">
            <a:avLst/>
          </a:prstGeom>
        </p:spPr>
      </p:pic>
      <p:sp>
        <p:nvSpPr>
          <p:cNvPr id="91" name="Text 76"/>
          <p:cNvSpPr txBox="1"/>
          <p:nvPr/>
        </p:nvSpPr>
        <p:spPr>
          <a:xfrm>
            <a:off x="8229600" y="5394960"/>
            <a:ext cx="3520440" cy="457200"/>
          </a:xfrm>
          <a:prstGeom prst="rect">
            <a:avLst/>
          </a:prstGeom>
          <a:noFill/>
          <a:ln/>
        </p:spPr>
        <p:txBody>
          <a:bodyPr wrap="square" lIns="0" tIns="0" rIns="0" bIns="0" rtlCol="0" anchor="ctr"/>
          <a:lstStyle/>
          <a:p>
            <a:pPr algn="l" indent="0" marL="0">
              <a:buNone/>
            </a:pPr>
            <a:r>
              <a:rPr lang="en-US" sz="1000" b="1" dirty="0">
                <a:solidFill>
                  <a:srgbClr val="6B4E00"/>
                </a:solidFill>
                <a:latin typeface="Calibri" pitchFamily="34" charset="0"/>
                <a:ea typeface="Calibri" pitchFamily="34" charset="-122"/>
                <a:cs typeface="Calibri" pitchFamily="34" charset="-120"/>
              </a:rPr>
              <a:t>Any check fails: a safe human-written template goes out instead</a:t>
            </a:r>
            <a:endParaRPr lang="en-US" sz="1000" dirty="0"/>
          </a:p>
        </p:txBody>
      </p:sp>
      <p:sp>
        <p:nvSpPr>
          <p:cNvPr id="92" name="Shape 77"/>
          <p:cNvSpPr/>
          <p:nvPr/>
        </p:nvSpPr>
        <p:spPr>
          <a:xfrm>
            <a:off x="411480" y="5943600"/>
            <a:ext cx="11368735" cy="402336"/>
          </a:xfrm>
          <a:prstGeom prst="rect">
            <a:avLst/>
          </a:prstGeom>
          <a:solidFill>
            <a:srgbClr val="F4F7FB"/>
          </a:solidFill>
          <a:ln/>
        </p:spPr>
      </p:sp>
      <p:sp>
        <p:nvSpPr>
          <p:cNvPr id="93" name="Text 78"/>
          <p:cNvSpPr txBox="1"/>
          <p:nvPr/>
        </p:nvSpPr>
        <p:spPr>
          <a:xfrm>
            <a:off x="548640" y="5943600"/>
            <a:ext cx="11094415" cy="40233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Next on the same rails (designed): </a:t>
            </a:r>
            <a:pPr algn="l" indent="0" marL="0">
              <a:buNone/>
            </a:pPr>
            <a:r>
              <a:rPr lang="en-US" sz="1050" dirty="0">
                <a:solidFill>
                  <a:srgbClr val="1F2937"/>
                </a:solidFill>
                <a:latin typeface="Calibri" pitchFamily="34" charset="0"/>
                <a:ea typeface="Calibri" pitchFamily="34" charset="-122"/>
                <a:cs typeface="Calibri" pitchFamily="34" charset="-120"/>
              </a:rPr>
              <a:t>7-day study plans and doubt answers from retrieved notes. Works with no AI model at all.</a:t>
            </a:r>
            <a:endParaRPr lang="en-US" sz="1050" dirty="0"/>
          </a:p>
        </p:txBody>
      </p:sp>
      <p:sp>
        <p:nvSpPr>
          <p:cNvPr id="94" name="Text 79"/>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backend/app/genai (20 templates, 16 tests); contracts/report_numbers.schema.json. Band = quantile model, conformal 80 % target; coverage pending. Mock-ups illustrative.</a:t>
            </a:r>
            <a:endParaRPr lang="en-US" sz="85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D4A24C"/>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privacy">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5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PRIVACY, SAFETY AND DPDP COMPLIANCE</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Built for the law and for children: consent first, supportive actions only</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88720"/>
            <a:ext cx="3017520" cy="3017520"/>
          </a:xfrm>
          <a:prstGeom prst="rect">
            <a:avLst/>
          </a:prstGeom>
          <a:solidFill>
            <a:srgbClr val="FFFFFF"/>
          </a:solidFill>
          <a:ln w="19050">
            <a:solidFill>
              <a:srgbClr val="1F4A82"/>
            </a:solidFill>
            <a:prstDash val="solid"/>
          </a:ln>
        </p:spPr>
      </p:sp>
      <p:pic>
        <p:nvPicPr>
          <p:cNvPr id="27" name="Image 1" descr="Consent notice with purpose switches (illustrative)">    </p:cNvPr>
          <p:cNvPicPr>
            <a:picLocks noChangeAspect="1"/>
          </p:cNvPicPr>
          <p:nvPr/>
        </p:nvPicPr>
        <p:blipFill>
          <a:blip r:embed="rId2"/>
          <a:stretch>
            <a:fillRect/>
          </a:stretch>
        </p:blipFill>
        <p:spPr>
          <a:xfrm>
            <a:off x="429768" y="1207008"/>
            <a:ext cx="2980944" cy="2980944"/>
          </a:xfrm>
          <a:prstGeom prst="rect">
            <a:avLst/>
          </a:prstGeom>
        </p:spPr>
      </p:pic>
      <p:sp>
        <p:nvSpPr>
          <p:cNvPr id="28" name="Shape 23"/>
          <p:cNvSpPr/>
          <p:nvPr/>
        </p:nvSpPr>
        <p:spPr>
          <a:xfrm>
            <a:off x="301752" y="1600200"/>
            <a:ext cx="274320" cy="274320"/>
          </a:xfrm>
          <a:prstGeom prst="ellipse">
            <a:avLst/>
          </a:prstGeom>
          <a:solidFill>
            <a:srgbClr val="1F4A82"/>
          </a:solidFill>
          <a:ln w="19050">
            <a:solidFill>
              <a:srgbClr val="FFFFFF"/>
            </a:solidFill>
            <a:prstDash val="solid"/>
          </a:ln>
        </p:spPr>
      </p:sp>
      <p:sp>
        <p:nvSpPr>
          <p:cNvPr id="29" name="Text 24"/>
          <p:cNvSpPr txBox="1"/>
          <p:nvPr/>
        </p:nvSpPr>
        <p:spPr>
          <a:xfrm>
            <a:off x="301752" y="16002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Shape 25"/>
          <p:cNvSpPr/>
          <p:nvPr/>
        </p:nvSpPr>
        <p:spPr>
          <a:xfrm>
            <a:off x="301752" y="2651760"/>
            <a:ext cx="274320" cy="274320"/>
          </a:xfrm>
          <a:prstGeom prst="ellipse">
            <a:avLst/>
          </a:prstGeom>
          <a:solidFill>
            <a:srgbClr val="1F4A82"/>
          </a:solidFill>
          <a:ln w="19050">
            <a:solidFill>
              <a:srgbClr val="FFFFFF"/>
            </a:solidFill>
            <a:prstDash val="solid"/>
          </a:ln>
        </p:spPr>
      </p:sp>
      <p:sp>
        <p:nvSpPr>
          <p:cNvPr id="31" name="Text 26"/>
          <p:cNvSpPr txBox="1"/>
          <p:nvPr/>
        </p:nvSpPr>
        <p:spPr>
          <a:xfrm>
            <a:off x="301752" y="26517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Shape 27"/>
          <p:cNvSpPr/>
          <p:nvPr/>
        </p:nvSpPr>
        <p:spPr>
          <a:xfrm>
            <a:off x="301752" y="3566160"/>
            <a:ext cx="274320" cy="274320"/>
          </a:xfrm>
          <a:prstGeom prst="ellipse">
            <a:avLst/>
          </a:prstGeom>
          <a:solidFill>
            <a:srgbClr val="1F4A82"/>
          </a:solidFill>
          <a:ln w="19050">
            <a:solidFill>
              <a:srgbClr val="FFFFFF"/>
            </a:solidFill>
            <a:prstDash val="solid"/>
          </a:ln>
        </p:spPr>
      </p:sp>
      <p:sp>
        <p:nvSpPr>
          <p:cNvPr id="33" name="Text 28"/>
          <p:cNvSpPr txBox="1"/>
          <p:nvPr/>
        </p:nvSpPr>
        <p:spPr>
          <a:xfrm>
            <a:off x="301752" y="35661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4" name="Text 29"/>
          <p:cNvSpPr txBox="1"/>
          <p:nvPr/>
        </p:nvSpPr>
        <p:spPr>
          <a:xfrm>
            <a:off x="411480" y="4279392"/>
            <a:ext cx="3017520" cy="640080"/>
          </a:xfrm>
          <a:prstGeom prst="rect">
            <a:avLst/>
          </a:prstGeom>
          <a:noFill/>
          <a:ln/>
        </p:spPr>
        <p:txBody>
          <a:bodyPr wrap="square" lIns="0" tIns="0" rIns="0" bIns="0" rtlCol="0" anchor="t"/>
          <a:lstStyle/>
          <a:p>
            <a:pPr algn="l" indent="0" marL="0">
              <a:buNone/>
            </a:pPr>
            <a:r>
              <a:rPr lang="en-US" sz="950" b="1" dirty="0">
                <a:solidFill>
                  <a:srgbClr val="1F4A82"/>
                </a:solidFill>
                <a:latin typeface="Calibri" pitchFamily="34" charset="0"/>
                <a:ea typeface="Calibri" pitchFamily="34" charset="-122"/>
                <a:cs typeface="Calibri" pitchFamily="34" charset="-120"/>
              </a:rPr>
              <a:t>1  </a:t>
            </a:r>
            <a:pPr algn="l" indent="0" marL="0">
              <a:buNone/>
            </a:pPr>
            <a:r>
              <a:rPr lang="en-US" sz="950" dirty="0">
                <a:solidFill>
                  <a:srgbClr val="1F2937"/>
                </a:solidFill>
                <a:latin typeface="Calibri" pitchFamily="34" charset="0"/>
                <a:ea typeface="Calibri" pitchFamily="34" charset="-122"/>
                <a:cs typeface="Calibri" pitchFamily="34" charset="-120"/>
              </a:rPr>
              <a:t>Rule 10: parent's ID checked at the admission desk</a:t>
            </a:r>
            <a:endParaRPr lang="en-US" sz="950" dirty="0"/>
          </a:p>
          <a:p>
            <a:pPr algn="l" indent="0" marL="0">
              <a:buNone/>
            </a:pPr>
            <a:r>
              <a:rPr lang="en-US" sz="950" b="1" dirty="0">
                <a:solidFill>
                  <a:srgbClr val="1F4A82"/>
                </a:solidFill>
                <a:latin typeface="Calibri" pitchFamily="34" charset="0"/>
                <a:ea typeface="Calibri" pitchFamily="34" charset="-122"/>
                <a:cs typeface="Calibri" pitchFamily="34" charset="-120"/>
              </a:rPr>
              <a:t>2  </a:t>
            </a:r>
            <a:pPr algn="l" indent="0" marL="0">
              <a:buNone/>
            </a:pPr>
            <a:r>
              <a:rPr lang="en-US" sz="950" dirty="0">
                <a:solidFill>
                  <a:srgbClr val="1F2937"/>
                </a:solidFill>
                <a:latin typeface="Calibri" pitchFamily="34" charset="0"/>
                <a:ea typeface="Calibri" pitchFamily="34" charset="-122"/>
                <a:cs typeface="Calibri" pitchFamily="34" charset="-120"/>
              </a:rPr>
              <a:t>One switch for each purpose</a:t>
            </a:r>
            <a:endParaRPr lang="en-US" sz="950" dirty="0"/>
          </a:p>
          <a:p>
            <a:pPr algn="l" indent="0" marL="0">
              <a:buNone/>
            </a:pPr>
            <a:r>
              <a:rPr lang="en-US" sz="950" b="1" dirty="0">
                <a:solidFill>
                  <a:srgbClr val="1F4A82"/>
                </a:solidFill>
                <a:latin typeface="Calibri" pitchFamily="34" charset="0"/>
                <a:ea typeface="Calibri" pitchFamily="34" charset="-122"/>
                <a:cs typeface="Calibri" pitchFamily="34" charset="-120"/>
              </a:rPr>
              <a:t>3  </a:t>
            </a:r>
            <a:pPr algn="l" indent="0" marL="0">
              <a:buNone/>
            </a:pPr>
            <a:r>
              <a:rPr lang="en-US" sz="950" dirty="0">
                <a:solidFill>
                  <a:srgbClr val="1F2937"/>
                </a:solidFill>
                <a:latin typeface="Calibri" pitchFamily="34" charset="0"/>
                <a:ea typeface="Calibri" pitchFamily="34" charset="-122"/>
                <a:cs typeface="Calibri" pitchFamily="34" charset="-120"/>
              </a:rPr>
              <a:t>Withdraw everything in one tap</a:t>
            </a:r>
            <a:endParaRPr lang="en-US" sz="950" dirty="0"/>
          </a:p>
        </p:txBody>
      </p:sp>
      <p:sp>
        <p:nvSpPr>
          <p:cNvPr id="35" name="Shape 30"/>
          <p:cNvSpPr/>
          <p:nvPr/>
        </p:nvSpPr>
        <p:spPr>
          <a:xfrm>
            <a:off x="3703320" y="1188720"/>
            <a:ext cx="4023360" cy="3566160"/>
          </a:xfrm>
          <a:prstGeom prst="roundRect">
            <a:avLst>
              <a:gd name="adj" fmla="val 3077"/>
            </a:avLst>
          </a:prstGeom>
          <a:solidFill>
            <a:srgbClr val="E3ECF7"/>
          </a:solidFill>
          <a:ln w="31750">
            <a:solidFill>
              <a:srgbClr val="1F4A82"/>
            </a:solidFill>
            <a:prstDash val="dash"/>
          </a:ln>
        </p:spPr>
      </p:sp>
      <p:sp>
        <p:nvSpPr>
          <p:cNvPr id="36" name="Shape 31"/>
          <p:cNvSpPr/>
          <p:nvPr/>
        </p:nvSpPr>
        <p:spPr>
          <a:xfrm>
            <a:off x="5303520" y="914400"/>
            <a:ext cx="822960" cy="822960"/>
          </a:xfrm>
          <a:prstGeom prst="ellipse">
            <a:avLst/>
          </a:prstGeom>
          <a:solidFill>
            <a:srgbClr val="1F4A82"/>
          </a:solidFill>
          <a:ln w="38100">
            <a:solidFill>
              <a:srgbClr val="FFFFFF"/>
            </a:solidFill>
            <a:prstDash val="solid"/>
          </a:ln>
        </p:spPr>
      </p:sp>
      <p:pic>
        <p:nvPicPr>
          <p:cNvPr id="37" name="Image 2" descr="FaClipboardList icon">    </p:cNvPr>
          <p:cNvPicPr>
            <a:picLocks noChangeAspect="1"/>
          </p:cNvPicPr>
          <p:nvPr/>
        </p:nvPicPr>
        <p:blipFill>
          <a:blip r:embed="rId3"/>
          <a:stretch>
            <a:fillRect/>
          </a:stretch>
        </p:blipFill>
        <p:spPr>
          <a:xfrm>
            <a:off x="521208" y="100584"/>
            <a:ext cx="182880" cy="182880"/>
          </a:xfrm>
          <a:prstGeom prst="rect">
            <a:avLst/>
          </a:prstGeom>
        </p:spPr>
      </p:pic>
      <p:pic>
        <p:nvPicPr>
          <p:cNvPr id="38" name="Image 3" descr="FaTriangleExclamation icon">    </p:cNvPr>
          <p:cNvPicPr>
            <a:picLocks noChangeAspect="1"/>
          </p:cNvPicPr>
          <p:nvPr/>
        </p:nvPicPr>
        <p:blipFill>
          <a:blip r:embed="rId4"/>
          <a:stretch>
            <a:fillRect/>
          </a:stretch>
        </p:blipFill>
        <p:spPr>
          <a:xfrm>
            <a:off x="2084032" y="100584"/>
            <a:ext cx="182880" cy="182880"/>
          </a:xfrm>
          <a:prstGeom prst="rect">
            <a:avLst/>
          </a:prstGeom>
        </p:spPr>
      </p:pic>
      <p:pic>
        <p:nvPicPr>
          <p:cNvPr id="39" name="Image 4" descr="FaMobileScreen icon">    </p:cNvPr>
          <p:cNvPicPr>
            <a:picLocks noChangeAspect="1"/>
          </p:cNvPicPr>
          <p:nvPr/>
        </p:nvPicPr>
        <p:blipFill>
          <a:blip r:embed="rId5"/>
          <a:stretch>
            <a:fillRect/>
          </a:stretch>
        </p:blipFill>
        <p:spPr>
          <a:xfrm>
            <a:off x="3482264" y="100584"/>
            <a:ext cx="182880" cy="182880"/>
          </a:xfrm>
          <a:prstGeom prst="rect">
            <a:avLst/>
          </a:prstGeom>
        </p:spPr>
      </p:pic>
      <p:pic>
        <p:nvPicPr>
          <p:cNvPr id="40" name="Image 5" descr="FaGears icon">    </p:cNvPr>
          <p:cNvPicPr>
            <a:picLocks noChangeAspect="1"/>
          </p:cNvPicPr>
          <p:nvPr/>
        </p:nvPicPr>
        <p:blipFill>
          <a:blip r:embed="rId6"/>
          <a:stretch>
            <a:fillRect/>
          </a:stretch>
        </p:blipFill>
        <p:spPr>
          <a:xfrm>
            <a:off x="4880496" y="100584"/>
            <a:ext cx="182880" cy="182880"/>
          </a:xfrm>
          <a:prstGeom prst="rect">
            <a:avLst/>
          </a:prstGeom>
        </p:spPr>
      </p:pic>
      <p:pic>
        <p:nvPicPr>
          <p:cNvPr id="41"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42" name="Image 7" descr="FaBullseye icon">    </p:cNvPr>
          <p:cNvPicPr>
            <a:picLocks noChangeAspect="1"/>
          </p:cNvPicPr>
          <p:nvPr/>
        </p:nvPicPr>
        <p:blipFill>
          <a:blip r:embed="rId8"/>
          <a:stretch>
            <a:fillRect/>
          </a:stretch>
        </p:blipFill>
        <p:spPr>
          <a:xfrm>
            <a:off x="9075191" y="100584"/>
            <a:ext cx="182880" cy="182880"/>
          </a:xfrm>
          <a:prstGeom prst="rect">
            <a:avLst/>
          </a:prstGeom>
        </p:spPr>
      </p:pic>
      <p:pic>
        <p:nvPicPr>
          <p:cNvPr id="43" name="Image 8" descr="FaBookOpen icon">    </p:cNvPr>
          <p:cNvPicPr>
            <a:picLocks noChangeAspect="1"/>
          </p:cNvPicPr>
          <p:nvPr/>
        </p:nvPicPr>
        <p:blipFill>
          <a:blip r:embed="rId9"/>
          <a:stretch>
            <a:fillRect/>
          </a:stretch>
        </p:blipFill>
        <p:spPr>
          <a:xfrm>
            <a:off x="10473423" y="100584"/>
            <a:ext cx="182880" cy="182880"/>
          </a:xfrm>
          <a:prstGeom prst="rect">
            <a:avLst/>
          </a:prstGeom>
        </p:spPr>
      </p:pic>
      <p:pic>
        <p:nvPicPr>
          <p:cNvPr id="44" name="Image 9" descr="FaShieldHalved icon">    </p:cNvPr>
          <p:cNvPicPr>
            <a:picLocks noChangeAspect="1"/>
          </p:cNvPicPr>
          <p:nvPr/>
        </p:nvPicPr>
        <p:blipFill>
          <a:blip r:embed="rId10"/>
          <a:stretch>
            <a:fillRect/>
          </a:stretch>
        </p:blipFill>
        <p:spPr>
          <a:xfrm>
            <a:off x="6278728" y="100584"/>
            <a:ext cx="182880" cy="182880"/>
          </a:xfrm>
          <a:prstGeom prst="rect">
            <a:avLst/>
          </a:prstGeom>
        </p:spPr>
      </p:pic>
      <p:pic>
        <p:nvPicPr>
          <p:cNvPr id="45" name="Image 10" descr="FaLock icon">    </p:cNvPr>
          <p:cNvPicPr>
            <a:picLocks noChangeAspect="1"/>
          </p:cNvPicPr>
          <p:nvPr/>
        </p:nvPicPr>
        <p:blipFill>
          <a:blip r:embed="rId11"/>
          <a:stretch>
            <a:fillRect/>
          </a:stretch>
        </p:blipFill>
        <p:spPr>
          <a:xfrm>
            <a:off x="5532120" y="1143000"/>
            <a:ext cx="365760" cy="365760"/>
          </a:xfrm>
          <a:prstGeom prst="rect">
            <a:avLst/>
          </a:prstGeom>
        </p:spPr>
      </p:pic>
      <p:sp>
        <p:nvSpPr>
          <p:cNvPr id="46" name="Text 32"/>
          <p:cNvSpPr txBox="1"/>
          <p:nvPr/>
        </p:nvSpPr>
        <p:spPr>
          <a:xfrm>
            <a:off x="3703320" y="1783080"/>
            <a:ext cx="4023360" cy="274320"/>
          </a:xfrm>
          <a:prstGeom prst="rect">
            <a:avLst/>
          </a:prstGeom>
          <a:noFill/>
          <a:ln/>
        </p:spPr>
        <p:txBody>
          <a:bodyPr wrap="square" lIns="0" tIns="0" rIns="0" bIns="0" rtlCol="0" anchor="t"/>
          <a:lstStyle/>
          <a:p>
            <a:pPr algn="ctr" indent="0" marL="0">
              <a:buNone/>
            </a:pPr>
            <a:r>
              <a:rPr lang="en-US" sz="1200" b="1" spc="100" kern="0" dirty="0">
                <a:solidFill>
                  <a:srgbClr val="1F4A82"/>
                </a:solidFill>
                <a:latin typeface="Calibri" pitchFamily="34" charset="0"/>
                <a:ea typeface="Calibri" pitchFamily="34" charset="-122"/>
                <a:cs typeface="Calibri" pitchFamily="34" charset="-120"/>
              </a:rPr>
              <a:t>THE INSTITUTE'S OWN SPACE</a:t>
            </a:r>
            <a:endParaRPr lang="en-US" sz="1200" dirty="0"/>
          </a:p>
        </p:txBody>
      </p:sp>
      <p:sp>
        <p:nvSpPr>
          <p:cNvPr id="47" name="Text 33"/>
          <p:cNvSpPr txBox="1"/>
          <p:nvPr/>
        </p:nvSpPr>
        <p:spPr>
          <a:xfrm>
            <a:off x="3703320" y="2029968"/>
            <a:ext cx="4023360" cy="219456"/>
          </a:xfrm>
          <a:prstGeom prst="rect">
            <a:avLst/>
          </a:prstGeom>
          <a:noFill/>
          <a:ln/>
        </p:spPr>
        <p:txBody>
          <a:bodyPr wrap="square" lIns="0" tIns="0" rIns="0" bIns="0" rtlCol="0" anchor="t"/>
          <a:lstStyle/>
          <a:p>
            <a:pPr algn="ctr" indent="0" marL="0">
              <a:buNone/>
            </a:pPr>
            <a:r>
              <a:rPr lang="en-US" sz="950" i="1" dirty="0">
                <a:solidFill>
                  <a:srgbClr val="5B6573"/>
                </a:solidFill>
                <a:latin typeface="Calibri" pitchFamily="34" charset="0"/>
                <a:ea typeface="Calibri" pitchFamily="34" charset="-122"/>
                <a:cs typeface="Calibri" pitchFamily="34" charset="-120"/>
              </a:rPr>
              <a:t>one laptop or one private server</a:t>
            </a:r>
            <a:endParaRPr lang="en-US" sz="950" dirty="0"/>
          </a:p>
        </p:txBody>
      </p:sp>
      <p:sp>
        <p:nvSpPr>
          <p:cNvPr id="48" name="Shape 34"/>
          <p:cNvSpPr/>
          <p:nvPr/>
        </p:nvSpPr>
        <p:spPr>
          <a:xfrm>
            <a:off x="3886200" y="2377440"/>
            <a:ext cx="1737360" cy="822960"/>
          </a:xfrm>
          <a:prstGeom prst="rect">
            <a:avLst/>
          </a:prstGeom>
          <a:solidFill>
            <a:srgbClr val="FFFFFF"/>
          </a:solidFill>
          <a:ln w="12700">
            <a:solidFill>
              <a:srgbClr val="1F4A82"/>
            </a:solidFill>
            <a:prstDash val="solid"/>
          </a:ln>
        </p:spPr>
      </p:sp>
      <p:pic>
        <p:nvPicPr>
          <p:cNvPr id="49" name="Image 11" descr="FaUserGraduate icon">    </p:cNvPr>
          <p:cNvPicPr>
            <a:picLocks noChangeAspect="1"/>
          </p:cNvPicPr>
          <p:nvPr/>
        </p:nvPicPr>
        <p:blipFill>
          <a:blip r:embed="rId12"/>
          <a:stretch>
            <a:fillRect/>
          </a:stretch>
        </p:blipFill>
        <p:spPr>
          <a:xfrm>
            <a:off x="4599432" y="2468880"/>
            <a:ext cx="310896" cy="310896"/>
          </a:xfrm>
          <a:prstGeom prst="rect">
            <a:avLst/>
          </a:prstGeom>
        </p:spPr>
      </p:pic>
      <p:sp>
        <p:nvSpPr>
          <p:cNvPr id="50" name="Text 35"/>
          <p:cNvSpPr txBox="1"/>
          <p:nvPr/>
        </p:nvSpPr>
        <p:spPr>
          <a:xfrm>
            <a:off x="3931920" y="2834640"/>
            <a:ext cx="1645920" cy="320040"/>
          </a:xfrm>
          <a:prstGeom prst="rect">
            <a:avLst/>
          </a:prstGeom>
          <a:noFill/>
          <a:ln/>
        </p:spPr>
        <p:txBody>
          <a:bodyPr wrap="square" lIns="0" tIns="0" rIns="0" bIns="0" rtlCol="0" anchor="ctr"/>
          <a:lstStyle/>
          <a:p>
            <a:pPr algn="ctr" indent="0" marL="0">
              <a:buNone/>
            </a:pPr>
            <a:r>
              <a:rPr lang="en-US" sz="1000" b="1" dirty="0">
                <a:solidFill>
                  <a:srgbClr val="17325C"/>
                </a:solidFill>
                <a:latin typeface="Calibri" pitchFamily="34" charset="0"/>
                <a:ea typeface="Calibri" pitchFamily="34" charset="-122"/>
                <a:cs typeface="Calibri" pitchFamily="34" charset="-120"/>
              </a:rPr>
              <a:t>Student records</a:t>
            </a:r>
            <a:endParaRPr lang="en-US" sz="1000" dirty="0"/>
          </a:p>
        </p:txBody>
      </p:sp>
      <p:sp>
        <p:nvSpPr>
          <p:cNvPr id="51" name="Shape 36"/>
          <p:cNvSpPr/>
          <p:nvPr/>
        </p:nvSpPr>
        <p:spPr>
          <a:xfrm>
            <a:off x="5715000" y="2377440"/>
            <a:ext cx="1737360" cy="822960"/>
          </a:xfrm>
          <a:prstGeom prst="rect">
            <a:avLst/>
          </a:prstGeom>
          <a:solidFill>
            <a:srgbClr val="FFFFFF"/>
          </a:solidFill>
          <a:ln w="12700">
            <a:solidFill>
              <a:srgbClr val="1F4A82"/>
            </a:solidFill>
            <a:prstDash val="solid"/>
          </a:ln>
        </p:spPr>
      </p:sp>
      <p:pic>
        <p:nvPicPr>
          <p:cNvPr id="52" name="Image 12" descr="FaFileCircleCheck icon">    </p:cNvPr>
          <p:cNvPicPr>
            <a:picLocks noChangeAspect="1"/>
          </p:cNvPicPr>
          <p:nvPr/>
        </p:nvPicPr>
        <p:blipFill>
          <a:blip r:embed="rId13"/>
          <a:stretch>
            <a:fillRect/>
          </a:stretch>
        </p:blipFill>
        <p:spPr>
          <a:xfrm>
            <a:off x="6428232" y="2468880"/>
            <a:ext cx="310896" cy="310896"/>
          </a:xfrm>
          <a:prstGeom prst="rect">
            <a:avLst/>
          </a:prstGeom>
        </p:spPr>
      </p:pic>
      <p:sp>
        <p:nvSpPr>
          <p:cNvPr id="53" name="Text 37"/>
          <p:cNvSpPr txBox="1"/>
          <p:nvPr/>
        </p:nvSpPr>
        <p:spPr>
          <a:xfrm>
            <a:off x="5760720" y="2834640"/>
            <a:ext cx="1645920" cy="320040"/>
          </a:xfrm>
          <a:prstGeom prst="rect">
            <a:avLst/>
          </a:prstGeom>
          <a:noFill/>
          <a:ln/>
        </p:spPr>
        <p:txBody>
          <a:bodyPr wrap="square" lIns="0" tIns="0" rIns="0" bIns="0" rtlCol="0" anchor="ctr"/>
          <a:lstStyle/>
          <a:p>
            <a:pPr algn="ctr" indent="0" marL="0">
              <a:buNone/>
            </a:pPr>
            <a:r>
              <a:rPr lang="en-US" sz="1000" b="1" dirty="0">
                <a:solidFill>
                  <a:srgbClr val="17325C"/>
                </a:solidFill>
                <a:latin typeface="Calibri" pitchFamily="34" charset="0"/>
                <a:ea typeface="Calibri" pitchFamily="34" charset="-122"/>
                <a:cs typeface="Calibri" pitchFamily="34" charset="-120"/>
              </a:rPr>
              <a:t>Marks and answers</a:t>
            </a:r>
            <a:endParaRPr lang="en-US" sz="1000" dirty="0"/>
          </a:p>
        </p:txBody>
      </p:sp>
      <p:sp>
        <p:nvSpPr>
          <p:cNvPr id="54" name="Shape 38"/>
          <p:cNvSpPr/>
          <p:nvPr/>
        </p:nvSpPr>
        <p:spPr>
          <a:xfrm>
            <a:off x="3886200" y="3291840"/>
            <a:ext cx="1737360" cy="822960"/>
          </a:xfrm>
          <a:prstGeom prst="rect">
            <a:avLst/>
          </a:prstGeom>
          <a:solidFill>
            <a:srgbClr val="FFFFFF"/>
          </a:solidFill>
          <a:ln w="12700">
            <a:solidFill>
              <a:srgbClr val="1F4A82"/>
            </a:solidFill>
            <a:prstDash val="solid"/>
          </a:ln>
        </p:spPr>
      </p:sp>
      <p:pic>
        <p:nvPicPr>
          <p:cNvPr id="55" name="Image 13" descr="FaSignature icon">    </p:cNvPr>
          <p:cNvPicPr>
            <a:picLocks noChangeAspect="1"/>
          </p:cNvPicPr>
          <p:nvPr/>
        </p:nvPicPr>
        <p:blipFill>
          <a:blip r:embed="rId14"/>
          <a:stretch>
            <a:fillRect/>
          </a:stretch>
        </p:blipFill>
        <p:spPr>
          <a:xfrm>
            <a:off x="4599432" y="3383280"/>
            <a:ext cx="310896" cy="310896"/>
          </a:xfrm>
          <a:prstGeom prst="rect">
            <a:avLst/>
          </a:prstGeom>
        </p:spPr>
      </p:pic>
      <p:sp>
        <p:nvSpPr>
          <p:cNvPr id="56" name="Text 39"/>
          <p:cNvSpPr txBox="1"/>
          <p:nvPr/>
        </p:nvSpPr>
        <p:spPr>
          <a:xfrm>
            <a:off x="3931920" y="3749040"/>
            <a:ext cx="1645920" cy="320040"/>
          </a:xfrm>
          <a:prstGeom prst="rect">
            <a:avLst/>
          </a:prstGeom>
          <a:noFill/>
          <a:ln/>
        </p:spPr>
        <p:txBody>
          <a:bodyPr wrap="square" lIns="0" tIns="0" rIns="0" bIns="0" rtlCol="0" anchor="ctr"/>
          <a:lstStyle/>
          <a:p>
            <a:pPr algn="ctr" indent="0" marL="0">
              <a:buNone/>
            </a:pPr>
            <a:r>
              <a:rPr lang="en-US" sz="1000" b="1" dirty="0">
                <a:solidFill>
                  <a:srgbClr val="17325C"/>
                </a:solidFill>
                <a:latin typeface="Calibri" pitchFamily="34" charset="0"/>
                <a:ea typeface="Calibri" pitchFamily="34" charset="-122"/>
                <a:cs typeface="Calibri" pitchFamily="34" charset="-120"/>
              </a:rPr>
              <a:t>Consent ledger</a:t>
            </a:r>
            <a:endParaRPr lang="en-US" sz="1000" dirty="0"/>
          </a:p>
        </p:txBody>
      </p:sp>
      <p:sp>
        <p:nvSpPr>
          <p:cNvPr id="57" name="Shape 40"/>
          <p:cNvSpPr/>
          <p:nvPr/>
        </p:nvSpPr>
        <p:spPr>
          <a:xfrm>
            <a:off x="5715000" y="3291840"/>
            <a:ext cx="1737360" cy="822960"/>
          </a:xfrm>
          <a:prstGeom prst="rect">
            <a:avLst/>
          </a:prstGeom>
          <a:solidFill>
            <a:srgbClr val="FFFFFF"/>
          </a:solidFill>
          <a:ln w="12700">
            <a:solidFill>
              <a:srgbClr val="1F4A82"/>
            </a:solidFill>
            <a:prstDash val="solid"/>
          </a:ln>
        </p:spPr>
      </p:sp>
      <p:pic>
        <p:nvPicPr>
          <p:cNvPr id="58" name="Image 14" descr="FaListCheck icon">    </p:cNvPr>
          <p:cNvPicPr>
            <a:picLocks noChangeAspect="1"/>
          </p:cNvPicPr>
          <p:nvPr/>
        </p:nvPicPr>
        <p:blipFill>
          <a:blip r:embed="rId15"/>
          <a:stretch>
            <a:fillRect/>
          </a:stretch>
        </p:blipFill>
        <p:spPr>
          <a:xfrm>
            <a:off x="6428232" y="3383280"/>
            <a:ext cx="310896" cy="310896"/>
          </a:xfrm>
          <a:prstGeom prst="rect">
            <a:avLst/>
          </a:prstGeom>
        </p:spPr>
      </p:pic>
      <p:sp>
        <p:nvSpPr>
          <p:cNvPr id="59" name="Text 41"/>
          <p:cNvSpPr txBox="1"/>
          <p:nvPr/>
        </p:nvSpPr>
        <p:spPr>
          <a:xfrm>
            <a:off x="5760720" y="3749040"/>
            <a:ext cx="1645920" cy="320040"/>
          </a:xfrm>
          <a:prstGeom prst="rect">
            <a:avLst/>
          </a:prstGeom>
          <a:noFill/>
          <a:ln/>
        </p:spPr>
        <p:txBody>
          <a:bodyPr wrap="square" lIns="0" tIns="0" rIns="0" bIns="0" rtlCol="0" anchor="ctr"/>
          <a:lstStyle/>
          <a:p>
            <a:pPr algn="ctr" indent="0" marL="0">
              <a:buNone/>
            </a:pPr>
            <a:r>
              <a:rPr lang="en-US" sz="1000" b="1" dirty="0">
                <a:solidFill>
                  <a:srgbClr val="17325C"/>
                </a:solidFill>
                <a:latin typeface="Calibri" pitchFamily="34" charset="0"/>
                <a:ea typeface="Calibri" pitchFamily="34" charset="-122"/>
                <a:cs typeface="Calibri" pitchFamily="34" charset="-120"/>
              </a:rPr>
              <a:t>Risk lists: mentors only</a:t>
            </a:r>
            <a:endParaRPr lang="en-US" sz="1000" dirty="0"/>
          </a:p>
        </p:txBody>
      </p:sp>
      <p:sp>
        <p:nvSpPr>
          <p:cNvPr id="60" name="Text 42"/>
          <p:cNvSpPr txBox="1"/>
          <p:nvPr/>
        </p:nvSpPr>
        <p:spPr>
          <a:xfrm>
            <a:off x="3703320" y="4297680"/>
            <a:ext cx="4023360" cy="320040"/>
          </a:xfrm>
          <a:prstGeom prst="rect">
            <a:avLst/>
          </a:prstGeom>
          <a:noFill/>
          <a:ln/>
        </p:spPr>
        <p:txBody>
          <a:bodyPr wrap="square" lIns="0" tIns="0" rIns="0" bIns="0" rtlCol="0" anchor="ctr"/>
          <a:lstStyle/>
          <a:p>
            <a:pPr algn="ctr" indent="0" marL="0">
              <a:buNone/>
            </a:pPr>
            <a:r>
              <a:rPr lang="en-US" sz="1200" b="1" dirty="0">
                <a:solidFill>
                  <a:srgbClr val="1F4A82"/>
                </a:solidFill>
                <a:latin typeface="Calibri" pitchFamily="34" charset="0"/>
                <a:ea typeface="Calibri" pitchFamily="34" charset="-122"/>
                <a:cs typeface="Calibri" pitchFamily="34" charset="-120"/>
              </a:rPr>
              <a:t>Raw student data never leaves</a:t>
            </a:r>
            <a:endParaRPr lang="en-US" sz="1200" dirty="0"/>
          </a:p>
        </p:txBody>
      </p:sp>
      <p:sp>
        <p:nvSpPr>
          <p:cNvPr id="61" name="Shape 43"/>
          <p:cNvSpPr/>
          <p:nvPr/>
        </p:nvSpPr>
        <p:spPr>
          <a:xfrm>
            <a:off x="7726680" y="2103120"/>
            <a:ext cx="502920" cy="0"/>
          </a:xfrm>
          <a:prstGeom prst="line">
            <a:avLst/>
          </a:prstGeom>
          <a:noFill/>
          <a:ln w="31750">
            <a:solidFill>
              <a:srgbClr val="1F4A82"/>
            </a:solidFill>
            <a:prstDash val="solid"/>
            <a:tailEnd type="triangle"/>
          </a:ln>
        </p:spPr>
      </p:sp>
      <p:sp>
        <p:nvSpPr>
          <p:cNvPr id="62" name="Shape 44"/>
          <p:cNvSpPr/>
          <p:nvPr/>
        </p:nvSpPr>
        <p:spPr>
          <a:xfrm>
            <a:off x="7726680" y="3566160"/>
            <a:ext cx="502920" cy="0"/>
          </a:xfrm>
          <a:prstGeom prst="line">
            <a:avLst/>
          </a:prstGeom>
          <a:noFill/>
          <a:ln w="31750">
            <a:solidFill>
              <a:srgbClr val="1F4A82"/>
            </a:solidFill>
            <a:prstDash val="solid"/>
            <a:tailEnd type="triangle"/>
          </a:ln>
        </p:spPr>
      </p:sp>
      <p:sp>
        <p:nvSpPr>
          <p:cNvPr id="63" name="Shape 45"/>
          <p:cNvSpPr/>
          <p:nvPr/>
        </p:nvSpPr>
        <p:spPr>
          <a:xfrm>
            <a:off x="8229600" y="1188720"/>
            <a:ext cx="3547872" cy="1783080"/>
          </a:xfrm>
          <a:prstGeom prst="rect">
            <a:avLst/>
          </a:prstGeom>
          <a:solidFill>
            <a:srgbClr val="FFFFFF"/>
          </a:solidFill>
          <a:ln w="15875">
            <a:solidFill>
              <a:srgbClr val="1F4A82"/>
            </a:solidFill>
            <a:prstDash val="solid"/>
          </a:ln>
        </p:spPr>
      </p:sp>
      <p:sp>
        <p:nvSpPr>
          <p:cNvPr id="64" name="Shape 46"/>
          <p:cNvSpPr/>
          <p:nvPr/>
        </p:nvSpPr>
        <p:spPr>
          <a:xfrm>
            <a:off x="8229600" y="1188720"/>
            <a:ext cx="3547872" cy="274320"/>
          </a:xfrm>
          <a:prstGeom prst="rect">
            <a:avLst/>
          </a:prstGeom>
          <a:solidFill>
            <a:srgbClr val="1F4A82"/>
          </a:solidFill>
          <a:ln/>
        </p:spPr>
      </p:sp>
      <p:sp>
        <p:nvSpPr>
          <p:cNvPr id="65" name="Text 47"/>
          <p:cNvSpPr txBox="1"/>
          <p:nvPr/>
        </p:nvSpPr>
        <p:spPr>
          <a:xfrm>
            <a:off x="8302752" y="1188720"/>
            <a:ext cx="340156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OUT: SHARED QUESTION BANK</a:t>
            </a:r>
            <a:endParaRPr lang="en-US" sz="1050" dirty="0"/>
          </a:p>
        </p:txBody>
      </p:sp>
      <p:sp>
        <p:nvSpPr>
          <p:cNvPr id="66" name="Text 48"/>
          <p:cNvSpPr txBox="1"/>
          <p:nvPr/>
        </p:nvSpPr>
        <p:spPr>
          <a:xfrm>
            <a:off x="8321040" y="1490472"/>
            <a:ext cx="3364992" cy="1453896"/>
          </a:xfrm>
          <a:prstGeom prst="rect">
            <a:avLst/>
          </a:prstGeom>
          <a:noFill/>
          <a:ln/>
        </p:spPr>
        <p:txBody>
          <a:bodyPr wrap="square" lIns="0" tIns="0" rIns="0" bIns="0"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Question difficulty numbers only. No student, no name, no marks.</a:t>
            </a:r>
            <a:endParaRPr lang="en-US" sz="1400" dirty="0"/>
          </a:p>
        </p:txBody>
      </p:sp>
      <p:sp>
        <p:nvSpPr>
          <p:cNvPr id="67" name="Shape 49"/>
          <p:cNvSpPr/>
          <p:nvPr/>
        </p:nvSpPr>
        <p:spPr>
          <a:xfrm>
            <a:off x="8229600" y="3108960"/>
            <a:ext cx="3547872" cy="1645920"/>
          </a:xfrm>
          <a:prstGeom prst="rect">
            <a:avLst/>
          </a:prstGeom>
          <a:solidFill>
            <a:srgbClr val="FFFFFF"/>
          </a:solidFill>
          <a:ln w="15875">
            <a:solidFill>
              <a:srgbClr val="1F4A82"/>
            </a:solidFill>
            <a:prstDash val="solid"/>
          </a:ln>
        </p:spPr>
      </p:sp>
      <p:sp>
        <p:nvSpPr>
          <p:cNvPr id="68" name="Shape 50"/>
          <p:cNvSpPr/>
          <p:nvPr/>
        </p:nvSpPr>
        <p:spPr>
          <a:xfrm>
            <a:off x="8229600" y="3108960"/>
            <a:ext cx="3547872" cy="274320"/>
          </a:xfrm>
          <a:prstGeom prst="rect">
            <a:avLst/>
          </a:prstGeom>
          <a:solidFill>
            <a:srgbClr val="1F4A82"/>
          </a:solidFill>
          <a:ln/>
        </p:spPr>
      </p:sp>
      <p:sp>
        <p:nvSpPr>
          <p:cNvPr id="69" name="Text 51"/>
          <p:cNvSpPr txBox="1"/>
          <p:nvPr/>
        </p:nvSpPr>
        <p:spPr>
          <a:xfrm>
            <a:off x="8302752" y="3108960"/>
            <a:ext cx="340156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SEEN BY PARENTS AND STUDENTS</a:t>
            </a:r>
            <a:endParaRPr lang="en-US" sz="1050" dirty="0"/>
          </a:p>
        </p:txBody>
      </p:sp>
      <p:sp>
        <p:nvSpPr>
          <p:cNvPr id="70" name="Text 52"/>
          <p:cNvSpPr txBox="1"/>
          <p:nvPr/>
        </p:nvSpPr>
        <p:spPr>
          <a:xfrm>
            <a:off x="8321040" y="3410712"/>
            <a:ext cx="3364992" cy="1316736"/>
          </a:xfrm>
          <a:prstGeom prst="rect">
            <a:avLst/>
          </a:prstGeom>
          <a:noFill/>
          <a:ln/>
        </p:spPr>
        <p:txBody>
          <a:bodyPr wrap="square" lIns="0" tIns="0" rIns="0" bIns="0" rtlCol="0" anchor="ctr"/>
          <a:lstStyle/>
          <a:p>
            <a:pPr algn="ctr" indent="0" marL="0">
              <a:buNone/>
            </a:pPr>
            <a:r>
              <a:rPr lang="en-US" sz="1400" dirty="0">
                <a:solidFill>
                  <a:srgbClr val="1F2937"/>
                </a:solidFill>
                <a:latin typeface="Calibri" pitchFamily="34" charset="0"/>
                <a:ea typeface="Calibri" pitchFamily="34" charset="-122"/>
                <a:cs typeface="Calibri" pitchFamily="34" charset="-120"/>
              </a:rPr>
              <a:t>Progress and next steps. Never ranks. Never a risk label.</a:t>
            </a:r>
            <a:endParaRPr lang="en-US" sz="1400" dirty="0"/>
          </a:p>
        </p:txBody>
      </p:sp>
      <p:sp>
        <p:nvSpPr>
          <p:cNvPr id="71" name="Shape 53"/>
          <p:cNvSpPr/>
          <p:nvPr/>
        </p:nvSpPr>
        <p:spPr>
          <a:xfrm>
            <a:off x="411480" y="4892040"/>
            <a:ext cx="1371600" cy="1371600"/>
          </a:xfrm>
          <a:prstGeom prst="ellipse">
            <a:avLst/>
          </a:prstGeom>
          <a:solidFill>
            <a:srgbClr val="1F4A82"/>
          </a:solidFill>
          <a:ln w="76200">
            <a:solidFill>
              <a:srgbClr val="E3ECF7"/>
            </a:solidFill>
            <a:prstDash val="solid"/>
          </a:ln>
        </p:spPr>
      </p:sp>
      <p:pic>
        <p:nvPicPr>
          <p:cNvPr id="72" name="Image 15" descr="FaShieldHalved icon">    </p:cNvPr>
          <p:cNvPicPr>
            <a:picLocks noChangeAspect="1"/>
          </p:cNvPicPr>
          <p:nvPr/>
        </p:nvPicPr>
        <p:blipFill>
          <a:blip r:embed="rId16"/>
          <a:stretch>
            <a:fillRect/>
          </a:stretch>
        </p:blipFill>
        <p:spPr>
          <a:xfrm>
            <a:off x="758952" y="5193792"/>
            <a:ext cx="685800" cy="685800"/>
          </a:xfrm>
          <a:prstGeom prst="rect">
            <a:avLst/>
          </a:prstGeom>
        </p:spPr>
      </p:pic>
      <p:sp>
        <p:nvSpPr>
          <p:cNvPr id="73" name="Text 54"/>
          <p:cNvSpPr txBox="1"/>
          <p:nvPr/>
        </p:nvSpPr>
        <p:spPr>
          <a:xfrm>
            <a:off x="2011680" y="4828032"/>
            <a:ext cx="3657600" cy="256032"/>
          </a:xfrm>
          <a:prstGeom prst="rect">
            <a:avLst/>
          </a:prstGeom>
          <a:noFill/>
          <a:ln/>
        </p:spPr>
        <p:txBody>
          <a:bodyPr wrap="square" lIns="0" tIns="0" rIns="0" bIns="0" rtlCol="0" anchor="t"/>
          <a:lstStyle/>
          <a:p>
            <a:pPr algn="l" indent="0" marL="0">
              <a:buNone/>
            </a:pPr>
            <a:r>
              <a:rPr lang="en-US" sz="1150" b="1" spc="100" kern="0" dirty="0">
                <a:solidFill>
                  <a:srgbClr val="1F4A82"/>
                </a:solidFill>
                <a:latin typeface="Calibri" pitchFamily="34" charset="0"/>
                <a:ea typeface="Calibri" pitchFamily="34" charset="-122"/>
                <a:cs typeface="Calibri" pitchFamily="34" charset="-120"/>
              </a:rPr>
              <a:t>SAFETY GUARDRAILS</a:t>
            </a:r>
            <a:endParaRPr lang="en-US" sz="1150" dirty="0"/>
          </a:p>
        </p:txBody>
      </p:sp>
      <p:sp>
        <p:nvSpPr>
          <p:cNvPr id="74" name="Shape 55"/>
          <p:cNvSpPr/>
          <p:nvPr/>
        </p:nvSpPr>
        <p:spPr>
          <a:xfrm>
            <a:off x="2011680" y="5120640"/>
            <a:ext cx="3182112" cy="420624"/>
          </a:xfrm>
          <a:prstGeom prst="rect">
            <a:avLst/>
          </a:prstGeom>
          <a:solidFill>
            <a:srgbClr val="FFFFFF"/>
          </a:solidFill>
          <a:ln w="12700">
            <a:solidFill>
              <a:srgbClr val="1F4A82"/>
            </a:solidFill>
            <a:prstDash val="solid"/>
          </a:ln>
        </p:spPr>
      </p:sp>
      <p:sp>
        <p:nvSpPr>
          <p:cNvPr id="75" name="Shape 56"/>
          <p:cNvSpPr/>
          <p:nvPr/>
        </p:nvSpPr>
        <p:spPr>
          <a:xfrm>
            <a:off x="2011680" y="5120640"/>
            <a:ext cx="73152" cy="420624"/>
          </a:xfrm>
          <a:prstGeom prst="rect">
            <a:avLst/>
          </a:prstGeom>
          <a:solidFill>
            <a:srgbClr val="1F4A82"/>
          </a:solidFill>
          <a:ln/>
        </p:spPr>
      </p:sp>
      <p:sp>
        <p:nvSpPr>
          <p:cNvPr id="76" name="Text 57"/>
          <p:cNvSpPr txBox="1"/>
          <p:nvPr/>
        </p:nvSpPr>
        <p:spPr>
          <a:xfrm>
            <a:off x="2176272" y="5120640"/>
            <a:ext cx="2971800" cy="420624"/>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No leaderboards or public ranks</a:t>
            </a:r>
            <a:endParaRPr lang="en-US" sz="1050" dirty="0"/>
          </a:p>
        </p:txBody>
      </p:sp>
      <p:sp>
        <p:nvSpPr>
          <p:cNvPr id="77" name="Shape 58"/>
          <p:cNvSpPr/>
          <p:nvPr/>
        </p:nvSpPr>
        <p:spPr>
          <a:xfrm>
            <a:off x="5257800" y="5120640"/>
            <a:ext cx="3182112" cy="420624"/>
          </a:xfrm>
          <a:prstGeom prst="rect">
            <a:avLst/>
          </a:prstGeom>
          <a:solidFill>
            <a:srgbClr val="FFFFFF"/>
          </a:solidFill>
          <a:ln w="12700">
            <a:solidFill>
              <a:srgbClr val="1F4A82"/>
            </a:solidFill>
            <a:prstDash val="solid"/>
          </a:ln>
        </p:spPr>
      </p:sp>
      <p:sp>
        <p:nvSpPr>
          <p:cNvPr id="78" name="Shape 59"/>
          <p:cNvSpPr/>
          <p:nvPr/>
        </p:nvSpPr>
        <p:spPr>
          <a:xfrm>
            <a:off x="5257800" y="5120640"/>
            <a:ext cx="73152" cy="420624"/>
          </a:xfrm>
          <a:prstGeom prst="rect">
            <a:avLst/>
          </a:prstGeom>
          <a:solidFill>
            <a:srgbClr val="1F4A82"/>
          </a:solidFill>
          <a:ln/>
        </p:spPr>
      </p:sp>
      <p:sp>
        <p:nvSpPr>
          <p:cNvPr id="79" name="Text 60"/>
          <p:cNvSpPr txBox="1"/>
          <p:nvPr/>
        </p:nvSpPr>
        <p:spPr>
          <a:xfrm>
            <a:off x="5422392" y="5120640"/>
            <a:ext cx="2971800" cy="420624"/>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No batch moves based on scores</a:t>
            </a:r>
            <a:endParaRPr lang="en-US" sz="1050" dirty="0"/>
          </a:p>
        </p:txBody>
      </p:sp>
      <p:sp>
        <p:nvSpPr>
          <p:cNvPr id="80" name="Shape 61"/>
          <p:cNvSpPr/>
          <p:nvPr/>
        </p:nvSpPr>
        <p:spPr>
          <a:xfrm>
            <a:off x="8503920" y="5120640"/>
            <a:ext cx="3182112" cy="420624"/>
          </a:xfrm>
          <a:prstGeom prst="rect">
            <a:avLst/>
          </a:prstGeom>
          <a:solidFill>
            <a:srgbClr val="FFFFFF"/>
          </a:solidFill>
          <a:ln w="12700">
            <a:solidFill>
              <a:srgbClr val="1F4A82"/>
            </a:solidFill>
            <a:prstDash val="solid"/>
          </a:ln>
        </p:spPr>
      </p:sp>
      <p:sp>
        <p:nvSpPr>
          <p:cNvPr id="81" name="Shape 62"/>
          <p:cNvSpPr/>
          <p:nvPr/>
        </p:nvSpPr>
        <p:spPr>
          <a:xfrm>
            <a:off x="8503920" y="5120640"/>
            <a:ext cx="73152" cy="420624"/>
          </a:xfrm>
          <a:prstGeom prst="rect">
            <a:avLst/>
          </a:prstGeom>
          <a:solidFill>
            <a:srgbClr val="1F4A82"/>
          </a:solidFill>
          <a:ln/>
        </p:spPr>
      </p:sp>
      <p:sp>
        <p:nvSpPr>
          <p:cNvPr id="82" name="Text 63"/>
          <p:cNvSpPr txBox="1"/>
          <p:nvPr/>
        </p:nvSpPr>
        <p:spPr>
          <a:xfrm>
            <a:off x="8668512" y="5120640"/>
            <a:ext cx="2971800" cy="420624"/>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Banned-words check on every message</a:t>
            </a:r>
            <a:endParaRPr lang="en-US" sz="1050" dirty="0"/>
          </a:p>
        </p:txBody>
      </p:sp>
      <p:sp>
        <p:nvSpPr>
          <p:cNvPr id="83" name="Shape 64"/>
          <p:cNvSpPr/>
          <p:nvPr/>
        </p:nvSpPr>
        <p:spPr>
          <a:xfrm>
            <a:off x="2011680" y="5596128"/>
            <a:ext cx="3182112" cy="420624"/>
          </a:xfrm>
          <a:prstGeom prst="rect">
            <a:avLst/>
          </a:prstGeom>
          <a:solidFill>
            <a:srgbClr val="FFFFFF"/>
          </a:solidFill>
          <a:ln w="12700">
            <a:solidFill>
              <a:srgbClr val="1F4A82"/>
            </a:solidFill>
            <a:prstDash val="solid"/>
          </a:ln>
        </p:spPr>
      </p:sp>
      <p:sp>
        <p:nvSpPr>
          <p:cNvPr id="84" name="Shape 65"/>
          <p:cNvSpPr/>
          <p:nvPr/>
        </p:nvSpPr>
        <p:spPr>
          <a:xfrm>
            <a:off x="2011680" y="5596128"/>
            <a:ext cx="73152" cy="420624"/>
          </a:xfrm>
          <a:prstGeom prst="rect">
            <a:avLst/>
          </a:prstGeom>
          <a:solidFill>
            <a:srgbClr val="1F4A82"/>
          </a:solidFill>
          <a:ln/>
        </p:spPr>
      </p:sp>
      <p:sp>
        <p:nvSpPr>
          <p:cNvPr id="85" name="Text 66"/>
          <p:cNvSpPr txBox="1"/>
          <p:nvPr/>
        </p:nvSpPr>
        <p:spPr>
          <a:xfrm>
            <a:off x="2176272" y="5596128"/>
            <a:ext cx="2971800" cy="420624"/>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Counsellor contact for each institute</a:t>
            </a:r>
            <a:endParaRPr lang="en-US" sz="1050" dirty="0"/>
          </a:p>
        </p:txBody>
      </p:sp>
      <p:sp>
        <p:nvSpPr>
          <p:cNvPr id="86" name="Shape 67"/>
          <p:cNvSpPr/>
          <p:nvPr/>
        </p:nvSpPr>
        <p:spPr>
          <a:xfrm>
            <a:off x="5257800" y="5596128"/>
            <a:ext cx="3182112" cy="420624"/>
          </a:xfrm>
          <a:prstGeom prst="rect">
            <a:avLst/>
          </a:prstGeom>
          <a:solidFill>
            <a:srgbClr val="FFFFFF"/>
          </a:solidFill>
          <a:ln w="12700">
            <a:solidFill>
              <a:srgbClr val="1F4A82"/>
            </a:solidFill>
            <a:prstDash val="solid"/>
          </a:ln>
        </p:spPr>
      </p:sp>
      <p:sp>
        <p:nvSpPr>
          <p:cNvPr id="87" name="Shape 68"/>
          <p:cNvSpPr/>
          <p:nvPr/>
        </p:nvSpPr>
        <p:spPr>
          <a:xfrm>
            <a:off x="5257800" y="5596128"/>
            <a:ext cx="73152" cy="420624"/>
          </a:xfrm>
          <a:prstGeom prst="rect">
            <a:avLst/>
          </a:prstGeom>
          <a:solidFill>
            <a:srgbClr val="1F4A82"/>
          </a:solidFill>
          <a:ln/>
        </p:spPr>
      </p:sp>
      <p:sp>
        <p:nvSpPr>
          <p:cNvPr id="88" name="Text 69"/>
          <p:cNvSpPr txBox="1"/>
          <p:nvPr/>
        </p:nvSpPr>
        <p:spPr>
          <a:xfrm>
            <a:off x="5422392" y="5596128"/>
            <a:ext cx="2971800" cy="420624"/>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Risk lists: mentors and owner only</a:t>
            </a:r>
            <a:endParaRPr lang="en-US" sz="1050" dirty="0"/>
          </a:p>
        </p:txBody>
      </p:sp>
      <p:sp>
        <p:nvSpPr>
          <p:cNvPr id="89" name="Shape 70"/>
          <p:cNvSpPr/>
          <p:nvPr/>
        </p:nvSpPr>
        <p:spPr>
          <a:xfrm>
            <a:off x="8503920" y="5596128"/>
            <a:ext cx="3182112" cy="420624"/>
          </a:xfrm>
          <a:prstGeom prst="rect">
            <a:avLst/>
          </a:prstGeom>
          <a:solidFill>
            <a:srgbClr val="FFFFFF"/>
          </a:solidFill>
          <a:ln w="12700">
            <a:solidFill>
              <a:srgbClr val="1F4A82"/>
            </a:solidFill>
            <a:prstDash val="solid"/>
          </a:ln>
        </p:spPr>
      </p:sp>
      <p:sp>
        <p:nvSpPr>
          <p:cNvPr id="90" name="Shape 71"/>
          <p:cNvSpPr/>
          <p:nvPr/>
        </p:nvSpPr>
        <p:spPr>
          <a:xfrm>
            <a:off x="8503920" y="5596128"/>
            <a:ext cx="73152" cy="420624"/>
          </a:xfrm>
          <a:prstGeom prst="rect">
            <a:avLst/>
          </a:prstGeom>
          <a:solidFill>
            <a:srgbClr val="1F4A82"/>
          </a:solidFill>
          <a:ln/>
        </p:spPr>
      </p:sp>
      <p:sp>
        <p:nvSpPr>
          <p:cNvPr id="91" name="Text 72"/>
          <p:cNvSpPr txBox="1"/>
          <p:nvPr/>
        </p:nvSpPr>
        <p:spPr>
          <a:xfrm>
            <a:off x="8668512" y="5596128"/>
            <a:ext cx="2971800" cy="420624"/>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Students never see a risk label</a:t>
            </a:r>
            <a:endParaRPr lang="en-US" sz="1050" dirty="0"/>
          </a:p>
        </p:txBody>
      </p:sp>
      <p:sp>
        <p:nvSpPr>
          <p:cNvPr id="92" name="Text 73"/>
          <p:cNvSpPr txBox="1"/>
          <p:nvPr/>
        </p:nvSpPr>
        <p:spPr>
          <a:xfrm>
            <a:off x="2011680" y="6108192"/>
            <a:ext cx="9692640" cy="274320"/>
          </a:xfrm>
          <a:prstGeom prst="rect">
            <a:avLst/>
          </a:prstGeom>
          <a:noFill/>
          <a:ln/>
        </p:spPr>
        <p:txBody>
          <a:bodyPr wrap="square" lIns="0" tIns="0" rIns="0" bIns="0" rtlCol="0" anchor="ctr"/>
          <a:lstStyle/>
          <a:p>
            <a:pPr algn="l" indent="0" marL="0">
              <a:buNone/>
            </a:pPr>
            <a:r>
              <a:rPr lang="en-US" sz="900" i="1" dirty="0">
                <a:solidFill>
                  <a:srgbClr val="5B6573"/>
                </a:solidFill>
                <a:latin typeface="Calibri" pitchFamily="34" charset="0"/>
                <a:ea typeface="Calibri" pitchFamily="34" charset="-122"/>
                <a:cs typeface="Calibri" pitchFamily="34" charset="-120"/>
              </a:rPr>
              <a:t>DPDP s.9(1) and Rule 10: parental consent  ·  s.9(3): no tracking of children  ·  MoE 2024 cl. 10.2(xi): results for counselling, never public</a:t>
            </a:r>
            <a:endParaRPr lang="en-US" sz="900" dirty="0"/>
          </a:p>
        </p:txBody>
      </p:sp>
      <p:sp>
        <p:nvSpPr>
          <p:cNvPr id="93" name="Text 74"/>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DPDP Act 2023 s.9 and Rules 2025 (Rule 10); MoE Guidelines for Coaching Centres 2024; contracts/routing_policy.yaml; tenant isolation tested on PostgreSQL 16. Not legal advice.</a:t>
            </a:r>
            <a:endParaRPr lang="en-US" sz="85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D4A24C"/>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money-transfer">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6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BUSINESS MODEL AND UNIT ECONOMICS</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At ₹30 a student the product pays back in under six months</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88720"/>
            <a:ext cx="3698138" cy="1508760"/>
          </a:xfrm>
          <a:prstGeom prst="rect">
            <a:avLst/>
          </a:prstGeom>
          <a:solidFill>
            <a:srgbClr val="1F4A82"/>
          </a:solidFill>
          <a:ln/>
        </p:spPr>
      </p:sp>
      <p:sp>
        <p:nvSpPr>
          <p:cNvPr id="27" name="Text 23"/>
          <p:cNvSpPr txBox="1"/>
          <p:nvPr/>
        </p:nvSpPr>
        <p:spPr>
          <a:xfrm>
            <a:off x="548640" y="1234440"/>
            <a:ext cx="1737360" cy="914400"/>
          </a:xfrm>
          <a:prstGeom prst="rect">
            <a:avLst/>
          </a:prstGeom>
          <a:noFill/>
          <a:ln/>
        </p:spPr>
        <p:txBody>
          <a:bodyPr wrap="square" lIns="0" tIns="0" rIns="0" bIns="0" rtlCol="0" anchor="ctr"/>
          <a:lstStyle/>
          <a:p>
            <a:pPr algn="l" indent="0" marL="0">
              <a:buNone/>
            </a:pPr>
            <a:r>
              <a:rPr lang="en-US" sz="4800" b="1" dirty="0">
                <a:solidFill>
                  <a:srgbClr val="FFFFFF"/>
                </a:solidFill>
                <a:latin typeface="Calibri" pitchFamily="34" charset="0"/>
                <a:ea typeface="Calibri" pitchFamily="34" charset="-122"/>
                <a:cs typeface="Calibri" pitchFamily="34" charset="-120"/>
              </a:rPr>
              <a:t>3.6x</a:t>
            </a:r>
            <a:endParaRPr lang="en-US" sz="4800" dirty="0"/>
          </a:p>
        </p:txBody>
      </p:sp>
      <p:sp>
        <p:nvSpPr>
          <p:cNvPr id="28" name="Text 24"/>
          <p:cNvSpPr txBox="1"/>
          <p:nvPr/>
        </p:nvSpPr>
        <p:spPr>
          <a:xfrm>
            <a:off x="2286000" y="1325880"/>
            <a:ext cx="1000658" cy="731520"/>
          </a:xfrm>
          <a:prstGeom prst="rect">
            <a:avLst/>
          </a:prstGeom>
          <a:noFill/>
          <a:ln/>
        </p:spPr>
        <p:txBody>
          <a:bodyPr wrap="square" lIns="0" tIns="0" rIns="0" bIns="0" rtlCol="0" anchor="ctr"/>
          <a:lstStyle/>
          <a:p>
            <a:pPr algn="l" indent="0" marL="0">
              <a:buNone/>
            </a:pPr>
            <a:r>
              <a:rPr lang="en-US" sz="1400" b="1" dirty="0">
                <a:solidFill>
                  <a:srgbClr val="C9DBF0"/>
                </a:solidFill>
                <a:latin typeface="Calibri" pitchFamily="34" charset="0"/>
                <a:ea typeface="Calibri" pitchFamily="34" charset="-122"/>
                <a:cs typeface="Calibri" pitchFamily="34" charset="-120"/>
              </a:rPr>
              <a:t>LTV / CAC</a:t>
            </a:r>
            <a:endParaRPr lang="en-US" sz="1400" dirty="0"/>
          </a:p>
        </p:txBody>
      </p:sp>
      <p:sp>
        <p:nvSpPr>
          <p:cNvPr id="29" name="Shape 25"/>
          <p:cNvSpPr/>
          <p:nvPr/>
        </p:nvSpPr>
        <p:spPr>
          <a:xfrm>
            <a:off x="3332378" y="1298448"/>
            <a:ext cx="640080" cy="640080"/>
          </a:xfrm>
          <a:prstGeom prst="ellipse">
            <a:avLst/>
          </a:prstGeom>
          <a:solidFill>
            <a:srgbClr val="F4F8FD"/>
          </a:solidFill>
          <a:ln/>
        </p:spPr>
      </p:sp>
      <p:pic>
        <p:nvPicPr>
          <p:cNvPr id="30" name="Image 1" descr="Icon">    </p:cNvPr>
          <p:cNvPicPr>
            <a:picLocks noChangeAspect="1"/>
          </p:cNvPicPr>
          <p:nvPr/>
        </p:nvPicPr>
        <p:blipFill>
          <a:blip r:embed="rId2"/>
          <a:stretch>
            <a:fillRect/>
          </a:stretch>
        </p:blipFill>
        <p:spPr>
          <a:xfrm>
            <a:off x="3405530" y="1371600"/>
            <a:ext cx="493776" cy="493776"/>
          </a:xfrm>
          <a:prstGeom prst="rect">
            <a:avLst/>
          </a:prstGeom>
        </p:spPr>
      </p:pic>
      <p:sp>
        <p:nvSpPr>
          <p:cNvPr id="31" name="Text 26"/>
          <p:cNvSpPr txBox="1"/>
          <p:nvPr/>
        </p:nvSpPr>
        <p:spPr>
          <a:xfrm>
            <a:off x="548640" y="2148840"/>
            <a:ext cx="3423818" cy="502920"/>
          </a:xfrm>
          <a:prstGeom prst="rect">
            <a:avLst/>
          </a:prstGeom>
          <a:noFill/>
          <a:ln/>
        </p:spPr>
        <p:txBody>
          <a:bodyPr wrap="square" lIns="0" tIns="0" rIns="0" bIns="0" rtlCol="0" anchor="t"/>
          <a:lstStyle/>
          <a:p>
            <a:pPr algn="l" indent="0" marL="0">
              <a:buNone/>
            </a:pPr>
            <a:r>
              <a:rPr lang="en-US" sz="1000" dirty="0">
                <a:solidFill>
                  <a:srgbClr val="FFFFFF"/>
                </a:solidFill>
                <a:latin typeface="Calibri" pitchFamily="34" charset="0"/>
                <a:ea typeface="Calibri" pitchFamily="34" charset="-122"/>
                <a:cs typeface="Calibri" pitchFamily="34" charset="-120"/>
              </a:rPr>
              <a:t>4.8x on the undiscounted basis most peers quote. The guide claims 10.7x.</a:t>
            </a:r>
            <a:endParaRPr lang="en-US" sz="1000" dirty="0"/>
          </a:p>
        </p:txBody>
      </p:sp>
      <p:sp>
        <p:nvSpPr>
          <p:cNvPr id="32" name="Shape 27"/>
          <p:cNvSpPr/>
          <p:nvPr/>
        </p:nvSpPr>
        <p:spPr>
          <a:xfrm>
            <a:off x="4246778" y="1188720"/>
            <a:ext cx="3698138" cy="1508760"/>
          </a:xfrm>
          <a:prstGeom prst="rect">
            <a:avLst/>
          </a:prstGeom>
          <a:solidFill>
            <a:srgbClr val="1F4A82"/>
          </a:solidFill>
          <a:ln/>
        </p:spPr>
      </p:sp>
      <p:sp>
        <p:nvSpPr>
          <p:cNvPr id="33" name="Text 28"/>
          <p:cNvSpPr txBox="1"/>
          <p:nvPr/>
        </p:nvSpPr>
        <p:spPr>
          <a:xfrm>
            <a:off x="4383938" y="1234440"/>
            <a:ext cx="1737360" cy="914400"/>
          </a:xfrm>
          <a:prstGeom prst="rect">
            <a:avLst/>
          </a:prstGeom>
          <a:noFill/>
          <a:ln/>
        </p:spPr>
        <p:txBody>
          <a:bodyPr wrap="square" lIns="0" tIns="0" rIns="0" bIns="0" rtlCol="0" anchor="ctr"/>
          <a:lstStyle/>
          <a:p>
            <a:pPr algn="l" indent="0" marL="0">
              <a:buNone/>
            </a:pPr>
            <a:r>
              <a:rPr lang="en-US" sz="4800" b="1" dirty="0">
                <a:solidFill>
                  <a:srgbClr val="FFFFFF"/>
                </a:solidFill>
                <a:latin typeface="Calibri" pitchFamily="34" charset="0"/>
                <a:ea typeface="Calibri" pitchFamily="34" charset="-122"/>
                <a:cs typeface="Calibri" pitchFamily="34" charset="-120"/>
              </a:rPr>
              <a:t>5.7</a:t>
            </a:r>
            <a:endParaRPr lang="en-US" sz="4800" dirty="0"/>
          </a:p>
        </p:txBody>
      </p:sp>
      <p:sp>
        <p:nvSpPr>
          <p:cNvPr id="34" name="Text 29"/>
          <p:cNvSpPr txBox="1"/>
          <p:nvPr/>
        </p:nvSpPr>
        <p:spPr>
          <a:xfrm>
            <a:off x="6121298" y="1325880"/>
            <a:ext cx="1000658" cy="731520"/>
          </a:xfrm>
          <a:prstGeom prst="rect">
            <a:avLst/>
          </a:prstGeom>
          <a:noFill/>
          <a:ln/>
        </p:spPr>
        <p:txBody>
          <a:bodyPr wrap="square" lIns="0" tIns="0" rIns="0" bIns="0" rtlCol="0" anchor="ctr"/>
          <a:lstStyle/>
          <a:p>
            <a:pPr algn="l" indent="0" marL="0">
              <a:buNone/>
            </a:pPr>
            <a:r>
              <a:rPr lang="en-US" sz="1400" b="1" dirty="0">
                <a:solidFill>
                  <a:srgbClr val="C9DBF0"/>
                </a:solidFill>
                <a:latin typeface="Calibri" pitchFamily="34" charset="0"/>
                <a:ea typeface="Calibri" pitchFamily="34" charset="-122"/>
                <a:cs typeface="Calibri" pitchFamily="34" charset="-120"/>
              </a:rPr>
              <a:t>months to pay back</a:t>
            </a:r>
            <a:endParaRPr lang="en-US" sz="1400" dirty="0"/>
          </a:p>
        </p:txBody>
      </p:sp>
      <p:sp>
        <p:nvSpPr>
          <p:cNvPr id="35" name="Shape 30"/>
          <p:cNvSpPr/>
          <p:nvPr/>
        </p:nvSpPr>
        <p:spPr>
          <a:xfrm>
            <a:off x="7167677" y="1298448"/>
            <a:ext cx="640080" cy="640080"/>
          </a:xfrm>
          <a:prstGeom prst="ellipse">
            <a:avLst/>
          </a:prstGeom>
          <a:solidFill>
            <a:srgbClr val="F4F8FD"/>
          </a:solidFill>
          <a:ln/>
        </p:spPr>
      </p:sp>
      <p:pic>
        <p:nvPicPr>
          <p:cNvPr id="36" name="Image 2" descr="Icon">    </p:cNvPr>
          <p:cNvPicPr>
            <a:picLocks noChangeAspect="1"/>
          </p:cNvPicPr>
          <p:nvPr/>
        </p:nvPicPr>
        <p:blipFill>
          <a:blip r:embed="rId3"/>
          <a:stretch>
            <a:fillRect/>
          </a:stretch>
        </p:blipFill>
        <p:spPr>
          <a:xfrm>
            <a:off x="7240829" y="1371600"/>
            <a:ext cx="493776" cy="493776"/>
          </a:xfrm>
          <a:prstGeom prst="rect">
            <a:avLst/>
          </a:prstGeom>
        </p:spPr>
      </p:pic>
      <p:sp>
        <p:nvSpPr>
          <p:cNvPr id="37" name="Text 31"/>
          <p:cNvSpPr txBox="1"/>
          <p:nvPr/>
        </p:nvSpPr>
        <p:spPr>
          <a:xfrm>
            <a:off x="4383938" y="2148840"/>
            <a:ext cx="3423818" cy="502920"/>
          </a:xfrm>
          <a:prstGeom prst="rect">
            <a:avLst/>
          </a:prstGeom>
          <a:noFill/>
          <a:ln/>
        </p:spPr>
        <p:txBody>
          <a:bodyPr wrap="square" lIns="0" tIns="0" rIns="0" bIns="0" rtlCol="0" anchor="t"/>
          <a:lstStyle/>
          <a:p>
            <a:pPr algn="l" indent="0" marL="0">
              <a:buNone/>
            </a:pPr>
            <a:r>
              <a:rPr lang="en-US" sz="1000" dirty="0">
                <a:solidFill>
                  <a:srgbClr val="FFFFFF"/>
                </a:solidFill>
                <a:latin typeface="Calibri" pitchFamily="34" charset="0"/>
                <a:ea typeface="Calibri" pitchFamily="34" charset="-122"/>
                <a:cs typeface="Calibri" pitchFamily="34" charset="-120"/>
              </a:rPr>
              <a:t>Sales and onboarding cost recovered. Guide: 3.1 months.</a:t>
            </a:r>
            <a:endParaRPr lang="en-US" sz="1000" dirty="0"/>
          </a:p>
        </p:txBody>
      </p:sp>
      <p:sp>
        <p:nvSpPr>
          <p:cNvPr id="38" name="Shape 32"/>
          <p:cNvSpPr/>
          <p:nvPr/>
        </p:nvSpPr>
        <p:spPr>
          <a:xfrm>
            <a:off x="8082077" y="1188720"/>
            <a:ext cx="3698138" cy="1508760"/>
          </a:xfrm>
          <a:prstGeom prst="rect">
            <a:avLst/>
          </a:prstGeom>
          <a:solidFill>
            <a:srgbClr val="1F4A82"/>
          </a:solidFill>
          <a:ln/>
        </p:spPr>
      </p:sp>
      <p:sp>
        <p:nvSpPr>
          <p:cNvPr id="39" name="Text 33"/>
          <p:cNvSpPr txBox="1"/>
          <p:nvPr/>
        </p:nvSpPr>
        <p:spPr>
          <a:xfrm>
            <a:off x="8219237" y="1234440"/>
            <a:ext cx="1737360" cy="914400"/>
          </a:xfrm>
          <a:prstGeom prst="rect">
            <a:avLst/>
          </a:prstGeom>
          <a:noFill/>
          <a:ln/>
        </p:spPr>
        <p:txBody>
          <a:bodyPr wrap="square" lIns="0" tIns="0" rIns="0" bIns="0" rtlCol="0" anchor="ctr"/>
          <a:lstStyle/>
          <a:p>
            <a:pPr algn="l" indent="0" marL="0">
              <a:buNone/>
            </a:pPr>
            <a:r>
              <a:rPr lang="en-US" sz="4800" b="1" dirty="0">
                <a:solidFill>
                  <a:srgbClr val="FFFFFF"/>
                </a:solidFill>
                <a:latin typeface="Calibri" pitchFamily="34" charset="0"/>
                <a:ea typeface="Calibri" pitchFamily="34" charset="-122"/>
                <a:cs typeface="Calibri" pitchFamily="34" charset="-120"/>
              </a:rPr>
              <a:t>78 %</a:t>
            </a:r>
            <a:endParaRPr lang="en-US" sz="4800" dirty="0"/>
          </a:p>
        </p:txBody>
      </p:sp>
      <p:sp>
        <p:nvSpPr>
          <p:cNvPr id="40" name="Text 34"/>
          <p:cNvSpPr txBox="1"/>
          <p:nvPr/>
        </p:nvSpPr>
        <p:spPr>
          <a:xfrm>
            <a:off x="9956597" y="1325880"/>
            <a:ext cx="1000658" cy="731520"/>
          </a:xfrm>
          <a:prstGeom prst="rect">
            <a:avLst/>
          </a:prstGeom>
          <a:noFill/>
          <a:ln/>
        </p:spPr>
        <p:txBody>
          <a:bodyPr wrap="square" lIns="0" tIns="0" rIns="0" bIns="0" rtlCol="0" anchor="ctr"/>
          <a:lstStyle/>
          <a:p>
            <a:pPr algn="l" indent="0" marL="0">
              <a:buNone/>
            </a:pPr>
            <a:r>
              <a:rPr lang="en-US" sz="1400" b="1" dirty="0">
                <a:solidFill>
                  <a:srgbClr val="C9DBF0"/>
                </a:solidFill>
                <a:latin typeface="Calibri" pitchFamily="34" charset="0"/>
                <a:ea typeface="Calibri" pitchFamily="34" charset="-122"/>
                <a:cs typeface="Calibri" pitchFamily="34" charset="-120"/>
              </a:rPr>
              <a:t>contribution margin</a:t>
            </a:r>
            <a:endParaRPr lang="en-US" sz="1400" dirty="0"/>
          </a:p>
        </p:txBody>
      </p:sp>
      <p:sp>
        <p:nvSpPr>
          <p:cNvPr id="41" name="Shape 35"/>
          <p:cNvSpPr/>
          <p:nvPr/>
        </p:nvSpPr>
        <p:spPr>
          <a:xfrm>
            <a:off x="11002975" y="1298448"/>
            <a:ext cx="640080" cy="640080"/>
          </a:xfrm>
          <a:prstGeom prst="ellipse">
            <a:avLst/>
          </a:prstGeom>
          <a:solidFill>
            <a:srgbClr val="F4F8FD"/>
          </a:solidFill>
          <a:ln/>
        </p:spPr>
      </p:sp>
      <p:pic>
        <p:nvPicPr>
          <p:cNvPr id="42" name="Image 3" descr="Icon">    </p:cNvPr>
          <p:cNvPicPr>
            <a:picLocks noChangeAspect="1"/>
          </p:cNvPicPr>
          <p:nvPr/>
        </p:nvPicPr>
        <p:blipFill>
          <a:blip r:embed="rId4"/>
          <a:stretch>
            <a:fillRect/>
          </a:stretch>
        </p:blipFill>
        <p:spPr>
          <a:xfrm>
            <a:off x="11076127" y="1371600"/>
            <a:ext cx="493776" cy="493776"/>
          </a:xfrm>
          <a:prstGeom prst="rect">
            <a:avLst/>
          </a:prstGeom>
        </p:spPr>
      </p:pic>
      <p:sp>
        <p:nvSpPr>
          <p:cNvPr id="43" name="Text 36"/>
          <p:cNvSpPr txBox="1"/>
          <p:nvPr/>
        </p:nvSpPr>
        <p:spPr>
          <a:xfrm>
            <a:off x="8219237" y="2148840"/>
            <a:ext cx="3423818" cy="502920"/>
          </a:xfrm>
          <a:prstGeom prst="rect">
            <a:avLst/>
          </a:prstGeom>
          <a:noFill/>
          <a:ln/>
        </p:spPr>
        <p:txBody>
          <a:bodyPr wrap="square" lIns="0" tIns="0" rIns="0" bIns="0" rtlCol="0" anchor="t"/>
          <a:lstStyle/>
          <a:p>
            <a:pPr algn="l" indent="0" marL="0">
              <a:buNone/>
            </a:pPr>
            <a:r>
              <a:rPr lang="en-US" sz="1000" dirty="0">
                <a:solidFill>
                  <a:srgbClr val="FFFFFF"/>
                </a:solidFill>
                <a:latin typeface="Calibri" pitchFamily="34" charset="0"/>
                <a:ea typeface="Calibri" pitchFamily="34" charset="-122"/>
                <a:cs typeface="Calibri" pitchFamily="34" charset="-120"/>
              </a:rPr>
              <a:t>₹6,740 a month per institute, after serving costs.</a:t>
            </a:r>
            <a:endParaRPr lang="en-US" sz="1000" dirty="0"/>
          </a:p>
        </p:txBody>
      </p:sp>
      <p:sp>
        <p:nvSpPr>
          <p:cNvPr id="44" name="Shape 37"/>
          <p:cNvSpPr/>
          <p:nvPr/>
        </p:nvSpPr>
        <p:spPr>
          <a:xfrm>
            <a:off x="411480" y="2880360"/>
            <a:ext cx="256032" cy="256032"/>
          </a:xfrm>
          <a:prstGeom prst="rect">
            <a:avLst/>
          </a:prstGeom>
          <a:solidFill>
            <a:srgbClr val="1F4A82"/>
          </a:solidFill>
          <a:ln/>
        </p:spPr>
      </p:sp>
      <p:sp>
        <p:nvSpPr>
          <p:cNvPr id="45" name="Text 38"/>
          <p:cNvSpPr txBox="1"/>
          <p:nvPr/>
        </p:nvSpPr>
        <p:spPr>
          <a:xfrm>
            <a:off x="411480" y="288036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46" name="Text 39"/>
          <p:cNvSpPr txBox="1"/>
          <p:nvPr/>
        </p:nvSpPr>
        <p:spPr>
          <a:xfrm>
            <a:off x="740664" y="2880360"/>
            <a:ext cx="369417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STRESS TEST: BEAR, BASE, BULL</a:t>
            </a:r>
            <a:endParaRPr lang="en-US" sz="1200" dirty="0"/>
          </a:p>
        </p:txBody>
      </p:sp>
      <p:pic>
        <p:nvPicPr>
          <p:cNvPr id="47" name="Image 4" descr="Gauge of institute return: bear, base, bull">    </p:cNvPr>
          <p:cNvPicPr>
            <a:picLocks noChangeAspect="1"/>
          </p:cNvPicPr>
          <p:nvPr/>
        </p:nvPicPr>
        <p:blipFill>
          <a:blip r:embed="rId5"/>
          <a:stretch>
            <a:fillRect/>
          </a:stretch>
        </p:blipFill>
        <p:spPr>
          <a:xfrm>
            <a:off x="411480" y="3200400"/>
            <a:ext cx="4023360" cy="2011680"/>
          </a:xfrm>
          <a:prstGeom prst="rect">
            <a:avLst/>
          </a:prstGeom>
        </p:spPr>
      </p:pic>
      <p:sp>
        <p:nvSpPr>
          <p:cNvPr id="48" name="Shape 40"/>
          <p:cNvSpPr/>
          <p:nvPr/>
        </p:nvSpPr>
        <p:spPr>
          <a:xfrm>
            <a:off x="411480" y="5321808"/>
            <a:ext cx="1298448" cy="256032"/>
          </a:xfrm>
          <a:prstGeom prst="rect">
            <a:avLst/>
          </a:prstGeom>
          <a:solidFill>
            <a:srgbClr val="6B7280"/>
          </a:solidFill>
          <a:ln/>
        </p:spPr>
      </p:sp>
      <p:sp>
        <p:nvSpPr>
          <p:cNvPr id="49" name="Text 41"/>
          <p:cNvSpPr txBox="1"/>
          <p:nvPr/>
        </p:nvSpPr>
        <p:spPr>
          <a:xfrm>
            <a:off x="411480" y="5321808"/>
            <a:ext cx="1298448"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BEAR</a:t>
            </a:r>
            <a:endParaRPr lang="en-US" sz="1000" dirty="0"/>
          </a:p>
        </p:txBody>
      </p:sp>
      <p:sp>
        <p:nvSpPr>
          <p:cNvPr id="50" name="Text 42"/>
          <p:cNvSpPr txBox="1"/>
          <p:nvPr/>
        </p:nvSpPr>
        <p:spPr>
          <a:xfrm>
            <a:off x="411480" y="5596128"/>
            <a:ext cx="1298448" cy="548640"/>
          </a:xfrm>
          <a:prstGeom prst="rect">
            <a:avLst/>
          </a:prstGeom>
          <a:noFill/>
          <a:ln/>
        </p:spPr>
        <p:txBody>
          <a:bodyPr wrap="square" lIns="0" tIns="0" rIns="0" bIns="0" rtlCol="0" anchor="t"/>
          <a:lstStyle/>
          <a:p>
            <a:pPr algn="ctr" indent="0" marL="0">
              <a:buNone/>
            </a:pPr>
            <a:r>
              <a:rPr lang="en-US" sz="1600" b="1" dirty="0">
                <a:solidFill>
                  <a:srgbClr val="17325C"/>
                </a:solidFill>
                <a:latin typeface="Calibri" pitchFamily="34" charset="0"/>
                <a:ea typeface="Calibri" pitchFamily="34" charset="-122"/>
                <a:cs typeface="Calibri" pitchFamily="34" charset="-120"/>
              </a:rPr>
              <a:t>0.37x</a:t>
            </a:r>
            <a:endParaRPr lang="en-US" sz="1400" dirty="0"/>
          </a:p>
          <a:p>
            <a:pPr algn="ctr" indent="0" marL="0">
              <a:buNone/>
            </a:pPr>
            <a:r>
              <a:rPr lang="en-US" sz="850" dirty="0">
                <a:solidFill>
                  <a:srgbClr val="5B6573"/>
                </a:solidFill>
                <a:latin typeface="Calibri" pitchFamily="34" charset="0"/>
                <a:ea typeface="Calibri" pitchFamily="34" charset="-122"/>
                <a:cs typeface="Calibri" pitchFamily="34" charset="-120"/>
              </a:rPr>
              <a:t>LTV/CAC 0.75x</a:t>
            </a:r>
            <a:endParaRPr lang="en-US" sz="1400" dirty="0"/>
          </a:p>
        </p:txBody>
      </p:sp>
      <p:sp>
        <p:nvSpPr>
          <p:cNvPr id="51" name="Shape 43"/>
          <p:cNvSpPr/>
          <p:nvPr/>
        </p:nvSpPr>
        <p:spPr>
          <a:xfrm>
            <a:off x="1764792" y="5321808"/>
            <a:ext cx="1298448" cy="256032"/>
          </a:xfrm>
          <a:prstGeom prst="rect">
            <a:avLst/>
          </a:prstGeom>
          <a:solidFill>
            <a:srgbClr val="1F4A82"/>
          </a:solidFill>
          <a:ln/>
        </p:spPr>
      </p:sp>
      <p:sp>
        <p:nvSpPr>
          <p:cNvPr id="52" name="Text 44"/>
          <p:cNvSpPr txBox="1"/>
          <p:nvPr/>
        </p:nvSpPr>
        <p:spPr>
          <a:xfrm>
            <a:off x="1764792" y="5321808"/>
            <a:ext cx="1298448"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BASE</a:t>
            </a:r>
            <a:endParaRPr lang="en-US" sz="1000" dirty="0"/>
          </a:p>
        </p:txBody>
      </p:sp>
      <p:sp>
        <p:nvSpPr>
          <p:cNvPr id="53" name="Text 45"/>
          <p:cNvSpPr txBox="1"/>
          <p:nvPr/>
        </p:nvSpPr>
        <p:spPr>
          <a:xfrm>
            <a:off x="1764792" y="5596128"/>
            <a:ext cx="1298448" cy="548640"/>
          </a:xfrm>
          <a:prstGeom prst="rect">
            <a:avLst/>
          </a:prstGeom>
          <a:noFill/>
          <a:ln/>
        </p:spPr>
        <p:txBody>
          <a:bodyPr wrap="square" lIns="0" tIns="0" rIns="0" bIns="0" rtlCol="0" anchor="t"/>
          <a:lstStyle/>
          <a:p>
            <a:pPr algn="ctr" indent="0" marL="0">
              <a:buNone/>
            </a:pPr>
            <a:r>
              <a:rPr lang="en-US" sz="1600" b="1" dirty="0">
                <a:solidFill>
                  <a:srgbClr val="17325C"/>
                </a:solidFill>
                <a:latin typeface="Calibri" pitchFamily="34" charset="0"/>
                <a:ea typeface="Calibri" pitchFamily="34" charset="-122"/>
                <a:cs typeface="Calibri" pitchFamily="34" charset="-120"/>
              </a:rPr>
              <a:t>1.7x</a:t>
            </a:r>
            <a:endParaRPr lang="en-US" sz="1400" dirty="0"/>
          </a:p>
          <a:p>
            <a:pPr algn="ctr" indent="0" marL="0">
              <a:buNone/>
            </a:pPr>
            <a:r>
              <a:rPr lang="en-US" sz="850" dirty="0">
                <a:solidFill>
                  <a:srgbClr val="5B6573"/>
                </a:solidFill>
                <a:latin typeface="Calibri" pitchFamily="34" charset="0"/>
                <a:ea typeface="Calibri" pitchFamily="34" charset="-122"/>
                <a:cs typeface="Calibri" pitchFamily="34" charset="-120"/>
              </a:rPr>
              <a:t>LTV/CAC 3.6x</a:t>
            </a:r>
            <a:endParaRPr lang="en-US" sz="1400" dirty="0"/>
          </a:p>
        </p:txBody>
      </p:sp>
      <p:sp>
        <p:nvSpPr>
          <p:cNvPr id="54" name="Shape 46"/>
          <p:cNvSpPr/>
          <p:nvPr/>
        </p:nvSpPr>
        <p:spPr>
          <a:xfrm>
            <a:off x="3118104" y="5321808"/>
            <a:ext cx="1298448" cy="256032"/>
          </a:xfrm>
          <a:prstGeom prst="rect">
            <a:avLst/>
          </a:prstGeom>
          <a:solidFill>
            <a:srgbClr val="6B7280"/>
          </a:solidFill>
          <a:ln/>
        </p:spPr>
      </p:sp>
      <p:sp>
        <p:nvSpPr>
          <p:cNvPr id="55" name="Text 47"/>
          <p:cNvSpPr txBox="1"/>
          <p:nvPr/>
        </p:nvSpPr>
        <p:spPr>
          <a:xfrm>
            <a:off x="3118104" y="5321808"/>
            <a:ext cx="1298448"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BULL</a:t>
            </a:r>
            <a:endParaRPr lang="en-US" sz="1000" dirty="0"/>
          </a:p>
        </p:txBody>
      </p:sp>
      <p:sp>
        <p:nvSpPr>
          <p:cNvPr id="56" name="Text 48"/>
          <p:cNvSpPr txBox="1"/>
          <p:nvPr/>
        </p:nvSpPr>
        <p:spPr>
          <a:xfrm>
            <a:off x="3118104" y="5596128"/>
            <a:ext cx="1298448" cy="548640"/>
          </a:xfrm>
          <a:prstGeom prst="rect">
            <a:avLst/>
          </a:prstGeom>
          <a:noFill/>
          <a:ln/>
        </p:spPr>
        <p:txBody>
          <a:bodyPr wrap="square" lIns="0" tIns="0" rIns="0" bIns="0" rtlCol="0" anchor="t"/>
          <a:lstStyle/>
          <a:p>
            <a:pPr algn="ctr" indent="0" marL="0">
              <a:buNone/>
            </a:pPr>
            <a:r>
              <a:rPr lang="en-US" sz="1600" b="1" dirty="0">
                <a:solidFill>
                  <a:srgbClr val="17325C"/>
                </a:solidFill>
                <a:latin typeface="Calibri" pitchFamily="34" charset="0"/>
                <a:ea typeface="Calibri" pitchFamily="34" charset="-122"/>
                <a:cs typeface="Calibri" pitchFamily="34" charset="-120"/>
              </a:rPr>
              <a:t>3.9x</a:t>
            </a:r>
            <a:endParaRPr lang="en-US" sz="1400" dirty="0"/>
          </a:p>
          <a:p>
            <a:pPr algn="ctr" indent="0" marL="0">
              <a:buNone/>
            </a:pPr>
            <a:r>
              <a:rPr lang="en-US" sz="850" dirty="0">
                <a:solidFill>
                  <a:srgbClr val="5B6573"/>
                </a:solidFill>
                <a:latin typeface="Calibri" pitchFamily="34" charset="0"/>
                <a:ea typeface="Calibri" pitchFamily="34" charset="-122"/>
                <a:cs typeface="Calibri" pitchFamily="34" charset="-120"/>
              </a:rPr>
              <a:t>LTV/CAC 10x</a:t>
            </a:r>
            <a:endParaRPr lang="en-US" sz="1400" dirty="0"/>
          </a:p>
        </p:txBody>
      </p:sp>
      <p:sp>
        <p:nvSpPr>
          <p:cNvPr id="57" name="Text 49"/>
          <p:cNvSpPr txBox="1"/>
          <p:nvPr/>
        </p:nvSpPr>
        <p:spPr>
          <a:xfrm>
            <a:off x="411480" y="6144768"/>
            <a:ext cx="4023360" cy="201168"/>
          </a:xfrm>
          <a:prstGeom prst="rect">
            <a:avLst/>
          </a:prstGeom>
          <a:noFill/>
          <a:ln/>
        </p:spPr>
        <p:txBody>
          <a:bodyPr wrap="square" lIns="0" tIns="0" rIns="0" bIns="0" rtlCol="0" anchor="t"/>
          <a:lstStyle/>
          <a:p>
            <a:pPr algn="l" indent="0" marL="0">
              <a:buNone/>
            </a:pPr>
            <a:r>
              <a:rPr lang="en-US" sz="850" i="1" dirty="0">
                <a:solidFill>
                  <a:srgbClr val="5B6573"/>
                </a:solidFill>
                <a:latin typeface="Calibri" pitchFamily="34" charset="0"/>
                <a:ea typeface="Calibri" pitchFamily="34" charset="-122"/>
                <a:cs typeface="Calibri" pitchFamily="34" charset="-120"/>
              </a:rPr>
              <a:t>Owner's return, all benefits. Every input at its worst: 0.09x.</a:t>
            </a:r>
            <a:endParaRPr lang="en-US" sz="850" dirty="0"/>
          </a:p>
        </p:txBody>
      </p:sp>
      <p:sp>
        <p:nvSpPr>
          <p:cNvPr id="58" name="Shape 50"/>
          <p:cNvSpPr/>
          <p:nvPr/>
        </p:nvSpPr>
        <p:spPr>
          <a:xfrm>
            <a:off x="4754880" y="2880360"/>
            <a:ext cx="256032" cy="256032"/>
          </a:xfrm>
          <a:prstGeom prst="rect">
            <a:avLst/>
          </a:prstGeom>
          <a:solidFill>
            <a:srgbClr val="1F4A82"/>
          </a:solidFill>
          <a:ln/>
        </p:spPr>
      </p:sp>
      <p:sp>
        <p:nvSpPr>
          <p:cNvPr id="59" name="Text 51"/>
          <p:cNvSpPr txBox="1"/>
          <p:nvPr/>
        </p:nvSpPr>
        <p:spPr>
          <a:xfrm>
            <a:off x="4754880" y="288036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60" name="Text 52"/>
          <p:cNvSpPr txBox="1"/>
          <p:nvPr/>
        </p:nvSpPr>
        <p:spPr>
          <a:xfrm>
            <a:off x="5084064" y="2880360"/>
            <a:ext cx="305409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WHERE ₹3.6 A STUDENT GOES</a:t>
            </a:r>
            <a:endParaRPr lang="en-US" sz="1200" dirty="0"/>
          </a:p>
        </p:txBody>
      </p:sp>
      <p:sp>
        <p:nvSpPr>
          <p:cNvPr id="61" name="Shape 53"/>
          <p:cNvSpPr/>
          <p:nvPr/>
        </p:nvSpPr>
        <p:spPr>
          <a:xfrm>
            <a:off x="4754880" y="3246120"/>
            <a:ext cx="731520" cy="698500"/>
          </a:xfrm>
          <a:prstGeom prst="rect">
            <a:avLst/>
          </a:prstGeom>
          <a:solidFill>
            <a:srgbClr val="1F4A82"/>
          </a:solidFill>
          <a:ln/>
        </p:spPr>
      </p:sp>
      <p:sp>
        <p:nvSpPr>
          <p:cNvPr id="62" name="Shape 54"/>
          <p:cNvSpPr/>
          <p:nvPr/>
        </p:nvSpPr>
        <p:spPr>
          <a:xfrm>
            <a:off x="4754880" y="3944620"/>
            <a:ext cx="731520" cy="558800"/>
          </a:xfrm>
          <a:prstGeom prst="rect">
            <a:avLst/>
          </a:prstGeom>
          <a:solidFill>
            <a:srgbClr val="2E6DB4"/>
          </a:solidFill>
          <a:ln/>
        </p:spPr>
      </p:sp>
      <p:sp>
        <p:nvSpPr>
          <p:cNvPr id="63" name="Shape 55"/>
          <p:cNvSpPr/>
          <p:nvPr/>
        </p:nvSpPr>
        <p:spPr>
          <a:xfrm>
            <a:off x="4754880" y="4503420"/>
            <a:ext cx="731520" cy="488950"/>
          </a:xfrm>
          <a:prstGeom prst="rect">
            <a:avLst/>
          </a:prstGeom>
          <a:solidFill>
            <a:srgbClr val="5B8DC9"/>
          </a:solidFill>
          <a:ln/>
        </p:spPr>
      </p:sp>
      <p:sp>
        <p:nvSpPr>
          <p:cNvPr id="64" name="Shape 56"/>
          <p:cNvSpPr/>
          <p:nvPr/>
        </p:nvSpPr>
        <p:spPr>
          <a:xfrm>
            <a:off x="4754880" y="4992370"/>
            <a:ext cx="731520" cy="349250"/>
          </a:xfrm>
          <a:prstGeom prst="rect">
            <a:avLst/>
          </a:prstGeom>
          <a:solidFill>
            <a:srgbClr val="8FB0D8"/>
          </a:solidFill>
          <a:ln/>
        </p:spPr>
      </p:sp>
      <p:sp>
        <p:nvSpPr>
          <p:cNvPr id="65" name="Shape 57"/>
          <p:cNvSpPr/>
          <p:nvPr/>
        </p:nvSpPr>
        <p:spPr>
          <a:xfrm>
            <a:off x="4754880" y="5341620"/>
            <a:ext cx="731520" cy="349250"/>
          </a:xfrm>
          <a:prstGeom prst="rect">
            <a:avLst/>
          </a:prstGeom>
          <a:solidFill>
            <a:srgbClr val="B9CFE8"/>
          </a:solidFill>
          <a:ln/>
        </p:spPr>
      </p:sp>
      <p:sp>
        <p:nvSpPr>
          <p:cNvPr id="66" name="Shape 58"/>
          <p:cNvSpPr/>
          <p:nvPr/>
        </p:nvSpPr>
        <p:spPr>
          <a:xfrm>
            <a:off x="4754880" y="5690870"/>
            <a:ext cx="731520" cy="69850"/>
          </a:xfrm>
          <a:prstGeom prst="rect">
            <a:avLst/>
          </a:prstGeom>
          <a:solidFill>
            <a:srgbClr val="DDE7F4"/>
          </a:solidFill>
          <a:ln/>
        </p:spPr>
      </p:sp>
      <p:sp>
        <p:nvSpPr>
          <p:cNvPr id="67" name="Shape 59"/>
          <p:cNvSpPr/>
          <p:nvPr/>
        </p:nvSpPr>
        <p:spPr>
          <a:xfrm>
            <a:off x="5669280" y="3337560"/>
            <a:ext cx="182880" cy="182880"/>
          </a:xfrm>
          <a:prstGeom prst="rect">
            <a:avLst/>
          </a:prstGeom>
          <a:solidFill>
            <a:srgbClr val="1F4A82"/>
          </a:solidFill>
          <a:ln/>
        </p:spPr>
      </p:sp>
      <p:sp>
        <p:nvSpPr>
          <p:cNvPr id="68" name="Text 60"/>
          <p:cNvSpPr txBox="1"/>
          <p:nvPr/>
        </p:nvSpPr>
        <p:spPr>
          <a:xfrm>
            <a:off x="5943600" y="3246120"/>
            <a:ext cx="2194560" cy="365760"/>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₹1.0  </a:t>
            </a:r>
            <a:pPr algn="l" indent="0" marL="0">
              <a:buNone/>
            </a:pPr>
            <a:r>
              <a:rPr lang="en-US" sz="1050" dirty="0">
                <a:solidFill>
                  <a:srgbClr val="1F2937"/>
                </a:solidFill>
                <a:latin typeface="Calibri" pitchFamily="34" charset="0"/>
                <a:ea typeface="Calibri" pitchFamily="34" charset="-122"/>
                <a:cs typeface="Calibri" pitchFamily="34" charset="-120"/>
              </a:rPr>
              <a:t>WhatsApp messages</a:t>
            </a:r>
            <a:endParaRPr lang="en-US" sz="1050" dirty="0"/>
          </a:p>
        </p:txBody>
      </p:sp>
      <p:sp>
        <p:nvSpPr>
          <p:cNvPr id="69" name="Shape 61"/>
          <p:cNvSpPr/>
          <p:nvPr/>
        </p:nvSpPr>
        <p:spPr>
          <a:xfrm>
            <a:off x="5669280" y="3758184"/>
            <a:ext cx="182880" cy="182880"/>
          </a:xfrm>
          <a:prstGeom prst="rect">
            <a:avLst/>
          </a:prstGeom>
          <a:solidFill>
            <a:srgbClr val="2E6DB4"/>
          </a:solidFill>
          <a:ln/>
        </p:spPr>
      </p:sp>
      <p:sp>
        <p:nvSpPr>
          <p:cNvPr id="70" name="Text 62"/>
          <p:cNvSpPr txBox="1"/>
          <p:nvPr/>
        </p:nvSpPr>
        <p:spPr>
          <a:xfrm>
            <a:off x="5943600" y="3666744"/>
            <a:ext cx="2194560" cy="365760"/>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₹0.8  </a:t>
            </a:r>
            <a:pPr algn="l" indent="0" marL="0">
              <a:buNone/>
            </a:pPr>
            <a:r>
              <a:rPr lang="en-US" sz="1050" dirty="0">
                <a:solidFill>
                  <a:srgbClr val="1F2937"/>
                </a:solidFill>
                <a:latin typeface="Calibri" pitchFamily="34" charset="0"/>
                <a:ea typeface="Calibri" pitchFamily="34" charset="-122"/>
                <a:cs typeface="Calibri" pitchFamily="34" charset="-120"/>
              </a:rPr>
              <a:t>Compute and storage</a:t>
            </a:r>
            <a:endParaRPr lang="en-US" sz="1050" dirty="0"/>
          </a:p>
        </p:txBody>
      </p:sp>
      <p:sp>
        <p:nvSpPr>
          <p:cNvPr id="71" name="Shape 63"/>
          <p:cNvSpPr/>
          <p:nvPr/>
        </p:nvSpPr>
        <p:spPr>
          <a:xfrm>
            <a:off x="5669280" y="4178808"/>
            <a:ext cx="182880" cy="182880"/>
          </a:xfrm>
          <a:prstGeom prst="rect">
            <a:avLst/>
          </a:prstGeom>
          <a:solidFill>
            <a:srgbClr val="5B8DC9"/>
          </a:solidFill>
          <a:ln/>
        </p:spPr>
      </p:sp>
      <p:sp>
        <p:nvSpPr>
          <p:cNvPr id="72" name="Text 64"/>
          <p:cNvSpPr txBox="1"/>
          <p:nvPr/>
        </p:nvSpPr>
        <p:spPr>
          <a:xfrm>
            <a:off x="5943600" y="4087368"/>
            <a:ext cx="2194560" cy="365760"/>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₹0.7  </a:t>
            </a:r>
            <a:pPr algn="l" indent="0" marL="0">
              <a:buNone/>
            </a:pPr>
            <a:r>
              <a:rPr lang="en-US" sz="1050" dirty="0">
                <a:solidFill>
                  <a:srgbClr val="1F2937"/>
                </a:solidFill>
                <a:latin typeface="Calibri" pitchFamily="34" charset="0"/>
                <a:ea typeface="Calibri" pitchFamily="34" charset="-122"/>
                <a:cs typeface="Calibri" pitchFamily="34" charset="-120"/>
              </a:rPr>
              <a:t>AI-written reports</a:t>
            </a:r>
            <a:endParaRPr lang="en-US" sz="1050" dirty="0"/>
          </a:p>
        </p:txBody>
      </p:sp>
      <p:sp>
        <p:nvSpPr>
          <p:cNvPr id="73" name="Shape 65"/>
          <p:cNvSpPr/>
          <p:nvPr/>
        </p:nvSpPr>
        <p:spPr>
          <a:xfrm>
            <a:off x="5669280" y="4599432"/>
            <a:ext cx="182880" cy="182880"/>
          </a:xfrm>
          <a:prstGeom prst="rect">
            <a:avLst/>
          </a:prstGeom>
          <a:solidFill>
            <a:srgbClr val="8FB0D8"/>
          </a:solidFill>
          <a:ln/>
        </p:spPr>
      </p:sp>
      <p:sp>
        <p:nvSpPr>
          <p:cNvPr id="74" name="Text 66"/>
          <p:cNvSpPr txBox="1"/>
          <p:nvPr/>
        </p:nvSpPr>
        <p:spPr>
          <a:xfrm>
            <a:off x="5943600" y="4507992"/>
            <a:ext cx="2194560" cy="365760"/>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₹0.5  </a:t>
            </a:r>
            <a:pPr algn="l" indent="0" marL="0">
              <a:buNone/>
            </a:pPr>
            <a:r>
              <a:rPr lang="en-US" sz="1050" dirty="0">
                <a:solidFill>
                  <a:srgbClr val="1F2937"/>
                </a:solidFill>
                <a:latin typeface="Calibri" pitchFamily="34" charset="0"/>
                <a:ea typeface="Calibri" pitchFamily="34" charset="-122"/>
                <a:cs typeface="Calibri" pitchFamily="34" charset="-120"/>
              </a:rPr>
              <a:t>Servers and database</a:t>
            </a:r>
            <a:endParaRPr lang="en-US" sz="1050" dirty="0"/>
          </a:p>
        </p:txBody>
      </p:sp>
      <p:sp>
        <p:nvSpPr>
          <p:cNvPr id="75" name="Shape 67"/>
          <p:cNvSpPr/>
          <p:nvPr/>
        </p:nvSpPr>
        <p:spPr>
          <a:xfrm>
            <a:off x="5669280" y="5020056"/>
            <a:ext cx="182880" cy="182880"/>
          </a:xfrm>
          <a:prstGeom prst="rect">
            <a:avLst/>
          </a:prstGeom>
          <a:solidFill>
            <a:srgbClr val="B9CFE8"/>
          </a:solidFill>
          <a:ln/>
        </p:spPr>
      </p:sp>
      <p:sp>
        <p:nvSpPr>
          <p:cNvPr id="76" name="Text 68"/>
          <p:cNvSpPr txBox="1"/>
          <p:nvPr/>
        </p:nvSpPr>
        <p:spPr>
          <a:xfrm>
            <a:off x="5943600" y="4928616"/>
            <a:ext cx="2194560" cy="365760"/>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₹0.5  </a:t>
            </a:r>
            <a:pPr algn="l" indent="0" marL="0">
              <a:buNone/>
            </a:pPr>
            <a:r>
              <a:rPr lang="en-US" sz="1050" dirty="0">
                <a:solidFill>
                  <a:srgbClr val="1F2937"/>
                </a:solidFill>
                <a:latin typeface="Calibri" pitchFamily="34" charset="0"/>
                <a:ea typeface="Calibri" pitchFamily="34" charset="-122"/>
                <a:cs typeface="Calibri" pitchFamily="34" charset="-120"/>
              </a:rPr>
              <a:t>Legal and compliance</a:t>
            </a:r>
            <a:endParaRPr lang="en-US" sz="1050" dirty="0"/>
          </a:p>
        </p:txBody>
      </p:sp>
      <p:sp>
        <p:nvSpPr>
          <p:cNvPr id="77" name="Shape 69"/>
          <p:cNvSpPr/>
          <p:nvPr/>
        </p:nvSpPr>
        <p:spPr>
          <a:xfrm>
            <a:off x="5669280" y="5440680"/>
            <a:ext cx="182880" cy="182880"/>
          </a:xfrm>
          <a:prstGeom prst="rect">
            <a:avLst/>
          </a:prstGeom>
          <a:solidFill>
            <a:srgbClr val="DDE7F4"/>
          </a:solidFill>
          <a:ln/>
        </p:spPr>
      </p:sp>
      <p:sp>
        <p:nvSpPr>
          <p:cNvPr id="78" name="Text 70"/>
          <p:cNvSpPr txBox="1"/>
          <p:nvPr/>
        </p:nvSpPr>
        <p:spPr>
          <a:xfrm>
            <a:off x="5943600" y="5349240"/>
            <a:ext cx="2194560" cy="365760"/>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₹0.1  </a:t>
            </a:r>
            <a:pPr algn="l" indent="0" marL="0">
              <a:buNone/>
            </a:pPr>
            <a:r>
              <a:rPr lang="en-US" sz="1050" dirty="0">
                <a:solidFill>
                  <a:srgbClr val="1F2937"/>
                </a:solidFill>
                <a:latin typeface="Calibri" pitchFamily="34" charset="0"/>
                <a:ea typeface="Calibri" pitchFamily="34" charset="-122"/>
                <a:cs typeface="Calibri" pitchFamily="34" charset="-120"/>
              </a:rPr>
              <a:t>Consent checks</a:t>
            </a:r>
            <a:endParaRPr lang="en-US" sz="1050" dirty="0"/>
          </a:p>
        </p:txBody>
      </p:sp>
      <p:sp>
        <p:nvSpPr>
          <p:cNvPr id="79" name="Text 71"/>
          <p:cNvSpPr txBox="1"/>
          <p:nvPr/>
        </p:nvSpPr>
        <p:spPr>
          <a:xfrm>
            <a:off x="4754880" y="5943600"/>
            <a:ext cx="3383280" cy="274320"/>
          </a:xfrm>
          <a:prstGeom prst="rect">
            <a:avLst/>
          </a:prstGeom>
          <a:noFill/>
          <a:ln/>
        </p:spPr>
        <p:txBody>
          <a:bodyPr wrap="square" lIns="0" tIns="0" rIns="0" bIns="0" rtlCol="0" anchor="t"/>
          <a:lstStyle/>
          <a:p>
            <a:pPr algn="l" indent="0" marL="0">
              <a:buNone/>
            </a:pPr>
            <a:r>
              <a:rPr lang="en-US" sz="900" i="1" dirty="0">
                <a:solidFill>
                  <a:srgbClr val="5B6573"/>
                </a:solidFill>
                <a:latin typeface="Calibri" pitchFamily="34" charset="0"/>
                <a:ea typeface="Calibri" pitchFamily="34" charset="-122"/>
                <a:cs typeface="Calibri" pitchFamily="34" charset="-120"/>
              </a:rPr>
              <a:t>A month, per student, all-in. Run locally: ₹0 extra</a:t>
            </a:r>
            <a:endParaRPr lang="en-US" sz="900" dirty="0"/>
          </a:p>
        </p:txBody>
      </p:sp>
      <p:sp>
        <p:nvSpPr>
          <p:cNvPr id="80" name="Shape 72"/>
          <p:cNvSpPr/>
          <p:nvPr/>
        </p:nvSpPr>
        <p:spPr>
          <a:xfrm>
            <a:off x="8366760" y="2880360"/>
            <a:ext cx="256032" cy="256032"/>
          </a:xfrm>
          <a:prstGeom prst="rect">
            <a:avLst/>
          </a:prstGeom>
          <a:solidFill>
            <a:srgbClr val="1F4A82"/>
          </a:solidFill>
          <a:ln/>
        </p:spPr>
      </p:sp>
      <p:sp>
        <p:nvSpPr>
          <p:cNvPr id="81" name="Text 73"/>
          <p:cNvSpPr txBox="1"/>
          <p:nvPr/>
        </p:nvSpPr>
        <p:spPr>
          <a:xfrm>
            <a:off x="8366760" y="288036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82" name="Text 74"/>
          <p:cNvSpPr txBox="1"/>
          <p:nvPr/>
        </p:nvSpPr>
        <p:spPr>
          <a:xfrm>
            <a:off x="8695944" y="2880360"/>
            <a:ext cx="308427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WHAT THE OWNER GETS</a:t>
            </a:r>
            <a:endParaRPr lang="en-US" sz="1200" dirty="0"/>
          </a:p>
        </p:txBody>
      </p:sp>
      <p:sp>
        <p:nvSpPr>
          <p:cNvPr id="83" name="Text 75"/>
          <p:cNvSpPr txBox="1"/>
          <p:nvPr/>
        </p:nvSpPr>
        <p:spPr>
          <a:xfrm>
            <a:off x="8366760" y="3246120"/>
            <a:ext cx="1188720" cy="420624"/>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All benefits</a:t>
            </a:r>
            <a:endParaRPr lang="en-US" sz="1000" dirty="0"/>
          </a:p>
        </p:txBody>
      </p:sp>
      <p:sp>
        <p:nvSpPr>
          <p:cNvPr id="84" name="Shape 76"/>
          <p:cNvSpPr/>
          <p:nvPr/>
        </p:nvSpPr>
        <p:spPr>
          <a:xfrm>
            <a:off x="9601200" y="3300984"/>
            <a:ext cx="1191509" cy="310896"/>
          </a:xfrm>
          <a:prstGeom prst="rect">
            <a:avLst/>
          </a:prstGeom>
          <a:solidFill>
            <a:srgbClr val="1F4A82"/>
          </a:solidFill>
          <a:ln/>
        </p:spPr>
      </p:sp>
      <p:sp>
        <p:nvSpPr>
          <p:cNvPr id="85" name="Text 77"/>
          <p:cNvSpPr txBox="1"/>
          <p:nvPr/>
        </p:nvSpPr>
        <p:spPr>
          <a:xfrm>
            <a:off x="11094415" y="3246120"/>
            <a:ext cx="685800" cy="420624"/>
          </a:xfrm>
          <a:prstGeom prst="rect">
            <a:avLst/>
          </a:prstGeom>
          <a:noFill/>
          <a:ln/>
        </p:spPr>
        <p:txBody>
          <a:bodyPr wrap="square" lIns="0" tIns="0" rIns="0" bIns="0" rtlCol="0" anchor="ctr"/>
          <a:lstStyle/>
          <a:p>
            <a:pPr algn="r" indent="0" marL="0">
              <a:buNone/>
            </a:pPr>
            <a:r>
              <a:rPr lang="en-US" sz="1300" b="1" dirty="0">
                <a:solidFill>
                  <a:srgbClr val="17325C"/>
                </a:solidFill>
                <a:latin typeface="Calibri" pitchFamily="34" charset="0"/>
                <a:ea typeface="Calibri" pitchFamily="34" charset="-122"/>
                <a:cs typeface="Calibri" pitchFamily="34" charset="-120"/>
              </a:rPr>
              <a:t>1.7x</a:t>
            </a:r>
            <a:endParaRPr lang="en-US" sz="1300" dirty="0"/>
          </a:p>
        </p:txBody>
      </p:sp>
      <p:sp>
        <p:nvSpPr>
          <p:cNvPr id="86" name="Text 78"/>
          <p:cNvSpPr txBox="1"/>
          <p:nvPr/>
        </p:nvSpPr>
        <p:spPr>
          <a:xfrm>
            <a:off x="8366760" y="3776472"/>
            <a:ext cx="1188720" cy="420624"/>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Fees + staff time</a:t>
            </a:r>
            <a:endParaRPr lang="en-US" sz="1000" dirty="0"/>
          </a:p>
        </p:txBody>
      </p:sp>
      <p:sp>
        <p:nvSpPr>
          <p:cNvPr id="87" name="Shape 79"/>
          <p:cNvSpPr/>
          <p:nvPr/>
        </p:nvSpPr>
        <p:spPr>
          <a:xfrm>
            <a:off x="9601200" y="3831336"/>
            <a:ext cx="385488" cy="310896"/>
          </a:xfrm>
          <a:prstGeom prst="rect">
            <a:avLst/>
          </a:prstGeom>
          <a:solidFill>
            <a:srgbClr val="2E6DB4"/>
          </a:solidFill>
          <a:ln/>
        </p:spPr>
      </p:sp>
      <p:sp>
        <p:nvSpPr>
          <p:cNvPr id="88" name="Text 80"/>
          <p:cNvSpPr txBox="1"/>
          <p:nvPr/>
        </p:nvSpPr>
        <p:spPr>
          <a:xfrm>
            <a:off x="11094415" y="3776472"/>
            <a:ext cx="685800" cy="420624"/>
          </a:xfrm>
          <a:prstGeom prst="rect">
            <a:avLst/>
          </a:prstGeom>
          <a:noFill/>
          <a:ln/>
        </p:spPr>
        <p:txBody>
          <a:bodyPr wrap="square" lIns="0" tIns="0" rIns="0" bIns="0" rtlCol="0" anchor="ctr"/>
          <a:lstStyle/>
          <a:p>
            <a:pPr algn="r" indent="0" marL="0">
              <a:buNone/>
            </a:pPr>
            <a:r>
              <a:rPr lang="en-US" sz="1300" b="1" dirty="0">
                <a:solidFill>
                  <a:srgbClr val="17325C"/>
                </a:solidFill>
                <a:latin typeface="Calibri" pitchFamily="34" charset="0"/>
                <a:ea typeface="Calibri" pitchFamily="34" charset="-122"/>
                <a:cs typeface="Calibri" pitchFamily="34" charset="-120"/>
              </a:rPr>
              <a:t>0.55x</a:t>
            </a:r>
            <a:endParaRPr lang="en-US" sz="1300" dirty="0"/>
          </a:p>
        </p:txBody>
      </p:sp>
      <p:sp>
        <p:nvSpPr>
          <p:cNvPr id="89" name="Text 81"/>
          <p:cNvSpPr txBox="1"/>
          <p:nvPr/>
        </p:nvSpPr>
        <p:spPr>
          <a:xfrm>
            <a:off x="8366760" y="4306824"/>
            <a:ext cx="1188720" cy="420624"/>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Fees only</a:t>
            </a:r>
            <a:endParaRPr lang="en-US" sz="1000" dirty="0"/>
          </a:p>
        </p:txBody>
      </p:sp>
      <p:sp>
        <p:nvSpPr>
          <p:cNvPr id="90" name="Shape 82"/>
          <p:cNvSpPr/>
          <p:nvPr/>
        </p:nvSpPr>
        <p:spPr>
          <a:xfrm>
            <a:off x="9601200" y="4361688"/>
            <a:ext cx="245311" cy="310896"/>
          </a:xfrm>
          <a:prstGeom prst="rect">
            <a:avLst/>
          </a:prstGeom>
          <a:solidFill>
            <a:srgbClr val="8FB0D8"/>
          </a:solidFill>
          <a:ln/>
        </p:spPr>
      </p:sp>
      <p:sp>
        <p:nvSpPr>
          <p:cNvPr id="91" name="Text 83"/>
          <p:cNvSpPr txBox="1"/>
          <p:nvPr/>
        </p:nvSpPr>
        <p:spPr>
          <a:xfrm>
            <a:off x="11094415" y="4306824"/>
            <a:ext cx="685800" cy="420624"/>
          </a:xfrm>
          <a:prstGeom prst="rect">
            <a:avLst/>
          </a:prstGeom>
          <a:noFill/>
          <a:ln/>
        </p:spPr>
        <p:txBody>
          <a:bodyPr wrap="square" lIns="0" tIns="0" rIns="0" bIns="0" rtlCol="0" anchor="ctr"/>
          <a:lstStyle/>
          <a:p>
            <a:pPr algn="r" indent="0" marL="0">
              <a:buNone/>
            </a:pPr>
            <a:r>
              <a:rPr lang="en-US" sz="1300" b="1" dirty="0">
                <a:solidFill>
                  <a:srgbClr val="17325C"/>
                </a:solidFill>
                <a:latin typeface="Calibri" pitchFamily="34" charset="0"/>
                <a:ea typeface="Calibri" pitchFamily="34" charset="-122"/>
                <a:cs typeface="Calibri" pitchFamily="34" charset="-120"/>
              </a:rPr>
              <a:t>0.35x</a:t>
            </a:r>
            <a:endParaRPr lang="en-US" sz="1300" dirty="0"/>
          </a:p>
        </p:txBody>
      </p:sp>
      <p:sp>
        <p:nvSpPr>
          <p:cNvPr id="92" name="Shape 84"/>
          <p:cNvSpPr/>
          <p:nvPr/>
        </p:nvSpPr>
        <p:spPr>
          <a:xfrm>
            <a:off x="10302088" y="3200400"/>
            <a:ext cx="0" cy="1645920"/>
          </a:xfrm>
          <a:prstGeom prst="line">
            <a:avLst/>
          </a:prstGeom>
          <a:noFill/>
          <a:ln w="15875">
            <a:solidFill>
              <a:srgbClr val="C0392B"/>
            </a:solidFill>
            <a:prstDash val="dash"/>
          </a:ln>
        </p:spPr>
      </p:sp>
      <p:sp>
        <p:nvSpPr>
          <p:cNvPr id="93" name="Text 85"/>
          <p:cNvSpPr txBox="1"/>
          <p:nvPr/>
        </p:nvSpPr>
        <p:spPr>
          <a:xfrm>
            <a:off x="9570568" y="4800600"/>
            <a:ext cx="1463040" cy="201168"/>
          </a:xfrm>
          <a:prstGeom prst="rect">
            <a:avLst/>
          </a:prstGeom>
          <a:noFill/>
          <a:ln/>
        </p:spPr>
        <p:txBody>
          <a:bodyPr wrap="square" lIns="0" tIns="0" rIns="0" bIns="0" rtlCol="0" anchor="t"/>
          <a:lstStyle/>
          <a:p>
            <a:pPr algn="ctr" indent="0" marL="0">
              <a:buNone/>
            </a:pPr>
            <a:r>
              <a:rPr lang="en-US" sz="850" dirty="0">
                <a:solidFill>
                  <a:srgbClr val="C0392B"/>
                </a:solidFill>
                <a:latin typeface="Calibri" pitchFamily="34" charset="0"/>
                <a:ea typeface="Calibri" pitchFamily="34" charset="-122"/>
                <a:cs typeface="Calibri" pitchFamily="34" charset="-120"/>
              </a:rPr>
              <a:t>1x = pays for itself</a:t>
            </a:r>
            <a:endParaRPr lang="en-US" sz="850" dirty="0"/>
          </a:p>
        </p:txBody>
      </p:sp>
      <p:sp>
        <p:nvSpPr>
          <p:cNvPr id="94" name="Shape 86"/>
          <p:cNvSpPr/>
          <p:nvPr/>
        </p:nvSpPr>
        <p:spPr>
          <a:xfrm>
            <a:off x="8366760" y="5120640"/>
            <a:ext cx="3413455" cy="1188720"/>
          </a:xfrm>
          <a:prstGeom prst="rect">
            <a:avLst/>
          </a:prstGeom>
          <a:solidFill>
            <a:srgbClr val="F4F7FB"/>
          </a:solidFill>
          <a:ln w="12700">
            <a:solidFill>
              <a:srgbClr val="C9D6E8"/>
            </a:solidFill>
            <a:prstDash val="solid"/>
          </a:ln>
        </p:spPr>
      </p:sp>
      <p:sp>
        <p:nvSpPr>
          <p:cNvPr id="95" name="Text 87"/>
          <p:cNvSpPr txBox="1"/>
          <p:nvPr/>
        </p:nvSpPr>
        <p:spPr>
          <a:xfrm>
            <a:off x="8476488" y="5175504"/>
            <a:ext cx="3193999" cy="1097280"/>
          </a:xfrm>
          <a:prstGeom prst="rect">
            <a:avLst/>
          </a:prstGeom>
          <a:noFill/>
          <a:ln/>
        </p:spPr>
        <p:txBody>
          <a:bodyPr wrap="square" lIns="0" tIns="0" rIns="0" bIns="0" rtlCol="0" anchor="t"/>
          <a:lstStyle/>
          <a:p>
            <a:pPr algn="l" marL="152400" indent="-152400">
              <a:spcAft>
                <a:spcPts val="200"/>
              </a:spcAft>
              <a:buSzPct val="100000"/>
              <a:buChar char="•"/>
            </a:pPr>
            <a:r>
              <a:rPr lang="en-US" sz="1000" dirty="0">
                <a:solidFill>
                  <a:srgbClr val="1F2937"/>
                </a:solidFill>
                <a:latin typeface="Calibri" pitchFamily="34" charset="0"/>
                <a:ea typeface="Calibri" pitchFamily="34" charset="-122"/>
                <a:cs typeface="Calibri" pitchFamily="34" charset="-120"/>
              </a:rPr>
              <a:t>Keep 5.5 students a year, or</a:t>
            </a:r>
            <a:endParaRPr lang="en-US" sz="1000" dirty="0"/>
          </a:p>
          <a:p>
            <a:pPr algn="l" marL="152400" indent="-152400">
              <a:spcAft>
                <a:spcPts val="200"/>
              </a:spcAft>
              <a:buSzPct val="100000"/>
              <a:buChar char="•"/>
            </a:pPr>
            <a:r>
              <a:rPr lang="en-US" sz="1000" dirty="0">
                <a:solidFill>
                  <a:srgbClr val="1F2937"/>
                </a:solidFill>
                <a:latin typeface="Calibri" pitchFamily="34" charset="0"/>
                <a:ea typeface="Calibri" pitchFamily="34" charset="-122"/>
                <a:cs typeface="Calibri" pitchFamily="34" charset="-120"/>
              </a:rPr>
              <a:t>win 1.5 extra admissions: it breaks even</a:t>
            </a:r>
            <a:endParaRPr lang="en-US" sz="1000" dirty="0"/>
          </a:p>
          <a:p>
            <a:pPr algn="l" marL="152400" indent="-152400">
              <a:spcAft>
                <a:spcPts val="200"/>
              </a:spcAft>
              <a:buSzPct val="100000"/>
              <a:buChar char="•"/>
            </a:pPr>
            <a:r>
              <a:rPr lang="en-US" sz="1000" dirty="0">
                <a:solidFill>
                  <a:srgbClr val="1F2937"/>
                </a:solidFill>
                <a:latin typeface="Calibri" pitchFamily="34" charset="0"/>
                <a:ea typeface="Calibri" pitchFamily="34" charset="-122"/>
                <a:cs typeface="Calibri" pitchFamily="34" charset="-120"/>
              </a:rPr>
              <a:t>₹30 per active student per month</a:t>
            </a:r>
            <a:endParaRPr lang="en-US" sz="1000" dirty="0"/>
          </a:p>
          <a:p>
            <a:pPr algn="l" marL="152400" indent="-152400">
              <a:spcAft>
                <a:spcPts val="200"/>
              </a:spcAft>
              <a:buSzPct val="100000"/>
              <a:buChar char="•"/>
            </a:pPr>
            <a:r>
              <a:rPr lang="en-US" sz="1000" dirty="0">
                <a:solidFill>
                  <a:srgbClr val="1F2937"/>
                </a:solidFill>
                <a:latin typeface="Calibri" pitchFamily="34" charset="0"/>
                <a:ea typeface="Calibri" pitchFamily="34" charset="-122"/>
                <a:cs typeface="Calibri" pitchFamily="34" charset="-120"/>
              </a:rPr>
              <a:t>Annual contract per session</a:t>
            </a:r>
            <a:endParaRPr lang="en-US" sz="1000" dirty="0"/>
          </a:p>
        </p:txBody>
      </p:sp>
      <p:sp>
        <p:nvSpPr>
          <p:cNvPr id="96" name="Text 88"/>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model v1.1 (Mid institute, 400 students, Base; Bear/Bull flex 13 drivers; Stress sets all inputs to worst). Model output from sourced and assumed inputs; willingness to pay is untested.</a:t>
            </a:r>
            <a:endParaRPr lang="en-US" sz="850" dirty="0"/>
          </a:p>
        </p:txBody>
      </p:sp>
      <p:pic>
        <p:nvPicPr>
          <p:cNvPr id="98" name="Image 5" descr="FaClipboardList icon">    </p:cNvPr>
          <p:cNvPicPr>
            <a:picLocks noChangeAspect="1"/>
          </p:cNvPicPr>
          <p:nvPr/>
        </p:nvPicPr>
        <p:blipFill>
          <a:blip r:embed="rId6"/>
          <a:stretch>
            <a:fillRect/>
          </a:stretch>
        </p:blipFill>
        <p:spPr>
          <a:xfrm>
            <a:off x="521208" y="100584"/>
            <a:ext cx="182880" cy="182880"/>
          </a:xfrm>
          <a:prstGeom prst="rect">
            <a:avLst/>
          </a:prstGeom>
        </p:spPr>
      </p:pic>
      <p:pic>
        <p:nvPicPr>
          <p:cNvPr id="99" name="Image 6" descr="FaTriangleExclamation icon">    </p:cNvPr>
          <p:cNvPicPr>
            <a:picLocks noChangeAspect="1"/>
          </p:cNvPicPr>
          <p:nvPr/>
        </p:nvPicPr>
        <p:blipFill>
          <a:blip r:embed="rId7"/>
          <a:stretch>
            <a:fillRect/>
          </a:stretch>
        </p:blipFill>
        <p:spPr>
          <a:xfrm>
            <a:off x="2084032" y="100584"/>
            <a:ext cx="182880" cy="182880"/>
          </a:xfrm>
          <a:prstGeom prst="rect">
            <a:avLst/>
          </a:prstGeom>
        </p:spPr>
      </p:pic>
      <p:pic>
        <p:nvPicPr>
          <p:cNvPr id="100" name="Image 7" descr="FaMobileScreen icon">    </p:cNvPr>
          <p:cNvPicPr>
            <a:picLocks noChangeAspect="1"/>
          </p:cNvPicPr>
          <p:nvPr/>
        </p:nvPicPr>
        <p:blipFill>
          <a:blip r:embed="rId8"/>
          <a:stretch>
            <a:fillRect/>
          </a:stretch>
        </p:blipFill>
        <p:spPr>
          <a:xfrm>
            <a:off x="3482264" y="100584"/>
            <a:ext cx="182880" cy="182880"/>
          </a:xfrm>
          <a:prstGeom prst="rect">
            <a:avLst/>
          </a:prstGeom>
        </p:spPr>
      </p:pic>
      <p:pic>
        <p:nvPicPr>
          <p:cNvPr id="101" name="Image 8" descr="FaGears icon">    </p:cNvPr>
          <p:cNvPicPr>
            <a:picLocks noChangeAspect="1"/>
          </p:cNvPicPr>
          <p:nvPr/>
        </p:nvPicPr>
        <p:blipFill>
          <a:blip r:embed="rId9"/>
          <a:stretch>
            <a:fillRect/>
          </a:stretch>
        </p:blipFill>
        <p:spPr>
          <a:xfrm>
            <a:off x="4880496" y="100584"/>
            <a:ext cx="182880" cy="182880"/>
          </a:xfrm>
          <a:prstGeom prst="rect">
            <a:avLst/>
          </a:prstGeom>
        </p:spPr>
      </p:pic>
      <p:pic>
        <p:nvPicPr>
          <p:cNvPr id="102" name="Image 9" descr="FaShieldHalved icon">    </p:cNvPr>
          <p:cNvPicPr>
            <a:picLocks noChangeAspect="1"/>
          </p:cNvPicPr>
          <p:nvPr/>
        </p:nvPicPr>
        <p:blipFill>
          <a:blip r:embed="rId10"/>
          <a:stretch>
            <a:fillRect/>
          </a:stretch>
        </p:blipFill>
        <p:spPr>
          <a:xfrm>
            <a:off x="6278728" y="100584"/>
            <a:ext cx="182880" cy="182880"/>
          </a:xfrm>
          <a:prstGeom prst="rect">
            <a:avLst/>
          </a:prstGeom>
        </p:spPr>
      </p:pic>
      <p:pic>
        <p:nvPicPr>
          <p:cNvPr id="103" name="Image 10" descr="FaBullseye icon">    </p:cNvPr>
          <p:cNvPicPr>
            <a:picLocks noChangeAspect="1"/>
          </p:cNvPicPr>
          <p:nvPr/>
        </p:nvPicPr>
        <p:blipFill>
          <a:blip r:embed="rId11"/>
          <a:stretch>
            <a:fillRect/>
          </a:stretch>
        </p:blipFill>
        <p:spPr>
          <a:xfrm>
            <a:off x="9075191" y="100584"/>
            <a:ext cx="182880" cy="182880"/>
          </a:xfrm>
          <a:prstGeom prst="rect">
            <a:avLst/>
          </a:prstGeom>
        </p:spPr>
      </p:pic>
      <p:pic>
        <p:nvPicPr>
          <p:cNvPr id="104" name="Image 11" descr="FaBookOpen icon">    </p:cNvPr>
          <p:cNvPicPr>
            <a:picLocks noChangeAspect="1"/>
          </p:cNvPicPr>
          <p:nvPr/>
        </p:nvPicPr>
        <p:blipFill>
          <a:blip r:embed="rId12"/>
          <a:stretch>
            <a:fillRect/>
          </a:stretch>
        </p:blipFill>
        <p:spPr>
          <a:xfrm>
            <a:off x="10473423" y="100584"/>
            <a:ext cx="182880" cy="182880"/>
          </a:xfrm>
          <a:prstGeom prst="rect">
            <a:avLst/>
          </a:prstGeom>
        </p:spPr>
      </p:pic>
      <p:pic>
        <p:nvPicPr>
          <p:cNvPr id="105" name="Image 12" descr="FaIndianRupeeSign icon">    </p:cNvPr>
          <p:cNvPicPr>
            <a:picLocks noChangeAspect="1"/>
          </p:cNvPicPr>
          <p:nvPr/>
        </p:nvPicPr>
        <p:blipFill>
          <a:blip r:embed="rId13"/>
          <a:stretch>
            <a:fillRect/>
          </a:stretch>
        </p:blipFill>
        <p:spPr>
          <a:xfrm>
            <a:off x="7676960"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D4A24C"/>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globe">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6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GO-TO-MARKET AND ROADMAP</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Start in Patna with a free trial on last year's Excel, then grow city by city</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2468880" y="1188720"/>
            <a:ext cx="3102864" cy="201168"/>
          </a:xfrm>
          <a:prstGeom prst="rect">
            <a:avLst/>
          </a:prstGeom>
          <a:solidFill>
            <a:srgbClr val="17325C"/>
          </a:solidFill>
          <a:ln/>
        </p:spPr>
      </p:sp>
      <p:sp>
        <p:nvSpPr>
          <p:cNvPr id="27" name="Text 23"/>
          <p:cNvSpPr txBox="1"/>
          <p:nvPr/>
        </p:nvSpPr>
        <p:spPr>
          <a:xfrm>
            <a:off x="2468880" y="1188720"/>
            <a:ext cx="3102864"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FY27</a:t>
            </a:r>
            <a:endParaRPr lang="en-US" sz="900" dirty="0"/>
          </a:p>
        </p:txBody>
      </p:sp>
      <p:sp>
        <p:nvSpPr>
          <p:cNvPr id="28" name="Shape 24"/>
          <p:cNvSpPr/>
          <p:nvPr/>
        </p:nvSpPr>
        <p:spPr>
          <a:xfrm>
            <a:off x="5571744" y="1188720"/>
            <a:ext cx="6205728" cy="201168"/>
          </a:xfrm>
          <a:prstGeom prst="rect">
            <a:avLst/>
          </a:prstGeom>
          <a:solidFill>
            <a:srgbClr val="1F4A82"/>
          </a:solidFill>
          <a:ln/>
        </p:spPr>
      </p:sp>
      <p:sp>
        <p:nvSpPr>
          <p:cNvPr id="29" name="Text 25"/>
          <p:cNvSpPr txBox="1"/>
          <p:nvPr/>
        </p:nvSpPr>
        <p:spPr>
          <a:xfrm>
            <a:off x="5571744" y="1188720"/>
            <a:ext cx="620572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FY28</a:t>
            </a:r>
            <a:endParaRPr lang="en-US" sz="900" dirty="0"/>
          </a:p>
        </p:txBody>
      </p:sp>
      <p:sp>
        <p:nvSpPr>
          <p:cNvPr id="30" name="Shape 26"/>
          <p:cNvSpPr/>
          <p:nvPr/>
        </p:nvSpPr>
        <p:spPr>
          <a:xfrm>
            <a:off x="2468880" y="1389888"/>
            <a:ext cx="1533144" cy="237744"/>
          </a:xfrm>
          <a:prstGeom prst="rect">
            <a:avLst/>
          </a:prstGeom>
          <a:solidFill>
            <a:srgbClr val="E3ECF7"/>
          </a:solidFill>
          <a:ln/>
        </p:spPr>
      </p:sp>
      <p:sp>
        <p:nvSpPr>
          <p:cNvPr id="31" name="Text 27"/>
          <p:cNvSpPr txBox="1"/>
          <p:nvPr/>
        </p:nvSpPr>
        <p:spPr>
          <a:xfrm>
            <a:off x="2468880" y="1389888"/>
            <a:ext cx="1551432" cy="237744"/>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Oct–Dec 26</a:t>
            </a:r>
            <a:endParaRPr lang="en-US" sz="900" dirty="0"/>
          </a:p>
        </p:txBody>
      </p:sp>
      <p:sp>
        <p:nvSpPr>
          <p:cNvPr id="32" name="Shape 28"/>
          <p:cNvSpPr/>
          <p:nvPr/>
        </p:nvSpPr>
        <p:spPr>
          <a:xfrm>
            <a:off x="4020312" y="1389888"/>
            <a:ext cx="1533144" cy="237744"/>
          </a:xfrm>
          <a:prstGeom prst="rect">
            <a:avLst/>
          </a:prstGeom>
          <a:solidFill>
            <a:srgbClr val="E3ECF7"/>
          </a:solidFill>
          <a:ln/>
        </p:spPr>
      </p:sp>
      <p:sp>
        <p:nvSpPr>
          <p:cNvPr id="33" name="Text 29"/>
          <p:cNvSpPr txBox="1"/>
          <p:nvPr/>
        </p:nvSpPr>
        <p:spPr>
          <a:xfrm>
            <a:off x="4020312" y="1389888"/>
            <a:ext cx="1551432" cy="237744"/>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Jan–Mar 27</a:t>
            </a:r>
            <a:endParaRPr lang="en-US" sz="900" dirty="0"/>
          </a:p>
        </p:txBody>
      </p:sp>
      <p:sp>
        <p:nvSpPr>
          <p:cNvPr id="34" name="Shape 30"/>
          <p:cNvSpPr/>
          <p:nvPr/>
        </p:nvSpPr>
        <p:spPr>
          <a:xfrm>
            <a:off x="5571744" y="1389888"/>
            <a:ext cx="1533144" cy="237744"/>
          </a:xfrm>
          <a:prstGeom prst="rect">
            <a:avLst/>
          </a:prstGeom>
          <a:solidFill>
            <a:srgbClr val="E3ECF7"/>
          </a:solidFill>
          <a:ln/>
        </p:spPr>
      </p:sp>
      <p:sp>
        <p:nvSpPr>
          <p:cNvPr id="35" name="Text 31"/>
          <p:cNvSpPr txBox="1"/>
          <p:nvPr/>
        </p:nvSpPr>
        <p:spPr>
          <a:xfrm>
            <a:off x="5571744" y="1389888"/>
            <a:ext cx="1551432" cy="237744"/>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Apr–Jun 27</a:t>
            </a:r>
            <a:endParaRPr lang="en-US" sz="900" dirty="0"/>
          </a:p>
        </p:txBody>
      </p:sp>
      <p:sp>
        <p:nvSpPr>
          <p:cNvPr id="36" name="Shape 32"/>
          <p:cNvSpPr/>
          <p:nvPr/>
        </p:nvSpPr>
        <p:spPr>
          <a:xfrm>
            <a:off x="7123176" y="1389888"/>
            <a:ext cx="1533144" cy="237744"/>
          </a:xfrm>
          <a:prstGeom prst="rect">
            <a:avLst/>
          </a:prstGeom>
          <a:solidFill>
            <a:srgbClr val="E3ECF7"/>
          </a:solidFill>
          <a:ln/>
        </p:spPr>
      </p:sp>
      <p:sp>
        <p:nvSpPr>
          <p:cNvPr id="37" name="Text 33"/>
          <p:cNvSpPr txBox="1"/>
          <p:nvPr/>
        </p:nvSpPr>
        <p:spPr>
          <a:xfrm>
            <a:off x="7123176" y="1389888"/>
            <a:ext cx="1551432" cy="237744"/>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Jul–Sep 27</a:t>
            </a:r>
            <a:endParaRPr lang="en-US" sz="900" dirty="0"/>
          </a:p>
        </p:txBody>
      </p:sp>
      <p:sp>
        <p:nvSpPr>
          <p:cNvPr id="38" name="Shape 34"/>
          <p:cNvSpPr/>
          <p:nvPr/>
        </p:nvSpPr>
        <p:spPr>
          <a:xfrm>
            <a:off x="8674608" y="1389888"/>
            <a:ext cx="1533144" cy="237744"/>
          </a:xfrm>
          <a:prstGeom prst="rect">
            <a:avLst/>
          </a:prstGeom>
          <a:solidFill>
            <a:srgbClr val="E3ECF7"/>
          </a:solidFill>
          <a:ln/>
        </p:spPr>
      </p:sp>
      <p:sp>
        <p:nvSpPr>
          <p:cNvPr id="39" name="Text 35"/>
          <p:cNvSpPr txBox="1"/>
          <p:nvPr/>
        </p:nvSpPr>
        <p:spPr>
          <a:xfrm>
            <a:off x="8674608" y="1389888"/>
            <a:ext cx="1551432" cy="237744"/>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Oct–Dec 27</a:t>
            </a:r>
            <a:endParaRPr lang="en-US" sz="900" dirty="0"/>
          </a:p>
        </p:txBody>
      </p:sp>
      <p:sp>
        <p:nvSpPr>
          <p:cNvPr id="40" name="Shape 36"/>
          <p:cNvSpPr/>
          <p:nvPr/>
        </p:nvSpPr>
        <p:spPr>
          <a:xfrm>
            <a:off x="10226040" y="1389888"/>
            <a:ext cx="1533144" cy="237744"/>
          </a:xfrm>
          <a:prstGeom prst="rect">
            <a:avLst/>
          </a:prstGeom>
          <a:solidFill>
            <a:srgbClr val="E3ECF7"/>
          </a:solidFill>
          <a:ln/>
        </p:spPr>
      </p:sp>
      <p:sp>
        <p:nvSpPr>
          <p:cNvPr id="41" name="Text 37"/>
          <p:cNvSpPr txBox="1"/>
          <p:nvPr/>
        </p:nvSpPr>
        <p:spPr>
          <a:xfrm>
            <a:off x="10226040" y="1389888"/>
            <a:ext cx="1551432" cy="237744"/>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Jan–Mar 28</a:t>
            </a:r>
            <a:endParaRPr lang="en-US" sz="900" dirty="0"/>
          </a:p>
        </p:txBody>
      </p:sp>
      <p:sp>
        <p:nvSpPr>
          <p:cNvPr id="42" name="Shape 38"/>
          <p:cNvSpPr/>
          <p:nvPr/>
        </p:nvSpPr>
        <p:spPr>
          <a:xfrm>
            <a:off x="411480" y="1682496"/>
            <a:ext cx="11368735" cy="310896"/>
          </a:xfrm>
          <a:prstGeom prst="rect">
            <a:avLst/>
          </a:prstGeom>
          <a:solidFill>
            <a:srgbClr val="F4F7FB"/>
          </a:solidFill>
          <a:ln/>
        </p:spPr>
      </p:sp>
      <p:sp>
        <p:nvSpPr>
          <p:cNvPr id="43" name="Text 39"/>
          <p:cNvSpPr txBox="1"/>
          <p:nvPr/>
        </p:nvSpPr>
        <p:spPr>
          <a:xfrm>
            <a:off x="457200" y="1700784"/>
            <a:ext cx="731520" cy="274320"/>
          </a:xfrm>
          <a:prstGeom prst="rect">
            <a:avLst/>
          </a:prstGeom>
          <a:noFill/>
          <a:ln/>
        </p:spPr>
        <p:txBody>
          <a:bodyPr wrap="square" lIns="0" tIns="0" rIns="0" bIns="0" rtlCol="0" anchor="ctr"/>
          <a:lstStyle/>
          <a:p>
            <a:pPr algn="l" indent="0" marL="0">
              <a:buNone/>
            </a:pPr>
            <a:r>
              <a:rPr lang="en-US" sz="800" b="1" spc="50" kern="0" dirty="0">
                <a:solidFill>
                  <a:srgbClr val="5B6573"/>
                </a:solidFill>
                <a:latin typeface="Calibri" pitchFamily="34" charset="0"/>
                <a:ea typeface="Calibri" pitchFamily="34" charset="-122"/>
                <a:cs typeface="Calibri" pitchFamily="34" charset="-120"/>
              </a:rPr>
              <a:t>TECH</a:t>
            </a:r>
            <a:endParaRPr lang="en-US" sz="800" dirty="0"/>
          </a:p>
        </p:txBody>
      </p:sp>
      <p:sp>
        <p:nvSpPr>
          <p:cNvPr id="44" name="Text 40"/>
          <p:cNvSpPr txBox="1"/>
          <p:nvPr/>
        </p:nvSpPr>
        <p:spPr>
          <a:xfrm>
            <a:off x="1188720" y="1700784"/>
            <a:ext cx="13258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Validate on public data</a:t>
            </a:r>
            <a:endParaRPr lang="en-US" sz="900" dirty="0"/>
          </a:p>
        </p:txBody>
      </p:sp>
      <p:sp>
        <p:nvSpPr>
          <p:cNvPr id="45" name="Shape 41"/>
          <p:cNvSpPr/>
          <p:nvPr/>
        </p:nvSpPr>
        <p:spPr>
          <a:xfrm>
            <a:off x="2468880" y="1728216"/>
            <a:ext cx="1514856" cy="219456"/>
          </a:xfrm>
          <a:prstGeom prst="rect">
            <a:avLst/>
          </a:prstGeom>
          <a:solidFill>
            <a:srgbClr val="1F4A82"/>
          </a:solidFill>
          <a:ln/>
        </p:spPr>
      </p:sp>
      <p:sp>
        <p:nvSpPr>
          <p:cNvPr id="46" name="Text 42"/>
          <p:cNvSpPr txBox="1"/>
          <p:nvPr/>
        </p:nvSpPr>
        <p:spPr>
          <a:xfrm>
            <a:off x="457200" y="2020824"/>
            <a:ext cx="731520" cy="274320"/>
          </a:xfrm>
          <a:prstGeom prst="rect">
            <a:avLst/>
          </a:prstGeom>
          <a:noFill/>
          <a:ln/>
        </p:spPr>
        <p:txBody>
          <a:bodyPr wrap="square" lIns="0" tIns="0" rIns="0" bIns="0" rtlCol="0" anchor="ctr"/>
          <a:lstStyle/>
          <a:p>
            <a:pPr algn="l" indent="0" marL="0">
              <a:buNone/>
            </a:pPr>
            <a:r>
              <a:rPr lang="en-US" sz="800" b="1" spc="50" kern="0" dirty="0">
                <a:solidFill>
                  <a:srgbClr val="5B6573"/>
                </a:solidFill>
                <a:latin typeface="Calibri" pitchFamily="34" charset="0"/>
                <a:ea typeface="Calibri" pitchFamily="34" charset="-122"/>
                <a:cs typeface="Calibri" pitchFamily="34" charset="-120"/>
              </a:rPr>
              <a:t>TECH</a:t>
            </a:r>
            <a:endParaRPr lang="en-US" sz="800" dirty="0"/>
          </a:p>
        </p:txBody>
      </p:sp>
      <p:sp>
        <p:nvSpPr>
          <p:cNvPr id="47" name="Text 43"/>
          <p:cNvSpPr txBox="1"/>
          <p:nvPr/>
        </p:nvSpPr>
        <p:spPr>
          <a:xfrm>
            <a:off x="1188720" y="2020824"/>
            <a:ext cx="13258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Prototype and phone app</a:t>
            </a:r>
            <a:endParaRPr lang="en-US" sz="900" dirty="0"/>
          </a:p>
        </p:txBody>
      </p:sp>
      <p:sp>
        <p:nvSpPr>
          <p:cNvPr id="48" name="Shape 44"/>
          <p:cNvSpPr/>
          <p:nvPr/>
        </p:nvSpPr>
        <p:spPr>
          <a:xfrm>
            <a:off x="2934310" y="2048256"/>
            <a:ext cx="2600858" cy="219456"/>
          </a:xfrm>
          <a:prstGeom prst="rect">
            <a:avLst/>
          </a:prstGeom>
          <a:solidFill>
            <a:srgbClr val="2E6DB4"/>
          </a:solidFill>
          <a:ln/>
        </p:spPr>
      </p:sp>
      <p:sp>
        <p:nvSpPr>
          <p:cNvPr id="49" name="Shape 45"/>
          <p:cNvSpPr/>
          <p:nvPr/>
        </p:nvSpPr>
        <p:spPr>
          <a:xfrm>
            <a:off x="411480" y="2322576"/>
            <a:ext cx="11368735" cy="310896"/>
          </a:xfrm>
          <a:prstGeom prst="rect">
            <a:avLst/>
          </a:prstGeom>
          <a:solidFill>
            <a:srgbClr val="F4F7FB"/>
          </a:solidFill>
          <a:ln/>
        </p:spPr>
      </p:sp>
      <p:sp>
        <p:nvSpPr>
          <p:cNvPr id="50" name="Text 46"/>
          <p:cNvSpPr txBox="1"/>
          <p:nvPr/>
        </p:nvSpPr>
        <p:spPr>
          <a:xfrm>
            <a:off x="457200" y="2340864"/>
            <a:ext cx="731520" cy="274320"/>
          </a:xfrm>
          <a:prstGeom prst="rect">
            <a:avLst/>
          </a:prstGeom>
          <a:noFill/>
          <a:ln/>
        </p:spPr>
        <p:txBody>
          <a:bodyPr wrap="square" lIns="0" tIns="0" rIns="0" bIns="0" rtlCol="0" anchor="ctr"/>
          <a:lstStyle/>
          <a:p>
            <a:pPr algn="l" indent="0" marL="0">
              <a:buNone/>
            </a:pPr>
            <a:r>
              <a:rPr lang="en-US" sz="800" b="1" spc="50" kern="0" dirty="0">
                <a:solidFill>
                  <a:srgbClr val="5B6573"/>
                </a:solidFill>
                <a:latin typeface="Calibri" pitchFamily="34" charset="0"/>
                <a:ea typeface="Calibri" pitchFamily="34" charset="-122"/>
                <a:cs typeface="Calibri" pitchFamily="34" charset="-120"/>
              </a:rPr>
              <a:t>PILOTS</a:t>
            </a:r>
            <a:endParaRPr lang="en-US" sz="800" dirty="0"/>
          </a:p>
        </p:txBody>
      </p:sp>
      <p:sp>
        <p:nvSpPr>
          <p:cNvPr id="51" name="Text 47"/>
          <p:cNvSpPr txBox="1"/>
          <p:nvPr/>
        </p:nvSpPr>
        <p:spPr>
          <a:xfrm>
            <a:off x="1188720" y="2340864"/>
            <a:ext cx="13258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Free retro-pilots (2)</a:t>
            </a:r>
            <a:endParaRPr lang="en-US" sz="900" dirty="0"/>
          </a:p>
        </p:txBody>
      </p:sp>
      <p:sp>
        <p:nvSpPr>
          <p:cNvPr id="52" name="Shape 48"/>
          <p:cNvSpPr/>
          <p:nvPr/>
        </p:nvSpPr>
        <p:spPr>
          <a:xfrm>
            <a:off x="4020312" y="2368296"/>
            <a:ext cx="1514856" cy="219456"/>
          </a:xfrm>
          <a:prstGeom prst="rect">
            <a:avLst/>
          </a:prstGeom>
          <a:solidFill>
            <a:srgbClr val="1F4A82"/>
          </a:solidFill>
          <a:ln/>
        </p:spPr>
      </p:sp>
      <p:sp>
        <p:nvSpPr>
          <p:cNvPr id="53" name="Text 49"/>
          <p:cNvSpPr txBox="1"/>
          <p:nvPr/>
        </p:nvSpPr>
        <p:spPr>
          <a:xfrm>
            <a:off x="457200" y="2660904"/>
            <a:ext cx="731520" cy="274320"/>
          </a:xfrm>
          <a:prstGeom prst="rect">
            <a:avLst/>
          </a:prstGeom>
          <a:noFill/>
          <a:ln/>
        </p:spPr>
        <p:txBody>
          <a:bodyPr wrap="square" lIns="0" tIns="0" rIns="0" bIns="0" rtlCol="0" anchor="ctr"/>
          <a:lstStyle/>
          <a:p>
            <a:pPr algn="l" indent="0" marL="0">
              <a:buNone/>
            </a:pPr>
            <a:r>
              <a:rPr lang="en-US" sz="800" b="1" spc="50" kern="0" dirty="0">
                <a:solidFill>
                  <a:srgbClr val="5B6573"/>
                </a:solidFill>
                <a:latin typeface="Calibri" pitchFamily="34" charset="0"/>
                <a:ea typeface="Calibri" pitchFamily="34" charset="-122"/>
                <a:cs typeface="Calibri" pitchFamily="34" charset="-120"/>
              </a:rPr>
              <a:t>PILOTS</a:t>
            </a:r>
            <a:endParaRPr lang="en-US" sz="800" dirty="0"/>
          </a:p>
        </p:txBody>
      </p:sp>
      <p:sp>
        <p:nvSpPr>
          <p:cNvPr id="54" name="Text 50"/>
          <p:cNvSpPr txBox="1"/>
          <p:nvPr/>
        </p:nvSpPr>
        <p:spPr>
          <a:xfrm>
            <a:off x="1188720" y="2660904"/>
            <a:ext cx="13258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Paid pilots + controls</a:t>
            </a:r>
            <a:endParaRPr lang="en-US" sz="900" dirty="0"/>
          </a:p>
        </p:txBody>
      </p:sp>
      <p:sp>
        <p:nvSpPr>
          <p:cNvPr id="55" name="Shape 51"/>
          <p:cNvSpPr/>
          <p:nvPr/>
        </p:nvSpPr>
        <p:spPr>
          <a:xfrm>
            <a:off x="5571744" y="2688336"/>
            <a:ext cx="1514856" cy="219456"/>
          </a:xfrm>
          <a:prstGeom prst="rect">
            <a:avLst/>
          </a:prstGeom>
          <a:solidFill>
            <a:srgbClr val="2E6DB4"/>
          </a:solidFill>
          <a:ln/>
        </p:spPr>
      </p:sp>
      <p:sp>
        <p:nvSpPr>
          <p:cNvPr id="56" name="Shape 52"/>
          <p:cNvSpPr/>
          <p:nvPr/>
        </p:nvSpPr>
        <p:spPr>
          <a:xfrm>
            <a:off x="411480" y="2962656"/>
            <a:ext cx="11368735" cy="310896"/>
          </a:xfrm>
          <a:prstGeom prst="rect">
            <a:avLst/>
          </a:prstGeom>
          <a:solidFill>
            <a:srgbClr val="F4F7FB"/>
          </a:solidFill>
          <a:ln/>
        </p:spPr>
      </p:sp>
      <p:sp>
        <p:nvSpPr>
          <p:cNvPr id="57" name="Text 53"/>
          <p:cNvSpPr txBox="1"/>
          <p:nvPr/>
        </p:nvSpPr>
        <p:spPr>
          <a:xfrm>
            <a:off x="457200" y="2980944"/>
            <a:ext cx="731520" cy="274320"/>
          </a:xfrm>
          <a:prstGeom prst="rect">
            <a:avLst/>
          </a:prstGeom>
          <a:noFill/>
          <a:ln/>
        </p:spPr>
        <p:txBody>
          <a:bodyPr wrap="square" lIns="0" tIns="0" rIns="0" bIns="0" rtlCol="0" anchor="ctr"/>
          <a:lstStyle/>
          <a:p>
            <a:pPr algn="l" indent="0" marL="0">
              <a:buNone/>
            </a:pPr>
            <a:r>
              <a:rPr lang="en-US" sz="800" b="1" spc="50" kern="0" dirty="0">
                <a:solidFill>
                  <a:srgbClr val="5B6573"/>
                </a:solidFill>
                <a:latin typeface="Calibri" pitchFamily="34" charset="0"/>
                <a:ea typeface="Calibri" pitchFamily="34" charset="-122"/>
                <a:cs typeface="Calibri" pitchFamily="34" charset="-120"/>
              </a:rPr>
              <a:t>SALES</a:t>
            </a:r>
            <a:endParaRPr lang="en-US" sz="800" dirty="0"/>
          </a:p>
        </p:txBody>
      </p:sp>
      <p:sp>
        <p:nvSpPr>
          <p:cNvPr id="58" name="Text 54"/>
          <p:cNvSpPr txBox="1"/>
          <p:nvPr/>
        </p:nvSpPr>
        <p:spPr>
          <a:xfrm>
            <a:off x="1188720" y="2980944"/>
            <a:ext cx="13258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Demos before admissions</a:t>
            </a:r>
            <a:endParaRPr lang="en-US" sz="900" dirty="0"/>
          </a:p>
        </p:txBody>
      </p:sp>
      <p:sp>
        <p:nvSpPr>
          <p:cNvPr id="59" name="Shape 55"/>
          <p:cNvSpPr/>
          <p:nvPr/>
        </p:nvSpPr>
        <p:spPr>
          <a:xfrm>
            <a:off x="4485742" y="3008376"/>
            <a:ext cx="1980286" cy="219456"/>
          </a:xfrm>
          <a:prstGeom prst="rect">
            <a:avLst/>
          </a:prstGeom>
          <a:solidFill>
            <a:srgbClr val="5B8DC9"/>
          </a:solidFill>
          <a:ln/>
        </p:spPr>
      </p:sp>
      <p:sp>
        <p:nvSpPr>
          <p:cNvPr id="60" name="Text 56"/>
          <p:cNvSpPr txBox="1"/>
          <p:nvPr/>
        </p:nvSpPr>
        <p:spPr>
          <a:xfrm>
            <a:off x="457200" y="3300984"/>
            <a:ext cx="731520" cy="274320"/>
          </a:xfrm>
          <a:prstGeom prst="rect">
            <a:avLst/>
          </a:prstGeom>
          <a:noFill/>
          <a:ln/>
        </p:spPr>
        <p:txBody>
          <a:bodyPr wrap="square" lIns="0" tIns="0" rIns="0" bIns="0" rtlCol="0" anchor="ctr"/>
          <a:lstStyle/>
          <a:p>
            <a:pPr algn="l" indent="0" marL="0">
              <a:buNone/>
            </a:pPr>
            <a:r>
              <a:rPr lang="en-US" sz="800" b="1" spc="50" kern="0" dirty="0">
                <a:solidFill>
                  <a:srgbClr val="5B6573"/>
                </a:solidFill>
                <a:latin typeface="Calibri" pitchFamily="34" charset="0"/>
                <a:ea typeface="Calibri" pitchFamily="34" charset="-122"/>
                <a:cs typeface="Calibri" pitchFamily="34" charset="-120"/>
              </a:rPr>
              <a:t>SALES</a:t>
            </a:r>
            <a:endParaRPr lang="en-US" sz="800" dirty="0"/>
          </a:p>
        </p:txBody>
      </p:sp>
      <p:sp>
        <p:nvSpPr>
          <p:cNvPr id="61" name="Text 57"/>
          <p:cNvSpPr txBox="1"/>
          <p:nvPr/>
        </p:nvSpPr>
        <p:spPr>
          <a:xfrm>
            <a:off x="1188720" y="3300984"/>
            <a:ext cx="13258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First paying institutes</a:t>
            </a:r>
            <a:endParaRPr lang="en-US" sz="900" dirty="0"/>
          </a:p>
        </p:txBody>
      </p:sp>
      <p:sp>
        <p:nvSpPr>
          <p:cNvPr id="62" name="Shape 58"/>
          <p:cNvSpPr/>
          <p:nvPr/>
        </p:nvSpPr>
        <p:spPr>
          <a:xfrm>
            <a:off x="6347460" y="3328416"/>
            <a:ext cx="2290572" cy="219456"/>
          </a:xfrm>
          <a:prstGeom prst="rect">
            <a:avLst/>
          </a:prstGeom>
          <a:solidFill>
            <a:srgbClr val="1F4A82"/>
          </a:solidFill>
          <a:ln/>
        </p:spPr>
      </p:sp>
      <p:sp>
        <p:nvSpPr>
          <p:cNvPr id="63" name="Shape 59"/>
          <p:cNvSpPr/>
          <p:nvPr/>
        </p:nvSpPr>
        <p:spPr>
          <a:xfrm>
            <a:off x="411480" y="3602736"/>
            <a:ext cx="11368735" cy="310896"/>
          </a:xfrm>
          <a:prstGeom prst="rect">
            <a:avLst/>
          </a:prstGeom>
          <a:solidFill>
            <a:srgbClr val="F4F7FB"/>
          </a:solidFill>
          <a:ln/>
        </p:spPr>
      </p:sp>
      <p:sp>
        <p:nvSpPr>
          <p:cNvPr id="64" name="Text 60"/>
          <p:cNvSpPr txBox="1"/>
          <p:nvPr/>
        </p:nvSpPr>
        <p:spPr>
          <a:xfrm>
            <a:off x="457200" y="3621024"/>
            <a:ext cx="731520" cy="274320"/>
          </a:xfrm>
          <a:prstGeom prst="rect">
            <a:avLst/>
          </a:prstGeom>
          <a:noFill/>
          <a:ln/>
        </p:spPr>
        <p:txBody>
          <a:bodyPr wrap="square" lIns="0" tIns="0" rIns="0" bIns="0" rtlCol="0" anchor="ctr"/>
          <a:lstStyle/>
          <a:p>
            <a:pPr algn="l" indent="0" marL="0">
              <a:buNone/>
            </a:pPr>
            <a:r>
              <a:rPr lang="en-US" sz="800" b="1" spc="50" kern="0" dirty="0">
                <a:solidFill>
                  <a:srgbClr val="5B6573"/>
                </a:solidFill>
                <a:latin typeface="Calibri" pitchFamily="34" charset="0"/>
                <a:ea typeface="Calibri" pitchFamily="34" charset="-122"/>
                <a:cs typeface="Calibri" pitchFamily="34" charset="-120"/>
              </a:rPr>
              <a:t>SCALE</a:t>
            </a:r>
            <a:endParaRPr lang="en-US" sz="800" dirty="0"/>
          </a:p>
        </p:txBody>
      </p:sp>
      <p:sp>
        <p:nvSpPr>
          <p:cNvPr id="65" name="Text 61"/>
          <p:cNvSpPr txBox="1"/>
          <p:nvPr/>
        </p:nvSpPr>
        <p:spPr>
          <a:xfrm>
            <a:off x="1188720" y="3621024"/>
            <a:ext cx="13258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Bihar, UP, Jharkhand</a:t>
            </a:r>
            <a:endParaRPr lang="en-US" sz="900" dirty="0"/>
          </a:p>
        </p:txBody>
      </p:sp>
      <p:sp>
        <p:nvSpPr>
          <p:cNvPr id="66" name="Shape 62"/>
          <p:cNvSpPr/>
          <p:nvPr/>
        </p:nvSpPr>
        <p:spPr>
          <a:xfrm>
            <a:off x="7898892" y="3648456"/>
            <a:ext cx="3842004" cy="219456"/>
          </a:xfrm>
          <a:prstGeom prst="rect">
            <a:avLst/>
          </a:prstGeom>
          <a:solidFill>
            <a:srgbClr val="2E6DB4"/>
          </a:solidFill>
          <a:ln/>
        </p:spPr>
      </p:sp>
      <p:sp>
        <p:nvSpPr>
          <p:cNvPr id="67" name="Text 63"/>
          <p:cNvSpPr txBox="1"/>
          <p:nvPr/>
        </p:nvSpPr>
        <p:spPr>
          <a:xfrm>
            <a:off x="457200" y="3941064"/>
            <a:ext cx="731520" cy="274320"/>
          </a:xfrm>
          <a:prstGeom prst="rect">
            <a:avLst/>
          </a:prstGeom>
          <a:noFill/>
          <a:ln/>
        </p:spPr>
        <p:txBody>
          <a:bodyPr wrap="square" lIns="0" tIns="0" rIns="0" bIns="0" rtlCol="0" anchor="ctr"/>
          <a:lstStyle/>
          <a:p>
            <a:pPr algn="l" indent="0" marL="0">
              <a:buNone/>
            </a:pPr>
            <a:r>
              <a:rPr lang="en-US" sz="800" b="1" spc="50" kern="0" dirty="0">
                <a:solidFill>
                  <a:srgbClr val="5B6573"/>
                </a:solidFill>
                <a:latin typeface="Calibri" pitchFamily="34" charset="0"/>
                <a:ea typeface="Calibri" pitchFamily="34" charset="-122"/>
                <a:cs typeface="Calibri" pitchFamily="34" charset="-120"/>
              </a:rPr>
              <a:t>MONEY</a:t>
            </a:r>
            <a:endParaRPr lang="en-US" sz="800" dirty="0"/>
          </a:p>
        </p:txBody>
      </p:sp>
      <p:sp>
        <p:nvSpPr>
          <p:cNvPr id="68" name="Text 64"/>
          <p:cNvSpPr txBox="1"/>
          <p:nvPr/>
        </p:nvSpPr>
        <p:spPr>
          <a:xfrm>
            <a:off x="1188720" y="3941064"/>
            <a:ext cx="13258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Raise ₹45 L</a:t>
            </a:r>
            <a:endParaRPr lang="en-US" sz="900" dirty="0"/>
          </a:p>
        </p:txBody>
      </p:sp>
      <p:sp>
        <p:nvSpPr>
          <p:cNvPr id="69" name="Shape 65"/>
          <p:cNvSpPr/>
          <p:nvPr/>
        </p:nvSpPr>
        <p:spPr>
          <a:xfrm>
            <a:off x="4796028" y="3968496"/>
            <a:ext cx="1204570" cy="219456"/>
          </a:xfrm>
          <a:prstGeom prst="rect">
            <a:avLst/>
          </a:prstGeom>
          <a:solidFill>
            <a:srgbClr val="D4A24C"/>
          </a:solidFill>
          <a:ln/>
        </p:spPr>
      </p:sp>
      <p:sp>
        <p:nvSpPr>
          <p:cNvPr id="70" name="Shape 66"/>
          <p:cNvSpPr/>
          <p:nvPr/>
        </p:nvSpPr>
        <p:spPr>
          <a:xfrm>
            <a:off x="4011168" y="1645920"/>
            <a:ext cx="0" cy="2578608"/>
          </a:xfrm>
          <a:prstGeom prst="line">
            <a:avLst/>
          </a:prstGeom>
          <a:noFill/>
          <a:ln w="6350">
            <a:solidFill>
              <a:srgbClr val="D5DEEA"/>
            </a:solidFill>
            <a:prstDash val="solid"/>
          </a:ln>
        </p:spPr>
      </p:sp>
      <p:sp>
        <p:nvSpPr>
          <p:cNvPr id="71" name="Shape 67"/>
          <p:cNvSpPr/>
          <p:nvPr/>
        </p:nvSpPr>
        <p:spPr>
          <a:xfrm>
            <a:off x="5562600" y="1645920"/>
            <a:ext cx="0" cy="2578608"/>
          </a:xfrm>
          <a:prstGeom prst="line">
            <a:avLst/>
          </a:prstGeom>
          <a:noFill/>
          <a:ln w="6350">
            <a:solidFill>
              <a:srgbClr val="D5DEEA"/>
            </a:solidFill>
            <a:prstDash val="solid"/>
          </a:ln>
        </p:spPr>
      </p:sp>
      <p:sp>
        <p:nvSpPr>
          <p:cNvPr id="72" name="Shape 68"/>
          <p:cNvSpPr/>
          <p:nvPr/>
        </p:nvSpPr>
        <p:spPr>
          <a:xfrm>
            <a:off x="7114032" y="1645920"/>
            <a:ext cx="0" cy="2578608"/>
          </a:xfrm>
          <a:prstGeom prst="line">
            <a:avLst/>
          </a:prstGeom>
          <a:noFill/>
          <a:ln w="6350">
            <a:solidFill>
              <a:srgbClr val="D5DEEA"/>
            </a:solidFill>
            <a:prstDash val="solid"/>
          </a:ln>
        </p:spPr>
      </p:sp>
      <p:sp>
        <p:nvSpPr>
          <p:cNvPr id="73" name="Shape 69"/>
          <p:cNvSpPr/>
          <p:nvPr/>
        </p:nvSpPr>
        <p:spPr>
          <a:xfrm>
            <a:off x="8665464" y="1645920"/>
            <a:ext cx="0" cy="2578608"/>
          </a:xfrm>
          <a:prstGeom prst="line">
            <a:avLst/>
          </a:prstGeom>
          <a:noFill/>
          <a:ln w="6350">
            <a:solidFill>
              <a:srgbClr val="D5DEEA"/>
            </a:solidFill>
            <a:prstDash val="solid"/>
          </a:ln>
        </p:spPr>
      </p:sp>
      <p:sp>
        <p:nvSpPr>
          <p:cNvPr id="74" name="Shape 70"/>
          <p:cNvSpPr/>
          <p:nvPr/>
        </p:nvSpPr>
        <p:spPr>
          <a:xfrm>
            <a:off x="10216896" y="1645920"/>
            <a:ext cx="0" cy="2578608"/>
          </a:xfrm>
          <a:prstGeom prst="line">
            <a:avLst/>
          </a:prstGeom>
          <a:noFill/>
          <a:ln w="6350">
            <a:solidFill>
              <a:srgbClr val="D5DEEA"/>
            </a:solidFill>
            <a:prstDash val="solid"/>
          </a:ln>
        </p:spPr>
      </p:sp>
      <p:sp>
        <p:nvSpPr>
          <p:cNvPr id="75" name="Shape 71"/>
          <p:cNvSpPr/>
          <p:nvPr/>
        </p:nvSpPr>
        <p:spPr>
          <a:xfrm>
            <a:off x="411480" y="4370832"/>
            <a:ext cx="256032" cy="256032"/>
          </a:xfrm>
          <a:prstGeom prst="rect">
            <a:avLst/>
          </a:prstGeom>
          <a:solidFill>
            <a:srgbClr val="1F4A82"/>
          </a:solidFill>
          <a:ln/>
        </p:spPr>
      </p:sp>
      <p:sp>
        <p:nvSpPr>
          <p:cNvPr id="76" name="Text 72"/>
          <p:cNvSpPr txBox="1"/>
          <p:nvPr/>
        </p:nvSpPr>
        <p:spPr>
          <a:xfrm>
            <a:off x="411480" y="43708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7" name="Text 73"/>
          <p:cNvSpPr txBox="1"/>
          <p:nvPr/>
        </p:nvSpPr>
        <p:spPr>
          <a:xfrm>
            <a:off x="740664" y="4370832"/>
            <a:ext cx="497433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WHERE WE SELL FIRST: ADDRESSABLE INSTITUTES</a:t>
            </a:r>
            <a:endParaRPr lang="en-US" sz="1200" dirty="0"/>
          </a:p>
        </p:txBody>
      </p:sp>
      <p:pic>
        <p:nvPicPr>
          <p:cNvPr id="78" name="Image 1" descr="Map of India: target states shaded, cities by tier">    </p:cNvPr>
          <p:cNvPicPr>
            <a:picLocks noChangeAspect="1"/>
          </p:cNvPicPr>
          <p:nvPr/>
        </p:nvPicPr>
        <p:blipFill>
          <a:blip r:embed="rId2"/>
          <a:stretch>
            <a:fillRect/>
          </a:stretch>
        </p:blipFill>
        <p:spPr>
          <a:xfrm>
            <a:off x="868680" y="4645152"/>
            <a:ext cx="1481328" cy="1664208"/>
          </a:xfrm>
          <a:prstGeom prst="rect">
            <a:avLst/>
          </a:prstGeom>
        </p:spPr>
      </p:pic>
      <p:sp>
        <p:nvSpPr>
          <p:cNvPr id="79" name="Text 74"/>
          <p:cNvSpPr txBox="1"/>
          <p:nvPr/>
        </p:nvSpPr>
        <p:spPr>
          <a:xfrm>
            <a:off x="2926080" y="4754880"/>
            <a:ext cx="2514600" cy="365760"/>
          </a:xfrm>
          <a:prstGeom prst="rect">
            <a:avLst/>
          </a:prstGeom>
          <a:noFill/>
          <a:ln/>
        </p:spPr>
        <p:txBody>
          <a:bodyPr wrap="square" lIns="0" tIns="0" rIns="0" bIns="0" rtlCol="0" anchor="ctr"/>
          <a:lstStyle/>
          <a:p>
            <a:pPr algn="l" indent="0" marL="0">
              <a:buNone/>
            </a:pPr>
            <a:r>
              <a:rPr lang="en-US" sz="1100" b="1" dirty="0">
                <a:solidFill>
                  <a:srgbClr val="B5832A"/>
                </a:solidFill>
                <a:latin typeface="Calibri" pitchFamily="34" charset="0"/>
                <a:ea typeface="Calibri" pitchFamily="34" charset="-122"/>
                <a:cs typeface="Calibri" pitchFamily="34" charset="-120"/>
              </a:rPr>
              <a:t>① </a:t>
            </a:r>
            <a:pPr algn="l" indent="0" marL="0">
              <a:buNone/>
            </a:pPr>
            <a:r>
              <a:rPr lang="en-US" sz="900" b="1" dirty="0">
                <a:solidFill>
                  <a:srgbClr val="17325C"/>
                </a:solidFill>
                <a:latin typeface="Calibri" pitchFamily="34" charset="0"/>
                <a:ea typeface="Calibri" pitchFamily="34" charset="-122"/>
                <a:cs typeface="Calibri" pitchFamily="34" charset="-120"/>
              </a:rPr>
              <a:t>Patna: 2 free retro-pilots</a:t>
            </a:r>
            <a:pPr algn="l" indent="0" marL="0">
              <a:buNone/>
            </a:pPr>
            <a:r>
              <a:rPr lang="en-US" sz="850" dirty="0">
                <a:solidFill>
                  <a:srgbClr val="5B6573"/>
                </a:solidFill>
                <a:latin typeface="Calibri" pitchFamily="34" charset="0"/>
                <a:ea typeface="Calibri" pitchFamily="34" charset="-122"/>
                <a:cs typeface="Calibri" pitchFamily="34" charset="-120"/>
              </a:rPr>
              <a:t>  Bihar 250</a:t>
            </a:r>
            <a:endParaRPr lang="en-US" sz="1400" dirty="0"/>
          </a:p>
        </p:txBody>
      </p:sp>
      <p:sp>
        <p:nvSpPr>
          <p:cNvPr id="80" name="Text 75"/>
          <p:cNvSpPr txBox="1"/>
          <p:nvPr/>
        </p:nvSpPr>
        <p:spPr>
          <a:xfrm>
            <a:off x="2926080" y="5120640"/>
            <a:ext cx="2514600" cy="365760"/>
          </a:xfrm>
          <a:prstGeom prst="rect">
            <a:avLst/>
          </a:prstGeom>
          <a:noFill/>
          <a:ln/>
        </p:spPr>
        <p:txBody>
          <a:bodyPr wrap="square" lIns="0" tIns="0" rIns="0" bIns="0" rtlCol="0" anchor="ctr"/>
          <a:lstStyle/>
          <a:p>
            <a:pPr algn="l" indent="0" marL="0">
              <a:buNone/>
            </a:pPr>
            <a:r>
              <a:rPr lang="en-US" sz="1100" b="1" dirty="0">
                <a:solidFill>
                  <a:srgbClr val="B5832A"/>
                </a:solidFill>
                <a:latin typeface="Calibri" pitchFamily="34" charset="0"/>
                <a:ea typeface="Calibri" pitchFamily="34" charset="-122"/>
                <a:cs typeface="Calibri" pitchFamily="34" charset="-120"/>
              </a:rPr>
              <a:t>② </a:t>
            </a:r>
            <a:pPr algn="l" indent="0" marL="0">
              <a:buNone/>
            </a:pPr>
            <a:r>
              <a:rPr lang="en-US" sz="900" b="1" dirty="0">
                <a:solidFill>
                  <a:srgbClr val="17325C"/>
                </a:solidFill>
                <a:latin typeface="Calibri" pitchFamily="34" charset="0"/>
                <a:ea typeface="Calibri" pitchFamily="34" charset="-122"/>
                <a:cs typeface="Calibri" pitchFamily="34" charset="-120"/>
              </a:rPr>
              <a:t>Lucknow: paid pilots, Apr 2027</a:t>
            </a:r>
            <a:pPr algn="l" indent="0" marL="0">
              <a:buNone/>
            </a:pPr>
            <a:r>
              <a:rPr lang="en-US" sz="850" dirty="0">
                <a:solidFill>
                  <a:srgbClr val="5B6573"/>
                </a:solidFill>
                <a:latin typeface="Calibri" pitchFamily="34" charset="0"/>
                <a:ea typeface="Calibri" pitchFamily="34" charset="-122"/>
                <a:cs typeface="Calibri" pitchFamily="34" charset="-120"/>
              </a:rPr>
              <a:t>  UP 490</a:t>
            </a:r>
            <a:endParaRPr lang="en-US" sz="1400" dirty="0"/>
          </a:p>
        </p:txBody>
      </p:sp>
      <p:sp>
        <p:nvSpPr>
          <p:cNvPr id="81" name="Text 76"/>
          <p:cNvSpPr txBox="1"/>
          <p:nvPr/>
        </p:nvSpPr>
        <p:spPr>
          <a:xfrm>
            <a:off x="2926080" y="5486400"/>
            <a:ext cx="2514600" cy="365760"/>
          </a:xfrm>
          <a:prstGeom prst="rect">
            <a:avLst/>
          </a:prstGeom>
          <a:noFill/>
          <a:ln/>
        </p:spPr>
        <p:txBody>
          <a:bodyPr wrap="square" lIns="0" tIns="0" rIns="0" bIns="0" rtlCol="0" anchor="ctr"/>
          <a:lstStyle/>
          <a:p>
            <a:pPr algn="l" indent="0" marL="0">
              <a:buNone/>
            </a:pPr>
            <a:r>
              <a:rPr lang="en-US" sz="1100" b="1" dirty="0">
                <a:solidFill>
                  <a:srgbClr val="B5832A"/>
                </a:solidFill>
                <a:latin typeface="Calibri" pitchFamily="34" charset="0"/>
                <a:ea typeface="Calibri" pitchFamily="34" charset="-122"/>
                <a:cs typeface="Calibri" pitchFamily="34" charset="-120"/>
              </a:rPr>
              <a:t>③ </a:t>
            </a:r>
            <a:pPr algn="l" indent="0" marL="0">
              <a:buNone/>
            </a:pPr>
            <a:r>
              <a:rPr lang="en-US" sz="900" b="1" dirty="0">
                <a:solidFill>
                  <a:srgbClr val="17325C"/>
                </a:solidFill>
                <a:latin typeface="Calibri" pitchFamily="34" charset="0"/>
                <a:ea typeface="Calibri" pitchFamily="34" charset="-122"/>
                <a:cs typeface="Calibri" pitchFamily="34" charset="-120"/>
              </a:rPr>
              <a:t>Ranchi and Tier-2 cities, FY28</a:t>
            </a:r>
            <a:pPr algn="l" indent="0" marL="0">
              <a:buNone/>
            </a:pPr>
            <a:r>
              <a:rPr lang="en-US" sz="850" dirty="0">
                <a:solidFill>
                  <a:srgbClr val="5B6573"/>
                </a:solidFill>
                <a:latin typeface="Calibri" pitchFamily="34" charset="0"/>
                <a:ea typeface="Calibri" pitchFamily="34" charset="-122"/>
                <a:cs typeface="Calibri" pitchFamily="34" charset="-120"/>
              </a:rPr>
              <a:t>  Jharkhand 88</a:t>
            </a:r>
            <a:endParaRPr lang="en-US" sz="1400" dirty="0"/>
          </a:p>
        </p:txBody>
      </p:sp>
      <p:sp>
        <p:nvSpPr>
          <p:cNvPr id="82" name="Text 77"/>
          <p:cNvSpPr txBox="1"/>
          <p:nvPr/>
        </p:nvSpPr>
        <p:spPr>
          <a:xfrm>
            <a:off x="2926080" y="5852160"/>
            <a:ext cx="2514600" cy="365760"/>
          </a:xfrm>
          <a:prstGeom prst="rect">
            <a:avLst/>
          </a:prstGeom>
          <a:noFill/>
          <a:ln/>
        </p:spPr>
        <p:txBody>
          <a:bodyPr wrap="square" lIns="0" tIns="0" rIns="0" bIns="0" rtlCol="0" anchor="ctr"/>
          <a:lstStyle/>
          <a:p>
            <a:pPr algn="l" indent="0" marL="0">
              <a:buNone/>
            </a:pPr>
            <a:r>
              <a:rPr lang="en-US" sz="1100" b="1" dirty="0">
                <a:solidFill>
                  <a:srgbClr val="B5832A"/>
                </a:solidFill>
                <a:latin typeface="Calibri" pitchFamily="34" charset="0"/>
                <a:ea typeface="Calibri" pitchFamily="34" charset="-122"/>
                <a:cs typeface="Calibri" pitchFamily="34" charset="-120"/>
              </a:rPr>
              <a:t>④ </a:t>
            </a:r>
            <a:pPr algn="l" indent="0" marL="0">
              <a:buNone/>
            </a:pPr>
            <a:r>
              <a:rPr lang="en-US" sz="900" b="1" dirty="0">
                <a:solidFill>
                  <a:srgbClr val="17325C"/>
                </a:solidFill>
                <a:latin typeface="Calibri" pitchFamily="34" charset="0"/>
                <a:ea typeface="Calibri" pitchFamily="34" charset="-122"/>
                <a:cs typeface="Calibri" pitchFamily="34" charset="-120"/>
              </a:rPr>
              <a:t>Rajasthan and MP: after FY28</a:t>
            </a:r>
            <a:pPr algn="l" indent="0" marL="0">
              <a:buNone/>
            </a:pPr>
            <a:r>
              <a:rPr lang="en-US" sz="850" dirty="0">
                <a:solidFill>
                  <a:srgbClr val="5B6573"/>
                </a:solidFill>
                <a:latin typeface="Calibri" pitchFamily="34" charset="0"/>
                <a:ea typeface="Calibri" pitchFamily="34" charset="-122"/>
                <a:cs typeface="Calibri" pitchFamily="34" charset="-120"/>
              </a:rPr>
              <a:t>  176 each</a:t>
            </a:r>
            <a:endParaRPr lang="en-US" sz="1400" dirty="0"/>
          </a:p>
        </p:txBody>
      </p:sp>
      <p:sp>
        <p:nvSpPr>
          <p:cNvPr id="83" name="Shape 78"/>
          <p:cNvSpPr/>
          <p:nvPr/>
        </p:nvSpPr>
        <p:spPr>
          <a:xfrm>
            <a:off x="6172200" y="4370832"/>
            <a:ext cx="256032" cy="256032"/>
          </a:xfrm>
          <a:prstGeom prst="rect">
            <a:avLst/>
          </a:prstGeom>
          <a:solidFill>
            <a:srgbClr val="1F4A82"/>
          </a:solidFill>
          <a:ln/>
        </p:spPr>
      </p:sp>
      <p:sp>
        <p:nvSpPr>
          <p:cNvPr id="84" name="Text 79"/>
          <p:cNvSpPr txBox="1"/>
          <p:nvPr/>
        </p:nvSpPr>
        <p:spPr>
          <a:xfrm>
            <a:off x="6172200" y="43708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85" name="Text 80"/>
          <p:cNvSpPr txBox="1"/>
          <p:nvPr/>
        </p:nvSpPr>
        <p:spPr>
          <a:xfrm>
            <a:off x="6501384" y="4370832"/>
            <a:ext cx="524865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COMPETITION (VENDOR LISTINGS)</a:t>
            </a:r>
            <a:endParaRPr lang="en-US" sz="1200" dirty="0"/>
          </a:p>
        </p:txBody>
      </p:sp>
      <p:sp>
        <p:nvSpPr>
          <p:cNvPr id="86" name="Shape 81"/>
          <p:cNvSpPr/>
          <p:nvPr/>
        </p:nvSpPr>
        <p:spPr>
          <a:xfrm>
            <a:off x="6172200" y="4681728"/>
            <a:ext cx="1143000" cy="274320"/>
          </a:xfrm>
          <a:prstGeom prst="rect">
            <a:avLst/>
          </a:prstGeom>
          <a:solidFill>
            <a:srgbClr val="1F4A82"/>
          </a:solidFill>
          <a:ln/>
        </p:spPr>
      </p:sp>
      <p:sp>
        <p:nvSpPr>
          <p:cNvPr id="87" name="Text 82"/>
          <p:cNvSpPr txBox="1"/>
          <p:nvPr/>
        </p:nvSpPr>
        <p:spPr>
          <a:xfrm>
            <a:off x="6217920" y="4681728"/>
            <a:ext cx="1051560" cy="274320"/>
          </a:xfrm>
          <a:prstGeom prst="rect">
            <a:avLst/>
          </a:prstGeom>
          <a:noFill/>
          <a:ln/>
        </p:spPr>
        <p:txBody>
          <a:bodyPr wrap="square" lIns="0" tIns="0" rIns="0" bIns="0" rtlCol="0" anchor="ctr"/>
          <a:lstStyle/>
          <a:p>
            <a:pPr algn="l" indent="0" marL="0">
              <a:buNone/>
            </a:pPr>
            <a:endParaRPr lang="en-US" sz="850" dirty="0"/>
          </a:p>
        </p:txBody>
      </p:sp>
      <p:sp>
        <p:nvSpPr>
          <p:cNvPr id="88" name="Shape 83"/>
          <p:cNvSpPr/>
          <p:nvPr/>
        </p:nvSpPr>
        <p:spPr>
          <a:xfrm>
            <a:off x="7315200" y="4681728"/>
            <a:ext cx="1097280" cy="274320"/>
          </a:xfrm>
          <a:prstGeom prst="rect">
            <a:avLst/>
          </a:prstGeom>
          <a:solidFill>
            <a:srgbClr val="1F4A82"/>
          </a:solidFill>
          <a:ln/>
        </p:spPr>
      </p:sp>
      <p:sp>
        <p:nvSpPr>
          <p:cNvPr id="89" name="Text 84"/>
          <p:cNvSpPr txBox="1"/>
          <p:nvPr/>
        </p:nvSpPr>
        <p:spPr>
          <a:xfrm>
            <a:off x="7360920" y="4681728"/>
            <a:ext cx="100584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 student / mo</a:t>
            </a:r>
            <a:endParaRPr lang="en-US" sz="850" dirty="0"/>
          </a:p>
        </p:txBody>
      </p:sp>
      <p:sp>
        <p:nvSpPr>
          <p:cNvPr id="90" name="Shape 85"/>
          <p:cNvSpPr/>
          <p:nvPr/>
        </p:nvSpPr>
        <p:spPr>
          <a:xfrm>
            <a:off x="8412480" y="4681728"/>
            <a:ext cx="640080" cy="274320"/>
          </a:xfrm>
          <a:prstGeom prst="rect">
            <a:avLst/>
          </a:prstGeom>
          <a:solidFill>
            <a:srgbClr val="1F4A82"/>
          </a:solidFill>
          <a:ln/>
        </p:spPr>
      </p:sp>
      <p:sp>
        <p:nvSpPr>
          <p:cNvPr id="91" name="Text 86"/>
          <p:cNvSpPr txBox="1"/>
          <p:nvPr/>
        </p:nvSpPr>
        <p:spPr>
          <a:xfrm>
            <a:off x="8458200" y="4681728"/>
            <a:ext cx="54864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OMR</a:t>
            </a:r>
            <a:endParaRPr lang="en-US" sz="850" dirty="0"/>
          </a:p>
        </p:txBody>
      </p:sp>
      <p:sp>
        <p:nvSpPr>
          <p:cNvPr id="92" name="Shape 87"/>
          <p:cNvSpPr/>
          <p:nvPr/>
        </p:nvSpPr>
        <p:spPr>
          <a:xfrm>
            <a:off x="9052560" y="4681728"/>
            <a:ext cx="868680" cy="274320"/>
          </a:xfrm>
          <a:prstGeom prst="rect">
            <a:avLst/>
          </a:prstGeom>
          <a:solidFill>
            <a:srgbClr val="1F4A82"/>
          </a:solidFill>
          <a:ln/>
        </p:spPr>
      </p:sp>
      <p:sp>
        <p:nvSpPr>
          <p:cNvPr id="93" name="Text 88"/>
          <p:cNvSpPr txBox="1"/>
          <p:nvPr/>
        </p:nvSpPr>
        <p:spPr>
          <a:xfrm>
            <a:off x="9098280" y="4681728"/>
            <a:ext cx="77724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Topic map</a:t>
            </a:r>
            <a:endParaRPr lang="en-US" sz="850" dirty="0"/>
          </a:p>
        </p:txBody>
      </p:sp>
      <p:sp>
        <p:nvSpPr>
          <p:cNvPr id="94" name="Shape 89"/>
          <p:cNvSpPr/>
          <p:nvPr/>
        </p:nvSpPr>
        <p:spPr>
          <a:xfrm>
            <a:off x="9921240" y="4681728"/>
            <a:ext cx="914400" cy="274320"/>
          </a:xfrm>
          <a:prstGeom prst="rect">
            <a:avLst/>
          </a:prstGeom>
          <a:solidFill>
            <a:srgbClr val="1F4A82"/>
          </a:solidFill>
          <a:ln/>
        </p:spPr>
      </p:sp>
      <p:sp>
        <p:nvSpPr>
          <p:cNvPr id="95" name="Text 90"/>
          <p:cNvSpPr txBox="1"/>
          <p:nvPr/>
        </p:nvSpPr>
        <p:spPr>
          <a:xfrm>
            <a:off x="9966960" y="4681728"/>
            <a:ext cx="82296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Parent report</a:t>
            </a:r>
            <a:endParaRPr lang="en-US" sz="850" dirty="0"/>
          </a:p>
        </p:txBody>
      </p:sp>
      <p:sp>
        <p:nvSpPr>
          <p:cNvPr id="96" name="Shape 91"/>
          <p:cNvSpPr/>
          <p:nvPr/>
        </p:nvSpPr>
        <p:spPr>
          <a:xfrm>
            <a:off x="10835640" y="4681728"/>
            <a:ext cx="685800" cy="274320"/>
          </a:xfrm>
          <a:prstGeom prst="rect">
            <a:avLst/>
          </a:prstGeom>
          <a:solidFill>
            <a:srgbClr val="1F4A82"/>
          </a:solidFill>
          <a:ln/>
        </p:spPr>
      </p:sp>
      <p:sp>
        <p:nvSpPr>
          <p:cNvPr id="97" name="Text 92"/>
          <p:cNvSpPr txBox="1"/>
          <p:nvPr/>
        </p:nvSpPr>
        <p:spPr>
          <a:xfrm>
            <a:off x="10881360" y="4681728"/>
            <a:ext cx="59436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Hindi</a:t>
            </a:r>
            <a:endParaRPr lang="en-US" sz="850" dirty="0"/>
          </a:p>
        </p:txBody>
      </p:sp>
      <p:sp>
        <p:nvSpPr>
          <p:cNvPr id="98" name="Shape 93"/>
          <p:cNvSpPr/>
          <p:nvPr/>
        </p:nvSpPr>
        <p:spPr>
          <a:xfrm>
            <a:off x="6172200" y="4956048"/>
            <a:ext cx="1143000" cy="246888"/>
          </a:xfrm>
          <a:prstGeom prst="rect">
            <a:avLst/>
          </a:prstGeom>
          <a:solidFill>
            <a:srgbClr val="FFFFFF"/>
          </a:solidFill>
          <a:ln/>
        </p:spPr>
      </p:sp>
      <p:sp>
        <p:nvSpPr>
          <p:cNvPr id="99" name="Text 94"/>
          <p:cNvSpPr txBox="1"/>
          <p:nvPr/>
        </p:nvSpPr>
        <p:spPr>
          <a:xfrm>
            <a:off x="6217920" y="4956048"/>
            <a:ext cx="105156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Classplus</a:t>
            </a:r>
            <a:endParaRPr lang="en-US" sz="900" dirty="0"/>
          </a:p>
        </p:txBody>
      </p:sp>
      <p:sp>
        <p:nvSpPr>
          <p:cNvPr id="100" name="Shape 95"/>
          <p:cNvSpPr/>
          <p:nvPr/>
        </p:nvSpPr>
        <p:spPr>
          <a:xfrm>
            <a:off x="7315200" y="4956048"/>
            <a:ext cx="1097280" cy="246888"/>
          </a:xfrm>
          <a:prstGeom prst="rect">
            <a:avLst/>
          </a:prstGeom>
          <a:solidFill>
            <a:srgbClr val="FFFFFF"/>
          </a:solidFill>
          <a:ln/>
        </p:spPr>
      </p:sp>
      <p:sp>
        <p:nvSpPr>
          <p:cNvPr id="101" name="Text 96"/>
          <p:cNvSpPr txBox="1"/>
          <p:nvPr/>
        </p:nvSpPr>
        <p:spPr>
          <a:xfrm>
            <a:off x="7360920" y="4956048"/>
            <a:ext cx="1005840" cy="24688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4–7</a:t>
            </a:r>
            <a:endParaRPr lang="en-US" sz="900" dirty="0"/>
          </a:p>
        </p:txBody>
      </p:sp>
      <p:sp>
        <p:nvSpPr>
          <p:cNvPr id="102" name="Shape 97"/>
          <p:cNvSpPr/>
          <p:nvPr/>
        </p:nvSpPr>
        <p:spPr>
          <a:xfrm>
            <a:off x="8412480" y="4956048"/>
            <a:ext cx="640080" cy="246888"/>
          </a:xfrm>
          <a:prstGeom prst="rect">
            <a:avLst/>
          </a:prstGeom>
          <a:solidFill>
            <a:srgbClr val="F1E8D3"/>
          </a:solidFill>
          <a:ln/>
        </p:spPr>
      </p:sp>
      <p:sp>
        <p:nvSpPr>
          <p:cNvPr id="103" name="Text 98"/>
          <p:cNvSpPr txBox="1"/>
          <p:nvPr/>
        </p:nvSpPr>
        <p:spPr>
          <a:xfrm>
            <a:off x="8458200" y="4956048"/>
            <a:ext cx="548640" cy="246888"/>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04" name="Shape 99"/>
          <p:cNvSpPr/>
          <p:nvPr/>
        </p:nvSpPr>
        <p:spPr>
          <a:xfrm>
            <a:off x="9052560" y="4956048"/>
            <a:ext cx="868680" cy="246888"/>
          </a:xfrm>
          <a:prstGeom prst="rect">
            <a:avLst/>
          </a:prstGeom>
          <a:solidFill>
            <a:srgbClr val="F1E8D3"/>
          </a:solidFill>
          <a:ln/>
        </p:spPr>
      </p:sp>
      <p:sp>
        <p:nvSpPr>
          <p:cNvPr id="105" name="Text 100"/>
          <p:cNvSpPr txBox="1"/>
          <p:nvPr/>
        </p:nvSpPr>
        <p:spPr>
          <a:xfrm>
            <a:off x="9098280" y="4956048"/>
            <a:ext cx="777240" cy="246888"/>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06" name="Shape 101"/>
          <p:cNvSpPr/>
          <p:nvPr/>
        </p:nvSpPr>
        <p:spPr>
          <a:xfrm>
            <a:off x="9921240" y="4956048"/>
            <a:ext cx="914400" cy="246888"/>
          </a:xfrm>
          <a:prstGeom prst="rect">
            <a:avLst/>
          </a:prstGeom>
          <a:solidFill>
            <a:srgbClr val="F1E8D3"/>
          </a:solidFill>
          <a:ln/>
        </p:spPr>
      </p:sp>
      <p:sp>
        <p:nvSpPr>
          <p:cNvPr id="107" name="Text 102"/>
          <p:cNvSpPr txBox="1"/>
          <p:nvPr/>
        </p:nvSpPr>
        <p:spPr>
          <a:xfrm>
            <a:off x="9966960" y="4956048"/>
            <a:ext cx="822960" cy="246888"/>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08" name="Shape 103"/>
          <p:cNvSpPr/>
          <p:nvPr/>
        </p:nvSpPr>
        <p:spPr>
          <a:xfrm>
            <a:off x="10835640" y="4956048"/>
            <a:ext cx="685800" cy="246888"/>
          </a:xfrm>
          <a:prstGeom prst="rect">
            <a:avLst/>
          </a:prstGeom>
          <a:solidFill>
            <a:srgbClr val="F1E8D3"/>
          </a:solidFill>
          <a:ln/>
        </p:spPr>
      </p:sp>
      <p:sp>
        <p:nvSpPr>
          <p:cNvPr id="109" name="Text 104"/>
          <p:cNvSpPr txBox="1"/>
          <p:nvPr/>
        </p:nvSpPr>
        <p:spPr>
          <a:xfrm>
            <a:off x="10881360" y="4956048"/>
            <a:ext cx="594360" cy="246888"/>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10" name="Shape 105"/>
          <p:cNvSpPr/>
          <p:nvPr/>
        </p:nvSpPr>
        <p:spPr>
          <a:xfrm>
            <a:off x="6172200" y="5202936"/>
            <a:ext cx="5349240" cy="0"/>
          </a:xfrm>
          <a:prstGeom prst="line">
            <a:avLst/>
          </a:prstGeom>
          <a:noFill/>
          <a:ln w="6350">
            <a:solidFill>
              <a:srgbClr val="E3E8E4"/>
            </a:solidFill>
            <a:prstDash val="solid"/>
          </a:ln>
        </p:spPr>
      </p:sp>
      <p:sp>
        <p:nvSpPr>
          <p:cNvPr id="111" name="Shape 106"/>
          <p:cNvSpPr/>
          <p:nvPr/>
        </p:nvSpPr>
        <p:spPr>
          <a:xfrm>
            <a:off x="6172200" y="5202936"/>
            <a:ext cx="1143000" cy="246888"/>
          </a:xfrm>
          <a:prstGeom prst="rect">
            <a:avLst/>
          </a:prstGeom>
          <a:solidFill>
            <a:srgbClr val="FFFFFF"/>
          </a:solidFill>
          <a:ln/>
        </p:spPr>
      </p:sp>
      <p:sp>
        <p:nvSpPr>
          <p:cNvPr id="112" name="Text 107"/>
          <p:cNvSpPr txBox="1"/>
          <p:nvPr/>
        </p:nvSpPr>
        <p:spPr>
          <a:xfrm>
            <a:off x="6217920" y="5202936"/>
            <a:ext cx="105156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Fedena</a:t>
            </a:r>
            <a:endParaRPr lang="en-US" sz="900" dirty="0"/>
          </a:p>
        </p:txBody>
      </p:sp>
      <p:sp>
        <p:nvSpPr>
          <p:cNvPr id="113" name="Shape 108"/>
          <p:cNvSpPr/>
          <p:nvPr/>
        </p:nvSpPr>
        <p:spPr>
          <a:xfrm>
            <a:off x="7315200" y="5202936"/>
            <a:ext cx="1097280" cy="246888"/>
          </a:xfrm>
          <a:prstGeom prst="rect">
            <a:avLst/>
          </a:prstGeom>
          <a:solidFill>
            <a:srgbClr val="FFFFFF"/>
          </a:solidFill>
          <a:ln/>
        </p:spPr>
      </p:sp>
      <p:sp>
        <p:nvSpPr>
          <p:cNvPr id="114" name="Text 109"/>
          <p:cNvSpPr txBox="1"/>
          <p:nvPr/>
        </p:nvSpPr>
        <p:spPr>
          <a:xfrm>
            <a:off x="7360920" y="5202936"/>
            <a:ext cx="1005840" cy="24688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10–21</a:t>
            </a:r>
            <a:endParaRPr lang="en-US" sz="900" dirty="0"/>
          </a:p>
        </p:txBody>
      </p:sp>
      <p:sp>
        <p:nvSpPr>
          <p:cNvPr id="115" name="Shape 110"/>
          <p:cNvSpPr/>
          <p:nvPr/>
        </p:nvSpPr>
        <p:spPr>
          <a:xfrm>
            <a:off x="8412480" y="5202936"/>
            <a:ext cx="640080" cy="246888"/>
          </a:xfrm>
          <a:prstGeom prst="rect">
            <a:avLst/>
          </a:prstGeom>
          <a:solidFill>
            <a:srgbClr val="F4F7FB"/>
          </a:solidFill>
          <a:ln/>
        </p:spPr>
      </p:sp>
      <p:sp>
        <p:nvSpPr>
          <p:cNvPr id="116" name="Text 111"/>
          <p:cNvSpPr txBox="1"/>
          <p:nvPr/>
        </p:nvSpPr>
        <p:spPr>
          <a:xfrm>
            <a:off x="8458200" y="5202936"/>
            <a:ext cx="548640" cy="246888"/>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no</a:t>
            </a:r>
            <a:endParaRPr lang="en-US" sz="900" dirty="0"/>
          </a:p>
        </p:txBody>
      </p:sp>
      <p:sp>
        <p:nvSpPr>
          <p:cNvPr id="117" name="Shape 112"/>
          <p:cNvSpPr/>
          <p:nvPr/>
        </p:nvSpPr>
        <p:spPr>
          <a:xfrm>
            <a:off x="9052560" y="5202936"/>
            <a:ext cx="868680" cy="246888"/>
          </a:xfrm>
          <a:prstGeom prst="rect">
            <a:avLst/>
          </a:prstGeom>
          <a:solidFill>
            <a:srgbClr val="F1E8D3"/>
          </a:solidFill>
          <a:ln/>
        </p:spPr>
      </p:sp>
      <p:sp>
        <p:nvSpPr>
          <p:cNvPr id="118" name="Text 113"/>
          <p:cNvSpPr txBox="1"/>
          <p:nvPr/>
        </p:nvSpPr>
        <p:spPr>
          <a:xfrm>
            <a:off x="9098280" y="5202936"/>
            <a:ext cx="777240" cy="246888"/>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19" name="Shape 114"/>
          <p:cNvSpPr/>
          <p:nvPr/>
        </p:nvSpPr>
        <p:spPr>
          <a:xfrm>
            <a:off x="9921240" y="5202936"/>
            <a:ext cx="914400" cy="246888"/>
          </a:xfrm>
          <a:prstGeom prst="rect">
            <a:avLst/>
          </a:prstGeom>
          <a:solidFill>
            <a:srgbClr val="D6E4F5"/>
          </a:solidFill>
          <a:ln/>
        </p:spPr>
      </p:sp>
      <p:sp>
        <p:nvSpPr>
          <p:cNvPr id="120" name="Text 115"/>
          <p:cNvSpPr txBox="1"/>
          <p:nvPr/>
        </p:nvSpPr>
        <p:spPr>
          <a:xfrm>
            <a:off x="9966960" y="5202936"/>
            <a:ext cx="822960" cy="246888"/>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121" name="Shape 116"/>
          <p:cNvSpPr/>
          <p:nvPr/>
        </p:nvSpPr>
        <p:spPr>
          <a:xfrm>
            <a:off x="10835640" y="5202936"/>
            <a:ext cx="685800" cy="246888"/>
          </a:xfrm>
          <a:prstGeom prst="rect">
            <a:avLst/>
          </a:prstGeom>
          <a:solidFill>
            <a:srgbClr val="F1E8D3"/>
          </a:solidFill>
          <a:ln/>
        </p:spPr>
      </p:sp>
      <p:sp>
        <p:nvSpPr>
          <p:cNvPr id="122" name="Text 117"/>
          <p:cNvSpPr txBox="1"/>
          <p:nvPr/>
        </p:nvSpPr>
        <p:spPr>
          <a:xfrm>
            <a:off x="10881360" y="5202936"/>
            <a:ext cx="594360" cy="246888"/>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23" name="Shape 118"/>
          <p:cNvSpPr/>
          <p:nvPr/>
        </p:nvSpPr>
        <p:spPr>
          <a:xfrm>
            <a:off x="6172200" y="5449824"/>
            <a:ext cx="5349240" cy="0"/>
          </a:xfrm>
          <a:prstGeom prst="line">
            <a:avLst/>
          </a:prstGeom>
          <a:noFill/>
          <a:ln w="6350">
            <a:solidFill>
              <a:srgbClr val="E3E8E4"/>
            </a:solidFill>
            <a:prstDash val="solid"/>
          </a:ln>
        </p:spPr>
      </p:sp>
      <p:sp>
        <p:nvSpPr>
          <p:cNvPr id="124" name="Shape 119"/>
          <p:cNvSpPr/>
          <p:nvPr/>
        </p:nvSpPr>
        <p:spPr>
          <a:xfrm>
            <a:off x="6172200" y="5449824"/>
            <a:ext cx="1143000" cy="246888"/>
          </a:xfrm>
          <a:prstGeom prst="rect">
            <a:avLst/>
          </a:prstGeom>
          <a:solidFill>
            <a:srgbClr val="FFFFFF"/>
          </a:solidFill>
          <a:ln/>
        </p:spPr>
      </p:sp>
      <p:sp>
        <p:nvSpPr>
          <p:cNvPr id="125" name="Text 120"/>
          <p:cNvSpPr txBox="1"/>
          <p:nvPr/>
        </p:nvSpPr>
        <p:spPr>
          <a:xfrm>
            <a:off x="6217920" y="5449824"/>
            <a:ext cx="105156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Teachmint</a:t>
            </a:r>
            <a:endParaRPr lang="en-US" sz="900" dirty="0"/>
          </a:p>
        </p:txBody>
      </p:sp>
      <p:sp>
        <p:nvSpPr>
          <p:cNvPr id="126" name="Shape 121"/>
          <p:cNvSpPr/>
          <p:nvPr/>
        </p:nvSpPr>
        <p:spPr>
          <a:xfrm>
            <a:off x="7315200" y="5449824"/>
            <a:ext cx="1097280" cy="246888"/>
          </a:xfrm>
          <a:prstGeom prst="rect">
            <a:avLst/>
          </a:prstGeom>
          <a:solidFill>
            <a:srgbClr val="FFFFFF"/>
          </a:solidFill>
          <a:ln/>
        </p:spPr>
      </p:sp>
      <p:sp>
        <p:nvSpPr>
          <p:cNvPr id="127" name="Text 122"/>
          <p:cNvSpPr txBox="1"/>
          <p:nvPr/>
        </p:nvSpPr>
        <p:spPr>
          <a:xfrm>
            <a:off x="7360920" y="5449824"/>
            <a:ext cx="1005840" cy="24688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20–40 (est.)</a:t>
            </a:r>
            <a:endParaRPr lang="en-US" sz="900" dirty="0"/>
          </a:p>
        </p:txBody>
      </p:sp>
      <p:sp>
        <p:nvSpPr>
          <p:cNvPr id="128" name="Shape 123"/>
          <p:cNvSpPr/>
          <p:nvPr/>
        </p:nvSpPr>
        <p:spPr>
          <a:xfrm>
            <a:off x="8412480" y="5449824"/>
            <a:ext cx="640080" cy="246888"/>
          </a:xfrm>
          <a:prstGeom prst="rect">
            <a:avLst/>
          </a:prstGeom>
          <a:solidFill>
            <a:srgbClr val="F1E8D3"/>
          </a:solidFill>
          <a:ln/>
        </p:spPr>
      </p:sp>
      <p:sp>
        <p:nvSpPr>
          <p:cNvPr id="129" name="Text 124"/>
          <p:cNvSpPr txBox="1"/>
          <p:nvPr/>
        </p:nvSpPr>
        <p:spPr>
          <a:xfrm>
            <a:off x="8458200" y="5449824"/>
            <a:ext cx="548640" cy="246888"/>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30" name="Shape 125"/>
          <p:cNvSpPr/>
          <p:nvPr/>
        </p:nvSpPr>
        <p:spPr>
          <a:xfrm>
            <a:off x="9052560" y="5449824"/>
            <a:ext cx="868680" cy="246888"/>
          </a:xfrm>
          <a:prstGeom prst="rect">
            <a:avLst/>
          </a:prstGeom>
          <a:solidFill>
            <a:srgbClr val="F1E8D3"/>
          </a:solidFill>
          <a:ln/>
        </p:spPr>
      </p:sp>
      <p:sp>
        <p:nvSpPr>
          <p:cNvPr id="131" name="Text 126"/>
          <p:cNvSpPr txBox="1"/>
          <p:nvPr/>
        </p:nvSpPr>
        <p:spPr>
          <a:xfrm>
            <a:off x="9098280" y="5449824"/>
            <a:ext cx="777240" cy="246888"/>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32" name="Shape 127"/>
          <p:cNvSpPr/>
          <p:nvPr/>
        </p:nvSpPr>
        <p:spPr>
          <a:xfrm>
            <a:off x="9921240" y="5449824"/>
            <a:ext cx="914400" cy="246888"/>
          </a:xfrm>
          <a:prstGeom prst="rect">
            <a:avLst/>
          </a:prstGeom>
          <a:solidFill>
            <a:srgbClr val="D6E4F5"/>
          </a:solidFill>
          <a:ln/>
        </p:spPr>
      </p:sp>
      <p:sp>
        <p:nvSpPr>
          <p:cNvPr id="133" name="Text 128"/>
          <p:cNvSpPr txBox="1"/>
          <p:nvPr/>
        </p:nvSpPr>
        <p:spPr>
          <a:xfrm>
            <a:off x="9966960" y="5449824"/>
            <a:ext cx="822960" cy="246888"/>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134" name="Shape 129"/>
          <p:cNvSpPr/>
          <p:nvPr/>
        </p:nvSpPr>
        <p:spPr>
          <a:xfrm>
            <a:off x="10835640" y="5449824"/>
            <a:ext cx="685800" cy="246888"/>
          </a:xfrm>
          <a:prstGeom prst="rect">
            <a:avLst/>
          </a:prstGeom>
          <a:solidFill>
            <a:srgbClr val="D6E4F5"/>
          </a:solidFill>
          <a:ln/>
        </p:spPr>
      </p:sp>
      <p:sp>
        <p:nvSpPr>
          <p:cNvPr id="135" name="Text 130"/>
          <p:cNvSpPr txBox="1"/>
          <p:nvPr/>
        </p:nvSpPr>
        <p:spPr>
          <a:xfrm>
            <a:off x="10881360" y="5449824"/>
            <a:ext cx="594360" cy="246888"/>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136" name="Shape 131"/>
          <p:cNvSpPr/>
          <p:nvPr/>
        </p:nvSpPr>
        <p:spPr>
          <a:xfrm>
            <a:off x="6172200" y="5696712"/>
            <a:ext cx="5349240" cy="0"/>
          </a:xfrm>
          <a:prstGeom prst="line">
            <a:avLst/>
          </a:prstGeom>
          <a:noFill/>
          <a:ln w="6350">
            <a:solidFill>
              <a:srgbClr val="E3E8E4"/>
            </a:solidFill>
            <a:prstDash val="solid"/>
          </a:ln>
        </p:spPr>
      </p:sp>
      <p:sp>
        <p:nvSpPr>
          <p:cNvPr id="137" name="Shape 132"/>
          <p:cNvSpPr/>
          <p:nvPr/>
        </p:nvSpPr>
        <p:spPr>
          <a:xfrm>
            <a:off x="6172200" y="5696712"/>
            <a:ext cx="1143000" cy="246888"/>
          </a:xfrm>
          <a:prstGeom prst="rect">
            <a:avLst/>
          </a:prstGeom>
          <a:solidFill>
            <a:srgbClr val="1F4A82"/>
          </a:solidFill>
          <a:ln/>
        </p:spPr>
      </p:sp>
      <p:sp>
        <p:nvSpPr>
          <p:cNvPr id="138" name="Text 133"/>
          <p:cNvSpPr txBox="1"/>
          <p:nvPr/>
        </p:nvSpPr>
        <p:spPr>
          <a:xfrm>
            <a:off x="6217920" y="5696712"/>
            <a:ext cx="1051560" cy="24688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Pragati</a:t>
            </a:r>
            <a:endParaRPr lang="en-US" sz="900" dirty="0"/>
          </a:p>
        </p:txBody>
      </p:sp>
      <p:sp>
        <p:nvSpPr>
          <p:cNvPr id="139" name="Shape 134"/>
          <p:cNvSpPr/>
          <p:nvPr/>
        </p:nvSpPr>
        <p:spPr>
          <a:xfrm>
            <a:off x="7315200" y="5696712"/>
            <a:ext cx="1097280" cy="246888"/>
          </a:xfrm>
          <a:prstGeom prst="rect">
            <a:avLst/>
          </a:prstGeom>
          <a:solidFill>
            <a:srgbClr val="1F4A82"/>
          </a:solidFill>
          <a:ln/>
        </p:spPr>
      </p:sp>
      <p:sp>
        <p:nvSpPr>
          <p:cNvPr id="140" name="Text 135"/>
          <p:cNvSpPr txBox="1"/>
          <p:nvPr/>
        </p:nvSpPr>
        <p:spPr>
          <a:xfrm>
            <a:off x="7360920" y="5696712"/>
            <a:ext cx="100584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30</a:t>
            </a:r>
            <a:endParaRPr lang="en-US" sz="900" dirty="0"/>
          </a:p>
        </p:txBody>
      </p:sp>
      <p:sp>
        <p:nvSpPr>
          <p:cNvPr id="141" name="Shape 136"/>
          <p:cNvSpPr/>
          <p:nvPr/>
        </p:nvSpPr>
        <p:spPr>
          <a:xfrm>
            <a:off x="8412480" y="5696712"/>
            <a:ext cx="640080" cy="246888"/>
          </a:xfrm>
          <a:prstGeom prst="rect">
            <a:avLst/>
          </a:prstGeom>
          <a:solidFill>
            <a:srgbClr val="1F4A82"/>
          </a:solidFill>
          <a:ln/>
        </p:spPr>
      </p:sp>
      <p:sp>
        <p:nvSpPr>
          <p:cNvPr id="142" name="Text 137"/>
          <p:cNvSpPr txBox="1"/>
          <p:nvPr/>
        </p:nvSpPr>
        <p:spPr>
          <a:xfrm>
            <a:off x="8458200" y="5696712"/>
            <a:ext cx="54864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yes</a:t>
            </a:r>
            <a:endParaRPr lang="en-US" sz="900" dirty="0"/>
          </a:p>
        </p:txBody>
      </p:sp>
      <p:sp>
        <p:nvSpPr>
          <p:cNvPr id="143" name="Shape 138"/>
          <p:cNvSpPr/>
          <p:nvPr/>
        </p:nvSpPr>
        <p:spPr>
          <a:xfrm>
            <a:off x="9052560" y="5696712"/>
            <a:ext cx="868680" cy="246888"/>
          </a:xfrm>
          <a:prstGeom prst="rect">
            <a:avLst/>
          </a:prstGeom>
          <a:solidFill>
            <a:srgbClr val="1F4A82"/>
          </a:solidFill>
          <a:ln/>
        </p:spPr>
      </p:sp>
      <p:sp>
        <p:nvSpPr>
          <p:cNvPr id="144" name="Text 139"/>
          <p:cNvSpPr txBox="1"/>
          <p:nvPr/>
        </p:nvSpPr>
        <p:spPr>
          <a:xfrm>
            <a:off x="9098280" y="5696712"/>
            <a:ext cx="77724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yes</a:t>
            </a:r>
            <a:endParaRPr lang="en-US" sz="900" dirty="0"/>
          </a:p>
        </p:txBody>
      </p:sp>
      <p:sp>
        <p:nvSpPr>
          <p:cNvPr id="145" name="Shape 140"/>
          <p:cNvSpPr/>
          <p:nvPr/>
        </p:nvSpPr>
        <p:spPr>
          <a:xfrm>
            <a:off x="9921240" y="5696712"/>
            <a:ext cx="914400" cy="246888"/>
          </a:xfrm>
          <a:prstGeom prst="rect">
            <a:avLst/>
          </a:prstGeom>
          <a:solidFill>
            <a:srgbClr val="1F4A82"/>
          </a:solidFill>
          <a:ln/>
        </p:spPr>
      </p:sp>
      <p:sp>
        <p:nvSpPr>
          <p:cNvPr id="146" name="Text 141"/>
          <p:cNvSpPr txBox="1"/>
          <p:nvPr/>
        </p:nvSpPr>
        <p:spPr>
          <a:xfrm>
            <a:off x="9966960" y="5696712"/>
            <a:ext cx="82296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yes</a:t>
            </a:r>
            <a:endParaRPr lang="en-US" sz="900" dirty="0"/>
          </a:p>
        </p:txBody>
      </p:sp>
      <p:sp>
        <p:nvSpPr>
          <p:cNvPr id="147" name="Shape 142"/>
          <p:cNvSpPr/>
          <p:nvPr/>
        </p:nvSpPr>
        <p:spPr>
          <a:xfrm>
            <a:off x="10835640" y="5696712"/>
            <a:ext cx="685800" cy="246888"/>
          </a:xfrm>
          <a:prstGeom prst="rect">
            <a:avLst/>
          </a:prstGeom>
          <a:solidFill>
            <a:srgbClr val="1F4A82"/>
          </a:solidFill>
          <a:ln/>
        </p:spPr>
      </p:sp>
      <p:sp>
        <p:nvSpPr>
          <p:cNvPr id="148" name="Text 143"/>
          <p:cNvSpPr txBox="1"/>
          <p:nvPr/>
        </p:nvSpPr>
        <p:spPr>
          <a:xfrm>
            <a:off x="10881360" y="5696712"/>
            <a:ext cx="59436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yes</a:t>
            </a:r>
            <a:endParaRPr lang="en-US" sz="900" dirty="0"/>
          </a:p>
        </p:txBody>
      </p:sp>
      <p:sp>
        <p:nvSpPr>
          <p:cNvPr id="149" name="Shape 144"/>
          <p:cNvSpPr/>
          <p:nvPr/>
        </p:nvSpPr>
        <p:spPr>
          <a:xfrm>
            <a:off x="6172200" y="5943600"/>
            <a:ext cx="5349240" cy="0"/>
          </a:xfrm>
          <a:prstGeom prst="line">
            <a:avLst/>
          </a:prstGeom>
          <a:noFill/>
          <a:ln w="6350">
            <a:solidFill>
              <a:srgbClr val="E3E8E4"/>
            </a:solidFill>
            <a:prstDash val="solid"/>
          </a:ln>
        </p:spPr>
      </p:sp>
      <p:sp>
        <p:nvSpPr>
          <p:cNvPr id="150" name="Text 145"/>
          <p:cNvSpPr txBox="1"/>
          <p:nvPr/>
        </p:nvSpPr>
        <p:spPr>
          <a:xfrm>
            <a:off x="6172200" y="5961888"/>
            <a:ext cx="5577840" cy="182880"/>
          </a:xfrm>
          <a:prstGeom prst="rect">
            <a:avLst/>
          </a:prstGeom>
          <a:noFill/>
          <a:ln/>
        </p:spPr>
        <p:txBody>
          <a:bodyPr wrap="square" lIns="0" tIns="0" rIns="0" bIns="0" rtlCol="0" anchor="t"/>
          <a:lstStyle/>
          <a:p>
            <a:pPr algn="l" indent="0" marL="0">
              <a:buNone/>
            </a:pPr>
            <a:r>
              <a:rPr lang="en-US" sz="800" i="1" dirty="0">
                <a:solidFill>
                  <a:srgbClr val="5B6573"/>
                </a:solidFill>
                <a:latin typeface="Calibri" pitchFamily="34" charset="0"/>
                <a:ea typeface="Calibri" pitchFamily="34" charset="-122"/>
                <a:cs typeface="Calibri" pitchFamily="34" charset="-120"/>
              </a:rPr>
              <a:t>yes: shown in listing · no: not shown · ?: not verifiable</a:t>
            </a:r>
            <a:endParaRPr lang="en-US" sz="800" dirty="0"/>
          </a:p>
        </p:txBody>
      </p:sp>
      <p:sp>
        <p:nvSpPr>
          <p:cNvPr id="151" name="Text 146"/>
          <p:cNvSpPr txBox="1"/>
          <p:nvPr/>
        </p:nvSpPr>
        <p:spPr>
          <a:xfrm>
            <a:off x="6172200" y="6126480"/>
            <a:ext cx="5577840" cy="347472"/>
          </a:xfrm>
          <a:prstGeom prst="rect">
            <a:avLst/>
          </a:prstGeom>
          <a:noFill/>
          <a:ln/>
        </p:spPr>
        <p:txBody>
          <a:bodyPr wrap="square" lIns="0" tIns="0" rIns="0" bIns="0" rtlCol="0" anchor="t"/>
          <a:lstStyle/>
          <a:p>
            <a:pPr algn="l" indent="0" marL="0">
              <a:buNone/>
            </a:pPr>
            <a:r>
              <a:rPr lang="en-US" sz="900" b="1" dirty="0">
                <a:solidFill>
                  <a:srgbClr val="1F4A82"/>
                </a:solidFill>
                <a:latin typeface="Calibri" pitchFamily="34" charset="0"/>
                <a:ea typeface="Calibri" pitchFamily="34" charset="-122"/>
                <a:cs typeface="Calibri" pitchFamily="34" charset="-120"/>
              </a:rPr>
              <a:t>Moat: </a:t>
            </a:r>
            <a:pPr algn="l" indent="0" marL="0">
              <a:buNone/>
            </a:pPr>
            <a:r>
              <a:rPr lang="en-US" sz="900" dirty="0">
                <a:solidFill>
                  <a:srgbClr val="1F2937"/>
                </a:solidFill>
                <a:latin typeface="Calibri" pitchFamily="34" charset="0"/>
                <a:ea typeface="Calibri" pitchFamily="34" charset="-122"/>
                <a:cs typeface="Calibri" pitchFamily="34" charset="-120"/>
              </a:rPr>
              <a:t>more institutes sharpen question difficulty for all. Weak below about 200 institutes, so early wins come from time saved.</a:t>
            </a:r>
            <a:endParaRPr lang="en-US" sz="900" dirty="0"/>
          </a:p>
        </p:txBody>
      </p:sp>
      <p:sp>
        <p:nvSpPr>
          <p:cNvPr id="152" name="Text 147"/>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vendor listings (financial/research R1; ? means not verifiable, not absent); financial model v1.1 (field vs channel economics); roadmap dates are our plan. Year 3, Base: 58 institutes, ₹65 L revenue.</a:t>
            </a:r>
            <a:endParaRPr lang="en-US" sz="850" dirty="0"/>
          </a:p>
        </p:txBody>
      </p:sp>
      <p:pic>
        <p:nvPicPr>
          <p:cNvPr id="154" name="Image 2" descr="FaClipboardList icon">    </p:cNvPr>
          <p:cNvPicPr>
            <a:picLocks noChangeAspect="1"/>
          </p:cNvPicPr>
          <p:nvPr/>
        </p:nvPicPr>
        <p:blipFill>
          <a:blip r:embed="rId3"/>
          <a:stretch>
            <a:fillRect/>
          </a:stretch>
        </p:blipFill>
        <p:spPr>
          <a:xfrm>
            <a:off x="521208" y="100584"/>
            <a:ext cx="182880" cy="182880"/>
          </a:xfrm>
          <a:prstGeom prst="rect">
            <a:avLst/>
          </a:prstGeom>
        </p:spPr>
      </p:pic>
      <p:pic>
        <p:nvPicPr>
          <p:cNvPr id="155" name="Image 3" descr="FaTriangleExclamation icon">    </p:cNvPr>
          <p:cNvPicPr>
            <a:picLocks noChangeAspect="1"/>
          </p:cNvPicPr>
          <p:nvPr/>
        </p:nvPicPr>
        <p:blipFill>
          <a:blip r:embed="rId4"/>
          <a:stretch>
            <a:fillRect/>
          </a:stretch>
        </p:blipFill>
        <p:spPr>
          <a:xfrm>
            <a:off x="2084032" y="100584"/>
            <a:ext cx="182880" cy="182880"/>
          </a:xfrm>
          <a:prstGeom prst="rect">
            <a:avLst/>
          </a:prstGeom>
        </p:spPr>
      </p:pic>
      <p:pic>
        <p:nvPicPr>
          <p:cNvPr id="156" name="Image 4" descr="FaMobileScreen icon">    </p:cNvPr>
          <p:cNvPicPr>
            <a:picLocks noChangeAspect="1"/>
          </p:cNvPicPr>
          <p:nvPr/>
        </p:nvPicPr>
        <p:blipFill>
          <a:blip r:embed="rId5"/>
          <a:stretch>
            <a:fillRect/>
          </a:stretch>
        </p:blipFill>
        <p:spPr>
          <a:xfrm>
            <a:off x="3482264" y="100584"/>
            <a:ext cx="182880" cy="182880"/>
          </a:xfrm>
          <a:prstGeom prst="rect">
            <a:avLst/>
          </a:prstGeom>
        </p:spPr>
      </p:pic>
      <p:pic>
        <p:nvPicPr>
          <p:cNvPr id="157" name="Image 5" descr="FaGears icon">    </p:cNvPr>
          <p:cNvPicPr>
            <a:picLocks noChangeAspect="1"/>
          </p:cNvPicPr>
          <p:nvPr/>
        </p:nvPicPr>
        <p:blipFill>
          <a:blip r:embed="rId6"/>
          <a:stretch>
            <a:fillRect/>
          </a:stretch>
        </p:blipFill>
        <p:spPr>
          <a:xfrm>
            <a:off x="4880496" y="100584"/>
            <a:ext cx="182880" cy="182880"/>
          </a:xfrm>
          <a:prstGeom prst="rect">
            <a:avLst/>
          </a:prstGeom>
        </p:spPr>
      </p:pic>
      <p:pic>
        <p:nvPicPr>
          <p:cNvPr id="158" name="Image 6" descr="FaShieldHalved icon">    </p:cNvPr>
          <p:cNvPicPr>
            <a:picLocks noChangeAspect="1"/>
          </p:cNvPicPr>
          <p:nvPr/>
        </p:nvPicPr>
        <p:blipFill>
          <a:blip r:embed="rId7"/>
          <a:stretch>
            <a:fillRect/>
          </a:stretch>
        </p:blipFill>
        <p:spPr>
          <a:xfrm>
            <a:off x="6278728" y="100584"/>
            <a:ext cx="182880" cy="182880"/>
          </a:xfrm>
          <a:prstGeom prst="rect">
            <a:avLst/>
          </a:prstGeom>
        </p:spPr>
      </p:pic>
      <p:pic>
        <p:nvPicPr>
          <p:cNvPr id="159" name="Image 7" descr="FaBullseye icon">    </p:cNvPr>
          <p:cNvPicPr>
            <a:picLocks noChangeAspect="1"/>
          </p:cNvPicPr>
          <p:nvPr/>
        </p:nvPicPr>
        <p:blipFill>
          <a:blip r:embed="rId8"/>
          <a:stretch>
            <a:fillRect/>
          </a:stretch>
        </p:blipFill>
        <p:spPr>
          <a:xfrm>
            <a:off x="9075191" y="100584"/>
            <a:ext cx="182880" cy="182880"/>
          </a:xfrm>
          <a:prstGeom prst="rect">
            <a:avLst/>
          </a:prstGeom>
        </p:spPr>
      </p:pic>
      <p:pic>
        <p:nvPicPr>
          <p:cNvPr id="160" name="Image 8" descr="FaBookOpen icon">    </p:cNvPr>
          <p:cNvPicPr>
            <a:picLocks noChangeAspect="1"/>
          </p:cNvPicPr>
          <p:nvPr/>
        </p:nvPicPr>
        <p:blipFill>
          <a:blip r:embed="rId9"/>
          <a:stretch>
            <a:fillRect/>
          </a:stretch>
        </p:blipFill>
        <p:spPr>
          <a:xfrm>
            <a:off x="10473423" y="100584"/>
            <a:ext cx="182880" cy="182880"/>
          </a:xfrm>
          <a:prstGeom prst="rect">
            <a:avLst/>
          </a:prstGeom>
        </p:spPr>
      </p:pic>
      <p:pic>
        <p:nvPicPr>
          <p:cNvPr id="161" name="Image 9" descr="FaIndianRupeeSign icon">    </p:cNvPr>
          <p:cNvPicPr>
            <a:picLocks noChangeAspect="1"/>
          </p:cNvPicPr>
          <p:nvPr/>
        </p:nvPicPr>
        <p:blipFill>
          <a:blip r:embed="rId10"/>
          <a:stretch>
            <a:fillRect/>
          </a:stretch>
        </p:blipFill>
        <p:spPr>
          <a:xfrm>
            <a:off x="7676960"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D4A24C"/>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approval">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7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VALIDATION SCORECARD AND THE ASK</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What we have proved, what we have not, and the one pilot that settles it</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88720"/>
            <a:ext cx="3931920" cy="292608"/>
          </a:xfrm>
          <a:prstGeom prst="rect">
            <a:avLst/>
          </a:prstGeom>
          <a:solidFill>
            <a:srgbClr val="1F4A82"/>
          </a:solidFill>
          <a:ln/>
        </p:spPr>
      </p:sp>
      <p:sp>
        <p:nvSpPr>
          <p:cNvPr id="27" name="Text 23"/>
          <p:cNvSpPr txBox="1"/>
          <p:nvPr/>
        </p:nvSpPr>
        <p:spPr>
          <a:xfrm>
            <a:off x="484632" y="1188720"/>
            <a:ext cx="3785616"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VALIDATION SCORECARD</a:t>
            </a:r>
            <a:endParaRPr lang="en-US" sz="1150" dirty="0"/>
          </a:p>
        </p:txBody>
      </p:sp>
      <p:sp>
        <p:nvSpPr>
          <p:cNvPr id="28" name="Shape 24"/>
          <p:cNvSpPr/>
          <p:nvPr/>
        </p:nvSpPr>
        <p:spPr>
          <a:xfrm>
            <a:off x="411480" y="1536192"/>
            <a:ext cx="3931920" cy="493776"/>
          </a:xfrm>
          <a:prstGeom prst="rect">
            <a:avLst/>
          </a:prstGeom>
          <a:solidFill>
            <a:srgbClr val="E3ECF7"/>
          </a:solidFill>
          <a:ln/>
        </p:spPr>
      </p:sp>
      <p:pic>
        <p:nvPicPr>
          <p:cNvPr id="29"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30"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31"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32"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33"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34"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35" name="Image 7" descr="FaBookOpen icon">    </p:cNvPr>
          <p:cNvPicPr>
            <a:picLocks noChangeAspect="1"/>
          </p:cNvPicPr>
          <p:nvPr/>
        </p:nvPicPr>
        <p:blipFill>
          <a:blip r:embed="rId8"/>
          <a:stretch>
            <a:fillRect/>
          </a:stretch>
        </p:blipFill>
        <p:spPr>
          <a:xfrm>
            <a:off x="10473423" y="100584"/>
            <a:ext cx="182880" cy="182880"/>
          </a:xfrm>
          <a:prstGeom prst="rect">
            <a:avLst/>
          </a:prstGeom>
        </p:spPr>
      </p:pic>
      <p:pic>
        <p:nvPicPr>
          <p:cNvPr id="36" name="Image 8" descr="FaCircleCheck icon">    </p:cNvPr>
          <p:cNvPicPr>
            <a:picLocks noChangeAspect="1"/>
          </p:cNvPicPr>
          <p:nvPr/>
        </p:nvPicPr>
        <p:blipFill>
          <a:blip r:embed="rId9"/>
          <a:stretch>
            <a:fillRect/>
          </a:stretch>
        </p:blipFill>
        <p:spPr>
          <a:xfrm>
            <a:off x="521208" y="1645920"/>
            <a:ext cx="274320" cy="274320"/>
          </a:xfrm>
          <a:prstGeom prst="rect">
            <a:avLst/>
          </a:prstGeom>
        </p:spPr>
      </p:pic>
      <p:sp>
        <p:nvSpPr>
          <p:cNvPr id="37" name="Text 25"/>
          <p:cNvSpPr txBox="1"/>
          <p:nvPr/>
        </p:nvSpPr>
        <p:spPr>
          <a:xfrm>
            <a:off x="914400" y="1536192"/>
            <a:ext cx="3383280" cy="49377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0.76 accuracy on public student data</a:t>
            </a:r>
            <a:endParaRPr lang="en-US" sz="1100" dirty="0"/>
          </a:p>
        </p:txBody>
      </p:sp>
      <p:sp>
        <p:nvSpPr>
          <p:cNvPr id="38" name="Shape 26"/>
          <p:cNvSpPr/>
          <p:nvPr/>
        </p:nvSpPr>
        <p:spPr>
          <a:xfrm>
            <a:off x="411480" y="2084832"/>
            <a:ext cx="3931920" cy="493776"/>
          </a:xfrm>
          <a:prstGeom prst="rect">
            <a:avLst/>
          </a:prstGeom>
          <a:solidFill>
            <a:srgbClr val="E3ECF7"/>
          </a:solidFill>
          <a:ln/>
        </p:spPr>
      </p:sp>
      <p:pic>
        <p:nvPicPr>
          <p:cNvPr id="39" name="Image 9" descr="FaCircleCheck icon">    </p:cNvPr>
          <p:cNvPicPr>
            <a:picLocks noChangeAspect="1"/>
          </p:cNvPicPr>
          <p:nvPr/>
        </p:nvPicPr>
        <p:blipFill>
          <a:blip r:embed="rId10"/>
          <a:stretch>
            <a:fillRect/>
          </a:stretch>
        </p:blipFill>
        <p:spPr>
          <a:xfrm>
            <a:off x="521208" y="2194560"/>
            <a:ext cx="274320" cy="274320"/>
          </a:xfrm>
          <a:prstGeom prst="rect">
            <a:avLst/>
          </a:prstGeom>
        </p:spPr>
      </p:pic>
      <p:sp>
        <p:nvSpPr>
          <p:cNvPr id="40" name="Text 27"/>
          <p:cNvSpPr txBox="1"/>
          <p:nvPr/>
        </p:nvSpPr>
        <p:spPr>
          <a:xfrm>
            <a:off x="914400" y="2084832"/>
            <a:ext cx="3383280" cy="49377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0.009 calibration error, public data</a:t>
            </a:r>
            <a:endParaRPr lang="en-US" sz="1100" dirty="0"/>
          </a:p>
        </p:txBody>
      </p:sp>
      <p:sp>
        <p:nvSpPr>
          <p:cNvPr id="41" name="Shape 28"/>
          <p:cNvSpPr/>
          <p:nvPr/>
        </p:nvSpPr>
        <p:spPr>
          <a:xfrm>
            <a:off x="411480" y="2633472"/>
            <a:ext cx="3931920" cy="493776"/>
          </a:xfrm>
          <a:prstGeom prst="rect">
            <a:avLst/>
          </a:prstGeom>
          <a:solidFill>
            <a:srgbClr val="E3ECF7"/>
          </a:solidFill>
          <a:ln/>
        </p:spPr>
      </p:sp>
      <p:pic>
        <p:nvPicPr>
          <p:cNvPr id="42" name="Image 10" descr="FaCircleCheck icon">    </p:cNvPr>
          <p:cNvPicPr>
            <a:picLocks noChangeAspect="1"/>
          </p:cNvPicPr>
          <p:nvPr/>
        </p:nvPicPr>
        <p:blipFill>
          <a:blip r:embed="rId11"/>
          <a:stretch>
            <a:fillRect/>
          </a:stretch>
        </p:blipFill>
        <p:spPr>
          <a:xfrm>
            <a:off x="521208" y="2743200"/>
            <a:ext cx="274320" cy="274320"/>
          </a:xfrm>
          <a:prstGeom prst="rect">
            <a:avLst/>
          </a:prstGeom>
        </p:spPr>
      </p:pic>
      <p:sp>
        <p:nvSpPr>
          <p:cNvPr id="43" name="Text 29"/>
          <p:cNvSpPr txBox="1"/>
          <p:nvPr/>
        </p:nvSpPr>
        <p:spPr>
          <a:xfrm>
            <a:off x="914400" y="2633472"/>
            <a:ext cx="3383280" cy="49377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Privacy costs only 0.008 accuracy</a:t>
            </a:r>
            <a:endParaRPr lang="en-US" sz="1100" dirty="0"/>
          </a:p>
        </p:txBody>
      </p:sp>
      <p:sp>
        <p:nvSpPr>
          <p:cNvPr id="44" name="Shape 30"/>
          <p:cNvSpPr/>
          <p:nvPr/>
        </p:nvSpPr>
        <p:spPr>
          <a:xfrm>
            <a:off x="411480" y="3182112"/>
            <a:ext cx="3931920" cy="493776"/>
          </a:xfrm>
          <a:prstGeom prst="rect">
            <a:avLst/>
          </a:prstGeom>
          <a:solidFill>
            <a:srgbClr val="E3ECF7"/>
          </a:solidFill>
          <a:ln/>
        </p:spPr>
      </p:sp>
      <p:pic>
        <p:nvPicPr>
          <p:cNvPr id="45" name="Image 11" descr="FaCircleCheck icon">    </p:cNvPr>
          <p:cNvPicPr>
            <a:picLocks noChangeAspect="1"/>
          </p:cNvPicPr>
          <p:nvPr/>
        </p:nvPicPr>
        <p:blipFill>
          <a:blip r:embed="rId12"/>
          <a:stretch>
            <a:fillRect/>
          </a:stretch>
        </p:blipFill>
        <p:spPr>
          <a:xfrm>
            <a:off x="521208" y="3291840"/>
            <a:ext cx="274320" cy="274320"/>
          </a:xfrm>
          <a:prstGeom prst="rect">
            <a:avLst/>
          </a:prstGeom>
        </p:spPr>
      </p:pic>
      <p:sp>
        <p:nvSpPr>
          <p:cNvPr id="46" name="Text 31"/>
          <p:cNvSpPr txBox="1"/>
          <p:nvPr/>
        </p:nvSpPr>
        <p:spPr>
          <a:xfrm>
            <a:off x="914400" y="3182112"/>
            <a:ext cx="3383280" cy="49377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116 tests pass; tenants stay apart</a:t>
            </a:r>
            <a:endParaRPr lang="en-US" sz="1100" dirty="0"/>
          </a:p>
        </p:txBody>
      </p:sp>
      <p:sp>
        <p:nvSpPr>
          <p:cNvPr id="47" name="Shape 32"/>
          <p:cNvSpPr/>
          <p:nvPr/>
        </p:nvSpPr>
        <p:spPr>
          <a:xfrm>
            <a:off x="411480" y="3730752"/>
            <a:ext cx="3931920" cy="493776"/>
          </a:xfrm>
          <a:prstGeom prst="rect">
            <a:avLst/>
          </a:prstGeom>
          <a:solidFill>
            <a:srgbClr val="F1E8D3"/>
          </a:solidFill>
          <a:ln/>
        </p:spPr>
      </p:sp>
      <p:pic>
        <p:nvPicPr>
          <p:cNvPr id="48" name="Image 12" descr="FaBullseye icon">    </p:cNvPr>
          <p:cNvPicPr>
            <a:picLocks noChangeAspect="1"/>
          </p:cNvPicPr>
          <p:nvPr/>
        </p:nvPicPr>
        <p:blipFill>
          <a:blip r:embed="rId13"/>
          <a:stretch>
            <a:fillRect/>
          </a:stretch>
        </p:blipFill>
        <p:spPr>
          <a:xfrm>
            <a:off x="9075191" y="100584"/>
            <a:ext cx="182880" cy="182880"/>
          </a:xfrm>
          <a:prstGeom prst="rect">
            <a:avLst/>
          </a:prstGeom>
        </p:spPr>
      </p:pic>
      <p:pic>
        <p:nvPicPr>
          <p:cNvPr id="49" name="Image 13" descr="FaHourglassHalf icon">    </p:cNvPr>
          <p:cNvPicPr>
            <a:picLocks noChangeAspect="1"/>
          </p:cNvPicPr>
          <p:nvPr/>
        </p:nvPicPr>
        <p:blipFill>
          <a:blip r:embed="rId14"/>
          <a:stretch>
            <a:fillRect/>
          </a:stretch>
        </p:blipFill>
        <p:spPr>
          <a:xfrm>
            <a:off x="521208" y="3840480"/>
            <a:ext cx="274320" cy="274320"/>
          </a:xfrm>
          <a:prstGeom prst="rect">
            <a:avLst/>
          </a:prstGeom>
        </p:spPr>
      </p:pic>
      <p:sp>
        <p:nvSpPr>
          <p:cNvPr id="50" name="Text 33"/>
          <p:cNvSpPr txBox="1"/>
          <p:nvPr/>
        </p:nvSpPr>
        <p:spPr>
          <a:xfrm>
            <a:off x="914400" y="3730752"/>
            <a:ext cx="3383280" cy="49377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Difficulty and wrong-key gates</a:t>
            </a:r>
            <a:endParaRPr lang="en-US" sz="1100" dirty="0"/>
          </a:p>
        </p:txBody>
      </p:sp>
      <p:sp>
        <p:nvSpPr>
          <p:cNvPr id="51" name="Shape 34"/>
          <p:cNvSpPr/>
          <p:nvPr/>
        </p:nvSpPr>
        <p:spPr>
          <a:xfrm>
            <a:off x="411480" y="4279392"/>
            <a:ext cx="3931920" cy="493776"/>
          </a:xfrm>
          <a:prstGeom prst="rect">
            <a:avLst/>
          </a:prstGeom>
          <a:solidFill>
            <a:srgbClr val="F6E0DD"/>
          </a:solidFill>
          <a:ln/>
        </p:spPr>
      </p:sp>
      <p:pic>
        <p:nvPicPr>
          <p:cNvPr id="52" name="Image 14" descr="FaCircleXmark icon">    </p:cNvPr>
          <p:cNvPicPr>
            <a:picLocks noChangeAspect="1"/>
          </p:cNvPicPr>
          <p:nvPr/>
        </p:nvPicPr>
        <p:blipFill>
          <a:blip r:embed="rId15"/>
          <a:stretch>
            <a:fillRect/>
          </a:stretch>
        </p:blipFill>
        <p:spPr>
          <a:xfrm>
            <a:off x="521208" y="4389120"/>
            <a:ext cx="274320" cy="274320"/>
          </a:xfrm>
          <a:prstGeom prst="rect">
            <a:avLst/>
          </a:prstGeom>
        </p:spPr>
      </p:pic>
      <p:sp>
        <p:nvSpPr>
          <p:cNvPr id="53" name="Text 35"/>
          <p:cNvSpPr txBox="1"/>
          <p:nvPr/>
        </p:nvSpPr>
        <p:spPr>
          <a:xfrm>
            <a:off x="914400" y="4279392"/>
            <a:ext cx="3383280" cy="49377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Accuracy at a real institute</a:t>
            </a:r>
            <a:endParaRPr lang="en-US" sz="1100" dirty="0"/>
          </a:p>
        </p:txBody>
      </p:sp>
      <p:sp>
        <p:nvSpPr>
          <p:cNvPr id="54" name="Shape 36"/>
          <p:cNvSpPr/>
          <p:nvPr/>
        </p:nvSpPr>
        <p:spPr>
          <a:xfrm>
            <a:off x="4572000" y="1188720"/>
            <a:ext cx="256032" cy="256032"/>
          </a:xfrm>
          <a:prstGeom prst="rect">
            <a:avLst/>
          </a:prstGeom>
          <a:solidFill>
            <a:srgbClr val="1F4A82"/>
          </a:solidFill>
          <a:ln/>
        </p:spPr>
      </p:sp>
      <p:sp>
        <p:nvSpPr>
          <p:cNvPr id="55" name="Text 37"/>
          <p:cNvSpPr txBox="1"/>
          <p:nvPr/>
        </p:nvSpPr>
        <p:spPr>
          <a:xfrm>
            <a:off x="4572000" y="1188720"/>
            <a:ext cx="256032" cy="256032"/>
          </a:xfrm>
          <a:prstGeom prst="rect">
            <a:avLst/>
          </a:prstGeom>
          <a:noFill/>
          <a:ln/>
        </p:spPr>
        <p:txBody>
          <a:bodyPr wrap="square" lIns="0" tIns="0" rIns="0" bIns="0" rtlCol="0" anchor="ctr"/>
          <a:lstStyle/>
          <a:p>
            <a:pPr algn="ctr" indent="0" marL="0">
              <a:buNone/>
            </a:pPr>
            <a:endParaRPr lang="en-US" sz="1150" dirty="0"/>
          </a:p>
        </p:txBody>
      </p:sp>
      <p:sp>
        <p:nvSpPr>
          <p:cNvPr id="56" name="Text 38"/>
          <p:cNvSpPr txBox="1"/>
          <p:nvPr/>
        </p:nvSpPr>
        <p:spPr>
          <a:xfrm>
            <a:off x="4901184" y="1188720"/>
            <a:ext cx="33284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RISK MATRIX</a:t>
            </a:r>
            <a:endParaRPr lang="en-US" sz="1200" dirty="0"/>
          </a:p>
        </p:txBody>
      </p:sp>
      <p:sp>
        <p:nvSpPr>
          <p:cNvPr id="57" name="Shape 39"/>
          <p:cNvSpPr/>
          <p:nvPr/>
        </p:nvSpPr>
        <p:spPr>
          <a:xfrm>
            <a:off x="4754880" y="3131820"/>
            <a:ext cx="1664208" cy="1549908"/>
          </a:xfrm>
          <a:prstGeom prst="rect">
            <a:avLst/>
          </a:prstGeom>
          <a:solidFill>
            <a:srgbClr val="F4F7FB"/>
          </a:solidFill>
          <a:ln/>
        </p:spPr>
      </p:sp>
      <p:sp>
        <p:nvSpPr>
          <p:cNvPr id="58" name="Shape 40"/>
          <p:cNvSpPr/>
          <p:nvPr/>
        </p:nvSpPr>
        <p:spPr>
          <a:xfrm>
            <a:off x="6446520" y="3131820"/>
            <a:ext cx="1664208" cy="1549908"/>
          </a:xfrm>
          <a:prstGeom prst="rect">
            <a:avLst/>
          </a:prstGeom>
          <a:solidFill>
            <a:srgbClr val="FBEFD8"/>
          </a:solidFill>
          <a:ln/>
        </p:spPr>
      </p:sp>
      <p:sp>
        <p:nvSpPr>
          <p:cNvPr id="59" name="Shape 41"/>
          <p:cNvSpPr/>
          <p:nvPr/>
        </p:nvSpPr>
        <p:spPr>
          <a:xfrm>
            <a:off x="4754880" y="1554480"/>
            <a:ext cx="1664208" cy="1549908"/>
          </a:xfrm>
          <a:prstGeom prst="rect">
            <a:avLst/>
          </a:prstGeom>
          <a:solidFill>
            <a:srgbClr val="FBEFD8"/>
          </a:solidFill>
          <a:ln/>
        </p:spPr>
      </p:sp>
      <p:sp>
        <p:nvSpPr>
          <p:cNvPr id="60" name="Shape 42"/>
          <p:cNvSpPr/>
          <p:nvPr/>
        </p:nvSpPr>
        <p:spPr>
          <a:xfrm>
            <a:off x="6446520" y="1554480"/>
            <a:ext cx="1664208" cy="1549908"/>
          </a:xfrm>
          <a:prstGeom prst="rect">
            <a:avLst/>
          </a:prstGeom>
          <a:solidFill>
            <a:srgbClr val="F6E0DD"/>
          </a:solidFill>
          <a:ln/>
        </p:spPr>
      </p:sp>
      <p:sp>
        <p:nvSpPr>
          <p:cNvPr id="61" name="Text 43"/>
          <p:cNvSpPr txBox="1"/>
          <p:nvPr/>
        </p:nvSpPr>
        <p:spPr>
          <a:xfrm>
            <a:off x="4754880" y="4727448"/>
            <a:ext cx="3383280" cy="201168"/>
          </a:xfrm>
          <a:prstGeom prst="rect">
            <a:avLst/>
          </a:prstGeom>
          <a:noFill/>
          <a:ln/>
        </p:spPr>
        <p:txBody>
          <a:bodyPr wrap="square" lIns="0" tIns="0" rIns="0" bIns="0" rtlCol="0" anchor="t"/>
          <a:lstStyle/>
          <a:p>
            <a:pPr algn="ctr" indent="0" marL="0">
              <a:buNone/>
            </a:pPr>
            <a:r>
              <a:rPr lang="en-US" sz="850" b="1" dirty="0">
                <a:solidFill>
                  <a:srgbClr val="5B6573"/>
                </a:solidFill>
                <a:latin typeface="Calibri" pitchFamily="34" charset="0"/>
                <a:ea typeface="Calibri" pitchFamily="34" charset="-122"/>
                <a:cs typeface="Calibri" pitchFamily="34" charset="-120"/>
              </a:rPr>
              <a:t>LIKELIHOOD →</a:t>
            </a:r>
            <a:endParaRPr lang="en-US" sz="850" dirty="0"/>
          </a:p>
        </p:txBody>
      </p:sp>
      <p:sp>
        <p:nvSpPr>
          <p:cNvPr id="62" name="Text 44"/>
          <p:cNvSpPr/>
          <p:nvPr/>
        </p:nvSpPr>
        <p:spPr>
          <a:xfrm rot="16200000">
            <a:off x="4069080" y="2994660"/>
            <a:ext cx="822960" cy="274320"/>
          </a:xfrm>
          <a:prstGeom prst="rect">
            <a:avLst/>
          </a:prstGeom>
          <a:noFill/>
          <a:ln/>
        </p:spPr>
        <p:txBody>
          <a:bodyPr wrap="square" lIns="0" tIns="0" rIns="0" bIns="0" rtlCol="0" anchor="ctr"/>
          <a:lstStyle/>
          <a:p>
            <a:pPr algn="ctr" indent="0" marL="0">
              <a:buNone/>
            </a:pPr>
            <a:r>
              <a:rPr lang="en-US" sz="850" b="1" dirty="0">
                <a:solidFill>
                  <a:srgbClr val="5B6573"/>
                </a:solidFill>
              </a:rPr>
              <a:t>IMPACT →</a:t>
            </a:r>
            <a:endParaRPr lang="en-US" sz="850" dirty="0"/>
          </a:p>
        </p:txBody>
      </p:sp>
      <p:sp>
        <p:nvSpPr>
          <p:cNvPr id="63" name="Shape 45"/>
          <p:cNvSpPr/>
          <p:nvPr/>
        </p:nvSpPr>
        <p:spPr>
          <a:xfrm>
            <a:off x="6263640" y="1876349"/>
            <a:ext cx="365760" cy="365760"/>
          </a:xfrm>
          <a:prstGeom prst="ellipse">
            <a:avLst/>
          </a:prstGeom>
          <a:solidFill>
            <a:srgbClr val="1F4A82"/>
          </a:solidFill>
          <a:ln w="25400">
            <a:solidFill>
              <a:srgbClr val="FFFFFF"/>
            </a:solidFill>
            <a:prstDash val="solid"/>
          </a:ln>
        </p:spPr>
      </p:sp>
      <p:sp>
        <p:nvSpPr>
          <p:cNvPr id="64" name="Text 46"/>
          <p:cNvSpPr txBox="1"/>
          <p:nvPr/>
        </p:nvSpPr>
        <p:spPr>
          <a:xfrm>
            <a:off x="6263640" y="1876349"/>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5" name="Shape 47"/>
          <p:cNvSpPr/>
          <p:nvPr/>
        </p:nvSpPr>
        <p:spPr>
          <a:xfrm>
            <a:off x="6737299" y="2318004"/>
            <a:ext cx="365760" cy="365760"/>
          </a:xfrm>
          <a:prstGeom prst="ellipse">
            <a:avLst/>
          </a:prstGeom>
          <a:solidFill>
            <a:srgbClr val="1F4A82"/>
          </a:solidFill>
          <a:ln w="25400">
            <a:solidFill>
              <a:srgbClr val="FFFFFF"/>
            </a:solidFill>
            <a:prstDash val="solid"/>
          </a:ln>
        </p:spPr>
      </p:sp>
      <p:sp>
        <p:nvSpPr>
          <p:cNvPr id="66" name="Text 48"/>
          <p:cNvSpPr txBox="1"/>
          <p:nvPr/>
        </p:nvSpPr>
        <p:spPr>
          <a:xfrm>
            <a:off x="6737299" y="23180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67" name="Shape 49"/>
          <p:cNvSpPr/>
          <p:nvPr/>
        </p:nvSpPr>
        <p:spPr>
          <a:xfrm>
            <a:off x="7346290" y="3075127"/>
            <a:ext cx="365760" cy="365760"/>
          </a:xfrm>
          <a:prstGeom prst="ellipse">
            <a:avLst/>
          </a:prstGeom>
          <a:solidFill>
            <a:srgbClr val="1F4A82"/>
          </a:solidFill>
          <a:ln w="25400">
            <a:solidFill>
              <a:srgbClr val="FFFFFF"/>
            </a:solidFill>
            <a:prstDash val="solid"/>
          </a:ln>
        </p:spPr>
      </p:sp>
      <p:sp>
        <p:nvSpPr>
          <p:cNvPr id="68" name="Text 50"/>
          <p:cNvSpPr txBox="1"/>
          <p:nvPr/>
        </p:nvSpPr>
        <p:spPr>
          <a:xfrm>
            <a:off x="7346290" y="3075127"/>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9" name="Shape 51"/>
          <p:cNvSpPr/>
          <p:nvPr/>
        </p:nvSpPr>
        <p:spPr>
          <a:xfrm>
            <a:off x="5383987" y="3579876"/>
            <a:ext cx="365760" cy="365760"/>
          </a:xfrm>
          <a:prstGeom prst="ellipse">
            <a:avLst/>
          </a:prstGeom>
          <a:solidFill>
            <a:srgbClr val="2E6DB4"/>
          </a:solidFill>
          <a:ln w="25400">
            <a:solidFill>
              <a:srgbClr val="FFFFFF"/>
            </a:solidFill>
            <a:prstDash val="solid"/>
          </a:ln>
        </p:spPr>
      </p:sp>
      <p:sp>
        <p:nvSpPr>
          <p:cNvPr id="70" name="Text 52"/>
          <p:cNvSpPr txBox="1"/>
          <p:nvPr/>
        </p:nvSpPr>
        <p:spPr>
          <a:xfrm>
            <a:off x="5383987" y="35798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71" name="Shape 53"/>
          <p:cNvSpPr/>
          <p:nvPr/>
        </p:nvSpPr>
        <p:spPr>
          <a:xfrm>
            <a:off x="8503920" y="1353312"/>
            <a:ext cx="365760" cy="365760"/>
          </a:xfrm>
          <a:prstGeom prst="ellipse">
            <a:avLst/>
          </a:prstGeom>
          <a:solidFill>
            <a:srgbClr val="1F4A82"/>
          </a:solidFill>
          <a:ln/>
        </p:spPr>
      </p:sp>
      <p:sp>
        <p:nvSpPr>
          <p:cNvPr id="72" name="Text 54"/>
          <p:cNvSpPr txBox="1"/>
          <p:nvPr/>
        </p:nvSpPr>
        <p:spPr>
          <a:xfrm>
            <a:off x="8503920" y="135331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3" name="Text 55"/>
          <p:cNvSpPr txBox="1"/>
          <p:nvPr/>
        </p:nvSpPr>
        <p:spPr>
          <a:xfrm>
            <a:off x="8961120" y="1234440"/>
            <a:ext cx="2834640" cy="68580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Real accuracy is lower</a:t>
            </a:r>
            <a:endParaRPr lang="en-US" sz="1400" dirty="0"/>
          </a:p>
          <a:p>
            <a:pPr algn="l" indent="0" marL="0">
              <a:buNone/>
            </a:pPr>
            <a:r>
              <a:rPr lang="en-US" sz="950" dirty="0">
                <a:solidFill>
                  <a:srgbClr val="5B6573"/>
                </a:solidFill>
                <a:latin typeface="Calibri" pitchFamily="34" charset="0"/>
                <a:ea typeface="Calibri" pitchFamily="34" charset="-122"/>
                <a:cs typeface="Calibri" pitchFamily="34" charset="-120"/>
              </a:rPr>
              <a:t>Fix: Retro-pilot before any sale</a:t>
            </a:r>
            <a:endParaRPr lang="en-US" sz="1400" dirty="0"/>
          </a:p>
        </p:txBody>
      </p:sp>
      <p:sp>
        <p:nvSpPr>
          <p:cNvPr id="74" name="Shape 56"/>
          <p:cNvSpPr/>
          <p:nvPr/>
        </p:nvSpPr>
        <p:spPr>
          <a:xfrm>
            <a:off x="8503920" y="2231136"/>
            <a:ext cx="365760" cy="365760"/>
          </a:xfrm>
          <a:prstGeom prst="ellipse">
            <a:avLst/>
          </a:prstGeom>
          <a:solidFill>
            <a:srgbClr val="1F4A82"/>
          </a:solidFill>
          <a:ln/>
        </p:spPr>
      </p:sp>
      <p:sp>
        <p:nvSpPr>
          <p:cNvPr id="75" name="Text 57"/>
          <p:cNvSpPr txBox="1"/>
          <p:nvPr/>
        </p:nvSpPr>
        <p:spPr>
          <a:xfrm>
            <a:off x="8503920" y="22311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76" name="Text 58"/>
          <p:cNvSpPr txBox="1"/>
          <p:nvPr/>
        </p:nvSpPr>
        <p:spPr>
          <a:xfrm>
            <a:off x="8961120" y="2112264"/>
            <a:ext cx="2834640" cy="68580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Owners won't pay ₹30</a:t>
            </a:r>
            <a:endParaRPr lang="en-US" sz="1400" dirty="0"/>
          </a:p>
          <a:p>
            <a:pPr algn="l" indent="0" marL="0">
              <a:buNone/>
            </a:pPr>
            <a:r>
              <a:rPr lang="en-US" sz="950" dirty="0">
                <a:solidFill>
                  <a:srgbClr val="5B6573"/>
                </a:solidFill>
                <a:latin typeface="Calibri" pitchFamily="34" charset="0"/>
                <a:ea typeface="Calibri" pitchFamily="34" charset="-122"/>
                <a:cs typeface="Calibri" pitchFamily="34" charset="-120"/>
              </a:rPr>
              <a:t>Fix: Price survey; lead with time saved</a:t>
            </a:r>
            <a:endParaRPr lang="en-US" sz="1400" dirty="0"/>
          </a:p>
        </p:txBody>
      </p:sp>
      <p:sp>
        <p:nvSpPr>
          <p:cNvPr id="77" name="Shape 59"/>
          <p:cNvSpPr/>
          <p:nvPr/>
        </p:nvSpPr>
        <p:spPr>
          <a:xfrm>
            <a:off x="8503920" y="3108960"/>
            <a:ext cx="365760" cy="365760"/>
          </a:xfrm>
          <a:prstGeom prst="ellipse">
            <a:avLst/>
          </a:prstGeom>
          <a:solidFill>
            <a:srgbClr val="1F4A82"/>
          </a:solidFill>
          <a:ln/>
        </p:spPr>
      </p:sp>
      <p:sp>
        <p:nvSpPr>
          <p:cNvPr id="78" name="Text 60"/>
          <p:cNvSpPr txBox="1"/>
          <p:nvPr/>
        </p:nvSpPr>
        <p:spPr>
          <a:xfrm>
            <a:off x="8503920" y="31089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79" name="Text 61"/>
          <p:cNvSpPr txBox="1"/>
          <p:nvPr/>
        </p:nvSpPr>
        <p:spPr>
          <a:xfrm>
            <a:off x="8961120" y="2990088"/>
            <a:ext cx="2834640" cy="68580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Mentors ignore the list</a:t>
            </a:r>
            <a:endParaRPr lang="en-US" sz="1400" dirty="0"/>
          </a:p>
          <a:p>
            <a:pPr algn="l" indent="0" marL="0">
              <a:buNone/>
            </a:pPr>
            <a:r>
              <a:rPr lang="en-US" sz="950" dirty="0">
                <a:solidFill>
                  <a:srgbClr val="5B6573"/>
                </a:solidFill>
                <a:latin typeface="Calibri" pitchFamily="34" charset="0"/>
                <a:ea typeface="Calibri" pitchFamily="34" charset="-122"/>
                <a:cs typeface="Calibri" pitchFamily="34" charset="-120"/>
              </a:rPr>
              <a:t>Fix: Cap the list; log every outcome</a:t>
            </a:r>
            <a:endParaRPr lang="en-US" sz="1400" dirty="0"/>
          </a:p>
        </p:txBody>
      </p:sp>
      <p:sp>
        <p:nvSpPr>
          <p:cNvPr id="80" name="Shape 62"/>
          <p:cNvSpPr/>
          <p:nvPr/>
        </p:nvSpPr>
        <p:spPr>
          <a:xfrm>
            <a:off x="8503920" y="3986784"/>
            <a:ext cx="365760" cy="365760"/>
          </a:xfrm>
          <a:prstGeom prst="ellipse">
            <a:avLst/>
          </a:prstGeom>
          <a:solidFill>
            <a:srgbClr val="2E6DB4"/>
          </a:solidFill>
          <a:ln/>
        </p:spPr>
      </p:sp>
      <p:sp>
        <p:nvSpPr>
          <p:cNvPr id="81" name="Text 63"/>
          <p:cNvSpPr txBox="1"/>
          <p:nvPr/>
        </p:nvSpPr>
        <p:spPr>
          <a:xfrm>
            <a:off x="8503920" y="39867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82" name="Text 64"/>
          <p:cNvSpPr txBox="1"/>
          <p:nvPr/>
        </p:nvSpPr>
        <p:spPr>
          <a:xfrm>
            <a:off x="8961120" y="3867912"/>
            <a:ext cx="2834640" cy="68580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Hindi quality falls short</a:t>
            </a:r>
            <a:endParaRPr lang="en-US" sz="1400" dirty="0"/>
          </a:p>
          <a:p>
            <a:pPr algn="l" indent="0" marL="0">
              <a:buNone/>
            </a:pPr>
            <a:r>
              <a:rPr lang="en-US" sz="950" dirty="0">
                <a:solidFill>
                  <a:srgbClr val="5B6573"/>
                </a:solidFill>
                <a:latin typeface="Calibri" pitchFamily="34" charset="0"/>
                <a:ea typeface="Calibri" pitchFamily="34" charset="-122"/>
                <a:cs typeface="Calibri" pitchFamily="34" charset="-120"/>
              </a:rPr>
              <a:t>Fix: Native review; template fallback</a:t>
            </a:r>
            <a:endParaRPr lang="en-US" sz="1400" dirty="0"/>
          </a:p>
        </p:txBody>
      </p:sp>
      <p:sp>
        <p:nvSpPr>
          <p:cNvPr id="83" name="Shape 65"/>
          <p:cNvSpPr/>
          <p:nvPr/>
        </p:nvSpPr>
        <p:spPr>
          <a:xfrm>
            <a:off x="411480" y="5166360"/>
            <a:ext cx="11368735" cy="1188720"/>
          </a:xfrm>
          <a:prstGeom prst="rect">
            <a:avLst/>
          </a:prstGeom>
          <a:solidFill>
            <a:srgbClr val="1F4A82"/>
          </a:solidFill>
          <a:ln/>
        </p:spPr>
      </p:sp>
      <p:sp>
        <p:nvSpPr>
          <p:cNvPr id="84" name="Text 66"/>
          <p:cNvSpPr txBox="1"/>
          <p:nvPr/>
        </p:nvSpPr>
        <p:spPr>
          <a:xfrm>
            <a:off x="640080" y="5230368"/>
            <a:ext cx="2743200" cy="274320"/>
          </a:xfrm>
          <a:prstGeom prst="rect">
            <a:avLst/>
          </a:prstGeom>
          <a:noFill/>
          <a:ln/>
        </p:spPr>
        <p:txBody>
          <a:bodyPr wrap="square" lIns="0" tIns="0" rIns="0" bIns="0" rtlCol="0" anchor="t"/>
          <a:lstStyle/>
          <a:p>
            <a:pPr algn="l" indent="0" marL="0">
              <a:buNone/>
            </a:pPr>
            <a:r>
              <a:rPr lang="en-US" sz="1200" b="1" spc="200" kern="0" dirty="0">
                <a:solidFill>
                  <a:srgbClr val="F1D9A0"/>
                </a:solidFill>
                <a:latin typeface="Calibri" pitchFamily="34" charset="0"/>
                <a:ea typeface="Calibri" pitchFamily="34" charset="-122"/>
                <a:cs typeface="Calibri" pitchFamily="34" charset="-120"/>
              </a:rPr>
              <a:t>THE ASK</a:t>
            </a:r>
            <a:endParaRPr lang="en-US" sz="1200" dirty="0"/>
          </a:p>
        </p:txBody>
      </p:sp>
      <p:sp>
        <p:nvSpPr>
          <p:cNvPr id="85" name="Text 67"/>
          <p:cNvSpPr txBox="1"/>
          <p:nvPr/>
        </p:nvSpPr>
        <p:spPr>
          <a:xfrm>
            <a:off x="640080" y="5486400"/>
            <a:ext cx="6583680" cy="45720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Two free retro-pilots in Patna this winter.</a:t>
            </a:r>
            <a:endParaRPr lang="en-US" sz="2400" dirty="0"/>
          </a:p>
        </p:txBody>
      </p:sp>
      <p:sp>
        <p:nvSpPr>
          <p:cNvPr id="86" name="Text 68"/>
          <p:cNvSpPr txBox="1"/>
          <p:nvPr/>
        </p:nvSpPr>
        <p:spPr>
          <a:xfrm>
            <a:off x="640080" y="5943600"/>
            <a:ext cx="6583680" cy="384048"/>
          </a:xfrm>
          <a:prstGeom prst="rect">
            <a:avLst/>
          </a:prstGeom>
          <a:noFill/>
          <a:ln/>
        </p:spPr>
        <p:txBody>
          <a:bodyPr wrap="square" lIns="0" tIns="0" rIns="0" bIns="0" rtlCol="0" anchor="t"/>
          <a:lstStyle/>
          <a:p>
            <a:pPr algn="l" indent="0" marL="0">
              <a:buNone/>
            </a:pPr>
            <a:r>
              <a:rPr lang="en-US" sz="1050" dirty="0">
                <a:solidFill>
                  <a:srgbClr val="C9DBF0"/>
                </a:solidFill>
                <a:latin typeface="Calibri" pitchFamily="34" charset="0"/>
                <a:ea typeface="Calibri" pitchFamily="34" charset="-122"/>
                <a:cs typeface="Calibri" pitchFamily="34" charset="-120"/>
              </a:rPr>
              <a:t>Give us last year's Excel. If we don't flag more of the students who left than your attendance rule, at the same workload, we stop.</a:t>
            </a:r>
            <a:endParaRPr lang="en-US" sz="1050" dirty="0"/>
          </a:p>
        </p:txBody>
      </p:sp>
      <p:sp>
        <p:nvSpPr>
          <p:cNvPr id="87" name="Shape 69"/>
          <p:cNvSpPr/>
          <p:nvPr/>
        </p:nvSpPr>
        <p:spPr>
          <a:xfrm>
            <a:off x="7360920" y="5349240"/>
            <a:ext cx="1371600" cy="914400"/>
          </a:xfrm>
          <a:prstGeom prst="rect">
            <a:avLst/>
          </a:prstGeom>
          <a:solidFill>
            <a:srgbClr val="1A3F6F"/>
          </a:solidFill>
          <a:ln/>
        </p:spPr>
      </p:sp>
      <p:sp>
        <p:nvSpPr>
          <p:cNvPr id="88" name="Text 70"/>
          <p:cNvSpPr txBox="1"/>
          <p:nvPr/>
        </p:nvSpPr>
        <p:spPr>
          <a:xfrm>
            <a:off x="7360920" y="5394960"/>
            <a:ext cx="137160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₹45 L</a:t>
            </a:r>
            <a:endParaRPr lang="en-US" sz="1800" dirty="0"/>
          </a:p>
        </p:txBody>
      </p:sp>
      <p:sp>
        <p:nvSpPr>
          <p:cNvPr id="89" name="Text 71"/>
          <p:cNvSpPr txBox="1"/>
          <p:nvPr/>
        </p:nvSpPr>
        <p:spPr>
          <a:xfrm>
            <a:off x="7360920" y="5897880"/>
            <a:ext cx="1371600" cy="320040"/>
          </a:xfrm>
          <a:prstGeom prst="rect">
            <a:avLst/>
          </a:prstGeom>
          <a:noFill/>
          <a:ln/>
        </p:spPr>
        <p:txBody>
          <a:bodyPr wrap="square" lIns="0" tIns="0" rIns="0" bIns="0" rtlCol="0" anchor="t"/>
          <a:lstStyle/>
          <a:p>
            <a:pPr algn="ctr" indent="0" marL="0">
              <a:buNone/>
            </a:pPr>
            <a:r>
              <a:rPr lang="en-US" sz="900" dirty="0">
                <a:solidFill>
                  <a:srgbClr val="C9DBF0"/>
                </a:solidFill>
                <a:latin typeface="Calibri" pitchFamily="34" charset="0"/>
                <a:ea typeface="Calibri" pitchFamily="34" charset="-122"/>
                <a:cs typeface="Calibri" pitchFamily="34" charset="-120"/>
              </a:rPr>
              <a:t>funding, Base plan</a:t>
            </a:r>
            <a:endParaRPr lang="en-US" sz="900" dirty="0"/>
          </a:p>
        </p:txBody>
      </p:sp>
      <p:sp>
        <p:nvSpPr>
          <p:cNvPr id="90" name="Shape 72"/>
          <p:cNvSpPr/>
          <p:nvPr/>
        </p:nvSpPr>
        <p:spPr>
          <a:xfrm>
            <a:off x="8842248" y="5349240"/>
            <a:ext cx="1371600" cy="914400"/>
          </a:xfrm>
          <a:prstGeom prst="rect">
            <a:avLst/>
          </a:prstGeom>
          <a:solidFill>
            <a:srgbClr val="1A3F6F"/>
          </a:solidFill>
          <a:ln/>
        </p:spPr>
      </p:sp>
      <p:sp>
        <p:nvSpPr>
          <p:cNvPr id="91" name="Text 73"/>
          <p:cNvSpPr txBox="1"/>
          <p:nvPr/>
        </p:nvSpPr>
        <p:spPr>
          <a:xfrm>
            <a:off x="8842248" y="5394960"/>
            <a:ext cx="137160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Month 16</a:t>
            </a:r>
            <a:endParaRPr lang="en-US" sz="1800" dirty="0"/>
          </a:p>
        </p:txBody>
      </p:sp>
      <p:sp>
        <p:nvSpPr>
          <p:cNvPr id="92" name="Text 74"/>
          <p:cNvSpPr txBox="1"/>
          <p:nvPr/>
        </p:nvSpPr>
        <p:spPr>
          <a:xfrm>
            <a:off x="8842248" y="5897880"/>
            <a:ext cx="1371600" cy="320040"/>
          </a:xfrm>
          <a:prstGeom prst="rect">
            <a:avLst/>
          </a:prstGeom>
          <a:noFill/>
          <a:ln/>
        </p:spPr>
        <p:txBody>
          <a:bodyPr wrap="square" lIns="0" tIns="0" rIns="0" bIns="0" rtlCol="0" anchor="t"/>
          <a:lstStyle/>
          <a:p>
            <a:pPr algn="ctr" indent="0" marL="0">
              <a:buNone/>
            </a:pPr>
            <a:r>
              <a:rPr lang="en-US" sz="900" dirty="0">
                <a:solidFill>
                  <a:srgbClr val="C9DBF0"/>
                </a:solidFill>
                <a:latin typeface="Calibri" pitchFamily="34" charset="0"/>
                <a:ea typeface="Calibri" pitchFamily="34" charset="-122"/>
                <a:cs typeface="Calibri" pitchFamily="34" charset="-120"/>
              </a:rPr>
              <a:t>break-even</a:t>
            </a:r>
            <a:endParaRPr lang="en-US" sz="900" dirty="0"/>
          </a:p>
        </p:txBody>
      </p:sp>
      <p:sp>
        <p:nvSpPr>
          <p:cNvPr id="93" name="Shape 75"/>
          <p:cNvSpPr/>
          <p:nvPr/>
        </p:nvSpPr>
        <p:spPr>
          <a:xfrm>
            <a:off x="10323576" y="5349240"/>
            <a:ext cx="1371600" cy="914400"/>
          </a:xfrm>
          <a:prstGeom prst="rect">
            <a:avLst/>
          </a:prstGeom>
          <a:solidFill>
            <a:srgbClr val="1A3F6F"/>
          </a:solidFill>
          <a:ln/>
        </p:spPr>
      </p:sp>
      <p:sp>
        <p:nvSpPr>
          <p:cNvPr id="94" name="Text 76"/>
          <p:cNvSpPr txBox="1"/>
          <p:nvPr/>
        </p:nvSpPr>
        <p:spPr>
          <a:xfrm>
            <a:off x="10323576" y="5394960"/>
            <a:ext cx="137160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₹65 L</a:t>
            </a:r>
            <a:endParaRPr lang="en-US" sz="1800" dirty="0"/>
          </a:p>
        </p:txBody>
      </p:sp>
      <p:sp>
        <p:nvSpPr>
          <p:cNvPr id="95" name="Text 77"/>
          <p:cNvSpPr txBox="1"/>
          <p:nvPr/>
        </p:nvSpPr>
        <p:spPr>
          <a:xfrm>
            <a:off x="10323576" y="5897880"/>
            <a:ext cx="1371600" cy="320040"/>
          </a:xfrm>
          <a:prstGeom prst="rect">
            <a:avLst/>
          </a:prstGeom>
          <a:noFill/>
          <a:ln/>
        </p:spPr>
        <p:txBody>
          <a:bodyPr wrap="square" lIns="0" tIns="0" rIns="0" bIns="0" rtlCol="0" anchor="t"/>
          <a:lstStyle/>
          <a:p>
            <a:pPr algn="ctr" indent="0" marL="0">
              <a:buNone/>
            </a:pPr>
            <a:r>
              <a:rPr lang="en-US" sz="900" dirty="0">
                <a:solidFill>
                  <a:srgbClr val="C9DBF0"/>
                </a:solidFill>
                <a:latin typeface="Calibri" pitchFamily="34" charset="0"/>
                <a:ea typeface="Calibri" pitchFamily="34" charset="-122"/>
                <a:cs typeface="Calibri" pitchFamily="34" charset="-120"/>
              </a:rPr>
              <a:t>year-3 revenue</a:t>
            </a:r>
            <a:endParaRPr lang="en-US" sz="900" dirty="0"/>
          </a:p>
        </p:txBody>
      </p:sp>
      <p:sp>
        <p:nvSpPr>
          <p:cNvPr id="96" name="Text 78"/>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technical/docs/FEASIBILITY_CHECK.md; financial model v1.1 (3-year projection, Base: ₹45 L funding, break-even month 16, year-3 revenue ₹65.3 L, EBITDA ₹11.9 L).</a:t>
            </a:r>
            <a:endParaRPr lang="en-US" sz="85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line-chart">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8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1: SCENARIOS AND SENSITIVITY</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Scenarios and sensitivity: what the model says when inputs move (Mid institute, 400 students)</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70432"/>
            <a:ext cx="256032" cy="256032"/>
          </a:xfrm>
          <a:prstGeom prst="rect">
            <a:avLst/>
          </a:prstGeom>
          <a:solidFill>
            <a:srgbClr val="1F4A82"/>
          </a:solidFill>
          <a:ln/>
        </p:spPr>
      </p:sp>
      <p:sp>
        <p:nvSpPr>
          <p:cNvPr id="27" name="Text 23"/>
          <p:cNvSpPr txBox="1"/>
          <p:nvPr/>
        </p:nvSpPr>
        <p:spPr>
          <a:xfrm>
            <a:off x="411480" y="11704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a:t>
            </a:r>
            <a:endParaRPr lang="en-US" sz="1150" dirty="0"/>
          </a:p>
        </p:txBody>
      </p:sp>
      <p:sp>
        <p:nvSpPr>
          <p:cNvPr id="28" name="Text 24"/>
          <p:cNvSpPr txBox="1"/>
          <p:nvPr/>
        </p:nvSpPr>
        <p:spPr>
          <a:xfrm>
            <a:off x="740664" y="1170432"/>
            <a:ext cx="634593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SCENARIOS (BEAR AND BULL MOVE 13 DRIVERS; STRESS MOVES ALL)</a:t>
            </a:r>
            <a:endParaRPr lang="en-US" sz="1200" dirty="0"/>
          </a:p>
        </p:txBody>
      </p:sp>
      <p:sp>
        <p:nvSpPr>
          <p:cNvPr id="29" name="Shape 25"/>
          <p:cNvSpPr/>
          <p:nvPr/>
        </p:nvSpPr>
        <p:spPr>
          <a:xfrm>
            <a:off x="411480" y="1481328"/>
            <a:ext cx="2331720" cy="256032"/>
          </a:xfrm>
          <a:prstGeom prst="rect">
            <a:avLst/>
          </a:prstGeom>
          <a:solidFill>
            <a:srgbClr val="1F4A82"/>
          </a:solidFill>
          <a:ln/>
        </p:spPr>
      </p:sp>
      <p:sp>
        <p:nvSpPr>
          <p:cNvPr id="30" name="Text 26"/>
          <p:cNvSpPr txBox="1"/>
          <p:nvPr/>
        </p:nvSpPr>
        <p:spPr>
          <a:xfrm>
            <a:off x="457200" y="1481328"/>
            <a:ext cx="2240280" cy="256032"/>
          </a:xfrm>
          <a:prstGeom prst="rect">
            <a:avLst/>
          </a:prstGeom>
          <a:noFill/>
          <a:ln/>
        </p:spPr>
        <p:txBody>
          <a:bodyPr wrap="square" lIns="0" tIns="0" rIns="0" bIns="0" rtlCol="0" anchor="ctr"/>
          <a:lstStyle/>
          <a:p>
            <a:pPr algn="l" indent="0" marL="0">
              <a:buNone/>
            </a:pPr>
            <a:endParaRPr lang="en-US" sz="950" dirty="0"/>
          </a:p>
        </p:txBody>
      </p:sp>
      <p:sp>
        <p:nvSpPr>
          <p:cNvPr id="31" name="Shape 27"/>
          <p:cNvSpPr/>
          <p:nvPr/>
        </p:nvSpPr>
        <p:spPr>
          <a:xfrm>
            <a:off x="2743200" y="1481328"/>
            <a:ext cx="713232" cy="256032"/>
          </a:xfrm>
          <a:prstGeom prst="rect">
            <a:avLst/>
          </a:prstGeom>
          <a:solidFill>
            <a:srgbClr val="5B6573"/>
          </a:solidFill>
          <a:ln/>
        </p:spPr>
      </p:sp>
      <p:sp>
        <p:nvSpPr>
          <p:cNvPr id="32" name="Text 28"/>
          <p:cNvSpPr txBox="1"/>
          <p:nvPr/>
        </p:nvSpPr>
        <p:spPr>
          <a:xfrm>
            <a:off x="2788920" y="1481328"/>
            <a:ext cx="62179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Guide</a:t>
            </a:r>
            <a:endParaRPr lang="en-US" sz="950" dirty="0"/>
          </a:p>
        </p:txBody>
      </p:sp>
      <p:sp>
        <p:nvSpPr>
          <p:cNvPr id="33" name="Shape 29"/>
          <p:cNvSpPr/>
          <p:nvPr/>
        </p:nvSpPr>
        <p:spPr>
          <a:xfrm>
            <a:off x="3456432" y="1481328"/>
            <a:ext cx="685800" cy="256032"/>
          </a:xfrm>
          <a:prstGeom prst="rect">
            <a:avLst/>
          </a:prstGeom>
          <a:solidFill>
            <a:srgbClr val="5B6573"/>
          </a:solidFill>
          <a:ln/>
        </p:spPr>
      </p:sp>
      <p:sp>
        <p:nvSpPr>
          <p:cNvPr id="34" name="Text 30"/>
          <p:cNvSpPr txBox="1"/>
          <p:nvPr/>
        </p:nvSpPr>
        <p:spPr>
          <a:xfrm>
            <a:off x="3502152" y="1481328"/>
            <a:ext cx="59436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Bear</a:t>
            </a:r>
            <a:endParaRPr lang="en-US" sz="950" dirty="0"/>
          </a:p>
        </p:txBody>
      </p:sp>
      <p:sp>
        <p:nvSpPr>
          <p:cNvPr id="35" name="Shape 31"/>
          <p:cNvSpPr/>
          <p:nvPr/>
        </p:nvSpPr>
        <p:spPr>
          <a:xfrm>
            <a:off x="4142232" y="1481328"/>
            <a:ext cx="777240" cy="256032"/>
          </a:xfrm>
          <a:prstGeom prst="rect">
            <a:avLst/>
          </a:prstGeom>
          <a:solidFill>
            <a:srgbClr val="1F4A82"/>
          </a:solidFill>
          <a:ln/>
        </p:spPr>
      </p:sp>
      <p:sp>
        <p:nvSpPr>
          <p:cNvPr id="36" name="Text 32"/>
          <p:cNvSpPr txBox="1"/>
          <p:nvPr/>
        </p:nvSpPr>
        <p:spPr>
          <a:xfrm>
            <a:off x="4187952" y="1481328"/>
            <a:ext cx="6858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Base</a:t>
            </a:r>
            <a:endParaRPr lang="en-US" sz="950" dirty="0"/>
          </a:p>
        </p:txBody>
      </p:sp>
      <p:sp>
        <p:nvSpPr>
          <p:cNvPr id="37" name="Shape 33"/>
          <p:cNvSpPr/>
          <p:nvPr/>
        </p:nvSpPr>
        <p:spPr>
          <a:xfrm>
            <a:off x="4919472" y="1481328"/>
            <a:ext cx="685800" cy="256032"/>
          </a:xfrm>
          <a:prstGeom prst="rect">
            <a:avLst/>
          </a:prstGeom>
          <a:solidFill>
            <a:srgbClr val="5B6573"/>
          </a:solidFill>
          <a:ln/>
        </p:spPr>
      </p:sp>
      <p:sp>
        <p:nvSpPr>
          <p:cNvPr id="38" name="Text 34"/>
          <p:cNvSpPr txBox="1"/>
          <p:nvPr/>
        </p:nvSpPr>
        <p:spPr>
          <a:xfrm>
            <a:off x="4965192" y="1481328"/>
            <a:ext cx="59436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Bull</a:t>
            </a:r>
            <a:endParaRPr lang="en-US" sz="950" dirty="0"/>
          </a:p>
        </p:txBody>
      </p:sp>
      <p:sp>
        <p:nvSpPr>
          <p:cNvPr id="39" name="Shape 35"/>
          <p:cNvSpPr/>
          <p:nvPr/>
        </p:nvSpPr>
        <p:spPr>
          <a:xfrm>
            <a:off x="5605272" y="1481328"/>
            <a:ext cx="731520" cy="256032"/>
          </a:xfrm>
          <a:prstGeom prst="rect">
            <a:avLst/>
          </a:prstGeom>
          <a:solidFill>
            <a:srgbClr val="5B6573"/>
          </a:solidFill>
          <a:ln/>
        </p:spPr>
      </p:sp>
      <p:sp>
        <p:nvSpPr>
          <p:cNvPr id="40" name="Text 36"/>
          <p:cNvSpPr txBox="1"/>
          <p:nvPr/>
        </p:nvSpPr>
        <p:spPr>
          <a:xfrm>
            <a:off x="5650992" y="1481328"/>
            <a:ext cx="64008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Stress</a:t>
            </a:r>
            <a:endParaRPr lang="en-US" sz="950" dirty="0"/>
          </a:p>
        </p:txBody>
      </p:sp>
      <p:sp>
        <p:nvSpPr>
          <p:cNvPr id="41" name="Shape 37"/>
          <p:cNvSpPr/>
          <p:nvPr/>
        </p:nvSpPr>
        <p:spPr>
          <a:xfrm>
            <a:off x="411480" y="1737360"/>
            <a:ext cx="2331720" cy="274320"/>
          </a:xfrm>
          <a:prstGeom prst="rect">
            <a:avLst/>
          </a:prstGeom>
          <a:solidFill>
            <a:srgbClr val="F1F7F3"/>
          </a:solidFill>
          <a:ln/>
        </p:spPr>
      </p:sp>
      <p:sp>
        <p:nvSpPr>
          <p:cNvPr id="42" name="Text 38"/>
          <p:cNvSpPr txBox="1"/>
          <p:nvPr/>
        </p:nvSpPr>
        <p:spPr>
          <a:xfrm>
            <a:off x="457200" y="173736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Dropout reduction</a:t>
            </a:r>
            <a:endParaRPr lang="en-US" sz="950" dirty="0"/>
          </a:p>
        </p:txBody>
      </p:sp>
      <p:sp>
        <p:nvSpPr>
          <p:cNvPr id="43" name="Shape 39"/>
          <p:cNvSpPr/>
          <p:nvPr/>
        </p:nvSpPr>
        <p:spPr>
          <a:xfrm>
            <a:off x="2743200" y="1737360"/>
            <a:ext cx="713232" cy="274320"/>
          </a:xfrm>
          <a:prstGeom prst="rect">
            <a:avLst/>
          </a:prstGeom>
          <a:solidFill>
            <a:srgbClr val="F1F7F3"/>
          </a:solidFill>
          <a:ln/>
        </p:spPr>
      </p:sp>
      <p:sp>
        <p:nvSpPr>
          <p:cNvPr id="44" name="Text 40"/>
          <p:cNvSpPr txBox="1"/>
          <p:nvPr/>
        </p:nvSpPr>
        <p:spPr>
          <a:xfrm>
            <a:off x="2788920" y="173736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25 %</a:t>
            </a:r>
            <a:endParaRPr lang="en-US" sz="950" dirty="0"/>
          </a:p>
        </p:txBody>
      </p:sp>
      <p:sp>
        <p:nvSpPr>
          <p:cNvPr id="45" name="Shape 41"/>
          <p:cNvSpPr/>
          <p:nvPr/>
        </p:nvSpPr>
        <p:spPr>
          <a:xfrm>
            <a:off x="3456432" y="1737360"/>
            <a:ext cx="685800" cy="274320"/>
          </a:xfrm>
          <a:prstGeom prst="rect">
            <a:avLst/>
          </a:prstGeom>
          <a:solidFill>
            <a:srgbClr val="F1F7F3"/>
          </a:solidFill>
          <a:ln/>
        </p:spPr>
      </p:sp>
      <p:sp>
        <p:nvSpPr>
          <p:cNvPr id="46" name="Text 42"/>
          <p:cNvSpPr txBox="1"/>
          <p:nvPr/>
        </p:nvSpPr>
        <p:spPr>
          <a:xfrm>
            <a:off x="3502152" y="173736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1.0 %</a:t>
            </a:r>
            <a:endParaRPr lang="en-US" sz="950" dirty="0"/>
          </a:p>
        </p:txBody>
      </p:sp>
      <p:sp>
        <p:nvSpPr>
          <p:cNvPr id="47" name="Shape 43"/>
          <p:cNvSpPr/>
          <p:nvPr/>
        </p:nvSpPr>
        <p:spPr>
          <a:xfrm>
            <a:off x="4142232" y="1737360"/>
            <a:ext cx="777240" cy="274320"/>
          </a:xfrm>
          <a:prstGeom prst="rect">
            <a:avLst/>
          </a:prstGeom>
          <a:solidFill>
            <a:srgbClr val="D6E4F5"/>
          </a:solidFill>
          <a:ln/>
        </p:spPr>
      </p:sp>
      <p:sp>
        <p:nvSpPr>
          <p:cNvPr id="48" name="Text 44"/>
          <p:cNvSpPr txBox="1"/>
          <p:nvPr/>
        </p:nvSpPr>
        <p:spPr>
          <a:xfrm>
            <a:off x="4187952" y="173736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4.0 %</a:t>
            </a:r>
            <a:endParaRPr lang="en-US" sz="950" dirty="0"/>
          </a:p>
        </p:txBody>
      </p:sp>
      <p:sp>
        <p:nvSpPr>
          <p:cNvPr id="49" name="Shape 45"/>
          <p:cNvSpPr/>
          <p:nvPr/>
        </p:nvSpPr>
        <p:spPr>
          <a:xfrm>
            <a:off x="4919472" y="1737360"/>
            <a:ext cx="685800" cy="274320"/>
          </a:xfrm>
          <a:prstGeom prst="rect">
            <a:avLst/>
          </a:prstGeom>
          <a:solidFill>
            <a:srgbClr val="F1F7F3"/>
          </a:solidFill>
          <a:ln/>
        </p:spPr>
      </p:sp>
      <p:sp>
        <p:nvSpPr>
          <p:cNvPr id="50" name="Text 46"/>
          <p:cNvSpPr txBox="1"/>
          <p:nvPr/>
        </p:nvSpPr>
        <p:spPr>
          <a:xfrm>
            <a:off x="4965192" y="173736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11.3 %</a:t>
            </a:r>
            <a:endParaRPr lang="en-US" sz="950" dirty="0"/>
          </a:p>
        </p:txBody>
      </p:sp>
      <p:sp>
        <p:nvSpPr>
          <p:cNvPr id="51" name="Shape 47"/>
          <p:cNvSpPr/>
          <p:nvPr/>
        </p:nvSpPr>
        <p:spPr>
          <a:xfrm>
            <a:off x="5605272" y="1737360"/>
            <a:ext cx="731520" cy="274320"/>
          </a:xfrm>
          <a:prstGeom prst="rect">
            <a:avLst/>
          </a:prstGeom>
          <a:solidFill>
            <a:srgbClr val="F1F7F3"/>
          </a:solidFill>
          <a:ln/>
        </p:spPr>
      </p:sp>
      <p:sp>
        <p:nvSpPr>
          <p:cNvPr id="52" name="Text 48"/>
          <p:cNvSpPr txBox="1"/>
          <p:nvPr/>
        </p:nvSpPr>
        <p:spPr>
          <a:xfrm>
            <a:off x="5650992" y="173736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0.6 %</a:t>
            </a:r>
            <a:endParaRPr lang="en-US" sz="950" dirty="0"/>
          </a:p>
        </p:txBody>
      </p:sp>
      <p:sp>
        <p:nvSpPr>
          <p:cNvPr id="53" name="Shape 49"/>
          <p:cNvSpPr/>
          <p:nvPr/>
        </p:nvSpPr>
        <p:spPr>
          <a:xfrm>
            <a:off x="411480" y="2011680"/>
            <a:ext cx="5925312" cy="0"/>
          </a:xfrm>
          <a:prstGeom prst="line">
            <a:avLst/>
          </a:prstGeom>
          <a:noFill/>
          <a:ln w="6350">
            <a:solidFill>
              <a:srgbClr val="E3E8E4"/>
            </a:solidFill>
            <a:prstDash val="solid"/>
          </a:ln>
        </p:spPr>
      </p:sp>
      <p:sp>
        <p:nvSpPr>
          <p:cNvPr id="54" name="Shape 50"/>
          <p:cNvSpPr/>
          <p:nvPr/>
        </p:nvSpPr>
        <p:spPr>
          <a:xfrm>
            <a:off x="411480" y="2011680"/>
            <a:ext cx="2331720" cy="274320"/>
          </a:xfrm>
          <a:prstGeom prst="rect">
            <a:avLst/>
          </a:prstGeom>
          <a:solidFill>
            <a:srgbClr val="FFFFFF"/>
          </a:solidFill>
          <a:ln/>
        </p:spPr>
      </p:sp>
      <p:sp>
        <p:nvSpPr>
          <p:cNvPr id="55" name="Text 51"/>
          <p:cNvSpPr txBox="1"/>
          <p:nvPr/>
        </p:nvSpPr>
        <p:spPr>
          <a:xfrm>
            <a:off x="457200" y="201168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Students kept a year</a:t>
            </a:r>
            <a:endParaRPr lang="en-US" sz="950" dirty="0"/>
          </a:p>
        </p:txBody>
      </p:sp>
      <p:sp>
        <p:nvSpPr>
          <p:cNvPr id="56" name="Shape 52"/>
          <p:cNvSpPr/>
          <p:nvPr/>
        </p:nvSpPr>
        <p:spPr>
          <a:xfrm>
            <a:off x="2743200" y="2011680"/>
            <a:ext cx="713232" cy="274320"/>
          </a:xfrm>
          <a:prstGeom prst="rect">
            <a:avLst/>
          </a:prstGeom>
          <a:solidFill>
            <a:srgbClr val="FFFFFF"/>
          </a:solidFill>
          <a:ln/>
        </p:spPr>
      </p:sp>
      <p:sp>
        <p:nvSpPr>
          <p:cNvPr id="57" name="Text 53"/>
          <p:cNvSpPr txBox="1"/>
          <p:nvPr/>
        </p:nvSpPr>
        <p:spPr>
          <a:xfrm>
            <a:off x="2788920" y="201168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12.0</a:t>
            </a:r>
            <a:endParaRPr lang="en-US" sz="950" dirty="0"/>
          </a:p>
        </p:txBody>
      </p:sp>
      <p:sp>
        <p:nvSpPr>
          <p:cNvPr id="58" name="Shape 54"/>
          <p:cNvSpPr/>
          <p:nvPr/>
        </p:nvSpPr>
        <p:spPr>
          <a:xfrm>
            <a:off x="3456432" y="2011680"/>
            <a:ext cx="685800" cy="274320"/>
          </a:xfrm>
          <a:prstGeom prst="rect">
            <a:avLst/>
          </a:prstGeom>
          <a:solidFill>
            <a:srgbClr val="FFFFFF"/>
          </a:solidFill>
          <a:ln/>
        </p:spPr>
      </p:sp>
      <p:sp>
        <p:nvSpPr>
          <p:cNvPr id="59" name="Text 55"/>
          <p:cNvSpPr txBox="1"/>
          <p:nvPr/>
        </p:nvSpPr>
        <p:spPr>
          <a:xfrm>
            <a:off x="3502152" y="201168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0.3</a:t>
            </a:r>
            <a:endParaRPr lang="en-US" sz="950" dirty="0"/>
          </a:p>
        </p:txBody>
      </p:sp>
      <p:sp>
        <p:nvSpPr>
          <p:cNvPr id="60" name="Shape 56"/>
          <p:cNvSpPr/>
          <p:nvPr/>
        </p:nvSpPr>
        <p:spPr>
          <a:xfrm>
            <a:off x="4142232" y="2011680"/>
            <a:ext cx="777240" cy="274320"/>
          </a:xfrm>
          <a:prstGeom prst="rect">
            <a:avLst/>
          </a:prstGeom>
          <a:solidFill>
            <a:srgbClr val="D6E4F5"/>
          </a:solidFill>
          <a:ln/>
        </p:spPr>
      </p:sp>
      <p:sp>
        <p:nvSpPr>
          <p:cNvPr id="61" name="Text 57"/>
          <p:cNvSpPr txBox="1"/>
          <p:nvPr/>
        </p:nvSpPr>
        <p:spPr>
          <a:xfrm>
            <a:off x="4187952" y="201168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1.9</a:t>
            </a:r>
            <a:endParaRPr lang="en-US" sz="950" dirty="0"/>
          </a:p>
        </p:txBody>
      </p:sp>
      <p:sp>
        <p:nvSpPr>
          <p:cNvPr id="62" name="Shape 58"/>
          <p:cNvSpPr/>
          <p:nvPr/>
        </p:nvSpPr>
        <p:spPr>
          <a:xfrm>
            <a:off x="4919472" y="2011680"/>
            <a:ext cx="685800" cy="274320"/>
          </a:xfrm>
          <a:prstGeom prst="rect">
            <a:avLst/>
          </a:prstGeom>
          <a:solidFill>
            <a:srgbClr val="FFFFFF"/>
          </a:solidFill>
          <a:ln/>
        </p:spPr>
      </p:sp>
      <p:sp>
        <p:nvSpPr>
          <p:cNvPr id="63" name="Text 59"/>
          <p:cNvSpPr txBox="1"/>
          <p:nvPr/>
        </p:nvSpPr>
        <p:spPr>
          <a:xfrm>
            <a:off x="4965192" y="201168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8.2</a:t>
            </a:r>
            <a:endParaRPr lang="en-US" sz="950" dirty="0"/>
          </a:p>
        </p:txBody>
      </p:sp>
      <p:sp>
        <p:nvSpPr>
          <p:cNvPr id="64" name="Shape 60"/>
          <p:cNvSpPr/>
          <p:nvPr/>
        </p:nvSpPr>
        <p:spPr>
          <a:xfrm>
            <a:off x="5605272" y="2011680"/>
            <a:ext cx="731520" cy="274320"/>
          </a:xfrm>
          <a:prstGeom prst="rect">
            <a:avLst/>
          </a:prstGeom>
          <a:solidFill>
            <a:srgbClr val="FFFFFF"/>
          </a:solidFill>
          <a:ln/>
        </p:spPr>
      </p:sp>
      <p:sp>
        <p:nvSpPr>
          <p:cNvPr id="65" name="Text 61"/>
          <p:cNvSpPr txBox="1"/>
          <p:nvPr/>
        </p:nvSpPr>
        <p:spPr>
          <a:xfrm>
            <a:off x="5650992" y="201168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0.2</a:t>
            </a:r>
            <a:endParaRPr lang="en-US" sz="950" dirty="0"/>
          </a:p>
        </p:txBody>
      </p:sp>
      <p:sp>
        <p:nvSpPr>
          <p:cNvPr id="66" name="Shape 62"/>
          <p:cNvSpPr/>
          <p:nvPr/>
        </p:nvSpPr>
        <p:spPr>
          <a:xfrm>
            <a:off x="411480" y="2286000"/>
            <a:ext cx="5925312" cy="0"/>
          </a:xfrm>
          <a:prstGeom prst="line">
            <a:avLst/>
          </a:prstGeom>
          <a:noFill/>
          <a:ln w="6350">
            <a:solidFill>
              <a:srgbClr val="E3E8E4"/>
            </a:solidFill>
            <a:prstDash val="solid"/>
          </a:ln>
        </p:spPr>
      </p:sp>
      <p:sp>
        <p:nvSpPr>
          <p:cNvPr id="67" name="Shape 63"/>
          <p:cNvSpPr/>
          <p:nvPr/>
        </p:nvSpPr>
        <p:spPr>
          <a:xfrm>
            <a:off x="411480" y="2286000"/>
            <a:ext cx="2331720" cy="274320"/>
          </a:xfrm>
          <a:prstGeom prst="rect">
            <a:avLst/>
          </a:prstGeom>
          <a:solidFill>
            <a:srgbClr val="F1F7F3"/>
          </a:solidFill>
          <a:ln/>
        </p:spPr>
      </p:sp>
      <p:sp>
        <p:nvSpPr>
          <p:cNvPr id="68" name="Text 64"/>
          <p:cNvSpPr txBox="1"/>
          <p:nvPr/>
        </p:nvSpPr>
        <p:spPr>
          <a:xfrm>
            <a:off x="457200" y="228600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Return, all benefits</a:t>
            </a:r>
            <a:endParaRPr lang="en-US" sz="950" dirty="0"/>
          </a:p>
        </p:txBody>
      </p:sp>
      <p:sp>
        <p:nvSpPr>
          <p:cNvPr id="69" name="Shape 65"/>
          <p:cNvSpPr/>
          <p:nvPr/>
        </p:nvSpPr>
        <p:spPr>
          <a:xfrm>
            <a:off x="2743200" y="2286000"/>
            <a:ext cx="713232" cy="274320"/>
          </a:xfrm>
          <a:prstGeom prst="rect">
            <a:avLst/>
          </a:prstGeom>
          <a:solidFill>
            <a:srgbClr val="F1F7F3"/>
          </a:solidFill>
          <a:ln/>
        </p:spPr>
      </p:sp>
      <p:sp>
        <p:nvSpPr>
          <p:cNvPr id="70" name="Text 66"/>
          <p:cNvSpPr txBox="1"/>
          <p:nvPr/>
        </p:nvSpPr>
        <p:spPr>
          <a:xfrm>
            <a:off x="2788920" y="228600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2.25x</a:t>
            </a:r>
            <a:endParaRPr lang="en-US" sz="950" dirty="0"/>
          </a:p>
        </p:txBody>
      </p:sp>
      <p:sp>
        <p:nvSpPr>
          <p:cNvPr id="71" name="Shape 67"/>
          <p:cNvSpPr/>
          <p:nvPr/>
        </p:nvSpPr>
        <p:spPr>
          <a:xfrm>
            <a:off x="3456432" y="2286000"/>
            <a:ext cx="685800" cy="274320"/>
          </a:xfrm>
          <a:prstGeom prst="rect">
            <a:avLst/>
          </a:prstGeom>
          <a:solidFill>
            <a:srgbClr val="F1F7F3"/>
          </a:solidFill>
          <a:ln/>
        </p:spPr>
      </p:sp>
      <p:sp>
        <p:nvSpPr>
          <p:cNvPr id="72" name="Text 68"/>
          <p:cNvSpPr txBox="1"/>
          <p:nvPr/>
        </p:nvSpPr>
        <p:spPr>
          <a:xfrm>
            <a:off x="3502152" y="228600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0.37x</a:t>
            </a:r>
            <a:endParaRPr lang="en-US" sz="950" dirty="0"/>
          </a:p>
        </p:txBody>
      </p:sp>
      <p:sp>
        <p:nvSpPr>
          <p:cNvPr id="73" name="Shape 69"/>
          <p:cNvSpPr/>
          <p:nvPr/>
        </p:nvSpPr>
        <p:spPr>
          <a:xfrm>
            <a:off x="4142232" y="2286000"/>
            <a:ext cx="777240" cy="274320"/>
          </a:xfrm>
          <a:prstGeom prst="rect">
            <a:avLst/>
          </a:prstGeom>
          <a:solidFill>
            <a:srgbClr val="D6E4F5"/>
          </a:solidFill>
          <a:ln/>
        </p:spPr>
      </p:sp>
      <p:sp>
        <p:nvSpPr>
          <p:cNvPr id="74" name="Text 70"/>
          <p:cNvSpPr txBox="1"/>
          <p:nvPr/>
        </p:nvSpPr>
        <p:spPr>
          <a:xfrm>
            <a:off x="4187952" y="228600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1.7x</a:t>
            </a:r>
            <a:endParaRPr lang="en-US" sz="950" dirty="0"/>
          </a:p>
        </p:txBody>
      </p:sp>
      <p:sp>
        <p:nvSpPr>
          <p:cNvPr id="75" name="Shape 71"/>
          <p:cNvSpPr/>
          <p:nvPr/>
        </p:nvSpPr>
        <p:spPr>
          <a:xfrm>
            <a:off x="4919472" y="2286000"/>
            <a:ext cx="685800" cy="274320"/>
          </a:xfrm>
          <a:prstGeom prst="rect">
            <a:avLst/>
          </a:prstGeom>
          <a:solidFill>
            <a:srgbClr val="F1F7F3"/>
          </a:solidFill>
          <a:ln/>
        </p:spPr>
      </p:sp>
      <p:sp>
        <p:nvSpPr>
          <p:cNvPr id="76" name="Text 72"/>
          <p:cNvSpPr txBox="1"/>
          <p:nvPr/>
        </p:nvSpPr>
        <p:spPr>
          <a:xfrm>
            <a:off x="4965192" y="228600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3.9x</a:t>
            </a:r>
            <a:endParaRPr lang="en-US" sz="950" dirty="0"/>
          </a:p>
        </p:txBody>
      </p:sp>
      <p:sp>
        <p:nvSpPr>
          <p:cNvPr id="77" name="Shape 73"/>
          <p:cNvSpPr/>
          <p:nvPr/>
        </p:nvSpPr>
        <p:spPr>
          <a:xfrm>
            <a:off x="5605272" y="2286000"/>
            <a:ext cx="731520" cy="274320"/>
          </a:xfrm>
          <a:prstGeom prst="rect">
            <a:avLst/>
          </a:prstGeom>
          <a:solidFill>
            <a:srgbClr val="F1F7F3"/>
          </a:solidFill>
          <a:ln/>
        </p:spPr>
      </p:sp>
      <p:sp>
        <p:nvSpPr>
          <p:cNvPr id="78" name="Text 74"/>
          <p:cNvSpPr txBox="1"/>
          <p:nvPr/>
        </p:nvSpPr>
        <p:spPr>
          <a:xfrm>
            <a:off x="5650992" y="228600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0.09x</a:t>
            </a:r>
            <a:endParaRPr lang="en-US" sz="950" dirty="0"/>
          </a:p>
        </p:txBody>
      </p:sp>
      <p:sp>
        <p:nvSpPr>
          <p:cNvPr id="79" name="Shape 75"/>
          <p:cNvSpPr/>
          <p:nvPr/>
        </p:nvSpPr>
        <p:spPr>
          <a:xfrm>
            <a:off x="411480" y="2560320"/>
            <a:ext cx="5925312" cy="0"/>
          </a:xfrm>
          <a:prstGeom prst="line">
            <a:avLst/>
          </a:prstGeom>
          <a:noFill/>
          <a:ln w="6350">
            <a:solidFill>
              <a:srgbClr val="E3E8E4"/>
            </a:solidFill>
            <a:prstDash val="solid"/>
          </a:ln>
        </p:spPr>
      </p:sp>
      <p:sp>
        <p:nvSpPr>
          <p:cNvPr id="80" name="Shape 76"/>
          <p:cNvSpPr/>
          <p:nvPr/>
        </p:nvSpPr>
        <p:spPr>
          <a:xfrm>
            <a:off x="411480" y="2560320"/>
            <a:ext cx="2331720" cy="274320"/>
          </a:xfrm>
          <a:prstGeom prst="rect">
            <a:avLst/>
          </a:prstGeom>
          <a:solidFill>
            <a:srgbClr val="FFFFFF"/>
          </a:solidFill>
          <a:ln/>
        </p:spPr>
      </p:sp>
      <p:sp>
        <p:nvSpPr>
          <p:cNvPr id="81" name="Text 77"/>
          <p:cNvSpPr txBox="1"/>
          <p:nvPr/>
        </p:nvSpPr>
        <p:spPr>
          <a:xfrm>
            <a:off x="457200" y="256032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Return, fees + staff time</a:t>
            </a:r>
            <a:endParaRPr lang="en-US" sz="950" dirty="0"/>
          </a:p>
        </p:txBody>
      </p:sp>
      <p:sp>
        <p:nvSpPr>
          <p:cNvPr id="82" name="Shape 78"/>
          <p:cNvSpPr/>
          <p:nvPr/>
        </p:nvSpPr>
        <p:spPr>
          <a:xfrm>
            <a:off x="2743200" y="2560320"/>
            <a:ext cx="713232" cy="274320"/>
          </a:xfrm>
          <a:prstGeom prst="rect">
            <a:avLst/>
          </a:prstGeom>
          <a:solidFill>
            <a:srgbClr val="FFFFFF"/>
          </a:solidFill>
          <a:ln/>
        </p:spPr>
      </p:sp>
      <p:sp>
        <p:nvSpPr>
          <p:cNvPr id="83" name="Text 79"/>
          <p:cNvSpPr txBox="1"/>
          <p:nvPr/>
        </p:nvSpPr>
        <p:spPr>
          <a:xfrm>
            <a:off x="2788920" y="256032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2.25x</a:t>
            </a:r>
            <a:endParaRPr lang="en-US" sz="950" dirty="0"/>
          </a:p>
        </p:txBody>
      </p:sp>
      <p:sp>
        <p:nvSpPr>
          <p:cNvPr id="84" name="Shape 80"/>
          <p:cNvSpPr/>
          <p:nvPr/>
        </p:nvSpPr>
        <p:spPr>
          <a:xfrm>
            <a:off x="3456432" y="2560320"/>
            <a:ext cx="685800" cy="274320"/>
          </a:xfrm>
          <a:prstGeom prst="rect">
            <a:avLst/>
          </a:prstGeom>
          <a:solidFill>
            <a:srgbClr val="FFFFFF"/>
          </a:solidFill>
          <a:ln/>
        </p:spPr>
      </p:sp>
      <p:sp>
        <p:nvSpPr>
          <p:cNvPr id="85" name="Text 81"/>
          <p:cNvSpPr txBox="1"/>
          <p:nvPr/>
        </p:nvSpPr>
        <p:spPr>
          <a:xfrm>
            <a:off x="3502152" y="256032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0.37x</a:t>
            </a:r>
            <a:endParaRPr lang="en-US" sz="950" dirty="0"/>
          </a:p>
        </p:txBody>
      </p:sp>
      <p:sp>
        <p:nvSpPr>
          <p:cNvPr id="86" name="Shape 82"/>
          <p:cNvSpPr/>
          <p:nvPr/>
        </p:nvSpPr>
        <p:spPr>
          <a:xfrm>
            <a:off x="4142232" y="2560320"/>
            <a:ext cx="777240" cy="274320"/>
          </a:xfrm>
          <a:prstGeom prst="rect">
            <a:avLst/>
          </a:prstGeom>
          <a:solidFill>
            <a:srgbClr val="D6E4F5"/>
          </a:solidFill>
          <a:ln/>
        </p:spPr>
      </p:sp>
      <p:sp>
        <p:nvSpPr>
          <p:cNvPr id="87" name="Text 83"/>
          <p:cNvSpPr txBox="1"/>
          <p:nvPr/>
        </p:nvSpPr>
        <p:spPr>
          <a:xfrm>
            <a:off x="4187952" y="256032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0.55x</a:t>
            </a:r>
            <a:endParaRPr lang="en-US" sz="950" dirty="0"/>
          </a:p>
        </p:txBody>
      </p:sp>
      <p:sp>
        <p:nvSpPr>
          <p:cNvPr id="88" name="Shape 84"/>
          <p:cNvSpPr/>
          <p:nvPr/>
        </p:nvSpPr>
        <p:spPr>
          <a:xfrm>
            <a:off x="4919472" y="2560320"/>
            <a:ext cx="685800" cy="274320"/>
          </a:xfrm>
          <a:prstGeom prst="rect">
            <a:avLst/>
          </a:prstGeom>
          <a:solidFill>
            <a:srgbClr val="FFFFFF"/>
          </a:solidFill>
          <a:ln/>
        </p:spPr>
      </p:sp>
      <p:sp>
        <p:nvSpPr>
          <p:cNvPr id="89" name="Text 85"/>
          <p:cNvSpPr txBox="1"/>
          <p:nvPr/>
        </p:nvSpPr>
        <p:spPr>
          <a:xfrm>
            <a:off x="4965192" y="256032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1.3x</a:t>
            </a:r>
            <a:endParaRPr lang="en-US" sz="950" dirty="0"/>
          </a:p>
        </p:txBody>
      </p:sp>
      <p:sp>
        <p:nvSpPr>
          <p:cNvPr id="90" name="Shape 86"/>
          <p:cNvSpPr/>
          <p:nvPr/>
        </p:nvSpPr>
        <p:spPr>
          <a:xfrm>
            <a:off x="5605272" y="2560320"/>
            <a:ext cx="731520" cy="274320"/>
          </a:xfrm>
          <a:prstGeom prst="rect">
            <a:avLst/>
          </a:prstGeom>
          <a:solidFill>
            <a:srgbClr val="FFFFFF"/>
          </a:solidFill>
          <a:ln/>
        </p:spPr>
      </p:sp>
      <p:sp>
        <p:nvSpPr>
          <p:cNvPr id="91" name="Text 87"/>
          <p:cNvSpPr txBox="1"/>
          <p:nvPr/>
        </p:nvSpPr>
        <p:spPr>
          <a:xfrm>
            <a:off x="5650992" y="256032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0.09x</a:t>
            </a:r>
            <a:endParaRPr lang="en-US" sz="950" dirty="0"/>
          </a:p>
        </p:txBody>
      </p:sp>
      <p:sp>
        <p:nvSpPr>
          <p:cNvPr id="92" name="Shape 88"/>
          <p:cNvSpPr/>
          <p:nvPr/>
        </p:nvSpPr>
        <p:spPr>
          <a:xfrm>
            <a:off x="411480" y="2834640"/>
            <a:ext cx="5925312" cy="0"/>
          </a:xfrm>
          <a:prstGeom prst="line">
            <a:avLst/>
          </a:prstGeom>
          <a:noFill/>
          <a:ln w="6350">
            <a:solidFill>
              <a:srgbClr val="E3E8E4"/>
            </a:solidFill>
            <a:prstDash val="solid"/>
          </a:ln>
        </p:spPr>
      </p:sp>
      <p:sp>
        <p:nvSpPr>
          <p:cNvPr id="93" name="Shape 89"/>
          <p:cNvSpPr/>
          <p:nvPr/>
        </p:nvSpPr>
        <p:spPr>
          <a:xfrm>
            <a:off x="411480" y="2834640"/>
            <a:ext cx="2331720" cy="274320"/>
          </a:xfrm>
          <a:prstGeom prst="rect">
            <a:avLst/>
          </a:prstGeom>
          <a:solidFill>
            <a:srgbClr val="F1F7F3"/>
          </a:solidFill>
          <a:ln/>
        </p:spPr>
      </p:sp>
      <p:sp>
        <p:nvSpPr>
          <p:cNvPr id="94" name="Text 90"/>
          <p:cNvSpPr txBox="1"/>
          <p:nvPr/>
        </p:nvSpPr>
        <p:spPr>
          <a:xfrm>
            <a:off x="457200" y="283464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Students to keep to break even</a:t>
            </a:r>
            <a:endParaRPr lang="en-US" sz="950" dirty="0"/>
          </a:p>
        </p:txBody>
      </p:sp>
      <p:sp>
        <p:nvSpPr>
          <p:cNvPr id="95" name="Shape 91"/>
          <p:cNvSpPr/>
          <p:nvPr/>
        </p:nvSpPr>
        <p:spPr>
          <a:xfrm>
            <a:off x="2743200" y="2834640"/>
            <a:ext cx="713232" cy="274320"/>
          </a:xfrm>
          <a:prstGeom prst="rect">
            <a:avLst/>
          </a:prstGeom>
          <a:solidFill>
            <a:srgbClr val="F1F7F3"/>
          </a:solidFill>
          <a:ln/>
        </p:spPr>
      </p:sp>
      <p:sp>
        <p:nvSpPr>
          <p:cNvPr id="96" name="Text 92"/>
          <p:cNvSpPr txBox="1"/>
          <p:nvPr/>
        </p:nvSpPr>
        <p:spPr>
          <a:xfrm>
            <a:off x="2788920" y="283464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5.3</a:t>
            </a:r>
            <a:endParaRPr lang="en-US" sz="950" dirty="0"/>
          </a:p>
        </p:txBody>
      </p:sp>
      <p:sp>
        <p:nvSpPr>
          <p:cNvPr id="97" name="Shape 93"/>
          <p:cNvSpPr/>
          <p:nvPr/>
        </p:nvSpPr>
        <p:spPr>
          <a:xfrm>
            <a:off x="3456432" y="2834640"/>
            <a:ext cx="685800" cy="274320"/>
          </a:xfrm>
          <a:prstGeom prst="rect">
            <a:avLst/>
          </a:prstGeom>
          <a:solidFill>
            <a:srgbClr val="F1F7F3"/>
          </a:solidFill>
          <a:ln/>
        </p:spPr>
      </p:sp>
      <p:sp>
        <p:nvSpPr>
          <p:cNvPr id="98" name="Text 94"/>
          <p:cNvSpPr txBox="1"/>
          <p:nvPr/>
        </p:nvSpPr>
        <p:spPr>
          <a:xfrm>
            <a:off x="3502152" y="283464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3.8</a:t>
            </a:r>
            <a:endParaRPr lang="en-US" sz="950" dirty="0"/>
          </a:p>
        </p:txBody>
      </p:sp>
      <p:sp>
        <p:nvSpPr>
          <p:cNvPr id="99" name="Shape 95"/>
          <p:cNvSpPr/>
          <p:nvPr/>
        </p:nvSpPr>
        <p:spPr>
          <a:xfrm>
            <a:off x="4142232" y="2834640"/>
            <a:ext cx="777240" cy="274320"/>
          </a:xfrm>
          <a:prstGeom prst="rect">
            <a:avLst/>
          </a:prstGeom>
          <a:solidFill>
            <a:srgbClr val="D6E4F5"/>
          </a:solidFill>
          <a:ln/>
        </p:spPr>
      </p:sp>
      <p:sp>
        <p:nvSpPr>
          <p:cNvPr id="100" name="Text 96"/>
          <p:cNvSpPr txBox="1"/>
          <p:nvPr/>
        </p:nvSpPr>
        <p:spPr>
          <a:xfrm>
            <a:off x="4187952" y="283464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5.5</a:t>
            </a:r>
            <a:endParaRPr lang="en-US" sz="950" dirty="0"/>
          </a:p>
        </p:txBody>
      </p:sp>
      <p:sp>
        <p:nvSpPr>
          <p:cNvPr id="101" name="Shape 97"/>
          <p:cNvSpPr/>
          <p:nvPr/>
        </p:nvSpPr>
        <p:spPr>
          <a:xfrm>
            <a:off x="4919472" y="2834640"/>
            <a:ext cx="685800" cy="274320"/>
          </a:xfrm>
          <a:prstGeom prst="rect">
            <a:avLst/>
          </a:prstGeom>
          <a:solidFill>
            <a:srgbClr val="F1F7F3"/>
          </a:solidFill>
          <a:ln/>
        </p:spPr>
      </p:sp>
      <p:sp>
        <p:nvSpPr>
          <p:cNvPr id="102" name="Text 98"/>
          <p:cNvSpPr txBox="1"/>
          <p:nvPr/>
        </p:nvSpPr>
        <p:spPr>
          <a:xfrm>
            <a:off x="4965192" y="283464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7.2</a:t>
            </a:r>
            <a:endParaRPr lang="en-US" sz="950" dirty="0"/>
          </a:p>
        </p:txBody>
      </p:sp>
      <p:sp>
        <p:nvSpPr>
          <p:cNvPr id="103" name="Shape 99"/>
          <p:cNvSpPr/>
          <p:nvPr/>
        </p:nvSpPr>
        <p:spPr>
          <a:xfrm>
            <a:off x="5605272" y="2834640"/>
            <a:ext cx="731520" cy="274320"/>
          </a:xfrm>
          <a:prstGeom prst="rect">
            <a:avLst/>
          </a:prstGeom>
          <a:solidFill>
            <a:srgbClr val="F1F7F3"/>
          </a:solidFill>
          <a:ln/>
        </p:spPr>
      </p:sp>
      <p:sp>
        <p:nvSpPr>
          <p:cNvPr id="104" name="Text 100"/>
          <p:cNvSpPr txBox="1"/>
          <p:nvPr/>
        </p:nvSpPr>
        <p:spPr>
          <a:xfrm>
            <a:off x="5650992" y="283464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11.7</a:t>
            </a:r>
            <a:endParaRPr lang="en-US" sz="950" dirty="0"/>
          </a:p>
        </p:txBody>
      </p:sp>
      <p:sp>
        <p:nvSpPr>
          <p:cNvPr id="105" name="Shape 101"/>
          <p:cNvSpPr/>
          <p:nvPr/>
        </p:nvSpPr>
        <p:spPr>
          <a:xfrm>
            <a:off x="411480" y="3108960"/>
            <a:ext cx="5925312" cy="0"/>
          </a:xfrm>
          <a:prstGeom prst="line">
            <a:avLst/>
          </a:prstGeom>
          <a:noFill/>
          <a:ln w="6350">
            <a:solidFill>
              <a:srgbClr val="E3E8E4"/>
            </a:solidFill>
            <a:prstDash val="solid"/>
          </a:ln>
        </p:spPr>
      </p:sp>
      <p:sp>
        <p:nvSpPr>
          <p:cNvPr id="106" name="Shape 102"/>
          <p:cNvSpPr/>
          <p:nvPr/>
        </p:nvSpPr>
        <p:spPr>
          <a:xfrm>
            <a:off x="411480" y="3108960"/>
            <a:ext cx="2331720" cy="274320"/>
          </a:xfrm>
          <a:prstGeom prst="rect">
            <a:avLst/>
          </a:prstGeom>
          <a:solidFill>
            <a:srgbClr val="FFFFFF"/>
          </a:solidFill>
          <a:ln/>
        </p:spPr>
      </p:sp>
      <p:sp>
        <p:nvSpPr>
          <p:cNvPr id="107" name="Text 103"/>
          <p:cNvSpPr txBox="1"/>
          <p:nvPr/>
        </p:nvSpPr>
        <p:spPr>
          <a:xfrm>
            <a:off x="457200" y="310896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CAC, sales and marketing</a:t>
            </a:r>
            <a:endParaRPr lang="en-US" sz="950" dirty="0"/>
          </a:p>
        </p:txBody>
      </p:sp>
      <p:sp>
        <p:nvSpPr>
          <p:cNvPr id="108" name="Shape 104"/>
          <p:cNvSpPr/>
          <p:nvPr/>
        </p:nvSpPr>
        <p:spPr>
          <a:xfrm>
            <a:off x="2743200" y="3108960"/>
            <a:ext cx="713232" cy="274320"/>
          </a:xfrm>
          <a:prstGeom prst="rect">
            <a:avLst/>
          </a:prstGeom>
          <a:solidFill>
            <a:srgbClr val="FFFFFF"/>
          </a:solidFill>
          <a:ln/>
        </p:spPr>
      </p:sp>
      <p:sp>
        <p:nvSpPr>
          <p:cNvPr id="109" name="Text 105"/>
          <p:cNvSpPr txBox="1"/>
          <p:nvPr/>
        </p:nvSpPr>
        <p:spPr>
          <a:xfrm>
            <a:off x="2788920" y="310896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₹25,000</a:t>
            </a:r>
            <a:endParaRPr lang="en-US" sz="950" dirty="0"/>
          </a:p>
        </p:txBody>
      </p:sp>
      <p:sp>
        <p:nvSpPr>
          <p:cNvPr id="110" name="Shape 106"/>
          <p:cNvSpPr/>
          <p:nvPr/>
        </p:nvSpPr>
        <p:spPr>
          <a:xfrm>
            <a:off x="3456432" y="3108960"/>
            <a:ext cx="685800" cy="274320"/>
          </a:xfrm>
          <a:prstGeom prst="rect">
            <a:avLst/>
          </a:prstGeom>
          <a:solidFill>
            <a:srgbClr val="FFFFFF"/>
          </a:solidFill>
          <a:ln/>
        </p:spPr>
      </p:sp>
      <p:sp>
        <p:nvSpPr>
          <p:cNvPr id="111" name="Text 107"/>
          <p:cNvSpPr txBox="1"/>
          <p:nvPr/>
        </p:nvSpPr>
        <p:spPr>
          <a:xfrm>
            <a:off x="3502152" y="310896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₹44,889</a:t>
            </a:r>
            <a:endParaRPr lang="en-US" sz="950" dirty="0"/>
          </a:p>
        </p:txBody>
      </p:sp>
      <p:sp>
        <p:nvSpPr>
          <p:cNvPr id="112" name="Shape 108"/>
          <p:cNvSpPr/>
          <p:nvPr/>
        </p:nvSpPr>
        <p:spPr>
          <a:xfrm>
            <a:off x="4142232" y="3108960"/>
            <a:ext cx="777240" cy="274320"/>
          </a:xfrm>
          <a:prstGeom prst="rect">
            <a:avLst/>
          </a:prstGeom>
          <a:solidFill>
            <a:srgbClr val="D6E4F5"/>
          </a:solidFill>
          <a:ln/>
        </p:spPr>
      </p:sp>
      <p:sp>
        <p:nvSpPr>
          <p:cNvPr id="113" name="Text 109"/>
          <p:cNvSpPr txBox="1"/>
          <p:nvPr/>
        </p:nvSpPr>
        <p:spPr>
          <a:xfrm>
            <a:off x="4187952" y="310896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₹15,567</a:t>
            </a:r>
            <a:endParaRPr lang="en-US" sz="950" dirty="0"/>
          </a:p>
        </p:txBody>
      </p:sp>
      <p:sp>
        <p:nvSpPr>
          <p:cNvPr id="114" name="Shape 110"/>
          <p:cNvSpPr/>
          <p:nvPr/>
        </p:nvSpPr>
        <p:spPr>
          <a:xfrm>
            <a:off x="4919472" y="3108960"/>
            <a:ext cx="685800" cy="274320"/>
          </a:xfrm>
          <a:prstGeom prst="rect">
            <a:avLst/>
          </a:prstGeom>
          <a:solidFill>
            <a:srgbClr val="FFFFFF"/>
          </a:solidFill>
          <a:ln/>
        </p:spPr>
      </p:sp>
      <p:sp>
        <p:nvSpPr>
          <p:cNvPr id="115" name="Text 111"/>
          <p:cNvSpPr txBox="1"/>
          <p:nvPr/>
        </p:nvSpPr>
        <p:spPr>
          <a:xfrm>
            <a:off x="4965192" y="310896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₹8,386</a:t>
            </a:r>
            <a:endParaRPr lang="en-US" sz="950" dirty="0"/>
          </a:p>
        </p:txBody>
      </p:sp>
      <p:sp>
        <p:nvSpPr>
          <p:cNvPr id="116" name="Shape 112"/>
          <p:cNvSpPr/>
          <p:nvPr/>
        </p:nvSpPr>
        <p:spPr>
          <a:xfrm>
            <a:off x="5605272" y="3108960"/>
            <a:ext cx="731520" cy="274320"/>
          </a:xfrm>
          <a:prstGeom prst="rect">
            <a:avLst/>
          </a:prstGeom>
          <a:solidFill>
            <a:srgbClr val="FFFFFF"/>
          </a:solidFill>
          <a:ln/>
        </p:spPr>
      </p:sp>
      <p:sp>
        <p:nvSpPr>
          <p:cNvPr id="117" name="Text 113"/>
          <p:cNvSpPr txBox="1"/>
          <p:nvPr/>
        </p:nvSpPr>
        <p:spPr>
          <a:xfrm>
            <a:off x="5650992" y="310896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₹65,111</a:t>
            </a:r>
            <a:endParaRPr lang="en-US" sz="950" dirty="0"/>
          </a:p>
        </p:txBody>
      </p:sp>
      <p:sp>
        <p:nvSpPr>
          <p:cNvPr id="118" name="Shape 114"/>
          <p:cNvSpPr/>
          <p:nvPr/>
        </p:nvSpPr>
        <p:spPr>
          <a:xfrm>
            <a:off x="411480" y="3383280"/>
            <a:ext cx="5925312" cy="0"/>
          </a:xfrm>
          <a:prstGeom prst="line">
            <a:avLst/>
          </a:prstGeom>
          <a:noFill/>
          <a:ln w="6350">
            <a:solidFill>
              <a:srgbClr val="E3E8E4"/>
            </a:solidFill>
            <a:prstDash val="solid"/>
          </a:ln>
        </p:spPr>
      </p:sp>
      <p:sp>
        <p:nvSpPr>
          <p:cNvPr id="119" name="Shape 115"/>
          <p:cNvSpPr/>
          <p:nvPr/>
        </p:nvSpPr>
        <p:spPr>
          <a:xfrm>
            <a:off x="411480" y="3383280"/>
            <a:ext cx="2331720" cy="274320"/>
          </a:xfrm>
          <a:prstGeom prst="rect">
            <a:avLst/>
          </a:prstGeom>
          <a:solidFill>
            <a:srgbClr val="F1F7F3"/>
          </a:solidFill>
          <a:ln/>
        </p:spPr>
      </p:sp>
      <p:sp>
        <p:nvSpPr>
          <p:cNvPr id="120" name="Text 116"/>
          <p:cNvSpPr txBox="1"/>
          <p:nvPr/>
        </p:nvSpPr>
        <p:spPr>
          <a:xfrm>
            <a:off x="457200" y="338328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LTV ÷ CAC, discounted</a:t>
            </a:r>
            <a:endParaRPr lang="en-US" sz="950" dirty="0"/>
          </a:p>
        </p:txBody>
      </p:sp>
      <p:sp>
        <p:nvSpPr>
          <p:cNvPr id="121" name="Shape 117"/>
          <p:cNvSpPr/>
          <p:nvPr/>
        </p:nvSpPr>
        <p:spPr>
          <a:xfrm>
            <a:off x="2743200" y="3383280"/>
            <a:ext cx="713232" cy="274320"/>
          </a:xfrm>
          <a:prstGeom prst="rect">
            <a:avLst/>
          </a:prstGeom>
          <a:solidFill>
            <a:srgbClr val="F1F7F3"/>
          </a:solidFill>
          <a:ln/>
        </p:spPr>
      </p:sp>
      <p:sp>
        <p:nvSpPr>
          <p:cNvPr id="122" name="Text 118"/>
          <p:cNvSpPr txBox="1"/>
          <p:nvPr/>
        </p:nvSpPr>
        <p:spPr>
          <a:xfrm>
            <a:off x="2788920" y="338328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10.7x</a:t>
            </a:r>
            <a:endParaRPr lang="en-US" sz="950" dirty="0"/>
          </a:p>
        </p:txBody>
      </p:sp>
      <p:sp>
        <p:nvSpPr>
          <p:cNvPr id="123" name="Shape 119"/>
          <p:cNvSpPr/>
          <p:nvPr/>
        </p:nvSpPr>
        <p:spPr>
          <a:xfrm>
            <a:off x="3456432" y="3383280"/>
            <a:ext cx="685800" cy="274320"/>
          </a:xfrm>
          <a:prstGeom prst="rect">
            <a:avLst/>
          </a:prstGeom>
          <a:solidFill>
            <a:srgbClr val="F1F7F3"/>
          </a:solidFill>
          <a:ln/>
        </p:spPr>
      </p:sp>
      <p:sp>
        <p:nvSpPr>
          <p:cNvPr id="124" name="Text 120"/>
          <p:cNvSpPr txBox="1"/>
          <p:nvPr/>
        </p:nvSpPr>
        <p:spPr>
          <a:xfrm>
            <a:off x="3502152" y="338328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0.75x</a:t>
            </a:r>
            <a:endParaRPr lang="en-US" sz="950" dirty="0"/>
          </a:p>
        </p:txBody>
      </p:sp>
      <p:sp>
        <p:nvSpPr>
          <p:cNvPr id="125" name="Shape 121"/>
          <p:cNvSpPr/>
          <p:nvPr/>
        </p:nvSpPr>
        <p:spPr>
          <a:xfrm>
            <a:off x="4142232" y="3383280"/>
            <a:ext cx="777240" cy="274320"/>
          </a:xfrm>
          <a:prstGeom prst="rect">
            <a:avLst/>
          </a:prstGeom>
          <a:solidFill>
            <a:srgbClr val="D6E4F5"/>
          </a:solidFill>
          <a:ln/>
        </p:spPr>
      </p:sp>
      <p:sp>
        <p:nvSpPr>
          <p:cNvPr id="126" name="Text 122"/>
          <p:cNvSpPr txBox="1"/>
          <p:nvPr/>
        </p:nvSpPr>
        <p:spPr>
          <a:xfrm>
            <a:off x="4187952" y="338328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3.6x</a:t>
            </a:r>
            <a:endParaRPr lang="en-US" sz="950" dirty="0"/>
          </a:p>
        </p:txBody>
      </p:sp>
      <p:sp>
        <p:nvSpPr>
          <p:cNvPr id="127" name="Shape 123"/>
          <p:cNvSpPr/>
          <p:nvPr/>
        </p:nvSpPr>
        <p:spPr>
          <a:xfrm>
            <a:off x="4919472" y="3383280"/>
            <a:ext cx="685800" cy="274320"/>
          </a:xfrm>
          <a:prstGeom prst="rect">
            <a:avLst/>
          </a:prstGeom>
          <a:solidFill>
            <a:srgbClr val="F1F7F3"/>
          </a:solidFill>
          <a:ln/>
        </p:spPr>
      </p:sp>
      <p:sp>
        <p:nvSpPr>
          <p:cNvPr id="128" name="Text 124"/>
          <p:cNvSpPr txBox="1"/>
          <p:nvPr/>
        </p:nvSpPr>
        <p:spPr>
          <a:xfrm>
            <a:off x="4965192" y="338328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10x</a:t>
            </a:r>
            <a:endParaRPr lang="en-US" sz="950" dirty="0"/>
          </a:p>
        </p:txBody>
      </p:sp>
      <p:sp>
        <p:nvSpPr>
          <p:cNvPr id="129" name="Shape 125"/>
          <p:cNvSpPr/>
          <p:nvPr/>
        </p:nvSpPr>
        <p:spPr>
          <a:xfrm>
            <a:off x="5605272" y="3383280"/>
            <a:ext cx="731520" cy="274320"/>
          </a:xfrm>
          <a:prstGeom prst="rect">
            <a:avLst/>
          </a:prstGeom>
          <a:solidFill>
            <a:srgbClr val="F1F7F3"/>
          </a:solidFill>
          <a:ln/>
        </p:spPr>
      </p:sp>
      <p:sp>
        <p:nvSpPr>
          <p:cNvPr id="130" name="Text 126"/>
          <p:cNvSpPr txBox="1"/>
          <p:nvPr/>
        </p:nvSpPr>
        <p:spPr>
          <a:xfrm>
            <a:off x="5650992" y="338328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-0.11x</a:t>
            </a:r>
            <a:endParaRPr lang="en-US" sz="950" dirty="0"/>
          </a:p>
        </p:txBody>
      </p:sp>
      <p:sp>
        <p:nvSpPr>
          <p:cNvPr id="131" name="Shape 127"/>
          <p:cNvSpPr/>
          <p:nvPr/>
        </p:nvSpPr>
        <p:spPr>
          <a:xfrm>
            <a:off x="411480" y="3657600"/>
            <a:ext cx="5925312" cy="0"/>
          </a:xfrm>
          <a:prstGeom prst="line">
            <a:avLst/>
          </a:prstGeom>
          <a:noFill/>
          <a:ln w="6350">
            <a:solidFill>
              <a:srgbClr val="E3E8E4"/>
            </a:solidFill>
            <a:prstDash val="solid"/>
          </a:ln>
        </p:spPr>
      </p:sp>
      <p:sp>
        <p:nvSpPr>
          <p:cNvPr id="132" name="Shape 128"/>
          <p:cNvSpPr/>
          <p:nvPr/>
        </p:nvSpPr>
        <p:spPr>
          <a:xfrm>
            <a:off x="411480" y="3657600"/>
            <a:ext cx="2331720" cy="274320"/>
          </a:xfrm>
          <a:prstGeom prst="rect">
            <a:avLst/>
          </a:prstGeom>
          <a:solidFill>
            <a:srgbClr val="FFFFFF"/>
          </a:solidFill>
          <a:ln/>
        </p:spPr>
      </p:sp>
      <p:sp>
        <p:nvSpPr>
          <p:cNvPr id="133" name="Text 129"/>
          <p:cNvSpPr txBox="1"/>
          <p:nvPr/>
        </p:nvSpPr>
        <p:spPr>
          <a:xfrm>
            <a:off x="457200" y="365760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LTV ÷ CAC, undiscounted</a:t>
            </a:r>
            <a:endParaRPr lang="en-US" sz="950" dirty="0"/>
          </a:p>
        </p:txBody>
      </p:sp>
      <p:sp>
        <p:nvSpPr>
          <p:cNvPr id="134" name="Shape 130"/>
          <p:cNvSpPr/>
          <p:nvPr/>
        </p:nvSpPr>
        <p:spPr>
          <a:xfrm>
            <a:off x="2743200" y="3657600"/>
            <a:ext cx="713232" cy="274320"/>
          </a:xfrm>
          <a:prstGeom prst="rect">
            <a:avLst/>
          </a:prstGeom>
          <a:solidFill>
            <a:srgbClr val="FFFFFF"/>
          </a:solidFill>
          <a:ln/>
        </p:spPr>
      </p:sp>
      <p:sp>
        <p:nvSpPr>
          <p:cNvPr id="135" name="Text 131"/>
          <p:cNvSpPr txBox="1"/>
          <p:nvPr/>
        </p:nvSpPr>
        <p:spPr>
          <a:xfrm>
            <a:off x="2788920" y="365760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10.7x</a:t>
            </a:r>
            <a:endParaRPr lang="en-US" sz="950" dirty="0"/>
          </a:p>
        </p:txBody>
      </p:sp>
      <p:sp>
        <p:nvSpPr>
          <p:cNvPr id="136" name="Shape 132"/>
          <p:cNvSpPr/>
          <p:nvPr/>
        </p:nvSpPr>
        <p:spPr>
          <a:xfrm>
            <a:off x="3456432" y="3657600"/>
            <a:ext cx="685800" cy="274320"/>
          </a:xfrm>
          <a:prstGeom prst="rect">
            <a:avLst/>
          </a:prstGeom>
          <a:solidFill>
            <a:srgbClr val="FFFFFF"/>
          </a:solidFill>
          <a:ln/>
        </p:spPr>
      </p:sp>
      <p:sp>
        <p:nvSpPr>
          <p:cNvPr id="137" name="Text 133"/>
          <p:cNvSpPr txBox="1"/>
          <p:nvPr/>
        </p:nvSpPr>
        <p:spPr>
          <a:xfrm>
            <a:off x="3502152" y="365760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0.93x</a:t>
            </a:r>
            <a:endParaRPr lang="en-US" sz="950" dirty="0"/>
          </a:p>
        </p:txBody>
      </p:sp>
      <p:sp>
        <p:nvSpPr>
          <p:cNvPr id="138" name="Shape 134"/>
          <p:cNvSpPr/>
          <p:nvPr/>
        </p:nvSpPr>
        <p:spPr>
          <a:xfrm>
            <a:off x="4142232" y="3657600"/>
            <a:ext cx="777240" cy="274320"/>
          </a:xfrm>
          <a:prstGeom prst="rect">
            <a:avLst/>
          </a:prstGeom>
          <a:solidFill>
            <a:srgbClr val="D6E4F5"/>
          </a:solidFill>
          <a:ln/>
        </p:spPr>
      </p:sp>
      <p:sp>
        <p:nvSpPr>
          <p:cNvPr id="139" name="Text 135"/>
          <p:cNvSpPr txBox="1"/>
          <p:nvPr/>
        </p:nvSpPr>
        <p:spPr>
          <a:xfrm>
            <a:off x="4187952" y="365760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4.8x</a:t>
            </a:r>
            <a:endParaRPr lang="en-US" sz="950" dirty="0"/>
          </a:p>
        </p:txBody>
      </p:sp>
      <p:sp>
        <p:nvSpPr>
          <p:cNvPr id="140" name="Shape 136"/>
          <p:cNvSpPr/>
          <p:nvPr/>
        </p:nvSpPr>
        <p:spPr>
          <a:xfrm>
            <a:off x="4919472" y="3657600"/>
            <a:ext cx="685800" cy="274320"/>
          </a:xfrm>
          <a:prstGeom prst="rect">
            <a:avLst/>
          </a:prstGeom>
          <a:solidFill>
            <a:srgbClr val="FFFFFF"/>
          </a:solidFill>
          <a:ln/>
        </p:spPr>
      </p:sp>
      <p:sp>
        <p:nvSpPr>
          <p:cNvPr id="141" name="Text 137"/>
          <p:cNvSpPr txBox="1"/>
          <p:nvPr/>
        </p:nvSpPr>
        <p:spPr>
          <a:xfrm>
            <a:off x="4965192" y="365760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15x</a:t>
            </a:r>
            <a:endParaRPr lang="en-US" sz="950" dirty="0"/>
          </a:p>
        </p:txBody>
      </p:sp>
      <p:sp>
        <p:nvSpPr>
          <p:cNvPr id="142" name="Shape 138"/>
          <p:cNvSpPr/>
          <p:nvPr/>
        </p:nvSpPr>
        <p:spPr>
          <a:xfrm>
            <a:off x="5605272" y="3657600"/>
            <a:ext cx="731520" cy="274320"/>
          </a:xfrm>
          <a:prstGeom prst="rect">
            <a:avLst/>
          </a:prstGeom>
          <a:solidFill>
            <a:srgbClr val="FFFFFF"/>
          </a:solidFill>
          <a:ln/>
        </p:spPr>
      </p:sp>
      <p:sp>
        <p:nvSpPr>
          <p:cNvPr id="143" name="Text 139"/>
          <p:cNvSpPr txBox="1"/>
          <p:nvPr/>
        </p:nvSpPr>
        <p:spPr>
          <a:xfrm>
            <a:off x="5650992" y="365760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-0.13x</a:t>
            </a:r>
            <a:endParaRPr lang="en-US" sz="950" dirty="0"/>
          </a:p>
        </p:txBody>
      </p:sp>
      <p:sp>
        <p:nvSpPr>
          <p:cNvPr id="144" name="Shape 140"/>
          <p:cNvSpPr/>
          <p:nvPr/>
        </p:nvSpPr>
        <p:spPr>
          <a:xfrm>
            <a:off x="411480" y="3931920"/>
            <a:ext cx="5925312" cy="0"/>
          </a:xfrm>
          <a:prstGeom prst="line">
            <a:avLst/>
          </a:prstGeom>
          <a:noFill/>
          <a:ln w="6350">
            <a:solidFill>
              <a:srgbClr val="E3E8E4"/>
            </a:solidFill>
            <a:prstDash val="solid"/>
          </a:ln>
        </p:spPr>
      </p:sp>
      <p:sp>
        <p:nvSpPr>
          <p:cNvPr id="145" name="Shape 141"/>
          <p:cNvSpPr/>
          <p:nvPr/>
        </p:nvSpPr>
        <p:spPr>
          <a:xfrm>
            <a:off x="411480" y="3931920"/>
            <a:ext cx="2331720" cy="274320"/>
          </a:xfrm>
          <a:prstGeom prst="rect">
            <a:avLst/>
          </a:prstGeom>
          <a:solidFill>
            <a:srgbClr val="F1F7F3"/>
          </a:solidFill>
          <a:ln/>
        </p:spPr>
      </p:sp>
      <p:sp>
        <p:nvSpPr>
          <p:cNvPr id="146" name="Text 142"/>
          <p:cNvSpPr txBox="1"/>
          <p:nvPr/>
        </p:nvSpPr>
        <p:spPr>
          <a:xfrm>
            <a:off x="457200" y="393192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Payback, simple (months)</a:t>
            </a:r>
            <a:endParaRPr lang="en-US" sz="950" dirty="0"/>
          </a:p>
        </p:txBody>
      </p:sp>
      <p:sp>
        <p:nvSpPr>
          <p:cNvPr id="147" name="Shape 143"/>
          <p:cNvSpPr/>
          <p:nvPr/>
        </p:nvSpPr>
        <p:spPr>
          <a:xfrm>
            <a:off x="2743200" y="3931920"/>
            <a:ext cx="713232" cy="274320"/>
          </a:xfrm>
          <a:prstGeom prst="rect">
            <a:avLst/>
          </a:prstGeom>
          <a:solidFill>
            <a:srgbClr val="F1F7F3"/>
          </a:solidFill>
          <a:ln/>
        </p:spPr>
      </p:sp>
      <p:sp>
        <p:nvSpPr>
          <p:cNvPr id="148" name="Text 144"/>
          <p:cNvSpPr txBox="1"/>
          <p:nvPr/>
        </p:nvSpPr>
        <p:spPr>
          <a:xfrm>
            <a:off x="2788920" y="393192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3.1</a:t>
            </a:r>
            <a:endParaRPr lang="en-US" sz="950" dirty="0"/>
          </a:p>
        </p:txBody>
      </p:sp>
      <p:sp>
        <p:nvSpPr>
          <p:cNvPr id="149" name="Shape 145"/>
          <p:cNvSpPr/>
          <p:nvPr/>
        </p:nvSpPr>
        <p:spPr>
          <a:xfrm>
            <a:off x="3456432" y="3931920"/>
            <a:ext cx="685800" cy="274320"/>
          </a:xfrm>
          <a:prstGeom prst="rect">
            <a:avLst/>
          </a:prstGeom>
          <a:solidFill>
            <a:srgbClr val="F1F7F3"/>
          </a:solidFill>
          <a:ln/>
        </p:spPr>
      </p:sp>
      <p:sp>
        <p:nvSpPr>
          <p:cNvPr id="150" name="Text 146"/>
          <p:cNvSpPr txBox="1"/>
          <p:nvPr/>
        </p:nvSpPr>
        <p:spPr>
          <a:xfrm>
            <a:off x="3502152" y="393192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21.1</a:t>
            </a:r>
            <a:endParaRPr lang="en-US" sz="950" dirty="0"/>
          </a:p>
        </p:txBody>
      </p:sp>
      <p:sp>
        <p:nvSpPr>
          <p:cNvPr id="151" name="Shape 147"/>
          <p:cNvSpPr/>
          <p:nvPr/>
        </p:nvSpPr>
        <p:spPr>
          <a:xfrm>
            <a:off x="4142232" y="3931920"/>
            <a:ext cx="777240" cy="274320"/>
          </a:xfrm>
          <a:prstGeom prst="rect">
            <a:avLst/>
          </a:prstGeom>
          <a:solidFill>
            <a:srgbClr val="D6E4F5"/>
          </a:solidFill>
          <a:ln/>
        </p:spPr>
      </p:sp>
      <p:sp>
        <p:nvSpPr>
          <p:cNvPr id="152" name="Text 148"/>
          <p:cNvSpPr txBox="1"/>
          <p:nvPr/>
        </p:nvSpPr>
        <p:spPr>
          <a:xfrm>
            <a:off x="4187952" y="393192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5.7</a:t>
            </a:r>
            <a:endParaRPr lang="en-US" sz="950" dirty="0"/>
          </a:p>
        </p:txBody>
      </p:sp>
      <p:sp>
        <p:nvSpPr>
          <p:cNvPr id="153" name="Shape 149"/>
          <p:cNvSpPr/>
          <p:nvPr/>
        </p:nvSpPr>
        <p:spPr>
          <a:xfrm>
            <a:off x="4919472" y="3931920"/>
            <a:ext cx="685800" cy="274320"/>
          </a:xfrm>
          <a:prstGeom prst="rect">
            <a:avLst/>
          </a:prstGeom>
          <a:solidFill>
            <a:srgbClr val="F1F7F3"/>
          </a:solidFill>
          <a:ln/>
        </p:spPr>
      </p:sp>
      <p:sp>
        <p:nvSpPr>
          <p:cNvPr id="154" name="Text 150"/>
          <p:cNvSpPr txBox="1"/>
          <p:nvPr/>
        </p:nvSpPr>
        <p:spPr>
          <a:xfrm>
            <a:off x="4965192" y="393192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2.6</a:t>
            </a:r>
            <a:endParaRPr lang="en-US" sz="950" dirty="0"/>
          </a:p>
        </p:txBody>
      </p:sp>
      <p:sp>
        <p:nvSpPr>
          <p:cNvPr id="155" name="Shape 151"/>
          <p:cNvSpPr/>
          <p:nvPr/>
        </p:nvSpPr>
        <p:spPr>
          <a:xfrm>
            <a:off x="5605272" y="3931920"/>
            <a:ext cx="731520" cy="274320"/>
          </a:xfrm>
          <a:prstGeom prst="rect">
            <a:avLst/>
          </a:prstGeom>
          <a:solidFill>
            <a:srgbClr val="F1F7F3"/>
          </a:solidFill>
          <a:ln/>
        </p:spPr>
      </p:sp>
      <p:sp>
        <p:nvSpPr>
          <p:cNvPr id="156" name="Text 152"/>
          <p:cNvSpPr txBox="1"/>
          <p:nvPr/>
        </p:nvSpPr>
        <p:spPr>
          <a:xfrm>
            <a:off x="5650992" y="393192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never</a:t>
            </a:r>
            <a:endParaRPr lang="en-US" sz="950" dirty="0"/>
          </a:p>
        </p:txBody>
      </p:sp>
      <p:sp>
        <p:nvSpPr>
          <p:cNvPr id="157" name="Shape 153"/>
          <p:cNvSpPr/>
          <p:nvPr/>
        </p:nvSpPr>
        <p:spPr>
          <a:xfrm>
            <a:off x="411480" y="4206240"/>
            <a:ext cx="5925312" cy="0"/>
          </a:xfrm>
          <a:prstGeom prst="line">
            <a:avLst/>
          </a:prstGeom>
          <a:noFill/>
          <a:ln w="6350">
            <a:solidFill>
              <a:srgbClr val="E3E8E4"/>
            </a:solidFill>
            <a:prstDash val="solid"/>
          </a:ln>
        </p:spPr>
      </p:sp>
      <p:sp>
        <p:nvSpPr>
          <p:cNvPr id="158" name="Shape 154"/>
          <p:cNvSpPr/>
          <p:nvPr/>
        </p:nvSpPr>
        <p:spPr>
          <a:xfrm>
            <a:off x="411480" y="4370832"/>
            <a:ext cx="256032" cy="256032"/>
          </a:xfrm>
          <a:prstGeom prst="rect">
            <a:avLst/>
          </a:prstGeom>
          <a:solidFill>
            <a:srgbClr val="1F4A82"/>
          </a:solidFill>
          <a:ln/>
        </p:spPr>
      </p:sp>
      <p:sp>
        <p:nvSpPr>
          <p:cNvPr id="159" name="Text 155"/>
          <p:cNvSpPr txBox="1"/>
          <p:nvPr/>
        </p:nvSpPr>
        <p:spPr>
          <a:xfrm>
            <a:off x="411480" y="43708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a:t>
            </a:r>
            <a:endParaRPr lang="en-US" sz="1150" dirty="0"/>
          </a:p>
        </p:txBody>
      </p:sp>
      <p:sp>
        <p:nvSpPr>
          <p:cNvPr id="160" name="Text 156"/>
          <p:cNvSpPr txBox="1"/>
          <p:nvPr/>
        </p:nvSpPr>
        <p:spPr>
          <a:xfrm>
            <a:off x="740664" y="4370832"/>
            <a:ext cx="634593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OWNER'S RETURN BY PRICE AND DROPOUT REDUCTION</a:t>
            </a:r>
            <a:endParaRPr lang="en-US" sz="1200" dirty="0"/>
          </a:p>
        </p:txBody>
      </p:sp>
      <p:sp>
        <p:nvSpPr>
          <p:cNvPr id="161" name="Text 157"/>
          <p:cNvSpPr txBox="1"/>
          <p:nvPr/>
        </p:nvSpPr>
        <p:spPr>
          <a:xfrm>
            <a:off x="868680"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₹20</a:t>
            </a:r>
            <a:endParaRPr lang="en-US" sz="900" dirty="0"/>
          </a:p>
        </p:txBody>
      </p:sp>
      <p:sp>
        <p:nvSpPr>
          <p:cNvPr id="162" name="Text 158"/>
          <p:cNvSpPr txBox="1"/>
          <p:nvPr/>
        </p:nvSpPr>
        <p:spPr>
          <a:xfrm>
            <a:off x="1581912"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₹30</a:t>
            </a:r>
            <a:endParaRPr lang="en-US" sz="900" dirty="0"/>
          </a:p>
        </p:txBody>
      </p:sp>
      <p:sp>
        <p:nvSpPr>
          <p:cNvPr id="163" name="Text 159"/>
          <p:cNvSpPr txBox="1"/>
          <p:nvPr/>
        </p:nvSpPr>
        <p:spPr>
          <a:xfrm>
            <a:off x="2295144"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₹40</a:t>
            </a:r>
            <a:endParaRPr lang="en-US" sz="900" dirty="0"/>
          </a:p>
        </p:txBody>
      </p:sp>
      <p:sp>
        <p:nvSpPr>
          <p:cNvPr id="164" name="Text 160"/>
          <p:cNvSpPr txBox="1"/>
          <p:nvPr/>
        </p:nvSpPr>
        <p:spPr>
          <a:xfrm>
            <a:off x="3008376"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₹50</a:t>
            </a:r>
            <a:endParaRPr lang="en-US" sz="900" dirty="0"/>
          </a:p>
        </p:txBody>
      </p:sp>
      <p:sp>
        <p:nvSpPr>
          <p:cNvPr id="165" name="Text 161"/>
          <p:cNvSpPr txBox="1"/>
          <p:nvPr/>
        </p:nvSpPr>
        <p:spPr>
          <a:xfrm>
            <a:off x="3721608"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₹60</a:t>
            </a:r>
            <a:endParaRPr lang="en-US" sz="900" dirty="0"/>
          </a:p>
        </p:txBody>
      </p:sp>
      <p:sp>
        <p:nvSpPr>
          <p:cNvPr id="166" name="Text 162"/>
          <p:cNvSpPr txBox="1"/>
          <p:nvPr/>
        </p:nvSpPr>
        <p:spPr>
          <a:xfrm>
            <a:off x="4434840"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₹80</a:t>
            </a:r>
            <a:endParaRPr lang="en-US" sz="900" dirty="0"/>
          </a:p>
        </p:txBody>
      </p:sp>
      <p:sp>
        <p:nvSpPr>
          <p:cNvPr id="167" name="Text 163"/>
          <p:cNvSpPr txBox="1"/>
          <p:nvPr/>
        </p:nvSpPr>
        <p:spPr>
          <a:xfrm>
            <a:off x="411480" y="48646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5 %</a:t>
            </a:r>
            <a:endParaRPr lang="en-US" sz="900" dirty="0"/>
          </a:p>
        </p:txBody>
      </p:sp>
      <p:sp>
        <p:nvSpPr>
          <p:cNvPr id="168" name="Shape 164"/>
          <p:cNvSpPr/>
          <p:nvPr/>
        </p:nvSpPr>
        <p:spPr>
          <a:xfrm>
            <a:off x="882396" y="4878324"/>
            <a:ext cx="685800" cy="201168"/>
          </a:xfrm>
          <a:prstGeom prst="rect">
            <a:avLst/>
          </a:prstGeom>
          <a:solidFill>
            <a:srgbClr val="80A7D6"/>
          </a:solidFill>
          <a:ln/>
        </p:spPr>
      </p:sp>
      <p:sp>
        <p:nvSpPr>
          <p:cNvPr id="169" name="Text 165"/>
          <p:cNvSpPr txBox="1"/>
          <p:nvPr/>
        </p:nvSpPr>
        <p:spPr>
          <a:xfrm>
            <a:off x="868680"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2.4x</a:t>
            </a:r>
            <a:endParaRPr lang="en-US" sz="900" dirty="0"/>
          </a:p>
        </p:txBody>
      </p:sp>
      <p:sp>
        <p:nvSpPr>
          <p:cNvPr id="170" name="Shape 166"/>
          <p:cNvSpPr/>
          <p:nvPr/>
        </p:nvSpPr>
        <p:spPr>
          <a:xfrm>
            <a:off x="1595628" y="4878324"/>
            <a:ext cx="685800" cy="201168"/>
          </a:xfrm>
          <a:prstGeom prst="rect">
            <a:avLst/>
          </a:prstGeom>
          <a:solidFill>
            <a:srgbClr val="A9C3E3"/>
          </a:solidFill>
          <a:ln/>
        </p:spPr>
      </p:sp>
      <p:sp>
        <p:nvSpPr>
          <p:cNvPr id="171" name="Text 167"/>
          <p:cNvSpPr txBox="1"/>
          <p:nvPr/>
        </p:nvSpPr>
        <p:spPr>
          <a:xfrm>
            <a:off x="1581912"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1.8x</a:t>
            </a:r>
            <a:endParaRPr lang="en-US" sz="900" dirty="0"/>
          </a:p>
        </p:txBody>
      </p:sp>
      <p:sp>
        <p:nvSpPr>
          <p:cNvPr id="172" name="Shape 168"/>
          <p:cNvSpPr/>
          <p:nvPr/>
        </p:nvSpPr>
        <p:spPr>
          <a:xfrm>
            <a:off x="2308860" y="4878324"/>
            <a:ext cx="685800" cy="201168"/>
          </a:xfrm>
          <a:prstGeom prst="rect">
            <a:avLst/>
          </a:prstGeom>
          <a:solidFill>
            <a:srgbClr val="C4D6EC"/>
          </a:solidFill>
          <a:ln/>
        </p:spPr>
      </p:sp>
      <p:sp>
        <p:nvSpPr>
          <p:cNvPr id="173" name="Text 169"/>
          <p:cNvSpPr txBox="1"/>
          <p:nvPr/>
        </p:nvSpPr>
        <p:spPr>
          <a:xfrm>
            <a:off x="2295144"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1.4x</a:t>
            </a:r>
            <a:endParaRPr lang="en-US" sz="900" dirty="0"/>
          </a:p>
        </p:txBody>
      </p:sp>
      <p:sp>
        <p:nvSpPr>
          <p:cNvPr id="174" name="Shape 170"/>
          <p:cNvSpPr/>
          <p:nvPr/>
        </p:nvSpPr>
        <p:spPr>
          <a:xfrm>
            <a:off x="3022092" y="4878324"/>
            <a:ext cx="685800" cy="201168"/>
          </a:xfrm>
          <a:prstGeom prst="rect">
            <a:avLst/>
          </a:prstGeom>
          <a:solidFill>
            <a:srgbClr val="D2E0F1"/>
          </a:solidFill>
          <a:ln/>
        </p:spPr>
      </p:sp>
      <p:sp>
        <p:nvSpPr>
          <p:cNvPr id="175" name="Text 171"/>
          <p:cNvSpPr txBox="1"/>
          <p:nvPr/>
        </p:nvSpPr>
        <p:spPr>
          <a:xfrm>
            <a:off x="3008376"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1.2x</a:t>
            </a:r>
            <a:endParaRPr lang="en-US" sz="900" dirty="0"/>
          </a:p>
        </p:txBody>
      </p:sp>
      <p:sp>
        <p:nvSpPr>
          <p:cNvPr id="176" name="Shape 172"/>
          <p:cNvSpPr/>
          <p:nvPr/>
        </p:nvSpPr>
        <p:spPr>
          <a:xfrm>
            <a:off x="3735324" y="4878324"/>
            <a:ext cx="685800" cy="201168"/>
          </a:xfrm>
          <a:prstGeom prst="rect">
            <a:avLst/>
          </a:prstGeom>
          <a:solidFill>
            <a:srgbClr val="DFE9F6"/>
          </a:solidFill>
          <a:ln/>
        </p:spPr>
      </p:sp>
      <p:sp>
        <p:nvSpPr>
          <p:cNvPr id="177" name="Text 173"/>
          <p:cNvSpPr txBox="1"/>
          <p:nvPr/>
        </p:nvSpPr>
        <p:spPr>
          <a:xfrm>
            <a:off x="3721608"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1.0x</a:t>
            </a:r>
            <a:endParaRPr lang="en-US" sz="900" dirty="0"/>
          </a:p>
        </p:txBody>
      </p:sp>
      <p:sp>
        <p:nvSpPr>
          <p:cNvPr id="178" name="Shape 174"/>
          <p:cNvSpPr/>
          <p:nvPr/>
        </p:nvSpPr>
        <p:spPr>
          <a:xfrm>
            <a:off x="4448556" y="4878324"/>
            <a:ext cx="685800" cy="201168"/>
          </a:xfrm>
          <a:prstGeom prst="rect">
            <a:avLst/>
          </a:prstGeom>
          <a:solidFill>
            <a:srgbClr val="ECF2FA"/>
          </a:solidFill>
          <a:ln/>
        </p:spPr>
      </p:sp>
      <p:sp>
        <p:nvSpPr>
          <p:cNvPr id="179" name="Text 175"/>
          <p:cNvSpPr txBox="1"/>
          <p:nvPr/>
        </p:nvSpPr>
        <p:spPr>
          <a:xfrm>
            <a:off x="4434840"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0.8x</a:t>
            </a:r>
            <a:endParaRPr lang="en-US" sz="900" dirty="0"/>
          </a:p>
        </p:txBody>
      </p:sp>
      <p:sp>
        <p:nvSpPr>
          <p:cNvPr id="180" name="Text 176"/>
          <p:cNvSpPr txBox="1"/>
          <p:nvPr/>
        </p:nvSpPr>
        <p:spPr>
          <a:xfrm>
            <a:off x="411480" y="50932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8 %</a:t>
            </a:r>
            <a:endParaRPr lang="en-US" sz="900" dirty="0"/>
          </a:p>
        </p:txBody>
      </p:sp>
      <p:sp>
        <p:nvSpPr>
          <p:cNvPr id="181" name="Shape 177"/>
          <p:cNvSpPr/>
          <p:nvPr/>
        </p:nvSpPr>
        <p:spPr>
          <a:xfrm>
            <a:off x="882396" y="5106924"/>
            <a:ext cx="685800" cy="201168"/>
          </a:xfrm>
          <a:prstGeom prst="rect">
            <a:avLst/>
          </a:prstGeom>
          <a:solidFill>
            <a:srgbClr val="6C99CF"/>
          </a:solidFill>
          <a:ln/>
        </p:spPr>
      </p:sp>
      <p:sp>
        <p:nvSpPr>
          <p:cNvPr id="182" name="Text 178"/>
          <p:cNvSpPr txBox="1"/>
          <p:nvPr/>
        </p:nvSpPr>
        <p:spPr>
          <a:xfrm>
            <a:off x="868680" y="50932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2.7x</a:t>
            </a:r>
            <a:endParaRPr lang="en-US" sz="900" dirty="0"/>
          </a:p>
        </p:txBody>
      </p:sp>
      <p:sp>
        <p:nvSpPr>
          <p:cNvPr id="183" name="Shape 179"/>
          <p:cNvSpPr/>
          <p:nvPr/>
        </p:nvSpPr>
        <p:spPr>
          <a:xfrm>
            <a:off x="1595628" y="5106924"/>
            <a:ext cx="685800" cy="201168"/>
          </a:xfrm>
          <a:prstGeom prst="rect">
            <a:avLst/>
          </a:prstGeom>
          <a:solidFill>
            <a:srgbClr val="95B5DC"/>
          </a:solidFill>
          <a:ln/>
        </p:spPr>
      </p:sp>
      <p:sp>
        <p:nvSpPr>
          <p:cNvPr id="184" name="Text 180"/>
          <p:cNvSpPr txBox="1"/>
          <p:nvPr/>
        </p:nvSpPr>
        <p:spPr>
          <a:xfrm>
            <a:off x="1581912" y="50932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2.1x</a:t>
            </a:r>
            <a:endParaRPr lang="en-US" sz="900" dirty="0"/>
          </a:p>
        </p:txBody>
      </p:sp>
      <p:sp>
        <p:nvSpPr>
          <p:cNvPr id="185" name="Shape 181"/>
          <p:cNvSpPr/>
          <p:nvPr/>
        </p:nvSpPr>
        <p:spPr>
          <a:xfrm>
            <a:off x="2308860" y="5106924"/>
            <a:ext cx="685800" cy="201168"/>
          </a:xfrm>
          <a:prstGeom prst="rect">
            <a:avLst/>
          </a:prstGeom>
          <a:solidFill>
            <a:srgbClr val="B0C8E6"/>
          </a:solidFill>
          <a:ln/>
        </p:spPr>
      </p:sp>
      <p:sp>
        <p:nvSpPr>
          <p:cNvPr id="186" name="Text 182"/>
          <p:cNvSpPr txBox="1"/>
          <p:nvPr/>
        </p:nvSpPr>
        <p:spPr>
          <a:xfrm>
            <a:off x="2295144" y="50932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1.7x</a:t>
            </a:r>
            <a:endParaRPr lang="en-US" sz="900" dirty="0"/>
          </a:p>
        </p:txBody>
      </p:sp>
      <p:sp>
        <p:nvSpPr>
          <p:cNvPr id="187" name="Shape 183"/>
          <p:cNvSpPr/>
          <p:nvPr/>
        </p:nvSpPr>
        <p:spPr>
          <a:xfrm>
            <a:off x="3022092" y="5106924"/>
            <a:ext cx="685800" cy="201168"/>
          </a:xfrm>
          <a:prstGeom prst="rect">
            <a:avLst/>
          </a:prstGeom>
          <a:solidFill>
            <a:srgbClr val="C4D6EC"/>
          </a:solidFill>
          <a:ln/>
        </p:spPr>
      </p:sp>
      <p:sp>
        <p:nvSpPr>
          <p:cNvPr id="188" name="Text 184"/>
          <p:cNvSpPr txBox="1"/>
          <p:nvPr/>
        </p:nvSpPr>
        <p:spPr>
          <a:xfrm>
            <a:off x="3008376" y="50932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1.4x</a:t>
            </a:r>
            <a:endParaRPr lang="en-US" sz="900" dirty="0"/>
          </a:p>
        </p:txBody>
      </p:sp>
      <p:sp>
        <p:nvSpPr>
          <p:cNvPr id="189" name="Shape 185"/>
          <p:cNvSpPr/>
          <p:nvPr/>
        </p:nvSpPr>
        <p:spPr>
          <a:xfrm>
            <a:off x="3735324" y="5106924"/>
            <a:ext cx="685800" cy="201168"/>
          </a:xfrm>
          <a:prstGeom prst="rect">
            <a:avLst/>
          </a:prstGeom>
          <a:solidFill>
            <a:srgbClr val="D2E0F1"/>
          </a:solidFill>
          <a:ln/>
        </p:spPr>
      </p:sp>
      <p:sp>
        <p:nvSpPr>
          <p:cNvPr id="190" name="Text 186"/>
          <p:cNvSpPr txBox="1"/>
          <p:nvPr/>
        </p:nvSpPr>
        <p:spPr>
          <a:xfrm>
            <a:off x="3721608" y="50932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1.2x</a:t>
            </a:r>
            <a:endParaRPr lang="en-US" sz="900" dirty="0"/>
          </a:p>
        </p:txBody>
      </p:sp>
      <p:sp>
        <p:nvSpPr>
          <p:cNvPr id="191" name="Shape 187"/>
          <p:cNvSpPr/>
          <p:nvPr/>
        </p:nvSpPr>
        <p:spPr>
          <a:xfrm>
            <a:off x="4448556" y="5106924"/>
            <a:ext cx="685800" cy="201168"/>
          </a:xfrm>
          <a:prstGeom prst="rect">
            <a:avLst/>
          </a:prstGeom>
          <a:solidFill>
            <a:srgbClr val="E5EDF7"/>
          </a:solidFill>
          <a:ln/>
        </p:spPr>
      </p:sp>
      <p:sp>
        <p:nvSpPr>
          <p:cNvPr id="192" name="Text 188"/>
          <p:cNvSpPr txBox="1"/>
          <p:nvPr/>
        </p:nvSpPr>
        <p:spPr>
          <a:xfrm>
            <a:off x="4434840" y="50932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0.9x</a:t>
            </a:r>
            <a:endParaRPr lang="en-US" sz="900" dirty="0"/>
          </a:p>
        </p:txBody>
      </p:sp>
      <p:sp>
        <p:nvSpPr>
          <p:cNvPr id="193" name="Text 189"/>
          <p:cNvSpPr txBox="1"/>
          <p:nvPr/>
        </p:nvSpPr>
        <p:spPr>
          <a:xfrm>
            <a:off x="411480" y="53218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11 %</a:t>
            </a:r>
            <a:endParaRPr lang="en-US" sz="900" dirty="0"/>
          </a:p>
        </p:txBody>
      </p:sp>
      <p:sp>
        <p:nvSpPr>
          <p:cNvPr id="194" name="Shape 190"/>
          <p:cNvSpPr/>
          <p:nvPr/>
        </p:nvSpPr>
        <p:spPr>
          <a:xfrm>
            <a:off x="882396" y="5335524"/>
            <a:ext cx="685800" cy="201168"/>
          </a:xfrm>
          <a:prstGeom prst="rect">
            <a:avLst/>
          </a:prstGeom>
          <a:solidFill>
            <a:srgbClr val="5585C0"/>
          </a:solidFill>
          <a:ln/>
        </p:spPr>
      </p:sp>
      <p:sp>
        <p:nvSpPr>
          <p:cNvPr id="195" name="Text 191"/>
          <p:cNvSpPr txBox="1"/>
          <p:nvPr/>
        </p:nvSpPr>
        <p:spPr>
          <a:xfrm>
            <a:off x="868680" y="53218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3.1x</a:t>
            </a:r>
            <a:endParaRPr lang="en-US" sz="900" dirty="0"/>
          </a:p>
        </p:txBody>
      </p:sp>
      <p:sp>
        <p:nvSpPr>
          <p:cNvPr id="196" name="Shape 192"/>
          <p:cNvSpPr/>
          <p:nvPr/>
        </p:nvSpPr>
        <p:spPr>
          <a:xfrm>
            <a:off x="1595628" y="5335524"/>
            <a:ext cx="685800" cy="201168"/>
          </a:xfrm>
          <a:prstGeom prst="rect">
            <a:avLst/>
          </a:prstGeom>
          <a:solidFill>
            <a:srgbClr val="87ACD8"/>
          </a:solidFill>
          <a:ln/>
        </p:spPr>
      </p:sp>
      <p:sp>
        <p:nvSpPr>
          <p:cNvPr id="197" name="Text 193"/>
          <p:cNvSpPr txBox="1"/>
          <p:nvPr/>
        </p:nvSpPr>
        <p:spPr>
          <a:xfrm>
            <a:off x="1581912" y="53218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2.3x</a:t>
            </a:r>
            <a:endParaRPr lang="en-US" sz="900" dirty="0"/>
          </a:p>
        </p:txBody>
      </p:sp>
      <p:sp>
        <p:nvSpPr>
          <p:cNvPr id="198" name="Shape 194"/>
          <p:cNvSpPr/>
          <p:nvPr/>
        </p:nvSpPr>
        <p:spPr>
          <a:xfrm>
            <a:off x="2308860" y="5335524"/>
            <a:ext cx="685800" cy="201168"/>
          </a:xfrm>
          <a:prstGeom prst="rect">
            <a:avLst/>
          </a:prstGeom>
          <a:solidFill>
            <a:srgbClr val="A2BFE1"/>
          </a:solidFill>
          <a:ln/>
        </p:spPr>
      </p:sp>
      <p:sp>
        <p:nvSpPr>
          <p:cNvPr id="199" name="Text 195"/>
          <p:cNvSpPr txBox="1"/>
          <p:nvPr/>
        </p:nvSpPr>
        <p:spPr>
          <a:xfrm>
            <a:off x="2295144" y="53218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1.9x</a:t>
            </a:r>
            <a:endParaRPr lang="en-US" sz="900" dirty="0"/>
          </a:p>
        </p:txBody>
      </p:sp>
      <p:sp>
        <p:nvSpPr>
          <p:cNvPr id="200" name="Shape 196"/>
          <p:cNvSpPr/>
          <p:nvPr/>
        </p:nvSpPr>
        <p:spPr>
          <a:xfrm>
            <a:off x="3022092" y="5335524"/>
            <a:ext cx="685800" cy="201168"/>
          </a:xfrm>
          <a:prstGeom prst="rect">
            <a:avLst/>
          </a:prstGeom>
          <a:solidFill>
            <a:srgbClr val="B6CDE8"/>
          </a:solidFill>
          <a:ln/>
        </p:spPr>
      </p:sp>
      <p:sp>
        <p:nvSpPr>
          <p:cNvPr id="201" name="Text 197"/>
          <p:cNvSpPr txBox="1"/>
          <p:nvPr/>
        </p:nvSpPr>
        <p:spPr>
          <a:xfrm>
            <a:off x="3008376" y="53218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1.6x</a:t>
            </a:r>
            <a:endParaRPr lang="en-US" sz="900" dirty="0"/>
          </a:p>
        </p:txBody>
      </p:sp>
      <p:sp>
        <p:nvSpPr>
          <p:cNvPr id="202" name="Shape 198"/>
          <p:cNvSpPr/>
          <p:nvPr/>
        </p:nvSpPr>
        <p:spPr>
          <a:xfrm>
            <a:off x="3735324" y="5335524"/>
            <a:ext cx="685800" cy="201168"/>
          </a:xfrm>
          <a:prstGeom prst="rect">
            <a:avLst/>
          </a:prstGeom>
          <a:solidFill>
            <a:srgbClr val="CBDBEF"/>
          </a:solidFill>
          <a:ln/>
        </p:spPr>
      </p:sp>
      <p:sp>
        <p:nvSpPr>
          <p:cNvPr id="203" name="Text 199"/>
          <p:cNvSpPr txBox="1"/>
          <p:nvPr/>
        </p:nvSpPr>
        <p:spPr>
          <a:xfrm>
            <a:off x="3721608" y="53218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1.3x</a:t>
            </a:r>
            <a:endParaRPr lang="en-US" sz="900" dirty="0"/>
          </a:p>
        </p:txBody>
      </p:sp>
      <p:sp>
        <p:nvSpPr>
          <p:cNvPr id="204" name="Shape 200"/>
          <p:cNvSpPr/>
          <p:nvPr/>
        </p:nvSpPr>
        <p:spPr>
          <a:xfrm>
            <a:off x="4448556" y="5335524"/>
            <a:ext cx="685800" cy="201168"/>
          </a:xfrm>
          <a:prstGeom prst="rect">
            <a:avLst/>
          </a:prstGeom>
          <a:solidFill>
            <a:srgbClr val="DFE9F6"/>
          </a:solidFill>
          <a:ln/>
        </p:spPr>
      </p:sp>
      <p:sp>
        <p:nvSpPr>
          <p:cNvPr id="205" name="Text 201"/>
          <p:cNvSpPr txBox="1"/>
          <p:nvPr/>
        </p:nvSpPr>
        <p:spPr>
          <a:xfrm>
            <a:off x="4434840" y="53218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1.0x</a:t>
            </a:r>
            <a:endParaRPr lang="en-US" sz="900" dirty="0"/>
          </a:p>
        </p:txBody>
      </p:sp>
      <p:sp>
        <p:nvSpPr>
          <p:cNvPr id="206" name="Text 202"/>
          <p:cNvSpPr txBox="1"/>
          <p:nvPr/>
        </p:nvSpPr>
        <p:spPr>
          <a:xfrm>
            <a:off x="411480" y="55504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15 %</a:t>
            </a:r>
            <a:endParaRPr lang="en-US" sz="900" dirty="0"/>
          </a:p>
        </p:txBody>
      </p:sp>
      <p:sp>
        <p:nvSpPr>
          <p:cNvPr id="207" name="Shape 203"/>
          <p:cNvSpPr/>
          <p:nvPr/>
        </p:nvSpPr>
        <p:spPr>
          <a:xfrm>
            <a:off x="882396" y="5564124"/>
            <a:ext cx="685800" cy="201168"/>
          </a:xfrm>
          <a:prstGeom prst="rect">
            <a:avLst/>
          </a:prstGeom>
          <a:solidFill>
            <a:srgbClr val="426BA0"/>
          </a:solidFill>
          <a:ln/>
        </p:spPr>
      </p:sp>
      <p:sp>
        <p:nvSpPr>
          <p:cNvPr id="208" name="Text 204"/>
          <p:cNvSpPr txBox="1"/>
          <p:nvPr/>
        </p:nvSpPr>
        <p:spPr>
          <a:xfrm>
            <a:off x="868680" y="55504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3.6x</a:t>
            </a:r>
            <a:endParaRPr lang="en-US" sz="900" dirty="0"/>
          </a:p>
        </p:txBody>
      </p:sp>
      <p:sp>
        <p:nvSpPr>
          <p:cNvPr id="209" name="Shape 205"/>
          <p:cNvSpPr/>
          <p:nvPr/>
        </p:nvSpPr>
        <p:spPr>
          <a:xfrm>
            <a:off x="1595628" y="5564124"/>
            <a:ext cx="685800" cy="201168"/>
          </a:xfrm>
          <a:prstGeom prst="rect">
            <a:avLst/>
          </a:prstGeom>
          <a:solidFill>
            <a:srgbClr val="6C99CF"/>
          </a:solidFill>
          <a:ln/>
        </p:spPr>
      </p:sp>
      <p:sp>
        <p:nvSpPr>
          <p:cNvPr id="210" name="Text 206"/>
          <p:cNvSpPr txBox="1"/>
          <p:nvPr/>
        </p:nvSpPr>
        <p:spPr>
          <a:xfrm>
            <a:off x="1581912" y="55504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2.7x</a:t>
            </a:r>
            <a:endParaRPr lang="en-US" sz="900" dirty="0"/>
          </a:p>
        </p:txBody>
      </p:sp>
      <p:sp>
        <p:nvSpPr>
          <p:cNvPr id="211" name="Shape 207"/>
          <p:cNvSpPr/>
          <p:nvPr/>
        </p:nvSpPr>
        <p:spPr>
          <a:xfrm>
            <a:off x="2308860" y="5564124"/>
            <a:ext cx="685800" cy="201168"/>
          </a:xfrm>
          <a:prstGeom prst="rect">
            <a:avLst/>
          </a:prstGeom>
          <a:solidFill>
            <a:srgbClr val="95B5DC"/>
          </a:solidFill>
          <a:ln/>
        </p:spPr>
      </p:sp>
      <p:sp>
        <p:nvSpPr>
          <p:cNvPr id="212" name="Text 208"/>
          <p:cNvSpPr txBox="1"/>
          <p:nvPr/>
        </p:nvSpPr>
        <p:spPr>
          <a:xfrm>
            <a:off x="2295144" y="55504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2.1x</a:t>
            </a:r>
            <a:endParaRPr lang="en-US" sz="900" dirty="0"/>
          </a:p>
        </p:txBody>
      </p:sp>
      <p:sp>
        <p:nvSpPr>
          <p:cNvPr id="213" name="Shape 209"/>
          <p:cNvSpPr/>
          <p:nvPr/>
        </p:nvSpPr>
        <p:spPr>
          <a:xfrm>
            <a:off x="3022092" y="5564124"/>
            <a:ext cx="685800" cy="201168"/>
          </a:xfrm>
          <a:prstGeom prst="rect">
            <a:avLst/>
          </a:prstGeom>
          <a:solidFill>
            <a:srgbClr val="A9C3E3"/>
          </a:solidFill>
          <a:ln/>
        </p:spPr>
      </p:sp>
      <p:sp>
        <p:nvSpPr>
          <p:cNvPr id="214" name="Text 210"/>
          <p:cNvSpPr txBox="1"/>
          <p:nvPr/>
        </p:nvSpPr>
        <p:spPr>
          <a:xfrm>
            <a:off x="3008376" y="55504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1.8x</a:t>
            </a:r>
            <a:endParaRPr lang="en-US" sz="900" dirty="0"/>
          </a:p>
        </p:txBody>
      </p:sp>
      <p:sp>
        <p:nvSpPr>
          <p:cNvPr id="215" name="Shape 211"/>
          <p:cNvSpPr/>
          <p:nvPr/>
        </p:nvSpPr>
        <p:spPr>
          <a:xfrm>
            <a:off x="3735324" y="5564124"/>
            <a:ext cx="685800" cy="201168"/>
          </a:xfrm>
          <a:prstGeom prst="rect">
            <a:avLst/>
          </a:prstGeom>
          <a:solidFill>
            <a:srgbClr val="BDD1EA"/>
          </a:solidFill>
          <a:ln/>
        </p:spPr>
      </p:sp>
      <p:sp>
        <p:nvSpPr>
          <p:cNvPr id="216" name="Text 212"/>
          <p:cNvSpPr txBox="1"/>
          <p:nvPr/>
        </p:nvSpPr>
        <p:spPr>
          <a:xfrm>
            <a:off x="3721608" y="55504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1.5x</a:t>
            </a:r>
            <a:endParaRPr lang="en-US" sz="900" dirty="0"/>
          </a:p>
        </p:txBody>
      </p:sp>
      <p:sp>
        <p:nvSpPr>
          <p:cNvPr id="217" name="Shape 213"/>
          <p:cNvSpPr/>
          <p:nvPr/>
        </p:nvSpPr>
        <p:spPr>
          <a:xfrm>
            <a:off x="4448556" y="5564124"/>
            <a:ext cx="685800" cy="201168"/>
          </a:xfrm>
          <a:prstGeom prst="rect">
            <a:avLst/>
          </a:prstGeom>
          <a:solidFill>
            <a:srgbClr val="D2E0F1"/>
          </a:solidFill>
          <a:ln/>
        </p:spPr>
      </p:sp>
      <p:sp>
        <p:nvSpPr>
          <p:cNvPr id="218" name="Text 214"/>
          <p:cNvSpPr txBox="1"/>
          <p:nvPr/>
        </p:nvSpPr>
        <p:spPr>
          <a:xfrm>
            <a:off x="4434840" y="55504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1.2x</a:t>
            </a:r>
            <a:endParaRPr lang="en-US" sz="900" dirty="0"/>
          </a:p>
        </p:txBody>
      </p:sp>
      <p:sp>
        <p:nvSpPr>
          <p:cNvPr id="219" name="Text 215"/>
          <p:cNvSpPr txBox="1"/>
          <p:nvPr/>
        </p:nvSpPr>
        <p:spPr>
          <a:xfrm>
            <a:off x="411480" y="57790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20 %</a:t>
            </a:r>
            <a:endParaRPr lang="en-US" sz="900" dirty="0"/>
          </a:p>
        </p:txBody>
      </p:sp>
      <p:sp>
        <p:nvSpPr>
          <p:cNvPr id="220" name="Shape 216"/>
          <p:cNvSpPr/>
          <p:nvPr/>
        </p:nvSpPr>
        <p:spPr>
          <a:xfrm>
            <a:off x="882396" y="5792724"/>
            <a:ext cx="685800" cy="201168"/>
          </a:xfrm>
          <a:prstGeom prst="rect">
            <a:avLst/>
          </a:prstGeom>
          <a:solidFill>
            <a:srgbClr val="2E5181"/>
          </a:solidFill>
          <a:ln/>
        </p:spPr>
      </p:sp>
      <p:sp>
        <p:nvSpPr>
          <p:cNvPr id="221" name="Text 217"/>
          <p:cNvSpPr txBox="1"/>
          <p:nvPr/>
        </p:nvSpPr>
        <p:spPr>
          <a:xfrm>
            <a:off x="868680" y="57790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4.1x</a:t>
            </a:r>
            <a:endParaRPr lang="en-US" sz="900" dirty="0"/>
          </a:p>
        </p:txBody>
      </p:sp>
      <p:sp>
        <p:nvSpPr>
          <p:cNvPr id="222" name="Shape 218"/>
          <p:cNvSpPr/>
          <p:nvPr/>
        </p:nvSpPr>
        <p:spPr>
          <a:xfrm>
            <a:off x="1595628" y="5792724"/>
            <a:ext cx="685800" cy="201168"/>
          </a:xfrm>
          <a:prstGeom prst="rect">
            <a:avLst/>
          </a:prstGeom>
          <a:solidFill>
            <a:srgbClr val="5585C0"/>
          </a:solidFill>
          <a:ln/>
        </p:spPr>
      </p:sp>
      <p:sp>
        <p:nvSpPr>
          <p:cNvPr id="223" name="Text 219"/>
          <p:cNvSpPr txBox="1"/>
          <p:nvPr/>
        </p:nvSpPr>
        <p:spPr>
          <a:xfrm>
            <a:off x="1581912" y="57790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3.1x</a:t>
            </a:r>
            <a:endParaRPr lang="en-US" sz="900" dirty="0"/>
          </a:p>
        </p:txBody>
      </p:sp>
      <p:sp>
        <p:nvSpPr>
          <p:cNvPr id="224" name="Shape 220"/>
          <p:cNvSpPr/>
          <p:nvPr/>
        </p:nvSpPr>
        <p:spPr>
          <a:xfrm>
            <a:off x="2308860" y="5792724"/>
            <a:ext cx="685800" cy="201168"/>
          </a:xfrm>
          <a:prstGeom prst="rect">
            <a:avLst/>
          </a:prstGeom>
          <a:solidFill>
            <a:srgbClr val="79A2D3"/>
          </a:solidFill>
          <a:ln/>
        </p:spPr>
      </p:sp>
      <p:sp>
        <p:nvSpPr>
          <p:cNvPr id="225" name="Text 221"/>
          <p:cNvSpPr txBox="1"/>
          <p:nvPr/>
        </p:nvSpPr>
        <p:spPr>
          <a:xfrm>
            <a:off x="2295144" y="57790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2.5x</a:t>
            </a:r>
            <a:endParaRPr lang="en-US" sz="900" dirty="0"/>
          </a:p>
        </p:txBody>
      </p:sp>
      <p:sp>
        <p:nvSpPr>
          <p:cNvPr id="226" name="Shape 222"/>
          <p:cNvSpPr/>
          <p:nvPr/>
        </p:nvSpPr>
        <p:spPr>
          <a:xfrm>
            <a:off x="3022092" y="5792724"/>
            <a:ext cx="685800" cy="201168"/>
          </a:xfrm>
          <a:prstGeom prst="rect">
            <a:avLst/>
          </a:prstGeom>
          <a:solidFill>
            <a:srgbClr val="95B5DC"/>
          </a:solidFill>
          <a:ln/>
        </p:spPr>
      </p:sp>
      <p:sp>
        <p:nvSpPr>
          <p:cNvPr id="227" name="Text 223"/>
          <p:cNvSpPr txBox="1"/>
          <p:nvPr/>
        </p:nvSpPr>
        <p:spPr>
          <a:xfrm>
            <a:off x="3008376" y="57790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2.1x</a:t>
            </a:r>
            <a:endParaRPr lang="en-US" sz="900" dirty="0"/>
          </a:p>
        </p:txBody>
      </p:sp>
      <p:sp>
        <p:nvSpPr>
          <p:cNvPr id="228" name="Shape 224"/>
          <p:cNvSpPr/>
          <p:nvPr/>
        </p:nvSpPr>
        <p:spPr>
          <a:xfrm>
            <a:off x="3735324" y="5792724"/>
            <a:ext cx="685800" cy="201168"/>
          </a:xfrm>
          <a:prstGeom prst="rect">
            <a:avLst/>
          </a:prstGeom>
          <a:solidFill>
            <a:srgbClr val="A9C3E3"/>
          </a:solidFill>
          <a:ln/>
        </p:spPr>
      </p:sp>
      <p:sp>
        <p:nvSpPr>
          <p:cNvPr id="229" name="Text 225"/>
          <p:cNvSpPr txBox="1"/>
          <p:nvPr/>
        </p:nvSpPr>
        <p:spPr>
          <a:xfrm>
            <a:off x="3721608" y="57790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1.8x</a:t>
            </a:r>
            <a:endParaRPr lang="en-US" sz="900" dirty="0"/>
          </a:p>
        </p:txBody>
      </p:sp>
      <p:sp>
        <p:nvSpPr>
          <p:cNvPr id="230" name="Shape 226"/>
          <p:cNvSpPr/>
          <p:nvPr/>
        </p:nvSpPr>
        <p:spPr>
          <a:xfrm>
            <a:off x="4448556" y="5792724"/>
            <a:ext cx="685800" cy="201168"/>
          </a:xfrm>
          <a:prstGeom prst="rect">
            <a:avLst/>
          </a:prstGeom>
          <a:solidFill>
            <a:srgbClr val="C4D6EC"/>
          </a:solidFill>
          <a:ln/>
        </p:spPr>
      </p:sp>
      <p:sp>
        <p:nvSpPr>
          <p:cNvPr id="231" name="Text 227"/>
          <p:cNvSpPr txBox="1"/>
          <p:nvPr/>
        </p:nvSpPr>
        <p:spPr>
          <a:xfrm>
            <a:off x="4434840" y="57790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1.4x</a:t>
            </a:r>
            <a:endParaRPr lang="en-US" sz="900" dirty="0"/>
          </a:p>
        </p:txBody>
      </p:sp>
      <p:sp>
        <p:nvSpPr>
          <p:cNvPr id="232" name="Text 228"/>
          <p:cNvSpPr txBox="1"/>
          <p:nvPr/>
        </p:nvSpPr>
        <p:spPr>
          <a:xfrm>
            <a:off x="411480" y="60076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25 %</a:t>
            </a:r>
            <a:endParaRPr lang="en-US" sz="900" dirty="0"/>
          </a:p>
        </p:txBody>
      </p:sp>
      <p:sp>
        <p:nvSpPr>
          <p:cNvPr id="233" name="Shape 229"/>
          <p:cNvSpPr/>
          <p:nvPr/>
        </p:nvSpPr>
        <p:spPr>
          <a:xfrm>
            <a:off x="882396" y="6021324"/>
            <a:ext cx="685800" cy="201168"/>
          </a:xfrm>
          <a:prstGeom prst="rect">
            <a:avLst/>
          </a:prstGeom>
          <a:solidFill>
            <a:srgbClr val="17325C"/>
          </a:solidFill>
          <a:ln/>
        </p:spPr>
      </p:sp>
      <p:sp>
        <p:nvSpPr>
          <p:cNvPr id="234" name="Text 230"/>
          <p:cNvSpPr txBox="1"/>
          <p:nvPr/>
        </p:nvSpPr>
        <p:spPr>
          <a:xfrm>
            <a:off x="868680" y="60076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4.7x</a:t>
            </a:r>
            <a:endParaRPr lang="en-US" sz="900" dirty="0"/>
          </a:p>
        </p:txBody>
      </p:sp>
      <p:sp>
        <p:nvSpPr>
          <p:cNvPr id="235" name="Shape 231"/>
          <p:cNvSpPr/>
          <p:nvPr/>
        </p:nvSpPr>
        <p:spPr>
          <a:xfrm>
            <a:off x="1595628" y="6021324"/>
            <a:ext cx="685800" cy="201168"/>
          </a:xfrm>
          <a:prstGeom prst="rect">
            <a:avLst/>
          </a:prstGeom>
          <a:solidFill>
            <a:srgbClr val="426BA0"/>
          </a:solidFill>
          <a:ln/>
        </p:spPr>
      </p:sp>
      <p:sp>
        <p:nvSpPr>
          <p:cNvPr id="236" name="Text 232"/>
          <p:cNvSpPr txBox="1"/>
          <p:nvPr/>
        </p:nvSpPr>
        <p:spPr>
          <a:xfrm>
            <a:off x="1581912" y="60076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3.6x</a:t>
            </a:r>
            <a:endParaRPr lang="en-US" sz="900" dirty="0"/>
          </a:p>
        </p:txBody>
      </p:sp>
      <p:sp>
        <p:nvSpPr>
          <p:cNvPr id="237" name="Shape 233"/>
          <p:cNvSpPr/>
          <p:nvPr/>
        </p:nvSpPr>
        <p:spPr>
          <a:xfrm>
            <a:off x="2308860" y="6021324"/>
            <a:ext cx="685800" cy="201168"/>
          </a:xfrm>
          <a:prstGeom prst="rect">
            <a:avLst/>
          </a:prstGeom>
          <a:solidFill>
            <a:srgbClr val="6594CC"/>
          </a:solidFill>
          <a:ln/>
        </p:spPr>
      </p:sp>
      <p:sp>
        <p:nvSpPr>
          <p:cNvPr id="238" name="Text 234"/>
          <p:cNvSpPr txBox="1"/>
          <p:nvPr/>
        </p:nvSpPr>
        <p:spPr>
          <a:xfrm>
            <a:off x="2295144" y="60076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2.8x</a:t>
            </a:r>
            <a:endParaRPr lang="en-US" sz="900" dirty="0"/>
          </a:p>
        </p:txBody>
      </p:sp>
      <p:sp>
        <p:nvSpPr>
          <p:cNvPr id="239" name="Shape 235"/>
          <p:cNvSpPr/>
          <p:nvPr/>
        </p:nvSpPr>
        <p:spPr>
          <a:xfrm>
            <a:off x="3022092" y="6021324"/>
            <a:ext cx="685800" cy="201168"/>
          </a:xfrm>
          <a:prstGeom prst="rect">
            <a:avLst/>
          </a:prstGeom>
          <a:solidFill>
            <a:srgbClr val="80A7D6"/>
          </a:solidFill>
          <a:ln/>
        </p:spPr>
      </p:sp>
      <p:sp>
        <p:nvSpPr>
          <p:cNvPr id="240" name="Text 236"/>
          <p:cNvSpPr txBox="1"/>
          <p:nvPr/>
        </p:nvSpPr>
        <p:spPr>
          <a:xfrm>
            <a:off x="3008376" y="6007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2.4x</a:t>
            </a:r>
            <a:endParaRPr lang="en-US" sz="900" dirty="0"/>
          </a:p>
        </p:txBody>
      </p:sp>
      <p:sp>
        <p:nvSpPr>
          <p:cNvPr id="241" name="Shape 237"/>
          <p:cNvSpPr/>
          <p:nvPr/>
        </p:nvSpPr>
        <p:spPr>
          <a:xfrm>
            <a:off x="3735324" y="6021324"/>
            <a:ext cx="685800" cy="201168"/>
          </a:xfrm>
          <a:prstGeom prst="rect">
            <a:avLst/>
          </a:prstGeom>
          <a:solidFill>
            <a:srgbClr val="9BBADF"/>
          </a:solidFill>
          <a:ln/>
        </p:spPr>
      </p:sp>
      <p:sp>
        <p:nvSpPr>
          <p:cNvPr id="242" name="Text 238"/>
          <p:cNvSpPr txBox="1"/>
          <p:nvPr/>
        </p:nvSpPr>
        <p:spPr>
          <a:xfrm>
            <a:off x="3721608" y="6007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2.0x</a:t>
            </a:r>
            <a:endParaRPr lang="en-US" sz="900" dirty="0"/>
          </a:p>
        </p:txBody>
      </p:sp>
      <p:sp>
        <p:nvSpPr>
          <p:cNvPr id="243" name="Shape 239"/>
          <p:cNvSpPr/>
          <p:nvPr/>
        </p:nvSpPr>
        <p:spPr>
          <a:xfrm>
            <a:off x="4448556" y="6021324"/>
            <a:ext cx="685800" cy="201168"/>
          </a:xfrm>
          <a:prstGeom prst="rect">
            <a:avLst/>
          </a:prstGeom>
          <a:solidFill>
            <a:srgbClr val="B6CDE8"/>
          </a:solidFill>
          <a:ln/>
        </p:spPr>
      </p:sp>
      <p:sp>
        <p:nvSpPr>
          <p:cNvPr id="244" name="Text 240"/>
          <p:cNvSpPr txBox="1"/>
          <p:nvPr/>
        </p:nvSpPr>
        <p:spPr>
          <a:xfrm>
            <a:off x="4434840" y="6007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1.6x</a:t>
            </a:r>
            <a:endParaRPr lang="en-US" sz="900" dirty="0"/>
          </a:p>
        </p:txBody>
      </p:sp>
      <p:sp>
        <p:nvSpPr>
          <p:cNvPr id="245" name="Shape 241"/>
          <p:cNvSpPr/>
          <p:nvPr/>
        </p:nvSpPr>
        <p:spPr>
          <a:xfrm>
            <a:off x="7315200" y="1170432"/>
            <a:ext cx="256032" cy="256032"/>
          </a:xfrm>
          <a:prstGeom prst="rect">
            <a:avLst/>
          </a:prstGeom>
          <a:solidFill>
            <a:srgbClr val="1F4A82"/>
          </a:solidFill>
          <a:ln/>
        </p:spPr>
      </p:sp>
      <p:sp>
        <p:nvSpPr>
          <p:cNvPr id="246" name="Text 242"/>
          <p:cNvSpPr txBox="1"/>
          <p:nvPr/>
        </p:nvSpPr>
        <p:spPr>
          <a:xfrm>
            <a:off x="7315200" y="11704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endParaRPr lang="en-US" sz="1150" dirty="0"/>
          </a:p>
        </p:txBody>
      </p:sp>
      <p:sp>
        <p:nvSpPr>
          <p:cNvPr id="247" name="Text 243"/>
          <p:cNvSpPr txBox="1"/>
          <p:nvPr/>
        </p:nvSpPr>
        <p:spPr>
          <a:xfrm>
            <a:off x="7644384" y="1170432"/>
            <a:ext cx="413583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WHAT MOVES THE OWNER'S RETURN (BASE 1.7x)</a:t>
            </a:r>
            <a:endParaRPr lang="en-US" sz="1200" dirty="0"/>
          </a:p>
        </p:txBody>
      </p:sp>
      <p:sp>
        <p:nvSpPr>
          <p:cNvPr id="248" name="Text 244"/>
          <p:cNvSpPr txBox="1"/>
          <p:nvPr/>
        </p:nvSpPr>
        <p:spPr>
          <a:xfrm>
            <a:off x="7315200" y="1517904"/>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Admissions uplift 0–3 %</a:t>
            </a:r>
            <a:endParaRPr lang="en-US" sz="900" dirty="0"/>
          </a:p>
        </p:txBody>
      </p:sp>
      <p:sp>
        <p:nvSpPr>
          <p:cNvPr id="249" name="Shape 245"/>
          <p:cNvSpPr/>
          <p:nvPr/>
        </p:nvSpPr>
        <p:spPr>
          <a:xfrm>
            <a:off x="9146919" y="1563624"/>
            <a:ext cx="723419" cy="182880"/>
          </a:xfrm>
          <a:prstGeom prst="rect">
            <a:avLst/>
          </a:prstGeom>
          <a:solidFill>
            <a:srgbClr val="8FB0D8"/>
          </a:solidFill>
          <a:ln/>
        </p:spPr>
      </p:sp>
      <p:sp>
        <p:nvSpPr>
          <p:cNvPr id="250" name="Shape 246"/>
          <p:cNvSpPr/>
          <p:nvPr/>
        </p:nvSpPr>
        <p:spPr>
          <a:xfrm>
            <a:off x="9870338" y="1563624"/>
            <a:ext cx="1509745" cy="182880"/>
          </a:xfrm>
          <a:prstGeom prst="rect">
            <a:avLst/>
          </a:prstGeom>
          <a:solidFill>
            <a:srgbClr val="1F4A82"/>
          </a:solidFill>
          <a:ln/>
        </p:spPr>
      </p:sp>
      <p:sp>
        <p:nvSpPr>
          <p:cNvPr id="251" name="Text 247"/>
          <p:cNvSpPr txBox="1"/>
          <p:nvPr/>
        </p:nvSpPr>
        <p:spPr>
          <a:xfrm>
            <a:off x="8762871" y="1517904"/>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0.55x</a:t>
            </a:r>
            <a:endParaRPr lang="en-US" sz="800" dirty="0"/>
          </a:p>
        </p:txBody>
      </p:sp>
      <p:sp>
        <p:nvSpPr>
          <p:cNvPr id="252" name="Text 248"/>
          <p:cNvSpPr txBox="1"/>
          <p:nvPr/>
        </p:nvSpPr>
        <p:spPr>
          <a:xfrm>
            <a:off x="11407515" y="1517904"/>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4.1x</a:t>
            </a:r>
            <a:endParaRPr lang="en-US" sz="800" dirty="0"/>
          </a:p>
        </p:txBody>
      </p:sp>
      <p:sp>
        <p:nvSpPr>
          <p:cNvPr id="253" name="Text 249"/>
          <p:cNvSpPr txBox="1"/>
          <p:nvPr/>
        </p:nvSpPr>
        <p:spPr>
          <a:xfrm>
            <a:off x="7315200" y="1847088"/>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Price ₹40 to ₹20</a:t>
            </a:r>
            <a:endParaRPr lang="en-US" sz="900" dirty="0"/>
          </a:p>
        </p:txBody>
      </p:sp>
      <p:sp>
        <p:nvSpPr>
          <p:cNvPr id="254" name="Shape 250"/>
          <p:cNvSpPr/>
          <p:nvPr/>
        </p:nvSpPr>
        <p:spPr>
          <a:xfrm>
            <a:off x="9681620" y="1892808"/>
            <a:ext cx="188718" cy="182880"/>
          </a:xfrm>
          <a:prstGeom prst="rect">
            <a:avLst/>
          </a:prstGeom>
          <a:solidFill>
            <a:srgbClr val="8FB0D8"/>
          </a:solidFill>
          <a:ln/>
        </p:spPr>
      </p:sp>
      <p:sp>
        <p:nvSpPr>
          <p:cNvPr id="255" name="Shape 251"/>
          <p:cNvSpPr/>
          <p:nvPr/>
        </p:nvSpPr>
        <p:spPr>
          <a:xfrm>
            <a:off x="9870338" y="1892808"/>
            <a:ext cx="377436" cy="182880"/>
          </a:xfrm>
          <a:prstGeom prst="rect">
            <a:avLst/>
          </a:prstGeom>
          <a:solidFill>
            <a:srgbClr val="1F4A82"/>
          </a:solidFill>
          <a:ln/>
        </p:spPr>
      </p:sp>
      <p:sp>
        <p:nvSpPr>
          <p:cNvPr id="256" name="Text 252"/>
          <p:cNvSpPr txBox="1"/>
          <p:nvPr/>
        </p:nvSpPr>
        <p:spPr>
          <a:xfrm>
            <a:off x="9297572" y="1847088"/>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1.4x</a:t>
            </a:r>
            <a:endParaRPr lang="en-US" sz="800" dirty="0"/>
          </a:p>
        </p:txBody>
      </p:sp>
      <p:sp>
        <p:nvSpPr>
          <p:cNvPr id="257" name="Text 253"/>
          <p:cNvSpPr txBox="1"/>
          <p:nvPr/>
        </p:nvSpPr>
        <p:spPr>
          <a:xfrm>
            <a:off x="10275207" y="1847088"/>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2.3x</a:t>
            </a:r>
            <a:endParaRPr lang="en-US" sz="800" dirty="0"/>
          </a:p>
        </p:txBody>
      </p:sp>
      <p:sp>
        <p:nvSpPr>
          <p:cNvPr id="258" name="Text 254"/>
          <p:cNvSpPr txBox="1"/>
          <p:nvPr/>
        </p:nvSpPr>
        <p:spPr>
          <a:xfrm>
            <a:off x="7315200" y="2176272"/>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Annual fee ₹70k to ₹1.2 L</a:t>
            </a:r>
            <a:endParaRPr lang="en-US" sz="900" dirty="0"/>
          </a:p>
        </p:txBody>
      </p:sp>
      <p:sp>
        <p:nvSpPr>
          <p:cNvPr id="259" name="Shape 255"/>
          <p:cNvSpPr/>
          <p:nvPr/>
        </p:nvSpPr>
        <p:spPr>
          <a:xfrm>
            <a:off x="9681620" y="2221992"/>
            <a:ext cx="188718" cy="182880"/>
          </a:xfrm>
          <a:prstGeom prst="rect">
            <a:avLst/>
          </a:prstGeom>
          <a:solidFill>
            <a:srgbClr val="8FB0D8"/>
          </a:solidFill>
          <a:ln/>
        </p:spPr>
      </p:sp>
      <p:sp>
        <p:nvSpPr>
          <p:cNvPr id="260" name="Shape 256"/>
          <p:cNvSpPr/>
          <p:nvPr/>
        </p:nvSpPr>
        <p:spPr>
          <a:xfrm>
            <a:off x="9870338" y="2221992"/>
            <a:ext cx="251624" cy="182880"/>
          </a:xfrm>
          <a:prstGeom prst="rect">
            <a:avLst/>
          </a:prstGeom>
          <a:solidFill>
            <a:srgbClr val="1F4A82"/>
          </a:solidFill>
          <a:ln/>
        </p:spPr>
      </p:sp>
      <p:sp>
        <p:nvSpPr>
          <p:cNvPr id="261" name="Text 257"/>
          <p:cNvSpPr txBox="1"/>
          <p:nvPr/>
        </p:nvSpPr>
        <p:spPr>
          <a:xfrm>
            <a:off x="9297572" y="2176272"/>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1.4x</a:t>
            </a:r>
            <a:endParaRPr lang="en-US" sz="800" dirty="0"/>
          </a:p>
        </p:txBody>
      </p:sp>
      <p:sp>
        <p:nvSpPr>
          <p:cNvPr id="262" name="Text 258"/>
          <p:cNvSpPr txBox="1"/>
          <p:nvPr/>
        </p:nvSpPr>
        <p:spPr>
          <a:xfrm>
            <a:off x="10149395" y="2176272"/>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2.1x</a:t>
            </a:r>
            <a:endParaRPr lang="en-US" sz="800" dirty="0"/>
          </a:p>
        </p:txBody>
      </p:sp>
      <p:sp>
        <p:nvSpPr>
          <p:cNvPr id="263" name="Text 259"/>
          <p:cNvSpPr txBox="1"/>
          <p:nvPr/>
        </p:nvSpPr>
        <p:spPr>
          <a:xfrm>
            <a:off x="7315200" y="2505456"/>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Mentor minutes per call</a:t>
            </a:r>
            <a:endParaRPr lang="en-US" sz="900" dirty="0"/>
          </a:p>
        </p:txBody>
      </p:sp>
      <p:sp>
        <p:nvSpPr>
          <p:cNvPr id="264" name="Shape 260"/>
          <p:cNvSpPr/>
          <p:nvPr/>
        </p:nvSpPr>
        <p:spPr>
          <a:xfrm>
            <a:off x="9681620" y="2551176"/>
            <a:ext cx="188718" cy="182880"/>
          </a:xfrm>
          <a:prstGeom prst="rect">
            <a:avLst/>
          </a:prstGeom>
          <a:solidFill>
            <a:srgbClr val="8FB0D8"/>
          </a:solidFill>
          <a:ln/>
        </p:spPr>
      </p:sp>
      <p:sp>
        <p:nvSpPr>
          <p:cNvPr id="265" name="Shape 261"/>
          <p:cNvSpPr/>
          <p:nvPr/>
        </p:nvSpPr>
        <p:spPr>
          <a:xfrm>
            <a:off x="9870338" y="2551176"/>
            <a:ext cx="188718" cy="182880"/>
          </a:xfrm>
          <a:prstGeom prst="rect">
            <a:avLst/>
          </a:prstGeom>
          <a:solidFill>
            <a:srgbClr val="1F4A82"/>
          </a:solidFill>
          <a:ln/>
        </p:spPr>
      </p:sp>
      <p:sp>
        <p:nvSpPr>
          <p:cNvPr id="266" name="Text 262"/>
          <p:cNvSpPr txBox="1"/>
          <p:nvPr/>
        </p:nvSpPr>
        <p:spPr>
          <a:xfrm>
            <a:off x="9297572" y="2505456"/>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1.4x</a:t>
            </a:r>
            <a:endParaRPr lang="en-US" sz="800" dirty="0"/>
          </a:p>
        </p:txBody>
      </p:sp>
      <p:sp>
        <p:nvSpPr>
          <p:cNvPr id="267" name="Text 263"/>
          <p:cNvSpPr txBox="1"/>
          <p:nvPr/>
        </p:nvSpPr>
        <p:spPr>
          <a:xfrm>
            <a:off x="10086488" y="2505456"/>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2x</a:t>
            </a:r>
            <a:endParaRPr lang="en-US" sz="800" dirty="0"/>
          </a:p>
        </p:txBody>
      </p:sp>
      <p:sp>
        <p:nvSpPr>
          <p:cNvPr id="268" name="Text 264"/>
          <p:cNvSpPr txBox="1"/>
          <p:nvPr/>
        </p:nvSpPr>
        <p:spPr>
          <a:xfrm>
            <a:off x="7315200" y="2834640"/>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Outreach effect 5–30 %</a:t>
            </a:r>
            <a:endParaRPr lang="en-US" sz="900" dirty="0"/>
          </a:p>
        </p:txBody>
      </p:sp>
      <p:sp>
        <p:nvSpPr>
          <p:cNvPr id="269" name="Shape 265"/>
          <p:cNvSpPr/>
          <p:nvPr/>
        </p:nvSpPr>
        <p:spPr>
          <a:xfrm>
            <a:off x="9744526" y="2880360"/>
            <a:ext cx="125812" cy="182880"/>
          </a:xfrm>
          <a:prstGeom prst="rect">
            <a:avLst/>
          </a:prstGeom>
          <a:solidFill>
            <a:srgbClr val="8FB0D8"/>
          </a:solidFill>
          <a:ln/>
        </p:spPr>
      </p:sp>
      <p:sp>
        <p:nvSpPr>
          <p:cNvPr id="270" name="Shape 266"/>
          <p:cNvSpPr/>
          <p:nvPr/>
        </p:nvSpPr>
        <p:spPr>
          <a:xfrm>
            <a:off x="9870338" y="2880360"/>
            <a:ext cx="251624" cy="182880"/>
          </a:xfrm>
          <a:prstGeom prst="rect">
            <a:avLst/>
          </a:prstGeom>
          <a:solidFill>
            <a:srgbClr val="1F4A82"/>
          </a:solidFill>
          <a:ln/>
        </p:spPr>
      </p:sp>
      <p:sp>
        <p:nvSpPr>
          <p:cNvPr id="271" name="Text 267"/>
          <p:cNvSpPr txBox="1"/>
          <p:nvPr/>
        </p:nvSpPr>
        <p:spPr>
          <a:xfrm>
            <a:off x="9360478" y="2834640"/>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1.5x</a:t>
            </a:r>
            <a:endParaRPr lang="en-US" sz="800" dirty="0"/>
          </a:p>
        </p:txBody>
      </p:sp>
      <p:sp>
        <p:nvSpPr>
          <p:cNvPr id="272" name="Text 268"/>
          <p:cNvSpPr txBox="1"/>
          <p:nvPr/>
        </p:nvSpPr>
        <p:spPr>
          <a:xfrm>
            <a:off x="10149395" y="2834640"/>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2.1x</a:t>
            </a:r>
            <a:endParaRPr lang="en-US" sz="800" dirty="0"/>
          </a:p>
        </p:txBody>
      </p:sp>
      <p:sp>
        <p:nvSpPr>
          <p:cNvPr id="273" name="Text 269"/>
          <p:cNvSpPr txBox="1"/>
          <p:nvPr/>
        </p:nvSpPr>
        <p:spPr>
          <a:xfrm>
            <a:off x="7315200" y="3163824"/>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Precision of the flag</a:t>
            </a:r>
            <a:endParaRPr lang="en-US" sz="900" dirty="0"/>
          </a:p>
        </p:txBody>
      </p:sp>
      <p:sp>
        <p:nvSpPr>
          <p:cNvPr id="274" name="Shape 270"/>
          <p:cNvSpPr/>
          <p:nvPr/>
        </p:nvSpPr>
        <p:spPr>
          <a:xfrm>
            <a:off x="9744526" y="3209544"/>
            <a:ext cx="125812" cy="182880"/>
          </a:xfrm>
          <a:prstGeom prst="rect">
            <a:avLst/>
          </a:prstGeom>
          <a:solidFill>
            <a:srgbClr val="8FB0D8"/>
          </a:solidFill>
          <a:ln/>
        </p:spPr>
      </p:sp>
      <p:sp>
        <p:nvSpPr>
          <p:cNvPr id="275" name="Shape 271"/>
          <p:cNvSpPr/>
          <p:nvPr/>
        </p:nvSpPr>
        <p:spPr>
          <a:xfrm>
            <a:off x="9870338" y="3209544"/>
            <a:ext cx="125812" cy="182880"/>
          </a:xfrm>
          <a:prstGeom prst="rect">
            <a:avLst/>
          </a:prstGeom>
          <a:solidFill>
            <a:srgbClr val="1F4A82"/>
          </a:solidFill>
          <a:ln/>
        </p:spPr>
      </p:sp>
      <p:sp>
        <p:nvSpPr>
          <p:cNvPr id="276" name="Text 272"/>
          <p:cNvSpPr txBox="1"/>
          <p:nvPr/>
        </p:nvSpPr>
        <p:spPr>
          <a:xfrm>
            <a:off x="9360478" y="3163824"/>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1.5x</a:t>
            </a:r>
            <a:endParaRPr lang="en-US" sz="800" dirty="0"/>
          </a:p>
        </p:txBody>
      </p:sp>
      <p:sp>
        <p:nvSpPr>
          <p:cNvPr id="277" name="Text 273"/>
          <p:cNvSpPr txBox="1"/>
          <p:nvPr/>
        </p:nvSpPr>
        <p:spPr>
          <a:xfrm>
            <a:off x="10023582" y="3163824"/>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1.9x</a:t>
            </a:r>
            <a:endParaRPr lang="en-US" sz="800" dirty="0"/>
          </a:p>
        </p:txBody>
      </p:sp>
      <p:sp>
        <p:nvSpPr>
          <p:cNvPr id="278" name="Text 274"/>
          <p:cNvSpPr txBox="1"/>
          <p:nvPr/>
        </p:nvSpPr>
        <p:spPr>
          <a:xfrm>
            <a:off x="7315200" y="3493008"/>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Months before first flag</a:t>
            </a:r>
            <a:endParaRPr lang="en-US" sz="900" dirty="0"/>
          </a:p>
        </p:txBody>
      </p:sp>
      <p:sp>
        <p:nvSpPr>
          <p:cNvPr id="279" name="Shape 275"/>
          <p:cNvSpPr/>
          <p:nvPr/>
        </p:nvSpPr>
        <p:spPr>
          <a:xfrm>
            <a:off x="9807432" y="3538728"/>
            <a:ext cx="62906" cy="182880"/>
          </a:xfrm>
          <a:prstGeom prst="rect">
            <a:avLst/>
          </a:prstGeom>
          <a:solidFill>
            <a:srgbClr val="8FB0D8"/>
          </a:solidFill>
          <a:ln/>
        </p:spPr>
      </p:sp>
      <p:sp>
        <p:nvSpPr>
          <p:cNvPr id="280" name="Shape 276"/>
          <p:cNvSpPr/>
          <p:nvPr/>
        </p:nvSpPr>
        <p:spPr>
          <a:xfrm>
            <a:off x="9870338" y="3538728"/>
            <a:ext cx="62906" cy="182880"/>
          </a:xfrm>
          <a:prstGeom prst="rect">
            <a:avLst/>
          </a:prstGeom>
          <a:solidFill>
            <a:srgbClr val="1F4A82"/>
          </a:solidFill>
          <a:ln/>
        </p:spPr>
      </p:sp>
      <p:sp>
        <p:nvSpPr>
          <p:cNvPr id="281" name="Text 277"/>
          <p:cNvSpPr txBox="1"/>
          <p:nvPr/>
        </p:nvSpPr>
        <p:spPr>
          <a:xfrm>
            <a:off x="9423384" y="3493008"/>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1.6x</a:t>
            </a:r>
            <a:endParaRPr lang="en-US" sz="800" dirty="0"/>
          </a:p>
        </p:txBody>
      </p:sp>
      <p:sp>
        <p:nvSpPr>
          <p:cNvPr id="282" name="Text 278"/>
          <p:cNvSpPr txBox="1"/>
          <p:nvPr/>
        </p:nvSpPr>
        <p:spPr>
          <a:xfrm>
            <a:off x="9960676" y="3493008"/>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1.8x</a:t>
            </a:r>
            <a:endParaRPr lang="en-US" sz="800" dirty="0"/>
          </a:p>
        </p:txBody>
      </p:sp>
      <p:sp>
        <p:nvSpPr>
          <p:cNvPr id="283" name="Shape 279"/>
          <p:cNvSpPr/>
          <p:nvPr/>
        </p:nvSpPr>
        <p:spPr>
          <a:xfrm>
            <a:off x="9861194" y="1481328"/>
            <a:ext cx="18288" cy="2331720"/>
          </a:xfrm>
          <a:prstGeom prst="rect">
            <a:avLst/>
          </a:prstGeom>
          <a:solidFill>
            <a:srgbClr val="17325C"/>
          </a:solidFill>
          <a:ln/>
        </p:spPr>
      </p:sp>
      <p:sp>
        <p:nvSpPr>
          <p:cNvPr id="284" name="Shape 280"/>
          <p:cNvSpPr/>
          <p:nvPr/>
        </p:nvSpPr>
        <p:spPr>
          <a:xfrm>
            <a:off x="7315200" y="3913632"/>
            <a:ext cx="256032" cy="256032"/>
          </a:xfrm>
          <a:prstGeom prst="rect">
            <a:avLst/>
          </a:prstGeom>
          <a:solidFill>
            <a:srgbClr val="1F4A82"/>
          </a:solidFill>
          <a:ln/>
        </p:spPr>
      </p:sp>
      <p:sp>
        <p:nvSpPr>
          <p:cNvPr id="285" name="Text 281"/>
          <p:cNvSpPr txBox="1"/>
          <p:nvPr/>
        </p:nvSpPr>
        <p:spPr>
          <a:xfrm>
            <a:off x="7315200" y="39136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a:t>
            </a:r>
            <a:endParaRPr lang="en-US" sz="1150" dirty="0"/>
          </a:p>
        </p:txBody>
      </p:sp>
      <p:sp>
        <p:nvSpPr>
          <p:cNvPr id="286" name="Text 282"/>
          <p:cNvSpPr txBox="1"/>
          <p:nvPr/>
        </p:nvSpPr>
        <p:spPr>
          <a:xfrm>
            <a:off x="7644384" y="3913632"/>
            <a:ext cx="413583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OUR LTV ÷ CAC BY CHURN AND ACQUISITION COST</a:t>
            </a:r>
            <a:endParaRPr lang="en-US" sz="1200" dirty="0"/>
          </a:p>
        </p:txBody>
      </p:sp>
      <p:sp>
        <p:nvSpPr>
          <p:cNvPr id="287" name="Text 283"/>
          <p:cNvSpPr txBox="1"/>
          <p:nvPr/>
        </p:nvSpPr>
        <p:spPr>
          <a:xfrm>
            <a:off x="7772400" y="41605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1 %</a:t>
            </a:r>
            <a:endParaRPr lang="en-US" sz="900" dirty="0"/>
          </a:p>
        </p:txBody>
      </p:sp>
      <p:sp>
        <p:nvSpPr>
          <p:cNvPr id="288" name="Text 284"/>
          <p:cNvSpPr txBox="1"/>
          <p:nvPr/>
        </p:nvSpPr>
        <p:spPr>
          <a:xfrm>
            <a:off x="8485632" y="41605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2 %</a:t>
            </a:r>
            <a:endParaRPr lang="en-US" sz="900" dirty="0"/>
          </a:p>
        </p:txBody>
      </p:sp>
      <p:sp>
        <p:nvSpPr>
          <p:cNvPr id="289" name="Text 285"/>
          <p:cNvSpPr txBox="1"/>
          <p:nvPr/>
        </p:nvSpPr>
        <p:spPr>
          <a:xfrm>
            <a:off x="9198864" y="41605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3 %</a:t>
            </a:r>
            <a:endParaRPr lang="en-US" sz="900" dirty="0"/>
          </a:p>
        </p:txBody>
      </p:sp>
      <p:sp>
        <p:nvSpPr>
          <p:cNvPr id="290" name="Text 286"/>
          <p:cNvSpPr txBox="1"/>
          <p:nvPr/>
        </p:nvSpPr>
        <p:spPr>
          <a:xfrm>
            <a:off x="9912096" y="41605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4 %</a:t>
            </a:r>
            <a:endParaRPr lang="en-US" sz="900" dirty="0"/>
          </a:p>
        </p:txBody>
      </p:sp>
      <p:sp>
        <p:nvSpPr>
          <p:cNvPr id="291" name="Text 287"/>
          <p:cNvSpPr txBox="1"/>
          <p:nvPr/>
        </p:nvSpPr>
        <p:spPr>
          <a:xfrm>
            <a:off x="10625328" y="41605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5 %</a:t>
            </a:r>
            <a:endParaRPr lang="en-US" sz="900" dirty="0"/>
          </a:p>
        </p:txBody>
      </p:sp>
      <p:sp>
        <p:nvSpPr>
          <p:cNvPr id="292" name="Text 288"/>
          <p:cNvSpPr txBox="1"/>
          <p:nvPr/>
        </p:nvSpPr>
        <p:spPr>
          <a:xfrm>
            <a:off x="7315200" y="4407408"/>
            <a:ext cx="457200" cy="246888"/>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₹15k</a:t>
            </a:r>
            <a:endParaRPr lang="en-US" sz="900" dirty="0"/>
          </a:p>
        </p:txBody>
      </p:sp>
      <p:sp>
        <p:nvSpPr>
          <p:cNvPr id="293" name="Shape 289"/>
          <p:cNvSpPr/>
          <p:nvPr/>
        </p:nvSpPr>
        <p:spPr>
          <a:xfrm>
            <a:off x="7786116" y="4421124"/>
            <a:ext cx="685800" cy="219456"/>
          </a:xfrm>
          <a:prstGeom prst="rect">
            <a:avLst/>
          </a:prstGeom>
          <a:solidFill>
            <a:srgbClr val="17325C"/>
          </a:solidFill>
          <a:ln/>
        </p:spPr>
      </p:sp>
      <p:sp>
        <p:nvSpPr>
          <p:cNvPr id="294" name="Text 290"/>
          <p:cNvSpPr txBox="1"/>
          <p:nvPr/>
        </p:nvSpPr>
        <p:spPr>
          <a:xfrm>
            <a:off x="7772400" y="4407408"/>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11.0x</a:t>
            </a:r>
            <a:endParaRPr lang="en-US" sz="900" dirty="0"/>
          </a:p>
        </p:txBody>
      </p:sp>
      <p:sp>
        <p:nvSpPr>
          <p:cNvPr id="295" name="Shape 291"/>
          <p:cNvSpPr/>
          <p:nvPr/>
        </p:nvSpPr>
        <p:spPr>
          <a:xfrm>
            <a:off x="8499348" y="4421124"/>
            <a:ext cx="685800" cy="219456"/>
          </a:xfrm>
          <a:prstGeom prst="rect">
            <a:avLst/>
          </a:prstGeom>
          <a:solidFill>
            <a:srgbClr val="274876"/>
          </a:solidFill>
          <a:ln/>
        </p:spPr>
      </p:sp>
      <p:sp>
        <p:nvSpPr>
          <p:cNvPr id="296" name="Text 292"/>
          <p:cNvSpPr txBox="1"/>
          <p:nvPr/>
        </p:nvSpPr>
        <p:spPr>
          <a:xfrm>
            <a:off x="8485632" y="4407408"/>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10.0x</a:t>
            </a:r>
            <a:endParaRPr lang="en-US" sz="900" dirty="0"/>
          </a:p>
        </p:txBody>
      </p:sp>
      <p:sp>
        <p:nvSpPr>
          <p:cNvPr id="297" name="Shape 293"/>
          <p:cNvSpPr/>
          <p:nvPr/>
        </p:nvSpPr>
        <p:spPr>
          <a:xfrm>
            <a:off x="9212580" y="4421124"/>
            <a:ext cx="685800" cy="219456"/>
          </a:xfrm>
          <a:prstGeom prst="rect">
            <a:avLst/>
          </a:prstGeom>
          <a:solidFill>
            <a:srgbClr val="325788"/>
          </a:solidFill>
          <a:ln/>
        </p:spPr>
      </p:sp>
      <p:sp>
        <p:nvSpPr>
          <p:cNvPr id="298" name="Text 294"/>
          <p:cNvSpPr txBox="1"/>
          <p:nvPr/>
        </p:nvSpPr>
        <p:spPr>
          <a:xfrm>
            <a:off x="9198864" y="4407408"/>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9.3x</a:t>
            </a:r>
            <a:endParaRPr lang="en-US" sz="900" dirty="0"/>
          </a:p>
        </p:txBody>
      </p:sp>
      <p:sp>
        <p:nvSpPr>
          <p:cNvPr id="299" name="Shape 295"/>
          <p:cNvSpPr/>
          <p:nvPr/>
        </p:nvSpPr>
        <p:spPr>
          <a:xfrm>
            <a:off x="9925812" y="4421124"/>
            <a:ext cx="685800" cy="219456"/>
          </a:xfrm>
          <a:prstGeom prst="rect">
            <a:avLst/>
          </a:prstGeom>
          <a:solidFill>
            <a:srgbClr val="3F689C"/>
          </a:solidFill>
          <a:ln/>
        </p:spPr>
      </p:sp>
      <p:sp>
        <p:nvSpPr>
          <p:cNvPr id="300" name="Text 296"/>
          <p:cNvSpPr txBox="1"/>
          <p:nvPr/>
        </p:nvSpPr>
        <p:spPr>
          <a:xfrm>
            <a:off x="9912096" y="4407408"/>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8.5x</a:t>
            </a:r>
            <a:endParaRPr lang="en-US" sz="900" dirty="0"/>
          </a:p>
        </p:txBody>
      </p:sp>
      <p:sp>
        <p:nvSpPr>
          <p:cNvPr id="301" name="Shape 297"/>
          <p:cNvSpPr/>
          <p:nvPr/>
        </p:nvSpPr>
        <p:spPr>
          <a:xfrm>
            <a:off x="10639044" y="4421124"/>
            <a:ext cx="685800" cy="219456"/>
          </a:xfrm>
          <a:prstGeom prst="rect">
            <a:avLst/>
          </a:prstGeom>
          <a:solidFill>
            <a:srgbClr val="4A77AE"/>
          </a:solidFill>
          <a:ln/>
        </p:spPr>
      </p:sp>
      <p:sp>
        <p:nvSpPr>
          <p:cNvPr id="302" name="Text 298"/>
          <p:cNvSpPr txBox="1"/>
          <p:nvPr/>
        </p:nvSpPr>
        <p:spPr>
          <a:xfrm>
            <a:off x="10625328" y="4407408"/>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7.8x</a:t>
            </a:r>
            <a:endParaRPr lang="en-US" sz="900" dirty="0"/>
          </a:p>
        </p:txBody>
      </p:sp>
      <p:sp>
        <p:nvSpPr>
          <p:cNvPr id="303" name="Text 299"/>
          <p:cNvSpPr txBox="1"/>
          <p:nvPr/>
        </p:nvSpPr>
        <p:spPr>
          <a:xfrm>
            <a:off x="7315200" y="4654296"/>
            <a:ext cx="457200" cy="246888"/>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₹25k</a:t>
            </a:r>
            <a:endParaRPr lang="en-US" sz="900" dirty="0"/>
          </a:p>
        </p:txBody>
      </p:sp>
      <p:sp>
        <p:nvSpPr>
          <p:cNvPr id="304" name="Shape 300"/>
          <p:cNvSpPr/>
          <p:nvPr/>
        </p:nvSpPr>
        <p:spPr>
          <a:xfrm>
            <a:off x="7786116" y="4668012"/>
            <a:ext cx="685800" cy="219456"/>
          </a:xfrm>
          <a:prstGeom prst="rect">
            <a:avLst/>
          </a:prstGeom>
          <a:solidFill>
            <a:srgbClr val="598AC6"/>
          </a:solidFill>
          <a:ln/>
        </p:spPr>
      </p:sp>
      <p:sp>
        <p:nvSpPr>
          <p:cNvPr id="305" name="Text 301"/>
          <p:cNvSpPr txBox="1"/>
          <p:nvPr/>
        </p:nvSpPr>
        <p:spPr>
          <a:xfrm>
            <a:off x="7772400" y="4654296"/>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6.9x</a:t>
            </a:r>
            <a:endParaRPr lang="en-US" sz="900" dirty="0"/>
          </a:p>
        </p:txBody>
      </p:sp>
      <p:sp>
        <p:nvSpPr>
          <p:cNvPr id="306" name="Shape 302"/>
          <p:cNvSpPr/>
          <p:nvPr/>
        </p:nvSpPr>
        <p:spPr>
          <a:xfrm>
            <a:off x="8499348" y="4668012"/>
            <a:ext cx="685800" cy="219456"/>
          </a:xfrm>
          <a:prstGeom prst="rect">
            <a:avLst/>
          </a:prstGeom>
          <a:solidFill>
            <a:srgbClr val="6B98CE"/>
          </a:solidFill>
          <a:ln/>
        </p:spPr>
      </p:sp>
      <p:sp>
        <p:nvSpPr>
          <p:cNvPr id="307" name="Text 303"/>
          <p:cNvSpPr txBox="1"/>
          <p:nvPr/>
        </p:nvSpPr>
        <p:spPr>
          <a:xfrm>
            <a:off x="8485632" y="4654296"/>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6.2x</a:t>
            </a:r>
            <a:endParaRPr lang="en-US" sz="900" dirty="0"/>
          </a:p>
        </p:txBody>
      </p:sp>
      <p:sp>
        <p:nvSpPr>
          <p:cNvPr id="308" name="Shape 304"/>
          <p:cNvSpPr/>
          <p:nvPr/>
        </p:nvSpPr>
        <p:spPr>
          <a:xfrm>
            <a:off x="9212580" y="4668012"/>
            <a:ext cx="685800" cy="219456"/>
          </a:xfrm>
          <a:prstGeom prst="rect">
            <a:avLst/>
          </a:prstGeom>
          <a:solidFill>
            <a:srgbClr val="7CA4D4"/>
          </a:solidFill>
          <a:ln/>
        </p:spPr>
      </p:sp>
      <p:sp>
        <p:nvSpPr>
          <p:cNvPr id="309" name="Text 305"/>
          <p:cNvSpPr txBox="1"/>
          <p:nvPr/>
        </p:nvSpPr>
        <p:spPr>
          <a:xfrm>
            <a:off x="9198864" y="4654296"/>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5.6x</a:t>
            </a:r>
            <a:endParaRPr lang="en-US" sz="900" dirty="0"/>
          </a:p>
        </p:txBody>
      </p:sp>
      <p:sp>
        <p:nvSpPr>
          <p:cNvPr id="310" name="Shape 306"/>
          <p:cNvSpPr/>
          <p:nvPr/>
        </p:nvSpPr>
        <p:spPr>
          <a:xfrm>
            <a:off x="9925812" y="4668012"/>
            <a:ext cx="685800" cy="219456"/>
          </a:xfrm>
          <a:prstGeom prst="rect">
            <a:avLst/>
          </a:prstGeom>
          <a:solidFill>
            <a:srgbClr val="8AAED9"/>
          </a:solidFill>
          <a:ln/>
        </p:spPr>
      </p:sp>
      <p:sp>
        <p:nvSpPr>
          <p:cNvPr id="311" name="Text 307"/>
          <p:cNvSpPr txBox="1"/>
          <p:nvPr/>
        </p:nvSpPr>
        <p:spPr>
          <a:xfrm>
            <a:off x="9912096" y="4654296"/>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5.1x</a:t>
            </a:r>
            <a:endParaRPr lang="en-US" sz="900" dirty="0"/>
          </a:p>
        </p:txBody>
      </p:sp>
      <p:sp>
        <p:nvSpPr>
          <p:cNvPr id="312" name="Shape 308"/>
          <p:cNvSpPr/>
          <p:nvPr/>
        </p:nvSpPr>
        <p:spPr>
          <a:xfrm>
            <a:off x="10639044" y="4668012"/>
            <a:ext cx="685800" cy="219456"/>
          </a:xfrm>
          <a:prstGeom prst="rect">
            <a:avLst/>
          </a:prstGeom>
          <a:solidFill>
            <a:srgbClr val="95B5DD"/>
          </a:solidFill>
          <a:ln/>
        </p:spPr>
      </p:sp>
      <p:sp>
        <p:nvSpPr>
          <p:cNvPr id="313" name="Text 309"/>
          <p:cNvSpPr txBox="1"/>
          <p:nvPr/>
        </p:nvSpPr>
        <p:spPr>
          <a:xfrm>
            <a:off x="10625328" y="4654296"/>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4.7x</a:t>
            </a:r>
            <a:endParaRPr lang="en-US" sz="900" dirty="0"/>
          </a:p>
        </p:txBody>
      </p:sp>
      <p:sp>
        <p:nvSpPr>
          <p:cNvPr id="314" name="Text 310"/>
          <p:cNvSpPr txBox="1"/>
          <p:nvPr/>
        </p:nvSpPr>
        <p:spPr>
          <a:xfrm>
            <a:off x="7315200" y="4901184"/>
            <a:ext cx="457200" cy="246888"/>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₹35k</a:t>
            </a:r>
            <a:endParaRPr lang="en-US" sz="900" dirty="0"/>
          </a:p>
        </p:txBody>
      </p:sp>
      <p:sp>
        <p:nvSpPr>
          <p:cNvPr id="315" name="Shape 311"/>
          <p:cNvSpPr/>
          <p:nvPr/>
        </p:nvSpPr>
        <p:spPr>
          <a:xfrm>
            <a:off x="7786116" y="4914900"/>
            <a:ext cx="685800" cy="219456"/>
          </a:xfrm>
          <a:prstGeom prst="rect">
            <a:avLst/>
          </a:prstGeom>
          <a:solidFill>
            <a:srgbClr val="8FB2DB"/>
          </a:solidFill>
          <a:ln/>
        </p:spPr>
      </p:sp>
      <p:sp>
        <p:nvSpPr>
          <p:cNvPr id="316" name="Text 312"/>
          <p:cNvSpPr txBox="1"/>
          <p:nvPr/>
        </p:nvSpPr>
        <p:spPr>
          <a:xfrm>
            <a:off x="7772400" y="4901184"/>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4.9x</a:t>
            </a:r>
            <a:endParaRPr lang="en-US" sz="900" dirty="0"/>
          </a:p>
        </p:txBody>
      </p:sp>
      <p:sp>
        <p:nvSpPr>
          <p:cNvPr id="317" name="Shape 313"/>
          <p:cNvSpPr/>
          <p:nvPr/>
        </p:nvSpPr>
        <p:spPr>
          <a:xfrm>
            <a:off x="8499348" y="4914900"/>
            <a:ext cx="685800" cy="219456"/>
          </a:xfrm>
          <a:prstGeom prst="rect">
            <a:avLst/>
          </a:prstGeom>
          <a:solidFill>
            <a:srgbClr val="9DBBDF"/>
          </a:solidFill>
          <a:ln/>
        </p:spPr>
      </p:sp>
      <p:sp>
        <p:nvSpPr>
          <p:cNvPr id="318" name="Text 314"/>
          <p:cNvSpPr txBox="1"/>
          <p:nvPr/>
        </p:nvSpPr>
        <p:spPr>
          <a:xfrm>
            <a:off x="8485632" y="4901184"/>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4.4x</a:t>
            </a:r>
            <a:endParaRPr lang="en-US" sz="900" dirty="0"/>
          </a:p>
        </p:txBody>
      </p:sp>
      <p:sp>
        <p:nvSpPr>
          <p:cNvPr id="319" name="Shape 315"/>
          <p:cNvSpPr/>
          <p:nvPr/>
        </p:nvSpPr>
        <p:spPr>
          <a:xfrm>
            <a:off x="9212580" y="4914900"/>
            <a:ext cx="685800" cy="219456"/>
          </a:xfrm>
          <a:prstGeom prst="rect">
            <a:avLst/>
          </a:prstGeom>
          <a:solidFill>
            <a:srgbClr val="A9C3E3"/>
          </a:solidFill>
          <a:ln/>
        </p:spPr>
      </p:sp>
      <p:sp>
        <p:nvSpPr>
          <p:cNvPr id="320" name="Text 316"/>
          <p:cNvSpPr txBox="1"/>
          <p:nvPr/>
        </p:nvSpPr>
        <p:spPr>
          <a:xfrm>
            <a:off x="9198864" y="4901184"/>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4.0x</a:t>
            </a:r>
            <a:endParaRPr lang="en-US" sz="900" dirty="0"/>
          </a:p>
        </p:txBody>
      </p:sp>
      <p:sp>
        <p:nvSpPr>
          <p:cNvPr id="321" name="Shape 317"/>
          <p:cNvSpPr/>
          <p:nvPr/>
        </p:nvSpPr>
        <p:spPr>
          <a:xfrm>
            <a:off x="9925812" y="4914900"/>
            <a:ext cx="685800" cy="219456"/>
          </a:xfrm>
          <a:prstGeom prst="rect">
            <a:avLst/>
          </a:prstGeom>
          <a:solidFill>
            <a:srgbClr val="B4CBE7"/>
          </a:solidFill>
          <a:ln/>
        </p:spPr>
      </p:sp>
      <p:sp>
        <p:nvSpPr>
          <p:cNvPr id="322" name="Text 318"/>
          <p:cNvSpPr txBox="1"/>
          <p:nvPr/>
        </p:nvSpPr>
        <p:spPr>
          <a:xfrm>
            <a:off x="9912096" y="4901184"/>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3.6x</a:t>
            </a:r>
            <a:endParaRPr lang="en-US" sz="900" dirty="0"/>
          </a:p>
        </p:txBody>
      </p:sp>
      <p:sp>
        <p:nvSpPr>
          <p:cNvPr id="323" name="Shape 319"/>
          <p:cNvSpPr/>
          <p:nvPr/>
        </p:nvSpPr>
        <p:spPr>
          <a:xfrm>
            <a:off x="10639044" y="4914900"/>
            <a:ext cx="685800" cy="219456"/>
          </a:xfrm>
          <a:prstGeom prst="rect">
            <a:avLst/>
          </a:prstGeom>
          <a:solidFill>
            <a:srgbClr val="BCD1EA"/>
          </a:solidFill>
          <a:ln/>
        </p:spPr>
      </p:sp>
      <p:sp>
        <p:nvSpPr>
          <p:cNvPr id="324" name="Text 320"/>
          <p:cNvSpPr txBox="1"/>
          <p:nvPr/>
        </p:nvSpPr>
        <p:spPr>
          <a:xfrm>
            <a:off x="10625328" y="4901184"/>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3.3x</a:t>
            </a:r>
            <a:endParaRPr lang="en-US" sz="900" dirty="0"/>
          </a:p>
        </p:txBody>
      </p:sp>
      <p:sp>
        <p:nvSpPr>
          <p:cNvPr id="325" name="Text 321"/>
          <p:cNvSpPr txBox="1"/>
          <p:nvPr/>
        </p:nvSpPr>
        <p:spPr>
          <a:xfrm>
            <a:off x="7315200" y="5148072"/>
            <a:ext cx="457200" cy="246888"/>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₹50k</a:t>
            </a:r>
            <a:endParaRPr lang="en-US" sz="900" dirty="0"/>
          </a:p>
        </p:txBody>
      </p:sp>
      <p:sp>
        <p:nvSpPr>
          <p:cNvPr id="326" name="Shape 322"/>
          <p:cNvSpPr/>
          <p:nvPr/>
        </p:nvSpPr>
        <p:spPr>
          <a:xfrm>
            <a:off x="7786116" y="5161788"/>
            <a:ext cx="685800" cy="219456"/>
          </a:xfrm>
          <a:prstGeom prst="rect">
            <a:avLst/>
          </a:prstGeom>
          <a:solidFill>
            <a:srgbClr val="BACFE9"/>
          </a:solidFill>
          <a:ln/>
        </p:spPr>
      </p:sp>
      <p:sp>
        <p:nvSpPr>
          <p:cNvPr id="327" name="Text 323"/>
          <p:cNvSpPr txBox="1"/>
          <p:nvPr/>
        </p:nvSpPr>
        <p:spPr>
          <a:xfrm>
            <a:off x="7772400" y="5148072"/>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3.4x</a:t>
            </a:r>
            <a:endParaRPr lang="en-US" sz="900" dirty="0"/>
          </a:p>
        </p:txBody>
      </p:sp>
      <p:sp>
        <p:nvSpPr>
          <p:cNvPr id="328" name="Shape 324"/>
          <p:cNvSpPr/>
          <p:nvPr/>
        </p:nvSpPr>
        <p:spPr>
          <a:xfrm>
            <a:off x="8499348" y="5161788"/>
            <a:ext cx="685800" cy="219456"/>
          </a:xfrm>
          <a:prstGeom prst="rect">
            <a:avLst/>
          </a:prstGeom>
          <a:solidFill>
            <a:srgbClr val="C2D5EC"/>
          </a:solidFill>
          <a:ln/>
        </p:spPr>
      </p:sp>
      <p:sp>
        <p:nvSpPr>
          <p:cNvPr id="329" name="Text 325"/>
          <p:cNvSpPr txBox="1"/>
          <p:nvPr/>
        </p:nvSpPr>
        <p:spPr>
          <a:xfrm>
            <a:off x="8485632" y="5148072"/>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3.1x</a:t>
            </a:r>
            <a:endParaRPr lang="en-US" sz="900" dirty="0"/>
          </a:p>
        </p:txBody>
      </p:sp>
      <p:sp>
        <p:nvSpPr>
          <p:cNvPr id="330" name="Shape 326"/>
          <p:cNvSpPr/>
          <p:nvPr/>
        </p:nvSpPr>
        <p:spPr>
          <a:xfrm>
            <a:off x="9212580" y="5161788"/>
            <a:ext cx="685800" cy="219456"/>
          </a:xfrm>
          <a:prstGeom prst="rect">
            <a:avLst/>
          </a:prstGeom>
          <a:solidFill>
            <a:srgbClr val="CADBEF"/>
          </a:solidFill>
          <a:ln/>
        </p:spPr>
      </p:sp>
      <p:sp>
        <p:nvSpPr>
          <p:cNvPr id="331" name="Text 327"/>
          <p:cNvSpPr txBox="1"/>
          <p:nvPr/>
        </p:nvSpPr>
        <p:spPr>
          <a:xfrm>
            <a:off x="9198864" y="5148072"/>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2.8x</a:t>
            </a:r>
            <a:endParaRPr lang="en-US" sz="900" dirty="0"/>
          </a:p>
        </p:txBody>
      </p:sp>
      <p:sp>
        <p:nvSpPr>
          <p:cNvPr id="332" name="Shape 328"/>
          <p:cNvSpPr/>
          <p:nvPr/>
        </p:nvSpPr>
        <p:spPr>
          <a:xfrm>
            <a:off x="9925812" y="5161788"/>
            <a:ext cx="685800" cy="219456"/>
          </a:xfrm>
          <a:prstGeom prst="rect">
            <a:avLst/>
          </a:prstGeom>
          <a:solidFill>
            <a:srgbClr val="D3E0F1"/>
          </a:solidFill>
          <a:ln/>
        </p:spPr>
      </p:sp>
      <p:sp>
        <p:nvSpPr>
          <p:cNvPr id="333" name="Text 329"/>
          <p:cNvSpPr txBox="1"/>
          <p:nvPr/>
        </p:nvSpPr>
        <p:spPr>
          <a:xfrm>
            <a:off x="9912096" y="5148072"/>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2.5x</a:t>
            </a:r>
            <a:endParaRPr lang="en-US" sz="900" dirty="0"/>
          </a:p>
        </p:txBody>
      </p:sp>
      <p:sp>
        <p:nvSpPr>
          <p:cNvPr id="334" name="Shape 330"/>
          <p:cNvSpPr/>
          <p:nvPr/>
        </p:nvSpPr>
        <p:spPr>
          <a:xfrm>
            <a:off x="10639044" y="5161788"/>
            <a:ext cx="685800" cy="219456"/>
          </a:xfrm>
          <a:prstGeom prst="rect">
            <a:avLst/>
          </a:prstGeom>
          <a:solidFill>
            <a:srgbClr val="D8E4F3"/>
          </a:solidFill>
          <a:ln/>
        </p:spPr>
      </p:sp>
      <p:sp>
        <p:nvSpPr>
          <p:cNvPr id="335" name="Text 331"/>
          <p:cNvSpPr txBox="1"/>
          <p:nvPr/>
        </p:nvSpPr>
        <p:spPr>
          <a:xfrm>
            <a:off x="10625328" y="5148072"/>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2.3x</a:t>
            </a:r>
            <a:endParaRPr lang="en-US" sz="900" dirty="0"/>
          </a:p>
        </p:txBody>
      </p:sp>
      <p:sp>
        <p:nvSpPr>
          <p:cNvPr id="336" name="Text 332"/>
          <p:cNvSpPr txBox="1"/>
          <p:nvPr/>
        </p:nvSpPr>
        <p:spPr>
          <a:xfrm>
            <a:off x="7315200" y="5394960"/>
            <a:ext cx="457200" cy="246888"/>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₹75k</a:t>
            </a:r>
            <a:endParaRPr lang="en-US" sz="900" dirty="0"/>
          </a:p>
        </p:txBody>
      </p:sp>
      <p:sp>
        <p:nvSpPr>
          <p:cNvPr id="337" name="Shape 333"/>
          <p:cNvSpPr/>
          <p:nvPr/>
        </p:nvSpPr>
        <p:spPr>
          <a:xfrm>
            <a:off x="7786116" y="5408676"/>
            <a:ext cx="685800" cy="219456"/>
          </a:xfrm>
          <a:prstGeom prst="rect">
            <a:avLst/>
          </a:prstGeom>
          <a:solidFill>
            <a:srgbClr val="D8E4F3"/>
          </a:solidFill>
          <a:ln/>
        </p:spPr>
      </p:sp>
      <p:sp>
        <p:nvSpPr>
          <p:cNvPr id="338" name="Text 334"/>
          <p:cNvSpPr txBox="1"/>
          <p:nvPr/>
        </p:nvSpPr>
        <p:spPr>
          <a:xfrm>
            <a:off x="7772400" y="5394960"/>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2.3x</a:t>
            </a:r>
            <a:endParaRPr lang="en-US" sz="900" dirty="0"/>
          </a:p>
        </p:txBody>
      </p:sp>
      <p:sp>
        <p:nvSpPr>
          <p:cNvPr id="339" name="Shape 335"/>
          <p:cNvSpPr/>
          <p:nvPr/>
        </p:nvSpPr>
        <p:spPr>
          <a:xfrm>
            <a:off x="8499348" y="5408676"/>
            <a:ext cx="685800" cy="219456"/>
          </a:xfrm>
          <a:prstGeom prst="rect">
            <a:avLst/>
          </a:prstGeom>
          <a:solidFill>
            <a:srgbClr val="DEE8F5"/>
          </a:solidFill>
          <a:ln/>
        </p:spPr>
      </p:sp>
      <p:sp>
        <p:nvSpPr>
          <p:cNvPr id="340" name="Text 336"/>
          <p:cNvSpPr txBox="1"/>
          <p:nvPr/>
        </p:nvSpPr>
        <p:spPr>
          <a:xfrm>
            <a:off x="8485632" y="5394960"/>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2.1x</a:t>
            </a:r>
            <a:endParaRPr lang="en-US" sz="900" dirty="0"/>
          </a:p>
        </p:txBody>
      </p:sp>
      <p:sp>
        <p:nvSpPr>
          <p:cNvPr id="341" name="Shape 337"/>
          <p:cNvSpPr/>
          <p:nvPr/>
        </p:nvSpPr>
        <p:spPr>
          <a:xfrm>
            <a:off x="9212580" y="5408676"/>
            <a:ext cx="685800" cy="219456"/>
          </a:xfrm>
          <a:prstGeom prst="rect">
            <a:avLst/>
          </a:prstGeom>
          <a:solidFill>
            <a:srgbClr val="E4ECF7"/>
          </a:solidFill>
          <a:ln/>
        </p:spPr>
      </p:sp>
      <p:sp>
        <p:nvSpPr>
          <p:cNvPr id="342" name="Text 338"/>
          <p:cNvSpPr txBox="1"/>
          <p:nvPr/>
        </p:nvSpPr>
        <p:spPr>
          <a:xfrm>
            <a:off x="9198864" y="5394960"/>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1.9x</a:t>
            </a:r>
            <a:endParaRPr lang="en-US" sz="900" dirty="0"/>
          </a:p>
        </p:txBody>
      </p:sp>
      <p:sp>
        <p:nvSpPr>
          <p:cNvPr id="343" name="Shape 339"/>
          <p:cNvSpPr/>
          <p:nvPr/>
        </p:nvSpPr>
        <p:spPr>
          <a:xfrm>
            <a:off x="9925812" y="5408676"/>
            <a:ext cx="685800" cy="219456"/>
          </a:xfrm>
          <a:prstGeom prst="rect">
            <a:avLst/>
          </a:prstGeom>
          <a:solidFill>
            <a:srgbClr val="E9F0F9"/>
          </a:solidFill>
          <a:ln/>
        </p:spPr>
      </p:sp>
      <p:sp>
        <p:nvSpPr>
          <p:cNvPr id="344" name="Text 340"/>
          <p:cNvSpPr txBox="1"/>
          <p:nvPr/>
        </p:nvSpPr>
        <p:spPr>
          <a:xfrm>
            <a:off x="9912096" y="5394960"/>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1.7x</a:t>
            </a:r>
            <a:endParaRPr lang="en-US" sz="900" dirty="0"/>
          </a:p>
        </p:txBody>
      </p:sp>
      <p:sp>
        <p:nvSpPr>
          <p:cNvPr id="345" name="Shape 341"/>
          <p:cNvSpPr/>
          <p:nvPr/>
        </p:nvSpPr>
        <p:spPr>
          <a:xfrm>
            <a:off x="10639044" y="5408676"/>
            <a:ext cx="685800" cy="219456"/>
          </a:xfrm>
          <a:prstGeom prst="rect">
            <a:avLst/>
          </a:prstGeom>
          <a:solidFill>
            <a:srgbClr val="ECF2FA"/>
          </a:solidFill>
          <a:ln/>
        </p:spPr>
      </p:sp>
      <p:sp>
        <p:nvSpPr>
          <p:cNvPr id="346" name="Text 342"/>
          <p:cNvSpPr txBox="1"/>
          <p:nvPr/>
        </p:nvSpPr>
        <p:spPr>
          <a:xfrm>
            <a:off x="10625328" y="5394960"/>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1.6x</a:t>
            </a:r>
            <a:endParaRPr lang="en-US" sz="900" dirty="0"/>
          </a:p>
        </p:txBody>
      </p:sp>
      <p:sp>
        <p:nvSpPr>
          <p:cNvPr id="347" name="Text 343"/>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model v1.1 (Scenarios, Sensitivity). Model output from sourced and assumed inputs, not measured. Base marker on the churn grid is about ₹38k acquisition cost at 3 % churn.</a:t>
            </a:r>
            <a:endParaRPr lang="en-US" sz="850" dirty="0"/>
          </a:p>
        </p:txBody>
      </p:sp>
      <p:pic>
        <p:nvPicPr>
          <p:cNvPr id="348"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349"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350"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351"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352"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353"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354"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timeline">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8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2: THREE-YEAR PLAN AND SEGMENTS</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A three-year plan capped by the market, and how size changes the economics</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70432"/>
            <a:ext cx="256032" cy="256032"/>
          </a:xfrm>
          <a:prstGeom prst="rect">
            <a:avLst/>
          </a:prstGeom>
          <a:solidFill>
            <a:srgbClr val="1F4A82"/>
          </a:solidFill>
          <a:ln/>
        </p:spPr>
      </p:sp>
      <p:sp>
        <p:nvSpPr>
          <p:cNvPr id="27" name="Text 23"/>
          <p:cNvSpPr txBox="1"/>
          <p:nvPr/>
        </p:nvSpPr>
        <p:spPr>
          <a:xfrm>
            <a:off x="411480" y="11704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a:t>
            </a:r>
            <a:endParaRPr lang="en-US" sz="1150" dirty="0"/>
          </a:p>
        </p:txBody>
      </p:sp>
      <p:sp>
        <p:nvSpPr>
          <p:cNvPr id="28" name="Text 24"/>
          <p:cNvSpPr txBox="1"/>
          <p:nvPr/>
        </p:nvSpPr>
        <p:spPr>
          <a:xfrm>
            <a:off x="740664" y="1170432"/>
            <a:ext cx="543153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THREE-YEAR PROJECTION (₹)</a:t>
            </a:r>
            <a:endParaRPr lang="en-US" sz="1200" dirty="0"/>
          </a:p>
        </p:txBody>
      </p:sp>
      <p:sp>
        <p:nvSpPr>
          <p:cNvPr id="29" name="Shape 25"/>
          <p:cNvSpPr/>
          <p:nvPr/>
        </p:nvSpPr>
        <p:spPr>
          <a:xfrm>
            <a:off x="411480" y="1481328"/>
            <a:ext cx="2377440" cy="274320"/>
          </a:xfrm>
          <a:prstGeom prst="rect">
            <a:avLst/>
          </a:prstGeom>
          <a:solidFill>
            <a:srgbClr val="1F4A82"/>
          </a:solidFill>
          <a:ln/>
        </p:spPr>
      </p:sp>
      <p:sp>
        <p:nvSpPr>
          <p:cNvPr id="30" name="Text 26"/>
          <p:cNvSpPr txBox="1"/>
          <p:nvPr/>
        </p:nvSpPr>
        <p:spPr>
          <a:xfrm>
            <a:off x="457200" y="1481328"/>
            <a:ext cx="2286000" cy="274320"/>
          </a:xfrm>
          <a:prstGeom prst="rect">
            <a:avLst/>
          </a:prstGeom>
          <a:noFill/>
          <a:ln/>
        </p:spPr>
        <p:txBody>
          <a:bodyPr wrap="square" lIns="0" tIns="0" rIns="0" bIns="0" rtlCol="0" anchor="ctr"/>
          <a:lstStyle/>
          <a:p>
            <a:pPr algn="l" indent="0" marL="0">
              <a:buNone/>
            </a:pPr>
            <a:endParaRPr lang="en-US" sz="1000" dirty="0"/>
          </a:p>
        </p:txBody>
      </p:sp>
      <p:sp>
        <p:nvSpPr>
          <p:cNvPr id="31" name="Shape 27"/>
          <p:cNvSpPr/>
          <p:nvPr/>
        </p:nvSpPr>
        <p:spPr>
          <a:xfrm>
            <a:off x="2788920" y="1481328"/>
            <a:ext cx="1097280" cy="274320"/>
          </a:xfrm>
          <a:prstGeom prst="rect">
            <a:avLst/>
          </a:prstGeom>
          <a:solidFill>
            <a:srgbClr val="5B6573"/>
          </a:solidFill>
          <a:ln/>
        </p:spPr>
      </p:sp>
      <p:sp>
        <p:nvSpPr>
          <p:cNvPr id="32" name="Text 28"/>
          <p:cNvSpPr txBox="1"/>
          <p:nvPr/>
        </p:nvSpPr>
        <p:spPr>
          <a:xfrm>
            <a:off x="2834640" y="1481328"/>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Bear</a:t>
            </a:r>
            <a:endParaRPr lang="en-US" sz="1000" dirty="0"/>
          </a:p>
        </p:txBody>
      </p:sp>
      <p:sp>
        <p:nvSpPr>
          <p:cNvPr id="33" name="Shape 29"/>
          <p:cNvSpPr/>
          <p:nvPr/>
        </p:nvSpPr>
        <p:spPr>
          <a:xfrm>
            <a:off x="3886200" y="1481328"/>
            <a:ext cx="1188720" cy="274320"/>
          </a:xfrm>
          <a:prstGeom prst="rect">
            <a:avLst/>
          </a:prstGeom>
          <a:solidFill>
            <a:srgbClr val="1F4A82"/>
          </a:solidFill>
          <a:ln/>
        </p:spPr>
      </p:sp>
      <p:sp>
        <p:nvSpPr>
          <p:cNvPr id="34" name="Text 30"/>
          <p:cNvSpPr txBox="1"/>
          <p:nvPr/>
        </p:nvSpPr>
        <p:spPr>
          <a:xfrm>
            <a:off x="3931920" y="14813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Base</a:t>
            </a:r>
            <a:endParaRPr lang="en-US" sz="1000" dirty="0"/>
          </a:p>
        </p:txBody>
      </p:sp>
      <p:sp>
        <p:nvSpPr>
          <p:cNvPr id="35" name="Shape 31"/>
          <p:cNvSpPr/>
          <p:nvPr/>
        </p:nvSpPr>
        <p:spPr>
          <a:xfrm>
            <a:off x="5074920" y="1481328"/>
            <a:ext cx="1097280" cy="274320"/>
          </a:xfrm>
          <a:prstGeom prst="rect">
            <a:avLst/>
          </a:prstGeom>
          <a:solidFill>
            <a:srgbClr val="5B6573"/>
          </a:solidFill>
          <a:ln/>
        </p:spPr>
      </p:sp>
      <p:sp>
        <p:nvSpPr>
          <p:cNvPr id="36" name="Text 32"/>
          <p:cNvSpPr txBox="1"/>
          <p:nvPr/>
        </p:nvSpPr>
        <p:spPr>
          <a:xfrm>
            <a:off x="5120640" y="1481328"/>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Bull</a:t>
            </a:r>
            <a:endParaRPr lang="en-US" sz="1000" dirty="0"/>
          </a:p>
        </p:txBody>
      </p:sp>
      <p:sp>
        <p:nvSpPr>
          <p:cNvPr id="37" name="Shape 33"/>
          <p:cNvSpPr/>
          <p:nvPr/>
        </p:nvSpPr>
        <p:spPr>
          <a:xfrm>
            <a:off x="411480" y="1755648"/>
            <a:ext cx="2377440" cy="347472"/>
          </a:xfrm>
          <a:prstGeom prst="rect">
            <a:avLst/>
          </a:prstGeom>
          <a:solidFill>
            <a:srgbClr val="F1F7F3"/>
          </a:solidFill>
          <a:ln/>
        </p:spPr>
      </p:sp>
      <p:sp>
        <p:nvSpPr>
          <p:cNvPr id="38" name="Text 34"/>
          <p:cNvSpPr txBox="1"/>
          <p:nvPr/>
        </p:nvSpPr>
        <p:spPr>
          <a:xfrm>
            <a:off x="457200" y="1755648"/>
            <a:ext cx="2286000" cy="347472"/>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Revenue in year 3</a:t>
            </a:r>
            <a:endParaRPr lang="en-US" sz="1000" dirty="0"/>
          </a:p>
        </p:txBody>
      </p:sp>
      <p:sp>
        <p:nvSpPr>
          <p:cNvPr id="39" name="Shape 35"/>
          <p:cNvSpPr/>
          <p:nvPr/>
        </p:nvSpPr>
        <p:spPr>
          <a:xfrm>
            <a:off x="2788920" y="1755648"/>
            <a:ext cx="1097280" cy="347472"/>
          </a:xfrm>
          <a:prstGeom prst="rect">
            <a:avLst/>
          </a:prstGeom>
          <a:solidFill>
            <a:srgbClr val="F1F7F3"/>
          </a:solidFill>
          <a:ln/>
        </p:spPr>
      </p:sp>
      <p:sp>
        <p:nvSpPr>
          <p:cNvPr id="40" name="Text 36"/>
          <p:cNvSpPr txBox="1"/>
          <p:nvPr/>
        </p:nvSpPr>
        <p:spPr>
          <a:xfrm>
            <a:off x="2834640" y="1755648"/>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₹11.0 L</a:t>
            </a:r>
            <a:endParaRPr lang="en-US" sz="1000" dirty="0"/>
          </a:p>
        </p:txBody>
      </p:sp>
      <p:sp>
        <p:nvSpPr>
          <p:cNvPr id="41" name="Shape 37"/>
          <p:cNvSpPr/>
          <p:nvPr/>
        </p:nvSpPr>
        <p:spPr>
          <a:xfrm>
            <a:off x="3886200" y="1755648"/>
            <a:ext cx="1188720" cy="347472"/>
          </a:xfrm>
          <a:prstGeom prst="rect">
            <a:avLst/>
          </a:prstGeom>
          <a:solidFill>
            <a:srgbClr val="D6E4F5"/>
          </a:solidFill>
          <a:ln/>
        </p:spPr>
      </p:sp>
      <p:sp>
        <p:nvSpPr>
          <p:cNvPr id="42" name="Text 38"/>
          <p:cNvSpPr txBox="1"/>
          <p:nvPr/>
        </p:nvSpPr>
        <p:spPr>
          <a:xfrm>
            <a:off x="3931920" y="1755648"/>
            <a:ext cx="1097280" cy="347472"/>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₹65.3 L</a:t>
            </a:r>
            <a:endParaRPr lang="en-US" sz="1000" dirty="0"/>
          </a:p>
        </p:txBody>
      </p:sp>
      <p:sp>
        <p:nvSpPr>
          <p:cNvPr id="43" name="Shape 39"/>
          <p:cNvSpPr/>
          <p:nvPr/>
        </p:nvSpPr>
        <p:spPr>
          <a:xfrm>
            <a:off x="5074920" y="1755648"/>
            <a:ext cx="1097280" cy="347472"/>
          </a:xfrm>
          <a:prstGeom prst="rect">
            <a:avLst/>
          </a:prstGeom>
          <a:solidFill>
            <a:srgbClr val="F1F7F3"/>
          </a:solidFill>
          <a:ln/>
        </p:spPr>
      </p:sp>
      <p:sp>
        <p:nvSpPr>
          <p:cNvPr id="44" name="Text 40"/>
          <p:cNvSpPr txBox="1"/>
          <p:nvPr/>
        </p:nvSpPr>
        <p:spPr>
          <a:xfrm>
            <a:off x="5120640" y="1755648"/>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₹2.50 Cr</a:t>
            </a:r>
            <a:endParaRPr lang="en-US" sz="1000" dirty="0"/>
          </a:p>
        </p:txBody>
      </p:sp>
      <p:sp>
        <p:nvSpPr>
          <p:cNvPr id="45" name="Shape 41"/>
          <p:cNvSpPr/>
          <p:nvPr/>
        </p:nvSpPr>
        <p:spPr>
          <a:xfrm>
            <a:off x="411480" y="2103120"/>
            <a:ext cx="5760720" cy="0"/>
          </a:xfrm>
          <a:prstGeom prst="line">
            <a:avLst/>
          </a:prstGeom>
          <a:noFill/>
          <a:ln w="6350">
            <a:solidFill>
              <a:srgbClr val="E3E8E4"/>
            </a:solidFill>
            <a:prstDash val="solid"/>
          </a:ln>
        </p:spPr>
      </p:sp>
      <p:sp>
        <p:nvSpPr>
          <p:cNvPr id="46" name="Shape 42"/>
          <p:cNvSpPr/>
          <p:nvPr/>
        </p:nvSpPr>
        <p:spPr>
          <a:xfrm>
            <a:off x="411480" y="2103120"/>
            <a:ext cx="2377440" cy="347472"/>
          </a:xfrm>
          <a:prstGeom prst="rect">
            <a:avLst/>
          </a:prstGeom>
          <a:solidFill>
            <a:srgbClr val="FFFFFF"/>
          </a:solidFill>
          <a:ln/>
        </p:spPr>
      </p:sp>
      <p:sp>
        <p:nvSpPr>
          <p:cNvPr id="47" name="Text 43"/>
          <p:cNvSpPr txBox="1"/>
          <p:nvPr/>
        </p:nvSpPr>
        <p:spPr>
          <a:xfrm>
            <a:off x="457200" y="2103120"/>
            <a:ext cx="2286000" cy="347472"/>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EBITDA in year 3</a:t>
            </a:r>
            <a:endParaRPr lang="en-US" sz="1000" dirty="0"/>
          </a:p>
        </p:txBody>
      </p:sp>
      <p:sp>
        <p:nvSpPr>
          <p:cNvPr id="48" name="Shape 44"/>
          <p:cNvSpPr/>
          <p:nvPr/>
        </p:nvSpPr>
        <p:spPr>
          <a:xfrm>
            <a:off x="2788920" y="2103120"/>
            <a:ext cx="1097280" cy="347472"/>
          </a:xfrm>
          <a:prstGeom prst="rect">
            <a:avLst/>
          </a:prstGeom>
          <a:solidFill>
            <a:srgbClr val="FFFFFF"/>
          </a:solidFill>
          <a:ln/>
        </p:spPr>
      </p:sp>
      <p:sp>
        <p:nvSpPr>
          <p:cNvPr id="49" name="Text 45"/>
          <p:cNvSpPr txBox="1"/>
          <p:nvPr/>
        </p:nvSpPr>
        <p:spPr>
          <a:xfrm>
            <a:off x="2834640" y="2103120"/>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-₹30.2 L</a:t>
            </a:r>
            <a:endParaRPr lang="en-US" sz="1000" dirty="0"/>
          </a:p>
        </p:txBody>
      </p:sp>
      <p:sp>
        <p:nvSpPr>
          <p:cNvPr id="50" name="Shape 46"/>
          <p:cNvSpPr/>
          <p:nvPr/>
        </p:nvSpPr>
        <p:spPr>
          <a:xfrm>
            <a:off x="3886200" y="2103120"/>
            <a:ext cx="1188720" cy="347472"/>
          </a:xfrm>
          <a:prstGeom prst="rect">
            <a:avLst/>
          </a:prstGeom>
          <a:solidFill>
            <a:srgbClr val="D6E4F5"/>
          </a:solidFill>
          <a:ln/>
        </p:spPr>
      </p:sp>
      <p:sp>
        <p:nvSpPr>
          <p:cNvPr id="51" name="Text 47"/>
          <p:cNvSpPr txBox="1"/>
          <p:nvPr/>
        </p:nvSpPr>
        <p:spPr>
          <a:xfrm>
            <a:off x="3931920" y="2103120"/>
            <a:ext cx="1097280" cy="347472"/>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₹11.9 L</a:t>
            </a:r>
            <a:endParaRPr lang="en-US" sz="1000" dirty="0"/>
          </a:p>
        </p:txBody>
      </p:sp>
      <p:sp>
        <p:nvSpPr>
          <p:cNvPr id="52" name="Shape 48"/>
          <p:cNvSpPr/>
          <p:nvPr/>
        </p:nvSpPr>
        <p:spPr>
          <a:xfrm>
            <a:off x="5074920" y="2103120"/>
            <a:ext cx="1097280" cy="347472"/>
          </a:xfrm>
          <a:prstGeom prst="rect">
            <a:avLst/>
          </a:prstGeom>
          <a:solidFill>
            <a:srgbClr val="FFFFFF"/>
          </a:solidFill>
          <a:ln/>
        </p:spPr>
      </p:sp>
      <p:sp>
        <p:nvSpPr>
          <p:cNvPr id="53" name="Text 49"/>
          <p:cNvSpPr txBox="1"/>
          <p:nvPr/>
        </p:nvSpPr>
        <p:spPr>
          <a:xfrm>
            <a:off x="5120640" y="2103120"/>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₹1.26 Cr</a:t>
            </a:r>
            <a:endParaRPr lang="en-US" sz="1000" dirty="0"/>
          </a:p>
        </p:txBody>
      </p:sp>
      <p:sp>
        <p:nvSpPr>
          <p:cNvPr id="54" name="Shape 50"/>
          <p:cNvSpPr/>
          <p:nvPr/>
        </p:nvSpPr>
        <p:spPr>
          <a:xfrm>
            <a:off x="411480" y="2450592"/>
            <a:ext cx="5760720" cy="0"/>
          </a:xfrm>
          <a:prstGeom prst="line">
            <a:avLst/>
          </a:prstGeom>
          <a:noFill/>
          <a:ln w="6350">
            <a:solidFill>
              <a:srgbClr val="E3E8E4"/>
            </a:solidFill>
            <a:prstDash val="solid"/>
          </a:ln>
        </p:spPr>
      </p:sp>
      <p:sp>
        <p:nvSpPr>
          <p:cNvPr id="55" name="Shape 51"/>
          <p:cNvSpPr/>
          <p:nvPr/>
        </p:nvSpPr>
        <p:spPr>
          <a:xfrm>
            <a:off x="411480" y="2450592"/>
            <a:ext cx="2377440" cy="347472"/>
          </a:xfrm>
          <a:prstGeom prst="rect">
            <a:avLst/>
          </a:prstGeom>
          <a:solidFill>
            <a:srgbClr val="F1F7F3"/>
          </a:solidFill>
          <a:ln/>
        </p:spPr>
      </p:sp>
      <p:sp>
        <p:nvSpPr>
          <p:cNvPr id="56" name="Text 52"/>
          <p:cNvSpPr txBox="1"/>
          <p:nvPr/>
        </p:nvSpPr>
        <p:spPr>
          <a:xfrm>
            <a:off x="457200" y="2450592"/>
            <a:ext cx="2286000" cy="347472"/>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Paying institutes, end of year 3</a:t>
            </a:r>
            <a:endParaRPr lang="en-US" sz="1000" dirty="0"/>
          </a:p>
        </p:txBody>
      </p:sp>
      <p:sp>
        <p:nvSpPr>
          <p:cNvPr id="57" name="Shape 53"/>
          <p:cNvSpPr/>
          <p:nvPr/>
        </p:nvSpPr>
        <p:spPr>
          <a:xfrm>
            <a:off x="2788920" y="2450592"/>
            <a:ext cx="1097280" cy="347472"/>
          </a:xfrm>
          <a:prstGeom prst="rect">
            <a:avLst/>
          </a:prstGeom>
          <a:solidFill>
            <a:srgbClr val="F1F7F3"/>
          </a:solidFill>
          <a:ln/>
        </p:spPr>
      </p:sp>
      <p:sp>
        <p:nvSpPr>
          <p:cNvPr id="58" name="Text 54"/>
          <p:cNvSpPr txBox="1"/>
          <p:nvPr/>
        </p:nvSpPr>
        <p:spPr>
          <a:xfrm>
            <a:off x="2834640" y="2450592"/>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15</a:t>
            </a:r>
            <a:endParaRPr lang="en-US" sz="1000" dirty="0"/>
          </a:p>
        </p:txBody>
      </p:sp>
      <p:sp>
        <p:nvSpPr>
          <p:cNvPr id="59" name="Shape 55"/>
          <p:cNvSpPr/>
          <p:nvPr/>
        </p:nvSpPr>
        <p:spPr>
          <a:xfrm>
            <a:off x="3886200" y="2450592"/>
            <a:ext cx="1188720" cy="347472"/>
          </a:xfrm>
          <a:prstGeom prst="rect">
            <a:avLst/>
          </a:prstGeom>
          <a:solidFill>
            <a:srgbClr val="D6E4F5"/>
          </a:solidFill>
          <a:ln/>
        </p:spPr>
      </p:sp>
      <p:sp>
        <p:nvSpPr>
          <p:cNvPr id="60" name="Text 56"/>
          <p:cNvSpPr txBox="1"/>
          <p:nvPr/>
        </p:nvSpPr>
        <p:spPr>
          <a:xfrm>
            <a:off x="3931920" y="2450592"/>
            <a:ext cx="1097280" cy="347472"/>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58</a:t>
            </a:r>
            <a:endParaRPr lang="en-US" sz="1000" dirty="0"/>
          </a:p>
        </p:txBody>
      </p:sp>
      <p:sp>
        <p:nvSpPr>
          <p:cNvPr id="61" name="Shape 57"/>
          <p:cNvSpPr/>
          <p:nvPr/>
        </p:nvSpPr>
        <p:spPr>
          <a:xfrm>
            <a:off x="5074920" y="2450592"/>
            <a:ext cx="1097280" cy="347472"/>
          </a:xfrm>
          <a:prstGeom prst="rect">
            <a:avLst/>
          </a:prstGeom>
          <a:solidFill>
            <a:srgbClr val="F1F7F3"/>
          </a:solidFill>
          <a:ln/>
        </p:spPr>
      </p:sp>
      <p:sp>
        <p:nvSpPr>
          <p:cNvPr id="62" name="Text 58"/>
          <p:cNvSpPr txBox="1"/>
          <p:nvPr/>
        </p:nvSpPr>
        <p:spPr>
          <a:xfrm>
            <a:off x="5120640" y="2450592"/>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191</a:t>
            </a:r>
            <a:endParaRPr lang="en-US" sz="1000" dirty="0"/>
          </a:p>
        </p:txBody>
      </p:sp>
      <p:sp>
        <p:nvSpPr>
          <p:cNvPr id="63" name="Shape 59"/>
          <p:cNvSpPr/>
          <p:nvPr/>
        </p:nvSpPr>
        <p:spPr>
          <a:xfrm>
            <a:off x="411480" y="2798064"/>
            <a:ext cx="5760720" cy="0"/>
          </a:xfrm>
          <a:prstGeom prst="line">
            <a:avLst/>
          </a:prstGeom>
          <a:noFill/>
          <a:ln w="6350">
            <a:solidFill>
              <a:srgbClr val="E3E8E4"/>
            </a:solidFill>
            <a:prstDash val="solid"/>
          </a:ln>
        </p:spPr>
      </p:sp>
      <p:sp>
        <p:nvSpPr>
          <p:cNvPr id="64" name="Shape 60"/>
          <p:cNvSpPr/>
          <p:nvPr/>
        </p:nvSpPr>
        <p:spPr>
          <a:xfrm>
            <a:off x="411480" y="2798064"/>
            <a:ext cx="2377440" cy="347472"/>
          </a:xfrm>
          <a:prstGeom prst="rect">
            <a:avLst/>
          </a:prstGeom>
          <a:solidFill>
            <a:srgbClr val="FFFFFF"/>
          </a:solidFill>
          <a:ln/>
        </p:spPr>
      </p:sp>
      <p:sp>
        <p:nvSpPr>
          <p:cNvPr id="65" name="Text 61"/>
          <p:cNvSpPr txBox="1"/>
          <p:nvPr/>
        </p:nvSpPr>
        <p:spPr>
          <a:xfrm>
            <a:off x="457200" y="2798064"/>
            <a:ext cx="2286000" cy="347472"/>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Funding the model needs</a:t>
            </a:r>
            <a:endParaRPr lang="en-US" sz="1000" dirty="0"/>
          </a:p>
        </p:txBody>
      </p:sp>
      <p:sp>
        <p:nvSpPr>
          <p:cNvPr id="66" name="Shape 62"/>
          <p:cNvSpPr/>
          <p:nvPr/>
        </p:nvSpPr>
        <p:spPr>
          <a:xfrm>
            <a:off x="2788920" y="2798064"/>
            <a:ext cx="1097280" cy="347472"/>
          </a:xfrm>
          <a:prstGeom prst="rect">
            <a:avLst/>
          </a:prstGeom>
          <a:solidFill>
            <a:srgbClr val="FFFFFF"/>
          </a:solidFill>
          <a:ln/>
        </p:spPr>
      </p:sp>
      <p:sp>
        <p:nvSpPr>
          <p:cNvPr id="67" name="Text 63"/>
          <p:cNvSpPr txBox="1"/>
          <p:nvPr/>
        </p:nvSpPr>
        <p:spPr>
          <a:xfrm>
            <a:off x="2834640" y="2798064"/>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₹1.00 Cr</a:t>
            </a:r>
            <a:endParaRPr lang="en-US" sz="1000" dirty="0"/>
          </a:p>
        </p:txBody>
      </p:sp>
      <p:sp>
        <p:nvSpPr>
          <p:cNvPr id="68" name="Shape 64"/>
          <p:cNvSpPr/>
          <p:nvPr/>
        </p:nvSpPr>
        <p:spPr>
          <a:xfrm>
            <a:off x="3886200" y="2798064"/>
            <a:ext cx="1188720" cy="347472"/>
          </a:xfrm>
          <a:prstGeom prst="rect">
            <a:avLst/>
          </a:prstGeom>
          <a:solidFill>
            <a:srgbClr val="D6E4F5"/>
          </a:solidFill>
          <a:ln/>
        </p:spPr>
      </p:sp>
      <p:sp>
        <p:nvSpPr>
          <p:cNvPr id="69" name="Text 65"/>
          <p:cNvSpPr txBox="1"/>
          <p:nvPr/>
        </p:nvSpPr>
        <p:spPr>
          <a:xfrm>
            <a:off x="3931920" y="2798064"/>
            <a:ext cx="1097280" cy="347472"/>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₹45.0 L</a:t>
            </a:r>
            <a:endParaRPr lang="en-US" sz="1000" dirty="0"/>
          </a:p>
        </p:txBody>
      </p:sp>
      <p:sp>
        <p:nvSpPr>
          <p:cNvPr id="70" name="Shape 66"/>
          <p:cNvSpPr/>
          <p:nvPr/>
        </p:nvSpPr>
        <p:spPr>
          <a:xfrm>
            <a:off x="5074920" y="2798064"/>
            <a:ext cx="1097280" cy="347472"/>
          </a:xfrm>
          <a:prstGeom prst="rect">
            <a:avLst/>
          </a:prstGeom>
          <a:solidFill>
            <a:srgbClr val="FFFFFF"/>
          </a:solidFill>
          <a:ln/>
        </p:spPr>
      </p:sp>
      <p:sp>
        <p:nvSpPr>
          <p:cNvPr id="71" name="Text 67"/>
          <p:cNvSpPr txBox="1"/>
          <p:nvPr/>
        </p:nvSpPr>
        <p:spPr>
          <a:xfrm>
            <a:off x="5120640" y="2798064"/>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₹30.0 L</a:t>
            </a:r>
            <a:endParaRPr lang="en-US" sz="1000" dirty="0"/>
          </a:p>
        </p:txBody>
      </p:sp>
      <p:sp>
        <p:nvSpPr>
          <p:cNvPr id="72" name="Shape 68"/>
          <p:cNvSpPr/>
          <p:nvPr/>
        </p:nvSpPr>
        <p:spPr>
          <a:xfrm>
            <a:off x="411480" y="3145536"/>
            <a:ext cx="5760720" cy="0"/>
          </a:xfrm>
          <a:prstGeom prst="line">
            <a:avLst/>
          </a:prstGeom>
          <a:noFill/>
          <a:ln w="6350">
            <a:solidFill>
              <a:srgbClr val="E3E8E4"/>
            </a:solidFill>
            <a:prstDash val="solid"/>
          </a:ln>
        </p:spPr>
      </p:sp>
      <p:sp>
        <p:nvSpPr>
          <p:cNvPr id="73" name="Shape 69"/>
          <p:cNvSpPr/>
          <p:nvPr/>
        </p:nvSpPr>
        <p:spPr>
          <a:xfrm>
            <a:off x="411480" y="3145536"/>
            <a:ext cx="2377440" cy="347472"/>
          </a:xfrm>
          <a:prstGeom prst="rect">
            <a:avLst/>
          </a:prstGeom>
          <a:solidFill>
            <a:srgbClr val="F1F7F3"/>
          </a:solidFill>
          <a:ln/>
        </p:spPr>
      </p:sp>
      <p:sp>
        <p:nvSpPr>
          <p:cNvPr id="74" name="Text 70"/>
          <p:cNvSpPr txBox="1"/>
          <p:nvPr/>
        </p:nvSpPr>
        <p:spPr>
          <a:xfrm>
            <a:off x="457200" y="3145536"/>
            <a:ext cx="2286000" cy="347472"/>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Break-even month</a:t>
            </a:r>
            <a:endParaRPr lang="en-US" sz="1000" dirty="0"/>
          </a:p>
        </p:txBody>
      </p:sp>
      <p:sp>
        <p:nvSpPr>
          <p:cNvPr id="75" name="Shape 71"/>
          <p:cNvSpPr/>
          <p:nvPr/>
        </p:nvSpPr>
        <p:spPr>
          <a:xfrm>
            <a:off x="2788920" y="3145536"/>
            <a:ext cx="1097280" cy="347472"/>
          </a:xfrm>
          <a:prstGeom prst="rect">
            <a:avLst/>
          </a:prstGeom>
          <a:solidFill>
            <a:srgbClr val="F1F7F3"/>
          </a:solidFill>
          <a:ln/>
        </p:spPr>
      </p:sp>
      <p:sp>
        <p:nvSpPr>
          <p:cNvPr id="76" name="Text 72"/>
          <p:cNvSpPr txBox="1"/>
          <p:nvPr/>
        </p:nvSpPr>
        <p:spPr>
          <a:xfrm>
            <a:off x="2834640" y="3145536"/>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after 36</a:t>
            </a:r>
            <a:endParaRPr lang="en-US" sz="1000" dirty="0"/>
          </a:p>
        </p:txBody>
      </p:sp>
      <p:sp>
        <p:nvSpPr>
          <p:cNvPr id="77" name="Shape 73"/>
          <p:cNvSpPr/>
          <p:nvPr/>
        </p:nvSpPr>
        <p:spPr>
          <a:xfrm>
            <a:off x="3886200" y="3145536"/>
            <a:ext cx="1188720" cy="347472"/>
          </a:xfrm>
          <a:prstGeom prst="rect">
            <a:avLst/>
          </a:prstGeom>
          <a:solidFill>
            <a:srgbClr val="D6E4F5"/>
          </a:solidFill>
          <a:ln/>
        </p:spPr>
      </p:sp>
      <p:sp>
        <p:nvSpPr>
          <p:cNvPr id="78" name="Text 74"/>
          <p:cNvSpPr txBox="1"/>
          <p:nvPr/>
        </p:nvSpPr>
        <p:spPr>
          <a:xfrm>
            <a:off x="3931920" y="3145536"/>
            <a:ext cx="1097280" cy="347472"/>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16</a:t>
            </a:r>
            <a:endParaRPr lang="en-US" sz="1000" dirty="0"/>
          </a:p>
        </p:txBody>
      </p:sp>
      <p:sp>
        <p:nvSpPr>
          <p:cNvPr id="79" name="Shape 75"/>
          <p:cNvSpPr/>
          <p:nvPr/>
        </p:nvSpPr>
        <p:spPr>
          <a:xfrm>
            <a:off x="5074920" y="3145536"/>
            <a:ext cx="1097280" cy="347472"/>
          </a:xfrm>
          <a:prstGeom prst="rect">
            <a:avLst/>
          </a:prstGeom>
          <a:solidFill>
            <a:srgbClr val="F1F7F3"/>
          </a:solidFill>
          <a:ln/>
        </p:spPr>
      </p:sp>
      <p:sp>
        <p:nvSpPr>
          <p:cNvPr id="80" name="Text 76"/>
          <p:cNvSpPr txBox="1"/>
          <p:nvPr/>
        </p:nvSpPr>
        <p:spPr>
          <a:xfrm>
            <a:off x="5120640" y="3145536"/>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a:t>
            </a:r>
            <a:endParaRPr lang="en-US" sz="1000" dirty="0"/>
          </a:p>
        </p:txBody>
      </p:sp>
      <p:sp>
        <p:nvSpPr>
          <p:cNvPr id="81" name="Shape 77"/>
          <p:cNvSpPr/>
          <p:nvPr/>
        </p:nvSpPr>
        <p:spPr>
          <a:xfrm>
            <a:off x="411480" y="3493008"/>
            <a:ext cx="5760720" cy="0"/>
          </a:xfrm>
          <a:prstGeom prst="line">
            <a:avLst/>
          </a:prstGeom>
          <a:noFill/>
          <a:ln w="6350">
            <a:solidFill>
              <a:srgbClr val="E3E8E4"/>
            </a:solidFill>
            <a:prstDash val="solid"/>
          </a:ln>
        </p:spPr>
      </p:sp>
      <p:sp>
        <p:nvSpPr>
          <p:cNvPr id="82" name="Text 78"/>
          <p:cNvSpPr txBox="1"/>
          <p:nvPr/>
        </p:nvSpPr>
        <p:spPr>
          <a:xfrm>
            <a:off x="411480" y="3566160"/>
            <a:ext cx="5760720" cy="365760"/>
          </a:xfrm>
          <a:prstGeom prst="rect">
            <a:avLst/>
          </a:prstGeom>
          <a:noFill/>
          <a:ln/>
        </p:spPr>
        <p:txBody>
          <a:bodyPr wrap="square" lIns="0" tIns="0" rIns="0" bIns="0" rtlCol="0" anchor="t"/>
          <a:lstStyle/>
          <a:p>
            <a:pPr algn="l" indent="0" marL="0">
              <a:buNone/>
            </a:pPr>
            <a:r>
              <a:rPr lang="en-US" sz="900" i="1" dirty="0">
                <a:solidFill>
                  <a:srgbClr val="5B6573"/>
                </a:solidFill>
                <a:latin typeface="Calibri" pitchFamily="34" charset="0"/>
                <a:ea typeface="Calibri" pitchFamily="34" charset="-122"/>
                <a:cs typeface="Calibri" pitchFamily="34" charset="-120"/>
              </a:rPr>
              <a:t>Market cap: 1,180 addressable institutes in five states x 8 % penetration (derived, mostly assumption). Bear funding assumes no cost response.</a:t>
            </a:r>
            <a:endParaRPr lang="en-US" sz="900" dirty="0"/>
          </a:p>
        </p:txBody>
      </p:sp>
      <p:sp>
        <p:nvSpPr>
          <p:cNvPr id="83" name="Shape 79"/>
          <p:cNvSpPr/>
          <p:nvPr/>
        </p:nvSpPr>
        <p:spPr>
          <a:xfrm>
            <a:off x="411480" y="3977640"/>
            <a:ext cx="256032" cy="256032"/>
          </a:xfrm>
          <a:prstGeom prst="rect">
            <a:avLst/>
          </a:prstGeom>
          <a:solidFill>
            <a:srgbClr val="1F4A82"/>
          </a:solidFill>
          <a:ln/>
        </p:spPr>
      </p:sp>
      <p:sp>
        <p:nvSpPr>
          <p:cNvPr id="84" name="Text 80"/>
          <p:cNvSpPr txBox="1"/>
          <p:nvPr/>
        </p:nvSpPr>
        <p:spPr>
          <a:xfrm>
            <a:off x="411480" y="397764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a:t>
            </a:r>
            <a:endParaRPr lang="en-US" sz="1150" dirty="0"/>
          </a:p>
        </p:txBody>
      </p:sp>
      <p:sp>
        <p:nvSpPr>
          <p:cNvPr id="85" name="Text 81"/>
          <p:cNvSpPr txBox="1"/>
          <p:nvPr/>
        </p:nvSpPr>
        <p:spPr>
          <a:xfrm>
            <a:off x="740664" y="3977640"/>
            <a:ext cx="543153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BASE CASE, YEAR BY YEAR (₹ LAKH)</a:t>
            </a:r>
            <a:endParaRPr lang="en-US" sz="1200" dirty="0"/>
          </a:p>
        </p:txBody>
      </p:sp>
      <p:sp>
        <p:nvSpPr>
          <p:cNvPr id="86" name="Shape 82"/>
          <p:cNvSpPr/>
          <p:nvPr/>
        </p:nvSpPr>
        <p:spPr>
          <a:xfrm>
            <a:off x="777240" y="5254508"/>
            <a:ext cx="640080" cy="414772"/>
          </a:xfrm>
          <a:prstGeom prst="rect">
            <a:avLst/>
          </a:prstGeom>
          <a:solidFill>
            <a:srgbClr val="1F4A82"/>
          </a:solidFill>
          <a:ln/>
        </p:spPr>
      </p:sp>
      <p:sp>
        <p:nvSpPr>
          <p:cNvPr id="87" name="Text 83"/>
          <p:cNvSpPr txBox="1"/>
          <p:nvPr/>
        </p:nvSpPr>
        <p:spPr>
          <a:xfrm>
            <a:off x="685800" y="5016764"/>
            <a:ext cx="822960" cy="219456"/>
          </a:xfrm>
          <a:prstGeom prst="rect">
            <a:avLst/>
          </a:prstGeom>
          <a:noFill/>
          <a:ln/>
        </p:spPr>
        <p:txBody>
          <a:bodyPr wrap="square" lIns="0" tIns="0" rIns="0" bIns="0" rtlCol="0" anchor="t"/>
          <a:lstStyle/>
          <a:p>
            <a:pPr algn="ctr" indent="0" marL="0">
              <a:buNone/>
            </a:pPr>
            <a:r>
              <a:rPr lang="en-US" sz="1000" b="1" dirty="0">
                <a:solidFill>
                  <a:srgbClr val="17325C"/>
                </a:solidFill>
                <a:latin typeface="Calibri" pitchFamily="34" charset="0"/>
                <a:ea typeface="Calibri" pitchFamily="34" charset="-122"/>
                <a:cs typeface="Calibri" pitchFamily="34" charset="-120"/>
              </a:rPr>
              <a:t>₹18.9</a:t>
            </a:r>
            <a:endParaRPr lang="en-US" sz="1000" dirty="0"/>
          </a:p>
        </p:txBody>
      </p:sp>
      <p:sp>
        <p:nvSpPr>
          <p:cNvPr id="88" name="Shape 84"/>
          <p:cNvSpPr/>
          <p:nvPr/>
        </p:nvSpPr>
        <p:spPr>
          <a:xfrm>
            <a:off x="1490472" y="5669280"/>
            <a:ext cx="502920" cy="353324"/>
          </a:xfrm>
          <a:prstGeom prst="rect">
            <a:avLst/>
          </a:prstGeom>
          <a:solidFill>
            <a:srgbClr val="C0392B"/>
          </a:solidFill>
          <a:ln/>
        </p:spPr>
      </p:sp>
      <p:sp>
        <p:nvSpPr>
          <p:cNvPr id="89" name="Text 85"/>
          <p:cNvSpPr txBox="1"/>
          <p:nvPr/>
        </p:nvSpPr>
        <p:spPr>
          <a:xfrm>
            <a:off x="1399032" y="6031748"/>
            <a:ext cx="685800" cy="219456"/>
          </a:xfrm>
          <a:prstGeom prst="rect">
            <a:avLst/>
          </a:prstGeom>
          <a:noFill/>
          <a:ln/>
        </p:spPr>
        <p:txBody>
          <a:bodyPr wrap="square" lIns="0" tIns="0" rIns="0" bIns="0" rtlCol="0" anchor="t"/>
          <a:lstStyle/>
          <a:p>
            <a:pPr algn="ctr" indent="0" marL="0">
              <a:buNone/>
            </a:pPr>
            <a:r>
              <a:rPr lang="en-US" sz="900" dirty="0">
                <a:solidFill>
                  <a:srgbClr val="5B6573"/>
                </a:solidFill>
                <a:latin typeface="Calibri" pitchFamily="34" charset="0"/>
                <a:ea typeface="Calibri" pitchFamily="34" charset="-122"/>
                <a:cs typeface="Calibri" pitchFamily="34" charset="-120"/>
              </a:rPr>
              <a:t>-16.1</a:t>
            </a:r>
            <a:endParaRPr lang="en-US" sz="900" dirty="0"/>
          </a:p>
        </p:txBody>
      </p:sp>
      <p:sp>
        <p:nvSpPr>
          <p:cNvPr id="90" name="Text 86"/>
          <p:cNvSpPr txBox="1"/>
          <p:nvPr/>
        </p:nvSpPr>
        <p:spPr>
          <a:xfrm>
            <a:off x="548640" y="6108192"/>
            <a:ext cx="1737360" cy="20116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Year 1  ·  28 institutes</a:t>
            </a:r>
            <a:endParaRPr lang="en-US" sz="900" dirty="0"/>
          </a:p>
        </p:txBody>
      </p:sp>
      <p:sp>
        <p:nvSpPr>
          <p:cNvPr id="91" name="Shape 87"/>
          <p:cNvSpPr/>
          <p:nvPr/>
        </p:nvSpPr>
        <p:spPr>
          <a:xfrm>
            <a:off x="2651760" y="4615891"/>
            <a:ext cx="640080" cy="1053389"/>
          </a:xfrm>
          <a:prstGeom prst="rect">
            <a:avLst/>
          </a:prstGeom>
          <a:solidFill>
            <a:srgbClr val="1F4A82"/>
          </a:solidFill>
          <a:ln/>
        </p:spPr>
      </p:sp>
      <p:sp>
        <p:nvSpPr>
          <p:cNvPr id="92" name="Text 88"/>
          <p:cNvSpPr txBox="1"/>
          <p:nvPr/>
        </p:nvSpPr>
        <p:spPr>
          <a:xfrm>
            <a:off x="2560320" y="4378147"/>
            <a:ext cx="822960" cy="219456"/>
          </a:xfrm>
          <a:prstGeom prst="rect">
            <a:avLst/>
          </a:prstGeom>
          <a:noFill/>
          <a:ln/>
        </p:spPr>
        <p:txBody>
          <a:bodyPr wrap="square" lIns="0" tIns="0" rIns="0" bIns="0" rtlCol="0" anchor="t"/>
          <a:lstStyle/>
          <a:p>
            <a:pPr algn="ctr" indent="0" marL="0">
              <a:buNone/>
            </a:pPr>
            <a:r>
              <a:rPr lang="en-US" sz="1000" b="1" dirty="0">
                <a:solidFill>
                  <a:srgbClr val="17325C"/>
                </a:solidFill>
                <a:latin typeface="Calibri" pitchFamily="34" charset="0"/>
                <a:ea typeface="Calibri" pitchFamily="34" charset="-122"/>
                <a:cs typeface="Calibri" pitchFamily="34" charset="-120"/>
              </a:rPr>
              <a:t>₹48</a:t>
            </a:r>
            <a:endParaRPr lang="en-US" sz="1000" dirty="0"/>
          </a:p>
        </p:txBody>
      </p:sp>
      <p:sp>
        <p:nvSpPr>
          <p:cNvPr id="93" name="Shape 89"/>
          <p:cNvSpPr/>
          <p:nvPr/>
        </p:nvSpPr>
        <p:spPr>
          <a:xfrm>
            <a:off x="3364992" y="5669280"/>
            <a:ext cx="502920" cy="19751"/>
          </a:xfrm>
          <a:prstGeom prst="rect">
            <a:avLst/>
          </a:prstGeom>
          <a:solidFill>
            <a:srgbClr val="C0392B"/>
          </a:solidFill>
          <a:ln/>
        </p:spPr>
      </p:sp>
      <p:sp>
        <p:nvSpPr>
          <p:cNvPr id="94" name="Text 90"/>
          <p:cNvSpPr txBox="1"/>
          <p:nvPr/>
        </p:nvSpPr>
        <p:spPr>
          <a:xfrm>
            <a:off x="3273552" y="5698175"/>
            <a:ext cx="685800" cy="219456"/>
          </a:xfrm>
          <a:prstGeom prst="rect">
            <a:avLst/>
          </a:prstGeom>
          <a:noFill/>
          <a:ln/>
        </p:spPr>
        <p:txBody>
          <a:bodyPr wrap="square" lIns="0" tIns="0" rIns="0" bIns="0" rtlCol="0" anchor="t"/>
          <a:lstStyle/>
          <a:p>
            <a:pPr algn="ctr" indent="0" marL="0">
              <a:buNone/>
            </a:pPr>
            <a:r>
              <a:rPr lang="en-US" sz="900" dirty="0">
                <a:solidFill>
                  <a:srgbClr val="5B6573"/>
                </a:solidFill>
                <a:latin typeface="Calibri" pitchFamily="34" charset="0"/>
                <a:ea typeface="Calibri" pitchFamily="34" charset="-122"/>
                <a:cs typeface="Calibri" pitchFamily="34" charset="-120"/>
              </a:rPr>
              <a:t>-0.9</a:t>
            </a:r>
            <a:endParaRPr lang="en-US" sz="900" dirty="0"/>
          </a:p>
        </p:txBody>
      </p:sp>
      <p:sp>
        <p:nvSpPr>
          <p:cNvPr id="95" name="Text 91"/>
          <p:cNvSpPr txBox="1"/>
          <p:nvPr/>
        </p:nvSpPr>
        <p:spPr>
          <a:xfrm>
            <a:off x="2423160" y="6108192"/>
            <a:ext cx="1737360" cy="20116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Year 2  ·  51 institutes</a:t>
            </a:r>
            <a:endParaRPr lang="en-US" sz="900" dirty="0"/>
          </a:p>
        </p:txBody>
      </p:sp>
      <p:sp>
        <p:nvSpPr>
          <p:cNvPr id="96" name="Shape 92"/>
          <p:cNvSpPr/>
          <p:nvPr/>
        </p:nvSpPr>
        <p:spPr>
          <a:xfrm>
            <a:off x="4526280" y="4236232"/>
            <a:ext cx="640080" cy="1433048"/>
          </a:xfrm>
          <a:prstGeom prst="rect">
            <a:avLst/>
          </a:prstGeom>
          <a:solidFill>
            <a:srgbClr val="1F4A82"/>
          </a:solidFill>
          <a:ln/>
        </p:spPr>
      </p:sp>
      <p:sp>
        <p:nvSpPr>
          <p:cNvPr id="97" name="Text 93"/>
          <p:cNvSpPr txBox="1"/>
          <p:nvPr/>
        </p:nvSpPr>
        <p:spPr>
          <a:xfrm>
            <a:off x="4434840" y="3998488"/>
            <a:ext cx="822960" cy="219456"/>
          </a:xfrm>
          <a:prstGeom prst="rect">
            <a:avLst/>
          </a:prstGeom>
          <a:noFill/>
          <a:ln/>
        </p:spPr>
        <p:txBody>
          <a:bodyPr wrap="square" lIns="0" tIns="0" rIns="0" bIns="0" rtlCol="0" anchor="t"/>
          <a:lstStyle/>
          <a:p>
            <a:pPr algn="ctr" indent="0" marL="0">
              <a:buNone/>
            </a:pPr>
            <a:r>
              <a:rPr lang="en-US" sz="1000" b="1" dirty="0">
                <a:solidFill>
                  <a:srgbClr val="17325C"/>
                </a:solidFill>
                <a:latin typeface="Calibri" pitchFamily="34" charset="0"/>
                <a:ea typeface="Calibri" pitchFamily="34" charset="-122"/>
                <a:cs typeface="Calibri" pitchFamily="34" charset="-120"/>
              </a:rPr>
              <a:t>₹65.3</a:t>
            </a:r>
            <a:endParaRPr lang="en-US" sz="1000" dirty="0"/>
          </a:p>
        </p:txBody>
      </p:sp>
      <p:sp>
        <p:nvSpPr>
          <p:cNvPr id="98" name="Shape 94"/>
          <p:cNvSpPr/>
          <p:nvPr/>
        </p:nvSpPr>
        <p:spPr>
          <a:xfrm>
            <a:off x="5239512" y="5408127"/>
            <a:ext cx="502920" cy="261153"/>
          </a:xfrm>
          <a:prstGeom prst="rect">
            <a:avLst/>
          </a:prstGeom>
          <a:solidFill>
            <a:srgbClr val="5B8DC9"/>
          </a:solidFill>
          <a:ln/>
        </p:spPr>
      </p:sp>
      <p:sp>
        <p:nvSpPr>
          <p:cNvPr id="99" name="Text 95"/>
          <p:cNvSpPr txBox="1"/>
          <p:nvPr/>
        </p:nvSpPr>
        <p:spPr>
          <a:xfrm>
            <a:off x="5148072" y="5170383"/>
            <a:ext cx="685800" cy="219456"/>
          </a:xfrm>
          <a:prstGeom prst="rect">
            <a:avLst/>
          </a:prstGeom>
          <a:noFill/>
          <a:ln/>
        </p:spPr>
        <p:txBody>
          <a:bodyPr wrap="square" lIns="0" tIns="0" rIns="0" bIns="0" rtlCol="0" anchor="t"/>
          <a:lstStyle/>
          <a:p>
            <a:pPr algn="ctr" indent="0" marL="0">
              <a:buNone/>
            </a:pPr>
            <a:r>
              <a:rPr lang="en-US" sz="900" dirty="0">
                <a:solidFill>
                  <a:srgbClr val="5B6573"/>
                </a:solidFill>
                <a:latin typeface="Calibri" pitchFamily="34" charset="0"/>
                <a:ea typeface="Calibri" pitchFamily="34" charset="-122"/>
                <a:cs typeface="Calibri" pitchFamily="34" charset="-120"/>
              </a:rPr>
              <a:t>+11.9</a:t>
            </a:r>
            <a:endParaRPr lang="en-US" sz="900" dirty="0"/>
          </a:p>
        </p:txBody>
      </p:sp>
      <p:sp>
        <p:nvSpPr>
          <p:cNvPr id="100" name="Text 96"/>
          <p:cNvSpPr txBox="1"/>
          <p:nvPr/>
        </p:nvSpPr>
        <p:spPr>
          <a:xfrm>
            <a:off x="4297680" y="6108192"/>
            <a:ext cx="1737360" cy="20116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Year 3  ·  58 institutes</a:t>
            </a:r>
            <a:endParaRPr lang="en-US" sz="900" dirty="0"/>
          </a:p>
        </p:txBody>
      </p:sp>
      <p:sp>
        <p:nvSpPr>
          <p:cNvPr id="101" name="Shape 97"/>
          <p:cNvSpPr/>
          <p:nvPr/>
        </p:nvSpPr>
        <p:spPr>
          <a:xfrm>
            <a:off x="411480" y="5669280"/>
            <a:ext cx="5760720" cy="13716"/>
          </a:xfrm>
          <a:prstGeom prst="rect">
            <a:avLst/>
          </a:prstGeom>
          <a:solidFill>
            <a:srgbClr val="9AA6B5"/>
          </a:solidFill>
          <a:ln/>
        </p:spPr>
      </p:sp>
      <p:sp>
        <p:nvSpPr>
          <p:cNvPr id="102" name="Shape 98"/>
          <p:cNvSpPr/>
          <p:nvPr/>
        </p:nvSpPr>
        <p:spPr>
          <a:xfrm>
            <a:off x="502920" y="6291072"/>
            <a:ext cx="128016" cy="128016"/>
          </a:xfrm>
          <a:prstGeom prst="rect">
            <a:avLst/>
          </a:prstGeom>
          <a:solidFill>
            <a:srgbClr val="1F4A82"/>
          </a:solidFill>
          <a:ln/>
        </p:spPr>
      </p:sp>
      <p:sp>
        <p:nvSpPr>
          <p:cNvPr id="103" name="Text 99"/>
          <p:cNvSpPr txBox="1"/>
          <p:nvPr/>
        </p:nvSpPr>
        <p:spPr>
          <a:xfrm>
            <a:off x="667512" y="6245352"/>
            <a:ext cx="731520" cy="219456"/>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revenue</a:t>
            </a:r>
            <a:endParaRPr lang="en-US" sz="900" dirty="0"/>
          </a:p>
        </p:txBody>
      </p:sp>
      <p:sp>
        <p:nvSpPr>
          <p:cNvPr id="104" name="Shape 100"/>
          <p:cNvSpPr/>
          <p:nvPr/>
        </p:nvSpPr>
        <p:spPr>
          <a:xfrm>
            <a:off x="1600200" y="6291072"/>
            <a:ext cx="128016" cy="128016"/>
          </a:xfrm>
          <a:prstGeom prst="rect">
            <a:avLst/>
          </a:prstGeom>
          <a:solidFill>
            <a:srgbClr val="5B8DC9"/>
          </a:solidFill>
          <a:ln/>
        </p:spPr>
      </p:sp>
      <p:sp>
        <p:nvSpPr>
          <p:cNvPr id="105" name="Text 101"/>
          <p:cNvSpPr txBox="1"/>
          <p:nvPr/>
        </p:nvSpPr>
        <p:spPr>
          <a:xfrm>
            <a:off x="1764792" y="6245352"/>
            <a:ext cx="731520" cy="219456"/>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EBITDA</a:t>
            </a:r>
            <a:endParaRPr lang="en-US" sz="900" dirty="0"/>
          </a:p>
        </p:txBody>
      </p:sp>
      <p:sp>
        <p:nvSpPr>
          <p:cNvPr id="106" name="Shape 102"/>
          <p:cNvSpPr/>
          <p:nvPr/>
        </p:nvSpPr>
        <p:spPr>
          <a:xfrm>
            <a:off x="6537960" y="1170432"/>
            <a:ext cx="256032" cy="256032"/>
          </a:xfrm>
          <a:prstGeom prst="rect">
            <a:avLst/>
          </a:prstGeom>
          <a:solidFill>
            <a:srgbClr val="1F4A82"/>
          </a:solidFill>
          <a:ln/>
        </p:spPr>
      </p:sp>
      <p:sp>
        <p:nvSpPr>
          <p:cNvPr id="107" name="Text 103"/>
          <p:cNvSpPr txBox="1"/>
          <p:nvPr/>
        </p:nvSpPr>
        <p:spPr>
          <a:xfrm>
            <a:off x="6537960" y="11704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endParaRPr lang="en-US" sz="1150" dirty="0"/>
          </a:p>
        </p:txBody>
      </p:sp>
      <p:sp>
        <p:nvSpPr>
          <p:cNvPr id="108" name="Text 104"/>
          <p:cNvSpPr txBox="1"/>
          <p:nvPr/>
        </p:nvSpPr>
        <p:spPr>
          <a:xfrm>
            <a:off x="6867144" y="1170432"/>
            <a:ext cx="488289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BY INSTITUTE SIZE (BASE)</a:t>
            </a:r>
            <a:endParaRPr lang="en-US" sz="1200" dirty="0"/>
          </a:p>
        </p:txBody>
      </p:sp>
      <p:sp>
        <p:nvSpPr>
          <p:cNvPr id="109" name="Shape 105"/>
          <p:cNvSpPr/>
          <p:nvPr/>
        </p:nvSpPr>
        <p:spPr>
          <a:xfrm>
            <a:off x="6537960" y="1481328"/>
            <a:ext cx="2194560" cy="274320"/>
          </a:xfrm>
          <a:prstGeom prst="rect">
            <a:avLst/>
          </a:prstGeom>
          <a:solidFill>
            <a:srgbClr val="1F4A82"/>
          </a:solidFill>
          <a:ln/>
        </p:spPr>
      </p:sp>
      <p:sp>
        <p:nvSpPr>
          <p:cNvPr id="110" name="Text 106"/>
          <p:cNvSpPr txBox="1"/>
          <p:nvPr/>
        </p:nvSpPr>
        <p:spPr>
          <a:xfrm>
            <a:off x="6583680" y="1481328"/>
            <a:ext cx="2103120" cy="274320"/>
          </a:xfrm>
          <a:prstGeom prst="rect">
            <a:avLst/>
          </a:prstGeom>
          <a:noFill/>
          <a:ln/>
        </p:spPr>
        <p:txBody>
          <a:bodyPr wrap="square" lIns="0" tIns="0" rIns="0" bIns="0" rtlCol="0" anchor="ctr"/>
          <a:lstStyle/>
          <a:p>
            <a:pPr algn="l" indent="0" marL="0">
              <a:buNone/>
            </a:pPr>
            <a:endParaRPr lang="en-US" sz="1000" dirty="0"/>
          </a:p>
        </p:txBody>
      </p:sp>
      <p:sp>
        <p:nvSpPr>
          <p:cNvPr id="111" name="Shape 107"/>
          <p:cNvSpPr/>
          <p:nvPr/>
        </p:nvSpPr>
        <p:spPr>
          <a:xfrm>
            <a:off x="8732520" y="1481328"/>
            <a:ext cx="1005840" cy="274320"/>
          </a:xfrm>
          <a:prstGeom prst="rect">
            <a:avLst/>
          </a:prstGeom>
          <a:solidFill>
            <a:srgbClr val="5B6573"/>
          </a:solidFill>
          <a:ln/>
        </p:spPr>
      </p:sp>
      <p:sp>
        <p:nvSpPr>
          <p:cNvPr id="112" name="Text 108"/>
          <p:cNvSpPr txBox="1"/>
          <p:nvPr/>
        </p:nvSpPr>
        <p:spPr>
          <a:xfrm>
            <a:off x="8778240" y="1481328"/>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Small</a:t>
            </a:r>
            <a:endParaRPr lang="en-US" sz="1000" dirty="0"/>
          </a:p>
        </p:txBody>
      </p:sp>
      <p:sp>
        <p:nvSpPr>
          <p:cNvPr id="113" name="Shape 109"/>
          <p:cNvSpPr/>
          <p:nvPr/>
        </p:nvSpPr>
        <p:spPr>
          <a:xfrm>
            <a:off x="9738360" y="1481328"/>
            <a:ext cx="1005840" cy="274320"/>
          </a:xfrm>
          <a:prstGeom prst="rect">
            <a:avLst/>
          </a:prstGeom>
          <a:solidFill>
            <a:srgbClr val="1F4A82"/>
          </a:solidFill>
          <a:ln/>
        </p:spPr>
      </p:sp>
      <p:sp>
        <p:nvSpPr>
          <p:cNvPr id="114" name="Text 110"/>
          <p:cNvSpPr txBox="1"/>
          <p:nvPr/>
        </p:nvSpPr>
        <p:spPr>
          <a:xfrm>
            <a:off x="9784080" y="1481328"/>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Mid</a:t>
            </a:r>
            <a:endParaRPr lang="en-US" sz="1000" dirty="0"/>
          </a:p>
        </p:txBody>
      </p:sp>
      <p:sp>
        <p:nvSpPr>
          <p:cNvPr id="115" name="Shape 111"/>
          <p:cNvSpPr/>
          <p:nvPr/>
        </p:nvSpPr>
        <p:spPr>
          <a:xfrm>
            <a:off x="10744200" y="1481328"/>
            <a:ext cx="987552" cy="274320"/>
          </a:xfrm>
          <a:prstGeom prst="rect">
            <a:avLst/>
          </a:prstGeom>
          <a:solidFill>
            <a:srgbClr val="5B6573"/>
          </a:solidFill>
          <a:ln/>
        </p:spPr>
      </p:sp>
      <p:sp>
        <p:nvSpPr>
          <p:cNvPr id="116" name="Text 112"/>
          <p:cNvSpPr txBox="1"/>
          <p:nvPr/>
        </p:nvSpPr>
        <p:spPr>
          <a:xfrm>
            <a:off x="10789920" y="1481328"/>
            <a:ext cx="89611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Large</a:t>
            </a:r>
            <a:endParaRPr lang="en-US" sz="1000" dirty="0"/>
          </a:p>
        </p:txBody>
      </p:sp>
      <p:sp>
        <p:nvSpPr>
          <p:cNvPr id="117" name="Shape 113"/>
          <p:cNvSpPr/>
          <p:nvPr/>
        </p:nvSpPr>
        <p:spPr>
          <a:xfrm>
            <a:off x="6537960" y="1755648"/>
            <a:ext cx="2194560" cy="338328"/>
          </a:xfrm>
          <a:prstGeom prst="rect">
            <a:avLst/>
          </a:prstGeom>
          <a:solidFill>
            <a:srgbClr val="F1F7F3"/>
          </a:solidFill>
          <a:ln/>
        </p:spPr>
      </p:sp>
      <p:sp>
        <p:nvSpPr>
          <p:cNvPr id="118" name="Text 114"/>
          <p:cNvSpPr txBox="1"/>
          <p:nvPr/>
        </p:nvSpPr>
        <p:spPr>
          <a:xfrm>
            <a:off x="6583680" y="1755648"/>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Students</a:t>
            </a:r>
            <a:endParaRPr lang="en-US" sz="1000" dirty="0"/>
          </a:p>
        </p:txBody>
      </p:sp>
      <p:sp>
        <p:nvSpPr>
          <p:cNvPr id="119" name="Shape 115"/>
          <p:cNvSpPr/>
          <p:nvPr/>
        </p:nvSpPr>
        <p:spPr>
          <a:xfrm>
            <a:off x="8732520" y="1755648"/>
            <a:ext cx="1005840" cy="338328"/>
          </a:xfrm>
          <a:prstGeom prst="rect">
            <a:avLst/>
          </a:prstGeom>
          <a:solidFill>
            <a:srgbClr val="F1F7F3"/>
          </a:solidFill>
          <a:ln/>
        </p:spPr>
      </p:sp>
      <p:sp>
        <p:nvSpPr>
          <p:cNvPr id="120" name="Text 116"/>
          <p:cNvSpPr txBox="1"/>
          <p:nvPr/>
        </p:nvSpPr>
        <p:spPr>
          <a:xfrm>
            <a:off x="8778240" y="1755648"/>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180</a:t>
            </a:r>
            <a:endParaRPr lang="en-US" sz="1000" dirty="0"/>
          </a:p>
        </p:txBody>
      </p:sp>
      <p:sp>
        <p:nvSpPr>
          <p:cNvPr id="121" name="Shape 117"/>
          <p:cNvSpPr/>
          <p:nvPr/>
        </p:nvSpPr>
        <p:spPr>
          <a:xfrm>
            <a:off x="9738360" y="1755648"/>
            <a:ext cx="1005840" cy="338328"/>
          </a:xfrm>
          <a:prstGeom prst="rect">
            <a:avLst/>
          </a:prstGeom>
          <a:solidFill>
            <a:srgbClr val="F1F7F3"/>
          </a:solidFill>
          <a:ln/>
        </p:spPr>
      </p:sp>
      <p:sp>
        <p:nvSpPr>
          <p:cNvPr id="122" name="Text 118"/>
          <p:cNvSpPr txBox="1"/>
          <p:nvPr/>
        </p:nvSpPr>
        <p:spPr>
          <a:xfrm>
            <a:off x="9784080" y="1755648"/>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400</a:t>
            </a:r>
            <a:endParaRPr lang="en-US" sz="1000" dirty="0"/>
          </a:p>
        </p:txBody>
      </p:sp>
      <p:sp>
        <p:nvSpPr>
          <p:cNvPr id="123" name="Shape 119"/>
          <p:cNvSpPr/>
          <p:nvPr/>
        </p:nvSpPr>
        <p:spPr>
          <a:xfrm>
            <a:off x="10744200" y="1755648"/>
            <a:ext cx="987552" cy="338328"/>
          </a:xfrm>
          <a:prstGeom prst="rect">
            <a:avLst/>
          </a:prstGeom>
          <a:solidFill>
            <a:srgbClr val="F1F7F3"/>
          </a:solidFill>
          <a:ln/>
        </p:spPr>
      </p:sp>
      <p:sp>
        <p:nvSpPr>
          <p:cNvPr id="124" name="Text 120"/>
          <p:cNvSpPr txBox="1"/>
          <p:nvPr/>
        </p:nvSpPr>
        <p:spPr>
          <a:xfrm>
            <a:off x="10789920" y="1755648"/>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1,200</a:t>
            </a:r>
            <a:endParaRPr lang="en-US" sz="1000" dirty="0"/>
          </a:p>
        </p:txBody>
      </p:sp>
      <p:sp>
        <p:nvSpPr>
          <p:cNvPr id="125" name="Shape 121"/>
          <p:cNvSpPr/>
          <p:nvPr/>
        </p:nvSpPr>
        <p:spPr>
          <a:xfrm>
            <a:off x="6537960" y="2093976"/>
            <a:ext cx="5193792" cy="0"/>
          </a:xfrm>
          <a:prstGeom prst="line">
            <a:avLst/>
          </a:prstGeom>
          <a:noFill/>
          <a:ln w="6350">
            <a:solidFill>
              <a:srgbClr val="E3E8E4"/>
            </a:solidFill>
            <a:prstDash val="solid"/>
          </a:ln>
        </p:spPr>
      </p:sp>
      <p:sp>
        <p:nvSpPr>
          <p:cNvPr id="126" name="Shape 122"/>
          <p:cNvSpPr/>
          <p:nvPr/>
        </p:nvSpPr>
        <p:spPr>
          <a:xfrm>
            <a:off x="6537960" y="2093976"/>
            <a:ext cx="2194560" cy="338328"/>
          </a:xfrm>
          <a:prstGeom prst="rect">
            <a:avLst/>
          </a:prstGeom>
          <a:solidFill>
            <a:srgbClr val="FFFFFF"/>
          </a:solidFill>
          <a:ln/>
        </p:spPr>
      </p:sp>
      <p:sp>
        <p:nvSpPr>
          <p:cNvPr id="127" name="Text 123"/>
          <p:cNvSpPr txBox="1"/>
          <p:nvPr/>
        </p:nvSpPr>
        <p:spPr>
          <a:xfrm>
            <a:off x="6583680" y="2093976"/>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Annual fee per student</a:t>
            </a:r>
            <a:endParaRPr lang="en-US" sz="1000" dirty="0"/>
          </a:p>
        </p:txBody>
      </p:sp>
      <p:sp>
        <p:nvSpPr>
          <p:cNvPr id="128" name="Shape 124"/>
          <p:cNvSpPr/>
          <p:nvPr/>
        </p:nvSpPr>
        <p:spPr>
          <a:xfrm>
            <a:off x="8732520" y="2093976"/>
            <a:ext cx="1005840" cy="338328"/>
          </a:xfrm>
          <a:prstGeom prst="rect">
            <a:avLst/>
          </a:prstGeom>
          <a:solidFill>
            <a:srgbClr val="FFFFFF"/>
          </a:solidFill>
          <a:ln/>
        </p:spPr>
      </p:sp>
      <p:sp>
        <p:nvSpPr>
          <p:cNvPr id="129" name="Text 125"/>
          <p:cNvSpPr txBox="1"/>
          <p:nvPr/>
        </p:nvSpPr>
        <p:spPr>
          <a:xfrm>
            <a:off x="8778240" y="2093976"/>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₹60,000</a:t>
            </a:r>
            <a:endParaRPr lang="en-US" sz="1000" dirty="0"/>
          </a:p>
        </p:txBody>
      </p:sp>
      <p:sp>
        <p:nvSpPr>
          <p:cNvPr id="130" name="Shape 126"/>
          <p:cNvSpPr/>
          <p:nvPr/>
        </p:nvSpPr>
        <p:spPr>
          <a:xfrm>
            <a:off x="9738360" y="2093976"/>
            <a:ext cx="1005840" cy="338328"/>
          </a:xfrm>
          <a:prstGeom prst="rect">
            <a:avLst/>
          </a:prstGeom>
          <a:solidFill>
            <a:srgbClr val="FFFFFF"/>
          </a:solidFill>
          <a:ln/>
        </p:spPr>
      </p:sp>
      <p:sp>
        <p:nvSpPr>
          <p:cNvPr id="131" name="Text 127"/>
          <p:cNvSpPr txBox="1"/>
          <p:nvPr/>
        </p:nvSpPr>
        <p:spPr>
          <a:xfrm>
            <a:off x="9784080" y="2093976"/>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₹75,000</a:t>
            </a:r>
            <a:endParaRPr lang="en-US" sz="1000" dirty="0"/>
          </a:p>
        </p:txBody>
      </p:sp>
      <p:sp>
        <p:nvSpPr>
          <p:cNvPr id="132" name="Shape 128"/>
          <p:cNvSpPr/>
          <p:nvPr/>
        </p:nvSpPr>
        <p:spPr>
          <a:xfrm>
            <a:off x="10744200" y="2093976"/>
            <a:ext cx="987552" cy="338328"/>
          </a:xfrm>
          <a:prstGeom prst="rect">
            <a:avLst/>
          </a:prstGeom>
          <a:solidFill>
            <a:srgbClr val="FFFFFF"/>
          </a:solidFill>
          <a:ln/>
        </p:spPr>
      </p:sp>
      <p:sp>
        <p:nvSpPr>
          <p:cNvPr id="133" name="Text 129"/>
          <p:cNvSpPr txBox="1"/>
          <p:nvPr/>
        </p:nvSpPr>
        <p:spPr>
          <a:xfrm>
            <a:off x="10789920" y="2093976"/>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₹1,00,000</a:t>
            </a:r>
            <a:endParaRPr lang="en-US" sz="1000" dirty="0"/>
          </a:p>
        </p:txBody>
      </p:sp>
      <p:sp>
        <p:nvSpPr>
          <p:cNvPr id="134" name="Shape 130"/>
          <p:cNvSpPr/>
          <p:nvPr/>
        </p:nvSpPr>
        <p:spPr>
          <a:xfrm>
            <a:off x="6537960" y="2432304"/>
            <a:ext cx="5193792" cy="0"/>
          </a:xfrm>
          <a:prstGeom prst="line">
            <a:avLst/>
          </a:prstGeom>
          <a:noFill/>
          <a:ln w="6350">
            <a:solidFill>
              <a:srgbClr val="E3E8E4"/>
            </a:solidFill>
            <a:prstDash val="solid"/>
          </a:ln>
        </p:spPr>
      </p:sp>
      <p:sp>
        <p:nvSpPr>
          <p:cNvPr id="135" name="Shape 131"/>
          <p:cNvSpPr/>
          <p:nvPr/>
        </p:nvSpPr>
        <p:spPr>
          <a:xfrm>
            <a:off x="6537960" y="2432304"/>
            <a:ext cx="2194560" cy="338328"/>
          </a:xfrm>
          <a:prstGeom prst="rect">
            <a:avLst/>
          </a:prstGeom>
          <a:solidFill>
            <a:srgbClr val="F1F7F3"/>
          </a:solidFill>
          <a:ln/>
        </p:spPr>
      </p:sp>
      <p:sp>
        <p:nvSpPr>
          <p:cNvPr id="136" name="Text 132"/>
          <p:cNvSpPr txBox="1"/>
          <p:nvPr/>
        </p:nvSpPr>
        <p:spPr>
          <a:xfrm>
            <a:off x="6583680" y="2432304"/>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Return, all benefits</a:t>
            </a:r>
            <a:endParaRPr lang="en-US" sz="1000" dirty="0"/>
          </a:p>
        </p:txBody>
      </p:sp>
      <p:sp>
        <p:nvSpPr>
          <p:cNvPr id="137" name="Shape 133"/>
          <p:cNvSpPr/>
          <p:nvPr/>
        </p:nvSpPr>
        <p:spPr>
          <a:xfrm>
            <a:off x="8732520" y="2432304"/>
            <a:ext cx="1005840" cy="338328"/>
          </a:xfrm>
          <a:prstGeom prst="rect">
            <a:avLst/>
          </a:prstGeom>
          <a:solidFill>
            <a:srgbClr val="F1F7F3"/>
          </a:solidFill>
          <a:ln/>
        </p:spPr>
      </p:sp>
      <p:sp>
        <p:nvSpPr>
          <p:cNvPr id="138" name="Text 134"/>
          <p:cNvSpPr txBox="1"/>
          <p:nvPr/>
        </p:nvSpPr>
        <p:spPr>
          <a:xfrm>
            <a:off x="8778240" y="2432304"/>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1.6x</a:t>
            </a:r>
            <a:endParaRPr lang="en-US" sz="1000" dirty="0"/>
          </a:p>
        </p:txBody>
      </p:sp>
      <p:sp>
        <p:nvSpPr>
          <p:cNvPr id="139" name="Shape 135"/>
          <p:cNvSpPr/>
          <p:nvPr/>
        </p:nvSpPr>
        <p:spPr>
          <a:xfrm>
            <a:off x="9738360" y="2432304"/>
            <a:ext cx="1005840" cy="338328"/>
          </a:xfrm>
          <a:prstGeom prst="rect">
            <a:avLst/>
          </a:prstGeom>
          <a:solidFill>
            <a:srgbClr val="D6E4F5"/>
          </a:solidFill>
          <a:ln/>
        </p:spPr>
      </p:sp>
      <p:sp>
        <p:nvSpPr>
          <p:cNvPr id="140" name="Text 136"/>
          <p:cNvSpPr txBox="1"/>
          <p:nvPr/>
        </p:nvSpPr>
        <p:spPr>
          <a:xfrm>
            <a:off x="9784080" y="2432304"/>
            <a:ext cx="914400" cy="33832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1.7x</a:t>
            </a:r>
            <a:endParaRPr lang="en-US" sz="1000" dirty="0"/>
          </a:p>
        </p:txBody>
      </p:sp>
      <p:sp>
        <p:nvSpPr>
          <p:cNvPr id="141" name="Shape 137"/>
          <p:cNvSpPr/>
          <p:nvPr/>
        </p:nvSpPr>
        <p:spPr>
          <a:xfrm>
            <a:off x="10744200" y="2432304"/>
            <a:ext cx="987552" cy="338328"/>
          </a:xfrm>
          <a:prstGeom prst="rect">
            <a:avLst/>
          </a:prstGeom>
          <a:solidFill>
            <a:srgbClr val="F1F7F3"/>
          </a:solidFill>
          <a:ln/>
        </p:spPr>
      </p:sp>
      <p:sp>
        <p:nvSpPr>
          <p:cNvPr id="142" name="Text 138"/>
          <p:cNvSpPr txBox="1"/>
          <p:nvPr/>
        </p:nvSpPr>
        <p:spPr>
          <a:xfrm>
            <a:off x="10789920" y="2432304"/>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2.1x</a:t>
            </a:r>
            <a:endParaRPr lang="en-US" sz="1000" dirty="0"/>
          </a:p>
        </p:txBody>
      </p:sp>
      <p:sp>
        <p:nvSpPr>
          <p:cNvPr id="143" name="Shape 139"/>
          <p:cNvSpPr/>
          <p:nvPr/>
        </p:nvSpPr>
        <p:spPr>
          <a:xfrm>
            <a:off x="6537960" y="2770632"/>
            <a:ext cx="5193792" cy="0"/>
          </a:xfrm>
          <a:prstGeom prst="line">
            <a:avLst/>
          </a:prstGeom>
          <a:noFill/>
          <a:ln w="6350">
            <a:solidFill>
              <a:srgbClr val="E3E8E4"/>
            </a:solidFill>
            <a:prstDash val="solid"/>
          </a:ln>
        </p:spPr>
      </p:sp>
      <p:sp>
        <p:nvSpPr>
          <p:cNvPr id="144" name="Shape 140"/>
          <p:cNvSpPr/>
          <p:nvPr/>
        </p:nvSpPr>
        <p:spPr>
          <a:xfrm>
            <a:off x="6537960" y="2770632"/>
            <a:ext cx="2194560" cy="338328"/>
          </a:xfrm>
          <a:prstGeom prst="rect">
            <a:avLst/>
          </a:prstGeom>
          <a:solidFill>
            <a:srgbClr val="FFFFFF"/>
          </a:solidFill>
          <a:ln/>
        </p:spPr>
      </p:sp>
      <p:sp>
        <p:nvSpPr>
          <p:cNvPr id="145" name="Text 141"/>
          <p:cNvSpPr txBox="1"/>
          <p:nvPr/>
        </p:nvSpPr>
        <p:spPr>
          <a:xfrm>
            <a:off x="6583680" y="2770632"/>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LTV ÷ CAC, field sales</a:t>
            </a:r>
            <a:endParaRPr lang="en-US" sz="1000" dirty="0"/>
          </a:p>
        </p:txBody>
      </p:sp>
      <p:sp>
        <p:nvSpPr>
          <p:cNvPr id="146" name="Shape 142"/>
          <p:cNvSpPr/>
          <p:nvPr/>
        </p:nvSpPr>
        <p:spPr>
          <a:xfrm>
            <a:off x="8732520" y="2770632"/>
            <a:ext cx="1005840" cy="338328"/>
          </a:xfrm>
          <a:prstGeom prst="rect">
            <a:avLst/>
          </a:prstGeom>
          <a:solidFill>
            <a:srgbClr val="FFFFFF"/>
          </a:solidFill>
          <a:ln/>
        </p:spPr>
      </p:sp>
      <p:sp>
        <p:nvSpPr>
          <p:cNvPr id="147" name="Text 143"/>
          <p:cNvSpPr txBox="1"/>
          <p:nvPr/>
        </p:nvSpPr>
        <p:spPr>
          <a:xfrm>
            <a:off x="8778240" y="2770632"/>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1.5x</a:t>
            </a:r>
            <a:endParaRPr lang="en-US" sz="1000" dirty="0"/>
          </a:p>
        </p:txBody>
      </p:sp>
      <p:sp>
        <p:nvSpPr>
          <p:cNvPr id="148" name="Shape 144"/>
          <p:cNvSpPr/>
          <p:nvPr/>
        </p:nvSpPr>
        <p:spPr>
          <a:xfrm>
            <a:off x="9738360" y="2770632"/>
            <a:ext cx="1005840" cy="338328"/>
          </a:xfrm>
          <a:prstGeom prst="rect">
            <a:avLst/>
          </a:prstGeom>
          <a:solidFill>
            <a:srgbClr val="D6E4F5"/>
          </a:solidFill>
          <a:ln/>
        </p:spPr>
      </p:sp>
      <p:sp>
        <p:nvSpPr>
          <p:cNvPr id="149" name="Text 145"/>
          <p:cNvSpPr txBox="1"/>
          <p:nvPr/>
        </p:nvSpPr>
        <p:spPr>
          <a:xfrm>
            <a:off x="9784080" y="2770632"/>
            <a:ext cx="914400" cy="33832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3.6x</a:t>
            </a:r>
            <a:endParaRPr lang="en-US" sz="1000" dirty="0"/>
          </a:p>
        </p:txBody>
      </p:sp>
      <p:sp>
        <p:nvSpPr>
          <p:cNvPr id="150" name="Shape 146"/>
          <p:cNvSpPr/>
          <p:nvPr/>
        </p:nvSpPr>
        <p:spPr>
          <a:xfrm>
            <a:off x="10744200" y="2770632"/>
            <a:ext cx="987552" cy="338328"/>
          </a:xfrm>
          <a:prstGeom prst="rect">
            <a:avLst/>
          </a:prstGeom>
          <a:solidFill>
            <a:srgbClr val="FFFFFF"/>
          </a:solidFill>
          <a:ln/>
        </p:spPr>
      </p:sp>
      <p:sp>
        <p:nvSpPr>
          <p:cNvPr id="151" name="Text 147"/>
          <p:cNvSpPr txBox="1"/>
          <p:nvPr/>
        </p:nvSpPr>
        <p:spPr>
          <a:xfrm>
            <a:off x="10789920" y="2770632"/>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9.2x</a:t>
            </a:r>
            <a:endParaRPr lang="en-US" sz="1000" dirty="0"/>
          </a:p>
        </p:txBody>
      </p:sp>
      <p:sp>
        <p:nvSpPr>
          <p:cNvPr id="152" name="Shape 148"/>
          <p:cNvSpPr/>
          <p:nvPr/>
        </p:nvSpPr>
        <p:spPr>
          <a:xfrm>
            <a:off x="6537960" y="3108960"/>
            <a:ext cx="5193792" cy="0"/>
          </a:xfrm>
          <a:prstGeom prst="line">
            <a:avLst/>
          </a:prstGeom>
          <a:noFill/>
          <a:ln w="6350">
            <a:solidFill>
              <a:srgbClr val="E3E8E4"/>
            </a:solidFill>
            <a:prstDash val="solid"/>
          </a:ln>
        </p:spPr>
      </p:sp>
      <p:sp>
        <p:nvSpPr>
          <p:cNvPr id="153" name="Shape 149"/>
          <p:cNvSpPr/>
          <p:nvPr/>
        </p:nvSpPr>
        <p:spPr>
          <a:xfrm>
            <a:off x="6537960" y="3108960"/>
            <a:ext cx="2194560" cy="338328"/>
          </a:xfrm>
          <a:prstGeom prst="rect">
            <a:avLst/>
          </a:prstGeom>
          <a:solidFill>
            <a:srgbClr val="F1F7F3"/>
          </a:solidFill>
          <a:ln/>
        </p:spPr>
      </p:sp>
      <p:sp>
        <p:nvSpPr>
          <p:cNvPr id="154" name="Text 150"/>
          <p:cNvSpPr txBox="1"/>
          <p:nvPr/>
        </p:nvSpPr>
        <p:spPr>
          <a:xfrm>
            <a:off x="6583680" y="3108960"/>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LTV ÷ CAC, channel partner</a:t>
            </a:r>
            <a:endParaRPr lang="en-US" sz="1000" dirty="0"/>
          </a:p>
        </p:txBody>
      </p:sp>
      <p:sp>
        <p:nvSpPr>
          <p:cNvPr id="155" name="Shape 151"/>
          <p:cNvSpPr/>
          <p:nvPr/>
        </p:nvSpPr>
        <p:spPr>
          <a:xfrm>
            <a:off x="8732520" y="3108960"/>
            <a:ext cx="1005840" cy="338328"/>
          </a:xfrm>
          <a:prstGeom prst="rect">
            <a:avLst/>
          </a:prstGeom>
          <a:solidFill>
            <a:srgbClr val="F1F7F3"/>
          </a:solidFill>
          <a:ln/>
        </p:spPr>
      </p:sp>
      <p:sp>
        <p:nvSpPr>
          <p:cNvPr id="156" name="Text 152"/>
          <p:cNvSpPr txBox="1"/>
          <p:nvPr/>
        </p:nvSpPr>
        <p:spPr>
          <a:xfrm>
            <a:off x="8778240" y="3108960"/>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3.4x</a:t>
            </a:r>
            <a:endParaRPr lang="en-US" sz="1000" dirty="0"/>
          </a:p>
        </p:txBody>
      </p:sp>
      <p:sp>
        <p:nvSpPr>
          <p:cNvPr id="157" name="Shape 153"/>
          <p:cNvSpPr/>
          <p:nvPr/>
        </p:nvSpPr>
        <p:spPr>
          <a:xfrm>
            <a:off x="9738360" y="3108960"/>
            <a:ext cx="1005840" cy="338328"/>
          </a:xfrm>
          <a:prstGeom prst="rect">
            <a:avLst/>
          </a:prstGeom>
          <a:solidFill>
            <a:srgbClr val="F1F7F3"/>
          </a:solidFill>
          <a:ln/>
        </p:spPr>
      </p:sp>
      <p:sp>
        <p:nvSpPr>
          <p:cNvPr id="158" name="Text 154"/>
          <p:cNvSpPr txBox="1"/>
          <p:nvPr/>
        </p:nvSpPr>
        <p:spPr>
          <a:xfrm>
            <a:off x="9784080" y="3108960"/>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4.9x</a:t>
            </a:r>
            <a:endParaRPr lang="en-US" sz="1000" dirty="0"/>
          </a:p>
        </p:txBody>
      </p:sp>
      <p:sp>
        <p:nvSpPr>
          <p:cNvPr id="159" name="Shape 155"/>
          <p:cNvSpPr/>
          <p:nvPr/>
        </p:nvSpPr>
        <p:spPr>
          <a:xfrm>
            <a:off x="10744200" y="3108960"/>
            <a:ext cx="987552" cy="338328"/>
          </a:xfrm>
          <a:prstGeom prst="rect">
            <a:avLst/>
          </a:prstGeom>
          <a:solidFill>
            <a:srgbClr val="F1F7F3"/>
          </a:solidFill>
          <a:ln/>
        </p:spPr>
      </p:sp>
      <p:sp>
        <p:nvSpPr>
          <p:cNvPr id="160" name="Text 156"/>
          <p:cNvSpPr txBox="1"/>
          <p:nvPr/>
        </p:nvSpPr>
        <p:spPr>
          <a:xfrm>
            <a:off x="10789920" y="3108960"/>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6.1x</a:t>
            </a:r>
            <a:endParaRPr lang="en-US" sz="1000" dirty="0"/>
          </a:p>
        </p:txBody>
      </p:sp>
      <p:sp>
        <p:nvSpPr>
          <p:cNvPr id="161" name="Shape 157"/>
          <p:cNvSpPr/>
          <p:nvPr/>
        </p:nvSpPr>
        <p:spPr>
          <a:xfrm>
            <a:off x="6537960" y="3447288"/>
            <a:ext cx="5193792" cy="0"/>
          </a:xfrm>
          <a:prstGeom prst="line">
            <a:avLst/>
          </a:prstGeom>
          <a:noFill/>
          <a:ln w="6350">
            <a:solidFill>
              <a:srgbClr val="E3E8E4"/>
            </a:solidFill>
            <a:prstDash val="solid"/>
          </a:ln>
        </p:spPr>
      </p:sp>
      <p:sp>
        <p:nvSpPr>
          <p:cNvPr id="162" name="Shape 158"/>
          <p:cNvSpPr/>
          <p:nvPr/>
        </p:nvSpPr>
        <p:spPr>
          <a:xfrm>
            <a:off x="6537960" y="3447288"/>
            <a:ext cx="2194560" cy="338328"/>
          </a:xfrm>
          <a:prstGeom prst="rect">
            <a:avLst/>
          </a:prstGeom>
          <a:solidFill>
            <a:srgbClr val="FFFFFF"/>
          </a:solidFill>
          <a:ln/>
        </p:spPr>
      </p:sp>
      <p:sp>
        <p:nvSpPr>
          <p:cNvPr id="163" name="Text 159"/>
          <p:cNvSpPr txBox="1"/>
          <p:nvPr/>
        </p:nvSpPr>
        <p:spPr>
          <a:xfrm>
            <a:off x="6583680" y="3447288"/>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Payback, months</a:t>
            </a:r>
            <a:endParaRPr lang="en-US" sz="1000" dirty="0"/>
          </a:p>
        </p:txBody>
      </p:sp>
      <p:sp>
        <p:nvSpPr>
          <p:cNvPr id="164" name="Shape 160"/>
          <p:cNvSpPr/>
          <p:nvPr/>
        </p:nvSpPr>
        <p:spPr>
          <a:xfrm>
            <a:off x="8732520" y="3447288"/>
            <a:ext cx="1005840" cy="338328"/>
          </a:xfrm>
          <a:prstGeom prst="rect">
            <a:avLst/>
          </a:prstGeom>
          <a:solidFill>
            <a:srgbClr val="FFFFFF"/>
          </a:solidFill>
          <a:ln/>
        </p:spPr>
      </p:sp>
      <p:sp>
        <p:nvSpPr>
          <p:cNvPr id="165" name="Text 161"/>
          <p:cNvSpPr txBox="1"/>
          <p:nvPr/>
        </p:nvSpPr>
        <p:spPr>
          <a:xfrm>
            <a:off x="8778240" y="3447288"/>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19</a:t>
            </a:r>
            <a:endParaRPr lang="en-US" sz="1000" dirty="0"/>
          </a:p>
        </p:txBody>
      </p:sp>
      <p:sp>
        <p:nvSpPr>
          <p:cNvPr id="166" name="Shape 162"/>
          <p:cNvSpPr/>
          <p:nvPr/>
        </p:nvSpPr>
        <p:spPr>
          <a:xfrm>
            <a:off x="9738360" y="3447288"/>
            <a:ext cx="1005840" cy="338328"/>
          </a:xfrm>
          <a:prstGeom prst="rect">
            <a:avLst/>
          </a:prstGeom>
          <a:solidFill>
            <a:srgbClr val="D6E4F5"/>
          </a:solidFill>
          <a:ln/>
        </p:spPr>
      </p:sp>
      <p:sp>
        <p:nvSpPr>
          <p:cNvPr id="167" name="Text 163"/>
          <p:cNvSpPr txBox="1"/>
          <p:nvPr/>
        </p:nvSpPr>
        <p:spPr>
          <a:xfrm>
            <a:off x="9784080" y="3447288"/>
            <a:ext cx="914400" cy="33832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6</a:t>
            </a:r>
            <a:endParaRPr lang="en-US" sz="1000" dirty="0"/>
          </a:p>
        </p:txBody>
      </p:sp>
      <p:sp>
        <p:nvSpPr>
          <p:cNvPr id="168" name="Shape 164"/>
          <p:cNvSpPr/>
          <p:nvPr/>
        </p:nvSpPr>
        <p:spPr>
          <a:xfrm>
            <a:off x="10744200" y="3447288"/>
            <a:ext cx="987552" cy="338328"/>
          </a:xfrm>
          <a:prstGeom prst="rect">
            <a:avLst/>
          </a:prstGeom>
          <a:solidFill>
            <a:srgbClr val="FFFFFF"/>
          </a:solidFill>
          <a:ln/>
        </p:spPr>
      </p:sp>
      <p:sp>
        <p:nvSpPr>
          <p:cNvPr id="169" name="Text 165"/>
          <p:cNvSpPr txBox="1"/>
          <p:nvPr/>
        </p:nvSpPr>
        <p:spPr>
          <a:xfrm>
            <a:off x="10789920" y="3447288"/>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a:t>
            </a:r>
            <a:endParaRPr lang="en-US" sz="1000" dirty="0"/>
          </a:p>
        </p:txBody>
      </p:sp>
      <p:sp>
        <p:nvSpPr>
          <p:cNvPr id="170" name="Shape 166"/>
          <p:cNvSpPr/>
          <p:nvPr/>
        </p:nvSpPr>
        <p:spPr>
          <a:xfrm>
            <a:off x="6537960" y="3785616"/>
            <a:ext cx="5193792" cy="0"/>
          </a:xfrm>
          <a:prstGeom prst="line">
            <a:avLst/>
          </a:prstGeom>
          <a:noFill/>
          <a:ln w="6350">
            <a:solidFill>
              <a:srgbClr val="E3E8E4"/>
            </a:solidFill>
            <a:prstDash val="solid"/>
          </a:ln>
        </p:spPr>
      </p:sp>
      <p:sp>
        <p:nvSpPr>
          <p:cNvPr id="171" name="Shape 167"/>
          <p:cNvSpPr/>
          <p:nvPr/>
        </p:nvSpPr>
        <p:spPr>
          <a:xfrm>
            <a:off x="6537960" y="3977640"/>
            <a:ext cx="5239512" cy="2194560"/>
          </a:xfrm>
          <a:prstGeom prst="rect">
            <a:avLst/>
          </a:prstGeom>
          <a:solidFill>
            <a:srgbClr val="F4F7FB"/>
          </a:solidFill>
          <a:ln/>
        </p:spPr>
      </p:sp>
      <p:sp>
        <p:nvSpPr>
          <p:cNvPr id="172" name="Text 168"/>
          <p:cNvSpPr txBox="1"/>
          <p:nvPr/>
        </p:nvSpPr>
        <p:spPr>
          <a:xfrm>
            <a:off x="6675120" y="4041648"/>
            <a:ext cx="4937760" cy="256032"/>
          </a:xfrm>
          <a:prstGeom prst="rect">
            <a:avLst/>
          </a:prstGeom>
          <a:noFill/>
          <a:ln/>
        </p:spPr>
        <p:txBody>
          <a:bodyPr wrap="square" lIns="0" tIns="0" rIns="0" bIns="0" rtlCol="0" anchor="t"/>
          <a:lstStyle/>
          <a:p>
            <a:pPr algn="l" indent="0" marL="0">
              <a:buNone/>
            </a:pPr>
            <a:r>
              <a:rPr lang="en-US" sz="1050" b="1" spc="50" kern="0" dirty="0">
                <a:solidFill>
                  <a:srgbClr val="1F4A82"/>
                </a:solidFill>
                <a:latin typeface="Calibri" pitchFamily="34" charset="0"/>
                <a:ea typeface="Calibri" pitchFamily="34" charset="-122"/>
                <a:cs typeface="Calibri" pitchFamily="34" charset="-120"/>
              </a:rPr>
              <a:t>WHAT THIS MEANS FOR GO-TO-MARKET</a:t>
            </a:r>
            <a:endParaRPr lang="en-US" sz="1050" dirty="0"/>
          </a:p>
        </p:txBody>
      </p:sp>
      <p:sp>
        <p:nvSpPr>
          <p:cNvPr id="173" name="Text 169"/>
          <p:cNvSpPr txBox="1"/>
          <p:nvPr/>
        </p:nvSpPr>
        <p:spPr>
          <a:xfrm>
            <a:off x="6675120" y="4370832"/>
            <a:ext cx="4937760" cy="1737360"/>
          </a:xfrm>
          <a:prstGeom prst="rect">
            <a:avLst/>
          </a:prstGeom>
          <a:noFill/>
          <a:ln/>
        </p:spPr>
        <p:txBody>
          <a:bodyPr wrap="square" lIns="0" tIns="0" rIns="0" bIns="0" rtlCol="0" anchor="t"/>
          <a:lstStyle/>
          <a:p>
            <a:pPr algn="l" marL="152400" indent="-1524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Mid and large institutes: field sales pays.</a:t>
            </a:r>
            <a:endParaRPr lang="en-US" sz="1050" dirty="0"/>
          </a:p>
          <a:p>
            <a:pPr algn="l" marL="152400" indent="-1524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Small institutes: channel partners, not reps.</a:t>
            </a:r>
            <a:endParaRPr lang="en-US" sz="1050" dirty="0"/>
          </a:p>
          <a:p>
            <a:pPr algn="l" marL="152400" indent="-1524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One field rep at 8 % of the market.</a:t>
            </a:r>
            <a:endParaRPr lang="en-US" sz="1050" dirty="0"/>
          </a:p>
          <a:p>
            <a:pPr algn="l" marL="152400" indent="-1524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Raise ₹45 L, break even in month 16.</a:t>
            </a:r>
            <a:endParaRPr lang="en-US" sz="1050" dirty="0"/>
          </a:p>
          <a:p>
            <a:pPr algn="l" marL="152400" indent="-1524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Bear case needs ₹1 Cr: we stop if pilots fail.</a:t>
            </a:r>
            <a:endParaRPr lang="en-US" sz="1050" dirty="0"/>
          </a:p>
        </p:txBody>
      </p:sp>
      <p:sp>
        <p:nvSpPr>
          <p:cNvPr id="174" name="Text 170"/>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model v1.1 (Projection, Scenarios; Bear, Base, Bull). Model output from sourced and assumed inputs; willingness to pay is untested. 1 Cr = 100 lakh (L).</a:t>
            </a:r>
            <a:endParaRPr lang="en-US" sz="850" dirty="0"/>
          </a:p>
        </p:txBody>
      </p:sp>
      <p:pic>
        <p:nvPicPr>
          <p:cNvPr id="175"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176"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177"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178"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179"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180"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181"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database">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8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3: DATA MODEL AND QUESTION TAGGING</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31 tables in five groups, all isolated per institute</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88720"/>
            <a:ext cx="3703320" cy="301752"/>
          </a:xfrm>
          <a:prstGeom prst="rect">
            <a:avLst/>
          </a:prstGeom>
          <a:solidFill>
            <a:srgbClr val="1F4A82"/>
          </a:solidFill>
          <a:ln/>
        </p:spPr>
      </p:sp>
      <p:sp>
        <p:nvSpPr>
          <p:cNvPr id="27" name="Text 23"/>
          <p:cNvSpPr txBox="1"/>
          <p:nvPr/>
        </p:nvSpPr>
        <p:spPr>
          <a:xfrm>
            <a:off x="521208" y="1188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PEOPLE</a:t>
            </a:r>
            <a:endParaRPr lang="en-US" sz="1200" dirty="0"/>
          </a:p>
        </p:txBody>
      </p:sp>
      <p:sp>
        <p:nvSpPr>
          <p:cNvPr id="28" name="Shape 24"/>
          <p:cNvSpPr/>
          <p:nvPr/>
        </p:nvSpPr>
        <p:spPr>
          <a:xfrm>
            <a:off x="4169664" y="1188720"/>
            <a:ext cx="0" cy="1920240"/>
          </a:xfrm>
          <a:prstGeom prst="line">
            <a:avLst/>
          </a:prstGeom>
          <a:noFill/>
          <a:ln w="12700">
            <a:solidFill>
              <a:srgbClr val="8FA9CC"/>
            </a:solidFill>
            <a:prstDash val="dash"/>
          </a:ln>
        </p:spPr>
      </p:sp>
      <p:sp>
        <p:nvSpPr>
          <p:cNvPr id="29" name="Text 25"/>
          <p:cNvSpPr txBox="1"/>
          <p:nvPr/>
        </p:nvSpPr>
        <p:spPr>
          <a:xfrm>
            <a:off x="548640" y="16459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institutes, users, students, guardians, batches, batch_changes, consents, legal_settings</a:t>
            </a:r>
            <a:endParaRPr lang="en-US" sz="1200" dirty="0"/>
          </a:p>
        </p:txBody>
      </p:sp>
      <p:sp>
        <p:nvSpPr>
          <p:cNvPr id="30" name="Shape 26"/>
          <p:cNvSpPr/>
          <p:nvPr/>
        </p:nvSpPr>
        <p:spPr>
          <a:xfrm>
            <a:off x="4233672" y="1188720"/>
            <a:ext cx="3703320" cy="301752"/>
          </a:xfrm>
          <a:prstGeom prst="rect">
            <a:avLst/>
          </a:prstGeom>
          <a:solidFill>
            <a:srgbClr val="2E6DB4"/>
          </a:solidFill>
          <a:ln/>
        </p:spPr>
      </p:sp>
      <p:sp>
        <p:nvSpPr>
          <p:cNvPr id="31" name="Text 27"/>
          <p:cNvSpPr txBox="1"/>
          <p:nvPr/>
        </p:nvSpPr>
        <p:spPr>
          <a:xfrm>
            <a:off x="4343400" y="1188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LEARNING</a:t>
            </a:r>
            <a:endParaRPr lang="en-US" sz="1200" dirty="0"/>
          </a:p>
        </p:txBody>
      </p:sp>
      <p:sp>
        <p:nvSpPr>
          <p:cNvPr id="32" name="Shape 28"/>
          <p:cNvSpPr/>
          <p:nvPr/>
        </p:nvSpPr>
        <p:spPr>
          <a:xfrm>
            <a:off x="7991856" y="1188720"/>
            <a:ext cx="0" cy="1920240"/>
          </a:xfrm>
          <a:prstGeom prst="line">
            <a:avLst/>
          </a:prstGeom>
          <a:noFill/>
          <a:ln w="12700">
            <a:solidFill>
              <a:srgbClr val="8FA9CC"/>
            </a:solidFill>
            <a:prstDash val="dash"/>
          </a:ln>
        </p:spPr>
      </p:sp>
      <p:sp>
        <p:nvSpPr>
          <p:cNvPr id="33" name="Text 29"/>
          <p:cNvSpPr txBox="1"/>
          <p:nvPr/>
        </p:nvSpPr>
        <p:spPr>
          <a:xfrm>
            <a:off x="4370832" y="16459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topics, topic_prereqs, questions, question_topics, item_params, tests, test_questions, answer_keys, marking_schemes</a:t>
            </a:r>
            <a:endParaRPr lang="en-US" sz="1200" dirty="0"/>
          </a:p>
        </p:txBody>
      </p:sp>
      <p:sp>
        <p:nvSpPr>
          <p:cNvPr id="34" name="Shape 30"/>
          <p:cNvSpPr/>
          <p:nvPr/>
        </p:nvSpPr>
        <p:spPr>
          <a:xfrm>
            <a:off x="8055864" y="1188720"/>
            <a:ext cx="3703320" cy="301752"/>
          </a:xfrm>
          <a:prstGeom prst="rect">
            <a:avLst/>
          </a:prstGeom>
          <a:solidFill>
            <a:srgbClr val="1F4A82"/>
          </a:solidFill>
          <a:ln/>
        </p:spPr>
      </p:sp>
      <p:sp>
        <p:nvSpPr>
          <p:cNvPr id="35" name="Text 31"/>
          <p:cNvSpPr txBox="1"/>
          <p:nvPr/>
        </p:nvSpPr>
        <p:spPr>
          <a:xfrm>
            <a:off x="8165592" y="1188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RESULTS</a:t>
            </a:r>
            <a:endParaRPr lang="en-US" sz="1200" dirty="0"/>
          </a:p>
        </p:txBody>
      </p:sp>
      <p:sp>
        <p:nvSpPr>
          <p:cNvPr id="36" name="Text 32"/>
          <p:cNvSpPr txBox="1"/>
          <p:nvPr/>
        </p:nvSpPr>
        <p:spPr>
          <a:xfrm>
            <a:off x="8193024" y="16459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responses, test_totals, attendance, fees, engagement</a:t>
            </a:r>
            <a:endParaRPr lang="en-US" sz="1200" dirty="0"/>
          </a:p>
        </p:txBody>
      </p:sp>
      <p:sp>
        <p:nvSpPr>
          <p:cNvPr id="37" name="Text 33"/>
          <p:cNvSpPr txBox="1"/>
          <p:nvPr/>
        </p:nvSpPr>
        <p:spPr>
          <a:xfrm>
            <a:off x="448056" y="3264408"/>
            <a:ext cx="361188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INTELLIGENCE</a:t>
            </a:r>
            <a:endParaRPr lang="en-US" sz="1250" dirty="0"/>
          </a:p>
        </p:txBody>
      </p:sp>
      <p:sp>
        <p:nvSpPr>
          <p:cNvPr id="38" name="Shape 34"/>
          <p:cNvSpPr/>
          <p:nvPr/>
        </p:nvSpPr>
        <p:spPr>
          <a:xfrm>
            <a:off x="448056" y="3557016"/>
            <a:ext cx="3611880" cy="10973"/>
          </a:xfrm>
          <a:prstGeom prst="rect">
            <a:avLst/>
          </a:prstGeom>
          <a:solidFill>
            <a:srgbClr val="C9D6E8"/>
          </a:solidFill>
          <a:ln/>
        </p:spPr>
      </p:sp>
      <p:sp>
        <p:nvSpPr>
          <p:cNvPr id="39" name="Shape 35"/>
          <p:cNvSpPr/>
          <p:nvPr/>
        </p:nvSpPr>
        <p:spPr>
          <a:xfrm>
            <a:off x="448056" y="3547872"/>
            <a:ext cx="2194560" cy="27432"/>
          </a:xfrm>
          <a:prstGeom prst="rect">
            <a:avLst/>
          </a:prstGeom>
          <a:solidFill>
            <a:srgbClr val="1F4A82"/>
          </a:solidFill>
          <a:ln/>
        </p:spPr>
      </p:sp>
      <p:sp>
        <p:nvSpPr>
          <p:cNvPr id="40" name="Shape 36"/>
          <p:cNvSpPr/>
          <p:nvPr/>
        </p:nvSpPr>
        <p:spPr>
          <a:xfrm>
            <a:off x="4169664" y="3291840"/>
            <a:ext cx="0" cy="1874520"/>
          </a:xfrm>
          <a:prstGeom prst="line">
            <a:avLst/>
          </a:prstGeom>
          <a:noFill/>
          <a:ln w="12700">
            <a:solidFill>
              <a:srgbClr val="8FA9CC"/>
            </a:solidFill>
            <a:prstDash val="dash"/>
          </a:ln>
        </p:spPr>
      </p:sp>
      <p:sp>
        <p:nvSpPr>
          <p:cNvPr id="41" name="Text 37"/>
          <p:cNvSpPr txBox="1"/>
          <p:nvPr/>
        </p:nvSpPr>
        <p:spPr>
          <a:xfrm>
            <a:off x="548640" y="37033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mastery_snapshots, risk_scores, predictions, interventions, reports, model_registry</a:t>
            </a:r>
            <a:endParaRPr lang="en-US" sz="1200" dirty="0"/>
          </a:p>
        </p:txBody>
      </p:sp>
      <p:sp>
        <p:nvSpPr>
          <p:cNvPr id="42" name="Text 38"/>
          <p:cNvSpPr txBox="1"/>
          <p:nvPr/>
        </p:nvSpPr>
        <p:spPr>
          <a:xfrm>
            <a:off x="4270248" y="3264408"/>
            <a:ext cx="361188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OPERATIONS</a:t>
            </a:r>
            <a:endParaRPr lang="en-US" sz="1250" dirty="0"/>
          </a:p>
        </p:txBody>
      </p:sp>
      <p:sp>
        <p:nvSpPr>
          <p:cNvPr id="43" name="Shape 39"/>
          <p:cNvSpPr/>
          <p:nvPr/>
        </p:nvSpPr>
        <p:spPr>
          <a:xfrm>
            <a:off x="4270248" y="3557016"/>
            <a:ext cx="3611880" cy="10973"/>
          </a:xfrm>
          <a:prstGeom prst="rect">
            <a:avLst/>
          </a:prstGeom>
          <a:solidFill>
            <a:srgbClr val="C9D6E8"/>
          </a:solidFill>
          <a:ln/>
        </p:spPr>
      </p:sp>
      <p:sp>
        <p:nvSpPr>
          <p:cNvPr id="44" name="Shape 40"/>
          <p:cNvSpPr/>
          <p:nvPr/>
        </p:nvSpPr>
        <p:spPr>
          <a:xfrm>
            <a:off x="4270248" y="3547872"/>
            <a:ext cx="2194560" cy="27432"/>
          </a:xfrm>
          <a:prstGeom prst="rect">
            <a:avLst/>
          </a:prstGeom>
          <a:solidFill>
            <a:srgbClr val="1F4A82"/>
          </a:solidFill>
          <a:ln/>
        </p:spPr>
      </p:sp>
      <p:sp>
        <p:nvSpPr>
          <p:cNvPr id="45" name="Shape 41"/>
          <p:cNvSpPr/>
          <p:nvPr/>
        </p:nvSpPr>
        <p:spPr>
          <a:xfrm>
            <a:off x="7991856" y="3291840"/>
            <a:ext cx="0" cy="1874520"/>
          </a:xfrm>
          <a:prstGeom prst="line">
            <a:avLst/>
          </a:prstGeom>
          <a:noFill/>
          <a:ln w="12700">
            <a:solidFill>
              <a:srgbClr val="8FA9CC"/>
            </a:solidFill>
            <a:prstDash val="dash"/>
          </a:ln>
        </p:spPr>
      </p:sp>
      <p:sp>
        <p:nvSpPr>
          <p:cNvPr id="46" name="Text 42"/>
          <p:cNvSpPr txBox="1"/>
          <p:nvPr/>
        </p:nvSpPr>
        <p:spPr>
          <a:xfrm>
            <a:off x="4370832" y="37033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ingest_jobs, omr_templates, audit_log</a:t>
            </a:r>
            <a:endParaRPr lang="en-US" sz="1200" dirty="0"/>
          </a:p>
        </p:txBody>
      </p:sp>
      <p:sp>
        <p:nvSpPr>
          <p:cNvPr id="47" name="Text 43"/>
          <p:cNvSpPr txBox="1"/>
          <p:nvPr/>
        </p:nvSpPr>
        <p:spPr>
          <a:xfrm>
            <a:off x="8092440" y="3493008"/>
            <a:ext cx="361188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DELIBERATELY NOT STORED</a:t>
            </a:r>
            <a:endParaRPr lang="en-US" sz="1250" dirty="0"/>
          </a:p>
        </p:txBody>
      </p:sp>
      <p:sp>
        <p:nvSpPr>
          <p:cNvPr id="48" name="Shape 44"/>
          <p:cNvSpPr/>
          <p:nvPr/>
        </p:nvSpPr>
        <p:spPr>
          <a:xfrm>
            <a:off x="8092440" y="3785616"/>
            <a:ext cx="3611880" cy="10973"/>
          </a:xfrm>
          <a:prstGeom prst="rect">
            <a:avLst/>
          </a:prstGeom>
          <a:solidFill>
            <a:srgbClr val="C9D6E8"/>
          </a:solidFill>
          <a:ln/>
        </p:spPr>
      </p:sp>
      <p:sp>
        <p:nvSpPr>
          <p:cNvPr id="49" name="Shape 45"/>
          <p:cNvSpPr/>
          <p:nvPr/>
        </p:nvSpPr>
        <p:spPr>
          <a:xfrm>
            <a:off x="8092440" y="3776472"/>
            <a:ext cx="2194560" cy="27432"/>
          </a:xfrm>
          <a:prstGeom prst="rect">
            <a:avLst/>
          </a:prstGeom>
          <a:solidFill>
            <a:srgbClr val="1F4A82"/>
          </a:solidFill>
          <a:ln/>
        </p:spPr>
      </p:sp>
      <p:sp>
        <p:nvSpPr>
          <p:cNvPr id="50" name="Text 46"/>
          <p:cNvSpPr txBox="1"/>
          <p:nvPr/>
        </p:nvSpPr>
        <p:spPr>
          <a:xfrm>
            <a:off x="8238744" y="3840480"/>
            <a:ext cx="3383280" cy="1097280"/>
          </a:xfrm>
          <a:prstGeom prst="rect">
            <a:avLst/>
          </a:prstGeom>
          <a:noFill/>
          <a:ln/>
        </p:spPr>
        <p:txBody>
          <a:bodyPr wrap="square" lIns="0" tIns="0" rIns="0" bIns="0" rtlCol="0" anchor="t"/>
          <a:lstStyle/>
          <a:p>
            <a:pPr algn="l" marL="152400" indent="-1524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Counselling notes or mental-health information</a:t>
            </a:r>
            <a:endParaRPr lang="en-US" sz="1100" dirty="0"/>
          </a:p>
          <a:p>
            <a:pPr algn="l" marL="152400" indent="-1524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ID document images</a:t>
            </a:r>
            <a:endParaRPr lang="en-US" sz="1100" dirty="0"/>
          </a:p>
          <a:p>
            <a:pPr algn="l" marL="152400" indent="-1524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Student photographs</a:t>
            </a:r>
            <a:endParaRPr lang="en-US" sz="1100" dirty="0"/>
          </a:p>
          <a:p>
            <a:pPr algn="l" marL="152400" indent="-1524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Any public rank</a:t>
            </a:r>
            <a:endParaRPr lang="en-US" sz="1100" dirty="0"/>
          </a:p>
        </p:txBody>
      </p:sp>
      <p:sp>
        <p:nvSpPr>
          <p:cNvPr id="51" name="Text 47"/>
          <p:cNvSpPr txBox="1"/>
          <p:nvPr/>
        </p:nvSpPr>
        <p:spPr>
          <a:xfrm>
            <a:off x="411480" y="5074920"/>
            <a:ext cx="7315200" cy="219456"/>
          </a:xfrm>
          <a:prstGeom prst="rect">
            <a:avLst/>
          </a:prstGeom>
          <a:noFill/>
          <a:ln/>
        </p:spPr>
        <p:txBody>
          <a:bodyPr wrap="square" lIns="0" tIns="0" rIns="0" bIns="0" rtlCol="0" anchor="t"/>
          <a:lstStyle/>
          <a:p>
            <a:pPr algn="l" indent="0" marL="0">
              <a:buNone/>
            </a:pPr>
            <a:r>
              <a:rPr lang="en-US" sz="1000" b="1" spc="50" kern="0" dirty="0">
                <a:solidFill>
                  <a:srgbClr val="1F4A82"/>
                </a:solidFill>
                <a:latin typeface="Calibri" pitchFamily="34" charset="0"/>
                <a:ea typeface="Calibri" pitchFamily="34" charset="-122"/>
                <a:cs typeface="Calibri" pitchFamily="34" charset="-120"/>
              </a:rPr>
              <a:t>HOW EVERY QUESTION GETS ITS TOPIC (SO TAGGING COSTS FALL AS WE GROW)</a:t>
            </a:r>
            <a:endParaRPr lang="en-US" sz="1000" dirty="0"/>
          </a:p>
        </p:txBody>
      </p:sp>
      <p:sp>
        <p:nvSpPr>
          <p:cNvPr id="52" name="Shape 48"/>
          <p:cNvSpPr/>
          <p:nvPr/>
        </p:nvSpPr>
        <p:spPr>
          <a:xfrm>
            <a:off x="411480" y="5330952"/>
            <a:ext cx="1559015" cy="457200"/>
          </a:xfrm>
          <a:prstGeom prst="homePlate">
            <a:avLst/>
          </a:prstGeom>
          <a:solidFill>
            <a:srgbClr val="1F4A82"/>
          </a:solidFill>
          <a:ln w="25400">
            <a:solidFill>
              <a:srgbClr val="FFFFFF"/>
            </a:solidFill>
            <a:prstDash val="solid"/>
          </a:ln>
        </p:spPr>
      </p:sp>
      <p:sp>
        <p:nvSpPr>
          <p:cNvPr id="53" name="Text 49"/>
          <p:cNvSpPr txBox="1"/>
          <p:nvPr/>
        </p:nvSpPr>
        <p:spPr>
          <a:xfrm>
            <a:off x="539496" y="5330952"/>
            <a:ext cx="1266407"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Question text</a:t>
            </a:r>
            <a:endParaRPr lang="en-US" sz="900" dirty="0"/>
          </a:p>
        </p:txBody>
      </p:sp>
      <p:sp>
        <p:nvSpPr>
          <p:cNvPr id="54" name="Shape 50"/>
          <p:cNvSpPr/>
          <p:nvPr/>
        </p:nvSpPr>
        <p:spPr>
          <a:xfrm>
            <a:off x="1850526" y="5330952"/>
            <a:ext cx="1559015" cy="457200"/>
          </a:xfrm>
          <a:prstGeom prst="chevron">
            <a:avLst/>
          </a:prstGeom>
          <a:solidFill>
            <a:srgbClr val="2E6DB4"/>
          </a:solidFill>
          <a:ln w="25400">
            <a:solidFill>
              <a:srgbClr val="FFFFFF"/>
            </a:solidFill>
            <a:prstDash val="solid"/>
          </a:ln>
        </p:spPr>
      </p:sp>
      <p:sp>
        <p:nvSpPr>
          <p:cNvPr id="55" name="Text 51"/>
          <p:cNvSpPr txBox="1"/>
          <p:nvPr/>
        </p:nvSpPr>
        <p:spPr>
          <a:xfrm>
            <a:off x="2033406" y="5330952"/>
            <a:ext cx="1211543"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Shortlist</a:t>
            </a:r>
            <a:endParaRPr lang="en-US" sz="1400" dirty="0"/>
          </a:p>
          <a:p>
            <a:pPr algn="ctr" indent="0" marL="0">
              <a:buNone/>
            </a:pPr>
            <a:r>
              <a:rPr lang="en-US" sz="650" dirty="0">
                <a:solidFill>
                  <a:srgbClr val="FFFFFF"/>
                </a:solidFill>
                <a:latin typeface="Calibri" pitchFamily="34" charset="0"/>
                <a:ea typeface="Calibri" pitchFamily="34" charset="-122"/>
                <a:cs typeface="Calibri" pitchFamily="34" charset="-120"/>
              </a:rPr>
              <a:t>embedding</a:t>
            </a:r>
            <a:endParaRPr lang="en-US" sz="1400" dirty="0"/>
          </a:p>
        </p:txBody>
      </p:sp>
      <p:sp>
        <p:nvSpPr>
          <p:cNvPr id="56" name="Shape 52"/>
          <p:cNvSpPr/>
          <p:nvPr/>
        </p:nvSpPr>
        <p:spPr>
          <a:xfrm>
            <a:off x="3289572" y="5330952"/>
            <a:ext cx="1559015" cy="457200"/>
          </a:xfrm>
          <a:prstGeom prst="chevron">
            <a:avLst/>
          </a:prstGeom>
          <a:solidFill>
            <a:srgbClr val="1F4A82"/>
          </a:solidFill>
          <a:ln w="25400">
            <a:solidFill>
              <a:srgbClr val="FFFFFF"/>
            </a:solidFill>
            <a:prstDash val="solid"/>
          </a:ln>
        </p:spPr>
      </p:sp>
      <p:sp>
        <p:nvSpPr>
          <p:cNvPr id="57" name="Text 53"/>
          <p:cNvSpPr txBox="1"/>
          <p:nvPr/>
        </p:nvSpPr>
        <p:spPr>
          <a:xfrm>
            <a:off x="3472452" y="5330952"/>
            <a:ext cx="1211543"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Local model picks</a:t>
            </a:r>
            <a:endParaRPr lang="en-US" sz="900" dirty="0"/>
          </a:p>
        </p:txBody>
      </p:sp>
      <p:sp>
        <p:nvSpPr>
          <p:cNvPr id="58" name="Shape 54"/>
          <p:cNvSpPr/>
          <p:nvPr/>
        </p:nvSpPr>
        <p:spPr>
          <a:xfrm>
            <a:off x="4728618" y="5330952"/>
            <a:ext cx="1559015" cy="457200"/>
          </a:xfrm>
          <a:prstGeom prst="chevron">
            <a:avLst/>
          </a:prstGeom>
          <a:solidFill>
            <a:srgbClr val="5B8DC9"/>
          </a:solidFill>
          <a:ln w="25400">
            <a:solidFill>
              <a:srgbClr val="FFFFFF"/>
            </a:solidFill>
            <a:prstDash val="solid"/>
          </a:ln>
        </p:spPr>
      </p:sp>
      <p:sp>
        <p:nvSpPr>
          <p:cNvPr id="59" name="Text 55"/>
          <p:cNvSpPr txBox="1"/>
          <p:nvPr/>
        </p:nvSpPr>
        <p:spPr>
          <a:xfrm>
            <a:off x="4911498" y="5330952"/>
            <a:ext cx="1211543"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Teacher 1-tap</a:t>
            </a:r>
            <a:endParaRPr lang="en-US" sz="900" dirty="0"/>
          </a:p>
        </p:txBody>
      </p:sp>
      <p:sp>
        <p:nvSpPr>
          <p:cNvPr id="60" name="Shape 56"/>
          <p:cNvSpPr/>
          <p:nvPr/>
        </p:nvSpPr>
        <p:spPr>
          <a:xfrm>
            <a:off x="6167665" y="5330952"/>
            <a:ext cx="1559015" cy="457200"/>
          </a:xfrm>
          <a:prstGeom prst="chevron">
            <a:avLst/>
          </a:prstGeom>
          <a:solidFill>
            <a:srgbClr val="1F4A82"/>
          </a:solidFill>
          <a:ln w="25400">
            <a:solidFill>
              <a:srgbClr val="FFFFFF"/>
            </a:solidFill>
            <a:prstDash val="solid"/>
          </a:ln>
        </p:spPr>
      </p:sp>
      <p:sp>
        <p:nvSpPr>
          <p:cNvPr id="61" name="Text 57"/>
          <p:cNvSpPr txBox="1"/>
          <p:nvPr/>
        </p:nvSpPr>
        <p:spPr>
          <a:xfrm>
            <a:off x="6350545" y="5330952"/>
            <a:ext cx="1211543"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Shared bank</a:t>
            </a:r>
            <a:endParaRPr lang="en-US" sz="900" dirty="0"/>
          </a:p>
        </p:txBody>
      </p:sp>
      <p:sp>
        <p:nvSpPr>
          <p:cNvPr id="62" name="Shape 58"/>
          <p:cNvSpPr/>
          <p:nvPr/>
        </p:nvSpPr>
        <p:spPr>
          <a:xfrm>
            <a:off x="411480" y="5852160"/>
            <a:ext cx="11368735" cy="310896"/>
          </a:xfrm>
          <a:prstGeom prst="rect">
            <a:avLst/>
          </a:prstGeom>
          <a:solidFill>
            <a:srgbClr val="1F4A82"/>
          </a:solidFill>
          <a:ln/>
        </p:spPr>
      </p:sp>
      <p:sp>
        <p:nvSpPr>
          <p:cNvPr id="63" name="Text 59"/>
          <p:cNvSpPr txBox="1"/>
          <p:nvPr/>
        </p:nvSpPr>
        <p:spPr>
          <a:xfrm>
            <a:off x="548640" y="5852160"/>
            <a:ext cx="11094415"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Row-level security on every tenant table; another institute sees 0 rows (tested on PostgreSQL 16)</a:t>
            </a:r>
            <a:endParaRPr lang="en-US" sz="1200" dirty="0"/>
          </a:p>
        </p:txBody>
      </p:sp>
      <p:sp>
        <p:nvSpPr>
          <p:cNvPr id="64" name="Text 60"/>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technical/contracts/schema.sql. Synthetic data: 4 institutes, 3 academic years, known ground truth.</a:t>
            </a:r>
            <a:endParaRPr lang="en-US" sz="850" dirty="0"/>
          </a:p>
        </p:txBody>
      </p:sp>
      <p:pic>
        <p:nvPicPr>
          <p:cNvPr id="65"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66"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67"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68"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69"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70"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71"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rules">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8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4: LEGAL BASIS</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The rules we design against, and what we do about each</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15568"/>
            <a:ext cx="11368735" cy="5212080"/>
          </a:xfrm>
          <a:prstGeom prst="rect">
            <a:avLst/>
          </a:prstGeom>
          <a:solidFill>
            <a:srgbClr val="FFFFFF"/>
          </a:solidFill>
          <a:ln w="12700">
            <a:solidFill>
              <a:srgbClr val="C9D6E8"/>
            </a:solidFill>
            <a:prstDash val="solid"/>
          </a:ln>
        </p:spPr>
      </p:sp>
      <p:sp>
        <p:nvSpPr>
          <p:cNvPr id="27" name="Shape 23"/>
          <p:cNvSpPr/>
          <p:nvPr/>
        </p:nvSpPr>
        <p:spPr>
          <a:xfrm>
            <a:off x="502920" y="1234440"/>
            <a:ext cx="3017520" cy="310896"/>
          </a:xfrm>
          <a:prstGeom prst="rect">
            <a:avLst/>
          </a:prstGeom>
          <a:solidFill>
            <a:srgbClr val="1F4A82"/>
          </a:solidFill>
          <a:ln/>
        </p:spPr>
      </p:sp>
      <p:sp>
        <p:nvSpPr>
          <p:cNvPr id="28" name="Text 24"/>
          <p:cNvSpPr txBox="1"/>
          <p:nvPr/>
        </p:nvSpPr>
        <p:spPr>
          <a:xfrm>
            <a:off x="548640" y="1234440"/>
            <a:ext cx="292608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Rule</a:t>
            </a:r>
            <a:endParaRPr lang="en-US" sz="1100" dirty="0"/>
          </a:p>
        </p:txBody>
      </p:sp>
      <p:sp>
        <p:nvSpPr>
          <p:cNvPr id="29" name="Shape 25"/>
          <p:cNvSpPr/>
          <p:nvPr/>
        </p:nvSpPr>
        <p:spPr>
          <a:xfrm>
            <a:off x="3520440" y="1234440"/>
            <a:ext cx="8138160" cy="310896"/>
          </a:xfrm>
          <a:prstGeom prst="rect">
            <a:avLst/>
          </a:prstGeom>
          <a:solidFill>
            <a:srgbClr val="1F4A82"/>
          </a:solidFill>
          <a:ln/>
        </p:spPr>
      </p:sp>
      <p:sp>
        <p:nvSpPr>
          <p:cNvPr id="30" name="Text 26"/>
          <p:cNvSpPr txBox="1"/>
          <p:nvPr/>
        </p:nvSpPr>
        <p:spPr>
          <a:xfrm>
            <a:off x="3566160" y="1234440"/>
            <a:ext cx="80467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Our response</a:t>
            </a:r>
            <a:endParaRPr lang="en-US" sz="1100" dirty="0"/>
          </a:p>
        </p:txBody>
      </p:sp>
      <p:sp>
        <p:nvSpPr>
          <p:cNvPr id="31" name="Shape 27"/>
          <p:cNvSpPr/>
          <p:nvPr/>
        </p:nvSpPr>
        <p:spPr>
          <a:xfrm>
            <a:off x="502920" y="1545336"/>
            <a:ext cx="3017520" cy="566928"/>
          </a:xfrm>
          <a:prstGeom prst="rect">
            <a:avLst/>
          </a:prstGeom>
          <a:solidFill>
            <a:srgbClr val="F1F7F3"/>
          </a:solidFill>
          <a:ln/>
        </p:spPr>
      </p:sp>
      <p:sp>
        <p:nvSpPr>
          <p:cNvPr id="32" name="Text 28"/>
          <p:cNvSpPr txBox="1"/>
          <p:nvPr/>
        </p:nvSpPr>
        <p:spPr>
          <a:xfrm>
            <a:off x="548640" y="1545336"/>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DPDP Act s.9(1), Rule 10</a:t>
            </a:r>
            <a:endParaRPr lang="en-US" sz="1100" dirty="0"/>
          </a:p>
        </p:txBody>
      </p:sp>
      <p:sp>
        <p:nvSpPr>
          <p:cNvPr id="33" name="Shape 29"/>
          <p:cNvSpPr/>
          <p:nvPr/>
        </p:nvSpPr>
        <p:spPr>
          <a:xfrm>
            <a:off x="3520440" y="1545336"/>
            <a:ext cx="8138160" cy="566928"/>
          </a:xfrm>
          <a:prstGeom prst="rect">
            <a:avLst/>
          </a:prstGeom>
          <a:solidFill>
            <a:srgbClr val="F1F7F3"/>
          </a:solidFill>
          <a:ln/>
        </p:spPr>
      </p:sp>
      <p:sp>
        <p:nvSpPr>
          <p:cNvPr id="34" name="Text 30"/>
          <p:cNvSpPr txBox="1"/>
          <p:nvPr/>
        </p:nvSpPr>
        <p:spPr>
          <a:xfrm>
            <a:off x="3566160" y="1545336"/>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Verifiable parental consent before processing a minor's data: ID checked at the admission desk, consent recorded per purpose.</a:t>
            </a:r>
            <a:endParaRPr lang="en-US" sz="1100" dirty="0"/>
          </a:p>
        </p:txBody>
      </p:sp>
      <p:sp>
        <p:nvSpPr>
          <p:cNvPr id="35" name="Shape 31"/>
          <p:cNvSpPr/>
          <p:nvPr/>
        </p:nvSpPr>
        <p:spPr>
          <a:xfrm>
            <a:off x="502920" y="2112264"/>
            <a:ext cx="11155680" cy="0"/>
          </a:xfrm>
          <a:prstGeom prst="line">
            <a:avLst/>
          </a:prstGeom>
          <a:noFill/>
          <a:ln w="6350">
            <a:solidFill>
              <a:srgbClr val="E3E8E4"/>
            </a:solidFill>
            <a:prstDash val="solid"/>
          </a:ln>
        </p:spPr>
      </p:sp>
      <p:sp>
        <p:nvSpPr>
          <p:cNvPr id="36" name="Shape 32"/>
          <p:cNvSpPr/>
          <p:nvPr/>
        </p:nvSpPr>
        <p:spPr>
          <a:xfrm>
            <a:off x="502920" y="2112264"/>
            <a:ext cx="3017520" cy="566928"/>
          </a:xfrm>
          <a:prstGeom prst="rect">
            <a:avLst/>
          </a:prstGeom>
          <a:solidFill>
            <a:srgbClr val="FFFFFF"/>
          </a:solidFill>
          <a:ln/>
        </p:spPr>
      </p:sp>
      <p:sp>
        <p:nvSpPr>
          <p:cNvPr id="37" name="Text 33"/>
          <p:cNvSpPr txBox="1"/>
          <p:nvPr/>
        </p:nvSpPr>
        <p:spPr>
          <a:xfrm>
            <a:off x="548640" y="2112264"/>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DPDP Act s.9(3)</a:t>
            </a:r>
            <a:endParaRPr lang="en-US" sz="1100" dirty="0"/>
          </a:p>
        </p:txBody>
      </p:sp>
      <p:sp>
        <p:nvSpPr>
          <p:cNvPr id="38" name="Shape 34"/>
          <p:cNvSpPr/>
          <p:nvPr/>
        </p:nvSpPr>
        <p:spPr>
          <a:xfrm>
            <a:off x="3520440" y="2112264"/>
            <a:ext cx="8138160" cy="566928"/>
          </a:xfrm>
          <a:prstGeom prst="rect">
            <a:avLst/>
          </a:prstGeom>
          <a:solidFill>
            <a:srgbClr val="FFFFFF"/>
          </a:solidFill>
          <a:ln/>
        </p:spPr>
      </p:sp>
      <p:sp>
        <p:nvSpPr>
          <p:cNvPr id="39" name="Text 35"/>
          <p:cNvSpPr txBox="1"/>
          <p:nvPr/>
        </p:nvSpPr>
        <p:spPr>
          <a:xfrm>
            <a:off x="3566160" y="2112264"/>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No tracking or behavioural monitoring of children: under 18, academic support uses a model; dropout and fee signals use plain rules.</a:t>
            </a:r>
            <a:endParaRPr lang="en-US" sz="1100" dirty="0"/>
          </a:p>
        </p:txBody>
      </p:sp>
      <p:sp>
        <p:nvSpPr>
          <p:cNvPr id="40" name="Shape 36"/>
          <p:cNvSpPr/>
          <p:nvPr/>
        </p:nvSpPr>
        <p:spPr>
          <a:xfrm>
            <a:off x="502920" y="2679192"/>
            <a:ext cx="11155680" cy="0"/>
          </a:xfrm>
          <a:prstGeom prst="line">
            <a:avLst/>
          </a:prstGeom>
          <a:noFill/>
          <a:ln w="6350">
            <a:solidFill>
              <a:srgbClr val="E3E8E4"/>
            </a:solidFill>
            <a:prstDash val="solid"/>
          </a:ln>
        </p:spPr>
      </p:sp>
      <p:sp>
        <p:nvSpPr>
          <p:cNvPr id="41" name="Shape 37"/>
          <p:cNvSpPr/>
          <p:nvPr/>
        </p:nvSpPr>
        <p:spPr>
          <a:xfrm>
            <a:off x="502920" y="2679192"/>
            <a:ext cx="3017520" cy="566928"/>
          </a:xfrm>
          <a:prstGeom prst="rect">
            <a:avLst/>
          </a:prstGeom>
          <a:solidFill>
            <a:srgbClr val="F1F7F3"/>
          </a:solidFill>
          <a:ln/>
        </p:spPr>
      </p:sp>
      <p:sp>
        <p:nvSpPr>
          <p:cNvPr id="42" name="Text 38"/>
          <p:cNvSpPr txBox="1"/>
          <p:nvPr/>
        </p:nvSpPr>
        <p:spPr>
          <a:xfrm>
            <a:off x="548640" y="2679192"/>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Fourth Schedule, educational institutions</a:t>
            </a:r>
            <a:endParaRPr lang="en-US" sz="1100" dirty="0"/>
          </a:p>
        </p:txBody>
      </p:sp>
      <p:sp>
        <p:nvSpPr>
          <p:cNvPr id="43" name="Shape 39"/>
          <p:cNvSpPr/>
          <p:nvPr/>
        </p:nvSpPr>
        <p:spPr>
          <a:xfrm>
            <a:off x="3520440" y="2679192"/>
            <a:ext cx="8138160" cy="566928"/>
          </a:xfrm>
          <a:prstGeom prst="rect">
            <a:avLst/>
          </a:prstGeom>
          <a:solidFill>
            <a:srgbClr val="F1F7F3"/>
          </a:solidFill>
          <a:ln/>
        </p:spPr>
      </p:sp>
      <p:sp>
        <p:nvSpPr>
          <p:cNvPr id="44" name="Text 40"/>
          <p:cNvSpPr txBox="1"/>
          <p:nvPr/>
        </p:nvSpPr>
        <p:spPr>
          <a:xfrm>
            <a:off x="3566160" y="2679192"/>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Narrow and purpose-limited, so we do not rely on it for consent.</a:t>
            </a:r>
            <a:endParaRPr lang="en-US" sz="1100" dirty="0"/>
          </a:p>
        </p:txBody>
      </p:sp>
      <p:sp>
        <p:nvSpPr>
          <p:cNvPr id="45" name="Shape 41"/>
          <p:cNvSpPr/>
          <p:nvPr/>
        </p:nvSpPr>
        <p:spPr>
          <a:xfrm>
            <a:off x="502920" y="3246120"/>
            <a:ext cx="11155680" cy="0"/>
          </a:xfrm>
          <a:prstGeom prst="line">
            <a:avLst/>
          </a:prstGeom>
          <a:noFill/>
          <a:ln w="6350">
            <a:solidFill>
              <a:srgbClr val="E3E8E4"/>
            </a:solidFill>
            <a:prstDash val="solid"/>
          </a:ln>
        </p:spPr>
      </p:sp>
      <p:sp>
        <p:nvSpPr>
          <p:cNvPr id="46" name="Shape 42"/>
          <p:cNvSpPr/>
          <p:nvPr/>
        </p:nvSpPr>
        <p:spPr>
          <a:xfrm>
            <a:off x="502920" y="3246120"/>
            <a:ext cx="3017520" cy="566928"/>
          </a:xfrm>
          <a:prstGeom prst="rect">
            <a:avLst/>
          </a:prstGeom>
          <a:solidFill>
            <a:srgbClr val="FFFFFF"/>
          </a:solidFill>
          <a:ln/>
        </p:spPr>
      </p:sp>
      <p:sp>
        <p:nvSpPr>
          <p:cNvPr id="47" name="Text 43"/>
          <p:cNvSpPr txBox="1"/>
          <p:nvPr/>
        </p:nvSpPr>
        <p:spPr>
          <a:xfrm>
            <a:off x="548640" y="3246120"/>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DPDP Rules, Rules 6 and 7</a:t>
            </a:r>
            <a:endParaRPr lang="en-US" sz="1100" dirty="0"/>
          </a:p>
        </p:txBody>
      </p:sp>
      <p:sp>
        <p:nvSpPr>
          <p:cNvPr id="48" name="Shape 44"/>
          <p:cNvSpPr/>
          <p:nvPr/>
        </p:nvSpPr>
        <p:spPr>
          <a:xfrm>
            <a:off x="3520440" y="3246120"/>
            <a:ext cx="8138160" cy="566928"/>
          </a:xfrm>
          <a:prstGeom prst="rect">
            <a:avLst/>
          </a:prstGeom>
          <a:solidFill>
            <a:srgbClr val="FFFFFF"/>
          </a:solidFill>
          <a:ln/>
        </p:spPr>
      </p:sp>
      <p:sp>
        <p:nvSpPr>
          <p:cNvPr id="49" name="Text 45"/>
          <p:cNvSpPr txBox="1"/>
          <p:nvPr/>
        </p:nvSpPr>
        <p:spPr>
          <a:xfrm>
            <a:off x="3566160" y="3246120"/>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Encryption, access control, logs kept one year, breach notice to the institute within hours.</a:t>
            </a:r>
            <a:endParaRPr lang="en-US" sz="1100" dirty="0"/>
          </a:p>
        </p:txBody>
      </p:sp>
      <p:sp>
        <p:nvSpPr>
          <p:cNvPr id="50" name="Shape 46"/>
          <p:cNvSpPr/>
          <p:nvPr/>
        </p:nvSpPr>
        <p:spPr>
          <a:xfrm>
            <a:off x="502920" y="3813048"/>
            <a:ext cx="11155680" cy="0"/>
          </a:xfrm>
          <a:prstGeom prst="line">
            <a:avLst/>
          </a:prstGeom>
          <a:noFill/>
          <a:ln w="6350">
            <a:solidFill>
              <a:srgbClr val="E3E8E4"/>
            </a:solidFill>
            <a:prstDash val="solid"/>
          </a:ln>
        </p:spPr>
      </p:sp>
      <p:sp>
        <p:nvSpPr>
          <p:cNvPr id="51" name="Shape 47"/>
          <p:cNvSpPr/>
          <p:nvPr/>
        </p:nvSpPr>
        <p:spPr>
          <a:xfrm>
            <a:off x="502920" y="3813048"/>
            <a:ext cx="3017520" cy="566928"/>
          </a:xfrm>
          <a:prstGeom prst="rect">
            <a:avLst/>
          </a:prstGeom>
          <a:solidFill>
            <a:srgbClr val="F1F7F3"/>
          </a:solidFill>
          <a:ln/>
        </p:spPr>
      </p:sp>
      <p:sp>
        <p:nvSpPr>
          <p:cNvPr id="52" name="Text 48"/>
          <p:cNvSpPr txBox="1"/>
          <p:nvPr/>
        </p:nvSpPr>
        <p:spPr>
          <a:xfrm>
            <a:off x="548640" y="3813048"/>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MoE Guidelines 2024, cl. 10.2(xi)</a:t>
            </a:r>
            <a:endParaRPr lang="en-US" sz="1100" dirty="0"/>
          </a:p>
        </p:txBody>
      </p:sp>
      <p:sp>
        <p:nvSpPr>
          <p:cNvPr id="53" name="Shape 49"/>
          <p:cNvSpPr/>
          <p:nvPr/>
        </p:nvSpPr>
        <p:spPr>
          <a:xfrm>
            <a:off x="3520440" y="3813048"/>
            <a:ext cx="8138160" cy="566928"/>
          </a:xfrm>
          <a:prstGeom prst="rect">
            <a:avLst/>
          </a:prstGeom>
          <a:solidFill>
            <a:srgbClr val="F1F7F3"/>
          </a:solidFill>
          <a:ln/>
        </p:spPr>
      </p:sp>
      <p:sp>
        <p:nvSpPr>
          <p:cNvPr id="54" name="Text 50"/>
          <p:cNvSpPr txBox="1"/>
          <p:nvPr/>
        </p:nvSpPr>
        <p:spPr>
          <a:xfrm>
            <a:off x="3566160" y="3813048"/>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Results stay private; early warning leads to counselling, never public ranks.</a:t>
            </a:r>
            <a:endParaRPr lang="en-US" sz="1100" dirty="0"/>
          </a:p>
        </p:txBody>
      </p:sp>
      <p:sp>
        <p:nvSpPr>
          <p:cNvPr id="55" name="Shape 51"/>
          <p:cNvSpPr/>
          <p:nvPr/>
        </p:nvSpPr>
        <p:spPr>
          <a:xfrm>
            <a:off x="502920" y="4379976"/>
            <a:ext cx="11155680" cy="0"/>
          </a:xfrm>
          <a:prstGeom prst="line">
            <a:avLst/>
          </a:prstGeom>
          <a:noFill/>
          <a:ln w="6350">
            <a:solidFill>
              <a:srgbClr val="E3E8E4"/>
            </a:solidFill>
            <a:prstDash val="solid"/>
          </a:ln>
        </p:spPr>
      </p:sp>
      <p:sp>
        <p:nvSpPr>
          <p:cNvPr id="56" name="Shape 52"/>
          <p:cNvSpPr/>
          <p:nvPr/>
        </p:nvSpPr>
        <p:spPr>
          <a:xfrm>
            <a:off x="502920" y="4379976"/>
            <a:ext cx="3017520" cy="566928"/>
          </a:xfrm>
          <a:prstGeom prst="rect">
            <a:avLst/>
          </a:prstGeom>
          <a:solidFill>
            <a:srgbClr val="FFFFFF"/>
          </a:solidFill>
          <a:ln/>
        </p:spPr>
      </p:sp>
      <p:sp>
        <p:nvSpPr>
          <p:cNvPr id="57" name="Text 53"/>
          <p:cNvSpPr txBox="1"/>
          <p:nvPr/>
        </p:nvSpPr>
        <p:spPr>
          <a:xfrm>
            <a:off x="548640" y="4379976"/>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MoE Guidelines 2024, cl. 12(vii)</a:t>
            </a:r>
            <a:endParaRPr lang="en-US" sz="1100" dirty="0"/>
          </a:p>
        </p:txBody>
      </p:sp>
      <p:sp>
        <p:nvSpPr>
          <p:cNvPr id="58" name="Shape 54"/>
          <p:cNvSpPr/>
          <p:nvPr/>
        </p:nvSpPr>
        <p:spPr>
          <a:xfrm>
            <a:off x="3520440" y="4379976"/>
            <a:ext cx="8138160" cy="566928"/>
          </a:xfrm>
          <a:prstGeom prst="rect">
            <a:avLst/>
          </a:prstGeom>
          <a:solidFill>
            <a:srgbClr val="FFFFFF"/>
          </a:solidFill>
          <a:ln/>
        </p:spPr>
      </p:sp>
      <p:sp>
        <p:nvSpPr>
          <p:cNvPr id="59" name="Text 55"/>
          <p:cNvSpPr txBox="1"/>
          <p:nvPr/>
        </p:nvSpPr>
        <p:spPr>
          <a:xfrm>
            <a:off x="3566160" y="4379976"/>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No batch moves based on performance; remedial help is an extra session.</a:t>
            </a:r>
            <a:endParaRPr lang="en-US" sz="1100" dirty="0"/>
          </a:p>
        </p:txBody>
      </p:sp>
      <p:sp>
        <p:nvSpPr>
          <p:cNvPr id="60" name="Shape 56"/>
          <p:cNvSpPr/>
          <p:nvPr/>
        </p:nvSpPr>
        <p:spPr>
          <a:xfrm>
            <a:off x="502920" y="4946904"/>
            <a:ext cx="11155680" cy="0"/>
          </a:xfrm>
          <a:prstGeom prst="line">
            <a:avLst/>
          </a:prstGeom>
          <a:noFill/>
          <a:ln w="6350">
            <a:solidFill>
              <a:srgbClr val="E3E8E4"/>
            </a:solidFill>
            <a:prstDash val="solid"/>
          </a:ln>
        </p:spPr>
      </p:sp>
      <p:sp>
        <p:nvSpPr>
          <p:cNvPr id="61" name="Shape 57"/>
          <p:cNvSpPr/>
          <p:nvPr/>
        </p:nvSpPr>
        <p:spPr>
          <a:xfrm>
            <a:off x="502920" y="4946904"/>
            <a:ext cx="3017520" cy="566928"/>
          </a:xfrm>
          <a:prstGeom prst="rect">
            <a:avLst/>
          </a:prstGeom>
          <a:solidFill>
            <a:srgbClr val="F1F7F3"/>
          </a:solidFill>
          <a:ln/>
        </p:spPr>
      </p:sp>
      <p:sp>
        <p:nvSpPr>
          <p:cNvPr id="62" name="Text 58"/>
          <p:cNvSpPr txBox="1"/>
          <p:nvPr/>
        </p:nvSpPr>
        <p:spPr>
          <a:xfrm>
            <a:off x="548640" y="4946904"/>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MoE Guidelines 2024, cl. 8(iv), 10.1</a:t>
            </a:r>
            <a:endParaRPr lang="en-US" sz="1100" dirty="0"/>
          </a:p>
        </p:txBody>
      </p:sp>
      <p:sp>
        <p:nvSpPr>
          <p:cNvPr id="63" name="Shape 59"/>
          <p:cNvSpPr/>
          <p:nvPr/>
        </p:nvSpPr>
        <p:spPr>
          <a:xfrm>
            <a:off x="3520440" y="4946904"/>
            <a:ext cx="8138160" cy="566928"/>
          </a:xfrm>
          <a:prstGeom prst="rect">
            <a:avLst/>
          </a:prstGeom>
          <a:solidFill>
            <a:srgbClr val="F1F7F3"/>
          </a:solidFill>
          <a:ln/>
        </p:spPr>
      </p:sp>
      <p:sp>
        <p:nvSpPr>
          <p:cNvPr id="64" name="Text 60"/>
          <p:cNvSpPr txBox="1"/>
          <p:nvPr/>
        </p:nvSpPr>
        <p:spPr>
          <a:xfrm>
            <a:off x="3566160" y="4946904"/>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Pro-rata refund within 10 days; no test the day after the weekly off.</a:t>
            </a:r>
            <a:endParaRPr lang="en-US" sz="1100" dirty="0"/>
          </a:p>
        </p:txBody>
      </p:sp>
      <p:sp>
        <p:nvSpPr>
          <p:cNvPr id="65" name="Shape 61"/>
          <p:cNvSpPr/>
          <p:nvPr/>
        </p:nvSpPr>
        <p:spPr>
          <a:xfrm>
            <a:off x="502920" y="5513832"/>
            <a:ext cx="11155680" cy="0"/>
          </a:xfrm>
          <a:prstGeom prst="line">
            <a:avLst/>
          </a:prstGeom>
          <a:noFill/>
          <a:ln w="6350">
            <a:solidFill>
              <a:srgbClr val="E3E8E4"/>
            </a:solidFill>
            <a:prstDash val="solid"/>
          </a:ln>
        </p:spPr>
      </p:sp>
      <p:sp>
        <p:nvSpPr>
          <p:cNvPr id="66" name="Shape 62"/>
          <p:cNvSpPr/>
          <p:nvPr/>
        </p:nvSpPr>
        <p:spPr>
          <a:xfrm>
            <a:off x="502920" y="5513832"/>
            <a:ext cx="3017520" cy="566928"/>
          </a:xfrm>
          <a:prstGeom prst="rect">
            <a:avLst/>
          </a:prstGeom>
          <a:solidFill>
            <a:srgbClr val="FFFFFF"/>
          </a:solidFill>
          <a:ln/>
        </p:spPr>
      </p:sp>
      <p:sp>
        <p:nvSpPr>
          <p:cNvPr id="67" name="Text 63"/>
          <p:cNvSpPr txBox="1"/>
          <p:nvPr/>
        </p:nvSpPr>
        <p:spPr>
          <a:xfrm>
            <a:off x="548640" y="5513832"/>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Rajasthan Act 2025, s.6(2)(d)</a:t>
            </a:r>
            <a:endParaRPr lang="en-US" sz="1100" dirty="0"/>
          </a:p>
        </p:txBody>
      </p:sp>
      <p:sp>
        <p:nvSpPr>
          <p:cNvPr id="68" name="Shape 64"/>
          <p:cNvSpPr/>
          <p:nvPr/>
        </p:nvSpPr>
        <p:spPr>
          <a:xfrm>
            <a:off x="3520440" y="5513832"/>
            <a:ext cx="8138160" cy="566928"/>
          </a:xfrm>
          <a:prstGeom prst="rect">
            <a:avLst/>
          </a:prstGeom>
          <a:solidFill>
            <a:srgbClr val="FFFFFF"/>
          </a:solidFill>
          <a:ln/>
        </p:spPr>
      </p:sp>
      <p:sp>
        <p:nvSpPr>
          <p:cNvPr id="69" name="Text 65"/>
          <p:cNvSpPr txBox="1"/>
          <p:nvPr/>
        </p:nvSpPr>
        <p:spPr>
          <a:xfrm>
            <a:off x="3566160" y="5513832"/>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Fee plans support four or more equal instalments.</a:t>
            </a:r>
            <a:endParaRPr lang="en-US" sz="1100" dirty="0"/>
          </a:p>
        </p:txBody>
      </p:sp>
      <p:sp>
        <p:nvSpPr>
          <p:cNvPr id="70" name="Shape 66"/>
          <p:cNvSpPr/>
          <p:nvPr/>
        </p:nvSpPr>
        <p:spPr>
          <a:xfrm>
            <a:off x="502920" y="6080760"/>
            <a:ext cx="11155680" cy="0"/>
          </a:xfrm>
          <a:prstGeom prst="line">
            <a:avLst/>
          </a:prstGeom>
          <a:noFill/>
          <a:ln w="6350">
            <a:solidFill>
              <a:srgbClr val="E3E8E4"/>
            </a:solidFill>
            <a:prstDash val="solid"/>
          </a:ln>
        </p:spPr>
      </p:sp>
      <p:sp>
        <p:nvSpPr>
          <p:cNvPr id="71" name="Text 67"/>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DPDP Act 2023, DPDP Rules 2025, MoE Guidelines 2024, Rajasthan Coaching Centres Act 2025 (technical/docs/TECH_PLAN.md, section 24). Not legal advice.</a:t>
            </a:r>
            <a:endParaRPr lang="en-US" sz="850" dirty="0"/>
          </a:p>
        </p:txBody>
      </p:sp>
      <p:pic>
        <p:nvPicPr>
          <p:cNvPr id="72"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73"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74"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75"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76"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77"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78"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survey">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8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5: MODEL CARD AND GO-LIVE GATES</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How we will know each model works before an institute relies on it</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15568"/>
            <a:ext cx="256032" cy="256032"/>
          </a:xfrm>
          <a:prstGeom prst="rect">
            <a:avLst/>
          </a:prstGeom>
          <a:solidFill>
            <a:srgbClr val="1F4A82"/>
          </a:solidFill>
          <a:ln/>
        </p:spPr>
      </p:sp>
      <p:sp>
        <p:nvSpPr>
          <p:cNvPr id="27" name="Text 23"/>
          <p:cNvSpPr txBox="1"/>
          <p:nvPr/>
        </p:nvSpPr>
        <p:spPr>
          <a:xfrm>
            <a:off x="41148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a:t>
            </a:r>
            <a:endParaRPr lang="en-US" sz="1150" dirty="0"/>
          </a:p>
        </p:txBody>
      </p:sp>
      <p:sp>
        <p:nvSpPr>
          <p:cNvPr id="28" name="Text 24"/>
          <p:cNvSpPr txBox="1"/>
          <p:nvPr/>
        </p:nvSpPr>
        <p:spPr>
          <a:xfrm>
            <a:off x="740664" y="1115568"/>
            <a:ext cx="33284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HOW WE SPLIT AND COMPARE</a:t>
            </a:r>
            <a:endParaRPr lang="en-US" sz="1200" dirty="0"/>
          </a:p>
        </p:txBody>
      </p:sp>
      <p:sp>
        <p:nvSpPr>
          <p:cNvPr id="29" name="Shape 25"/>
          <p:cNvSpPr/>
          <p:nvPr/>
        </p:nvSpPr>
        <p:spPr>
          <a:xfrm>
            <a:off x="411480" y="1463040"/>
            <a:ext cx="73152" cy="530352"/>
          </a:xfrm>
          <a:prstGeom prst="rect">
            <a:avLst/>
          </a:prstGeom>
          <a:solidFill>
            <a:srgbClr val="1F4A82"/>
          </a:solidFill>
          <a:ln/>
        </p:spPr>
      </p:sp>
      <p:sp>
        <p:nvSpPr>
          <p:cNvPr id="30" name="Text 26"/>
          <p:cNvSpPr txBox="1"/>
          <p:nvPr/>
        </p:nvSpPr>
        <p:spPr>
          <a:xfrm>
            <a:off x="576072" y="1463040"/>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By student and by year</a:t>
            </a:r>
            <a:endParaRPr lang="en-US" sz="1050" dirty="0"/>
          </a:p>
        </p:txBody>
      </p:sp>
      <p:sp>
        <p:nvSpPr>
          <p:cNvPr id="31" name="Text 27"/>
          <p:cNvSpPr txBox="1"/>
          <p:nvPr/>
        </p:nvSpPr>
        <p:spPr>
          <a:xfrm>
            <a:off x="576072" y="1682496"/>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Features use only data before the as-of date; never split by row.</a:t>
            </a:r>
            <a:endParaRPr lang="en-US" sz="900" dirty="0"/>
          </a:p>
        </p:txBody>
      </p:sp>
      <p:sp>
        <p:nvSpPr>
          <p:cNvPr id="32" name="Shape 28"/>
          <p:cNvSpPr/>
          <p:nvPr/>
        </p:nvSpPr>
        <p:spPr>
          <a:xfrm>
            <a:off x="411480" y="2066544"/>
            <a:ext cx="73152" cy="530352"/>
          </a:xfrm>
          <a:prstGeom prst="rect">
            <a:avLst/>
          </a:prstGeom>
          <a:solidFill>
            <a:srgbClr val="1F4A82"/>
          </a:solidFill>
          <a:ln/>
        </p:spPr>
      </p:sp>
      <p:sp>
        <p:nvSpPr>
          <p:cNvPr id="33" name="Text 29"/>
          <p:cNvSpPr txBox="1"/>
          <p:nvPr/>
        </p:nvSpPr>
        <p:spPr>
          <a:xfrm>
            <a:off x="576072" y="2066544"/>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Baselines at equal workload</a:t>
            </a:r>
            <a:endParaRPr lang="en-US" sz="1050" dirty="0"/>
          </a:p>
        </p:txBody>
      </p:sp>
      <p:sp>
        <p:nvSpPr>
          <p:cNvPr id="34" name="Text 30"/>
          <p:cNvSpPr txBox="1"/>
          <p:nvPr/>
        </p:nvSpPr>
        <p:spPr>
          <a:xfrm>
            <a:off x="576072" y="2286000"/>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Each model sits beside the institute's own rule at the same weekly list size.</a:t>
            </a:r>
            <a:endParaRPr lang="en-US" sz="900" dirty="0"/>
          </a:p>
        </p:txBody>
      </p:sp>
      <p:sp>
        <p:nvSpPr>
          <p:cNvPr id="35" name="Shape 31"/>
          <p:cNvSpPr/>
          <p:nvPr/>
        </p:nvSpPr>
        <p:spPr>
          <a:xfrm>
            <a:off x="411480" y="2670048"/>
            <a:ext cx="73152" cy="530352"/>
          </a:xfrm>
          <a:prstGeom prst="rect">
            <a:avLst/>
          </a:prstGeom>
          <a:solidFill>
            <a:srgbClr val="1F4A82"/>
          </a:solidFill>
          <a:ln/>
        </p:spPr>
      </p:sp>
      <p:sp>
        <p:nvSpPr>
          <p:cNvPr id="36" name="Text 32"/>
          <p:cNvSpPr txBox="1"/>
          <p:nvPr/>
        </p:nvSpPr>
        <p:spPr>
          <a:xfrm>
            <a:off x="576072" y="2670048"/>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Uncertainty</a:t>
            </a:r>
            <a:endParaRPr lang="en-US" sz="1050" dirty="0"/>
          </a:p>
        </p:txBody>
      </p:sp>
      <p:sp>
        <p:nvSpPr>
          <p:cNvPr id="37" name="Text 33"/>
          <p:cNvSpPr txBox="1"/>
          <p:nvPr/>
        </p:nvSpPr>
        <p:spPr>
          <a:xfrm>
            <a:off x="576072" y="2889504"/>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Bootstrap intervals over students; three generator seeds; event counts shown.</a:t>
            </a:r>
            <a:endParaRPr lang="en-US" sz="900" dirty="0"/>
          </a:p>
        </p:txBody>
      </p:sp>
      <p:sp>
        <p:nvSpPr>
          <p:cNvPr id="38" name="Shape 34"/>
          <p:cNvSpPr/>
          <p:nvPr/>
        </p:nvSpPr>
        <p:spPr>
          <a:xfrm>
            <a:off x="411480" y="3273552"/>
            <a:ext cx="73152" cy="530352"/>
          </a:xfrm>
          <a:prstGeom prst="rect">
            <a:avLst/>
          </a:prstGeom>
          <a:solidFill>
            <a:srgbClr val="1F4A82"/>
          </a:solidFill>
          <a:ln/>
        </p:spPr>
      </p:sp>
      <p:sp>
        <p:nvSpPr>
          <p:cNvPr id="39" name="Text 35"/>
          <p:cNvSpPr txBox="1"/>
          <p:nvPr/>
        </p:nvSpPr>
        <p:spPr>
          <a:xfrm>
            <a:off x="576072" y="3273552"/>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Stress tests</a:t>
            </a:r>
            <a:endParaRPr lang="en-US" sz="1050" dirty="0"/>
          </a:p>
        </p:txBody>
      </p:sp>
      <p:sp>
        <p:nvSpPr>
          <p:cNvPr id="40" name="Text 36"/>
          <p:cNvSpPr txBox="1"/>
          <p:nvPr/>
        </p:nvSpPr>
        <p:spPr>
          <a:xfrm>
            <a:off x="576072" y="3493008"/>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Misspecified generators, a held-out institute, an independent attack on the report checker.</a:t>
            </a:r>
            <a:endParaRPr lang="en-US" sz="900" dirty="0"/>
          </a:p>
        </p:txBody>
      </p:sp>
      <p:sp>
        <p:nvSpPr>
          <p:cNvPr id="41" name="Shape 37"/>
          <p:cNvSpPr/>
          <p:nvPr/>
        </p:nvSpPr>
        <p:spPr>
          <a:xfrm>
            <a:off x="411480" y="3877056"/>
            <a:ext cx="73152" cy="530352"/>
          </a:xfrm>
          <a:prstGeom prst="rect">
            <a:avLst/>
          </a:prstGeom>
          <a:solidFill>
            <a:srgbClr val="1F4A82"/>
          </a:solidFill>
          <a:ln/>
        </p:spPr>
      </p:sp>
      <p:sp>
        <p:nvSpPr>
          <p:cNvPr id="42" name="Text 38"/>
          <p:cNvSpPr txBox="1"/>
          <p:nvPr/>
        </p:nvSpPr>
        <p:spPr>
          <a:xfrm>
            <a:off x="576072" y="3877056"/>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Honest misses</a:t>
            </a:r>
            <a:endParaRPr lang="en-US" sz="1050" dirty="0"/>
          </a:p>
        </p:txBody>
      </p:sp>
      <p:sp>
        <p:nvSpPr>
          <p:cNvPr id="43" name="Text 39"/>
          <p:cNvSpPr txBox="1"/>
          <p:nvPr/>
        </p:nvSpPr>
        <p:spPr>
          <a:xfrm>
            <a:off x="576072" y="4096512"/>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A missed gate is reported with its cause; gates are never moved to pass.</a:t>
            </a:r>
            <a:endParaRPr lang="en-US" sz="900" dirty="0"/>
          </a:p>
        </p:txBody>
      </p:sp>
      <p:sp>
        <p:nvSpPr>
          <p:cNvPr id="44" name="Shape 40"/>
          <p:cNvSpPr/>
          <p:nvPr/>
        </p:nvSpPr>
        <p:spPr>
          <a:xfrm>
            <a:off x="411480" y="4553712"/>
            <a:ext cx="256032" cy="256032"/>
          </a:xfrm>
          <a:prstGeom prst="rect">
            <a:avLst/>
          </a:prstGeom>
          <a:solidFill>
            <a:srgbClr val="1F4A82"/>
          </a:solidFill>
          <a:ln/>
        </p:spPr>
      </p:sp>
      <p:sp>
        <p:nvSpPr>
          <p:cNvPr id="45" name="Text 41"/>
          <p:cNvSpPr txBox="1"/>
          <p:nvPr/>
        </p:nvSpPr>
        <p:spPr>
          <a:xfrm>
            <a:off x="411480" y="455371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endParaRPr lang="en-US" sz="1150" dirty="0"/>
          </a:p>
        </p:txBody>
      </p:sp>
      <p:sp>
        <p:nvSpPr>
          <p:cNvPr id="46" name="Text 42"/>
          <p:cNvSpPr txBox="1"/>
          <p:nvPr/>
        </p:nvSpPr>
        <p:spPr>
          <a:xfrm>
            <a:off x="740664" y="4553712"/>
            <a:ext cx="33284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KNOWN LIMITATIONS, STATED</a:t>
            </a:r>
            <a:endParaRPr lang="en-US" sz="1200" dirty="0"/>
          </a:p>
        </p:txBody>
      </p:sp>
      <p:sp>
        <p:nvSpPr>
          <p:cNvPr id="47" name="Text 43"/>
          <p:cNvSpPr txBox="1"/>
          <p:nvPr/>
        </p:nvSpPr>
        <p:spPr>
          <a:xfrm>
            <a:off x="411480" y="4864608"/>
            <a:ext cx="3657600" cy="1371600"/>
          </a:xfrm>
          <a:prstGeom prst="rect">
            <a:avLst/>
          </a:prstGeom>
          <a:noFill/>
          <a:ln/>
        </p:spPr>
        <p:txBody>
          <a:bodyPr wrap="square" lIns="0" tIns="0" rIns="0" bIns="0" rtlCol="0" anchor="t"/>
          <a:lstStyle/>
          <a:p>
            <a:pPr algn="l" marL="152400" indent="-1524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Synthetic data proves the pipeline, not real-world accuracy.</a:t>
            </a:r>
            <a:endParaRPr lang="en-US" sz="950" dirty="0"/>
          </a:p>
          <a:p>
            <a:pPr algn="l" marL="152400" indent="-1524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OULAD is a UK online university; ASSISTments is US school maths.</a:t>
            </a:r>
            <a:endParaRPr lang="en-US" sz="950" dirty="0"/>
          </a:p>
          <a:p>
            <a:pPr algn="l" marL="152400" indent="-1524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The percentile mapping is an editable assumption table until real mock-vs-exam pairs exist.</a:t>
            </a:r>
            <a:endParaRPr lang="en-US" sz="950" dirty="0"/>
          </a:p>
        </p:txBody>
      </p:sp>
      <p:sp>
        <p:nvSpPr>
          <p:cNvPr id="48" name="Shape 44"/>
          <p:cNvSpPr/>
          <p:nvPr/>
        </p:nvSpPr>
        <p:spPr>
          <a:xfrm>
            <a:off x="4343400" y="1115568"/>
            <a:ext cx="256032" cy="256032"/>
          </a:xfrm>
          <a:prstGeom prst="rect">
            <a:avLst/>
          </a:prstGeom>
          <a:solidFill>
            <a:srgbClr val="1F4A82"/>
          </a:solidFill>
          <a:ln/>
        </p:spPr>
      </p:sp>
      <p:sp>
        <p:nvSpPr>
          <p:cNvPr id="49" name="Text 45"/>
          <p:cNvSpPr txBox="1"/>
          <p:nvPr/>
        </p:nvSpPr>
        <p:spPr>
          <a:xfrm>
            <a:off x="434340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a:t>
            </a:r>
            <a:endParaRPr lang="en-US" sz="1150" dirty="0"/>
          </a:p>
        </p:txBody>
      </p:sp>
      <p:sp>
        <p:nvSpPr>
          <p:cNvPr id="50" name="Text 46"/>
          <p:cNvSpPr txBox="1"/>
          <p:nvPr/>
        </p:nvSpPr>
        <p:spPr>
          <a:xfrm>
            <a:off x="4672584" y="1115568"/>
            <a:ext cx="710763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METRICS AND GATES (FROM contracts/metrics_bars.yaml)</a:t>
            </a:r>
            <a:endParaRPr lang="en-US" sz="1200" dirty="0"/>
          </a:p>
        </p:txBody>
      </p:sp>
      <p:sp>
        <p:nvSpPr>
          <p:cNvPr id="51" name="Shape 47"/>
          <p:cNvSpPr/>
          <p:nvPr/>
        </p:nvSpPr>
        <p:spPr>
          <a:xfrm>
            <a:off x="4343400" y="1444752"/>
            <a:ext cx="1417320" cy="274320"/>
          </a:xfrm>
          <a:prstGeom prst="rect">
            <a:avLst/>
          </a:prstGeom>
          <a:solidFill>
            <a:srgbClr val="1F4A82"/>
          </a:solidFill>
          <a:ln/>
        </p:spPr>
      </p:sp>
      <p:sp>
        <p:nvSpPr>
          <p:cNvPr id="52" name="Text 48"/>
          <p:cNvSpPr txBox="1"/>
          <p:nvPr/>
        </p:nvSpPr>
        <p:spPr>
          <a:xfrm>
            <a:off x="4389120" y="1444752"/>
            <a:ext cx="132588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Component</a:t>
            </a:r>
            <a:endParaRPr lang="en-US" sz="950" dirty="0"/>
          </a:p>
        </p:txBody>
      </p:sp>
      <p:sp>
        <p:nvSpPr>
          <p:cNvPr id="53" name="Shape 49"/>
          <p:cNvSpPr/>
          <p:nvPr/>
        </p:nvSpPr>
        <p:spPr>
          <a:xfrm>
            <a:off x="5760720" y="1444752"/>
            <a:ext cx="3291840" cy="274320"/>
          </a:xfrm>
          <a:prstGeom prst="rect">
            <a:avLst/>
          </a:prstGeom>
          <a:solidFill>
            <a:srgbClr val="1F4A82"/>
          </a:solidFill>
          <a:ln/>
        </p:spPr>
      </p:sp>
      <p:sp>
        <p:nvSpPr>
          <p:cNvPr id="54" name="Text 50"/>
          <p:cNvSpPr txBox="1"/>
          <p:nvPr/>
        </p:nvSpPr>
        <p:spPr>
          <a:xfrm>
            <a:off x="5806440" y="1444752"/>
            <a:ext cx="32004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Metric</a:t>
            </a:r>
            <a:endParaRPr lang="en-US" sz="950" dirty="0"/>
          </a:p>
        </p:txBody>
      </p:sp>
      <p:sp>
        <p:nvSpPr>
          <p:cNvPr id="55" name="Shape 51"/>
          <p:cNvSpPr/>
          <p:nvPr/>
        </p:nvSpPr>
        <p:spPr>
          <a:xfrm>
            <a:off x="9052560" y="1444752"/>
            <a:ext cx="1051560" cy="274320"/>
          </a:xfrm>
          <a:prstGeom prst="rect">
            <a:avLst/>
          </a:prstGeom>
          <a:solidFill>
            <a:srgbClr val="1F4A82"/>
          </a:solidFill>
          <a:ln/>
        </p:spPr>
      </p:sp>
      <p:sp>
        <p:nvSpPr>
          <p:cNvPr id="56" name="Text 52"/>
          <p:cNvSpPr txBox="1"/>
          <p:nvPr/>
        </p:nvSpPr>
        <p:spPr>
          <a:xfrm>
            <a:off x="9098280" y="1444752"/>
            <a:ext cx="9601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Gate</a:t>
            </a:r>
            <a:endParaRPr lang="en-US" sz="950" dirty="0"/>
          </a:p>
        </p:txBody>
      </p:sp>
      <p:sp>
        <p:nvSpPr>
          <p:cNvPr id="57" name="Shape 53"/>
          <p:cNvSpPr/>
          <p:nvPr/>
        </p:nvSpPr>
        <p:spPr>
          <a:xfrm>
            <a:off x="10104120" y="1444752"/>
            <a:ext cx="1676095" cy="274320"/>
          </a:xfrm>
          <a:prstGeom prst="rect">
            <a:avLst/>
          </a:prstGeom>
          <a:solidFill>
            <a:srgbClr val="1F4A82"/>
          </a:solidFill>
          <a:ln/>
        </p:spPr>
      </p:sp>
      <p:sp>
        <p:nvSpPr>
          <p:cNvPr id="58" name="Text 54"/>
          <p:cNvSpPr txBox="1"/>
          <p:nvPr/>
        </p:nvSpPr>
        <p:spPr>
          <a:xfrm>
            <a:off x="10149840" y="1444752"/>
            <a:ext cx="1584655"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Status</a:t>
            </a:r>
            <a:endParaRPr lang="en-US" sz="950" dirty="0"/>
          </a:p>
        </p:txBody>
      </p:sp>
      <p:sp>
        <p:nvSpPr>
          <p:cNvPr id="59" name="Shape 55"/>
          <p:cNvSpPr/>
          <p:nvPr/>
        </p:nvSpPr>
        <p:spPr>
          <a:xfrm>
            <a:off x="4343400" y="1719072"/>
            <a:ext cx="1417320" cy="384048"/>
          </a:xfrm>
          <a:prstGeom prst="rect">
            <a:avLst/>
          </a:prstGeom>
          <a:solidFill>
            <a:srgbClr val="F1F7F3"/>
          </a:solidFill>
          <a:ln/>
        </p:spPr>
      </p:sp>
      <p:sp>
        <p:nvSpPr>
          <p:cNvPr id="60" name="Text 56"/>
          <p:cNvSpPr txBox="1"/>
          <p:nvPr/>
        </p:nvSpPr>
        <p:spPr>
          <a:xfrm>
            <a:off x="4389120" y="1719072"/>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Difficulty (IRT)</a:t>
            </a:r>
            <a:endParaRPr lang="en-US" sz="950" dirty="0"/>
          </a:p>
        </p:txBody>
      </p:sp>
      <p:sp>
        <p:nvSpPr>
          <p:cNvPr id="61" name="Shape 57"/>
          <p:cNvSpPr/>
          <p:nvPr/>
        </p:nvSpPr>
        <p:spPr>
          <a:xfrm>
            <a:off x="5760720" y="1719072"/>
            <a:ext cx="3291840" cy="384048"/>
          </a:xfrm>
          <a:prstGeom prst="rect">
            <a:avLst/>
          </a:prstGeom>
          <a:solidFill>
            <a:srgbClr val="F1F7F3"/>
          </a:solidFill>
          <a:ln/>
        </p:spPr>
      </p:sp>
      <p:sp>
        <p:nvSpPr>
          <p:cNvPr id="62" name="Text 58"/>
          <p:cNvSpPr txBox="1"/>
          <p:nvPr/>
        </p:nvSpPr>
        <p:spPr>
          <a:xfrm>
            <a:off x="5806440" y="1719072"/>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Recovery r(b̂, b) at 60 answers per item; at 30 answers</a:t>
            </a:r>
            <a:endParaRPr lang="en-US" sz="950" dirty="0"/>
          </a:p>
        </p:txBody>
      </p:sp>
      <p:sp>
        <p:nvSpPr>
          <p:cNvPr id="63" name="Shape 59"/>
          <p:cNvSpPr/>
          <p:nvPr/>
        </p:nvSpPr>
        <p:spPr>
          <a:xfrm>
            <a:off x="9052560" y="1719072"/>
            <a:ext cx="1051560" cy="384048"/>
          </a:xfrm>
          <a:prstGeom prst="rect">
            <a:avLst/>
          </a:prstGeom>
          <a:solidFill>
            <a:srgbClr val="F1F7F3"/>
          </a:solidFill>
          <a:ln/>
        </p:spPr>
      </p:sp>
      <p:sp>
        <p:nvSpPr>
          <p:cNvPr id="64" name="Text 60"/>
          <p:cNvSpPr txBox="1"/>
          <p:nvPr/>
        </p:nvSpPr>
        <p:spPr>
          <a:xfrm>
            <a:off x="9098280" y="1719072"/>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0.90; ≥ 0.85</a:t>
            </a:r>
            <a:endParaRPr lang="en-US" sz="950" dirty="0"/>
          </a:p>
        </p:txBody>
      </p:sp>
      <p:sp>
        <p:nvSpPr>
          <p:cNvPr id="65" name="Shape 61"/>
          <p:cNvSpPr/>
          <p:nvPr/>
        </p:nvSpPr>
        <p:spPr>
          <a:xfrm>
            <a:off x="10104120" y="1719072"/>
            <a:ext cx="1676095" cy="384048"/>
          </a:xfrm>
          <a:prstGeom prst="rect">
            <a:avLst/>
          </a:prstGeom>
          <a:solidFill>
            <a:srgbClr val="F1E8D3"/>
          </a:solidFill>
          <a:ln/>
        </p:spPr>
      </p:sp>
      <p:sp>
        <p:nvSpPr>
          <p:cNvPr id="66" name="Text 62"/>
          <p:cNvSpPr txBox="1"/>
          <p:nvPr/>
        </p:nvSpPr>
        <p:spPr>
          <a:xfrm>
            <a:off x="10149840" y="1719072"/>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67" name="Shape 63"/>
          <p:cNvSpPr/>
          <p:nvPr/>
        </p:nvSpPr>
        <p:spPr>
          <a:xfrm>
            <a:off x="4343400" y="2103120"/>
            <a:ext cx="7436815" cy="0"/>
          </a:xfrm>
          <a:prstGeom prst="line">
            <a:avLst/>
          </a:prstGeom>
          <a:noFill/>
          <a:ln w="6350">
            <a:solidFill>
              <a:srgbClr val="E3E8E4"/>
            </a:solidFill>
            <a:prstDash val="solid"/>
          </a:ln>
        </p:spPr>
      </p:sp>
      <p:sp>
        <p:nvSpPr>
          <p:cNvPr id="68" name="Shape 64"/>
          <p:cNvSpPr/>
          <p:nvPr/>
        </p:nvSpPr>
        <p:spPr>
          <a:xfrm>
            <a:off x="4343400" y="2103120"/>
            <a:ext cx="1417320" cy="384048"/>
          </a:xfrm>
          <a:prstGeom prst="rect">
            <a:avLst/>
          </a:prstGeom>
          <a:solidFill>
            <a:srgbClr val="FFFFFF"/>
          </a:solidFill>
          <a:ln/>
        </p:spPr>
      </p:sp>
      <p:sp>
        <p:nvSpPr>
          <p:cNvPr id="69" name="Text 65"/>
          <p:cNvSpPr txBox="1"/>
          <p:nvPr/>
        </p:nvSpPr>
        <p:spPr>
          <a:xfrm>
            <a:off x="4389120" y="2103120"/>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Wrong-key detector</a:t>
            </a:r>
            <a:endParaRPr lang="en-US" sz="950" dirty="0"/>
          </a:p>
        </p:txBody>
      </p:sp>
      <p:sp>
        <p:nvSpPr>
          <p:cNvPr id="70" name="Shape 66"/>
          <p:cNvSpPr/>
          <p:nvPr/>
        </p:nvSpPr>
        <p:spPr>
          <a:xfrm>
            <a:off x="5760720" y="2103120"/>
            <a:ext cx="3291840" cy="384048"/>
          </a:xfrm>
          <a:prstGeom prst="rect">
            <a:avLst/>
          </a:prstGeom>
          <a:solidFill>
            <a:srgbClr val="FFFFFF"/>
          </a:solidFill>
          <a:ln/>
        </p:spPr>
      </p:sp>
      <p:sp>
        <p:nvSpPr>
          <p:cNvPr id="71" name="Text 67"/>
          <p:cNvSpPr txBox="1"/>
          <p:nvPr/>
        </p:nvSpPr>
        <p:spPr>
          <a:xfrm>
            <a:off x="5806440" y="2103120"/>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Recall on planted wrong keys; false flags per 300 items</a:t>
            </a:r>
            <a:endParaRPr lang="en-US" sz="950" dirty="0"/>
          </a:p>
        </p:txBody>
      </p:sp>
      <p:sp>
        <p:nvSpPr>
          <p:cNvPr id="72" name="Shape 68"/>
          <p:cNvSpPr/>
          <p:nvPr/>
        </p:nvSpPr>
        <p:spPr>
          <a:xfrm>
            <a:off x="9052560" y="2103120"/>
            <a:ext cx="1051560" cy="384048"/>
          </a:xfrm>
          <a:prstGeom prst="rect">
            <a:avLst/>
          </a:prstGeom>
          <a:solidFill>
            <a:srgbClr val="FFFFFF"/>
          </a:solidFill>
          <a:ln/>
        </p:spPr>
      </p:sp>
      <p:sp>
        <p:nvSpPr>
          <p:cNvPr id="73" name="Text 69"/>
          <p:cNvSpPr txBox="1"/>
          <p:nvPr/>
        </p:nvSpPr>
        <p:spPr>
          <a:xfrm>
            <a:off x="9098280" y="2103120"/>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0.80; ≤ 2</a:t>
            </a:r>
            <a:endParaRPr lang="en-US" sz="950" dirty="0"/>
          </a:p>
        </p:txBody>
      </p:sp>
      <p:sp>
        <p:nvSpPr>
          <p:cNvPr id="74" name="Shape 70"/>
          <p:cNvSpPr/>
          <p:nvPr/>
        </p:nvSpPr>
        <p:spPr>
          <a:xfrm>
            <a:off x="10104120" y="2103120"/>
            <a:ext cx="1676095" cy="384048"/>
          </a:xfrm>
          <a:prstGeom prst="rect">
            <a:avLst/>
          </a:prstGeom>
          <a:solidFill>
            <a:srgbClr val="F1E8D3"/>
          </a:solidFill>
          <a:ln/>
        </p:spPr>
      </p:sp>
      <p:sp>
        <p:nvSpPr>
          <p:cNvPr id="75" name="Text 71"/>
          <p:cNvSpPr txBox="1"/>
          <p:nvPr/>
        </p:nvSpPr>
        <p:spPr>
          <a:xfrm>
            <a:off x="10149840" y="2103120"/>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76" name="Shape 72"/>
          <p:cNvSpPr/>
          <p:nvPr/>
        </p:nvSpPr>
        <p:spPr>
          <a:xfrm>
            <a:off x="4343400" y="2487168"/>
            <a:ext cx="7436815" cy="0"/>
          </a:xfrm>
          <a:prstGeom prst="line">
            <a:avLst/>
          </a:prstGeom>
          <a:noFill/>
          <a:ln w="6350">
            <a:solidFill>
              <a:srgbClr val="E3E8E4"/>
            </a:solidFill>
            <a:prstDash val="solid"/>
          </a:ln>
        </p:spPr>
      </p:sp>
      <p:sp>
        <p:nvSpPr>
          <p:cNvPr id="77" name="Shape 73"/>
          <p:cNvSpPr/>
          <p:nvPr/>
        </p:nvSpPr>
        <p:spPr>
          <a:xfrm>
            <a:off x="4343400" y="2487168"/>
            <a:ext cx="1417320" cy="384048"/>
          </a:xfrm>
          <a:prstGeom prst="rect">
            <a:avLst/>
          </a:prstGeom>
          <a:solidFill>
            <a:srgbClr val="F1F7F3"/>
          </a:solidFill>
          <a:ln/>
        </p:spPr>
      </p:sp>
      <p:sp>
        <p:nvSpPr>
          <p:cNvPr id="78" name="Text 74"/>
          <p:cNvSpPr txBox="1"/>
          <p:nvPr/>
        </p:nvSpPr>
        <p:spPr>
          <a:xfrm>
            <a:off x="4389120" y="2487168"/>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Topic mastery</a:t>
            </a:r>
            <a:endParaRPr lang="en-US" sz="950" dirty="0"/>
          </a:p>
        </p:txBody>
      </p:sp>
      <p:sp>
        <p:nvSpPr>
          <p:cNvPr id="79" name="Shape 75"/>
          <p:cNvSpPr/>
          <p:nvPr/>
        </p:nvSpPr>
        <p:spPr>
          <a:xfrm>
            <a:off x="5760720" y="2487168"/>
            <a:ext cx="3291840" cy="384048"/>
          </a:xfrm>
          <a:prstGeom prst="rect">
            <a:avLst/>
          </a:prstGeom>
          <a:solidFill>
            <a:srgbClr val="F1F7F3"/>
          </a:solidFill>
          <a:ln/>
        </p:spPr>
      </p:sp>
      <p:sp>
        <p:nvSpPr>
          <p:cNvPr id="80" name="Text 76"/>
          <p:cNvSpPr txBox="1"/>
          <p:nvPr/>
        </p:nvSpPr>
        <p:spPr>
          <a:xfrm>
            <a:off x="5806440" y="2487168"/>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Ability recovery r; next-test AUC vs raw % and BKT</a:t>
            </a:r>
            <a:endParaRPr lang="en-US" sz="950" dirty="0"/>
          </a:p>
        </p:txBody>
      </p:sp>
      <p:sp>
        <p:nvSpPr>
          <p:cNvPr id="81" name="Shape 77"/>
          <p:cNvSpPr/>
          <p:nvPr/>
        </p:nvSpPr>
        <p:spPr>
          <a:xfrm>
            <a:off x="9052560" y="2487168"/>
            <a:ext cx="1051560" cy="384048"/>
          </a:xfrm>
          <a:prstGeom prst="rect">
            <a:avLst/>
          </a:prstGeom>
          <a:solidFill>
            <a:srgbClr val="F1F7F3"/>
          </a:solidFill>
          <a:ln/>
        </p:spPr>
      </p:sp>
      <p:sp>
        <p:nvSpPr>
          <p:cNvPr id="82" name="Text 78"/>
          <p:cNvSpPr txBox="1"/>
          <p:nvPr/>
        </p:nvSpPr>
        <p:spPr>
          <a:xfrm>
            <a:off x="9098280" y="2487168"/>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0.80; better</a:t>
            </a:r>
            <a:endParaRPr lang="en-US" sz="950" dirty="0"/>
          </a:p>
        </p:txBody>
      </p:sp>
      <p:sp>
        <p:nvSpPr>
          <p:cNvPr id="83" name="Shape 79"/>
          <p:cNvSpPr/>
          <p:nvPr/>
        </p:nvSpPr>
        <p:spPr>
          <a:xfrm>
            <a:off x="10104120" y="2487168"/>
            <a:ext cx="1676095" cy="384048"/>
          </a:xfrm>
          <a:prstGeom prst="rect">
            <a:avLst/>
          </a:prstGeom>
          <a:solidFill>
            <a:srgbClr val="F1E8D3"/>
          </a:solidFill>
          <a:ln/>
        </p:spPr>
      </p:sp>
      <p:sp>
        <p:nvSpPr>
          <p:cNvPr id="84" name="Text 80"/>
          <p:cNvSpPr txBox="1"/>
          <p:nvPr/>
        </p:nvSpPr>
        <p:spPr>
          <a:xfrm>
            <a:off x="10149840" y="2487168"/>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85" name="Shape 81"/>
          <p:cNvSpPr/>
          <p:nvPr/>
        </p:nvSpPr>
        <p:spPr>
          <a:xfrm>
            <a:off x="4343400" y="2871216"/>
            <a:ext cx="7436815" cy="0"/>
          </a:xfrm>
          <a:prstGeom prst="line">
            <a:avLst/>
          </a:prstGeom>
          <a:noFill/>
          <a:ln w="6350">
            <a:solidFill>
              <a:srgbClr val="E3E8E4"/>
            </a:solidFill>
            <a:prstDash val="solid"/>
          </a:ln>
        </p:spPr>
      </p:sp>
      <p:sp>
        <p:nvSpPr>
          <p:cNvPr id="86" name="Shape 82"/>
          <p:cNvSpPr/>
          <p:nvPr/>
        </p:nvSpPr>
        <p:spPr>
          <a:xfrm>
            <a:off x="4343400" y="2871216"/>
            <a:ext cx="1417320" cy="384048"/>
          </a:xfrm>
          <a:prstGeom prst="rect">
            <a:avLst/>
          </a:prstGeom>
          <a:solidFill>
            <a:srgbClr val="FFFFFF"/>
          </a:solidFill>
          <a:ln/>
        </p:spPr>
      </p:sp>
      <p:sp>
        <p:nvSpPr>
          <p:cNvPr id="87" name="Text 83"/>
          <p:cNvSpPr txBox="1"/>
          <p:nvPr/>
        </p:nvSpPr>
        <p:spPr>
          <a:xfrm>
            <a:off x="4389120" y="2871216"/>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Knowledge tracing</a:t>
            </a:r>
            <a:endParaRPr lang="en-US" sz="950" dirty="0"/>
          </a:p>
        </p:txBody>
      </p:sp>
      <p:sp>
        <p:nvSpPr>
          <p:cNvPr id="88" name="Shape 84"/>
          <p:cNvSpPr/>
          <p:nvPr/>
        </p:nvSpPr>
        <p:spPr>
          <a:xfrm>
            <a:off x="5760720" y="2871216"/>
            <a:ext cx="3291840" cy="384048"/>
          </a:xfrm>
          <a:prstGeom prst="rect">
            <a:avLst/>
          </a:prstGeom>
          <a:solidFill>
            <a:srgbClr val="FFFFFF"/>
          </a:solidFill>
          <a:ln/>
        </p:spPr>
      </p:sp>
      <p:sp>
        <p:nvSpPr>
          <p:cNvPr id="89" name="Text 85"/>
          <p:cNvSpPr txBox="1"/>
          <p:nvPr/>
        </p:nvSpPr>
        <p:spPr>
          <a:xfrm>
            <a:off x="5806440" y="2871216"/>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Next-answer AUC, ASSISTments 2009 (public)</a:t>
            </a:r>
            <a:endParaRPr lang="en-US" sz="950" dirty="0"/>
          </a:p>
        </p:txBody>
      </p:sp>
      <p:sp>
        <p:nvSpPr>
          <p:cNvPr id="90" name="Shape 86"/>
          <p:cNvSpPr/>
          <p:nvPr/>
        </p:nvSpPr>
        <p:spPr>
          <a:xfrm>
            <a:off x="9052560" y="2871216"/>
            <a:ext cx="1051560" cy="384048"/>
          </a:xfrm>
          <a:prstGeom prst="rect">
            <a:avLst/>
          </a:prstGeom>
          <a:solidFill>
            <a:srgbClr val="FFFFFF"/>
          </a:solidFill>
          <a:ln/>
        </p:spPr>
      </p:sp>
      <p:sp>
        <p:nvSpPr>
          <p:cNvPr id="91" name="Text 87"/>
          <p:cNvSpPr txBox="1"/>
          <p:nvPr/>
        </p:nvSpPr>
        <p:spPr>
          <a:xfrm>
            <a:off x="9098280" y="2871216"/>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report</a:t>
            </a:r>
            <a:endParaRPr lang="en-US" sz="950" dirty="0"/>
          </a:p>
        </p:txBody>
      </p:sp>
      <p:sp>
        <p:nvSpPr>
          <p:cNvPr id="92" name="Shape 88"/>
          <p:cNvSpPr/>
          <p:nvPr/>
        </p:nvSpPr>
        <p:spPr>
          <a:xfrm>
            <a:off x="10104120" y="2871216"/>
            <a:ext cx="1676095" cy="384048"/>
          </a:xfrm>
          <a:prstGeom prst="rect">
            <a:avLst/>
          </a:prstGeom>
          <a:solidFill>
            <a:srgbClr val="D6E4F5"/>
          </a:solidFill>
          <a:ln/>
        </p:spPr>
      </p:sp>
      <p:sp>
        <p:nvSpPr>
          <p:cNvPr id="93" name="Text 89"/>
          <p:cNvSpPr txBox="1"/>
          <p:nvPr/>
        </p:nvSpPr>
        <p:spPr>
          <a:xfrm>
            <a:off x="10149840" y="2871216"/>
            <a:ext cx="1584655" cy="384048"/>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0.763</a:t>
            </a:r>
            <a:endParaRPr lang="en-US" sz="950" dirty="0"/>
          </a:p>
        </p:txBody>
      </p:sp>
      <p:sp>
        <p:nvSpPr>
          <p:cNvPr id="94" name="Shape 90"/>
          <p:cNvSpPr/>
          <p:nvPr/>
        </p:nvSpPr>
        <p:spPr>
          <a:xfrm>
            <a:off x="4343400" y="3255264"/>
            <a:ext cx="7436815" cy="0"/>
          </a:xfrm>
          <a:prstGeom prst="line">
            <a:avLst/>
          </a:prstGeom>
          <a:noFill/>
          <a:ln w="6350">
            <a:solidFill>
              <a:srgbClr val="E3E8E4"/>
            </a:solidFill>
            <a:prstDash val="solid"/>
          </a:ln>
        </p:spPr>
      </p:sp>
      <p:sp>
        <p:nvSpPr>
          <p:cNvPr id="95" name="Shape 91"/>
          <p:cNvSpPr/>
          <p:nvPr/>
        </p:nvSpPr>
        <p:spPr>
          <a:xfrm>
            <a:off x="4343400" y="3255264"/>
            <a:ext cx="1417320" cy="384048"/>
          </a:xfrm>
          <a:prstGeom prst="rect">
            <a:avLst/>
          </a:prstGeom>
          <a:solidFill>
            <a:srgbClr val="F1F7F3"/>
          </a:solidFill>
          <a:ln/>
        </p:spPr>
      </p:sp>
      <p:sp>
        <p:nvSpPr>
          <p:cNvPr id="96" name="Text 92"/>
          <p:cNvSpPr txBox="1"/>
          <p:nvPr/>
        </p:nvSpPr>
        <p:spPr>
          <a:xfrm>
            <a:off x="4389120" y="3255264"/>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Early warning</a:t>
            </a:r>
            <a:endParaRPr lang="en-US" sz="950" dirty="0"/>
          </a:p>
        </p:txBody>
      </p:sp>
      <p:sp>
        <p:nvSpPr>
          <p:cNvPr id="97" name="Shape 93"/>
          <p:cNvSpPr/>
          <p:nvPr/>
        </p:nvSpPr>
        <p:spPr>
          <a:xfrm>
            <a:off x="5760720" y="3255264"/>
            <a:ext cx="3291840" cy="384048"/>
          </a:xfrm>
          <a:prstGeom prst="rect">
            <a:avLst/>
          </a:prstGeom>
          <a:solidFill>
            <a:srgbClr val="F1F7F3"/>
          </a:solidFill>
          <a:ln/>
        </p:spPr>
      </p:sp>
      <p:sp>
        <p:nvSpPr>
          <p:cNvPr id="98" name="Text 94"/>
          <p:cNvSpPr txBox="1"/>
          <p:nvPr/>
        </p:nvSpPr>
        <p:spPr>
          <a:xfrm>
            <a:off x="5806440" y="3255264"/>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AUC-PR vs institute rule; precision at capacity vs rule</a:t>
            </a:r>
            <a:endParaRPr lang="en-US" sz="950" dirty="0"/>
          </a:p>
        </p:txBody>
      </p:sp>
      <p:sp>
        <p:nvSpPr>
          <p:cNvPr id="99" name="Shape 95"/>
          <p:cNvSpPr/>
          <p:nvPr/>
        </p:nvSpPr>
        <p:spPr>
          <a:xfrm>
            <a:off x="9052560" y="3255264"/>
            <a:ext cx="1051560" cy="384048"/>
          </a:xfrm>
          <a:prstGeom prst="rect">
            <a:avLst/>
          </a:prstGeom>
          <a:solidFill>
            <a:srgbClr val="F1F7F3"/>
          </a:solidFill>
          <a:ln/>
        </p:spPr>
      </p:sp>
      <p:sp>
        <p:nvSpPr>
          <p:cNvPr id="100" name="Text 96"/>
          <p:cNvSpPr txBox="1"/>
          <p:nvPr/>
        </p:nvSpPr>
        <p:spPr>
          <a:xfrm>
            <a:off x="9098280" y="3255264"/>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+30 %; +25 %</a:t>
            </a:r>
            <a:endParaRPr lang="en-US" sz="950" dirty="0"/>
          </a:p>
        </p:txBody>
      </p:sp>
      <p:sp>
        <p:nvSpPr>
          <p:cNvPr id="101" name="Shape 97"/>
          <p:cNvSpPr/>
          <p:nvPr/>
        </p:nvSpPr>
        <p:spPr>
          <a:xfrm>
            <a:off x="10104120" y="3255264"/>
            <a:ext cx="1676095" cy="384048"/>
          </a:xfrm>
          <a:prstGeom prst="rect">
            <a:avLst/>
          </a:prstGeom>
          <a:solidFill>
            <a:srgbClr val="F1E8D3"/>
          </a:solidFill>
          <a:ln/>
        </p:spPr>
      </p:sp>
      <p:sp>
        <p:nvSpPr>
          <p:cNvPr id="102" name="Text 98"/>
          <p:cNvSpPr txBox="1"/>
          <p:nvPr/>
        </p:nvSpPr>
        <p:spPr>
          <a:xfrm>
            <a:off x="10149840" y="3255264"/>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03" name="Shape 99"/>
          <p:cNvSpPr/>
          <p:nvPr/>
        </p:nvSpPr>
        <p:spPr>
          <a:xfrm>
            <a:off x="4343400" y="3639312"/>
            <a:ext cx="7436815" cy="0"/>
          </a:xfrm>
          <a:prstGeom prst="line">
            <a:avLst/>
          </a:prstGeom>
          <a:noFill/>
          <a:ln w="6350">
            <a:solidFill>
              <a:srgbClr val="E3E8E4"/>
            </a:solidFill>
            <a:prstDash val="solid"/>
          </a:ln>
        </p:spPr>
      </p:sp>
      <p:sp>
        <p:nvSpPr>
          <p:cNvPr id="104" name="Shape 100"/>
          <p:cNvSpPr/>
          <p:nvPr/>
        </p:nvSpPr>
        <p:spPr>
          <a:xfrm>
            <a:off x="4343400" y="3639312"/>
            <a:ext cx="1417320" cy="384048"/>
          </a:xfrm>
          <a:prstGeom prst="rect">
            <a:avLst/>
          </a:prstGeom>
          <a:solidFill>
            <a:srgbClr val="FFFFFF"/>
          </a:solidFill>
          <a:ln/>
        </p:spPr>
      </p:sp>
      <p:sp>
        <p:nvSpPr>
          <p:cNvPr id="105" name="Text 101"/>
          <p:cNvSpPr txBox="1"/>
          <p:nvPr/>
        </p:nvSpPr>
        <p:spPr>
          <a:xfrm>
            <a:off x="4389120" y="3639312"/>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Early warning</a:t>
            </a:r>
            <a:endParaRPr lang="en-US" sz="950" dirty="0"/>
          </a:p>
        </p:txBody>
      </p:sp>
      <p:sp>
        <p:nvSpPr>
          <p:cNvPr id="106" name="Shape 102"/>
          <p:cNvSpPr/>
          <p:nvPr/>
        </p:nvSpPr>
        <p:spPr>
          <a:xfrm>
            <a:off x="5760720" y="3639312"/>
            <a:ext cx="3291840" cy="384048"/>
          </a:xfrm>
          <a:prstGeom prst="rect">
            <a:avLst/>
          </a:prstGeom>
          <a:solidFill>
            <a:srgbClr val="FFFFFF"/>
          </a:solidFill>
          <a:ln/>
        </p:spPr>
      </p:sp>
      <p:sp>
        <p:nvSpPr>
          <p:cNvPr id="107" name="Text 103"/>
          <p:cNvSpPr txBox="1"/>
          <p:nvPr/>
        </p:nvSpPr>
        <p:spPr>
          <a:xfrm>
            <a:off x="5806440" y="3639312"/>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Calibration error (public: OULAD day 28)</a:t>
            </a:r>
            <a:endParaRPr lang="en-US" sz="950" dirty="0"/>
          </a:p>
        </p:txBody>
      </p:sp>
      <p:sp>
        <p:nvSpPr>
          <p:cNvPr id="108" name="Shape 104"/>
          <p:cNvSpPr/>
          <p:nvPr/>
        </p:nvSpPr>
        <p:spPr>
          <a:xfrm>
            <a:off x="9052560" y="3639312"/>
            <a:ext cx="1051560" cy="384048"/>
          </a:xfrm>
          <a:prstGeom prst="rect">
            <a:avLst/>
          </a:prstGeom>
          <a:solidFill>
            <a:srgbClr val="FFFFFF"/>
          </a:solidFill>
          <a:ln/>
        </p:spPr>
      </p:sp>
      <p:sp>
        <p:nvSpPr>
          <p:cNvPr id="109" name="Text 105"/>
          <p:cNvSpPr txBox="1"/>
          <p:nvPr/>
        </p:nvSpPr>
        <p:spPr>
          <a:xfrm>
            <a:off x="9098280" y="3639312"/>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&lt; 0.05</a:t>
            </a:r>
            <a:endParaRPr lang="en-US" sz="950" dirty="0"/>
          </a:p>
        </p:txBody>
      </p:sp>
      <p:sp>
        <p:nvSpPr>
          <p:cNvPr id="110" name="Shape 106"/>
          <p:cNvSpPr/>
          <p:nvPr/>
        </p:nvSpPr>
        <p:spPr>
          <a:xfrm>
            <a:off x="10104120" y="3639312"/>
            <a:ext cx="1676095" cy="384048"/>
          </a:xfrm>
          <a:prstGeom prst="rect">
            <a:avLst/>
          </a:prstGeom>
          <a:solidFill>
            <a:srgbClr val="D6E4F5"/>
          </a:solidFill>
          <a:ln/>
        </p:spPr>
      </p:sp>
      <p:sp>
        <p:nvSpPr>
          <p:cNvPr id="111" name="Text 107"/>
          <p:cNvSpPr txBox="1"/>
          <p:nvPr/>
        </p:nvSpPr>
        <p:spPr>
          <a:xfrm>
            <a:off x="10149840" y="3639312"/>
            <a:ext cx="1584655" cy="384048"/>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0.009</a:t>
            </a:r>
            <a:endParaRPr lang="en-US" sz="950" dirty="0"/>
          </a:p>
        </p:txBody>
      </p:sp>
      <p:sp>
        <p:nvSpPr>
          <p:cNvPr id="112" name="Shape 108"/>
          <p:cNvSpPr/>
          <p:nvPr/>
        </p:nvSpPr>
        <p:spPr>
          <a:xfrm>
            <a:off x="4343400" y="4023360"/>
            <a:ext cx="7436815" cy="0"/>
          </a:xfrm>
          <a:prstGeom prst="line">
            <a:avLst/>
          </a:prstGeom>
          <a:noFill/>
          <a:ln w="6350">
            <a:solidFill>
              <a:srgbClr val="E3E8E4"/>
            </a:solidFill>
            <a:prstDash val="solid"/>
          </a:ln>
        </p:spPr>
      </p:sp>
      <p:sp>
        <p:nvSpPr>
          <p:cNvPr id="113" name="Shape 109"/>
          <p:cNvSpPr/>
          <p:nvPr/>
        </p:nvSpPr>
        <p:spPr>
          <a:xfrm>
            <a:off x="4343400" y="4023360"/>
            <a:ext cx="1417320" cy="384048"/>
          </a:xfrm>
          <a:prstGeom prst="rect">
            <a:avLst/>
          </a:prstGeom>
          <a:solidFill>
            <a:srgbClr val="F1F7F3"/>
          </a:solidFill>
          <a:ln/>
        </p:spPr>
      </p:sp>
      <p:sp>
        <p:nvSpPr>
          <p:cNvPr id="114" name="Text 110"/>
          <p:cNvSpPr txBox="1"/>
          <p:nvPr/>
        </p:nvSpPr>
        <p:spPr>
          <a:xfrm>
            <a:off x="4389120" y="4023360"/>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Early warning</a:t>
            </a:r>
            <a:endParaRPr lang="en-US" sz="950" dirty="0"/>
          </a:p>
        </p:txBody>
      </p:sp>
      <p:sp>
        <p:nvSpPr>
          <p:cNvPr id="115" name="Shape 111"/>
          <p:cNvSpPr/>
          <p:nvPr/>
        </p:nvSpPr>
        <p:spPr>
          <a:xfrm>
            <a:off x="5760720" y="4023360"/>
            <a:ext cx="3291840" cy="384048"/>
          </a:xfrm>
          <a:prstGeom prst="rect">
            <a:avLst/>
          </a:prstGeom>
          <a:solidFill>
            <a:srgbClr val="F1F7F3"/>
          </a:solidFill>
          <a:ln/>
        </p:spPr>
      </p:sp>
      <p:sp>
        <p:nvSpPr>
          <p:cNvPr id="116" name="Text 112"/>
          <p:cNvSpPr txBox="1"/>
          <p:nvPr/>
        </p:nvSpPr>
        <p:spPr>
          <a:xfrm>
            <a:off x="5806440" y="4023360"/>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Median lead time before a student leaves</a:t>
            </a:r>
            <a:endParaRPr lang="en-US" sz="950" dirty="0"/>
          </a:p>
        </p:txBody>
      </p:sp>
      <p:sp>
        <p:nvSpPr>
          <p:cNvPr id="117" name="Shape 113"/>
          <p:cNvSpPr/>
          <p:nvPr/>
        </p:nvSpPr>
        <p:spPr>
          <a:xfrm>
            <a:off x="9052560" y="4023360"/>
            <a:ext cx="1051560" cy="384048"/>
          </a:xfrm>
          <a:prstGeom prst="rect">
            <a:avLst/>
          </a:prstGeom>
          <a:solidFill>
            <a:srgbClr val="F1F7F3"/>
          </a:solidFill>
          <a:ln/>
        </p:spPr>
      </p:sp>
      <p:sp>
        <p:nvSpPr>
          <p:cNvPr id="118" name="Text 114"/>
          <p:cNvSpPr txBox="1"/>
          <p:nvPr/>
        </p:nvSpPr>
        <p:spPr>
          <a:xfrm>
            <a:off x="9098280" y="4023360"/>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21 days</a:t>
            </a:r>
            <a:endParaRPr lang="en-US" sz="950" dirty="0"/>
          </a:p>
        </p:txBody>
      </p:sp>
      <p:sp>
        <p:nvSpPr>
          <p:cNvPr id="119" name="Shape 115"/>
          <p:cNvSpPr/>
          <p:nvPr/>
        </p:nvSpPr>
        <p:spPr>
          <a:xfrm>
            <a:off x="10104120" y="4023360"/>
            <a:ext cx="1676095" cy="384048"/>
          </a:xfrm>
          <a:prstGeom prst="rect">
            <a:avLst/>
          </a:prstGeom>
          <a:solidFill>
            <a:srgbClr val="F1E8D3"/>
          </a:solidFill>
          <a:ln/>
        </p:spPr>
      </p:sp>
      <p:sp>
        <p:nvSpPr>
          <p:cNvPr id="120" name="Text 116"/>
          <p:cNvSpPr txBox="1"/>
          <p:nvPr/>
        </p:nvSpPr>
        <p:spPr>
          <a:xfrm>
            <a:off x="10149840" y="4023360"/>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21" name="Shape 117"/>
          <p:cNvSpPr/>
          <p:nvPr/>
        </p:nvSpPr>
        <p:spPr>
          <a:xfrm>
            <a:off x="4343400" y="4407408"/>
            <a:ext cx="7436815" cy="0"/>
          </a:xfrm>
          <a:prstGeom prst="line">
            <a:avLst/>
          </a:prstGeom>
          <a:noFill/>
          <a:ln w="6350">
            <a:solidFill>
              <a:srgbClr val="E3E8E4"/>
            </a:solidFill>
            <a:prstDash val="solid"/>
          </a:ln>
        </p:spPr>
      </p:sp>
      <p:sp>
        <p:nvSpPr>
          <p:cNvPr id="122" name="Shape 118"/>
          <p:cNvSpPr/>
          <p:nvPr/>
        </p:nvSpPr>
        <p:spPr>
          <a:xfrm>
            <a:off x="4343400" y="4407408"/>
            <a:ext cx="1417320" cy="384048"/>
          </a:xfrm>
          <a:prstGeom prst="rect">
            <a:avLst/>
          </a:prstGeom>
          <a:solidFill>
            <a:srgbClr val="FFFFFF"/>
          </a:solidFill>
          <a:ln/>
        </p:spPr>
      </p:sp>
      <p:sp>
        <p:nvSpPr>
          <p:cNvPr id="123" name="Text 119"/>
          <p:cNvSpPr txBox="1"/>
          <p:nvPr/>
        </p:nvSpPr>
        <p:spPr>
          <a:xfrm>
            <a:off x="4389120" y="4407408"/>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Withdrawal, public</a:t>
            </a:r>
            <a:endParaRPr lang="en-US" sz="950" dirty="0"/>
          </a:p>
        </p:txBody>
      </p:sp>
      <p:sp>
        <p:nvSpPr>
          <p:cNvPr id="124" name="Shape 120"/>
          <p:cNvSpPr/>
          <p:nvPr/>
        </p:nvSpPr>
        <p:spPr>
          <a:xfrm>
            <a:off x="5760720" y="4407408"/>
            <a:ext cx="3291840" cy="384048"/>
          </a:xfrm>
          <a:prstGeom prst="rect">
            <a:avLst/>
          </a:prstGeom>
          <a:solidFill>
            <a:srgbClr val="FFFFFF"/>
          </a:solidFill>
          <a:ln/>
        </p:spPr>
      </p:sp>
      <p:sp>
        <p:nvSpPr>
          <p:cNvPr id="125" name="Text 121"/>
          <p:cNvSpPr txBox="1"/>
          <p:nvPr/>
        </p:nvSpPr>
        <p:spPr>
          <a:xfrm>
            <a:off x="5806440" y="4407408"/>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OULAD day-28 AUC, student-grouped 5-fold</a:t>
            </a:r>
            <a:endParaRPr lang="en-US" sz="950" dirty="0"/>
          </a:p>
        </p:txBody>
      </p:sp>
      <p:sp>
        <p:nvSpPr>
          <p:cNvPr id="126" name="Shape 122"/>
          <p:cNvSpPr/>
          <p:nvPr/>
        </p:nvSpPr>
        <p:spPr>
          <a:xfrm>
            <a:off x="9052560" y="4407408"/>
            <a:ext cx="1051560" cy="384048"/>
          </a:xfrm>
          <a:prstGeom prst="rect">
            <a:avLst/>
          </a:prstGeom>
          <a:solidFill>
            <a:srgbClr val="FFFFFF"/>
          </a:solidFill>
          <a:ln/>
        </p:spPr>
      </p:sp>
      <p:sp>
        <p:nvSpPr>
          <p:cNvPr id="127" name="Text 123"/>
          <p:cNvSpPr txBox="1"/>
          <p:nvPr/>
        </p:nvSpPr>
        <p:spPr>
          <a:xfrm>
            <a:off x="9098280" y="4407408"/>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report</a:t>
            </a:r>
            <a:endParaRPr lang="en-US" sz="950" dirty="0"/>
          </a:p>
        </p:txBody>
      </p:sp>
      <p:sp>
        <p:nvSpPr>
          <p:cNvPr id="128" name="Shape 124"/>
          <p:cNvSpPr/>
          <p:nvPr/>
        </p:nvSpPr>
        <p:spPr>
          <a:xfrm>
            <a:off x="10104120" y="4407408"/>
            <a:ext cx="1676095" cy="384048"/>
          </a:xfrm>
          <a:prstGeom prst="rect">
            <a:avLst/>
          </a:prstGeom>
          <a:solidFill>
            <a:srgbClr val="D6E4F5"/>
          </a:solidFill>
          <a:ln/>
        </p:spPr>
      </p:sp>
      <p:sp>
        <p:nvSpPr>
          <p:cNvPr id="129" name="Text 125"/>
          <p:cNvSpPr txBox="1"/>
          <p:nvPr/>
        </p:nvSpPr>
        <p:spPr>
          <a:xfrm>
            <a:off x="10149840" y="4407408"/>
            <a:ext cx="1584655" cy="384048"/>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0.706</a:t>
            </a:r>
            <a:endParaRPr lang="en-US" sz="950" dirty="0"/>
          </a:p>
        </p:txBody>
      </p:sp>
      <p:sp>
        <p:nvSpPr>
          <p:cNvPr id="130" name="Shape 126"/>
          <p:cNvSpPr/>
          <p:nvPr/>
        </p:nvSpPr>
        <p:spPr>
          <a:xfrm>
            <a:off x="4343400" y="4791456"/>
            <a:ext cx="7436815" cy="0"/>
          </a:xfrm>
          <a:prstGeom prst="line">
            <a:avLst/>
          </a:prstGeom>
          <a:noFill/>
          <a:ln w="6350">
            <a:solidFill>
              <a:srgbClr val="E3E8E4"/>
            </a:solidFill>
            <a:prstDash val="solid"/>
          </a:ln>
        </p:spPr>
      </p:sp>
      <p:sp>
        <p:nvSpPr>
          <p:cNvPr id="131" name="Shape 127"/>
          <p:cNvSpPr/>
          <p:nvPr/>
        </p:nvSpPr>
        <p:spPr>
          <a:xfrm>
            <a:off x="4343400" y="4791456"/>
            <a:ext cx="1417320" cy="384048"/>
          </a:xfrm>
          <a:prstGeom prst="rect">
            <a:avLst/>
          </a:prstGeom>
          <a:solidFill>
            <a:srgbClr val="F1F7F3"/>
          </a:solidFill>
          <a:ln/>
        </p:spPr>
      </p:sp>
      <p:sp>
        <p:nvSpPr>
          <p:cNvPr id="132" name="Text 128"/>
          <p:cNvSpPr txBox="1"/>
          <p:nvPr/>
        </p:nvSpPr>
        <p:spPr>
          <a:xfrm>
            <a:off x="4389120" y="4791456"/>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Fairness</a:t>
            </a:r>
            <a:endParaRPr lang="en-US" sz="950" dirty="0"/>
          </a:p>
        </p:txBody>
      </p:sp>
      <p:sp>
        <p:nvSpPr>
          <p:cNvPr id="133" name="Shape 129"/>
          <p:cNvSpPr/>
          <p:nvPr/>
        </p:nvSpPr>
        <p:spPr>
          <a:xfrm>
            <a:off x="5760720" y="4791456"/>
            <a:ext cx="3291840" cy="384048"/>
          </a:xfrm>
          <a:prstGeom prst="rect">
            <a:avLst/>
          </a:prstGeom>
          <a:solidFill>
            <a:srgbClr val="F1F7F3"/>
          </a:solidFill>
          <a:ln/>
        </p:spPr>
      </p:sp>
      <p:sp>
        <p:nvSpPr>
          <p:cNvPr id="134" name="Text 130"/>
          <p:cNvSpPr txBox="1"/>
          <p:nvPr/>
        </p:nvSpPr>
        <p:spPr>
          <a:xfrm>
            <a:off x="5806440" y="4791456"/>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Largest recall gap across slices (gender, city tier)</a:t>
            </a:r>
            <a:endParaRPr lang="en-US" sz="950" dirty="0"/>
          </a:p>
        </p:txBody>
      </p:sp>
      <p:sp>
        <p:nvSpPr>
          <p:cNvPr id="135" name="Shape 131"/>
          <p:cNvSpPr/>
          <p:nvPr/>
        </p:nvSpPr>
        <p:spPr>
          <a:xfrm>
            <a:off x="9052560" y="4791456"/>
            <a:ext cx="1051560" cy="384048"/>
          </a:xfrm>
          <a:prstGeom prst="rect">
            <a:avLst/>
          </a:prstGeom>
          <a:solidFill>
            <a:srgbClr val="F1F7F3"/>
          </a:solidFill>
          <a:ln/>
        </p:spPr>
      </p:sp>
      <p:sp>
        <p:nvSpPr>
          <p:cNvPr id="136" name="Text 132"/>
          <p:cNvSpPr txBox="1"/>
          <p:nvPr/>
        </p:nvSpPr>
        <p:spPr>
          <a:xfrm>
            <a:off x="9098280" y="4791456"/>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0.10</a:t>
            </a:r>
            <a:endParaRPr lang="en-US" sz="950" dirty="0"/>
          </a:p>
        </p:txBody>
      </p:sp>
      <p:sp>
        <p:nvSpPr>
          <p:cNvPr id="137" name="Shape 133"/>
          <p:cNvSpPr/>
          <p:nvPr/>
        </p:nvSpPr>
        <p:spPr>
          <a:xfrm>
            <a:off x="10104120" y="4791456"/>
            <a:ext cx="1676095" cy="384048"/>
          </a:xfrm>
          <a:prstGeom prst="rect">
            <a:avLst/>
          </a:prstGeom>
          <a:solidFill>
            <a:srgbClr val="F1E8D3"/>
          </a:solidFill>
          <a:ln/>
        </p:spPr>
      </p:sp>
      <p:sp>
        <p:nvSpPr>
          <p:cNvPr id="138" name="Text 134"/>
          <p:cNvSpPr txBox="1"/>
          <p:nvPr/>
        </p:nvSpPr>
        <p:spPr>
          <a:xfrm>
            <a:off x="10149840" y="4791456"/>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39" name="Shape 135"/>
          <p:cNvSpPr/>
          <p:nvPr/>
        </p:nvSpPr>
        <p:spPr>
          <a:xfrm>
            <a:off x="4343400" y="5175504"/>
            <a:ext cx="7436815" cy="0"/>
          </a:xfrm>
          <a:prstGeom prst="line">
            <a:avLst/>
          </a:prstGeom>
          <a:noFill/>
          <a:ln w="6350">
            <a:solidFill>
              <a:srgbClr val="E3E8E4"/>
            </a:solidFill>
            <a:prstDash val="solid"/>
          </a:ln>
        </p:spPr>
      </p:sp>
      <p:sp>
        <p:nvSpPr>
          <p:cNvPr id="140" name="Shape 136"/>
          <p:cNvSpPr/>
          <p:nvPr/>
        </p:nvSpPr>
        <p:spPr>
          <a:xfrm>
            <a:off x="4343400" y="5175504"/>
            <a:ext cx="1417320" cy="384048"/>
          </a:xfrm>
          <a:prstGeom prst="rect">
            <a:avLst/>
          </a:prstGeom>
          <a:solidFill>
            <a:srgbClr val="FFFFFF"/>
          </a:solidFill>
          <a:ln/>
        </p:spPr>
      </p:sp>
      <p:sp>
        <p:nvSpPr>
          <p:cNvPr id="141" name="Text 137"/>
          <p:cNvSpPr txBox="1"/>
          <p:nvPr/>
        </p:nvSpPr>
        <p:spPr>
          <a:xfrm>
            <a:off x="4389120" y="5175504"/>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Percentile range</a:t>
            </a:r>
            <a:endParaRPr lang="en-US" sz="950" dirty="0"/>
          </a:p>
        </p:txBody>
      </p:sp>
      <p:sp>
        <p:nvSpPr>
          <p:cNvPr id="142" name="Shape 138"/>
          <p:cNvSpPr/>
          <p:nvPr/>
        </p:nvSpPr>
        <p:spPr>
          <a:xfrm>
            <a:off x="5760720" y="5175504"/>
            <a:ext cx="3291840" cy="384048"/>
          </a:xfrm>
          <a:prstGeom prst="rect">
            <a:avLst/>
          </a:prstGeom>
          <a:solidFill>
            <a:srgbClr val="FFFFFF"/>
          </a:solidFill>
          <a:ln/>
        </p:spPr>
      </p:sp>
      <p:sp>
        <p:nvSpPr>
          <p:cNvPr id="143" name="Text 139"/>
          <p:cNvSpPr txBox="1"/>
          <p:nvPr/>
        </p:nvSpPr>
        <p:spPr>
          <a:xfrm>
            <a:off x="5806440" y="5175504"/>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Coverage of the 80 % band</a:t>
            </a:r>
            <a:endParaRPr lang="en-US" sz="950" dirty="0"/>
          </a:p>
        </p:txBody>
      </p:sp>
      <p:sp>
        <p:nvSpPr>
          <p:cNvPr id="144" name="Shape 140"/>
          <p:cNvSpPr/>
          <p:nvPr/>
        </p:nvSpPr>
        <p:spPr>
          <a:xfrm>
            <a:off x="9052560" y="5175504"/>
            <a:ext cx="1051560" cy="384048"/>
          </a:xfrm>
          <a:prstGeom prst="rect">
            <a:avLst/>
          </a:prstGeom>
          <a:solidFill>
            <a:srgbClr val="FFFFFF"/>
          </a:solidFill>
          <a:ln/>
        </p:spPr>
      </p:sp>
      <p:sp>
        <p:nvSpPr>
          <p:cNvPr id="145" name="Text 141"/>
          <p:cNvSpPr txBox="1"/>
          <p:nvPr/>
        </p:nvSpPr>
        <p:spPr>
          <a:xfrm>
            <a:off x="9098280" y="5175504"/>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77 to 83 %</a:t>
            </a:r>
            <a:endParaRPr lang="en-US" sz="950" dirty="0"/>
          </a:p>
        </p:txBody>
      </p:sp>
      <p:sp>
        <p:nvSpPr>
          <p:cNvPr id="146" name="Shape 142"/>
          <p:cNvSpPr/>
          <p:nvPr/>
        </p:nvSpPr>
        <p:spPr>
          <a:xfrm>
            <a:off x="10104120" y="5175504"/>
            <a:ext cx="1676095" cy="384048"/>
          </a:xfrm>
          <a:prstGeom prst="rect">
            <a:avLst/>
          </a:prstGeom>
          <a:solidFill>
            <a:srgbClr val="F1E8D3"/>
          </a:solidFill>
          <a:ln/>
        </p:spPr>
      </p:sp>
      <p:sp>
        <p:nvSpPr>
          <p:cNvPr id="147" name="Text 143"/>
          <p:cNvSpPr txBox="1"/>
          <p:nvPr/>
        </p:nvSpPr>
        <p:spPr>
          <a:xfrm>
            <a:off x="10149840" y="5175504"/>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48" name="Shape 144"/>
          <p:cNvSpPr/>
          <p:nvPr/>
        </p:nvSpPr>
        <p:spPr>
          <a:xfrm>
            <a:off x="4343400" y="5559552"/>
            <a:ext cx="7436815" cy="0"/>
          </a:xfrm>
          <a:prstGeom prst="line">
            <a:avLst/>
          </a:prstGeom>
          <a:noFill/>
          <a:ln w="6350">
            <a:solidFill>
              <a:srgbClr val="E3E8E4"/>
            </a:solidFill>
            <a:prstDash val="solid"/>
          </a:ln>
        </p:spPr>
      </p:sp>
      <p:sp>
        <p:nvSpPr>
          <p:cNvPr id="149" name="Shape 145"/>
          <p:cNvSpPr/>
          <p:nvPr/>
        </p:nvSpPr>
        <p:spPr>
          <a:xfrm>
            <a:off x="4343400" y="5559552"/>
            <a:ext cx="1417320" cy="384048"/>
          </a:xfrm>
          <a:prstGeom prst="rect">
            <a:avLst/>
          </a:prstGeom>
          <a:solidFill>
            <a:srgbClr val="F1F7F3"/>
          </a:solidFill>
          <a:ln/>
        </p:spPr>
      </p:sp>
      <p:sp>
        <p:nvSpPr>
          <p:cNvPr id="150" name="Text 146"/>
          <p:cNvSpPr txBox="1"/>
          <p:nvPr/>
        </p:nvSpPr>
        <p:spPr>
          <a:xfrm>
            <a:off x="4389120" y="5559552"/>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Parent reports</a:t>
            </a:r>
            <a:endParaRPr lang="en-US" sz="950" dirty="0"/>
          </a:p>
        </p:txBody>
      </p:sp>
      <p:sp>
        <p:nvSpPr>
          <p:cNvPr id="151" name="Shape 147"/>
          <p:cNvSpPr/>
          <p:nvPr/>
        </p:nvSpPr>
        <p:spPr>
          <a:xfrm>
            <a:off x="5760720" y="5559552"/>
            <a:ext cx="3291840" cy="384048"/>
          </a:xfrm>
          <a:prstGeom prst="rect">
            <a:avLst/>
          </a:prstGeom>
          <a:solidFill>
            <a:srgbClr val="F1F7F3"/>
          </a:solidFill>
          <a:ln/>
        </p:spPr>
      </p:sp>
      <p:sp>
        <p:nvSpPr>
          <p:cNvPr id="152" name="Text 148"/>
          <p:cNvSpPr txBox="1"/>
          <p:nvPr/>
        </p:nvSpPr>
        <p:spPr>
          <a:xfrm>
            <a:off x="5806440" y="5559552"/>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Numbers matching the facts; independent attack passes</a:t>
            </a:r>
            <a:endParaRPr lang="en-US" sz="950" dirty="0"/>
          </a:p>
        </p:txBody>
      </p:sp>
      <p:sp>
        <p:nvSpPr>
          <p:cNvPr id="153" name="Shape 149"/>
          <p:cNvSpPr/>
          <p:nvPr/>
        </p:nvSpPr>
        <p:spPr>
          <a:xfrm>
            <a:off x="9052560" y="5559552"/>
            <a:ext cx="1051560" cy="384048"/>
          </a:xfrm>
          <a:prstGeom prst="rect">
            <a:avLst/>
          </a:prstGeom>
          <a:solidFill>
            <a:srgbClr val="F1F7F3"/>
          </a:solidFill>
          <a:ln/>
        </p:spPr>
      </p:sp>
      <p:sp>
        <p:nvSpPr>
          <p:cNvPr id="154" name="Text 150"/>
          <p:cNvSpPr txBox="1"/>
          <p:nvPr/>
        </p:nvSpPr>
        <p:spPr>
          <a:xfrm>
            <a:off x="9098280" y="5559552"/>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100 %</a:t>
            </a:r>
            <a:endParaRPr lang="en-US" sz="950" dirty="0"/>
          </a:p>
        </p:txBody>
      </p:sp>
      <p:sp>
        <p:nvSpPr>
          <p:cNvPr id="155" name="Shape 151"/>
          <p:cNvSpPr/>
          <p:nvPr/>
        </p:nvSpPr>
        <p:spPr>
          <a:xfrm>
            <a:off x="10104120" y="5559552"/>
            <a:ext cx="1676095" cy="384048"/>
          </a:xfrm>
          <a:prstGeom prst="rect">
            <a:avLst/>
          </a:prstGeom>
          <a:solidFill>
            <a:srgbClr val="F1E8D3"/>
          </a:solidFill>
          <a:ln/>
        </p:spPr>
      </p:sp>
      <p:sp>
        <p:nvSpPr>
          <p:cNvPr id="156" name="Text 152"/>
          <p:cNvSpPr txBox="1"/>
          <p:nvPr/>
        </p:nvSpPr>
        <p:spPr>
          <a:xfrm>
            <a:off x="10149840" y="5559552"/>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57" name="Shape 153"/>
          <p:cNvSpPr/>
          <p:nvPr/>
        </p:nvSpPr>
        <p:spPr>
          <a:xfrm>
            <a:off x="4343400" y="5943600"/>
            <a:ext cx="7436815" cy="0"/>
          </a:xfrm>
          <a:prstGeom prst="line">
            <a:avLst/>
          </a:prstGeom>
          <a:noFill/>
          <a:ln w="6350">
            <a:solidFill>
              <a:srgbClr val="E3E8E4"/>
            </a:solidFill>
            <a:prstDash val="solid"/>
          </a:ln>
        </p:spPr>
      </p:sp>
      <p:sp>
        <p:nvSpPr>
          <p:cNvPr id="158" name="Text 154"/>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technical/contracts/metrics_bars.yaml, technical/docs/agent_prompts/R1_00_COMMON.md, ml/public_validation. Pending gates are filled from metrics.json by technical/scripts/deck_numbers.py.</a:t>
            </a:r>
            <a:endParaRPr lang="en-US" sz="850" dirty="0"/>
          </a:p>
        </p:txBody>
      </p:sp>
      <p:pic>
        <p:nvPicPr>
          <p:cNvPr id="159"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160"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161"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162"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163"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164"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165"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questions">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8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6: CASE QUESTIONS, ANSWERED</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Where the case's twelve questions are answered, and how strong the evidence is</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88720"/>
            <a:ext cx="411480" cy="292608"/>
          </a:xfrm>
          <a:prstGeom prst="rect">
            <a:avLst/>
          </a:prstGeom>
          <a:solidFill>
            <a:srgbClr val="1F4A82"/>
          </a:solidFill>
          <a:ln/>
        </p:spPr>
      </p:sp>
      <p:sp>
        <p:nvSpPr>
          <p:cNvPr id="27" name="Text 23"/>
          <p:cNvSpPr txBox="1"/>
          <p:nvPr/>
        </p:nvSpPr>
        <p:spPr>
          <a:xfrm>
            <a:off x="457200" y="1188720"/>
            <a:ext cx="32004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p>
        </p:txBody>
      </p:sp>
      <p:sp>
        <p:nvSpPr>
          <p:cNvPr id="28" name="Shape 24"/>
          <p:cNvSpPr/>
          <p:nvPr/>
        </p:nvSpPr>
        <p:spPr>
          <a:xfrm>
            <a:off x="822960" y="1188720"/>
            <a:ext cx="2926080" cy="292608"/>
          </a:xfrm>
          <a:prstGeom prst="rect">
            <a:avLst/>
          </a:prstGeom>
          <a:solidFill>
            <a:srgbClr val="1F4A82"/>
          </a:solidFill>
          <a:ln/>
        </p:spPr>
      </p:sp>
      <p:sp>
        <p:nvSpPr>
          <p:cNvPr id="29" name="Text 25"/>
          <p:cNvSpPr txBox="1"/>
          <p:nvPr/>
        </p:nvSpPr>
        <p:spPr>
          <a:xfrm>
            <a:off x="868680" y="1188720"/>
            <a:ext cx="283464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Technology (70 %)</a:t>
            </a:r>
            <a:endParaRPr lang="en-US" sz="950" dirty="0"/>
          </a:p>
        </p:txBody>
      </p:sp>
      <p:sp>
        <p:nvSpPr>
          <p:cNvPr id="30" name="Shape 26"/>
          <p:cNvSpPr/>
          <p:nvPr/>
        </p:nvSpPr>
        <p:spPr>
          <a:xfrm>
            <a:off x="3749040" y="1188720"/>
            <a:ext cx="1600200" cy="292608"/>
          </a:xfrm>
          <a:prstGeom prst="rect">
            <a:avLst/>
          </a:prstGeom>
          <a:solidFill>
            <a:srgbClr val="1F4A82"/>
          </a:solidFill>
          <a:ln/>
        </p:spPr>
      </p:sp>
      <p:sp>
        <p:nvSpPr>
          <p:cNvPr id="31" name="Text 27"/>
          <p:cNvSpPr txBox="1"/>
          <p:nvPr/>
        </p:nvSpPr>
        <p:spPr>
          <a:xfrm>
            <a:off x="3794760" y="1188720"/>
            <a:ext cx="150876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Where</a:t>
            </a:r>
            <a:endParaRPr lang="en-US" sz="950" dirty="0"/>
          </a:p>
        </p:txBody>
      </p:sp>
      <p:sp>
        <p:nvSpPr>
          <p:cNvPr id="32" name="Shape 28"/>
          <p:cNvSpPr/>
          <p:nvPr/>
        </p:nvSpPr>
        <p:spPr>
          <a:xfrm>
            <a:off x="5349240" y="1188720"/>
            <a:ext cx="777240" cy="292608"/>
          </a:xfrm>
          <a:prstGeom prst="rect">
            <a:avLst/>
          </a:prstGeom>
          <a:solidFill>
            <a:srgbClr val="1F4A82"/>
          </a:solidFill>
          <a:ln/>
        </p:spPr>
      </p:sp>
      <p:sp>
        <p:nvSpPr>
          <p:cNvPr id="33" name="Text 29"/>
          <p:cNvSpPr txBox="1"/>
          <p:nvPr/>
        </p:nvSpPr>
        <p:spPr>
          <a:xfrm>
            <a:off x="5394960" y="1188720"/>
            <a:ext cx="68580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p>
        </p:txBody>
      </p:sp>
      <p:sp>
        <p:nvSpPr>
          <p:cNvPr id="34" name="Shape 30"/>
          <p:cNvSpPr/>
          <p:nvPr/>
        </p:nvSpPr>
        <p:spPr>
          <a:xfrm>
            <a:off x="411480" y="1481328"/>
            <a:ext cx="411480" cy="475488"/>
          </a:xfrm>
          <a:prstGeom prst="rect">
            <a:avLst/>
          </a:prstGeom>
          <a:solidFill>
            <a:srgbClr val="F1F7F3"/>
          </a:solidFill>
          <a:ln/>
        </p:spPr>
      </p:sp>
      <p:sp>
        <p:nvSpPr>
          <p:cNvPr id="35" name="Text 31"/>
          <p:cNvSpPr txBox="1"/>
          <p:nvPr/>
        </p:nvSpPr>
        <p:spPr>
          <a:xfrm>
            <a:off x="457200" y="1481328"/>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T1</a:t>
            </a:r>
            <a:endParaRPr lang="en-US" sz="950" dirty="0"/>
          </a:p>
        </p:txBody>
      </p:sp>
      <p:sp>
        <p:nvSpPr>
          <p:cNvPr id="36" name="Shape 32"/>
          <p:cNvSpPr/>
          <p:nvPr/>
        </p:nvSpPr>
        <p:spPr>
          <a:xfrm>
            <a:off x="822960" y="1481328"/>
            <a:ext cx="2926080" cy="475488"/>
          </a:xfrm>
          <a:prstGeom prst="rect">
            <a:avLst/>
          </a:prstGeom>
          <a:solidFill>
            <a:srgbClr val="F1F7F3"/>
          </a:solidFill>
          <a:ln/>
        </p:spPr>
      </p:sp>
      <p:sp>
        <p:nvSpPr>
          <p:cNvPr id="37" name="Text 33"/>
          <p:cNvSpPr txBox="1"/>
          <p:nvPr/>
        </p:nvSpPr>
        <p:spPr>
          <a:xfrm>
            <a:off x="868680" y="1481328"/>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Data capture, offline, low effort</a:t>
            </a:r>
            <a:endParaRPr lang="en-US" sz="950" dirty="0"/>
          </a:p>
        </p:txBody>
      </p:sp>
      <p:sp>
        <p:nvSpPr>
          <p:cNvPr id="38" name="Shape 34"/>
          <p:cNvSpPr/>
          <p:nvPr/>
        </p:nvSpPr>
        <p:spPr>
          <a:xfrm>
            <a:off x="3749040" y="1481328"/>
            <a:ext cx="1600200" cy="475488"/>
          </a:xfrm>
          <a:prstGeom prst="rect">
            <a:avLst/>
          </a:prstGeom>
          <a:solidFill>
            <a:srgbClr val="F1F7F3"/>
          </a:solidFill>
          <a:ln/>
        </p:spPr>
      </p:sp>
      <p:sp>
        <p:nvSpPr>
          <p:cNvPr id="39" name="Text 35"/>
          <p:cNvSpPr txBox="1"/>
          <p:nvPr/>
        </p:nvSpPr>
        <p:spPr>
          <a:xfrm>
            <a:off x="3794760" y="1481328"/>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Slides 5, 6</a:t>
            </a:r>
            <a:endParaRPr lang="en-US" sz="950" dirty="0"/>
          </a:p>
        </p:txBody>
      </p:sp>
      <p:sp>
        <p:nvSpPr>
          <p:cNvPr id="40" name="Shape 36"/>
          <p:cNvSpPr/>
          <p:nvPr/>
        </p:nvSpPr>
        <p:spPr>
          <a:xfrm>
            <a:off x="5349240" y="1481328"/>
            <a:ext cx="777240" cy="475488"/>
          </a:xfrm>
          <a:prstGeom prst="rect">
            <a:avLst/>
          </a:prstGeom>
          <a:solidFill>
            <a:srgbClr val="2E6DB4"/>
          </a:solidFill>
          <a:ln/>
        </p:spPr>
      </p:sp>
      <p:sp>
        <p:nvSpPr>
          <p:cNvPr id="41" name="Text 37"/>
          <p:cNvSpPr txBox="1"/>
          <p:nvPr/>
        </p:nvSpPr>
        <p:spPr>
          <a:xfrm>
            <a:off x="5394960" y="1481328"/>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Designed</a:t>
            </a:r>
            <a:endParaRPr lang="en-US" sz="950" dirty="0"/>
          </a:p>
        </p:txBody>
      </p:sp>
      <p:sp>
        <p:nvSpPr>
          <p:cNvPr id="42" name="Shape 38"/>
          <p:cNvSpPr/>
          <p:nvPr/>
        </p:nvSpPr>
        <p:spPr>
          <a:xfrm>
            <a:off x="411480" y="1956816"/>
            <a:ext cx="5715000" cy="0"/>
          </a:xfrm>
          <a:prstGeom prst="line">
            <a:avLst/>
          </a:prstGeom>
          <a:noFill/>
          <a:ln w="6350">
            <a:solidFill>
              <a:srgbClr val="E3E8E4"/>
            </a:solidFill>
            <a:prstDash val="solid"/>
          </a:ln>
        </p:spPr>
      </p:sp>
      <p:sp>
        <p:nvSpPr>
          <p:cNvPr id="43" name="Shape 39"/>
          <p:cNvSpPr/>
          <p:nvPr/>
        </p:nvSpPr>
        <p:spPr>
          <a:xfrm>
            <a:off x="411480" y="1956816"/>
            <a:ext cx="411480" cy="475488"/>
          </a:xfrm>
          <a:prstGeom prst="rect">
            <a:avLst/>
          </a:prstGeom>
          <a:solidFill>
            <a:srgbClr val="FFFFFF"/>
          </a:solidFill>
          <a:ln/>
        </p:spPr>
      </p:sp>
      <p:sp>
        <p:nvSpPr>
          <p:cNvPr id="44" name="Text 40"/>
          <p:cNvSpPr txBox="1"/>
          <p:nvPr/>
        </p:nvSpPr>
        <p:spPr>
          <a:xfrm>
            <a:off x="457200" y="1956816"/>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T2</a:t>
            </a:r>
            <a:endParaRPr lang="en-US" sz="950" dirty="0"/>
          </a:p>
        </p:txBody>
      </p:sp>
      <p:sp>
        <p:nvSpPr>
          <p:cNvPr id="45" name="Shape 41"/>
          <p:cNvSpPr/>
          <p:nvPr/>
        </p:nvSpPr>
        <p:spPr>
          <a:xfrm>
            <a:off x="822960" y="1956816"/>
            <a:ext cx="2926080" cy="475488"/>
          </a:xfrm>
          <a:prstGeom prst="rect">
            <a:avLst/>
          </a:prstGeom>
          <a:solidFill>
            <a:srgbClr val="FFFFFF"/>
          </a:solidFill>
          <a:ln/>
        </p:spPr>
      </p:sp>
      <p:sp>
        <p:nvSpPr>
          <p:cNvPr id="46" name="Text 42"/>
          <p:cNvSpPr txBox="1"/>
          <p:nvPr/>
        </p:nvSpPr>
        <p:spPr>
          <a:xfrm>
            <a:off x="868680" y="1956816"/>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Data model; tagging questions to topics</a:t>
            </a:r>
            <a:endParaRPr lang="en-US" sz="950" dirty="0"/>
          </a:p>
        </p:txBody>
      </p:sp>
      <p:sp>
        <p:nvSpPr>
          <p:cNvPr id="47" name="Shape 43"/>
          <p:cNvSpPr/>
          <p:nvPr/>
        </p:nvSpPr>
        <p:spPr>
          <a:xfrm>
            <a:off x="3749040" y="1956816"/>
            <a:ext cx="1600200" cy="475488"/>
          </a:xfrm>
          <a:prstGeom prst="rect">
            <a:avLst/>
          </a:prstGeom>
          <a:solidFill>
            <a:srgbClr val="FFFFFF"/>
          </a:solidFill>
          <a:ln/>
        </p:spPr>
      </p:sp>
      <p:sp>
        <p:nvSpPr>
          <p:cNvPr id="48" name="Text 44"/>
          <p:cNvSpPr txBox="1"/>
          <p:nvPr/>
        </p:nvSpPr>
        <p:spPr>
          <a:xfrm>
            <a:off x="3794760" y="1956816"/>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Appendix 3</a:t>
            </a:r>
            <a:endParaRPr lang="en-US" sz="950" dirty="0"/>
          </a:p>
        </p:txBody>
      </p:sp>
      <p:sp>
        <p:nvSpPr>
          <p:cNvPr id="49" name="Shape 45"/>
          <p:cNvSpPr/>
          <p:nvPr/>
        </p:nvSpPr>
        <p:spPr>
          <a:xfrm>
            <a:off x="5349240" y="1956816"/>
            <a:ext cx="777240" cy="475488"/>
          </a:xfrm>
          <a:prstGeom prst="rect">
            <a:avLst/>
          </a:prstGeom>
          <a:solidFill>
            <a:srgbClr val="1F4A82"/>
          </a:solidFill>
          <a:ln/>
        </p:spPr>
      </p:sp>
      <p:sp>
        <p:nvSpPr>
          <p:cNvPr id="50" name="Text 46"/>
          <p:cNvSpPr txBox="1"/>
          <p:nvPr/>
        </p:nvSpPr>
        <p:spPr>
          <a:xfrm>
            <a:off x="5394960" y="1956816"/>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p>
        </p:txBody>
      </p:sp>
      <p:sp>
        <p:nvSpPr>
          <p:cNvPr id="51" name="Shape 47"/>
          <p:cNvSpPr/>
          <p:nvPr/>
        </p:nvSpPr>
        <p:spPr>
          <a:xfrm>
            <a:off x="411480" y="2432304"/>
            <a:ext cx="5715000" cy="0"/>
          </a:xfrm>
          <a:prstGeom prst="line">
            <a:avLst/>
          </a:prstGeom>
          <a:noFill/>
          <a:ln w="6350">
            <a:solidFill>
              <a:srgbClr val="E3E8E4"/>
            </a:solidFill>
            <a:prstDash val="solid"/>
          </a:ln>
        </p:spPr>
      </p:sp>
      <p:sp>
        <p:nvSpPr>
          <p:cNvPr id="52" name="Shape 48"/>
          <p:cNvSpPr/>
          <p:nvPr/>
        </p:nvSpPr>
        <p:spPr>
          <a:xfrm>
            <a:off x="411480" y="2432304"/>
            <a:ext cx="411480" cy="475488"/>
          </a:xfrm>
          <a:prstGeom prst="rect">
            <a:avLst/>
          </a:prstGeom>
          <a:solidFill>
            <a:srgbClr val="F1F7F3"/>
          </a:solidFill>
          <a:ln/>
        </p:spPr>
      </p:sp>
      <p:sp>
        <p:nvSpPr>
          <p:cNvPr id="53" name="Text 49"/>
          <p:cNvSpPr txBox="1"/>
          <p:nvPr/>
        </p:nvSpPr>
        <p:spPr>
          <a:xfrm>
            <a:off x="457200" y="2432304"/>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T3</a:t>
            </a:r>
            <a:endParaRPr lang="en-US" sz="950" dirty="0"/>
          </a:p>
        </p:txBody>
      </p:sp>
      <p:sp>
        <p:nvSpPr>
          <p:cNvPr id="54" name="Shape 50"/>
          <p:cNvSpPr/>
          <p:nvPr/>
        </p:nvSpPr>
        <p:spPr>
          <a:xfrm>
            <a:off x="822960" y="2432304"/>
            <a:ext cx="2926080" cy="475488"/>
          </a:xfrm>
          <a:prstGeom prst="rect">
            <a:avLst/>
          </a:prstGeom>
          <a:solidFill>
            <a:srgbClr val="F1F7F3"/>
          </a:solidFill>
          <a:ln/>
        </p:spPr>
      </p:sp>
      <p:sp>
        <p:nvSpPr>
          <p:cNvPr id="55" name="Text 51"/>
          <p:cNvSpPr txBox="1"/>
          <p:nvPr/>
        </p:nvSpPr>
        <p:spPr>
          <a:xfrm>
            <a:off x="868680" y="2432304"/>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Mastery and question difficulty</a:t>
            </a:r>
            <a:endParaRPr lang="en-US" sz="950" dirty="0"/>
          </a:p>
        </p:txBody>
      </p:sp>
      <p:sp>
        <p:nvSpPr>
          <p:cNvPr id="56" name="Shape 52"/>
          <p:cNvSpPr/>
          <p:nvPr/>
        </p:nvSpPr>
        <p:spPr>
          <a:xfrm>
            <a:off x="3749040" y="2432304"/>
            <a:ext cx="1600200" cy="475488"/>
          </a:xfrm>
          <a:prstGeom prst="rect">
            <a:avLst/>
          </a:prstGeom>
          <a:solidFill>
            <a:srgbClr val="F1F7F3"/>
          </a:solidFill>
          <a:ln/>
        </p:spPr>
      </p:sp>
      <p:sp>
        <p:nvSpPr>
          <p:cNvPr id="57" name="Text 53"/>
          <p:cNvSpPr txBox="1"/>
          <p:nvPr/>
        </p:nvSpPr>
        <p:spPr>
          <a:xfrm>
            <a:off x="3794760" y="2432304"/>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7</a:t>
            </a:r>
            <a:endParaRPr lang="en-US" sz="950" dirty="0"/>
          </a:p>
        </p:txBody>
      </p:sp>
      <p:sp>
        <p:nvSpPr>
          <p:cNvPr id="58" name="Shape 54"/>
          <p:cNvSpPr/>
          <p:nvPr/>
        </p:nvSpPr>
        <p:spPr>
          <a:xfrm>
            <a:off x="5349240" y="2432304"/>
            <a:ext cx="777240" cy="475488"/>
          </a:xfrm>
          <a:prstGeom prst="rect">
            <a:avLst/>
          </a:prstGeom>
          <a:solidFill>
            <a:srgbClr val="1F4A82"/>
          </a:solidFill>
          <a:ln/>
        </p:spPr>
      </p:sp>
      <p:sp>
        <p:nvSpPr>
          <p:cNvPr id="59" name="Text 55"/>
          <p:cNvSpPr txBox="1"/>
          <p:nvPr/>
        </p:nvSpPr>
        <p:spPr>
          <a:xfrm>
            <a:off x="5394960" y="2432304"/>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Measured</a:t>
            </a:r>
            <a:endParaRPr lang="en-US" sz="950" dirty="0"/>
          </a:p>
        </p:txBody>
      </p:sp>
      <p:sp>
        <p:nvSpPr>
          <p:cNvPr id="60" name="Shape 56"/>
          <p:cNvSpPr/>
          <p:nvPr/>
        </p:nvSpPr>
        <p:spPr>
          <a:xfrm>
            <a:off x="411480" y="2907792"/>
            <a:ext cx="5715000" cy="0"/>
          </a:xfrm>
          <a:prstGeom prst="line">
            <a:avLst/>
          </a:prstGeom>
          <a:noFill/>
          <a:ln w="6350">
            <a:solidFill>
              <a:srgbClr val="E3E8E4"/>
            </a:solidFill>
            <a:prstDash val="solid"/>
          </a:ln>
        </p:spPr>
      </p:sp>
      <p:sp>
        <p:nvSpPr>
          <p:cNvPr id="61" name="Shape 57"/>
          <p:cNvSpPr/>
          <p:nvPr/>
        </p:nvSpPr>
        <p:spPr>
          <a:xfrm>
            <a:off x="411480" y="2907792"/>
            <a:ext cx="411480" cy="475488"/>
          </a:xfrm>
          <a:prstGeom prst="rect">
            <a:avLst/>
          </a:prstGeom>
          <a:solidFill>
            <a:srgbClr val="FFFFFF"/>
          </a:solidFill>
          <a:ln/>
        </p:spPr>
      </p:sp>
      <p:sp>
        <p:nvSpPr>
          <p:cNvPr id="62" name="Text 58"/>
          <p:cNvSpPr txBox="1"/>
          <p:nvPr/>
        </p:nvSpPr>
        <p:spPr>
          <a:xfrm>
            <a:off x="457200" y="2907792"/>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T4</a:t>
            </a:r>
            <a:endParaRPr lang="en-US" sz="950" dirty="0"/>
          </a:p>
        </p:txBody>
      </p:sp>
      <p:sp>
        <p:nvSpPr>
          <p:cNvPr id="63" name="Shape 59"/>
          <p:cNvSpPr/>
          <p:nvPr/>
        </p:nvSpPr>
        <p:spPr>
          <a:xfrm>
            <a:off x="822960" y="2907792"/>
            <a:ext cx="2926080" cy="475488"/>
          </a:xfrm>
          <a:prstGeom prst="rect">
            <a:avLst/>
          </a:prstGeom>
          <a:solidFill>
            <a:srgbClr val="FFFFFF"/>
          </a:solidFill>
          <a:ln/>
        </p:spPr>
      </p:sp>
      <p:sp>
        <p:nvSpPr>
          <p:cNvPr id="64" name="Text 60"/>
          <p:cNvSpPr txBox="1"/>
          <p:nvPr/>
        </p:nvSpPr>
        <p:spPr>
          <a:xfrm>
            <a:off x="868680" y="2907792"/>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Early warning: dropout, behind, fees</a:t>
            </a:r>
            <a:endParaRPr lang="en-US" sz="950" dirty="0"/>
          </a:p>
        </p:txBody>
      </p:sp>
      <p:sp>
        <p:nvSpPr>
          <p:cNvPr id="65" name="Shape 61"/>
          <p:cNvSpPr/>
          <p:nvPr/>
        </p:nvSpPr>
        <p:spPr>
          <a:xfrm>
            <a:off x="3749040" y="2907792"/>
            <a:ext cx="1600200" cy="475488"/>
          </a:xfrm>
          <a:prstGeom prst="rect">
            <a:avLst/>
          </a:prstGeom>
          <a:solidFill>
            <a:srgbClr val="FFFFFF"/>
          </a:solidFill>
          <a:ln/>
        </p:spPr>
      </p:sp>
      <p:sp>
        <p:nvSpPr>
          <p:cNvPr id="66" name="Text 62"/>
          <p:cNvSpPr txBox="1"/>
          <p:nvPr/>
        </p:nvSpPr>
        <p:spPr>
          <a:xfrm>
            <a:off x="3794760" y="2907792"/>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8</a:t>
            </a:r>
            <a:endParaRPr lang="en-US" sz="950" dirty="0"/>
          </a:p>
        </p:txBody>
      </p:sp>
      <p:sp>
        <p:nvSpPr>
          <p:cNvPr id="67" name="Shape 63"/>
          <p:cNvSpPr/>
          <p:nvPr/>
        </p:nvSpPr>
        <p:spPr>
          <a:xfrm>
            <a:off x="5349240" y="2907792"/>
            <a:ext cx="777240" cy="475488"/>
          </a:xfrm>
          <a:prstGeom prst="rect">
            <a:avLst/>
          </a:prstGeom>
          <a:solidFill>
            <a:srgbClr val="1F4A82"/>
          </a:solidFill>
          <a:ln/>
        </p:spPr>
      </p:sp>
      <p:sp>
        <p:nvSpPr>
          <p:cNvPr id="68" name="Text 64"/>
          <p:cNvSpPr txBox="1"/>
          <p:nvPr/>
        </p:nvSpPr>
        <p:spPr>
          <a:xfrm>
            <a:off x="5394960" y="2907792"/>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Measured</a:t>
            </a:r>
            <a:endParaRPr lang="en-US" sz="950" dirty="0"/>
          </a:p>
        </p:txBody>
      </p:sp>
      <p:sp>
        <p:nvSpPr>
          <p:cNvPr id="69" name="Shape 65"/>
          <p:cNvSpPr/>
          <p:nvPr/>
        </p:nvSpPr>
        <p:spPr>
          <a:xfrm>
            <a:off x="411480" y="3383280"/>
            <a:ext cx="5715000" cy="0"/>
          </a:xfrm>
          <a:prstGeom prst="line">
            <a:avLst/>
          </a:prstGeom>
          <a:noFill/>
          <a:ln w="6350">
            <a:solidFill>
              <a:srgbClr val="E3E8E4"/>
            </a:solidFill>
            <a:prstDash val="solid"/>
          </a:ln>
        </p:spPr>
      </p:sp>
      <p:sp>
        <p:nvSpPr>
          <p:cNvPr id="70" name="Shape 66"/>
          <p:cNvSpPr/>
          <p:nvPr/>
        </p:nvSpPr>
        <p:spPr>
          <a:xfrm>
            <a:off x="411480" y="3383280"/>
            <a:ext cx="411480" cy="475488"/>
          </a:xfrm>
          <a:prstGeom prst="rect">
            <a:avLst/>
          </a:prstGeom>
          <a:solidFill>
            <a:srgbClr val="F1F7F3"/>
          </a:solidFill>
          <a:ln/>
        </p:spPr>
      </p:sp>
      <p:sp>
        <p:nvSpPr>
          <p:cNvPr id="71" name="Text 67"/>
          <p:cNvSpPr txBox="1"/>
          <p:nvPr/>
        </p:nvSpPr>
        <p:spPr>
          <a:xfrm>
            <a:off x="457200" y="3383280"/>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T5</a:t>
            </a:r>
            <a:endParaRPr lang="en-US" sz="950" dirty="0"/>
          </a:p>
        </p:txBody>
      </p:sp>
      <p:sp>
        <p:nvSpPr>
          <p:cNvPr id="72" name="Shape 68"/>
          <p:cNvSpPr/>
          <p:nvPr/>
        </p:nvSpPr>
        <p:spPr>
          <a:xfrm>
            <a:off x="822960" y="3383280"/>
            <a:ext cx="2926080" cy="475488"/>
          </a:xfrm>
          <a:prstGeom prst="rect">
            <a:avLst/>
          </a:prstGeom>
          <a:solidFill>
            <a:srgbClr val="F1F7F3"/>
          </a:solidFill>
          <a:ln/>
        </p:spPr>
      </p:sp>
      <p:sp>
        <p:nvSpPr>
          <p:cNvPr id="73" name="Text 69"/>
          <p:cNvSpPr txBox="1"/>
          <p:nvPr/>
        </p:nvSpPr>
        <p:spPr>
          <a:xfrm>
            <a:off x="868680" y="3383280"/>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Percentile range, honest uncertainty</a:t>
            </a:r>
            <a:endParaRPr lang="en-US" sz="950" dirty="0"/>
          </a:p>
        </p:txBody>
      </p:sp>
      <p:sp>
        <p:nvSpPr>
          <p:cNvPr id="74" name="Shape 70"/>
          <p:cNvSpPr/>
          <p:nvPr/>
        </p:nvSpPr>
        <p:spPr>
          <a:xfrm>
            <a:off x="3749040" y="3383280"/>
            <a:ext cx="1600200" cy="475488"/>
          </a:xfrm>
          <a:prstGeom prst="rect">
            <a:avLst/>
          </a:prstGeom>
          <a:solidFill>
            <a:srgbClr val="F1F7F3"/>
          </a:solidFill>
          <a:ln/>
        </p:spPr>
      </p:sp>
      <p:sp>
        <p:nvSpPr>
          <p:cNvPr id="75" name="Text 71"/>
          <p:cNvSpPr txBox="1"/>
          <p:nvPr/>
        </p:nvSpPr>
        <p:spPr>
          <a:xfrm>
            <a:off x="3794760" y="3383280"/>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9</a:t>
            </a:r>
            <a:endParaRPr lang="en-US" sz="950" dirty="0"/>
          </a:p>
        </p:txBody>
      </p:sp>
      <p:sp>
        <p:nvSpPr>
          <p:cNvPr id="76" name="Shape 72"/>
          <p:cNvSpPr/>
          <p:nvPr/>
        </p:nvSpPr>
        <p:spPr>
          <a:xfrm>
            <a:off x="5349240" y="3383280"/>
            <a:ext cx="777240" cy="475488"/>
          </a:xfrm>
          <a:prstGeom prst="rect">
            <a:avLst/>
          </a:prstGeom>
          <a:solidFill>
            <a:srgbClr val="2E6DB4"/>
          </a:solidFill>
          <a:ln/>
        </p:spPr>
      </p:sp>
      <p:sp>
        <p:nvSpPr>
          <p:cNvPr id="77" name="Text 73"/>
          <p:cNvSpPr txBox="1"/>
          <p:nvPr/>
        </p:nvSpPr>
        <p:spPr>
          <a:xfrm>
            <a:off x="5394960" y="3383280"/>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Designed</a:t>
            </a:r>
            <a:endParaRPr lang="en-US" sz="950" dirty="0"/>
          </a:p>
        </p:txBody>
      </p:sp>
      <p:sp>
        <p:nvSpPr>
          <p:cNvPr id="78" name="Shape 74"/>
          <p:cNvSpPr/>
          <p:nvPr/>
        </p:nvSpPr>
        <p:spPr>
          <a:xfrm>
            <a:off x="411480" y="3858768"/>
            <a:ext cx="5715000" cy="0"/>
          </a:xfrm>
          <a:prstGeom prst="line">
            <a:avLst/>
          </a:prstGeom>
          <a:noFill/>
          <a:ln w="6350">
            <a:solidFill>
              <a:srgbClr val="E3E8E4"/>
            </a:solidFill>
            <a:prstDash val="solid"/>
          </a:ln>
        </p:spPr>
      </p:sp>
      <p:sp>
        <p:nvSpPr>
          <p:cNvPr id="79" name="Shape 75"/>
          <p:cNvSpPr/>
          <p:nvPr/>
        </p:nvSpPr>
        <p:spPr>
          <a:xfrm>
            <a:off x="411480" y="3858768"/>
            <a:ext cx="411480" cy="475488"/>
          </a:xfrm>
          <a:prstGeom prst="rect">
            <a:avLst/>
          </a:prstGeom>
          <a:solidFill>
            <a:srgbClr val="FFFFFF"/>
          </a:solidFill>
          <a:ln/>
        </p:spPr>
      </p:sp>
      <p:sp>
        <p:nvSpPr>
          <p:cNvPr id="80" name="Text 76"/>
          <p:cNvSpPr txBox="1"/>
          <p:nvPr/>
        </p:nvSpPr>
        <p:spPr>
          <a:xfrm>
            <a:off x="457200" y="3858768"/>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T6</a:t>
            </a:r>
            <a:endParaRPr lang="en-US" sz="950" dirty="0"/>
          </a:p>
        </p:txBody>
      </p:sp>
      <p:sp>
        <p:nvSpPr>
          <p:cNvPr id="81" name="Shape 77"/>
          <p:cNvSpPr/>
          <p:nvPr/>
        </p:nvSpPr>
        <p:spPr>
          <a:xfrm>
            <a:off x="822960" y="3858768"/>
            <a:ext cx="2926080" cy="475488"/>
          </a:xfrm>
          <a:prstGeom prst="rect">
            <a:avLst/>
          </a:prstGeom>
          <a:solidFill>
            <a:srgbClr val="FFFFFF"/>
          </a:solidFill>
          <a:ln/>
        </p:spPr>
      </p:sp>
      <p:sp>
        <p:nvSpPr>
          <p:cNvPr id="82" name="Text 78"/>
          <p:cNvSpPr txBox="1"/>
          <p:nvPr/>
        </p:nvSpPr>
        <p:spPr>
          <a:xfrm>
            <a:off x="868680" y="3858768"/>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GenAI: reports, plans, doubts</a:t>
            </a:r>
            <a:endParaRPr lang="en-US" sz="950" dirty="0"/>
          </a:p>
        </p:txBody>
      </p:sp>
      <p:sp>
        <p:nvSpPr>
          <p:cNvPr id="83" name="Shape 79"/>
          <p:cNvSpPr/>
          <p:nvPr/>
        </p:nvSpPr>
        <p:spPr>
          <a:xfrm>
            <a:off x="3749040" y="3858768"/>
            <a:ext cx="1600200" cy="475488"/>
          </a:xfrm>
          <a:prstGeom prst="rect">
            <a:avLst/>
          </a:prstGeom>
          <a:solidFill>
            <a:srgbClr val="FFFFFF"/>
          </a:solidFill>
          <a:ln/>
        </p:spPr>
      </p:sp>
      <p:sp>
        <p:nvSpPr>
          <p:cNvPr id="84" name="Text 80"/>
          <p:cNvSpPr txBox="1"/>
          <p:nvPr/>
        </p:nvSpPr>
        <p:spPr>
          <a:xfrm>
            <a:off x="3794760" y="3858768"/>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9</a:t>
            </a:r>
            <a:endParaRPr lang="en-US" sz="950" dirty="0"/>
          </a:p>
        </p:txBody>
      </p:sp>
      <p:sp>
        <p:nvSpPr>
          <p:cNvPr id="85" name="Shape 81"/>
          <p:cNvSpPr/>
          <p:nvPr/>
        </p:nvSpPr>
        <p:spPr>
          <a:xfrm>
            <a:off x="5349240" y="3858768"/>
            <a:ext cx="777240" cy="475488"/>
          </a:xfrm>
          <a:prstGeom prst="rect">
            <a:avLst/>
          </a:prstGeom>
          <a:solidFill>
            <a:srgbClr val="1F4A82"/>
          </a:solidFill>
          <a:ln/>
        </p:spPr>
      </p:sp>
      <p:sp>
        <p:nvSpPr>
          <p:cNvPr id="86" name="Text 82"/>
          <p:cNvSpPr txBox="1"/>
          <p:nvPr/>
        </p:nvSpPr>
        <p:spPr>
          <a:xfrm>
            <a:off x="5394960" y="3858768"/>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p>
        </p:txBody>
      </p:sp>
      <p:sp>
        <p:nvSpPr>
          <p:cNvPr id="87" name="Shape 83"/>
          <p:cNvSpPr/>
          <p:nvPr/>
        </p:nvSpPr>
        <p:spPr>
          <a:xfrm>
            <a:off x="411480" y="4334256"/>
            <a:ext cx="5715000" cy="0"/>
          </a:xfrm>
          <a:prstGeom prst="line">
            <a:avLst/>
          </a:prstGeom>
          <a:noFill/>
          <a:ln w="6350">
            <a:solidFill>
              <a:srgbClr val="E3E8E4"/>
            </a:solidFill>
            <a:prstDash val="solid"/>
          </a:ln>
        </p:spPr>
      </p:sp>
      <p:sp>
        <p:nvSpPr>
          <p:cNvPr id="88" name="Shape 84"/>
          <p:cNvSpPr/>
          <p:nvPr/>
        </p:nvSpPr>
        <p:spPr>
          <a:xfrm>
            <a:off x="411480" y="4334256"/>
            <a:ext cx="411480" cy="475488"/>
          </a:xfrm>
          <a:prstGeom prst="rect">
            <a:avLst/>
          </a:prstGeom>
          <a:solidFill>
            <a:srgbClr val="F1F7F3"/>
          </a:solidFill>
          <a:ln/>
        </p:spPr>
      </p:sp>
      <p:sp>
        <p:nvSpPr>
          <p:cNvPr id="89" name="Text 85"/>
          <p:cNvSpPr txBox="1"/>
          <p:nvPr/>
        </p:nvSpPr>
        <p:spPr>
          <a:xfrm>
            <a:off x="457200" y="4334256"/>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T7</a:t>
            </a:r>
            <a:endParaRPr lang="en-US" sz="950" dirty="0"/>
          </a:p>
        </p:txBody>
      </p:sp>
      <p:sp>
        <p:nvSpPr>
          <p:cNvPr id="90" name="Shape 86"/>
          <p:cNvSpPr/>
          <p:nvPr/>
        </p:nvSpPr>
        <p:spPr>
          <a:xfrm>
            <a:off x="822960" y="4334256"/>
            <a:ext cx="2926080" cy="475488"/>
          </a:xfrm>
          <a:prstGeom prst="rect">
            <a:avLst/>
          </a:prstGeom>
          <a:solidFill>
            <a:srgbClr val="F1F7F3"/>
          </a:solidFill>
          <a:ln/>
        </p:spPr>
      </p:sp>
      <p:sp>
        <p:nvSpPr>
          <p:cNvPr id="91" name="Text 87"/>
          <p:cNvSpPr txBox="1"/>
          <p:nvPr/>
        </p:nvSpPr>
        <p:spPr>
          <a:xfrm>
            <a:off x="868680" y="4334256"/>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Multi-tenant, secure, low-cost</a:t>
            </a:r>
            <a:endParaRPr lang="en-US" sz="950" dirty="0"/>
          </a:p>
        </p:txBody>
      </p:sp>
      <p:sp>
        <p:nvSpPr>
          <p:cNvPr id="92" name="Shape 88"/>
          <p:cNvSpPr/>
          <p:nvPr/>
        </p:nvSpPr>
        <p:spPr>
          <a:xfrm>
            <a:off x="3749040" y="4334256"/>
            <a:ext cx="1600200" cy="475488"/>
          </a:xfrm>
          <a:prstGeom prst="rect">
            <a:avLst/>
          </a:prstGeom>
          <a:solidFill>
            <a:srgbClr val="F1F7F3"/>
          </a:solidFill>
          <a:ln/>
        </p:spPr>
      </p:sp>
      <p:sp>
        <p:nvSpPr>
          <p:cNvPr id="93" name="Text 89"/>
          <p:cNvSpPr txBox="1"/>
          <p:nvPr/>
        </p:nvSpPr>
        <p:spPr>
          <a:xfrm>
            <a:off x="3794760" y="4334256"/>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Slides 5, 11</a:t>
            </a:r>
            <a:endParaRPr lang="en-US" sz="950" dirty="0"/>
          </a:p>
        </p:txBody>
      </p:sp>
      <p:sp>
        <p:nvSpPr>
          <p:cNvPr id="94" name="Shape 90"/>
          <p:cNvSpPr/>
          <p:nvPr/>
        </p:nvSpPr>
        <p:spPr>
          <a:xfrm>
            <a:off x="5349240" y="4334256"/>
            <a:ext cx="777240" cy="475488"/>
          </a:xfrm>
          <a:prstGeom prst="rect">
            <a:avLst/>
          </a:prstGeom>
          <a:solidFill>
            <a:srgbClr val="1F4A82"/>
          </a:solidFill>
          <a:ln/>
        </p:spPr>
      </p:sp>
      <p:sp>
        <p:nvSpPr>
          <p:cNvPr id="95" name="Text 91"/>
          <p:cNvSpPr txBox="1"/>
          <p:nvPr/>
        </p:nvSpPr>
        <p:spPr>
          <a:xfrm>
            <a:off x="5394960" y="4334256"/>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p>
        </p:txBody>
      </p:sp>
      <p:sp>
        <p:nvSpPr>
          <p:cNvPr id="96" name="Shape 92"/>
          <p:cNvSpPr/>
          <p:nvPr/>
        </p:nvSpPr>
        <p:spPr>
          <a:xfrm>
            <a:off x="411480" y="4809744"/>
            <a:ext cx="5715000" cy="0"/>
          </a:xfrm>
          <a:prstGeom prst="line">
            <a:avLst/>
          </a:prstGeom>
          <a:noFill/>
          <a:ln w="6350">
            <a:solidFill>
              <a:srgbClr val="E3E8E4"/>
            </a:solidFill>
            <a:prstDash val="solid"/>
          </a:ln>
        </p:spPr>
      </p:sp>
      <p:sp>
        <p:nvSpPr>
          <p:cNvPr id="97" name="Shape 93"/>
          <p:cNvSpPr/>
          <p:nvPr/>
        </p:nvSpPr>
        <p:spPr>
          <a:xfrm>
            <a:off x="411480" y="4809744"/>
            <a:ext cx="411480" cy="475488"/>
          </a:xfrm>
          <a:prstGeom prst="rect">
            <a:avLst/>
          </a:prstGeom>
          <a:solidFill>
            <a:srgbClr val="FFFFFF"/>
          </a:solidFill>
          <a:ln/>
        </p:spPr>
      </p:sp>
      <p:sp>
        <p:nvSpPr>
          <p:cNvPr id="98" name="Text 94"/>
          <p:cNvSpPr txBox="1"/>
          <p:nvPr/>
        </p:nvSpPr>
        <p:spPr>
          <a:xfrm>
            <a:off x="457200" y="4809744"/>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T8</a:t>
            </a:r>
            <a:endParaRPr lang="en-US" sz="950" dirty="0"/>
          </a:p>
        </p:txBody>
      </p:sp>
      <p:sp>
        <p:nvSpPr>
          <p:cNvPr id="99" name="Shape 95"/>
          <p:cNvSpPr/>
          <p:nvPr/>
        </p:nvSpPr>
        <p:spPr>
          <a:xfrm>
            <a:off x="822960" y="4809744"/>
            <a:ext cx="2926080" cy="475488"/>
          </a:xfrm>
          <a:prstGeom prst="rect">
            <a:avLst/>
          </a:prstGeom>
          <a:solidFill>
            <a:srgbClr val="FFFFFF"/>
          </a:solidFill>
          <a:ln/>
        </p:spPr>
      </p:sp>
      <p:sp>
        <p:nvSpPr>
          <p:cNvPr id="100" name="Text 96"/>
          <p:cNvSpPr txBox="1"/>
          <p:nvPr/>
        </p:nvSpPr>
        <p:spPr>
          <a:xfrm>
            <a:off x="868680" y="4809744"/>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Privacy and safety for minors</a:t>
            </a:r>
            <a:endParaRPr lang="en-US" sz="950" dirty="0"/>
          </a:p>
        </p:txBody>
      </p:sp>
      <p:sp>
        <p:nvSpPr>
          <p:cNvPr id="101" name="Shape 97"/>
          <p:cNvSpPr/>
          <p:nvPr/>
        </p:nvSpPr>
        <p:spPr>
          <a:xfrm>
            <a:off x="3749040" y="4809744"/>
            <a:ext cx="1600200" cy="475488"/>
          </a:xfrm>
          <a:prstGeom prst="rect">
            <a:avLst/>
          </a:prstGeom>
          <a:solidFill>
            <a:srgbClr val="FFFFFF"/>
          </a:solidFill>
          <a:ln/>
        </p:spPr>
      </p:sp>
      <p:sp>
        <p:nvSpPr>
          <p:cNvPr id="102" name="Text 98"/>
          <p:cNvSpPr txBox="1"/>
          <p:nvPr/>
        </p:nvSpPr>
        <p:spPr>
          <a:xfrm>
            <a:off x="3794760" y="4809744"/>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10, App. 4</a:t>
            </a:r>
            <a:endParaRPr lang="en-US" sz="950" dirty="0"/>
          </a:p>
        </p:txBody>
      </p:sp>
      <p:sp>
        <p:nvSpPr>
          <p:cNvPr id="103" name="Shape 99"/>
          <p:cNvSpPr/>
          <p:nvPr/>
        </p:nvSpPr>
        <p:spPr>
          <a:xfrm>
            <a:off x="5349240" y="4809744"/>
            <a:ext cx="777240" cy="475488"/>
          </a:xfrm>
          <a:prstGeom prst="rect">
            <a:avLst/>
          </a:prstGeom>
          <a:solidFill>
            <a:srgbClr val="1F4A82"/>
          </a:solidFill>
          <a:ln/>
        </p:spPr>
      </p:sp>
      <p:sp>
        <p:nvSpPr>
          <p:cNvPr id="104" name="Text 100"/>
          <p:cNvSpPr txBox="1"/>
          <p:nvPr/>
        </p:nvSpPr>
        <p:spPr>
          <a:xfrm>
            <a:off x="5394960" y="4809744"/>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p>
        </p:txBody>
      </p:sp>
      <p:sp>
        <p:nvSpPr>
          <p:cNvPr id="105" name="Shape 101"/>
          <p:cNvSpPr/>
          <p:nvPr/>
        </p:nvSpPr>
        <p:spPr>
          <a:xfrm>
            <a:off x="411480" y="5285232"/>
            <a:ext cx="5715000" cy="0"/>
          </a:xfrm>
          <a:prstGeom prst="line">
            <a:avLst/>
          </a:prstGeom>
          <a:noFill/>
          <a:ln w="6350">
            <a:solidFill>
              <a:srgbClr val="E3E8E4"/>
            </a:solidFill>
            <a:prstDash val="solid"/>
          </a:ln>
        </p:spPr>
      </p:sp>
      <p:sp>
        <p:nvSpPr>
          <p:cNvPr id="106" name="Shape 102"/>
          <p:cNvSpPr/>
          <p:nvPr/>
        </p:nvSpPr>
        <p:spPr>
          <a:xfrm>
            <a:off x="6355080" y="1188720"/>
            <a:ext cx="411480" cy="292608"/>
          </a:xfrm>
          <a:prstGeom prst="rect">
            <a:avLst/>
          </a:prstGeom>
          <a:solidFill>
            <a:srgbClr val="1F4A82"/>
          </a:solidFill>
          <a:ln/>
        </p:spPr>
      </p:sp>
      <p:sp>
        <p:nvSpPr>
          <p:cNvPr id="107" name="Text 103"/>
          <p:cNvSpPr txBox="1"/>
          <p:nvPr/>
        </p:nvSpPr>
        <p:spPr>
          <a:xfrm>
            <a:off x="6400800" y="1188720"/>
            <a:ext cx="32004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p>
        </p:txBody>
      </p:sp>
      <p:sp>
        <p:nvSpPr>
          <p:cNvPr id="108" name="Shape 104"/>
          <p:cNvSpPr/>
          <p:nvPr/>
        </p:nvSpPr>
        <p:spPr>
          <a:xfrm>
            <a:off x="6766560" y="1188720"/>
            <a:ext cx="2743200" cy="292608"/>
          </a:xfrm>
          <a:prstGeom prst="rect">
            <a:avLst/>
          </a:prstGeom>
          <a:solidFill>
            <a:srgbClr val="1F4A82"/>
          </a:solidFill>
          <a:ln/>
        </p:spPr>
      </p:sp>
      <p:sp>
        <p:nvSpPr>
          <p:cNvPr id="109" name="Text 105"/>
          <p:cNvSpPr txBox="1"/>
          <p:nvPr/>
        </p:nvSpPr>
        <p:spPr>
          <a:xfrm>
            <a:off x="6812280" y="1188720"/>
            <a:ext cx="265176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Market (30 %) and deliverables</a:t>
            </a:r>
            <a:endParaRPr lang="en-US" sz="950" dirty="0"/>
          </a:p>
        </p:txBody>
      </p:sp>
      <p:sp>
        <p:nvSpPr>
          <p:cNvPr id="110" name="Shape 106"/>
          <p:cNvSpPr/>
          <p:nvPr/>
        </p:nvSpPr>
        <p:spPr>
          <a:xfrm>
            <a:off x="9509760" y="1188720"/>
            <a:ext cx="1691640" cy="292608"/>
          </a:xfrm>
          <a:prstGeom prst="rect">
            <a:avLst/>
          </a:prstGeom>
          <a:solidFill>
            <a:srgbClr val="1F4A82"/>
          </a:solidFill>
          <a:ln/>
        </p:spPr>
      </p:sp>
      <p:sp>
        <p:nvSpPr>
          <p:cNvPr id="111" name="Text 107"/>
          <p:cNvSpPr txBox="1"/>
          <p:nvPr/>
        </p:nvSpPr>
        <p:spPr>
          <a:xfrm>
            <a:off x="9555480" y="1188720"/>
            <a:ext cx="160020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Where</a:t>
            </a:r>
            <a:endParaRPr lang="en-US" sz="950" dirty="0"/>
          </a:p>
        </p:txBody>
      </p:sp>
      <p:sp>
        <p:nvSpPr>
          <p:cNvPr id="112" name="Shape 108"/>
          <p:cNvSpPr/>
          <p:nvPr/>
        </p:nvSpPr>
        <p:spPr>
          <a:xfrm>
            <a:off x="11201400" y="1188720"/>
            <a:ext cx="868680" cy="292608"/>
          </a:xfrm>
          <a:prstGeom prst="rect">
            <a:avLst/>
          </a:prstGeom>
          <a:solidFill>
            <a:srgbClr val="1F4A82"/>
          </a:solidFill>
          <a:ln/>
        </p:spPr>
      </p:sp>
      <p:sp>
        <p:nvSpPr>
          <p:cNvPr id="113" name="Text 109"/>
          <p:cNvSpPr txBox="1"/>
          <p:nvPr/>
        </p:nvSpPr>
        <p:spPr>
          <a:xfrm>
            <a:off x="11247120" y="1188720"/>
            <a:ext cx="7772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p>
        </p:txBody>
      </p:sp>
      <p:sp>
        <p:nvSpPr>
          <p:cNvPr id="114" name="Shape 110"/>
          <p:cNvSpPr/>
          <p:nvPr/>
        </p:nvSpPr>
        <p:spPr>
          <a:xfrm>
            <a:off x="6355080" y="1481328"/>
            <a:ext cx="411480" cy="475488"/>
          </a:xfrm>
          <a:prstGeom prst="rect">
            <a:avLst/>
          </a:prstGeom>
          <a:solidFill>
            <a:srgbClr val="F1F7F3"/>
          </a:solidFill>
          <a:ln/>
        </p:spPr>
      </p:sp>
      <p:sp>
        <p:nvSpPr>
          <p:cNvPr id="115" name="Text 111"/>
          <p:cNvSpPr txBox="1"/>
          <p:nvPr/>
        </p:nvSpPr>
        <p:spPr>
          <a:xfrm>
            <a:off x="6400800" y="1481328"/>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B1</a:t>
            </a:r>
            <a:endParaRPr lang="en-US" sz="950" dirty="0"/>
          </a:p>
        </p:txBody>
      </p:sp>
      <p:sp>
        <p:nvSpPr>
          <p:cNvPr id="116" name="Shape 112"/>
          <p:cNvSpPr/>
          <p:nvPr/>
        </p:nvSpPr>
        <p:spPr>
          <a:xfrm>
            <a:off x="6766560" y="1481328"/>
            <a:ext cx="2743200" cy="475488"/>
          </a:xfrm>
          <a:prstGeom prst="rect">
            <a:avLst/>
          </a:prstGeom>
          <a:solidFill>
            <a:srgbClr val="F1F7F3"/>
          </a:solidFill>
          <a:ln/>
        </p:spPr>
      </p:sp>
      <p:sp>
        <p:nvSpPr>
          <p:cNvPr id="117" name="Text 113"/>
          <p:cNvSpPr txBox="1"/>
          <p:nvPr/>
        </p:nvSpPr>
        <p:spPr>
          <a:xfrm>
            <a:off x="6812280" y="1481328"/>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Buyer and measurable return</a:t>
            </a:r>
            <a:endParaRPr lang="en-US" sz="950" dirty="0"/>
          </a:p>
        </p:txBody>
      </p:sp>
      <p:sp>
        <p:nvSpPr>
          <p:cNvPr id="118" name="Shape 114"/>
          <p:cNvSpPr/>
          <p:nvPr/>
        </p:nvSpPr>
        <p:spPr>
          <a:xfrm>
            <a:off x="9509760" y="1481328"/>
            <a:ext cx="1691640" cy="475488"/>
          </a:xfrm>
          <a:prstGeom prst="rect">
            <a:avLst/>
          </a:prstGeom>
          <a:solidFill>
            <a:srgbClr val="F1F7F3"/>
          </a:solidFill>
          <a:ln/>
        </p:spPr>
      </p:sp>
      <p:sp>
        <p:nvSpPr>
          <p:cNvPr id="119" name="Text 115"/>
          <p:cNvSpPr txBox="1"/>
          <p:nvPr/>
        </p:nvSpPr>
        <p:spPr>
          <a:xfrm>
            <a:off x="9555480" y="1481328"/>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11, App. 1</a:t>
            </a:r>
            <a:endParaRPr lang="en-US" sz="950" dirty="0"/>
          </a:p>
        </p:txBody>
      </p:sp>
      <p:sp>
        <p:nvSpPr>
          <p:cNvPr id="120" name="Shape 116"/>
          <p:cNvSpPr/>
          <p:nvPr/>
        </p:nvSpPr>
        <p:spPr>
          <a:xfrm>
            <a:off x="11201400" y="1481328"/>
            <a:ext cx="868680" cy="475488"/>
          </a:xfrm>
          <a:prstGeom prst="rect">
            <a:avLst/>
          </a:prstGeom>
          <a:solidFill>
            <a:srgbClr val="B5832A"/>
          </a:solidFill>
          <a:ln/>
        </p:spPr>
      </p:sp>
      <p:sp>
        <p:nvSpPr>
          <p:cNvPr id="121" name="Text 117"/>
          <p:cNvSpPr txBox="1"/>
          <p:nvPr/>
        </p:nvSpPr>
        <p:spPr>
          <a:xfrm>
            <a:off x="11247120" y="1481328"/>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122" name="Shape 118"/>
          <p:cNvSpPr/>
          <p:nvPr/>
        </p:nvSpPr>
        <p:spPr>
          <a:xfrm>
            <a:off x="6355080" y="1956816"/>
            <a:ext cx="5715000" cy="0"/>
          </a:xfrm>
          <a:prstGeom prst="line">
            <a:avLst/>
          </a:prstGeom>
          <a:noFill/>
          <a:ln w="6350">
            <a:solidFill>
              <a:srgbClr val="E3E8E4"/>
            </a:solidFill>
            <a:prstDash val="solid"/>
          </a:ln>
        </p:spPr>
      </p:sp>
      <p:sp>
        <p:nvSpPr>
          <p:cNvPr id="123" name="Shape 119"/>
          <p:cNvSpPr/>
          <p:nvPr/>
        </p:nvSpPr>
        <p:spPr>
          <a:xfrm>
            <a:off x="6355080" y="1956816"/>
            <a:ext cx="411480" cy="475488"/>
          </a:xfrm>
          <a:prstGeom prst="rect">
            <a:avLst/>
          </a:prstGeom>
          <a:solidFill>
            <a:srgbClr val="FFFFFF"/>
          </a:solidFill>
          <a:ln/>
        </p:spPr>
      </p:sp>
      <p:sp>
        <p:nvSpPr>
          <p:cNvPr id="124" name="Text 120"/>
          <p:cNvSpPr txBox="1"/>
          <p:nvPr/>
        </p:nvSpPr>
        <p:spPr>
          <a:xfrm>
            <a:off x="6400800" y="1956816"/>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B2</a:t>
            </a:r>
            <a:endParaRPr lang="en-US" sz="950" dirty="0"/>
          </a:p>
        </p:txBody>
      </p:sp>
      <p:sp>
        <p:nvSpPr>
          <p:cNvPr id="125" name="Shape 121"/>
          <p:cNvSpPr/>
          <p:nvPr/>
        </p:nvSpPr>
        <p:spPr>
          <a:xfrm>
            <a:off x="6766560" y="1956816"/>
            <a:ext cx="2743200" cy="475488"/>
          </a:xfrm>
          <a:prstGeom prst="rect">
            <a:avLst/>
          </a:prstGeom>
          <a:solidFill>
            <a:srgbClr val="FFFFFF"/>
          </a:solidFill>
          <a:ln/>
        </p:spPr>
      </p:sp>
      <p:sp>
        <p:nvSpPr>
          <p:cNvPr id="126" name="Text 122"/>
          <p:cNvSpPr txBox="1"/>
          <p:nvPr/>
        </p:nvSpPr>
        <p:spPr>
          <a:xfrm>
            <a:off x="6812280" y="1956816"/>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Pricing, CAC, payback, churn, LTV</a:t>
            </a:r>
            <a:endParaRPr lang="en-US" sz="950" dirty="0"/>
          </a:p>
        </p:txBody>
      </p:sp>
      <p:sp>
        <p:nvSpPr>
          <p:cNvPr id="127" name="Shape 123"/>
          <p:cNvSpPr/>
          <p:nvPr/>
        </p:nvSpPr>
        <p:spPr>
          <a:xfrm>
            <a:off x="9509760" y="1956816"/>
            <a:ext cx="1691640" cy="475488"/>
          </a:xfrm>
          <a:prstGeom prst="rect">
            <a:avLst/>
          </a:prstGeom>
          <a:solidFill>
            <a:srgbClr val="FFFFFF"/>
          </a:solidFill>
          <a:ln/>
        </p:spPr>
      </p:sp>
      <p:sp>
        <p:nvSpPr>
          <p:cNvPr id="128" name="Text 124"/>
          <p:cNvSpPr txBox="1"/>
          <p:nvPr/>
        </p:nvSpPr>
        <p:spPr>
          <a:xfrm>
            <a:off x="9555480" y="1956816"/>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11, App. 1–2</a:t>
            </a:r>
            <a:endParaRPr lang="en-US" sz="950" dirty="0"/>
          </a:p>
        </p:txBody>
      </p:sp>
      <p:sp>
        <p:nvSpPr>
          <p:cNvPr id="129" name="Shape 125"/>
          <p:cNvSpPr/>
          <p:nvPr/>
        </p:nvSpPr>
        <p:spPr>
          <a:xfrm>
            <a:off x="11201400" y="1956816"/>
            <a:ext cx="868680" cy="475488"/>
          </a:xfrm>
          <a:prstGeom prst="rect">
            <a:avLst/>
          </a:prstGeom>
          <a:solidFill>
            <a:srgbClr val="B5832A"/>
          </a:solidFill>
          <a:ln/>
        </p:spPr>
      </p:sp>
      <p:sp>
        <p:nvSpPr>
          <p:cNvPr id="130" name="Text 126"/>
          <p:cNvSpPr txBox="1"/>
          <p:nvPr/>
        </p:nvSpPr>
        <p:spPr>
          <a:xfrm>
            <a:off x="11247120" y="1956816"/>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131" name="Shape 127"/>
          <p:cNvSpPr/>
          <p:nvPr/>
        </p:nvSpPr>
        <p:spPr>
          <a:xfrm>
            <a:off x="6355080" y="2432304"/>
            <a:ext cx="5715000" cy="0"/>
          </a:xfrm>
          <a:prstGeom prst="line">
            <a:avLst/>
          </a:prstGeom>
          <a:noFill/>
          <a:ln w="6350">
            <a:solidFill>
              <a:srgbClr val="E3E8E4"/>
            </a:solidFill>
            <a:prstDash val="solid"/>
          </a:ln>
        </p:spPr>
      </p:sp>
      <p:sp>
        <p:nvSpPr>
          <p:cNvPr id="132" name="Shape 128"/>
          <p:cNvSpPr/>
          <p:nvPr/>
        </p:nvSpPr>
        <p:spPr>
          <a:xfrm>
            <a:off x="6355080" y="2432304"/>
            <a:ext cx="411480" cy="475488"/>
          </a:xfrm>
          <a:prstGeom prst="rect">
            <a:avLst/>
          </a:prstGeom>
          <a:solidFill>
            <a:srgbClr val="F1F7F3"/>
          </a:solidFill>
          <a:ln/>
        </p:spPr>
      </p:sp>
      <p:sp>
        <p:nvSpPr>
          <p:cNvPr id="133" name="Text 129"/>
          <p:cNvSpPr txBox="1"/>
          <p:nvPr/>
        </p:nvSpPr>
        <p:spPr>
          <a:xfrm>
            <a:off x="6400800" y="2432304"/>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B3</a:t>
            </a:r>
            <a:endParaRPr lang="en-US" sz="950" dirty="0"/>
          </a:p>
        </p:txBody>
      </p:sp>
      <p:sp>
        <p:nvSpPr>
          <p:cNvPr id="134" name="Shape 130"/>
          <p:cNvSpPr/>
          <p:nvPr/>
        </p:nvSpPr>
        <p:spPr>
          <a:xfrm>
            <a:off x="6766560" y="2432304"/>
            <a:ext cx="2743200" cy="475488"/>
          </a:xfrm>
          <a:prstGeom prst="rect">
            <a:avLst/>
          </a:prstGeom>
          <a:solidFill>
            <a:srgbClr val="F1F7F3"/>
          </a:solidFill>
          <a:ln/>
        </p:spPr>
      </p:sp>
      <p:sp>
        <p:nvSpPr>
          <p:cNvPr id="135" name="Text 131"/>
          <p:cNvSpPr txBox="1"/>
          <p:nvPr/>
        </p:nvSpPr>
        <p:spPr>
          <a:xfrm>
            <a:off x="6812280" y="2432304"/>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Cities, sizes, channels</a:t>
            </a:r>
            <a:endParaRPr lang="en-US" sz="950" dirty="0"/>
          </a:p>
        </p:txBody>
      </p:sp>
      <p:sp>
        <p:nvSpPr>
          <p:cNvPr id="136" name="Shape 132"/>
          <p:cNvSpPr/>
          <p:nvPr/>
        </p:nvSpPr>
        <p:spPr>
          <a:xfrm>
            <a:off x="9509760" y="2432304"/>
            <a:ext cx="1691640" cy="475488"/>
          </a:xfrm>
          <a:prstGeom prst="rect">
            <a:avLst/>
          </a:prstGeom>
          <a:solidFill>
            <a:srgbClr val="F1F7F3"/>
          </a:solidFill>
          <a:ln/>
        </p:spPr>
      </p:sp>
      <p:sp>
        <p:nvSpPr>
          <p:cNvPr id="137" name="Text 133"/>
          <p:cNvSpPr txBox="1"/>
          <p:nvPr/>
        </p:nvSpPr>
        <p:spPr>
          <a:xfrm>
            <a:off x="9555480" y="2432304"/>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12</a:t>
            </a:r>
            <a:endParaRPr lang="en-US" sz="950" dirty="0"/>
          </a:p>
        </p:txBody>
      </p:sp>
      <p:sp>
        <p:nvSpPr>
          <p:cNvPr id="138" name="Shape 134"/>
          <p:cNvSpPr/>
          <p:nvPr/>
        </p:nvSpPr>
        <p:spPr>
          <a:xfrm>
            <a:off x="11201400" y="2432304"/>
            <a:ext cx="868680" cy="475488"/>
          </a:xfrm>
          <a:prstGeom prst="rect">
            <a:avLst/>
          </a:prstGeom>
          <a:solidFill>
            <a:srgbClr val="B5832A"/>
          </a:solidFill>
          <a:ln/>
        </p:spPr>
      </p:sp>
      <p:sp>
        <p:nvSpPr>
          <p:cNvPr id="139" name="Text 135"/>
          <p:cNvSpPr txBox="1"/>
          <p:nvPr/>
        </p:nvSpPr>
        <p:spPr>
          <a:xfrm>
            <a:off x="11247120" y="2432304"/>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140" name="Shape 136"/>
          <p:cNvSpPr/>
          <p:nvPr/>
        </p:nvSpPr>
        <p:spPr>
          <a:xfrm>
            <a:off x="6355080" y="2907792"/>
            <a:ext cx="5715000" cy="0"/>
          </a:xfrm>
          <a:prstGeom prst="line">
            <a:avLst/>
          </a:prstGeom>
          <a:noFill/>
          <a:ln w="6350">
            <a:solidFill>
              <a:srgbClr val="E3E8E4"/>
            </a:solidFill>
            <a:prstDash val="solid"/>
          </a:ln>
        </p:spPr>
      </p:sp>
      <p:sp>
        <p:nvSpPr>
          <p:cNvPr id="141" name="Shape 137"/>
          <p:cNvSpPr/>
          <p:nvPr/>
        </p:nvSpPr>
        <p:spPr>
          <a:xfrm>
            <a:off x="6355080" y="2907792"/>
            <a:ext cx="411480" cy="475488"/>
          </a:xfrm>
          <a:prstGeom prst="rect">
            <a:avLst/>
          </a:prstGeom>
          <a:solidFill>
            <a:srgbClr val="FFFFFF"/>
          </a:solidFill>
          <a:ln/>
        </p:spPr>
      </p:sp>
      <p:sp>
        <p:nvSpPr>
          <p:cNvPr id="142" name="Text 138"/>
          <p:cNvSpPr txBox="1"/>
          <p:nvPr/>
        </p:nvSpPr>
        <p:spPr>
          <a:xfrm>
            <a:off x="6400800" y="2907792"/>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B4</a:t>
            </a:r>
            <a:endParaRPr lang="en-US" sz="950" dirty="0"/>
          </a:p>
        </p:txBody>
      </p:sp>
      <p:sp>
        <p:nvSpPr>
          <p:cNvPr id="143" name="Shape 139"/>
          <p:cNvSpPr/>
          <p:nvPr/>
        </p:nvSpPr>
        <p:spPr>
          <a:xfrm>
            <a:off x="6766560" y="2907792"/>
            <a:ext cx="2743200" cy="475488"/>
          </a:xfrm>
          <a:prstGeom prst="rect">
            <a:avLst/>
          </a:prstGeom>
          <a:solidFill>
            <a:srgbClr val="FFFFFF"/>
          </a:solidFill>
          <a:ln/>
        </p:spPr>
      </p:sp>
      <p:sp>
        <p:nvSpPr>
          <p:cNvPr id="144" name="Text 140"/>
          <p:cNvSpPr txBox="1"/>
          <p:nvPr/>
        </p:nvSpPr>
        <p:spPr>
          <a:xfrm>
            <a:off x="6812280" y="2907792"/>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Competition and a growing moat</a:t>
            </a:r>
            <a:endParaRPr lang="en-US" sz="950" dirty="0"/>
          </a:p>
        </p:txBody>
      </p:sp>
      <p:sp>
        <p:nvSpPr>
          <p:cNvPr id="145" name="Shape 141"/>
          <p:cNvSpPr/>
          <p:nvPr/>
        </p:nvSpPr>
        <p:spPr>
          <a:xfrm>
            <a:off x="9509760" y="2907792"/>
            <a:ext cx="1691640" cy="475488"/>
          </a:xfrm>
          <a:prstGeom prst="rect">
            <a:avLst/>
          </a:prstGeom>
          <a:solidFill>
            <a:srgbClr val="FFFFFF"/>
          </a:solidFill>
          <a:ln/>
        </p:spPr>
      </p:sp>
      <p:sp>
        <p:nvSpPr>
          <p:cNvPr id="146" name="Text 142"/>
          <p:cNvSpPr txBox="1"/>
          <p:nvPr/>
        </p:nvSpPr>
        <p:spPr>
          <a:xfrm>
            <a:off x="9555480" y="2907792"/>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12</a:t>
            </a:r>
            <a:endParaRPr lang="en-US" sz="950" dirty="0"/>
          </a:p>
        </p:txBody>
      </p:sp>
      <p:sp>
        <p:nvSpPr>
          <p:cNvPr id="147" name="Shape 143"/>
          <p:cNvSpPr/>
          <p:nvPr/>
        </p:nvSpPr>
        <p:spPr>
          <a:xfrm>
            <a:off x="11201400" y="2907792"/>
            <a:ext cx="868680" cy="475488"/>
          </a:xfrm>
          <a:prstGeom prst="rect">
            <a:avLst/>
          </a:prstGeom>
          <a:solidFill>
            <a:srgbClr val="2E6DB4"/>
          </a:solidFill>
          <a:ln/>
        </p:spPr>
      </p:sp>
      <p:sp>
        <p:nvSpPr>
          <p:cNvPr id="148" name="Text 144"/>
          <p:cNvSpPr txBox="1"/>
          <p:nvPr/>
        </p:nvSpPr>
        <p:spPr>
          <a:xfrm>
            <a:off x="11247120" y="2907792"/>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Designed</a:t>
            </a:r>
            <a:endParaRPr lang="en-US" sz="950" dirty="0"/>
          </a:p>
        </p:txBody>
      </p:sp>
      <p:sp>
        <p:nvSpPr>
          <p:cNvPr id="149" name="Shape 145"/>
          <p:cNvSpPr/>
          <p:nvPr/>
        </p:nvSpPr>
        <p:spPr>
          <a:xfrm>
            <a:off x="6355080" y="3383280"/>
            <a:ext cx="5715000" cy="0"/>
          </a:xfrm>
          <a:prstGeom prst="line">
            <a:avLst/>
          </a:prstGeom>
          <a:noFill/>
          <a:ln w="6350">
            <a:solidFill>
              <a:srgbClr val="E3E8E4"/>
            </a:solidFill>
            <a:prstDash val="solid"/>
          </a:ln>
        </p:spPr>
      </p:sp>
      <p:sp>
        <p:nvSpPr>
          <p:cNvPr id="150" name="Shape 146"/>
          <p:cNvSpPr/>
          <p:nvPr/>
        </p:nvSpPr>
        <p:spPr>
          <a:xfrm>
            <a:off x="6355080" y="3383280"/>
            <a:ext cx="411480" cy="475488"/>
          </a:xfrm>
          <a:prstGeom prst="rect">
            <a:avLst/>
          </a:prstGeom>
          <a:solidFill>
            <a:srgbClr val="F1F7F3"/>
          </a:solidFill>
          <a:ln/>
        </p:spPr>
      </p:sp>
      <p:sp>
        <p:nvSpPr>
          <p:cNvPr id="151" name="Text 147"/>
          <p:cNvSpPr txBox="1"/>
          <p:nvPr/>
        </p:nvSpPr>
        <p:spPr>
          <a:xfrm>
            <a:off x="6400800" y="3383280"/>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R1</a:t>
            </a:r>
            <a:endParaRPr lang="en-US" sz="950" dirty="0"/>
          </a:p>
        </p:txBody>
      </p:sp>
      <p:sp>
        <p:nvSpPr>
          <p:cNvPr id="152" name="Shape 148"/>
          <p:cNvSpPr/>
          <p:nvPr/>
        </p:nvSpPr>
        <p:spPr>
          <a:xfrm>
            <a:off x="6766560" y="3383280"/>
            <a:ext cx="2743200" cy="475488"/>
          </a:xfrm>
          <a:prstGeom prst="rect">
            <a:avLst/>
          </a:prstGeom>
          <a:solidFill>
            <a:srgbClr val="F1F7F3"/>
          </a:solidFill>
          <a:ln/>
        </p:spPr>
      </p:sp>
      <p:sp>
        <p:nvSpPr>
          <p:cNvPr id="153" name="Text 149"/>
          <p:cNvSpPr txBox="1"/>
          <p:nvPr/>
        </p:nvSpPr>
        <p:spPr>
          <a:xfrm>
            <a:off x="6812280" y="3383280"/>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Financial model with sensitivity</a:t>
            </a:r>
            <a:endParaRPr lang="en-US" sz="950" dirty="0"/>
          </a:p>
        </p:txBody>
      </p:sp>
      <p:sp>
        <p:nvSpPr>
          <p:cNvPr id="154" name="Shape 150"/>
          <p:cNvSpPr/>
          <p:nvPr/>
        </p:nvSpPr>
        <p:spPr>
          <a:xfrm>
            <a:off x="9509760" y="3383280"/>
            <a:ext cx="1691640" cy="475488"/>
          </a:xfrm>
          <a:prstGeom prst="rect">
            <a:avLst/>
          </a:prstGeom>
          <a:solidFill>
            <a:srgbClr val="F1F7F3"/>
          </a:solidFill>
          <a:ln/>
        </p:spPr>
      </p:sp>
      <p:sp>
        <p:nvSpPr>
          <p:cNvPr id="155" name="Text 151"/>
          <p:cNvSpPr txBox="1"/>
          <p:nvPr/>
        </p:nvSpPr>
        <p:spPr>
          <a:xfrm>
            <a:off x="9555480" y="3383280"/>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App. 1–2</a:t>
            </a:r>
            <a:endParaRPr lang="en-US" sz="950" dirty="0"/>
          </a:p>
        </p:txBody>
      </p:sp>
      <p:sp>
        <p:nvSpPr>
          <p:cNvPr id="156" name="Shape 152"/>
          <p:cNvSpPr/>
          <p:nvPr/>
        </p:nvSpPr>
        <p:spPr>
          <a:xfrm>
            <a:off x="11201400" y="3383280"/>
            <a:ext cx="868680" cy="475488"/>
          </a:xfrm>
          <a:prstGeom prst="rect">
            <a:avLst/>
          </a:prstGeom>
          <a:solidFill>
            <a:srgbClr val="B5832A"/>
          </a:solidFill>
          <a:ln/>
        </p:spPr>
      </p:sp>
      <p:sp>
        <p:nvSpPr>
          <p:cNvPr id="157" name="Text 153"/>
          <p:cNvSpPr txBox="1"/>
          <p:nvPr/>
        </p:nvSpPr>
        <p:spPr>
          <a:xfrm>
            <a:off x="11247120" y="3383280"/>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158" name="Shape 154"/>
          <p:cNvSpPr/>
          <p:nvPr/>
        </p:nvSpPr>
        <p:spPr>
          <a:xfrm>
            <a:off x="6355080" y="3858768"/>
            <a:ext cx="5715000" cy="0"/>
          </a:xfrm>
          <a:prstGeom prst="line">
            <a:avLst/>
          </a:prstGeom>
          <a:noFill/>
          <a:ln w="6350">
            <a:solidFill>
              <a:srgbClr val="E3E8E4"/>
            </a:solidFill>
            <a:prstDash val="solid"/>
          </a:ln>
        </p:spPr>
      </p:sp>
      <p:sp>
        <p:nvSpPr>
          <p:cNvPr id="159" name="Shape 155"/>
          <p:cNvSpPr/>
          <p:nvPr/>
        </p:nvSpPr>
        <p:spPr>
          <a:xfrm>
            <a:off x="6355080" y="3858768"/>
            <a:ext cx="411480" cy="475488"/>
          </a:xfrm>
          <a:prstGeom prst="rect">
            <a:avLst/>
          </a:prstGeom>
          <a:solidFill>
            <a:srgbClr val="FFFFFF"/>
          </a:solidFill>
          <a:ln/>
        </p:spPr>
      </p:sp>
      <p:sp>
        <p:nvSpPr>
          <p:cNvPr id="160" name="Text 156"/>
          <p:cNvSpPr txBox="1"/>
          <p:nvPr/>
        </p:nvSpPr>
        <p:spPr>
          <a:xfrm>
            <a:off x="6400800" y="3858768"/>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R2</a:t>
            </a:r>
            <a:endParaRPr lang="en-US" sz="950" dirty="0"/>
          </a:p>
        </p:txBody>
      </p:sp>
      <p:sp>
        <p:nvSpPr>
          <p:cNvPr id="161" name="Shape 157"/>
          <p:cNvSpPr/>
          <p:nvPr/>
        </p:nvSpPr>
        <p:spPr>
          <a:xfrm>
            <a:off x="6766560" y="3858768"/>
            <a:ext cx="2743200" cy="475488"/>
          </a:xfrm>
          <a:prstGeom prst="rect">
            <a:avLst/>
          </a:prstGeom>
          <a:solidFill>
            <a:srgbClr val="FFFFFF"/>
          </a:solidFill>
          <a:ln/>
        </p:spPr>
      </p:sp>
      <p:sp>
        <p:nvSpPr>
          <p:cNvPr id="162" name="Text 158"/>
          <p:cNvSpPr txBox="1"/>
          <p:nvPr/>
        </p:nvSpPr>
        <p:spPr>
          <a:xfrm>
            <a:off x="6812280" y="3858768"/>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Limits: what we did not prove</a:t>
            </a:r>
            <a:endParaRPr lang="en-US" sz="950" dirty="0"/>
          </a:p>
        </p:txBody>
      </p:sp>
      <p:sp>
        <p:nvSpPr>
          <p:cNvPr id="163" name="Shape 159"/>
          <p:cNvSpPr/>
          <p:nvPr/>
        </p:nvSpPr>
        <p:spPr>
          <a:xfrm>
            <a:off x="9509760" y="3858768"/>
            <a:ext cx="1691640" cy="475488"/>
          </a:xfrm>
          <a:prstGeom prst="rect">
            <a:avLst/>
          </a:prstGeom>
          <a:solidFill>
            <a:srgbClr val="FFFFFF"/>
          </a:solidFill>
          <a:ln/>
        </p:spPr>
      </p:sp>
      <p:sp>
        <p:nvSpPr>
          <p:cNvPr id="164" name="Text 160"/>
          <p:cNvSpPr txBox="1"/>
          <p:nvPr/>
        </p:nvSpPr>
        <p:spPr>
          <a:xfrm>
            <a:off x="9555480" y="3858768"/>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13, App. 5</a:t>
            </a:r>
            <a:endParaRPr lang="en-US" sz="950" dirty="0"/>
          </a:p>
        </p:txBody>
      </p:sp>
      <p:sp>
        <p:nvSpPr>
          <p:cNvPr id="165" name="Shape 161"/>
          <p:cNvSpPr/>
          <p:nvPr/>
        </p:nvSpPr>
        <p:spPr>
          <a:xfrm>
            <a:off x="11201400" y="3858768"/>
            <a:ext cx="868680" cy="475488"/>
          </a:xfrm>
          <a:prstGeom prst="rect">
            <a:avLst/>
          </a:prstGeom>
          <a:solidFill>
            <a:srgbClr val="1F4A82"/>
          </a:solidFill>
          <a:ln/>
        </p:spPr>
      </p:sp>
      <p:sp>
        <p:nvSpPr>
          <p:cNvPr id="166" name="Text 162"/>
          <p:cNvSpPr txBox="1"/>
          <p:nvPr/>
        </p:nvSpPr>
        <p:spPr>
          <a:xfrm>
            <a:off x="11247120" y="3858768"/>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Measured</a:t>
            </a:r>
            <a:endParaRPr lang="en-US" sz="950" dirty="0"/>
          </a:p>
        </p:txBody>
      </p:sp>
      <p:sp>
        <p:nvSpPr>
          <p:cNvPr id="167" name="Shape 163"/>
          <p:cNvSpPr/>
          <p:nvPr/>
        </p:nvSpPr>
        <p:spPr>
          <a:xfrm>
            <a:off x="6355080" y="4334256"/>
            <a:ext cx="5715000" cy="0"/>
          </a:xfrm>
          <a:prstGeom prst="line">
            <a:avLst/>
          </a:prstGeom>
          <a:noFill/>
          <a:ln w="6350">
            <a:solidFill>
              <a:srgbClr val="E3E8E4"/>
            </a:solidFill>
            <a:prstDash val="solid"/>
          </a:ln>
        </p:spPr>
      </p:sp>
      <p:sp>
        <p:nvSpPr>
          <p:cNvPr id="168" name="Shape 164"/>
          <p:cNvSpPr/>
          <p:nvPr/>
        </p:nvSpPr>
        <p:spPr>
          <a:xfrm>
            <a:off x="6355080" y="4343400"/>
            <a:ext cx="256032" cy="256032"/>
          </a:xfrm>
          <a:prstGeom prst="rect">
            <a:avLst/>
          </a:prstGeom>
          <a:solidFill>
            <a:srgbClr val="1F4A82"/>
          </a:solidFill>
          <a:ln/>
        </p:spPr>
      </p:sp>
      <p:sp>
        <p:nvSpPr>
          <p:cNvPr id="169" name="Text 165"/>
          <p:cNvSpPr txBox="1"/>
          <p:nvPr/>
        </p:nvSpPr>
        <p:spPr>
          <a:xfrm>
            <a:off x="6355080" y="434340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a:t>
            </a:r>
            <a:endParaRPr lang="en-US" sz="1150" dirty="0"/>
          </a:p>
        </p:txBody>
      </p:sp>
      <p:sp>
        <p:nvSpPr>
          <p:cNvPr id="170" name="Text 166"/>
          <p:cNvSpPr txBox="1"/>
          <p:nvPr/>
        </p:nvSpPr>
        <p:spPr>
          <a:xfrm>
            <a:off x="6684264" y="4343400"/>
            <a:ext cx="506577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HOW TO READ THE EVIDENCE COLUMN</a:t>
            </a:r>
            <a:endParaRPr lang="en-US" sz="1200" dirty="0"/>
          </a:p>
        </p:txBody>
      </p:sp>
      <p:sp>
        <p:nvSpPr>
          <p:cNvPr id="171" name="Text 167"/>
          <p:cNvSpPr txBox="1"/>
          <p:nvPr/>
        </p:nvSpPr>
        <p:spPr>
          <a:xfrm>
            <a:off x="6355080" y="4663440"/>
            <a:ext cx="5394960" cy="1097280"/>
          </a:xfrm>
          <a:prstGeom prst="rect">
            <a:avLst/>
          </a:prstGeom>
          <a:noFill/>
          <a:ln/>
        </p:spPr>
        <p:txBody>
          <a:bodyPr wrap="square" lIns="0" tIns="0" rIns="0" bIns="0" rtlCol="0" anchor="t"/>
          <a:lstStyle/>
          <a:p>
            <a:pPr algn="l" marL="152400" indent="-1524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Measured: our own run on public data or the test suite.</a:t>
            </a:r>
            <a:endParaRPr lang="en-US" sz="1000" dirty="0"/>
          </a:p>
          <a:p>
            <a:pPr algn="l" marL="152400" indent="-1524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Built: working code with tests, on synthetic data.</a:t>
            </a:r>
            <a:endParaRPr lang="en-US" sz="1000" dirty="0"/>
          </a:p>
          <a:p>
            <a:pPr algn="l" marL="152400" indent="-1524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Designed: specified in the contracts, not coded yet.</a:t>
            </a:r>
            <a:endParaRPr lang="en-US" sz="1000" dirty="0"/>
          </a:p>
          <a:p>
            <a:pPr algn="l" marL="152400" indent="-1524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Assumption: a model input with a range, tested in pilots.</a:t>
            </a:r>
            <a:endParaRPr lang="en-US" sz="1000" dirty="0"/>
          </a:p>
        </p:txBody>
      </p:sp>
      <p:sp>
        <p:nvSpPr>
          <p:cNvPr id="172" name="Shape 168"/>
          <p:cNvSpPr/>
          <p:nvPr/>
        </p:nvSpPr>
        <p:spPr>
          <a:xfrm>
            <a:off x="411480" y="5120640"/>
            <a:ext cx="5669280" cy="1143000"/>
          </a:xfrm>
          <a:prstGeom prst="rect">
            <a:avLst/>
          </a:prstGeom>
          <a:solidFill>
            <a:srgbClr val="F4F7FB"/>
          </a:solidFill>
          <a:ln/>
        </p:spPr>
      </p:sp>
      <p:sp>
        <p:nvSpPr>
          <p:cNvPr id="173" name="Text 169"/>
          <p:cNvSpPr txBox="1"/>
          <p:nvPr/>
        </p:nvSpPr>
        <p:spPr>
          <a:xfrm>
            <a:off x="548640" y="5120640"/>
            <a:ext cx="5394960" cy="1143000"/>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Every slide states its limits. </a:t>
            </a:r>
            <a:pPr algn="l" indent="0" marL="0">
              <a:buNone/>
            </a:pPr>
            <a:r>
              <a:rPr lang="en-US" sz="1050" dirty="0">
                <a:solidFill>
                  <a:srgbClr val="1F2937"/>
                </a:solidFill>
                <a:latin typeface="Calibri" pitchFamily="34" charset="0"/>
                <a:ea typeface="Calibri" pitchFamily="34" charset="-122"/>
                <a:cs typeface="Calibri" pitchFamily="34" charset="-120"/>
              </a:rPr>
              <a:t>We show an honest 4 % rather than a hopeful 25 %, and mark a gate pending rather than quote a number we have not measured. The case says teams that state limits score higher.</a:t>
            </a:r>
            <a:endParaRPr lang="en-US" sz="1050" dirty="0"/>
          </a:p>
        </p:txBody>
      </p:sp>
      <p:sp>
        <p:nvSpPr>
          <p:cNvPr id="174" name="Text 170"/>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Participant Guide sections 4, 8 and 10 (questions and rubric). T = technology question, B = business question, R = round-1 deliverable or limit.</a:t>
            </a:r>
            <a:endParaRPr lang="en-US" sz="850" dirty="0"/>
          </a:p>
        </p:txBody>
      </p:sp>
      <p:pic>
        <p:nvPicPr>
          <p:cNvPr id="175"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176"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177"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178"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179"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180"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181"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data-sheet">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8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7: SOURCE REGISTER</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Every external number in the deck, where it came from, and where we used it</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88720"/>
            <a:ext cx="320040" cy="274320"/>
          </a:xfrm>
          <a:prstGeom prst="rect">
            <a:avLst/>
          </a:prstGeom>
          <a:solidFill>
            <a:srgbClr val="1F4A82"/>
          </a:solidFill>
          <a:ln/>
        </p:spPr>
      </p:sp>
      <p:sp>
        <p:nvSpPr>
          <p:cNvPr id="27" name="Text 23"/>
          <p:cNvSpPr txBox="1"/>
          <p:nvPr/>
        </p:nvSpPr>
        <p:spPr>
          <a:xfrm>
            <a:off x="457200" y="1188720"/>
            <a:ext cx="2286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p>
        </p:txBody>
      </p:sp>
      <p:sp>
        <p:nvSpPr>
          <p:cNvPr id="28" name="Shape 24"/>
          <p:cNvSpPr/>
          <p:nvPr/>
        </p:nvSpPr>
        <p:spPr>
          <a:xfrm>
            <a:off x="731520" y="1188720"/>
            <a:ext cx="3749040" cy="274320"/>
          </a:xfrm>
          <a:prstGeom prst="rect">
            <a:avLst/>
          </a:prstGeom>
          <a:solidFill>
            <a:srgbClr val="1F4A82"/>
          </a:solidFill>
          <a:ln/>
        </p:spPr>
      </p:sp>
      <p:sp>
        <p:nvSpPr>
          <p:cNvPr id="29" name="Text 25"/>
          <p:cNvSpPr txBox="1"/>
          <p:nvPr/>
        </p:nvSpPr>
        <p:spPr>
          <a:xfrm>
            <a:off x="777240" y="1188720"/>
            <a:ext cx="36576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Source</a:t>
            </a:r>
            <a:endParaRPr lang="en-US" sz="950" dirty="0"/>
          </a:p>
        </p:txBody>
      </p:sp>
      <p:sp>
        <p:nvSpPr>
          <p:cNvPr id="30" name="Shape 26"/>
          <p:cNvSpPr/>
          <p:nvPr/>
        </p:nvSpPr>
        <p:spPr>
          <a:xfrm>
            <a:off x="4480560" y="1188720"/>
            <a:ext cx="4206240" cy="274320"/>
          </a:xfrm>
          <a:prstGeom prst="rect">
            <a:avLst/>
          </a:prstGeom>
          <a:solidFill>
            <a:srgbClr val="1F4A82"/>
          </a:solidFill>
          <a:ln/>
        </p:spPr>
      </p:sp>
      <p:sp>
        <p:nvSpPr>
          <p:cNvPr id="31" name="Text 27"/>
          <p:cNvSpPr txBox="1"/>
          <p:nvPr/>
        </p:nvSpPr>
        <p:spPr>
          <a:xfrm>
            <a:off x="4526280" y="1188720"/>
            <a:ext cx="41148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Used for</a:t>
            </a:r>
            <a:endParaRPr lang="en-US" sz="950" dirty="0"/>
          </a:p>
        </p:txBody>
      </p:sp>
      <p:sp>
        <p:nvSpPr>
          <p:cNvPr id="32" name="Shape 28"/>
          <p:cNvSpPr/>
          <p:nvPr/>
        </p:nvSpPr>
        <p:spPr>
          <a:xfrm>
            <a:off x="8686800" y="1188720"/>
            <a:ext cx="1828800" cy="274320"/>
          </a:xfrm>
          <a:prstGeom prst="rect">
            <a:avLst/>
          </a:prstGeom>
          <a:solidFill>
            <a:srgbClr val="1F4A82"/>
          </a:solidFill>
          <a:ln/>
        </p:spPr>
      </p:sp>
      <p:sp>
        <p:nvSpPr>
          <p:cNvPr id="33" name="Text 29"/>
          <p:cNvSpPr txBox="1"/>
          <p:nvPr/>
        </p:nvSpPr>
        <p:spPr>
          <a:xfrm>
            <a:off x="8732520" y="1188720"/>
            <a:ext cx="173736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Confidence</a:t>
            </a:r>
            <a:endParaRPr lang="en-US" sz="950" dirty="0"/>
          </a:p>
        </p:txBody>
      </p:sp>
      <p:sp>
        <p:nvSpPr>
          <p:cNvPr id="34" name="Shape 30"/>
          <p:cNvSpPr/>
          <p:nvPr/>
        </p:nvSpPr>
        <p:spPr>
          <a:xfrm>
            <a:off x="10515600" y="1188720"/>
            <a:ext cx="1264615" cy="274320"/>
          </a:xfrm>
          <a:prstGeom prst="rect">
            <a:avLst/>
          </a:prstGeom>
          <a:solidFill>
            <a:srgbClr val="1F4A82"/>
          </a:solidFill>
          <a:ln/>
        </p:spPr>
      </p:sp>
      <p:sp>
        <p:nvSpPr>
          <p:cNvPr id="35" name="Text 31"/>
          <p:cNvSpPr txBox="1"/>
          <p:nvPr/>
        </p:nvSpPr>
        <p:spPr>
          <a:xfrm>
            <a:off x="10561320" y="1188720"/>
            <a:ext cx="1173175"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Slide</a:t>
            </a:r>
            <a:endParaRPr lang="en-US" sz="950" dirty="0"/>
          </a:p>
        </p:txBody>
      </p:sp>
      <p:sp>
        <p:nvSpPr>
          <p:cNvPr id="36" name="Shape 32"/>
          <p:cNvSpPr/>
          <p:nvPr/>
        </p:nvSpPr>
        <p:spPr>
          <a:xfrm>
            <a:off x="411480" y="1463040"/>
            <a:ext cx="320040" cy="347472"/>
          </a:xfrm>
          <a:prstGeom prst="rect">
            <a:avLst/>
          </a:prstGeom>
          <a:solidFill>
            <a:srgbClr val="F1F7F3"/>
          </a:solidFill>
          <a:ln/>
        </p:spPr>
      </p:sp>
      <p:sp>
        <p:nvSpPr>
          <p:cNvPr id="37" name="Text 33"/>
          <p:cNvSpPr txBox="1"/>
          <p:nvPr/>
        </p:nvSpPr>
        <p:spPr>
          <a:xfrm>
            <a:off x="457200" y="1463040"/>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a:t>
            </a:r>
            <a:endParaRPr lang="en-US" sz="950" dirty="0"/>
          </a:p>
        </p:txBody>
      </p:sp>
      <p:sp>
        <p:nvSpPr>
          <p:cNvPr id="38" name="Shape 34"/>
          <p:cNvSpPr/>
          <p:nvPr/>
        </p:nvSpPr>
        <p:spPr>
          <a:xfrm>
            <a:off x="731520" y="1463040"/>
            <a:ext cx="3749040" cy="347472"/>
          </a:xfrm>
          <a:prstGeom prst="rect">
            <a:avLst/>
          </a:prstGeom>
          <a:solidFill>
            <a:srgbClr val="F1F7F3"/>
          </a:solidFill>
          <a:ln/>
        </p:spPr>
      </p:sp>
      <p:sp>
        <p:nvSpPr>
          <p:cNvPr id="39" name="Text 35"/>
          <p:cNvSpPr txBox="1"/>
          <p:nvPr/>
        </p:nvSpPr>
        <p:spPr>
          <a:xfrm>
            <a:off x="777240" y="1463040"/>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NTA NEET UG 2025 result data (via Careers360, ALLEN)</a:t>
            </a:r>
            <a:endParaRPr lang="en-US" sz="950" dirty="0"/>
          </a:p>
        </p:txBody>
      </p:sp>
      <p:sp>
        <p:nvSpPr>
          <p:cNvPr id="40" name="Shape 36"/>
          <p:cNvSpPr/>
          <p:nvPr/>
        </p:nvSpPr>
        <p:spPr>
          <a:xfrm>
            <a:off x="4480560" y="1463040"/>
            <a:ext cx="4206240" cy="347472"/>
          </a:xfrm>
          <a:prstGeom prst="rect">
            <a:avLst/>
          </a:prstGeom>
          <a:solidFill>
            <a:srgbClr val="F1F7F3"/>
          </a:solidFill>
          <a:ln/>
        </p:spPr>
      </p:sp>
      <p:sp>
        <p:nvSpPr>
          <p:cNvPr id="41" name="Text 37"/>
          <p:cNvSpPr txBox="1"/>
          <p:nvPr/>
        </p:nvSpPr>
        <p:spPr>
          <a:xfrm>
            <a:off x="4526280" y="1463040"/>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22.76 lakh registered candidates</a:t>
            </a:r>
            <a:endParaRPr lang="en-US" sz="950" dirty="0"/>
          </a:p>
        </p:txBody>
      </p:sp>
      <p:sp>
        <p:nvSpPr>
          <p:cNvPr id="42" name="Shape 38"/>
          <p:cNvSpPr/>
          <p:nvPr/>
        </p:nvSpPr>
        <p:spPr>
          <a:xfrm>
            <a:off x="8686800" y="1463040"/>
            <a:ext cx="1828800" cy="347472"/>
          </a:xfrm>
          <a:prstGeom prst="rect">
            <a:avLst/>
          </a:prstGeom>
          <a:solidFill>
            <a:srgbClr val="F1F7F3"/>
          </a:solidFill>
          <a:ln/>
        </p:spPr>
      </p:sp>
      <p:sp>
        <p:nvSpPr>
          <p:cNvPr id="43" name="Text 39"/>
          <p:cNvSpPr txBox="1"/>
          <p:nvPr/>
        </p:nvSpPr>
        <p:spPr>
          <a:xfrm>
            <a:off x="8732520" y="1463040"/>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(official)</a:t>
            </a:r>
            <a:endParaRPr lang="en-US" sz="950" dirty="0"/>
          </a:p>
        </p:txBody>
      </p:sp>
      <p:sp>
        <p:nvSpPr>
          <p:cNvPr id="44" name="Shape 40"/>
          <p:cNvSpPr/>
          <p:nvPr/>
        </p:nvSpPr>
        <p:spPr>
          <a:xfrm>
            <a:off x="10515600" y="1463040"/>
            <a:ext cx="1264615" cy="347472"/>
          </a:xfrm>
          <a:prstGeom prst="rect">
            <a:avLst/>
          </a:prstGeom>
          <a:solidFill>
            <a:srgbClr val="F1F7F3"/>
          </a:solidFill>
          <a:ln/>
        </p:spPr>
      </p:sp>
      <p:sp>
        <p:nvSpPr>
          <p:cNvPr id="45" name="Text 41"/>
          <p:cNvSpPr txBox="1"/>
          <p:nvPr/>
        </p:nvSpPr>
        <p:spPr>
          <a:xfrm>
            <a:off x="10561320" y="1463040"/>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a:t>
            </a:r>
            <a:endParaRPr lang="en-US" sz="950" dirty="0"/>
          </a:p>
        </p:txBody>
      </p:sp>
      <p:sp>
        <p:nvSpPr>
          <p:cNvPr id="46" name="Shape 42"/>
          <p:cNvSpPr/>
          <p:nvPr/>
        </p:nvSpPr>
        <p:spPr>
          <a:xfrm>
            <a:off x="411480" y="1810512"/>
            <a:ext cx="11368735" cy="0"/>
          </a:xfrm>
          <a:prstGeom prst="line">
            <a:avLst/>
          </a:prstGeom>
          <a:noFill/>
          <a:ln w="6350">
            <a:solidFill>
              <a:srgbClr val="E3E8E4"/>
            </a:solidFill>
            <a:prstDash val="solid"/>
          </a:ln>
        </p:spPr>
      </p:sp>
      <p:sp>
        <p:nvSpPr>
          <p:cNvPr id="47" name="Shape 43"/>
          <p:cNvSpPr/>
          <p:nvPr/>
        </p:nvSpPr>
        <p:spPr>
          <a:xfrm>
            <a:off x="411480" y="1810512"/>
            <a:ext cx="320040" cy="347472"/>
          </a:xfrm>
          <a:prstGeom prst="rect">
            <a:avLst/>
          </a:prstGeom>
          <a:solidFill>
            <a:srgbClr val="FFFFFF"/>
          </a:solidFill>
          <a:ln/>
        </p:spPr>
      </p:sp>
      <p:sp>
        <p:nvSpPr>
          <p:cNvPr id="48" name="Text 44"/>
          <p:cNvSpPr txBox="1"/>
          <p:nvPr/>
        </p:nvSpPr>
        <p:spPr>
          <a:xfrm>
            <a:off x="457200" y="1810512"/>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2</a:t>
            </a:r>
            <a:endParaRPr lang="en-US" sz="950" dirty="0"/>
          </a:p>
        </p:txBody>
      </p:sp>
      <p:sp>
        <p:nvSpPr>
          <p:cNvPr id="49" name="Shape 45"/>
          <p:cNvSpPr/>
          <p:nvPr/>
        </p:nvSpPr>
        <p:spPr>
          <a:xfrm>
            <a:off x="731520" y="1810512"/>
            <a:ext cx="3749040" cy="347472"/>
          </a:xfrm>
          <a:prstGeom prst="rect">
            <a:avLst/>
          </a:prstGeom>
          <a:solidFill>
            <a:srgbClr val="FFFFFF"/>
          </a:solidFill>
          <a:ln/>
        </p:spPr>
      </p:sp>
      <p:sp>
        <p:nvSpPr>
          <p:cNvPr id="50" name="Text 46"/>
          <p:cNvSpPr txBox="1"/>
          <p:nvPr/>
        </p:nvSpPr>
        <p:spPr>
          <a:xfrm>
            <a:off x="777240" y="1810512"/>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JEE Main 2025 statistics (Vedantu; NTA total not found)</a:t>
            </a:r>
            <a:endParaRPr lang="en-US" sz="950" dirty="0"/>
          </a:p>
        </p:txBody>
      </p:sp>
      <p:sp>
        <p:nvSpPr>
          <p:cNvPr id="51" name="Shape 47"/>
          <p:cNvSpPr/>
          <p:nvPr/>
        </p:nvSpPr>
        <p:spPr>
          <a:xfrm>
            <a:off x="4480560" y="1810512"/>
            <a:ext cx="4206240" cy="347472"/>
          </a:xfrm>
          <a:prstGeom prst="rect">
            <a:avLst/>
          </a:prstGeom>
          <a:solidFill>
            <a:srgbClr val="FFFFFF"/>
          </a:solidFill>
          <a:ln/>
        </p:spPr>
      </p:sp>
      <p:sp>
        <p:nvSpPr>
          <p:cNvPr id="52" name="Text 48"/>
          <p:cNvSpPr txBox="1"/>
          <p:nvPr/>
        </p:nvSpPr>
        <p:spPr>
          <a:xfrm>
            <a:off x="4526280" y="1810512"/>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About 15.4 lakh unique registrations</a:t>
            </a:r>
            <a:endParaRPr lang="en-US" sz="950" dirty="0"/>
          </a:p>
        </p:txBody>
      </p:sp>
      <p:sp>
        <p:nvSpPr>
          <p:cNvPr id="53" name="Shape 49"/>
          <p:cNvSpPr/>
          <p:nvPr/>
        </p:nvSpPr>
        <p:spPr>
          <a:xfrm>
            <a:off x="8686800" y="1810512"/>
            <a:ext cx="1828800" cy="347472"/>
          </a:xfrm>
          <a:prstGeom prst="rect">
            <a:avLst/>
          </a:prstGeom>
          <a:solidFill>
            <a:srgbClr val="FFFFFF"/>
          </a:solidFill>
          <a:ln/>
        </p:spPr>
      </p:sp>
      <p:sp>
        <p:nvSpPr>
          <p:cNvPr id="54" name="Text 50"/>
          <p:cNvSpPr txBox="1"/>
          <p:nvPr/>
        </p:nvSpPr>
        <p:spPr>
          <a:xfrm>
            <a:off x="8732520" y="1810512"/>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 (secondary)</a:t>
            </a:r>
            <a:endParaRPr lang="en-US" sz="950" dirty="0"/>
          </a:p>
        </p:txBody>
      </p:sp>
      <p:sp>
        <p:nvSpPr>
          <p:cNvPr id="55" name="Shape 51"/>
          <p:cNvSpPr/>
          <p:nvPr/>
        </p:nvSpPr>
        <p:spPr>
          <a:xfrm>
            <a:off x="10515600" y="1810512"/>
            <a:ext cx="1264615" cy="347472"/>
          </a:xfrm>
          <a:prstGeom prst="rect">
            <a:avLst/>
          </a:prstGeom>
          <a:solidFill>
            <a:srgbClr val="FFFFFF"/>
          </a:solidFill>
          <a:ln/>
        </p:spPr>
      </p:sp>
      <p:sp>
        <p:nvSpPr>
          <p:cNvPr id="56" name="Text 52"/>
          <p:cNvSpPr txBox="1"/>
          <p:nvPr/>
        </p:nvSpPr>
        <p:spPr>
          <a:xfrm>
            <a:off x="10561320" y="1810512"/>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a:t>
            </a:r>
            <a:endParaRPr lang="en-US" sz="950" dirty="0"/>
          </a:p>
        </p:txBody>
      </p:sp>
      <p:sp>
        <p:nvSpPr>
          <p:cNvPr id="57" name="Shape 53"/>
          <p:cNvSpPr/>
          <p:nvPr/>
        </p:nvSpPr>
        <p:spPr>
          <a:xfrm>
            <a:off x="411480" y="2157984"/>
            <a:ext cx="11368735" cy="0"/>
          </a:xfrm>
          <a:prstGeom prst="line">
            <a:avLst/>
          </a:prstGeom>
          <a:noFill/>
          <a:ln w="6350">
            <a:solidFill>
              <a:srgbClr val="E3E8E4"/>
            </a:solidFill>
            <a:prstDash val="solid"/>
          </a:ln>
        </p:spPr>
      </p:sp>
      <p:sp>
        <p:nvSpPr>
          <p:cNvPr id="58" name="Shape 54"/>
          <p:cNvSpPr/>
          <p:nvPr/>
        </p:nvSpPr>
        <p:spPr>
          <a:xfrm>
            <a:off x="411480" y="2157984"/>
            <a:ext cx="320040" cy="347472"/>
          </a:xfrm>
          <a:prstGeom prst="rect">
            <a:avLst/>
          </a:prstGeom>
          <a:solidFill>
            <a:srgbClr val="F1F7F3"/>
          </a:solidFill>
          <a:ln/>
        </p:spPr>
      </p:sp>
      <p:sp>
        <p:nvSpPr>
          <p:cNvPr id="59" name="Text 55"/>
          <p:cNvSpPr txBox="1"/>
          <p:nvPr/>
        </p:nvSpPr>
        <p:spPr>
          <a:xfrm>
            <a:off x="457200" y="2157984"/>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3</a:t>
            </a:r>
            <a:endParaRPr lang="en-US" sz="950" dirty="0"/>
          </a:p>
        </p:txBody>
      </p:sp>
      <p:sp>
        <p:nvSpPr>
          <p:cNvPr id="60" name="Shape 56"/>
          <p:cNvSpPr/>
          <p:nvPr/>
        </p:nvSpPr>
        <p:spPr>
          <a:xfrm>
            <a:off x="731520" y="2157984"/>
            <a:ext cx="3749040" cy="347472"/>
          </a:xfrm>
          <a:prstGeom prst="rect">
            <a:avLst/>
          </a:prstGeom>
          <a:solidFill>
            <a:srgbClr val="F1F7F3"/>
          </a:solidFill>
          <a:ln/>
        </p:spPr>
      </p:sp>
      <p:sp>
        <p:nvSpPr>
          <p:cNvPr id="61" name="Text 57"/>
          <p:cNvSpPr txBox="1"/>
          <p:nvPr/>
        </p:nvSpPr>
        <p:spPr>
          <a:xfrm>
            <a:off x="777240" y="2157984"/>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NSO Comprehensive Modular Survey: Education 2025</a:t>
            </a:r>
            <a:endParaRPr lang="en-US" sz="950" dirty="0"/>
          </a:p>
        </p:txBody>
      </p:sp>
      <p:sp>
        <p:nvSpPr>
          <p:cNvPr id="62" name="Shape 58"/>
          <p:cNvSpPr/>
          <p:nvPr/>
        </p:nvSpPr>
        <p:spPr>
          <a:xfrm>
            <a:off x="4480560" y="2157984"/>
            <a:ext cx="4206240" cy="347472"/>
          </a:xfrm>
          <a:prstGeom prst="rect">
            <a:avLst/>
          </a:prstGeom>
          <a:solidFill>
            <a:srgbClr val="F1F7F3"/>
          </a:solidFill>
          <a:ln/>
        </p:spPr>
      </p:sp>
      <p:sp>
        <p:nvSpPr>
          <p:cNvPr id="63" name="Text 59"/>
          <p:cNvSpPr txBox="1"/>
          <p:nvPr/>
        </p:nvSpPr>
        <p:spPr>
          <a:xfrm>
            <a:off x="4526280" y="2157984"/>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27 % of school students in private coaching</a:t>
            </a:r>
            <a:endParaRPr lang="en-US" sz="950" dirty="0"/>
          </a:p>
        </p:txBody>
      </p:sp>
      <p:sp>
        <p:nvSpPr>
          <p:cNvPr id="64" name="Shape 60"/>
          <p:cNvSpPr/>
          <p:nvPr/>
        </p:nvSpPr>
        <p:spPr>
          <a:xfrm>
            <a:off x="8686800" y="2157984"/>
            <a:ext cx="1828800" cy="347472"/>
          </a:xfrm>
          <a:prstGeom prst="rect">
            <a:avLst/>
          </a:prstGeom>
          <a:solidFill>
            <a:srgbClr val="F1F7F3"/>
          </a:solidFill>
          <a:ln/>
        </p:spPr>
      </p:sp>
      <p:sp>
        <p:nvSpPr>
          <p:cNvPr id="65" name="Text 61"/>
          <p:cNvSpPr txBox="1"/>
          <p:nvPr/>
        </p:nvSpPr>
        <p:spPr>
          <a:xfrm>
            <a:off x="8732520" y="2157984"/>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(official)</a:t>
            </a:r>
            <a:endParaRPr lang="en-US" sz="950" dirty="0"/>
          </a:p>
        </p:txBody>
      </p:sp>
      <p:sp>
        <p:nvSpPr>
          <p:cNvPr id="66" name="Shape 62"/>
          <p:cNvSpPr/>
          <p:nvPr/>
        </p:nvSpPr>
        <p:spPr>
          <a:xfrm>
            <a:off x="10515600" y="2157984"/>
            <a:ext cx="1264615" cy="347472"/>
          </a:xfrm>
          <a:prstGeom prst="rect">
            <a:avLst/>
          </a:prstGeom>
          <a:solidFill>
            <a:srgbClr val="F1F7F3"/>
          </a:solidFill>
          <a:ln/>
        </p:spPr>
      </p:sp>
      <p:sp>
        <p:nvSpPr>
          <p:cNvPr id="67" name="Text 63"/>
          <p:cNvSpPr txBox="1"/>
          <p:nvPr/>
        </p:nvSpPr>
        <p:spPr>
          <a:xfrm>
            <a:off x="10561320" y="2157984"/>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a:t>
            </a:r>
            <a:endParaRPr lang="en-US" sz="950" dirty="0"/>
          </a:p>
        </p:txBody>
      </p:sp>
      <p:sp>
        <p:nvSpPr>
          <p:cNvPr id="68" name="Shape 64"/>
          <p:cNvSpPr/>
          <p:nvPr/>
        </p:nvSpPr>
        <p:spPr>
          <a:xfrm>
            <a:off x="411480" y="2505456"/>
            <a:ext cx="11368735" cy="0"/>
          </a:xfrm>
          <a:prstGeom prst="line">
            <a:avLst/>
          </a:prstGeom>
          <a:noFill/>
          <a:ln w="6350">
            <a:solidFill>
              <a:srgbClr val="E3E8E4"/>
            </a:solidFill>
            <a:prstDash val="solid"/>
          </a:ln>
        </p:spPr>
      </p:sp>
      <p:sp>
        <p:nvSpPr>
          <p:cNvPr id="69" name="Shape 65"/>
          <p:cNvSpPr/>
          <p:nvPr/>
        </p:nvSpPr>
        <p:spPr>
          <a:xfrm>
            <a:off x="411480" y="2505456"/>
            <a:ext cx="320040" cy="347472"/>
          </a:xfrm>
          <a:prstGeom prst="rect">
            <a:avLst/>
          </a:prstGeom>
          <a:solidFill>
            <a:srgbClr val="FFFFFF"/>
          </a:solidFill>
          <a:ln/>
        </p:spPr>
      </p:sp>
      <p:sp>
        <p:nvSpPr>
          <p:cNvPr id="70" name="Text 66"/>
          <p:cNvSpPr txBox="1"/>
          <p:nvPr/>
        </p:nvSpPr>
        <p:spPr>
          <a:xfrm>
            <a:off x="457200" y="2505456"/>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4</a:t>
            </a:r>
            <a:endParaRPr lang="en-US" sz="950" dirty="0"/>
          </a:p>
        </p:txBody>
      </p:sp>
      <p:sp>
        <p:nvSpPr>
          <p:cNvPr id="71" name="Shape 67"/>
          <p:cNvSpPr/>
          <p:nvPr/>
        </p:nvSpPr>
        <p:spPr>
          <a:xfrm>
            <a:off x="731520" y="2505456"/>
            <a:ext cx="3749040" cy="347472"/>
          </a:xfrm>
          <a:prstGeom prst="rect">
            <a:avLst/>
          </a:prstGeom>
          <a:solidFill>
            <a:srgbClr val="FFFFFF"/>
          </a:solidFill>
          <a:ln/>
        </p:spPr>
      </p:sp>
      <p:sp>
        <p:nvSpPr>
          <p:cNvPr id="72" name="Text 68"/>
          <p:cNvSpPr txBox="1"/>
          <p:nvPr/>
        </p:nvSpPr>
        <p:spPr>
          <a:xfrm>
            <a:off x="777240" y="2505456"/>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Case participant guide</a:t>
            </a:r>
            <a:endParaRPr lang="en-US" sz="950" dirty="0"/>
          </a:p>
        </p:txBody>
      </p:sp>
      <p:sp>
        <p:nvSpPr>
          <p:cNvPr id="73" name="Shape 69"/>
          <p:cNvSpPr/>
          <p:nvPr/>
        </p:nvSpPr>
        <p:spPr>
          <a:xfrm>
            <a:off x="4480560" y="2505456"/>
            <a:ext cx="4206240" cy="347472"/>
          </a:xfrm>
          <a:prstGeom prst="rect">
            <a:avLst/>
          </a:prstGeom>
          <a:solidFill>
            <a:srgbClr val="FFFFFF"/>
          </a:solidFill>
          <a:ln/>
        </p:spPr>
      </p:sp>
      <p:sp>
        <p:nvSpPr>
          <p:cNvPr id="74" name="Text 70"/>
          <p:cNvSpPr txBox="1"/>
          <p:nvPr/>
        </p:nvSpPr>
        <p:spPr>
          <a:xfrm>
            <a:off x="4526280" y="2505456"/>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8 to 15 % dropout, ₹36,000 per leaver, ₹17.3 lakh, ₹40, 25 %</a:t>
            </a:r>
            <a:endParaRPr lang="en-US" sz="950" dirty="0"/>
          </a:p>
        </p:txBody>
      </p:sp>
      <p:sp>
        <p:nvSpPr>
          <p:cNvPr id="75" name="Shape 71"/>
          <p:cNvSpPr/>
          <p:nvPr/>
        </p:nvSpPr>
        <p:spPr>
          <a:xfrm>
            <a:off x="8686800" y="2505456"/>
            <a:ext cx="1828800" cy="347472"/>
          </a:xfrm>
          <a:prstGeom prst="rect">
            <a:avLst/>
          </a:prstGeom>
          <a:solidFill>
            <a:srgbClr val="FFFFFF"/>
          </a:solidFill>
          <a:ln/>
        </p:spPr>
      </p:sp>
      <p:sp>
        <p:nvSpPr>
          <p:cNvPr id="76" name="Text 72"/>
          <p:cNvSpPr txBox="1"/>
          <p:nvPr/>
        </p:nvSpPr>
        <p:spPr>
          <a:xfrm>
            <a:off x="8732520" y="2505456"/>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Illustrative</a:t>
            </a:r>
            <a:endParaRPr lang="en-US" sz="950" dirty="0"/>
          </a:p>
        </p:txBody>
      </p:sp>
      <p:sp>
        <p:nvSpPr>
          <p:cNvPr id="77" name="Shape 73"/>
          <p:cNvSpPr/>
          <p:nvPr/>
        </p:nvSpPr>
        <p:spPr>
          <a:xfrm>
            <a:off x="10515600" y="2505456"/>
            <a:ext cx="1264615" cy="347472"/>
          </a:xfrm>
          <a:prstGeom prst="rect">
            <a:avLst/>
          </a:prstGeom>
          <a:solidFill>
            <a:srgbClr val="FFFFFF"/>
          </a:solidFill>
          <a:ln/>
        </p:spPr>
      </p:sp>
      <p:sp>
        <p:nvSpPr>
          <p:cNvPr id="78" name="Text 74"/>
          <p:cNvSpPr txBox="1"/>
          <p:nvPr/>
        </p:nvSpPr>
        <p:spPr>
          <a:xfrm>
            <a:off x="10561320" y="2505456"/>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3, 4</a:t>
            </a:r>
            <a:endParaRPr lang="en-US" sz="950" dirty="0"/>
          </a:p>
        </p:txBody>
      </p:sp>
      <p:sp>
        <p:nvSpPr>
          <p:cNvPr id="79" name="Shape 75"/>
          <p:cNvSpPr/>
          <p:nvPr/>
        </p:nvSpPr>
        <p:spPr>
          <a:xfrm>
            <a:off x="411480" y="2852928"/>
            <a:ext cx="11368735" cy="0"/>
          </a:xfrm>
          <a:prstGeom prst="line">
            <a:avLst/>
          </a:prstGeom>
          <a:noFill/>
          <a:ln w="6350">
            <a:solidFill>
              <a:srgbClr val="E3E8E4"/>
            </a:solidFill>
            <a:prstDash val="solid"/>
          </a:ln>
        </p:spPr>
      </p:sp>
      <p:sp>
        <p:nvSpPr>
          <p:cNvPr id="80" name="Shape 76"/>
          <p:cNvSpPr/>
          <p:nvPr/>
        </p:nvSpPr>
        <p:spPr>
          <a:xfrm>
            <a:off x="411480" y="2852928"/>
            <a:ext cx="320040" cy="347472"/>
          </a:xfrm>
          <a:prstGeom prst="rect">
            <a:avLst/>
          </a:prstGeom>
          <a:solidFill>
            <a:srgbClr val="F1F7F3"/>
          </a:solidFill>
          <a:ln/>
        </p:spPr>
      </p:sp>
      <p:sp>
        <p:nvSpPr>
          <p:cNvPr id="81" name="Text 77"/>
          <p:cNvSpPr txBox="1"/>
          <p:nvPr/>
        </p:nvSpPr>
        <p:spPr>
          <a:xfrm>
            <a:off x="457200" y="2852928"/>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5</a:t>
            </a:r>
            <a:endParaRPr lang="en-US" sz="950" dirty="0"/>
          </a:p>
        </p:txBody>
      </p:sp>
      <p:sp>
        <p:nvSpPr>
          <p:cNvPr id="82" name="Shape 78"/>
          <p:cNvSpPr/>
          <p:nvPr/>
        </p:nvSpPr>
        <p:spPr>
          <a:xfrm>
            <a:off x="731520" y="2852928"/>
            <a:ext cx="3749040" cy="347472"/>
          </a:xfrm>
          <a:prstGeom prst="rect">
            <a:avLst/>
          </a:prstGeom>
          <a:solidFill>
            <a:srgbClr val="F1F7F3"/>
          </a:solidFill>
          <a:ln/>
        </p:spPr>
      </p:sp>
      <p:sp>
        <p:nvSpPr>
          <p:cNvPr id="83" name="Text 79"/>
          <p:cNvSpPr txBox="1"/>
          <p:nvPr/>
        </p:nvSpPr>
        <p:spPr>
          <a:xfrm>
            <a:off x="777240" y="2852928"/>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Vendor listings: Classplus, Fedena, Edmingle, Teachmint (research R1)</a:t>
            </a:r>
            <a:endParaRPr lang="en-US" sz="950" dirty="0"/>
          </a:p>
        </p:txBody>
      </p:sp>
      <p:sp>
        <p:nvSpPr>
          <p:cNvPr id="84" name="Shape 80"/>
          <p:cNvSpPr/>
          <p:nvPr/>
        </p:nvSpPr>
        <p:spPr>
          <a:xfrm>
            <a:off x="4480560" y="2852928"/>
            <a:ext cx="4206240" cy="347472"/>
          </a:xfrm>
          <a:prstGeom prst="rect">
            <a:avLst/>
          </a:prstGeom>
          <a:solidFill>
            <a:srgbClr val="F1F7F3"/>
          </a:solidFill>
          <a:ln/>
        </p:spPr>
      </p:sp>
      <p:sp>
        <p:nvSpPr>
          <p:cNvPr id="85" name="Text 81"/>
          <p:cNvSpPr txBox="1"/>
          <p:nvPr/>
        </p:nvSpPr>
        <p:spPr>
          <a:xfrm>
            <a:off x="4526280" y="2852928"/>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₹4 to ₹40 per student per month anchors</a:t>
            </a:r>
            <a:endParaRPr lang="en-US" sz="950" dirty="0"/>
          </a:p>
        </p:txBody>
      </p:sp>
      <p:sp>
        <p:nvSpPr>
          <p:cNvPr id="86" name="Shape 82"/>
          <p:cNvSpPr/>
          <p:nvPr/>
        </p:nvSpPr>
        <p:spPr>
          <a:xfrm>
            <a:off x="8686800" y="2852928"/>
            <a:ext cx="1828800" cy="347472"/>
          </a:xfrm>
          <a:prstGeom prst="rect">
            <a:avLst/>
          </a:prstGeom>
          <a:solidFill>
            <a:srgbClr val="F1F7F3"/>
          </a:solidFill>
          <a:ln/>
        </p:spPr>
      </p:sp>
      <p:sp>
        <p:nvSpPr>
          <p:cNvPr id="87" name="Text 83"/>
          <p:cNvSpPr txBox="1"/>
          <p:nvPr/>
        </p:nvSpPr>
        <p:spPr>
          <a:xfrm>
            <a:off x="8732520" y="2852928"/>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a:t>
            </a:r>
            <a:endParaRPr lang="en-US" sz="950" dirty="0"/>
          </a:p>
        </p:txBody>
      </p:sp>
      <p:sp>
        <p:nvSpPr>
          <p:cNvPr id="88" name="Shape 84"/>
          <p:cNvSpPr/>
          <p:nvPr/>
        </p:nvSpPr>
        <p:spPr>
          <a:xfrm>
            <a:off x="10515600" y="2852928"/>
            <a:ext cx="1264615" cy="347472"/>
          </a:xfrm>
          <a:prstGeom prst="rect">
            <a:avLst/>
          </a:prstGeom>
          <a:solidFill>
            <a:srgbClr val="F1F7F3"/>
          </a:solidFill>
          <a:ln/>
        </p:spPr>
      </p:sp>
      <p:sp>
        <p:nvSpPr>
          <p:cNvPr id="89" name="Text 85"/>
          <p:cNvSpPr txBox="1"/>
          <p:nvPr/>
        </p:nvSpPr>
        <p:spPr>
          <a:xfrm>
            <a:off x="10561320" y="2852928"/>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4, 12</a:t>
            </a:r>
            <a:endParaRPr lang="en-US" sz="950" dirty="0"/>
          </a:p>
        </p:txBody>
      </p:sp>
      <p:sp>
        <p:nvSpPr>
          <p:cNvPr id="90" name="Shape 86"/>
          <p:cNvSpPr/>
          <p:nvPr/>
        </p:nvSpPr>
        <p:spPr>
          <a:xfrm>
            <a:off x="411480" y="3200400"/>
            <a:ext cx="11368735" cy="0"/>
          </a:xfrm>
          <a:prstGeom prst="line">
            <a:avLst/>
          </a:prstGeom>
          <a:noFill/>
          <a:ln w="6350">
            <a:solidFill>
              <a:srgbClr val="E3E8E4"/>
            </a:solidFill>
            <a:prstDash val="solid"/>
          </a:ln>
        </p:spPr>
      </p:sp>
      <p:sp>
        <p:nvSpPr>
          <p:cNvPr id="91" name="Shape 87"/>
          <p:cNvSpPr/>
          <p:nvPr/>
        </p:nvSpPr>
        <p:spPr>
          <a:xfrm>
            <a:off x="411480" y="3200400"/>
            <a:ext cx="320040" cy="347472"/>
          </a:xfrm>
          <a:prstGeom prst="rect">
            <a:avLst/>
          </a:prstGeom>
          <a:solidFill>
            <a:srgbClr val="FFFFFF"/>
          </a:solidFill>
          <a:ln/>
        </p:spPr>
      </p:sp>
      <p:sp>
        <p:nvSpPr>
          <p:cNvPr id="92" name="Text 88"/>
          <p:cNvSpPr txBox="1"/>
          <p:nvPr/>
        </p:nvSpPr>
        <p:spPr>
          <a:xfrm>
            <a:off x="457200" y="3200400"/>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6</a:t>
            </a:r>
            <a:endParaRPr lang="en-US" sz="950" dirty="0"/>
          </a:p>
        </p:txBody>
      </p:sp>
      <p:sp>
        <p:nvSpPr>
          <p:cNvPr id="93" name="Shape 89"/>
          <p:cNvSpPr/>
          <p:nvPr/>
        </p:nvSpPr>
        <p:spPr>
          <a:xfrm>
            <a:off x="731520" y="3200400"/>
            <a:ext cx="3749040" cy="347472"/>
          </a:xfrm>
          <a:prstGeom prst="rect">
            <a:avLst/>
          </a:prstGeom>
          <a:solidFill>
            <a:srgbClr val="FFFFFF"/>
          </a:solidFill>
          <a:ln/>
        </p:spPr>
      </p:sp>
      <p:sp>
        <p:nvSpPr>
          <p:cNvPr id="94" name="Text 90"/>
          <p:cNvSpPr txBox="1"/>
          <p:nvPr/>
        </p:nvSpPr>
        <p:spPr>
          <a:xfrm>
            <a:off x="777240" y="3200400"/>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Outreach trials in comparable settings (research R4)</a:t>
            </a:r>
            <a:endParaRPr lang="en-US" sz="950" dirty="0"/>
          </a:p>
        </p:txBody>
      </p:sp>
      <p:sp>
        <p:nvSpPr>
          <p:cNvPr id="95" name="Shape 91"/>
          <p:cNvSpPr/>
          <p:nvPr/>
        </p:nvSpPr>
        <p:spPr>
          <a:xfrm>
            <a:off x="4480560" y="3200400"/>
            <a:ext cx="4206240" cy="347472"/>
          </a:xfrm>
          <a:prstGeom prst="rect">
            <a:avLst/>
          </a:prstGeom>
          <a:solidFill>
            <a:srgbClr val="FFFFFF"/>
          </a:solidFill>
          <a:ln/>
        </p:spPr>
      </p:sp>
      <p:sp>
        <p:nvSpPr>
          <p:cNvPr id="96" name="Text 92"/>
          <p:cNvSpPr txBox="1"/>
          <p:nvPr/>
        </p:nvSpPr>
        <p:spPr>
          <a:xfrm>
            <a:off x="4526280" y="3200400"/>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Effect of outreach on dropout, 5 to 30 %</a:t>
            </a:r>
            <a:endParaRPr lang="en-US" sz="950" dirty="0"/>
          </a:p>
        </p:txBody>
      </p:sp>
      <p:sp>
        <p:nvSpPr>
          <p:cNvPr id="97" name="Shape 93"/>
          <p:cNvSpPr/>
          <p:nvPr/>
        </p:nvSpPr>
        <p:spPr>
          <a:xfrm>
            <a:off x="8686800" y="3200400"/>
            <a:ext cx="1828800" cy="347472"/>
          </a:xfrm>
          <a:prstGeom prst="rect">
            <a:avLst/>
          </a:prstGeom>
          <a:solidFill>
            <a:srgbClr val="FFFFFF"/>
          </a:solidFill>
          <a:ln/>
        </p:spPr>
      </p:sp>
      <p:sp>
        <p:nvSpPr>
          <p:cNvPr id="98" name="Text 94"/>
          <p:cNvSpPr txBox="1"/>
          <p:nvPr/>
        </p:nvSpPr>
        <p:spPr>
          <a:xfrm>
            <a:off x="8732520" y="3200400"/>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a:t>
            </a:r>
            <a:endParaRPr lang="en-US" sz="950" dirty="0"/>
          </a:p>
        </p:txBody>
      </p:sp>
      <p:sp>
        <p:nvSpPr>
          <p:cNvPr id="99" name="Shape 95"/>
          <p:cNvSpPr/>
          <p:nvPr/>
        </p:nvSpPr>
        <p:spPr>
          <a:xfrm>
            <a:off x="10515600" y="3200400"/>
            <a:ext cx="1264615" cy="347472"/>
          </a:xfrm>
          <a:prstGeom prst="rect">
            <a:avLst/>
          </a:prstGeom>
          <a:solidFill>
            <a:srgbClr val="FFFFFF"/>
          </a:solidFill>
          <a:ln/>
        </p:spPr>
      </p:sp>
      <p:sp>
        <p:nvSpPr>
          <p:cNvPr id="100" name="Text 96"/>
          <p:cNvSpPr txBox="1"/>
          <p:nvPr/>
        </p:nvSpPr>
        <p:spPr>
          <a:xfrm>
            <a:off x="10561320" y="3200400"/>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A1</a:t>
            </a:r>
            <a:endParaRPr lang="en-US" sz="950" dirty="0"/>
          </a:p>
        </p:txBody>
      </p:sp>
      <p:sp>
        <p:nvSpPr>
          <p:cNvPr id="101" name="Shape 97"/>
          <p:cNvSpPr/>
          <p:nvPr/>
        </p:nvSpPr>
        <p:spPr>
          <a:xfrm>
            <a:off x="411480" y="3547872"/>
            <a:ext cx="11368735" cy="0"/>
          </a:xfrm>
          <a:prstGeom prst="line">
            <a:avLst/>
          </a:prstGeom>
          <a:noFill/>
          <a:ln w="6350">
            <a:solidFill>
              <a:srgbClr val="E3E8E4"/>
            </a:solidFill>
            <a:prstDash val="solid"/>
          </a:ln>
        </p:spPr>
      </p:sp>
      <p:sp>
        <p:nvSpPr>
          <p:cNvPr id="102" name="Shape 98"/>
          <p:cNvSpPr/>
          <p:nvPr/>
        </p:nvSpPr>
        <p:spPr>
          <a:xfrm>
            <a:off x="411480" y="3547872"/>
            <a:ext cx="320040" cy="347472"/>
          </a:xfrm>
          <a:prstGeom prst="rect">
            <a:avLst/>
          </a:prstGeom>
          <a:solidFill>
            <a:srgbClr val="F1F7F3"/>
          </a:solidFill>
          <a:ln/>
        </p:spPr>
      </p:sp>
      <p:sp>
        <p:nvSpPr>
          <p:cNvPr id="103" name="Text 99"/>
          <p:cNvSpPr txBox="1"/>
          <p:nvPr/>
        </p:nvSpPr>
        <p:spPr>
          <a:xfrm>
            <a:off x="457200" y="3547872"/>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7</a:t>
            </a:r>
            <a:endParaRPr lang="en-US" sz="950" dirty="0"/>
          </a:p>
        </p:txBody>
      </p:sp>
      <p:sp>
        <p:nvSpPr>
          <p:cNvPr id="104" name="Shape 100"/>
          <p:cNvSpPr/>
          <p:nvPr/>
        </p:nvSpPr>
        <p:spPr>
          <a:xfrm>
            <a:off x="731520" y="3547872"/>
            <a:ext cx="3749040" cy="347472"/>
          </a:xfrm>
          <a:prstGeom prst="rect">
            <a:avLst/>
          </a:prstGeom>
          <a:solidFill>
            <a:srgbClr val="F1F7F3"/>
          </a:solidFill>
          <a:ln/>
        </p:spPr>
      </p:sp>
      <p:sp>
        <p:nvSpPr>
          <p:cNvPr id="105" name="Text 101"/>
          <p:cNvSpPr txBox="1"/>
          <p:nvPr/>
        </p:nvSpPr>
        <p:spPr>
          <a:xfrm>
            <a:off x="777240" y="3547872"/>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OULAD (Open University, CC BY 4.0), our runs</a:t>
            </a:r>
            <a:endParaRPr lang="en-US" sz="950" dirty="0"/>
          </a:p>
        </p:txBody>
      </p:sp>
      <p:sp>
        <p:nvSpPr>
          <p:cNvPr id="106" name="Shape 102"/>
          <p:cNvSpPr/>
          <p:nvPr/>
        </p:nvSpPr>
        <p:spPr>
          <a:xfrm>
            <a:off x="4480560" y="3547872"/>
            <a:ext cx="4206240" cy="347472"/>
          </a:xfrm>
          <a:prstGeom prst="rect">
            <a:avLst/>
          </a:prstGeom>
          <a:solidFill>
            <a:srgbClr val="F1F7F3"/>
          </a:solidFill>
          <a:ln/>
        </p:spPr>
      </p:sp>
      <p:sp>
        <p:nvSpPr>
          <p:cNvPr id="107" name="Text 103"/>
          <p:cNvSpPr txBox="1"/>
          <p:nvPr/>
        </p:nvSpPr>
        <p:spPr>
          <a:xfrm>
            <a:off x="4526280" y="3547872"/>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0.706 AUC, 0.009 calibration, 0.46 precision</a:t>
            </a:r>
            <a:endParaRPr lang="en-US" sz="950" dirty="0"/>
          </a:p>
        </p:txBody>
      </p:sp>
      <p:sp>
        <p:nvSpPr>
          <p:cNvPr id="108" name="Shape 104"/>
          <p:cNvSpPr/>
          <p:nvPr/>
        </p:nvSpPr>
        <p:spPr>
          <a:xfrm>
            <a:off x="8686800" y="3547872"/>
            <a:ext cx="1828800" cy="347472"/>
          </a:xfrm>
          <a:prstGeom prst="rect">
            <a:avLst/>
          </a:prstGeom>
          <a:solidFill>
            <a:srgbClr val="F1F7F3"/>
          </a:solidFill>
          <a:ln/>
        </p:spPr>
      </p:sp>
      <p:sp>
        <p:nvSpPr>
          <p:cNvPr id="109" name="Text 105"/>
          <p:cNvSpPr txBox="1"/>
          <p:nvPr/>
        </p:nvSpPr>
        <p:spPr>
          <a:xfrm>
            <a:off x="8732520" y="3547872"/>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Measured</a:t>
            </a:r>
            <a:endParaRPr lang="en-US" sz="950" dirty="0"/>
          </a:p>
        </p:txBody>
      </p:sp>
      <p:sp>
        <p:nvSpPr>
          <p:cNvPr id="110" name="Shape 106"/>
          <p:cNvSpPr/>
          <p:nvPr/>
        </p:nvSpPr>
        <p:spPr>
          <a:xfrm>
            <a:off x="10515600" y="3547872"/>
            <a:ext cx="1264615" cy="347472"/>
          </a:xfrm>
          <a:prstGeom prst="rect">
            <a:avLst/>
          </a:prstGeom>
          <a:solidFill>
            <a:srgbClr val="F1F7F3"/>
          </a:solidFill>
          <a:ln/>
        </p:spPr>
      </p:sp>
      <p:sp>
        <p:nvSpPr>
          <p:cNvPr id="111" name="Text 107"/>
          <p:cNvSpPr txBox="1"/>
          <p:nvPr/>
        </p:nvSpPr>
        <p:spPr>
          <a:xfrm>
            <a:off x="10561320" y="3547872"/>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1, 4, 8</a:t>
            </a:r>
            <a:endParaRPr lang="en-US" sz="950" dirty="0"/>
          </a:p>
        </p:txBody>
      </p:sp>
      <p:sp>
        <p:nvSpPr>
          <p:cNvPr id="112" name="Shape 108"/>
          <p:cNvSpPr/>
          <p:nvPr/>
        </p:nvSpPr>
        <p:spPr>
          <a:xfrm>
            <a:off x="411480" y="3895344"/>
            <a:ext cx="11368735" cy="0"/>
          </a:xfrm>
          <a:prstGeom prst="line">
            <a:avLst/>
          </a:prstGeom>
          <a:noFill/>
          <a:ln w="6350">
            <a:solidFill>
              <a:srgbClr val="E3E8E4"/>
            </a:solidFill>
            <a:prstDash val="solid"/>
          </a:ln>
        </p:spPr>
      </p:sp>
      <p:sp>
        <p:nvSpPr>
          <p:cNvPr id="113" name="Shape 109"/>
          <p:cNvSpPr/>
          <p:nvPr/>
        </p:nvSpPr>
        <p:spPr>
          <a:xfrm>
            <a:off x="411480" y="3895344"/>
            <a:ext cx="320040" cy="347472"/>
          </a:xfrm>
          <a:prstGeom prst="rect">
            <a:avLst/>
          </a:prstGeom>
          <a:solidFill>
            <a:srgbClr val="FFFFFF"/>
          </a:solidFill>
          <a:ln/>
        </p:spPr>
      </p:sp>
      <p:sp>
        <p:nvSpPr>
          <p:cNvPr id="114" name="Text 110"/>
          <p:cNvSpPr txBox="1"/>
          <p:nvPr/>
        </p:nvSpPr>
        <p:spPr>
          <a:xfrm>
            <a:off x="457200" y="3895344"/>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8</a:t>
            </a:r>
            <a:endParaRPr lang="en-US" sz="950" dirty="0"/>
          </a:p>
        </p:txBody>
      </p:sp>
      <p:sp>
        <p:nvSpPr>
          <p:cNvPr id="115" name="Shape 111"/>
          <p:cNvSpPr/>
          <p:nvPr/>
        </p:nvSpPr>
        <p:spPr>
          <a:xfrm>
            <a:off x="731520" y="3895344"/>
            <a:ext cx="3749040" cy="347472"/>
          </a:xfrm>
          <a:prstGeom prst="rect">
            <a:avLst/>
          </a:prstGeom>
          <a:solidFill>
            <a:srgbClr val="FFFFFF"/>
          </a:solidFill>
          <a:ln/>
        </p:spPr>
      </p:sp>
      <p:sp>
        <p:nvSpPr>
          <p:cNvPr id="116" name="Text 112"/>
          <p:cNvSpPr txBox="1"/>
          <p:nvPr/>
        </p:nvSpPr>
        <p:spPr>
          <a:xfrm>
            <a:off x="777240" y="3895344"/>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PLOS ONE 2026, OULAD withdrawal study</a:t>
            </a:r>
            <a:endParaRPr lang="en-US" sz="950" dirty="0"/>
          </a:p>
        </p:txBody>
      </p:sp>
      <p:sp>
        <p:nvSpPr>
          <p:cNvPr id="117" name="Shape 113"/>
          <p:cNvSpPr/>
          <p:nvPr/>
        </p:nvSpPr>
        <p:spPr>
          <a:xfrm>
            <a:off x="4480560" y="3895344"/>
            <a:ext cx="4206240" cy="347472"/>
          </a:xfrm>
          <a:prstGeom prst="rect">
            <a:avLst/>
          </a:prstGeom>
          <a:solidFill>
            <a:srgbClr val="FFFFFF"/>
          </a:solidFill>
          <a:ln/>
        </p:spPr>
      </p:sp>
      <p:sp>
        <p:nvSpPr>
          <p:cNvPr id="118" name="Text 114"/>
          <p:cNvSpPr txBox="1"/>
          <p:nvPr/>
        </p:nvSpPr>
        <p:spPr>
          <a:xfrm>
            <a:off x="4526280" y="3895344"/>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Published 0.727 / 0.794 / 0.804 anchors</a:t>
            </a:r>
            <a:endParaRPr lang="en-US" sz="950" dirty="0"/>
          </a:p>
        </p:txBody>
      </p:sp>
      <p:sp>
        <p:nvSpPr>
          <p:cNvPr id="119" name="Shape 115"/>
          <p:cNvSpPr/>
          <p:nvPr/>
        </p:nvSpPr>
        <p:spPr>
          <a:xfrm>
            <a:off x="8686800" y="3895344"/>
            <a:ext cx="1828800" cy="347472"/>
          </a:xfrm>
          <a:prstGeom prst="rect">
            <a:avLst/>
          </a:prstGeom>
          <a:solidFill>
            <a:srgbClr val="FFFFFF"/>
          </a:solidFill>
          <a:ln/>
        </p:spPr>
      </p:sp>
      <p:sp>
        <p:nvSpPr>
          <p:cNvPr id="120" name="Text 116"/>
          <p:cNvSpPr txBox="1"/>
          <p:nvPr/>
        </p:nvSpPr>
        <p:spPr>
          <a:xfrm>
            <a:off x="8732520" y="3895344"/>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a:t>
            </a:r>
            <a:endParaRPr lang="en-US" sz="950" dirty="0"/>
          </a:p>
        </p:txBody>
      </p:sp>
      <p:sp>
        <p:nvSpPr>
          <p:cNvPr id="121" name="Shape 117"/>
          <p:cNvSpPr/>
          <p:nvPr/>
        </p:nvSpPr>
        <p:spPr>
          <a:xfrm>
            <a:off x="10515600" y="3895344"/>
            <a:ext cx="1264615" cy="347472"/>
          </a:xfrm>
          <a:prstGeom prst="rect">
            <a:avLst/>
          </a:prstGeom>
          <a:solidFill>
            <a:srgbClr val="FFFFFF"/>
          </a:solidFill>
          <a:ln/>
        </p:spPr>
      </p:sp>
      <p:sp>
        <p:nvSpPr>
          <p:cNvPr id="122" name="Text 118"/>
          <p:cNvSpPr txBox="1"/>
          <p:nvPr/>
        </p:nvSpPr>
        <p:spPr>
          <a:xfrm>
            <a:off x="10561320" y="3895344"/>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4, 8</a:t>
            </a:r>
            <a:endParaRPr lang="en-US" sz="950" dirty="0"/>
          </a:p>
        </p:txBody>
      </p:sp>
      <p:sp>
        <p:nvSpPr>
          <p:cNvPr id="123" name="Shape 119"/>
          <p:cNvSpPr/>
          <p:nvPr/>
        </p:nvSpPr>
        <p:spPr>
          <a:xfrm>
            <a:off x="411480" y="4242816"/>
            <a:ext cx="11368735" cy="0"/>
          </a:xfrm>
          <a:prstGeom prst="line">
            <a:avLst/>
          </a:prstGeom>
          <a:noFill/>
          <a:ln w="6350">
            <a:solidFill>
              <a:srgbClr val="E3E8E4"/>
            </a:solidFill>
            <a:prstDash val="solid"/>
          </a:ln>
        </p:spPr>
      </p:sp>
      <p:sp>
        <p:nvSpPr>
          <p:cNvPr id="124" name="Shape 120"/>
          <p:cNvSpPr/>
          <p:nvPr/>
        </p:nvSpPr>
        <p:spPr>
          <a:xfrm>
            <a:off x="411480" y="4242816"/>
            <a:ext cx="320040" cy="347472"/>
          </a:xfrm>
          <a:prstGeom prst="rect">
            <a:avLst/>
          </a:prstGeom>
          <a:solidFill>
            <a:srgbClr val="F1F7F3"/>
          </a:solidFill>
          <a:ln/>
        </p:spPr>
      </p:sp>
      <p:sp>
        <p:nvSpPr>
          <p:cNvPr id="125" name="Text 121"/>
          <p:cNvSpPr txBox="1"/>
          <p:nvPr/>
        </p:nvSpPr>
        <p:spPr>
          <a:xfrm>
            <a:off x="457200" y="4242816"/>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9</a:t>
            </a:r>
            <a:endParaRPr lang="en-US" sz="950" dirty="0"/>
          </a:p>
        </p:txBody>
      </p:sp>
      <p:sp>
        <p:nvSpPr>
          <p:cNvPr id="126" name="Shape 122"/>
          <p:cNvSpPr/>
          <p:nvPr/>
        </p:nvSpPr>
        <p:spPr>
          <a:xfrm>
            <a:off x="731520" y="4242816"/>
            <a:ext cx="3749040" cy="347472"/>
          </a:xfrm>
          <a:prstGeom prst="rect">
            <a:avLst/>
          </a:prstGeom>
          <a:solidFill>
            <a:srgbClr val="F1F7F3"/>
          </a:solidFill>
          <a:ln/>
        </p:spPr>
      </p:sp>
      <p:sp>
        <p:nvSpPr>
          <p:cNvPr id="127" name="Text 123"/>
          <p:cNvSpPr txBox="1"/>
          <p:nvPr/>
        </p:nvSpPr>
        <p:spPr>
          <a:xfrm>
            <a:off x="777240" y="4242816"/>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Liu et al., pyKT, NeurIPS 2022; ASSISTments 2009, our runs</a:t>
            </a:r>
            <a:endParaRPr lang="en-US" sz="950" dirty="0"/>
          </a:p>
        </p:txBody>
      </p:sp>
      <p:sp>
        <p:nvSpPr>
          <p:cNvPr id="128" name="Shape 124"/>
          <p:cNvSpPr/>
          <p:nvPr/>
        </p:nvSpPr>
        <p:spPr>
          <a:xfrm>
            <a:off x="4480560" y="4242816"/>
            <a:ext cx="4206240" cy="347472"/>
          </a:xfrm>
          <a:prstGeom prst="rect">
            <a:avLst/>
          </a:prstGeom>
          <a:solidFill>
            <a:srgbClr val="F1F7F3"/>
          </a:solidFill>
          <a:ln/>
        </p:spPr>
      </p:sp>
      <p:sp>
        <p:nvSpPr>
          <p:cNvPr id="129" name="Text 125"/>
          <p:cNvSpPr txBox="1"/>
          <p:nvPr/>
        </p:nvSpPr>
        <p:spPr>
          <a:xfrm>
            <a:off x="4526280" y="4242816"/>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DKT 0.754, SAKT 0.725, AKT 0.785; ours 0.763</a:t>
            </a:r>
            <a:endParaRPr lang="en-US" sz="950" dirty="0"/>
          </a:p>
        </p:txBody>
      </p:sp>
      <p:sp>
        <p:nvSpPr>
          <p:cNvPr id="130" name="Shape 126"/>
          <p:cNvSpPr/>
          <p:nvPr/>
        </p:nvSpPr>
        <p:spPr>
          <a:xfrm>
            <a:off x="8686800" y="4242816"/>
            <a:ext cx="1828800" cy="347472"/>
          </a:xfrm>
          <a:prstGeom prst="rect">
            <a:avLst/>
          </a:prstGeom>
          <a:solidFill>
            <a:srgbClr val="F1F7F3"/>
          </a:solidFill>
          <a:ln/>
        </p:spPr>
      </p:sp>
      <p:sp>
        <p:nvSpPr>
          <p:cNvPr id="131" name="Text 127"/>
          <p:cNvSpPr txBox="1"/>
          <p:nvPr/>
        </p:nvSpPr>
        <p:spPr>
          <a:xfrm>
            <a:off x="8732520" y="4242816"/>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Measured</a:t>
            </a:r>
            <a:endParaRPr lang="en-US" sz="950" dirty="0"/>
          </a:p>
        </p:txBody>
      </p:sp>
      <p:sp>
        <p:nvSpPr>
          <p:cNvPr id="132" name="Shape 128"/>
          <p:cNvSpPr/>
          <p:nvPr/>
        </p:nvSpPr>
        <p:spPr>
          <a:xfrm>
            <a:off x="10515600" y="4242816"/>
            <a:ext cx="1264615" cy="347472"/>
          </a:xfrm>
          <a:prstGeom prst="rect">
            <a:avLst/>
          </a:prstGeom>
          <a:solidFill>
            <a:srgbClr val="F1F7F3"/>
          </a:solidFill>
          <a:ln/>
        </p:spPr>
      </p:sp>
      <p:sp>
        <p:nvSpPr>
          <p:cNvPr id="133" name="Text 129"/>
          <p:cNvSpPr txBox="1"/>
          <p:nvPr/>
        </p:nvSpPr>
        <p:spPr>
          <a:xfrm>
            <a:off x="10561320" y="4242816"/>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1, 7</a:t>
            </a:r>
            <a:endParaRPr lang="en-US" sz="950" dirty="0"/>
          </a:p>
        </p:txBody>
      </p:sp>
      <p:sp>
        <p:nvSpPr>
          <p:cNvPr id="134" name="Shape 130"/>
          <p:cNvSpPr/>
          <p:nvPr/>
        </p:nvSpPr>
        <p:spPr>
          <a:xfrm>
            <a:off x="411480" y="4590288"/>
            <a:ext cx="11368735" cy="0"/>
          </a:xfrm>
          <a:prstGeom prst="line">
            <a:avLst/>
          </a:prstGeom>
          <a:noFill/>
          <a:ln w="6350">
            <a:solidFill>
              <a:srgbClr val="E3E8E4"/>
            </a:solidFill>
            <a:prstDash val="solid"/>
          </a:ln>
        </p:spPr>
      </p:sp>
      <p:sp>
        <p:nvSpPr>
          <p:cNvPr id="135" name="Shape 131"/>
          <p:cNvSpPr/>
          <p:nvPr/>
        </p:nvSpPr>
        <p:spPr>
          <a:xfrm>
            <a:off x="411480" y="4590288"/>
            <a:ext cx="320040" cy="347472"/>
          </a:xfrm>
          <a:prstGeom prst="rect">
            <a:avLst/>
          </a:prstGeom>
          <a:solidFill>
            <a:srgbClr val="FFFFFF"/>
          </a:solidFill>
          <a:ln/>
        </p:spPr>
      </p:sp>
      <p:sp>
        <p:nvSpPr>
          <p:cNvPr id="136" name="Text 132"/>
          <p:cNvSpPr txBox="1"/>
          <p:nvPr/>
        </p:nvSpPr>
        <p:spPr>
          <a:xfrm>
            <a:off x="457200" y="4590288"/>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10</a:t>
            </a:r>
            <a:endParaRPr lang="en-US" sz="950" dirty="0"/>
          </a:p>
        </p:txBody>
      </p:sp>
      <p:sp>
        <p:nvSpPr>
          <p:cNvPr id="137" name="Shape 133"/>
          <p:cNvSpPr/>
          <p:nvPr/>
        </p:nvSpPr>
        <p:spPr>
          <a:xfrm>
            <a:off x="731520" y="4590288"/>
            <a:ext cx="3749040" cy="347472"/>
          </a:xfrm>
          <a:prstGeom prst="rect">
            <a:avLst/>
          </a:prstGeom>
          <a:solidFill>
            <a:srgbClr val="FFFFFF"/>
          </a:solidFill>
          <a:ln/>
        </p:spPr>
      </p:sp>
      <p:sp>
        <p:nvSpPr>
          <p:cNvPr id="138" name="Text 134"/>
          <p:cNvSpPr txBox="1"/>
          <p:nvPr/>
        </p:nvSpPr>
        <p:spPr>
          <a:xfrm>
            <a:off x="777240" y="4590288"/>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DPDP Act 2023 s.9; DPDP Rules 2025</a:t>
            </a:r>
            <a:endParaRPr lang="en-US" sz="950" dirty="0"/>
          </a:p>
        </p:txBody>
      </p:sp>
      <p:sp>
        <p:nvSpPr>
          <p:cNvPr id="139" name="Shape 135"/>
          <p:cNvSpPr/>
          <p:nvPr/>
        </p:nvSpPr>
        <p:spPr>
          <a:xfrm>
            <a:off x="4480560" y="4590288"/>
            <a:ext cx="4206240" cy="347472"/>
          </a:xfrm>
          <a:prstGeom prst="rect">
            <a:avLst/>
          </a:prstGeom>
          <a:solidFill>
            <a:srgbClr val="FFFFFF"/>
          </a:solidFill>
          <a:ln/>
        </p:spPr>
      </p:sp>
      <p:sp>
        <p:nvSpPr>
          <p:cNvPr id="140" name="Text 136"/>
          <p:cNvSpPr txBox="1"/>
          <p:nvPr/>
        </p:nvSpPr>
        <p:spPr>
          <a:xfrm>
            <a:off x="4526280" y="4590288"/>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Parental consent, no tracking of children</a:t>
            </a:r>
            <a:endParaRPr lang="en-US" sz="950" dirty="0"/>
          </a:p>
        </p:txBody>
      </p:sp>
      <p:sp>
        <p:nvSpPr>
          <p:cNvPr id="141" name="Shape 137"/>
          <p:cNvSpPr/>
          <p:nvPr/>
        </p:nvSpPr>
        <p:spPr>
          <a:xfrm>
            <a:off x="8686800" y="4590288"/>
            <a:ext cx="1828800" cy="347472"/>
          </a:xfrm>
          <a:prstGeom prst="rect">
            <a:avLst/>
          </a:prstGeom>
          <a:solidFill>
            <a:srgbClr val="FFFFFF"/>
          </a:solidFill>
          <a:ln/>
        </p:spPr>
      </p:sp>
      <p:sp>
        <p:nvSpPr>
          <p:cNvPr id="142" name="Text 138"/>
          <p:cNvSpPr txBox="1"/>
          <p:nvPr/>
        </p:nvSpPr>
        <p:spPr>
          <a:xfrm>
            <a:off x="8732520" y="4590288"/>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(primary)</a:t>
            </a:r>
            <a:endParaRPr lang="en-US" sz="950" dirty="0"/>
          </a:p>
        </p:txBody>
      </p:sp>
      <p:sp>
        <p:nvSpPr>
          <p:cNvPr id="143" name="Shape 139"/>
          <p:cNvSpPr/>
          <p:nvPr/>
        </p:nvSpPr>
        <p:spPr>
          <a:xfrm>
            <a:off x="10515600" y="4590288"/>
            <a:ext cx="1264615" cy="347472"/>
          </a:xfrm>
          <a:prstGeom prst="rect">
            <a:avLst/>
          </a:prstGeom>
          <a:solidFill>
            <a:srgbClr val="FFFFFF"/>
          </a:solidFill>
          <a:ln/>
        </p:spPr>
      </p:sp>
      <p:sp>
        <p:nvSpPr>
          <p:cNvPr id="144" name="Text 140"/>
          <p:cNvSpPr txBox="1"/>
          <p:nvPr/>
        </p:nvSpPr>
        <p:spPr>
          <a:xfrm>
            <a:off x="10561320" y="4590288"/>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4, 8, 10</a:t>
            </a:r>
            <a:endParaRPr lang="en-US" sz="950" dirty="0"/>
          </a:p>
        </p:txBody>
      </p:sp>
      <p:sp>
        <p:nvSpPr>
          <p:cNvPr id="145" name="Shape 141"/>
          <p:cNvSpPr/>
          <p:nvPr/>
        </p:nvSpPr>
        <p:spPr>
          <a:xfrm>
            <a:off x="411480" y="4937760"/>
            <a:ext cx="11368735" cy="0"/>
          </a:xfrm>
          <a:prstGeom prst="line">
            <a:avLst/>
          </a:prstGeom>
          <a:noFill/>
          <a:ln w="6350">
            <a:solidFill>
              <a:srgbClr val="E3E8E4"/>
            </a:solidFill>
            <a:prstDash val="solid"/>
          </a:ln>
        </p:spPr>
      </p:sp>
      <p:sp>
        <p:nvSpPr>
          <p:cNvPr id="146" name="Shape 142"/>
          <p:cNvSpPr/>
          <p:nvPr/>
        </p:nvSpPr>
        <p:spPr>
          <a:xfrm>
            <a:off x="411480" y="4937760"/>
            <a:ext cx="320040" cy="347472"/>
          </a:xfrm>
          <a:prstGeom prst="rect">
            <a:avLst/>
          </a:prstGeom>
          <a:solidFill>
            <a:srgbClr val="F1F7F3"/>
          </a:solidFill>
          <a:ln/>
        </p:spPr>
      </p:sp>
      <p:sp>
        <p:nvSpPr>
          <p:cNvPr id="147" name="Text 143"/>
          <p:cNvSpPr txBox="1"/>
          <p:nvPr/>
        </p:nvSpPr>
        <p:spPr>
          <a:xfrm>
            <a:off x="457200" y="4937760"/>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11</a:t>
            </a:r>
            <a:endParaRPr lang="en-US" sz="950" dirty="0"/>
          </a:p>
        </p:txBody>
      </p:sp>
      <p:sp>
        <p:nvSpPr>
          <p:cNvPr id="148" name="Shape 144"/>
          <p:cNvSpPr/>
          <p:nvPr/>
        </p:nvSpPr>
        <p:spPr>
          <a:xfrm>
            <a:off x="731520" y="4937760"/>
            <a:ext cx="3749040" cy="347472"/>
          </a:xfrm>
          <a:prstGeom prst="rect">
            <a:avLst/>
          </a:prstGeom>
          <a:solidFill>
            <a:srgbClr val="F1F7F3"/>
          </a:solidFill>
          <a:ln/>
        </p:spPr>
      </p:sp>
      <p:sp>
        <p:nvSpPr>
          <p:cNvPr id="149" name="Text 145"/>
          <p:cNvSpPr txBox="1"/>
          <p:nvPr/>
        </p:nvSpPr>
        <p:spPr>
          <a:xfrm>
            <a:off x="777240" y="4937760"/>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MoE Guidelines for Coaching Centres 2024; Rajasthan Act 2025</a:t>
            </a:r>
            <a:endParaRPr lang="en-US" sz="950" dirty="0"/>
          </a:p>
        </p:txBody>
      </p:sp>
      <p:sp>
        <p:nvSpPr>
          <p:cNvPr id="150" name="Shape 146"/>
          <p:cNvSpPr/>
          <p:nvPr/>
        </p:nvSpPr>
        <p:spPr>
          <a:xfrm>
            <a:off x="4480560" y="4937760"/>
            <a:ext cx="4206240" cy="347472"/>
          </a:xfrm>
          <a:prstGeom prst="rect">
            <a:avLst/>
          </a:prstGeom>
          <a:solidFill>
            <a:srgbClr val="F1F7F3"/>
          </a:solidFill>
          <a:ln/>
        </p:spPr>
      </p:sp>
      <p:sp>
        <p:nvSpPr>
          <p:cNvPr id="151" name="Text 147"/>
          <p:cNvSpPr txBox="1"/>
          <p:nvPr/>
        </p:nvSpPr>
        <p:spPr>
          <a:xfrm>
            <a:off x="4526280" y="4937760"/>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cl. 10.2(xi), 12(vii), 10.1, 8(iv); s.6(2)(d)</a:t>
            </a:r>
            <a:endParaRPr lang="en-US" sz="950" dirty="0"/>
          </a:p>
        </p:txBody>
      </p:sp>
      <p:sp>
        <p:nvSpPr>
          <p:cNvPr id="152" name="Shape 148"/>
          <p:cNvSpPr/>
          <p:nvPr/>
        </p:nvSpPr>
        <p:spPr>
          <a:xfrm>
            <a:off x="8686800" y="4937760"/>
            <a:ext cx="1828800" cy="347472"/>
          </a:xfrm>
          <a:prstGeom prst="rect">
            <a:avLst/>
          </a:prstGeom>
          <a:solidFill>
            <a:srgbClr val="F1F7F3"/>
          </a:solidFill>
          <a:ln/>
        </p:spPr>
      </p:sp>
      <p:sp>
        <p:nvSpPr>
          <p:cNvPr id="153" name="Text 149"/>
          <p:cNvSpPr txBox="1"/>
          <p:nvPr/>
        </p:nvSpPr>
        <p:spPr>
          <a:xfrm>
            <a:off x="8732520" y="4937760"/>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(primary)</a:t>
            </a:r>
            <a:endParaRPr lang="en-US" sz="950" dirty="0"/>
          </a:p>
        </p:txBody>
      </p:sp>
      <p:sp>
        <p:nvSpPr>
          <p:cNvPr id="154" name="Shape 150"/>
          <p:cNvSpPr/>
          <p:nvPr/>
        </p:nvSpPr>
        <p:spPr>
          <a:xfrm>
            <a:off x="10515600" y="4937760"/>
            <a:ext cx="1264615" cy="347472"/>
          </a:xfrm>
          <a:prstGeom prst="rect">
            <a:avLst/>
          </a:prstGeom>
          <a:solidFill>
            <a:srgbClr val="F1F7F3"/>
          </a:solidFill>
          <a:ln/>
        </p:spPr>
      </p:sp>
      <p:sp>
        <p:nvSpPr>
          <p:cNvPr id="155" name="Text 151"/>
          <p:cNvSpPr txBox="1"/>
          <p:nvPr/>
        </p:nvSpPr>
        <p:spPr>
          <a:xfrm>
            <a:off x="10561320" y="4937760"/>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 A4</a:t>
            </a:r>
            <a:endParaRPr lang="en-US" sz="950" dirty="0"/>
          </a:p>
        </p:txBody>
      </p:sp>
      <p:sp>
        <p:nvSpPr>
          <p:cNvPr id="156" name="Shape 152"/>
          <p:cNvSpPr/>
          <p:nvPr/>
        </p:nvSpPr>
        <p:spPr>
          <a:xfrm>
            <a:off x="411480" y="5285232"/>
            <a:ext cx="11368735" cy="0"/>
          </a:xfrm>
          <a:prstGeom prst="line">
            <a:avLst/>
          </a:prstGeom>
          <a:noFill/>
          <a:ln w="6350">
            <a:solidFill>
              <a:srgbClr val="E3E8E4"/>
            </a:solidFill>
            <a:prstDash val="solid"/>
          </a:ln>
        </p:spPr>
      </p:sp>
      <p:sp>
        <p:nvSpPr>
          <p:cNvPr id="157" name="Shape 153"/>
          <p:cNvSpPr/>
          <p:nvPr/>
        </p:nvSpPr>
        <p:spPr>
          <a:xfrm>
            <a:off x="411480" y="5285232"/>
            <a:ext cx="320040" cy="347472"/>
          </a:xfrm>
          <a:prstGeom prst="rect">
            <a:avLst/>
          </a:prstGeom>
          <a:solidFill>
            <a:srgbClr val="FFFFFF"/>
          </a:solidFill>
          <a:ln/>
        </p:spPr>
      </p:sp>
      <p:sp>
        <p:nvSpPr>
          <p:cNvPr id="158" name="Text 154"/>
          <p:cNvSpPr txBox="1"/>
          <p:nvPr/>
        </p:nvSpPr>
        <p:spPr>
          <a:xfrm>
            <a:off x="457200" y="5285232"/>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12</a:t>
            </a:r>
            <a:endParaRPr lang="en-US" sz="950" dirty="0"/>
          </a:p>
        </p:txBody>
      </p:sp>
      <p:sp>
        <p:nvSpPr>
          <p:cNvPr id="159" name="Shape 155"/>
          <p:cNvSpPr/>
          <p:nvPr/>
        </p:nvSpPr>
        <p:spPr>
          <a:xfrm>
            <a:off x="731520" y="5285232"/>
            <a:ext cx="3749040" cy="347472"/>
          </a:xfrm>
          <a:prstGeom prst="rect">
            <a:avLst/>
          </a:prstGeom>
          <a:solidFill>
            <a:srgbClr val="FFFFFF"/>
          </a:solidFill>
          <a:ln/>
        </p:spPr>
      </p:sp>
      <p:sp>
        <p:nvSpPr>
          <p:cNvPr id="160" name="Text 156"/>
          <p:cNvSpPr txBox="1"/>
          <p:nvPr/>
        </p:nvSpPr>
        <p:spPr>
          <a:xfrm>
            <a:off x="777240" y="5285232"/>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WhatsApp and LLM price pages; Patna pay data (research R5, R6)</a:t>
            </a:r>
            <a:endParaRPr lang="en-US" sz="950" dirty="0"/>
          </a:p>
        </p:txBody>
      </p:sp>
      <p:sp>
        <p:nvSpPr>
          <p:cNvPr id="161" name="Shape 157"/>
          <p:cNvSpPr/>
          <p:nvPr/>
        </p:nvSpPr>
        <p:spPr>
          <a:xfrm>
            <a:off x="4480560" y="5285232"/>
            <a:ext cx="4206240" cy="347472"/>
          </a:xfrm>
          <a:prstGeom prst="rect">
            <a:avLst/>
          </a:prstGeom>
          <a:solidFill>
            <a:srgbClr val="FFFFFF"/>
          </a:solidFill>
          <a:ln/>
        </p:spPr>
      </p:sp>
      <p:sp>
        <p:nvSpPr>
          <p:cNvPr id="162" name="Text 158"/>
          <p:cNvSpPr txBox="1"/>
          <p:nvPr/>
        </p:nvSpPr>
        <p:spPr>
          <a:xfrm>
            <a:off x="4526280" y="5285232"/>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Cost per student, staff hour ₹100</a:t>
            </a:r>
            <a:endParaRPr lang="en-US" sz="950" dirty="0"/>
          </a:p>
        </p:txBody>
      </p:sp>
      <p:sp>
        <p:nvSpPr>
          <p:cNvPr id="163" name="Shape 159"/>
          <p:cNvSpPr/>
          <p:nvPr/>
        </p:nvSpPr>
        <p:spPr>
          <a:xfrm>
            <a:off x="8686800" y="5285232"/>
            <a:ext cx="1828800" cy="347472"/>
          </a:xfrm>
          <a:prstGeom prst="rect">
            <a:avLst/>
          </a:prstGeom>
          <a:solidFill>
            <a:srgbClr val="FFFFFF"/>
          </a:solidFill>
          <a:ln/>
        </p:spPr>
      </p:sp>
      <p:sp>
        <p:nvSpPr>
          <p:cNvPr id="164" name="Text 160"/>
          <p:cNvSpPr txBox="1"/>
          <p:nvPr/>
        </p:nvSpPr>
        <p:spPr>
          <a:xfrm>
            <a:off x="8732520" y="5285232"/>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 to high</a:t>
            </a:r>
            <a:endParaRPr lang="en-US" sz="950" dirty="0"/>
          </a:p>
        </p:txBody>
      </p:sp>
      <p:sp>
        <p:nvSpPr>
          <p:cNvPr id="165" name="Shape 161"/>
          <p:cNvSpPr/>
          <p:nvPr/>
        </p:nvSpPr>
        <p:spPr>
          <a:xfrm>
            <a:off x="10515600" y="5285232"/>
            <a:ext cx="1264615" cy="347472"/>
          </a:xfrm>
          <a:prstGeom prst="rect">
            <a:avLst/>
          </a:prstGeom>
          <a:solidFill>
            <a:srgbClr val="FFFFFF"/>
          </a:solidFill>
          <a:ln/>
        </p:spPr>
      </p:sp>
      <p:sp>
        <p:nvSpPr>
          <p:cNvPr id="166" name="Text 162"/>
          <p:cNvSpPr txBox="1"/>
          <p:nvPr/>
        </p:nvSpPr>
        <p:spPr>
          <a:xfrm>
            <a:off x="10561320" y="5285232"/>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5, 11</a:t>
            </a:r>
            <a:endParaRPr lang="en-US" sz="950" dirty="0"/>
          </a:p>
        </p:txBody>
      </p:sp>
      <p:sp>
        <p:nvSpPr>
          <p:cNvPr id="167" name="Shape 163"/>
          <p:cNvSpPr/>
          <p:nvPr/>
        </p:nvSpPr>
        <p:spPr>
          <a:xfrm>
            <a:off x="411480" y="5632704"/>
            <a:ext cx="11368735" cy="0"/>
          </a:xfrm>
          <a:prstGeom prst="line">
            <a:avLst/>
          </a:prstGeom>
          <a:noFill/>
          <a:ln w="6350">
            <a:solidFill>
              <a:srgbClr val="E3E8E4"/>
            </a:solidFill>
            <a:prstDash val="solid"/>
          </a:ln>
        </p:spPr>
      </p:sp>
      <p:sp>
        <p:nvSpPr>
          <p:cNvPr id="168" name="Shape 164"/>
          <p:cNvSpPr/>
          <p:nvPr/>
        </p:nvSpPr>
        <p:spPr>
          <a:xfrm>
            <a:off x="411480" y="5632704"/>
            <a:ext cx="320040" cy="347472"/>
          </a:xfrm>
          <a:prstGeom prst="rect">
            <a:avLst/>
          </a:prstGeom>
          <a:solidFill>
            <a:srgbClr val="F1F7F3"/>
          </a:solidFill>
          <a:ln/>
        </p:spPr>
      </p:sp>
      <p:sp>
        <p:nvSpPr>
          <p:cNvPr id="169" name="Text 165"/>
          <p:cNvSpPr txBox="1"/>
          <p:nvPr/>
        </p:nvSpPr>
        <p:spPr>
          <a:xfrm>
            <a:off x="457200" y="5632704"/>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13</a:t>
            </a:r>
            <a:endParaRPr lang="en-US" sz="950" dirty="0"/>
          </a:p>
        </p:txBody>
      </p:sp>
      <p:sp>
        <p:nvSpPr>
          <p:cNvPr id="170" name="Shape 166"/>
          <p:cNvSpPr/>
          <p:nvPr/>
        </p:nvSpPr>
        <p:spPr>
          <a:xfrm>
            <a:off x="731520" y="5632704"/>
            <a:ext cx="3749040" cy="347472"/>
          </a:xfrm>
          <a:prstGeom prst="rect">
            <a:avLst/>
          </a:prstGeom>
          <a:solidFill>
            <a:srgbClr val="F1F7F3"/>
          </a:solidFill>
          <a:ln/>
        </p:spPr>
      </p:sp>
      <p:sp>
        <p:nvSpPr>
          <p:cNvPr id="171" name="Text 167"/>
          <p:cNvSpPr txBox="1"/>
          <p:nvPr/>
        </p:nvSpPr>
        <p:spPr>
          <a:xfrm>
            <a:off x="777240" y="5632704"/>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Financial model v1.1 (CFO audit, 22 Oct 2026)</a:t>
            </a:r>
            <a:endParaRPr lang="en-US" sz="950" dirty="0"/>
          </a:p>
        </p:txBody>
      </p:sp>
      <p:sp>
        <p:nvSpPr>
          <p:cNvPr id="172" name="Shape 168"/>
          <p:cNvSpPr/>
          <p:nvPr/>
        </p:nvSpPr>
        <p:spPr>
          <a:xfrm>
            <a:off x="4480560" y="5632704"/>
            <a:ext cx="4206240" cy="347472"/>
          </a:xfrm>
          <a:prstGeom prst="rect">
            <a:avLst/>
          </a:prstGeom>
          <a:solidFill>
            <a:srgbClr val="F1F7F3"/>
          </a:solidFill>
          <a:ln/>
        </p:spPr>
      </p:sp>
      <p:sp>
        <p:nvSpPr>
          <p:cNvPr id="173" name="Text 169"/>
          <p:cNvSpPr txBox="1"/>
          <p:nvPr/>
        </p:nvSpPr>
        <p:spPr>
          <a:xfrm>
            <a:off x="4526280" y="5632704"/>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Return, LTV/CAC, payback, margin, 3-year plan, scenarios</a:t>
            </a:r>
            <a:endParaRPr lang="en-US" sz="950" dirty="0"/>
          </a:p>
        </p:txBody>
      </p:sp>
      <p:sp>
        <p:nvSpPr>
          <p:cNvPr id="174" name="Shape 170"/>
          <p:cNvSpPr/>
          <p:nvPr/>
        </p:nvSpPr>
        <p:spPr>
          <a:xfrm>
            <a:off x="8686800" y="5632704"/>
            <a:ext cx="1828800" cy="347472"/>
          </a:xfrm>
          <a:prstGeom prst="rect">
            <a:avLst/>
          </a:prstGeom>
          <a:solidFill>
            <a:srgbClr val="F1F7F3"/>
          </a:solidFill>
          <a:ln/>
        </p:spPr>
      </p:sp>
      <p:sp>
        <p:nvSpPr>
          <p:cNvPr id="175" name="Text 171"/>
          <p:cNvSpPr txBox="1"/>
          <p:nvPr/>
        </p:nvSpPr>
        <p:spPr>
          <a:xfrm>
            <a:off x="8732520" y="5632704"/>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Model output</a:t>
            </a:r>
            <a:endParaRPr lang="en-US" sz="950" dirty="0"/>
          </a:p>
        </p:txBody>
      </p:sp>
      <p:sp>
        <p:nvSpPr>
          <p:cNvPr id="176" name="Shape 172"/>
          <p:cNvSpPr/>
          <p:nvPr/>
        </p:nvSpPr>
        <p:spPr>
          <a:xfrm>
            <a:off x="10515600" y="5632704"/>
            <a:ext cx="1264615" cy="347472"/>
          </a:xfrm>
          <a:prstGeom prst="rect">
            <a:avLst/>
          </a:prstGeom>
          <a:solidFill>
            <a:srgbClr val="F1F7F3"/>
          </a:solidFill>
          <a:ln/>
        </p:spPr>
      </p:sp>
      <p:sp>
        <p:nvSpPr>
          <p:cNvPr id="177" name="Text 173"/>
          <p:cNvSpPr txBox="1"/>
          <p:nvPr/>
        </p:nvSpPr>
        <p:spPr>
          <a:xfrm>
            <a:off x="10561320" y="5632704"/>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 4, 11–13, A1–A2</a:t>
            </a:r>
            <a:endParaRPr lang="en-US" sz="950" dirty="0"/>
          </a:p>
        </p:txBody>
      </p:sp>
      <p:sp>
        <p:nvSpPr>
          <p:cNvPr id="178" name="Shape 174"/>
          <p:cNvSpPr/>
          <p:nvPr/>
        </p:nvSpPr>
        <p:spPr>
          <a:xfrm>
            <a:off x="411480" y="5980176"/>
            <a:ext cx="11368735" cy="0"/>
          </a:xfrm>
          <a:prstGeom prst="line">
            <a:avLst/>
          </a:prstGeom>
          <a:noFill/>
          <a:ln w="6350">
            <a:solidFill>
              <a:srgbClr val="E3E8E4"/>
            </a:solidFill>
            <a:prstDash val="solid"/>
          </a:ln>
        </p:spPr>
      </p:sp>
      <p:sp>
        <p:nvSpPr>
          <p:cNvPr id="179" name="Text 175"/>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Full citations with URLs and licences: technical/docs/CITATIONS.md and financial/research. Every model number traces to the financial workbook or a metrics.json file.</a:t>
            </a:r>
            <a:endParaRPr lang="en-US" sz="850" dirty="0"/>
          </a:p>
        </p:txBody>
      </p:sp>
      <p:pic>
        <p:nvPicPr>
          <p:cNvPr id="180"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181"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182"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183"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184"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185"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186"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shop">    </p:cNvPr>
          <p:cNvPicPr>
            <a:picLocks noChangeAspect="1"/>
          </p:cNvPicPr>
          <p:nvPr/>
        </p:nvPicPr>
        <p:blipFill>
          <a:blip r:embed="rId1"/>
          <a:stretch>
            <a:fillRect/>
          </a:stretch>
        </p:blipFill>
        <p:spPr>
          <a:xfrm>
            <a:off x="11247120" y="512064"/>
            <a:ext cx="438912" cy="438912"/>
          </a:xfrm>
          <a:prstGeom prst="rect">
            <a:avLst/>
          </a:prstGeom>
        </p:spPr>
      </p:pic>
      <p:sp>
        <p:nvSpPr>
          <p:cNvPr id="21" name="Text 18"/>
          <p:cNvSpPr txBox="1"/>
          <p:nvPr/>
        </p:nvSpPr>
        <p:spPr>
          <a:xfrm>
            <a:off x="9509760" y="630936"/>
            <a:ext cx="1463040" cy="201168"/>
          </a:xfrm>
          <a:prstGeom prst="rect">
            <a:avLst/>
          </a:prstGeom>
          <a:noFill/>
          <a:ln/>
        </p:spPr>
        <p:txBody>
          <a:bodyPr wrap="square" lIns="0" tIns="0" rIns="0" bIns="0" rtlCol="0" anchor="ctr"/>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SECTION 8 OF 8</a:t>
            </a:r>
            <a:endParaRPr lang="en-US" sz="850" dirty="0"/>
          </a:p>
        </p:txBody>
      </p:sp>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8: WHERE WE SELL FIRST</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Where the first hundred institutes are, and how we reach them</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88720"/>
            <a:ext cx="5852160" cy="347472"/>
          </a:xfrm>
          <a:prstGeom prst="roundRect">
            <a:avLst>
              <a:gd name="adj" fmla="val 50000"/>
            </a:avLst>
          </a:prstGeom>
          <a:solidFill>
            <a:srgbClr val="1F4A82"/>
          </a:solidFill>
          <a:ln/>
        </p:spPr>
      </p:sp>
      <p:sp>
        <p:nvSpPr>
          <p:cNvPr id="27" name="Text 23"/>
          <p:cNvSpPr txBox="1"/>
          <p:nvPr/>
        </p:nvSpPr>
        <p:spPr>
          <a:xfrm>
            <a:off x="411480" y="1188720"/>
            <a:ext cx="58521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Where institutes are (state shade = addressable, Base)</a:t>
            </a:r>
            <a:endParaRPr lang="en-US" sz="1400" dirty="0"/>
          </a:p>
        </p:txBody>
      </p:sp>
      <p:pic>
        <p:nvPicPr>
          <p:cNvPr id="28" name="Image 1" descr="Map of India: target states shaded by addressable institutes, cities sized by coaching density, coloured by tier">    </p:cNvPr>
          <p:cNvPicPr>
            <a:picLocks noChangeAspect="1"/>
          </p:cNvPicPr>
          <p:nvPr/>
        </p:nvPicPr>
        <p:blipFill>
          <a:blip r:embed="rId2"/>
          <a:stretch>
            <a:fillRect/>
          </a:stretch>
        </p:blipFill>
        <p:spPr>
          <a:xfrm>
            <a:off x="411480" y="1627632"/>
            <a:ext cx="4160520" cy="4709160"/>
          </a:xfrm>
          <a:prstGeom prst="rect">
            <a:avLst/>
          </a:prstGeom>
        </p:spPr>
      </p:pic>
      <p:sp>
        <p:nvSpPr>
          <p:cNvPr id="29" name="Shape 24"/>
          <p:cNvSpPr/>
          <p:nvPr/>
        </p:nvSpPr>
        <p:spPr>
          <a:xfrm>
            <a:off x="4681728" y="1810512"/>
            <a:ext cx="182880" cy="182880"/>
          </a:xfrm>
          <a:prstGeom prst="ellipse">
            <a:avLst/>
          </a:prstGeom>
          <a:solidFill>
            <a:srgbClr val="8A94A6"/>
          </a:solidFill>
          <a:ln w="12700">
            <a:solidFill>
              <a:srgbClr val="FFFFFF"/>
            </a:solidFill>
            <a:prstDash val="solid"/>
          </a:ln>
        </p:spPr>
      </p:sp>
      <p:sp>
        <p:nvSpPr>
          <p:cNvPr id="30" name="Text 25"/>
          <p:cNvSpPr txBox="1"/>
          <p:nvPr/>
        </p:nvSpPr>
        <p:spPr>
          <a:xfrm>
            <a:off x="4919472" y="1737360"/>
            <a:ext cx="1463040" cy="365760"/>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Tier 1</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chains dominate; skip</a:t>
            </a:r>
            <a:endParaRPr lang="en-US" sz="1400" dirty="0"/>
          </a:p>
        </p:txBody>
      </p:sp>
      <p:sp>
        <p:nvSpPr>
          <p:cNvPr id="31" name="Shape 26"/>
          <p:cNvSpPr/>
          <p:nvPr/>
        </p:nvSpPr>
        <p:spPr>
          <a:xfrm>
            <a:off x="4681728" y="2267712"/>
            <a:ext cx="182880" cy="182880"/>
          </a:xfrm>
          <a:prstGeom prst="ellipse">
            <a:avLst/>
          </a:prstGeom>
          <a:solidFill>
            <a:srgbClr val="D4A24C"/>
          </a:solidFill>
          <a:ln w="12700">
            <a:solidFill>
              <a:srgbClr val="FFFFFF"/>
            </a:solidFill>
            <a:prstDash val="solid"/>
          </a:ln>
        </p:spPr>
      </p:sp>
      <p:sp>
        <p:nvSpPr>
          <p:cNvPr id="32" name="Text 27"/>
          <p:cNvSpPr txBox="1"/>
          <p:nvPr/>
        </p:nvSpPr>
        <p:spPr>
          <a:xfrm>
            <a:off x="4919472" y="2194560"/>
            <a:ext cx="1463040" cy="365760"/>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Tier 2</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coaching hubs; start here</a:t>
            </a:r>
            <a:endParaRPr lang="en-US" sz="1400" dirty="0"/>
          </a:p>
        </p:txBody>
      </p:sp>
      <p:sp>
        <p:nvSpPr>
          <p:cNvPr id="33" name="Shape 28"/>
          <p:cNvSpPr/>
          <p:nvPr/>
        </p:nvSpPr>
        <p:spPr>
          <a:xfrm>
            <a:off x="4681728" y="2724912"/>
            <a:ext cx="182880" cy="182880"/>
          </a:xfrm>
          <a:prstGeom prst="ellipse">
            <a:avLst/>
          </a:prstGeom>
          <a:solidFill>
            <a:srgbClr val="E8743B"/>
          </a:solidFill>
          <a:ln w="12700">
            <a:solidFill>
              <a:srgbClr val="FFFFFF"/>
            </a:solidFill>
            <a:prstDash val="solid"/>
          </a:ln>
        </p:spPr>
      </p:sp>
      <p:sp>
        <p:nvSpPr>
          <p:cNvPr id="34" name="Text 29"/>
          <p:cNvSpPr txBox="1"/>
          <p:nvPr/>
        </p:nvSpPr>
        <p:spPr>
          <a:xfrm>
            <a:off x="4919472" y="2651760"/>
            <a:ext cx="1463040" cy="365760"/>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Tier 3</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independents; demos</a:t>
            </a:r>
            <a:endParaRPr lang="en-US" sz="1400" dirty="0"/>
          </a:p>
        </p:txBody>
      </p:sp>
      <p:sp>
        <p:nvSpPr>
          <p:cNvPr id="35" name="Text 30"/>
          <p:cNvSpPr txBox="1"/>
          <p:nvPr/>
        </p:nvSpPr>
        <p:spPr>
          <a:xfrm>
            <a:off x="4681728" y="3200400"/>
            <a:ext cx="1737360" cy="201168"/>
          </a:xfrm>
          <a:prstGeom prst="rect">
            <a:avLst/>
          </a:prstGeom>
          <a:noFill/>
          <a:ln/>
        </p:spPr>
        <p:txBody>
          <a:bodyPr wrap="square" lIns="0" tIns="0" rIns="0" bIns="0" rtlCol="0" anchor="t"/>
          <a:lstStyle/>
          <a:p>
            <a:pPr algn="l" indent="0" marL="0">
              <a:buNone/>
            </a:pPr>
            <a:r>
              <a:rPr lang="en-US" sz="900" b="1" dirty="0">
                <a:solidFill>
                  <a:srgbClr val="17325C"/>
                </a:solidFill>
                <a:latin typeface="Calibri" pitchFamily="34" charset="0"/>
                <a:ea typeface="Calibri" pitchFamily="34" charset="-122"/>
                <a:cs typeface="Calibri" pitchFamily="34" charset="-120"/>
              </a:rPr>
              <a:t>Bubble size = coaching density</a:t>
            </a:r>
            <a:endParaRPr lang="en-US" sz="900" dirty="0"/>
          </a:p>
        </p:txBody>
      </p:sp>
      <p:sp>
        <p:nvSpPr>
          <p:cNvPr id="36" name="Shape 31"/>
          <p:cNvSpPr/>
          <p:nvPr/>
        </p:nvSpPr>
        <p:spPr>
          <a:xfrm>
            <a:off x="4681728" y="3493008"/>
            <a:ext cx="274320" cy="274320"/>
          </a:xfrm>
          <a:prstGeom prst="ellipse">
            <a:avLst/>
          </a:prstGeom>
          <a:solidFill>
            <a:srgbClr val="D4A24C"/>
          </a:solidFill>
          <a:ln w="12700">
            <a:solidFill>
              <a:srgbClr val="FFFFFF"/>
            </a:solidFill>
            <a:prstDash val="solid"/>
          </a:ln>
        </p:spPr>
      </p:sp>
      <p:sp>
        <p:nvSpPr>
          <p:cNvPr id="37" name="Text 32"/>
          <p:cNvSpPr txBox="1"/>
          <p:nvPr/>
        </p:nvSpPr>
        <p:spPr>
          <a:xfrm>
            <a:off x="5074920" y="3456432"/>
            <a:ext cx="10972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p>
        </p:txBody>
      </p:sp>
      <p:sp>
        <p:nvSpPr>
          <p:cNvPr id="38" name="Shape 33"/>
          <p:cNvSpPr/>
          <p:nvPr/>
        </p:nvSpPr>
        <p:spPr>
          <a:xfrm>
            <a:off x="4727448" y="3867912"/>
            <a:ext cx="182880" cy="182880"/>
          </a:xfrm>
          <a:prstGeom prst="ellipse">
            <a:avLst/>
          </a:prstGeom>
          <a:solidFill>
            <a:srgbClr val="D4A24C"/>
          </a:solidFill>
          <a:ln w="12700">
            <a:solidFill>
              <a:srgbClr val="FFFFFF"/>
            </a:solidFill>
            <a:prstDash val="solid"/>
          </a:ln>
        </p:spPr>
      </p:sp>
      <p:sp>
        <p:nvSpPr>
          <p:cNvPr id="39" name="Text 34"/>
          <p:cNvSpPr txBox="1"/>
          <p:nvPr/>
        </p:nvSpPr>
        <p:spPr>
          <a:xfrm>
            <a:off x="5074920" y="3785616"/>
            <a:ext cx="10972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Medium</a:t>
            </a:r>
            <a:endParaRPr lang="en-US" sz="900" dirty="0"/>
          </a:p>
        </p:txBody>
      </p:sp>
      <p:sp>
        <p:nvSpPr>
          <p:cNvPr id="40" name="Shape 35"/>
          <p:cNvSpPr/>
          <p:nvPr/>
        </p:nvSpPr>
        <p:spPr>
          <a:xfrm>
            <a:off x="4764024" y="4233672"/>
            <a:ext cx="109728" cy="109728"/>
          </a:xfrm>
          <a:prstGeom prst="ellipse">
            <a:avLst/>
          </a:prstGeom>
          <a:solidFill>
            <a:srgbClr val="D4A24C"/>
          </a:solidFill>
          <a:ln w="12700">
            <a:solidFill>
              <a:srgbClr val="FFFFFF"/>
            </a:solidFill>
            <a:prstDash val="solid"/>
          </a:ln>
        </p:spPr>
      </p:sp>
      <p:sp>
        <p:nvSpPr>
          <p:cNvPr id="41" name="Text 36"/>
          <p:cNvSpPr txBox="1"/>
          <p:nvPr/>
        </p:nvSpPr>
        <p:spPr>
          <a:xfrm>
            <a:off x="5074920" y="4114800"/>
            <a:ext cx="10972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Low</a:t>
            </a:r>
            <a:endParaRPr lang="en-US" sz="900" dirty="0"/>
          </a:p>
        </p:txBody>
      </p:sp>
      <p:sp>
        <p:nvSpPr>
          <p:cNvPr id="42" name="Text 37"/>
          <p:cNvSpPr txBox="1"/>
          <p:nvPr/>
        </p:nvSpPr>
        <p:spPr>
          <a:xfrm>
            <a:off x="4681728" y="4526280"/>
            <a:ext cx="1691640" cy="502920"/>
          </a:xfrm>
          <a:prstGeom prst="rect">
            <a:avLst/>
          </a:prstGeom>
          <a:noFill/>
          <a:ln/>
        </p:spPr>
        <p:txBody>
          <a:bodyPr wrap="square" lIns="0" tIns="0" rIns="0" bIns="0" rtlCol="0" anchor="t"/>
          <a:lstStyle/>
          <a:p>
            <a:pPr algn="l" indent="0" marL="0">
              <a:buNone/>
            </a:pPr>
            <a:r>
              <a:rPr lang="en-US" sz="800" i="1" dirty="0">
                <a:solidFill>
                  <a:srgbClr val="5B6573"/>
                </a:solidFill>
                <a:latin typeface="Calibri" pitchFamily="34" charset="0"/>
                <a:ea typeface="Calibri" pitchFamily="34" charset="-122"/>
                <a:cs typeface="Calibri" pitchFamily="34" charset="-120"/>
              </a:rPr>
              <a:t>Density is our qualitative estimate for planning, not a count.</a:t>
            </a:r>
            <a:endParaRPr lang="en-US" sz="800" dirty="0"/>
          </a:p>
        </p:txBody>
      </p:sp>
      <p:sp>
        <p:nvSpPr>
          <p:cNvPr id="43" name="Text 38"/>
          <p:cNvSpPr txBox="1"/>
          <p:nvPr/>
        </p:nvSpPr>
        <p:spPr>
          <a:xfrm>
            <a:off x="5029200" y="5084064"/>
            <a:ext cx="1371600" cy="384048"/>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Patna first</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in-person access</a:t>
            </a:r>
            <a:endParaRPr lang="en-US" sz="1400" dirty="0"/>
          </a:p>
        </p:txBody>
      </p:sp>
      <p:sp>
        <p:nvSpPr>
          <p:cNvPr id="44" name="Text 39"/>
          <p:cNvSpPr txBox="1"/>
          <p:nvPr/>
        </p:nvSpPr>
        <p:spPr>
          <a:xfrm>
            <a:off x="5029200" y="5614416"/>
            <a:ext cx="1371600" cy="384048"/>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Kota</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dense, chain-held</a:t>
            </a:r>
            <a:endParaRPr lang="en-US" sz="1400" dirty="0"/>
          </a:p>
        </p:txBody>
      </p:sp>
      <p:sp>
        <p:nvSpPr>
          <p:cNvPr id="45" name="Shape 40"/>
          <p:cNvSpPr/>
          <p:nvPr/>
        </p:nvSpPr>
        <p:spPr>
          <a:xfrm>
            <a:off x="6492240" y="1188720"/>
            <a:ext cx="5285232" cy="347472"/>
          </a:xfrm>
          <a:prstGeom prst="roundRect">
            <a:avLst>
              <a:gd name="adj" fmla="val 50000"/>
            </a:avLst>
          </a:prstGeom>
          <a:solidFill>
            <a:srgbClr val="1F4A82"/>
          </a:solidFill>
          <a:ln/>
        </p:spPr>
      </p:sp>
      <p:sp>
        <p:nvSpPr>
          <p:cNvPr id="46" name="Text 41"/>
          <p:cNvSpPr txBox="1"/>
          <p:nvPr/>
        </p:nvSpPr>
        <p:spPr>
          <a:xfrm>
            <a:off x="6492240" y="1188720"/>
            <a:ext cx="528523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How we start selling</a:t>
            </a:r>
            <a:endParaRPr lang="en-US" sz="1400" dirty="0"/>
          </a:p>
        </p:txBody>
      </p:sp>
      <p:sp>
        <p:nvSpPr>
          <p:cNvPr id="47" name="Shape 42"/>
          <p:cNvSpPr/>
          <p:nvPr/>
        </p:nvSpPr>
        <p:spPr>
          <a:xfrm>
            <a:off x="6492240" y="1755648"/>
            <a:ext cx="420624" cy="420624"/>
          </a:xfrm>
          <a:prstGeom prst="ellipse">
            <a:avLst/>
          </a:prstGeom>
          <a:solidFill>
            <a:srgbClr val="D4A24C"/>
          </a:solidFill>
          <a:ln w="25400">
            <a:solidFill>
              <a:srgbClr val="FFFFFF"/>
            </a:solidFill>
            <a:prstDash val="solid"/>
          </a:ln>
        </p:spPr>
      </p:sp>
      <p:sp>
        <p:nvSpPr>
          <p:cNvPr id="48" name="Text 43"/>
          <p:cNvSpPr txBox="1"/>
          <p:nvPr/>
        </p:nvSpPr>
        <p:spPr>
          <a:xfrm>
            <a:off x="6492240" y="1755648"/>
            <a:ext cx="420624" cy="420624"/>
          </a:xfrm>
          <a:prstGeom prst="rect">
            <a:avLst/>
          </a:prstGeom>
          <a:noFill/>
          <a:ln/>
        </p:spPr>
        <p:txBody>
          <a:bodyPr wrap="square" lIns="0" tIns="0" rIns="0" bIns="0" rtlCol="0" anchor="ctr"/>
          <a:lstStyle/>
          <a:p>
            <a:pPr algn="ctr" indent="0" marL="0">
              <a:buNone/>
            </a:pPr>
            <a:r>
              <a:rPr lang="en-US" sz="1400" b="1" dirty="0">
                <a:solidFill>
                  <a:srgbClr val="17325C"/>
                </a:solidFill>
                <a:latin typeface="Calibri" pitchFamily="34" charset="0"/>
                <a:ea typeface="Calibri" pitchFamily="34" charset="-122"/>
                <a:cs typeface="Calibri" pitchFamily="34" charset="-120"/>
              </a:rPr>
              <a:t>1</a:t>
            </a:r>
            <a:endParaRPr lang="en-US" sz="1400" dirty="0"/>
          </a:p>
        </p:txBody>
      </p:sp>
      <p:sp>
        <p:nvSpPr>
          <p:cNvPr id="49" name="Text 44"/>
          <p:cNvSpPr txBox="1"/>
          <p:nvPr/>
        </p:nvSpPr>
        <p:spPr>
          <a:xfrm>
            <a:off x="7022592" y="1664208"/>
            <a:ext cx="3749040" cy="676656"/>
          </a:xfrm>
          <a:prstGeom prst="rect">
            <a:avLst/>
          </a:prstGeom>
          <a:noFill/>
          <a:ln/>
        </p:spPr>
        <p:txBody>
          <a:bodyPr wrap="square" lIns="0" tIns="0" rIns="0" bIns="0" rtlCol="0" anchor="ctr"/>
          <a:lstStyle/>
          <a:p>
            <a:pPr algn="l" indent="0" marL="0">
              <a:buNone/>
            </a:pPr>
            <a:r>
              <a:rPr lang="en-US" sz="1200" b="1" dirty="0">
                <a:solidFill>
                  <a:srgbClr val="1F4A82"/>
                </a:solidFill>
                <a:latin typeface="Calibri" pitchFamily="34" charset="0"/>
                <a:ea typeface="Calibri" pitchFamily="34" charset="-122"/>
                <a:cs typeface="Calibri" pitchFamily="34" charset="-120"/>
              </a:rPr>
              <a:t>Patna, Jan to Mar 2027</a:t>
            </a:r>
            <a:endParaRPr lang="en-US" sz="1400" dirty="0"/>
          </a:p>
          <a:p>
            <a:pPr algn="l" indent="0" marL="0">
              <a:buNone/>
            </a:pPr>
            <a:r>
              <a:rPr lang="en-US" sz="950" dirty="0">
                <a:solidFill>
                  <a:srgbClr val="1F2937"/>
                </a:solidFill>
                <a:latin typeface="Calibri" pitchFamily="34" charset="0"/>
                <a:ea typeface="Calibri" pitchFamily="34" charset="-122"/>
                <a:cs typeface="Calibri" pitchFamily="34" charset="-120"/>
              </a:rPr>
              <a:t>2 free retro-pilots on last year's Excel; about 115 to 145 qualifying institutes in Patna (cross-check)</a:t>
            </a:r>
            <a:endParaRPr lang="en-US" sz="1400" dirty="0"/>
          </a:p>
        </p:txBody>
      </p:sp>
      <p:sp>
        <p:nvSpPr>
          <p:cNvPr id="50" name="Text 45"/>
          <p:cNvSpPr txBox="1"/>
          <p:nvPr/>
        </p:nvSpPr>
        <p:spPr>
          <a:xfrm>
            <a:off x="10835640" y="1901952"/>
            <a:ext cx="914400" cy="219456"/>
          </a:xfrm>
          <a:prstGeom prst="rect">
            <a:avLst/>
          </a:prstGeom>
          <a:noFill/>
          <a:ln/>
        </p:spPr>
        <p:txBody>
          <a:bodyPr wrap="square" lIns="0" tIns="0" rIns="0" bIns="0" rtlCol="0" anchor="ctr"/>
          <a:lstStyle/>
          <a:p>
            <a:pPr algn="l" indent="0" marL="0">
              <a:buNone/>
            </a:pPr>
            <a:r>
              <a:rPr lang="en-US" sz="1200" dirty="0">
                <a:solidFill>
                  <a:srgbClr val="D4A24C"/>
                </a:solidFill>
                <a:latin typeface="Segoe UI Symbol" pitchFamily="34" charset="0"/>
                <a:ea typeface="Segoe UI Symbol" pitchFamily="34" charset="-122"/>
                <a:cs typeface="Segoe UI Symbol" pitchFamily="34" charset="-120"/>
              </a:rPr>
              <a:t>★★★★★</a:t>
            </a:r>
            <a:endParaRPr lang="en-US" sz="1200" dirty="0"/>
          </a:p>
        </p:txBody>
      </p:sp>
      <p:sp>
        <p:nvSpPr>
          <p:cNvPr id="51" name="Shape 46"/>
          <p:cNvSpPr/>
          <p:nvPr/>
        </p:nvSpPr>
        <p:spPr>
          <a:xfrm>
            <a:off x="6492240" y="2468880"/>
            <a:ext cx="420624" cy="420624"/>
          </a:xfrm>
          <a:prstGeom prst="ellipse">
            <a:avLst/>
          </a:prstGeom>
          <a:solidFill>
            <a:srgbClr val="D4A24C"/>
          </a:solidFill>
          <a:ln w="25400">
            <a:solidFill>
              <a:srgbClr val="FFFFFF"/>
            </a:solidFill>
            <a:prstDash val="solid"/>
          </a:ln>
        </p:spPr>
      </p:sp>
      <p:sp>
        <p:nvSpPr>
          <p:cNvPr id="52" name="Text 47"/>
          <p:cNvSpPr txBox="1"/>
          <p:nvPr/>
        </p:nvSpPr>
        <p:spPr>
          <a:xfrm>
            <a:off x="6492240" y="2468880"/>
            <a:ext cx="420624" cy="420624"/>
          </a:xfrm>
          <a:prstGeom prst="rect">
            <a:avLst/>
          </a:prstGeom>
          <a:noFill/>
          <a:ln/>
        </p:spPr>
        <p:txBody>
          <a:bodyPr wrap="square" lIns="0" tIns="0" rIns="0" bIns="0" rtlCol="0" anchor="ctr"/>
          <a:lstStyle/>
          <a:p>
            <a:pPr algn="ctr" indent="0" marL="0">
              <a:buNone/>
            </a:pPr>
            <a:r>
              <a:rPr lang="en-US" sz="1400" b="1" dirty="0">
                <a:solidFill>
                  <a:srgbClr val="17325C"/>
                </a:solidFill>
                <a:latin typeface="Calibri" pitchFamily="34" charset="0"/>
                <a:ea typeface="Calibri" pitchFamily="34" charset="-122"/>
                <a:cs typeface="Calibri" pitchFamily="34" charset="-120"/>
              </a:rPr>
              <a:t>2</a:t>
            </a:r>
            <a:endParaRPr lang="en-US" sz="1400" dirty="0"/>
          </a:p>
        </p:txBody>
      </p:sp>
      <p:sp>
        <p:nvSpPr>
          <p:cNvPr id="53" name="Text 48"/>
          <p:cNvSpPr txBox="1"/>
          <p:nvPr/>
        </p:nvSpPr>
        <p:spPr>
          <a:xfrm>
            <a:off x="7022592" y="2377440"/>
            <a:ext cx="3749040" cy="676656"/>
          </a:xfrm>
          <a:prstGeom prst="rect">
            <a:avLst/>
          </a:prstGeom>
          <a:noFill/>
          <a:ln/>
        </p:spPr>
        <p:txBody>
          <a:bodyPr wrap="square" lIns="0" tIns="0" rIns="0" bIns="0" rtlCol="0" anchor="ctr"/>
          <a:lstStyle/>
          <a:p>
            <a:pPr algn="l" indent="0" marL="0">
              <a:buNone/>
            </a:pPr>
            <a:r>
              <a:rPr lang="en-US" sz="1200" b="1" dirty="0">
                <a:solidFill>
                  <a:srgbClr val="1F4A82"/>
                </a:solidFill>
                <a:latin typeface="Calibri" pitchFamily="34" charset="0"/>
                <a:ea typeface="Calibri" pitchFamily="34" charset="-122"/>
                <a:cs typeface="Calibri" pitchFamily="34" charset="-120"/>
              </a:rPr>
              <a:t>Lucknow, Apr 2027</a:t>
            </a:r>
            <a:endParaRPr lang="en-US" sz="1400" dirty="0"/>
          </a:p>
          <a:p>
            <a:pPr algn="l" indent="0" marL="0">
              <a:buNone/>
            </a:pPr>
            <a:r>
              <a:rPr lang="en-US" sz="950" dirty="0">
                <a:solidFill>
                  <a:srgbClr val="1F2937"/>
                </a:solidFill>
                <a:latin typeface="Calibri" pitchFamily="34" charset="0"/>
                <a:ea typeface="Calibri" pitchFamily="34" charset="-122"/>
                <a:cs typeface="Calibri" pitchFamily="34" charset="-120"/>
              </a:rPr>
              <a:t>Paid pilots with comparison batches; Uttar Pradesh is the largest pool (about 490)</a:t>
            </a:r>
            <a:endParaRPr lang="en-US" sz="1400" dirty="0"/>
          </a:p>
        </p:txBody>
      </p:sp>
      <p:sp>
        <p:nvSpPr>
          <p:cNvPr id="54" name="Text 49"/>
          <p:cNvSpPr txBox="1"/>
          <p:nvPr/>
        </p:nvSpPr>
        <p:spPr>
          <a:xfrm>
            <a:off x="10835640" y="2615184"/>
            <a:ext cx="914400" cy="219456"/>
          </a:xfrm>
          <a:prstGeom prst="rect">
            <a:avLst/>
          </a:prstGeom>
          <a:noFill/>
          <a:ln/>
        </p:spPr>
        <p:txBody>
          <a:bodyPr wrap="square" lIns="0" tIns="0" rIns="0" bIns="0" rtlCol="0" anchor="ctr"/>
          <a:lstStyle/>
          <a:p>
            <a:pPr algn="l" indent="0" marL="0">
              <a:buNone/>
            </a:pPr>
            <a:r>
              <a:rPr lang="en-US" sz="1200" dirty="0">
                <a:solidFill>
                  <a:srgbClr val="D4A24C"/>
                </a:solidFill>
                <a:latin typeface="Segoe UI Symbol" pitchFamily="34" charset="0"/>
                <a:ea typeface="Segoe UI Symbol" pitchFamily="34" charset="-122"/>
                <a:cs typeface="Segoe UI Symbol" pitchFamily="34" charset="-120"/>
              </a:rPr>
              <a:t>★★★★☆</a:t>
            </a:r>
            <a:endParaRPr lang="en-US" sz="1200" dirty="0"/>
          </a:p>
        </p:txBody>
      </p:sp>
      <p:sp>
        <p:nvSpPr>
          <p:cNvPr id="55" name="Shape 50"/>
          <p:cNvSpPr/>
          <p:nvPr/>
        </p:nvSpPr>
        <p:spPr>
          <a:xfrm>
            <a:off x="6492240" y="3182112"/>
            <a:ext cx="420624" cy="420624"/>
          </a:xfrm>
          <a:prstGeom prst="ellipse">
            <a:avLst/>
          </a:prstGeom>
          <a:solidFill>
            <a:srgbClr val="D4A24C"/>
          </a:solidFill>
          <a:ln w="25400">
            <a:solidFill>
              <a:srgbClr val="FFFFFF"/>
            </a:solidFill>
            <a:prstDash val="solid"/>
          </a:ln>
        </p:spPr>
      </p:sp>
      <p:sp>
        <p:nvSpPr>
          <p:cNvPr id="56" name="Text 51"/>
          <p:cNvSpPr txBox="1"/>
          <p:nvPr/>
        </p:nvSpPr>
        <p:spPr>
          <a:xfrm>
            <a:off x="6492240" y="3182112"/>
            <a:ext cx="420624" cy="420624"/>
          </a:xfrm>
          <a:prstGeom prst="rect">
            <a:avLst/>
          </a:prstGeom>
          <a:noFill/>
          <a:ln/>
        </p:spPr>
        <p:txBody>
          <a:bodyPr wrap="square" lIns="0" tIns="0" rIns="0" bIns="0" rtlCol="0" anchor="ctr"/>
          <a:lstStyle/>
          <a:p>
            <a:pPr algn="ctr" indent="0" marL="0">
              <a:buNone/>
            </a:pPr>
            <a:r>
              <a:rPr lang="en-US" sz="1400" b="1" dirty="0">
                <a:solidFill>
                  <a:srgbClr val="17325C"/>
                </a:solidFill>
                <a:latin typeface="Calibri" pitchFamily="34" charset="0"/>
                <a:ea typeface="Calibri" pitchFamily="34" charset="-122"/>
                <a:cs typeface="Calibri" pitchFamily="34" charset="-120"/>
              </a:rPr>
              <a:t>3</a:t>
            </a:r>
            <a:endParaRPr lang="en-US" sz="1400" dirty="0"/>
          </a:p>
        </p:txBody>
      </p:sp>
      <p:sp>
        <p:nvSpPr>
          <p:cNvPr id="57" name="Text 52"/>
          <p:cNvSpPr txBox="1"/>
          <p:nvPr/>
        </p:nvSpPr>
        <p:spPr>
          <a:xfrm>
            <a:off x="7022592" y="3090672"/>
            <a:ext cx="3749040" cy="676656"/>
          </a:xfrm>
          <a:prstGeom prst="rect">
            <a:avLst/>
          </a:prstGeom>
          <a:noFill/>
          <a:ln/>
        </p:spPr>
        <p:txBody>
          <a:bodyPr wrap="square" lIns="0" tIns="0" rIns="0" bIns="0" rtlCol="0" anchor="ctr"/>
          <a:lstStyle/>
          <a:p>
            <a:pPr algn="l" indent="0" marL="0">
              <a:buNone/>
            </a:pPr>
            <a:r>
              <a:rPr lang="en-US" sz="1200" b="1" dirty="0">
                <a:solidFill>
                  <a:srgbClr val="1F4A82"/>
                </a:solidFill>
                <a:latin typeface="Calibri" pitchFamily="34" charset="0"/>
                <a:ea typeface="Calibri" pitchFamily="34" charset="-122"/>
                <a:cs typeface="Calibri" pitchFamily="34" charset="-120"/>
              </a:rPr>
              <a:t>Bihar and UP Tier-2, Ranchi, FY28</a:t>
            </a:r>
            <a:endParaRPr lang="en-US" sz="1400" dirty="0"/>
          </a:p>
          <a:p>
            <a:pPr algn="l" indent="0" marL="0">
              <a:buNone/>
            </a:pPr>
            <a:r>
              <a:rPr lang="en-US" sz="950" dirty="0">
                <a:solidFill>
                  <a:srgbClr val="1F2937"/>
                </a:solidFill>
                <a:latin typeface="Calibri" pitchFamily="34" charset="0"/>
                <a:ea typeface="Calibri" pitchFamily="34" charset="-122"/>
                <a:cs typeface="Calibri" pitchFamily="34" charset="-120"/>
              </a:rPr>
              <a:t>Gaya, Muzaffarpur, Kanpur, Varanasi, Ranchi by partners and demos</a:t>
            </a:r>
            <a:endParaRPr lang="en-US" sz="1400" dirty="0"/>
          </a:p>
        </p:txBody>
      </p:sp>
      <p:sp>
        <p:nvSpPr>
          <p:cNvPr id="58" name="Text 53"/>
          <p:cNvSpPr txBox="1"/>
          <p:nvPr/>
        </p:nvSpPr>
        <p:spPr>
          <a:xfrm>
            <a:off x="10835640" y="3328416"/>
            <a:ext cx="914400" cy="219456"/>
          </a:xfrm>
          <a:prstGeom prst="rect">
            <a:avLst/>
          </a:prstGeom>
          <a:noFill/>
          <a:ln/>
        </p:spPr>
        <p:txBody>
          <a:bodyPr wrap="square" lIns="0" tIns="0" rIns="0" bIns="0" rtlCol="0" anchor="ctr"/>
          <a:lstStyle/>
          <a:p>
            <a:pPr algn="l" indent="0" marL="0">
              <a:buNone/>
            </a:pPr>
            <a:r>
              <a:rPr lang="en-US" sz="1200" dirty="0">
                <a:solidFill>
                  <a:srgbClr val="D4A24C"/>
                </a:solidFill>
                <a:latin typeface="Segoe UI Symbol" pitchFamily="34" charset="0"/>
                <a:ea typeface="Segoe UI Symbol" pitchFamily="34" charset="-122"/>
                <a:cs typeface="Segoe UI Symbol" pitchFamily="34" charset="-120"/>
              </a:rPr>
              <a:t>★★★☆☆</a:t>
            </a:r>
            <a:endParaRPr lang="en-US" sz="1200" dirty="0"/>
          </a:p>
        </p:txBody>
      </p:sp>
      <p:sp>
        <p:nvSpPr>
          <p:cNvPr id="59" name="Shape 54"/>
          <p:cNvSpPr/>
          <p:nvPr/>
        </p:nvSpPr>
        <p:spPr>
          <a:xfrm>
            <a:off x="6492240" y="3895344"/>
            <a:ext cx="420624" cy="420624"/>
          </a:xfrm>
          <a:prstGeom prst="ellipse">
            <a:avLst/>
          </a:prstGeom>
          <a:solidFill>
            <a:srgbClr val="D4A24C"/>
          </a:solidFill>
          <a:ln w="25400">
            <a:solidFill>
              <a:srgbClr val="FFFFFF"/>
            </a:solidFill>
            <a:prstDash val="solid"/>
          </a:ln>
        </p:spPr>
      </p:sp>
      <p:sp>
        <p:nvSpPr>
          <p:cNvPr id="60" name="Text 55"/>
          <p:cNvSpPr txBox="1"/>
          <p:nvPr/>
        </p:nvSpPr>
        <p:spPr>
          <a:xfrm>
            <a:off x="6492240" y="3895344"/>
            <a:ext cx="420624" cy="420624"/>
          </a:xfrm>
          <a:prstGeom prst="rect">
            <a:avLst/>
          </a:prstGeom>
          <a:noFill/>
          <a:ln/>
        </p:spPr>
        <p:txBody>
          <a:bodyPr wrap="square" lIns="0" tIns="0" rIns="0" bIns="0" rtlCol="0" anchor="ctr"/>
          <a:lstStyle/>
          <a:p>
            <a:pPr algn="ctr" indent="0" marL="0">
              <a:buNone/>
            </a:pPr>
            <a:r>
              <a:rPr lang="en-US" sz="1400" b="1" dirty="0">
                <a:solidFill>
                  <a:srgbClr val="17325C"/>
                </a:solidFill>
                <a:latin typeface="Calibri" pitchFamily="34" charset="0"/>
                <a:ea typeface="Calibri" pitchFamily="34" charset="-122"/>
                <a:cs typeface="Calibri" pitchFamily="34" charset="-120"/>
              </a:rPr>
              <a:t>4</a:t>
            </a:r>
            <a:endParaRPr lang="en-US" sz="1400" dirty="0"/>
          </a:p>
        </p:txBody>
      </p:sp>
      <p:sp>
        <p:nvSpPr>
          <p:cNvPr id="61" name="Text 56"/>
          <p:cNvSpPr txBox="1"/>
          <p:nvPr/>
        </p:nvSpPr>
        <p:spPr>
          <a:xfrm>
            <a:off x="7022592" y="3803904"/>
            <a:ext cx="3749040" cy="676656"/>
          </a:xfrm>
          <a:prstGeom prst="rect">
            <a:avLst/>
          </a:prstGeom>
          <a:noFill/>
          <a:ln/>
        </p:spPr>
        <p:txBody>
          <a:bodyPr wrap="square" lIns="0" tIns="0" rIns="0" bIns="0" rtlCol="0" anchor="ctr"/>
          <a:lstStyle/>
          <a:p>
            <a:pPr algn="l" indent="0" marL="0">
              <a:buNone/>
            </a:pPr>
            <a:r>
              <a:rPr lang="en-US" sz="1200" b="1" dirty="0">
                <a:solidFill>
                  <a:srgbClr val="1F4A82"/>
                </a:solidFill>
                <a:latin typeface="Calibri" pitchFamily="34" charset="0"/>
                <a:ea typeface="Calibri" pitchFamily="34" charset="-122"/>
                <a:cs typeface="Calibri" pitchFamily="34" charset="-120"/>
              </a:rPr>
              <a:t>Rajasthan and MP, after FY28</a:t>
            </a:r>
            <a:endParaRPr lang="en-US" sz="1400" dirty="0"/>
          </a:p>
          <a:p>
            <a:pPr algn="l" indent="0" marL="0">
              <a:buNone/>
            </a:pPr>
            <a:r>
              <a:rPr lang="en-US" sz="950" dirty="0">
                <a:solidFill>
                  <a:srgbClr val="1F2937"/>
                </a:solidFill>
                <a:latin typeface="Calibri" pitchFamily="34" charset="0"/>
                <a:ea typeface="Calibri" pitchFamily="34" charset="-122"/>
                <a:cs typeface="Calibri" pitchFamily="34" charset="-120"/>
              </a:rPr>
              <a:t>Kota is chain territory; Jaipur and Indore only after the first three</a:t>
            </a:r>
            <a:endParaRPr lang="en-US" sz="1400" dirty="0"/>
          </a:p>
        </p:txBody>
      </p:sp>
      <p:sp>
        <p:nvSpPr>
          <p:cNvPr id="62" name="Text 57"/>
          <p:cNvSpPr txBox="1"/>
          <p:nvPr/>
        </p:nvSpPr>
        <p:spPr>
          <a:xfrm>
            <a:off x="10835640" y="4041648"/>
            <a:ext cx="914400" cy="219456"/>
          </a:xfrm>
          <a:prstGeom prst="rect">
            <a:avLst/>
          </a:prstGeom>
          <a:noFill/>
          <a:ln/>
        </p:spPr>
        <p:txBody>
          <a:bodyPr wrap="square" lIns="0" tIns="0" rIns="0" bIns="0" rtlCol="0" anchor="ctr"/>
          <a:lstStyle/>
          <a:p>
            <a:pPr algn="l" indent="0" marL="0">
              <a:buNone/>
            </a:pPr>
            <a:r>
              <a:rPr lang="en-US" sz="1200" dirty="0">
                <a:solidFill>
                  <a:srgbClr val="D4A24C"/>
                </a:solidFill>
                <a:latin typeface="Segoe UI Symbol" pitchFamily="34" charset="0"/>
                <a:ea typeface="Segoe UI Symbol" pitchFamily="34" charset="-122"/>
                <a:cs typeface="Segoe UI Symbol" pitchFamily="34" charset="-120"/>
              </a:rPr>
              <a:t>★★☆☆☆</a:t>
            </a:r>
            <a:endParaRPr lang="en-US" sz="1200" dirty="0"/>
          </a:p>
        </p:txBody>
      </p:sp>
      <p:sp>
        <p:nvSpPr>
          <p:cNvPr id="63" name="Text 58"/>
          <p:cNvSpPr txBox="1"/>
          <p:nvPr/>
        </p:nvSpPr>
        <p:spPr>
          <a:xfrm>
            <a:off x="10835640" y="1700784"/>
            <a:ext cx="914400" cy="182880"/>
          </a:xfrm>
          <a:prstGeom prst="rect">
            <a:avLst/>
          </a:prstGeom>
          <a:noFill/>
          <a:ln/>
        </p:spPr>
        <p:txBody>
          <a:bodyPr wrap="square" lIns="0" tIns="0" rIns="0" bIns="0" rtlCol="0" anchor="t"/>
          <a:lstStyle/>
          <a:p>
            <a:pPr algn="l" indent="0" marL="0">
              <a:buNone/>
            </a:pPr>
            <a:r>
              <a:rPr lang="en-US" sz="850" b="1" dirty="0">
                <a:solidFill>
                  <a:srgbClr val="5B6573"/>
                </a:solidFill>
                <a:latin typeface="Calibri" pitchFamily="34" charset="0"/>
                <a:ea typeface="Calibri" pitchFamily="34" charset="-122"/>
                <a:cs typeface="Calibri" pitchFamily="34" charset="-120"/>
              </a:rPr>
              <a:t>Priority</a:t>
            </a:r>
            <a:endParaRPr lang="en-US" sz="850" dirty="0"/>
          </a:p>
        </p:txBody>
      </p:sp>
      <p:sp>
        <p:nvSpPr>
          <p:cNvPr id="64" name="Text 59"/>
          <p:cNvSpPr txBox="1"/>
          <p:nvPr/>
        </p:nvSpPr>
        <p:spPr>
          <a:xfrm>
            <a:off x="6967728" y="4480560"/>
            <a:ext cx="475488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1,180 addressable institutes</a:t>
            </a:r>
            <a:endParaRPr lang="en-US" sz="1400" dirty="0"/>
          </a:p>
          <a:p>
            <a:pPr algn="l" indent="0" marL="0">
              <a:buNone/>
            </a:pPr>
            <a:r>
              <a:rPr lang="en-US" sz="900" dirty="0">
                <a:solidFill>
                  <a:srgbClr val="5B6573"/>
                </a:solidFill>
                <a:latin typeface="Calibri" pitchFamily="34" charset="0"/>
                <a:ea typeface="Calibri" pitchFamily="34" charset="-122"/>
                <a:cs typeface="Calibri" pitchFamily="34" charset="-120"/>
              </a:rPr>
              <a:t>five states, independent, 150 to 2,000 students</a:t>
            </a:r>
            <a:endParaRPr lang="en-US" sz="1400" dirty="0"/>
          </a:p>
        </p:txBody>
      </p:sp>
      <p:sp>
        <p:nvSpPr>
          <p:cNvPr id="65" name="Text 60"/>
          <p:cNvSpPr txBox="1"/>
          <p:nvPr/>
        </p:nvSpPr>
        <p:spPr>
          <a:xfrm>
            <a:off x="6967728" y="4846320"/>
            <a:ext cx="475488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58 paying by year 3</a:t>
            </a:r>
            <a:endParaRPr lang="en-US" sz="1400" dirty="0"/>
          </a:p>
          <a:p>
            <a:pPr algn="l" indent="0" marL="0">
              <a:buNone/>
            </a:pPr>
            <a:r>
              <a:rPr lang="en-US" sz="900" dirty="0">
                <a:solidFill>
                  <a:srgbClr val="5B6573"/>
                </a:solidFill>
                <a:latin typeface="Calibri" pitchFamily="34" charset="0"/>
                <a:ea typeface="Calibri" pitchFamily="34" charset="-122"/>
                <a:cs typeface="Calibri" pitchFamily="34" charset="-120"/>
              </a:rPr>
              <a:t>4.9 % of the 1,180; one field rep, partners for small institutes</a:t>
            </a:r>
            <a:endParaRPr lang="en-US" sz="1400" dirty="0"/>
          </a:p>
        </p:txBody>
      </p:sp>
      <p:sp>
        <p:nvSpPr>
          <p:cNvPr id="66" name="Text 61"/>
          <p:cNvSpPr txBox="1"/>
          <p:nvPr/>
        </p:nvSpPr>
        <p:spPr>
          <a:xfrm>
            <a:off x="6967728" y="5212080"/>
            <a:ext cx="475488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Chains are arriving</a:t>
            </a:r>
            <a:endParaRPr lang="en-US" sz="1400" dirty="0"/>
          </a:p>
          <a:p>
            <a:pPr algn="l" indent="0" marL="0">
              <a:buNone/>
            </a:pPr>
            <a:r>
              <a:rPr lang="en-US" sz="900" dirty="0">
                <a:solidFill>
                  <a:srgbClr val="5B6573"/>
                </a:solidFill>
                <a:latin typeface="Calibri" pitchFamily="34" charset="0"/>
                <a:ea typeface="Calibri" pitchFamily="34" charset="-122"/>
                <a:cs typeface="Calibri" pitchFamily="34" charset="-120"/>
              </a:rPr>
              <a:t>Allen opened in Patna and announced six more Bihar cities</a:t>
            </a:r>
            <a:endParaRPr lang="en-US" sz="1400" dirty="0"/>
          </a:p>
        </p:txBody>
      </p:sp>
      <p:sp>
        <p:nvSpPr>
          <p:cNvPr id="67" name="Shape 62"/>
          <p:cNvSpPr/>
          <p:nvPr/>
        </p:nvSpPr>
        <p:spPr>
          <a:xfrm>
            <a:off x="6492240" y="5925312"/>
            <a:ext cx="5285232" cy="475488"/>
          </a:xfrm>
          <a:prstGeom prst="rect">
            <a:avLst/>
          </a:prstGeom>
          <a:solidFill>
            <a:srgbClr val="F7F8FB"/>
          </a:solidFill>
          <a:ln w="9525">
            <a:solidFill>
              <a:srgbClr val="D5DEEA"/>
            </a:solidFill>
            <a:prstDash val="solid"/>
          </a:ln>
        </p:spPr>
      </p:sp>
      <p:sp>
        <p:nvSpPr>
          <p:cNvPr id="68" name="Shape 63"/>
          <p:cNvSpPr/>
          <p:nvPr/>
        </p:nvSpPr>
        <p:spPr>
          <a:xfrm>
            <a:off x="6903720" y="5760720"/>
            <a:ext cx="1737360" cy="310896"/>
          </a:xfrm>
          <a:prstGeom prst="rect">
            <a:avLst/>
          </a:prstGeom>
          <a:solidFill>
            <a:srgbClr val="A9B8F0"/>
          </a:solidFill>
          <a:ln/>
        </p:spPr>
      </p:sp>
      <p:sp>
        <p:nvSpPr>
          <p:cNvPr id="69" name="Text 64"/>
          <p:cNvSpPr txBox="1"/>
          <p:nvPr/>
        </p:nvSpPr>
        <p:spPr>
          <a:xfrm>
            <a:off x="6903720" y="5760720"/>
            <a:ext cx="1737360" cy="310896"/>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KEY TAKEAWAY</a:t>
            </a:r>
            <a:endParaRPr lang="en-US" sz="1150" dirty="0"/>
          </a:p>
        </p:txBody>
      </p:sp>
      <p:sp>
        <p:nvSpPr>
          <p:cNvPr id="70" name="Text 65"/>
          <p:cNvSpPr txBox="1"/>
          <p:nvPr/>
        </p:nvSpPr>
        <p:spPr>
          <a:xfrm>
            <a:off x="6675120" y="6126480"/>
            <a:ext cx="4919472" cy="182880"/>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Start where we can reach owners in person: Patna.</a:t>
            </a:r>
            <a:endParaRPr lang="en-US" sz="1100" dirty="0"/>
          </a:p>
        </p:txBody>
      </p:sp>
      <p:sp>
        <p:nvSpPr>
          <p:cNvPr id="71" name="Text 66"/>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financial/research R7 (1,180 = Bihar + UP about 740, +60 % for three more states); model v1.1 (4.9 % share at month 36). State split is our assumption; map for orientation only; city bubbles are indicative.</a:t>
            </a:r>
            <a:endParaRPr lang="en-US" sz="850" dirty="0"/>
          </a:p>
        </p:txBody>
      </p:sp>
      <p:pic>
        <p:nvPicPr>
          <p:cNvPr id="73" name="Image 2" descr="FaClipboardList icon">    </p:cNvPr>
          <p:cNvPicPr>
            <a:picLocks noChangeAspect="1"/>
          </p:cNvPicPr>
          <p:nvPr/>
        </p:nvPicPr>
        <p:blipFill>
          <a:blip r:embed="rId3"/>
          <a:stretch>
            <a:fillRect/>
          </a:stretch>
        </p:blipFill>
        <p:spPr>
          <a:xfrm>
            <a:off x="521208" y="100584"/>
            <a:ext cx="182880" cy="182880"/>
          </a:xfrm>
          <a:prstGeom prst="rect">
            <a:avLst/>
          </a:prstGeom>
        </p:spPr>
      </p:pic>
      <p:pic>
        <p:nvPicPr>
          <p:cNvPr id="74" name="Image 3" descr="FaTriangleExclamation icon">    </p:cNvPr>
          <p:cNvPicPr>
            <a:picLocks noChangeAspect="1"/>
          </p:cNvPicPr>
          <p:nvPr/>
        </p:nvPicPr>
        <p:blipFill>
          <a:blip r:embed="rId4"/>
          <a:stretch>
            <a:fillRect/>
          </a:stretch>
        </p:blipFill>
        <p:spPr>
          <a:xfrm>
            <a:off x="2084032" y="100584"/>
            <a:ext cx="182880" cy="182880"/>
          </a:xfrm>
          <a:prstGeom prst="rect">
            <a:avLst/>
          </a:prstGeom>
        </p:spPr>
      </p:pic>
      <p:pic>
        <p:nvPicPr>
          <p:cNvPr id="75" name="Image 4" descr="FaMobileScreen icon">    </p:cNvPr>
          <p:cNvPicPr>
            <a:picLocks noChangeAspect="1"/>
          </p:cNvPicPr>
          <p:nvPr/>
        </p:nvPicPr>
        <p:blipFill>
          <a:blip r:embed="rId5"/>
          <a:stretch>
            <a:fillRect/>
          </a:stretch>
        </p:blipFill>
        <p:spPr>
          <a:xfrm>
            <a:off x="3482264" y="100584"/>
            <a:ext cx="182880" cy="182880"/>
          </a:xfrm>
          <a:prstGeom prst="rect">
            <a:avLst/>
          </a:prstGeom>
        </p:spPr>
      </p:pic>
      <p:pic>
        <p:nvPicPr>
          <p:cNvPr id="76" name="Image 5" descr="FaGears icon">    </p:cNvPr>
          <p:cNvPicPr>
            <a:picLocks noChangeAspect="1"/>
          </p:cNvPicPr>
          <p:nvPr/>
        </p:nvPicPr>
        <p:blipFill>
          <a:blip r:embed="rId6"/>
          <a:stretch>
            <a:fillRect/>
          </a:stretch>
        </p:blipFill>
        <p:spPr>
          <a:xfrm>
            <a:off x="4880496" y="100584"/>
            <a:ext cx="182880" cy="182880"/>
          </a:xfrm>
          <a:prstGeom prst="rect">
            <a:avLst/>
          </a:prstGeom>
        </p:spPr>
      </p:pic>
      <p:pic>
        <p:nvPicPr>
          <p:cNvPr id="77" name="Image 6" descr="FaShieldHalved icon">    </p:cNvPr>
          <p:cNvPicPr>
            <a:picLocks noChangeAspect="1"/>
          </p:cNvPicPr>
          <p:nvPr/>
        </p:nvPicPr>
        <p:blipFill>
          <a:blip r:embed="rId7"/>
          <a:stretch>
            <a:fillRect/>
          </a:stretch>
        </p:blipFill>
        <p:spPr>
          <a:xfrm>
            <a:off x="6278728" y="100584"/>
            <a:ext cx="182880" cy="182880"/>
          </a:xfrm>
          <a:prstGeom prst="rect">
            <a:avLst/>
          </a:prstGeom>
        </p:spPr>
      </p:pic>
      <p:pic>
        <p:nvPicPr>
          <p:cNvPr id="78" name="Image 7" descr="FaIndianRupeeSign icon">    </p:cNvPr>
          <p:cNvPicPr>
            <a:picLocks noChangeAspect="1"/>
          </p:cNvPicPr>
          <p:nvPr/>
        </p:nvPicPr>
        <p:blipFill>
          <a:blip r:embed="rId8"/>
          <a:stretch>
            <a:fillRect/>
          </a:stretch>
        </p:blipFill>
        <p:spPr>
          <a:xfrm>
            <a:off x="7676960" y="100584"/>
            <a:ext cx="182880" cy="182880"/>
          </a:xfrm>
          <a:prstGeom prst="rect">
            <a:avLst/>
          </a:prstGeom>
        </p:spPr>
      </p:pic>
      <p:pic>
        <p:nvPicPr>
          <p:cNvPr id="79" name="Image 8" descr="FaBullseye icon">    </p:cNvPr>
          <p:cNvPicPr>
            <a:picLocks noChangeAspect="1"/>
          </p:cNvPicPr>
          <p:nvPr/>
        </p:nvPicPr>
        <p:blipFill>
          <a:blip r:embed="rId9"/>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411480" y="274320"/>
            <a:ext cx="10972800" cy="548640"/>
          </a:xfrm>
          <a:prstGeom prst="rect">
            <a:avLst/>
          </a:prstGeom>
          <a:noFill/>
          <a:ln/>
        </p:spPr>
        <p:txBody>
          <a:bodyPr wrap="square" lIns="0" tIns="0" rIns="0" bIns="0" rtlCol="0" anchor="ctr"/>
          <a:lstStyle/>
          <a:p>
            <a:pPr algn="l" indent="0" marL="0">
              <a:buNone/>
            </a:pPr>
            <a:r>
              <a:rPr lang="en-US" sz="2800" b="1" dirty="0">
                <a:solidFill>
                  <a:srgbClr val="1F4A82"/>
                </a:solidFill>
                <a:latin typeface="Calibri" pitchFamily="34" charset="0"/>
                <a:ea typeface="Calibri" pitchFamily="34" charset="-122"/>
                <a:cs typeface="Calibri" pitchFamily="34" charset="-120"/>
              </a:rPr>
              <a:t>How we used AI, and what we cited</a:t>
            </a:r>
            <a:endParaRPr lang="en-US" sz="2800" dirty="0"/>
          </a:p>
        </p:txBody>
      </p:sp>
      <p:sp>
        <p:nvSpPr>
          <p:cNvPr id="3" name="Shape 1"/>
          <p:cNvSpPr/>
          <p:nvPr/>
        </p:nvSpPr>
        <p:spPr>
          <a:xfrm>
            <a:off x="411480" y="1554480"/>
            <a:ext cx="5547208" cy="4206240"/>
          </a:xfrm>
          <a:prstGeom prst="roundRect">
            <a:avLst>
              <a:gd name="adj" fmla="val 435"/>
            </a:avLst>
          </a:prstGeom>
          <a:solidFill>
            <a:srgbClr val="E3ECF7"/>
          </a:solidFill>
          <a:ln w="19050">
            <a:solidFill>
              <a:srgbClr val="1F4A82"/>
            </a:solidFill>
            <a:prstDash val="solid"/>
          </a:ln>
        </p:spPr>
      </p:sp>
      <p:sp>
        <p:nvSpPr>
          <p:cNvPr id="4" name="Shape 2"/>
          <p:cNvSpPr/>
          <p:nvPr/>
        </p:nvSpPr>
        <p:spPr>
          <a:xfrm>
            <a:off x="685800" y="1737360"/>
            <a:ext cx="2560320" cy="411480"/>
          </a:xfrm>
          <a:prstGeom prst="roundRect">
            <a:avLst>
              <a:gd name="adj" fmla="val 4444"/>
            </a:avLst>
          </a:prstGeom>
          <a:solidFill>
            <a:srgbClr val="1F4A82"/>
          </a:solidFill>
          <a:ln/>
        </p:spPr>
      </p:sp>
      <p:sp>
        <p:nvSpPr>
          <p:cNvPr id="5" name="Text 3"/>
          <p:cNvSpPr txBox="1"/>
          <p:nvPr/>
        </p:nvSpPr>
        <p:spPr>
          <a:xfrm>
            <a:off x="685800" y="1737360"/>
            <a:ext cx="256032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AI tools</a:t>
            </a:r>
            <a:endParaRPr lang="en-US" sz="1500" dirty="0"/>
          </a:p>
        </p:txBody>
      </p:sp>
      <p:sp>
        <p:nvSpPr>
          <p:cNvPr id="6" name="Text 4"/>
          <p:cNvSpPr txBox="1"/>
          <p:nvPr/>
        </p:nvSpPr>
        <p:spPr>
          <a:xfrm>
            <a:off x="685800" y="2377440"/>
            <a:ext cx="4998568" cy="3291840"/>
          </a:xfrm>
          <a:prstGeom prst="rect">
            <a:avLst/>
          </a:prstGeom>
          <a:noFill/>
          <a:ln/>
        </p:spPr>
        <p:txBody>
          <a:bodyPr wrap="square" lIns="0" tIns="0" rIns="0" bIns="0" rtlCol="0" anchor="t"/>
          <a:lstStyle/>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Claude: planning, code review, documentation.</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Google Antigravity agents: code generation.</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Perplexity and Gemini Deep Research: literature and regulation research.</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Everything was reviewed and tested by the team; research claims were checked against primary sources where possible.</a:t>
            </a:r>
            <a:endParaRPr lang="en-US" sz="1700" dirty="0"/>
          </a:p>
        </p:txBody>
      </p:sp>
      <p:sp>
        <p:nvSpPr>
          <p:cNvPr id="7" name="Shape 5"/>
          <p:cNvSpPr/>
          <p:nvPr/>
        </p:nvSpPr>
        <p:spPr>
          <a:xfrm>
            <a:off x="6233008" y="1554480"/>
            <a:ext cx="5547208" cy="4206240"/>
          </a:xfrm>
          <a:prstGeom prst="roundRect">
            <a:avLst>
              <a:gd name="adj" fmla="val 435"/>
            </a:avLst>
          </a:prstGeom>
          <a:solidFill>
            <a:srgbClr val="E3ECF7"/>
          </a:solidFill>
          <a:ln w="19050">
            <a:solidFill>
              <a:srgbClr val="1F4A82"/>
            </a:solidFill>
            <a:prstDash val="solid"/>
          </a:ln>
        </p:spPr>
      </p:sp>
      <p:sp>
        <p:nvSpPr>
          <p:cNvPr id="8" name="Shape 6"/>
          <p:cNvSpPr/>
          <p:nvPr/>
        </p:nvSpPr>
        <p:spPr>
          <a:xfrm>
            <a:off x="6507328" y="1737360"/>
            <a:ext cx="2560320" cy="411480"/>
          </a:xfrm>
          <a:prstGeom prst="roundRect">
            <a:avLst>
              <a:gd name="adj" fmla="val 4444"/>
            </a:avLst>
          </a:prstGeom>
          <a:solidFill>
            <a:srgbClr val="1F4A82"/>
          </a:solidFill>
          <a:ln/>
        </p:spPr>
      </p:sp>
      <p:sp>
        <p:nvSpPr>
          <p:cNvPr id="9" name="Text 7"/>
          <p:cNvSpPr txBox="1"/>
          <p:nvPr/>
        </p:nvSpPr>
        <p:spPr>
          <a:xfrm>
            <a:off x="6507328" y="1737360"/>
            <a:ext cx="256032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Public data and libraries</a:t>
            </a:r>
            <a:endParaRPr lang="en-US" sz="1500" dirty="0"/>
          </a:p>
        </p:txBody>
      </p:sp>
      <p:sp>
        <p:nvSpPr>
          <p:cNvPr id="10" name="Text 8"/>
          <p:cNvSpPr txBox="1"/>
          <p:nvPr/>
        </p:nvSpPr>
        <p:spPr>
          <a:xfrm>
            <a:off x="6507328" y="2377440"/>
            <a:ext cx="4998568" cy="3291840"/>
          </a:xfrm>
          <a:prstGeom prst="rect">
            <a:avLst/>
          </a:prstGeom>
          <a:noFill/>
          <a:ln/>
        </p:spPr>
        <p:txBody>
          <a:bodyPr wrap="square" lIns="0" tIns="0" rIns="0" bIns="0" rtlCol="0" anchor="t"/>
          <a:lstStyle/>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OULAD (CC BY 4.0), ASSISTments 2009, the pyKT benchmark, JEEBench.</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Noto Sans Devanagari (SIL OFL), LightGBM, Ollama, FastAPI, PostgreSQL.</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Flat Color Icons by Icons8 (CC BY 3.0) via Iconify; Font Awesome icons (CC BY 4.0).</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Full list with licences: technical/docs/CITATIONS.md in the repository.</a:t>
            </a:r>
            <a:endParaRPr lang="en-US" sz="1700" dirty="0"/>
          </a:p>
        </p:txBody>
      </p:sp>
      <p:sp>
        <p:nvSpPr>
          <p:cNvPr id="11" name="Text 9"/>
          <p:cNvSpPr txBox="1"/>
          <p:nvPr/>
        </p:nvSpPr>
        <p:spPr>
          <a:xfrm>
            <a:off x="4572000" y="6126480"/>
            <a:ext cx="7205472" cy="411480"/>
          </a:xfrm>
          <a:prstGeom prst="rect">
            <a:avLst/>
          </a:prstGeom>
          <a:noFill/>
          <a:ln/>
        </p:spPr>
        <p:txBody>
          <a:bodyPr wrap="square" lIns="0" tIns="0" rIns="0" bIns="0" rtlCol="0" anchor="ctr"/>
          <a:lstStyle/>
          <a:p>
            <a:pPr algn="r" indent="0" marL="0">
              <a:buNone/>
            </a:pPr>
            <a:r>
              <a:rPr lang="en-US" sz="1300" dirty="0">
                <a:solidFill>
                  <a:srgbClr val="5B6573"/>
                </a:solidFill>
                <a:latin typeface="Calibri" pitchFamily="34" charset="0"/>
                <a:ea typeface="Calibri" pitchFamily="34" charset="-122"/>
                <a:cs typeface="Calibri" pitchFamily="34" charset="-120"/>
              </a:rPr>
              <a:t>github.com/AdityaKuranjekar/institute-intelligence-platform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AlphaQ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AlphaQ: Case B, The Data Moat (Round 1, version 2.2)</dc:title>
  <dc:subject>PptxGenJS Presentation</dc:subject>
  <dc:creator>AlphaQ</dc:creator>
  <cp:lastModifiedBy>AlphaQ</cp:lastModifiedBy>
  <cp:revision>1</cp:revision>
  <dcterms:created xsi:type="dcterms:W3CDTF">2026-10-23T09:17:53Z</dcterms:created>
  <dcterms:modified xsi:type="dcterms:W3CDTF">2026-10-23T09:17:53Z</dcterms:modified>
</cp:coreProperties>
</file>