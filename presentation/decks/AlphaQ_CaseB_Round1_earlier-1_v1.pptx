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1af103-2d62-95f4-5144-3a2f500e09ee}">
          <p14:sldIdLst>
            <p14:sldId id="256"/>
          </p14:sldIdLst>
        </p14:section>
        <p14:section name="Summary" id="{44056239-1667-e698-71b9-b4c90f892c60}">
          <p14:sldIdLst>
            <p14:sldId id="257"/>
          </p14:sldIdLst>
        </p14:section>
        <p14:section name="Problem" id="{c9230c91-1bed-3040-6ef6-ac3d79a0ad5b}">
          <p14:sldIdLst>
            <p14:sldId id="258"/>
            <p14:sldId id="259"/>
          </p14:sldIdLst>
        </p14:section>
        <p14:section name="Product" id="{f0091679-9184-924d-9bbc-8b3b7b63dc5d}">
          <p14:sldIdLst>
            <p14:sldId id="260"/>
          </p14:sldIdLst>
        </p14:section>
        <p14:section name="Technology" id="{e89bbb0a-f181-51d9-87dc-f658ac70a4f8}">
          <p14:sldIdLst>
            <p14:sldId id="261"/>
            <p14:sldId id="262"/>
            <p14:sldId id="263"/>
            <p14:sldId id="264"/>
          </p14:sldIdLst>
        </p14:section>
        <p14:section name="Trust" id="{e72409c8-4647-0272-3e2a-5118200852b4}">
          <p14:sldIdLst>
            <p14:sldId id="265"/>
          </p14:sldIdLst>
        </p14:section>
        <p14:section name="Business" id="{a7e8c6f6-1825-cba7-99cb-87758f1dae08}">
          <p14:sldIdLst>
            <p14:sldId id="266"/>
            <p14:sldId id="267"/>
          </p14:sldIdLst>
        </p14:section>
        <p14:section name="Validation" id="{fa1d2eac-e5b4-0cb3-d5a1-0334799b1634}">
          <p14:sldIdLst>
            <p14:sldId id="268"/>
          </p14:sldIdLst>
        </p14:section>
        <p14:section name="Appendix" id="{e77afe95-0e3c-d8d8-c511-37f48b7668c8}">
          <p14:sldIdLst>
            <p14:sldId id="269"/>
            <p14:sldId id="270"/>
            <p14:sldId id="271"/>
            <p14:sldId id="272"/>
            <p14:sldId id="273"/>
            <p14:sldId id="274"/>
            <p14:sldId id="275"/>
            <p14:sldId id="276"/>
            <p14:sldId id="277"/>
            <p14:sldId id="278"/>
            <p14:sldId id="279"/>
          </p14:sldIdLst>
        </p14:section>
        <p14:section name="Closing" id="{c3c29d95-4218-d06d-e629-01b0bbb31c40}">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Right-hand screens are illustrative mock-ups rendered from HTML with synthetic values: the web console and three phone screens. The two AUC figures are results on public datasets (ASSISTments 2009 under the pyKT protocol, OULAD day 28); the 3.6 rupee figure is the model's all-in cost per student per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in situation, complication, resolution form. Public-data figures are measured (ASSISTments 2009 pyKT protocol; OULAD day 28). 2.9x and 3.6 rupees are model outputs from the financial workbook; 1.0x is the return from fees retained plus staff time only, without the admissions-uplift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Dense problem slide. The 8-15 percent and 36,000 rupee figures and the 17.3 lakh total are the guide's illustrative baselines (400 x 12% x 36,000). The roster index is an assumption in the financial model; competitor price range comes from the finance research (listed prices, low-medium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judges we tested the guide's illustrative numbers instead of copying them. Every 'what we do' value is a workbook output or a measured public-data result. Mentor capacity of eight per batch per week is the cap used in the mock-ups and the early-warning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slide. Web console for the office, phone screens for scanning, mentors and parents. Who-sees-what follows the routing policy: risk lists only for mentors and owners; students and parents never see risk scores or ranks.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Status tags: BUILT means working code with tests; IN BUILD means in progress; DESIGNED means specified but not coded. Evidence boxes are real: 12 messy export files and 210 synthetic OMR images exist; 31 tables and tenant isolation tested on a live PostgreSQL 16; OULAD 0.706 and ASSISTments 0.763 on public data; 20 templates and 8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the bar chart uses the real result file (online IRT 0.763, 1-parameter 0.759, logistic baseline 0.741, BKT 0.714) next to the published pyKT values (DKT 0.754, SAKT 0.725, AKT 0.785). IRT recovery, wrong-key detection and mastery-vs-baseline come from Agent B and must replace the amber placeholders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OULAD table is real: LightGBM with isotonic calibration, student-grouped 5-fold; rules are the two deterministic baselines. Published anchors for context: 0.727, 0.794 and 0.804 at days 14, 28 and 42 (PLOS ONE 2026); ours is lower, so do not claim parity. Precision at top 10 percent is shown as P@10. Early warning on synthetic institutes and the comparison against the institute rule come from Agent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range is schematic until Agent C delivers coverage numbers. The report images use real template output. Do not state a verifier catch rate until the independent adversarial test passes after the E2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table mirrors contracts/routing_policy.yaml. The OULAD bars show that academic-only features lose only about 0.007 to 0.025 AUC against academic plus click behaviour: privacy is cheap here. A lawyer's check on the in-person ID flow is still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bridge from the workbook, mid institute, Base: fees retained 89,672; staff time 25 hours x 100 rupees x 12 = 30,000; admissions uplift 1 % x 400 x 95,000 x 60 % margin = 2,28,000; total 3,47,672 against a cost of 1,20,131. Say plainly that two thirds of the value rests on the admissions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follows the unit economics: field sales where LTV/CAC is 3.7 to 9x, self-serve for small institutes at 1.5x. The retro-pilot needs only last year's Excel, so it costs the institute nothing. The competitor table shows only what listings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limitations before the judges do: synthetic data proves the pipeline only; public datasets are from the UK (OULAD) and US (ASSISTments); the percentile mapping is an assumption table. The ask is concrete and falsifiable.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the workbook scenarios table, mid institute. The guide's 25 percent prevention and 2.25x return are shown as the baseline we replaced. Safe wording: randomised trials in comparable settings show 5 to 30 percent among students who get outreach; we model 15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tables are the two grids of the Sensitivity sheet. Bear, Base and Bull LTV/CAC for the mid institute are -0.1x, 3.7x and 24x. The segment bars show small 1.5x, mid 3.7x, large 9.1x with paybacks of 18, 6 and 3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tour: upload, topic map, support list, profile, owner dashboard, parent report. All images are illustrative mock-ups (HTML rendered by headless Edge) using synthetic data and real report text from the report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Differentiators. Item 05 (small-batch strength) is marked result pending until the difficulty-recovery curve exists. Item 08 refers to public-data results and the independent attack on the report checker, with misses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disclosure (Problem Statement, rule 2). Keep this as the last slide of the submitted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Shape 1"/>
          <p:cNvSpPr/>
          <p:nvPr/>
        </p:nvSpPr>
        <p:spPr>
          <a:xfrm>
            <a:off x="11247120" y="6528816"/>
            <a:ext cx="530352" cy="274320"/>
          </a:xfrm>
          <a:prstGeom prst="rect">
            <a:avLst/>
          </a:prstGeom>
          <a:solidFill>
            <a:srgbClr val="1F4A82"/>
          </a:solidFill>
          <a:ln/>
        </p:spPr>
      </p:sp>
      <p:sp>
        <p:nvSpPr>
          <p:cNvPr id="4" name="Text 2"/>
          <p:cNvSpPr/>
          <p:nvPr>
            <p:ph idx="102" type="title" hasCustomPrompt="1"/>
          </p:nvPr>
        </p:nvSpPr>
        <p:spPr>
          <a:xfrm>
            <a:off x="411480" y="128016"/>
            <a:ext cx="8412480" cy="438912"/>
          </a:xfrm>
          <a:prstGeom prst="rect">
            <a:avLst/>
          </a:prstGeom>
          <a:noFill/>
          <a:ln/>
        </p:spPr>
        <p:txBody>
          <a:bodyPr wrap="square" rtlCol="0"/>
          <a:lstStyle>
            <a:lvl1pPr indent="0" marL="0">
              <a:buNone/>
              <a:defRPr lang="en-US" sz="2400" b="1" dirty="0">
                <a:solidFill>
                  <a:srgbClr val="1F4A82"/>
                </a:solidFill>
                <a:latin typeface="Calibri" pitchFamily="34" charset="0"/>
                <a:ea typeface="Calibri" pitchFamily="34" charset="-122"/>
                <a:cs typeface="Calibri" pitchFamily="34" charset="-120"/>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274320"/>
            <a:ext cx="8412480" cy="548640"/>
          </a:xfrm>
          <a:prstGeom prst="rect">
            <a:avLst/>
          </a:prstGeom>
          <a:noFill/>
          <a:ln/>
        </p:spPr>
        <p:txBody>
          <a:bodyPr wrap="square" rtlCol="0"/>
          <a:lstStyle>
            <a:lvl1pPr indent="0" marL="0">
              <a:buNone/>
              <a:defRPr lang="en-US" sz="2800" b="1" dirty="0">
                <a:solidFill>
                  <a:srgbClr val="1F4A82"/>
                </a:solidFill>
                <a:latin typeface="Calibri" pitchFamily="34" charset="0"/>
                <a:ea typeface="Calibri" pitchFamily="34" charset="-122"/>
                <a:cs typeface="Calibri" pitchFamily="34" charset="-120"/>
              </a:defRPr>
            </a:lvl1pPr>
          </a:lstStyle>
          <a:p>
            <a:pPr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F4A82"/>
          </a:solidFill>
          <a:ln/>
        </p:spPr>
      </p:sp>
      <p:sp>
        <p:nvSpPr>
          <p:cNvPr id="3" name="Text 1"/>
          <p:cNvSpPr/>
          <p:nvPr>
            <p:ph idx="101" type="title" hasCustomPrompt="1"/>
          </p:nvPr>
        </p:nvSpPr>
        <p:spPr>
          <a:xfrm>
            <a:off x="411480" y="1371600"/>
            <a:ext cx="5212080" cy="2011680"/>
          </a:xfrm>
          <a:prstGeom prst="rect">
            <a:avLst/>
          </a:prstGeom>
          <a:noFill/>
          <a:ln/>
        </p:spPr>
        <p:txBody>
          <a:bodyPr wrap="square" rtlCol="0"/>
          <a:lstStyle>
            <a:lvl1pPr indent="0" marL="0">
              <a:buNone/>
              <a:defRPr lang="en-US" sz="3000" b="1" dirty="0">
                <a:solidFill>
                  <a:srgbClr val="1F4A82"/>
                </a:solidFill>
                <a:latin typeface="Calibri" pitchFamily="34" charset="0"/>
                <a:ea typeface="Calibri" pitchFamily="34" charset="-122"/>
                <a:cs typeface="Calibri" pitchFamily="34" charset="-120"/>
              </a:defRPr>
            </a:lvl1pPr>
          </a:lstStyle>
          <a:p>
            <a:pPr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2.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2.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06440" y="411480"/>
            <a:ext cx="5989320" cy="5897880"/>
          </a:xfrm>
          <a:prstGeom prst="rect">
            <a:avLst/>
          </a:prstGeom>
          <a:solidFill>
            <a:srgbClr val="EAF1FA"/>
          </a:solidFill>
          <a:ln/>
        </p:spPr>
      </p:sp>
      <p:sp>
        <p:nvSpPr>
          <p:cNvPr id="3" name="Text 1"/>
          <p:cNvSpPr txBox="1"/>
          <p:nvPr/>
        </p:nvSpPr>
        <p:spPr>
          <a:xfrm>
            <a:off x="411480" y="685800"/>
            <a:ext cx="5303520" cy="274320"/>
          </a:xfrm>
          <a:prstGeom prst="rect">
            <a:avLst/>
          </a:prstGeom>
          <a:noFill/>
          <a:ln/>
        </p:spPr>
        <p:txBody>
          <a:bodyPr wrap="square" lIns="0" tIns="0" rIns="0" bIns="0" rtlCol="0" anchor="t"/>
          <a:lstStyle/>
          <a:p>
            <a:pPr algn="l" indent="0" marL="0">
              <a:buNone/>
            </a:pPr>
            <a:r>
              <a:rPr lang="en-US" sz="1300" b="1" spc="200" kern="0" dirty="0">
                <a:solidFill>
                  <a:srgbClr val="2E6DB4"/>
                </a:solidFill>
                <a:latin typeface="Calibri" pitchFamily="34" charset="0"/>
                <a:ea typeface="Calibri" pitchFamily="34" charset="-122"/>
                <a:cs typeface="Calibri" pitchFamily="34" charset="-120"/>
              </a:rPr>
              <a:t>CASE B  ·  THE DATA MOAT</a:t>
            </a:r>
            <a:endParaRPr lang="en-US" sz="1300" dirty="0"/>
          </a:p>
        </p:txBody>
      </p:sp>
      <p:sp>
        <p:nvSpPr>
          <p:cNvPr id="4" name="Shape 2"/>
          <p:cNvSpPr/>
          <p:nvPr/>
        </p:nvSpPr>
        <p:spPr>
          <a:xfrm>
            <a:off x="411480" y="1005840"/>
            <a:ext cx="5212080" cy="22860"/>
          </a:xfrm>
          <a:prstGeom prst="rect">
            <a:avLst/>
          </a:prstGeom>
          <a:solidFill>
            <a:srgbClr val="1F4A82"/>
          </a:solidFill>
          <a:ln/>
        </p:spPr>
      </p:sp>
      <p:sp>
        <p:nvSpPr>
          <p:cNvPr id="5" name="Text 1"/>
          <p:cNvSpPr/>
          <p:nvPr>
            <p:ph idx="101" type="title" hasCustomPrompt="1"/>
          </p:nvPr>
        </p:nvSpPr>
        <p:spPr>
          <a:xfrm>
            <a:off x="411480" y="1371600"/>
            <a:ext cx="5212080" cy="2011680"/>
          </a:xfrm>
          <a:prstGeom prst="rect">
            <a:avLst/>
          </a:prstGeom>
          <a:noFill/>
          <a:ln/>
        </p:spPr>
        <p:txBody>
          <a:bodyPr wrap="square" lIns="0" tIns="0" rIns="0" bIns="0" rtlCol="0" anchor="t"/>
          <a:lstStyle/>
          <a:p>
            <a:pPr indent="0" marL="0">
              <a:buNone/>
            </a:pPr>
            <a:r>
              <a:rPr lang="en-US" sz="3000" b="1" dirty="0">
                <a:solidFill>
                  <a:srgbClr val="1F4A82"/>
                </a:solidFill>
                <a:latin typeface="Calibri" pitchFamily="34" charset="0"/>
                <a:ea typeface="Calibri" pitchFamily="34" charset="-122"/>
                <a:cs typeface="Calibri" pitchFamily="34" charset="-120"/>
              </a:rPr>
              <a:t>Intelligence for the coaching institutes that run on Excel, OMR sheets and WhatsApp</a:t>
            </a:r>
            <a:endParaRPr lang="en-US" sz="3000" dirty="0"/>
          </a:p>
        </p:txBody>
      </p:sp>
      <p:sp>
        <p:nvSpPr>
          <p:cNvPr id="6" name="Text 4"/>
          <p:cNvSpPr txBox="1"/>
          <p:nvPr/>
        </p:nvSpPr>
        <p:spPr>
          <a:xfrm>
            <a:off x="411480" y="3383280"/>
            <a:ext cx="5029200" cy="914400"/>
          </a:xfrm>
          <a:prstGeom prst="rect">
            <a:avLst/>
          </a:prstGeom>
          <a:noFill/>
          <a:ln/>
        </p:spPr>
        <p:txBody>
          <a:bodyPr wrap="square" lIns="0" tIns="0" rIns="0" bIns="0" rtlCol="0" anchor="t"/>
          <a:lstStyle/>
          <a:p>
            <a:pPr algn="l" indent="0" marL="0">
              <a:buNone/>
            </a:pPr>
            <a:r>
              <a:rPr lang="en-US" sz="1450" dirty="0">
                <a:solidFill>
                  <a:srgbClr val="1F2937"/>
                </a:solidFill>
                <a:latin typeface="Calibri" pitchFamily="34" charset="0"/>
                <a:ea typeface="Calibri" pitchFamily="34" charset="-122"/>
                <a:cs typeface="Calibri" pitchFamily="34" charset="-120"/>
              </a:rPr>
              <a:t>Pragati turns one upload into a topic map, a weekly support list and a verified Hindi and English parent report, on the web and on the phone. Offline, private, free to run.</a:t>
            </a:r>
            <a:endParaRPr lang="en-US" sz="1450" dirty="0"/>
          </a:p>
        </p:txBody>
      </p:sp>
      <p:sp>
        <p:nvSpPr>
          <p:cNvPr id="7" name="Shape 5"/>
          <p:cNvSpPr/>
          <p:nvPr/>
        </p:nvSpPr>
        <p:spPr>
          <a:xfrm>
            <a:off x="411480" y="4754880"/>
            <a:ext cx="1645920" cy="274320"/>
          </a:xfrm>
          <a:prstGeom prst="rect">
            <a:avLst/>
          </a:prstGeom>
          <a:solidFill>
            <a:srgbClr val="1F4A82"/>
          </a:solidFill>
          <a:ln/>
        </p:spPr>
      </p:sp>
      <p:sp>
        <p:nvSpPr>
          <p:cNvPr id="8" name="Text 6"/>
          <p:cNvSpPr txBox="1"/>
          <p:nvPr/>
        </p:nvSpPr>
        <p:spPr>
          <a:xfrm>
            <a:off x="411480" y="4754880"/>
            <a:ext cx="16459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0.763</a:t>
            </a:r>
            <a:endParaRPr lang="en-US" sz="1400" dirty="0"/>
          </a:p>
        </p:txBody>
      </p:sp>
      <p:sp>
        <p:nvSpPr>
          <p:cNvPr id="9" name="Shape 7"/>
          <p:cNvSpPr/>
          <p:nvPr/>
        </p:nvSpPr>
        <p:spPr>
          <a:xfrm>
            <a:off x="411480" y="5029200"/>
            <a:ext cx="1645920" cy="685800"/>
          </a:xfrm>
          <a:prstGeom prst="rect">
            <a:avLst/>
          </a:prstGeom>
          <a:solidFill>
            <a:srgbClr val="FFFFFF"/>
          </a:solidFill>
          <a:ln w="15875">
            <a:solidFill>
              <a:srgbClr val="1F4A82"/>
            </a:solidFill>
            <a:prstDash val="solid"/>
          </a:ln>
        </p:spPr>
      </p:sp>
      <p:sp>
        <p:nvSpPr>
          <p:cNvPr id="10" name="Text 8"/>
          <p:cNvSpPr txBox="1"/>
          <p:nvPr/>
        </p:nvSpPr>
        <p:spPr>
          <a:xfrm>
            <a:off x="484632" y="5074920"/>
            <a:ext cx="1499616" cy="5943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AUC on ASSISTments (public data)</a:t>
            </a:r>
            <a:endParaRPr lang="en-US" sz="1050" dirty="0"/>
          </a:p>
        </p:txBody>
      </p:sp>
      <p:sp>
        <p:nvSpPr>
          <p:cNvPr id="11" name="Shape 9"/>
          <p:cNvSpPr/>
          <p:nvPr/>
        </p:nvSpPr>
        <p:spPr>
          <a:xfrm>
            <a:off x="2194560" y="4754880"/>
            <a:ext cx="1645920" cy="274320"/>
          </a:xfrm>
          <a:prstGeom prst="rect">
            <a:avLst/>
          </a:prstGeom>
          <a:solidFill>
            <a:srgbClr val="1F4A82"/>
          </a:solidFill>
          <a:ln/>
        </p:spPr>
      </p:sp>
      <p:sp>
        <p:nvSpPr>
          <p:cNvPr id="12" name="Text 10"/>
          <p:cNvSpPr txBox="1"/>
          <p:nvPr/>
        </p:nvSpPr>
        <p:spPr>
          <a:xfrm>
            <a:off x="2194560" y="4754880"/>
            <a:ext cx="16459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0.706</a:t>
            </a:r>
            <a:endParaRPr lang="en-US" sz="1400" dirty="0"/>
          </a:p>
        </p:txBody>
      </p:sp>
      <p:sp>
        <p:nvSpPr>
          <p:cNvPr id="13" name="Shape 11"/>
          <p:cNvSpPr/>
          <p:nvPr/>
        </p:nvSpPr>
        <p:spPr>
          <a:xfrm>
            <a:off x="2194560" y="5029200"/>
            <a:ext cx="1645920" cy="685800"/>
          </a:xfrm>
          <a:prstGeom prst="rect">
            <a:avLst/>
          </a:prstGeom>
          <a:solidFill>
            <a:srgbClr val="FFFFFF"/>
          </a:solidFill>
          <a:ln w="15875">
            <a:solidFill>
              <a:srgbClr val="1F4A82"/>
            </a:solidFill>
            <a:prstDash val="solid"/>
          </a:ln>
        </p:spPr>
      </p:sp>
      <p:sp>
        <p:nvSpPr>
          <p:cNvPr id="14" name="Text 12"/>
          <p:cNvSpPr txBox="1"/>
          <p:nvPr/>
        </p:nvSpPr>
        <p:spPr>
          <a:xfrm>
            <a:off x="2267712" y="5074920"/>
            <a:ext cx="1499616" cy="5943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AUC on OULAD, day 28 (public data)</a:t>
            </a:r>
            <a:endParaRPr lang="en-US" sz="1050" dirty="0"/>
          </a:p>
        </p:txBody>
      </p:sp>
      <p:sp>
        <p:nvSpPr>
          <p:cNvPr id="15" name="Shape 13"/>
          <p:cNvSpPr/>
          <p:nvPr/>
        </p:nvSpPr>
        <p:spPr>
          <a:xfrm>
            <a:off x="3977640" y="4754880"/>
            <a:ext cx="1645920" cy="274320"/>
          </a:xfrm>
          <a:prstGeom prst="rect">
            <a:avLst/>
          </a:prstGeom>
          <a:solidFill>
            <a:srgbClr val="1F4A82"/>
          </a:solidFill>
          <a:ln/>
        </p:spPr>
      </p:sp>
      <p:sp>
        <p:nvSpPr>
          <p:cNvPr id="16" name="Text 14"/>
          <p:cNvSpPr txBox="1"/>
          <p:nvPr/>
        </p:nvSpPr>
        <p:spPr>
          <a:xfrm>
            <a:off x="3977640" y="4754880"/>
            <a:ext cx="164592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₹3.6</a:t>
            </a:r>
            <a:endParaRPr lang="en-US" sz="1400" dirty="0"/>
          </a:p>
        </p:txBody>
      </p:sp>
      <p:sp>
        <p:nvSpPr>
          <p:cNvPr id="17" name="Shape 15"/>
          <p:cNvSpPr/>
          <p:nvPr/>
        </p:nvSpPr>
        <p:spPr>
          <a:xfrm>
            <a:off x="3977640" y="5029200"/>
            <a:ext cx="1645920" cy="685800"/>
          </a:xfrm>
          <a:prstGeom prst="rect">
            <a:avLst/>
          </a:prstGeom>
          <a:solidFill>
            <a:srgbClr val="FFFFFF"/>
          </a:solidFill>
          <a:ln w="15875">
            <a:solidFill>
              <a:srgbClr val="1F4A82"/>
            </a:solidFill>
            <a:prstDash val="solid"/>
          </a:ln>
        </p:spPr>
      </p:sp>
      <p:sp>
        <p:nvSpPr>
          <p:cNvPr id="18" name="Text 16"/>
          <p:cNvSpPr txBox="1"/>
          <p:nvPr/>
        </p:nvSpPr>
        <p:spPr>
          <a:xfrm>
            <a:off x="4050792" y="5074920"/>
            <a:ext cx="1499616" cy="59436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per student per month, all-in (model)</a:t>
            </a:r>
            <a:endParaRPr lang="en-US" sz="1050" dirty="0"/>
          </a:p>
        </p:txBody>
      </p:sp>
      <p:sp>
        <p:nvSpPr>
          <p:cNvPr id="19" name="Text 17"/>
          <p:cNvSpPr txBox="1"/>
          <p:nvPr/>
        </p:nvSpPr>
        <p:spPr>
          <a:xfrm>
            <a:off x="411480" y="6126480"/>
            <a:ext cx="5303520" cy="365760"/>
          </a:xfrm>
          <a:prstGeom prst="rect">
            <a:avLst/>
          </a:prstGeom>
          <a:noFill/>
          <a:ln/>
        </p:spPr>
        <p:txBody>
          <a:bodyPr wrap="square" lIns="0" tIns="0" rIns="0" bIns="0" rtlCol="0" anchor="ctr"/>
          <a:lstStyle/>
          <a:p>
            <a:pPr algn="l" indent="0" marL="0">
              <a:buNone/>
            </a:pPr>
            <a:r>
              <a:rPr lang="en-US" sz="1150" dirty="0">
                <a:solidFill>
                  <a:srgbClr val="5B6573"/>
                </a:solidFill>
                <a:latin typeface="Calibri" pitchFamily="34" charset="0"/>
                <a:ea typeface="Calibri" pitchFamily="34" charset="-122"/>
                <a:cs typeface="Calibri" pitchFamily="34" charset="-120"/>
              </a:rPr>
              <a:t>Team AlphaQ  ·  Round 1  ·  Nextute x Finance Club, IIT Patna</a:t>
            </a:r>
            <a:endParaRPr lang="en-US" sz="1150" dirty="0"/>
          </a:p>
        </p:txBody>
      </p:sp>
      <p:pic>
        <p:nvPicPr>
          <p:cNvPr id="20" name="Image 0" descr="Pragati web console (illustrative)">    </p:cNvPr>
          <p:cNvPicPr>
            <a:picLocks noChangeAspect="1"/>
          </p:cNvPicPr>
          <p:nvPr/>
        </p:nvPicPr>
        <p:blipFill>
          <a:blip r:embed="rId1"/>
          <a:stretch>
            <a:fillRect/>
          </a:stretch>
        </p:blipFill>
        <p:spPr>
          <a:xfrm>
            <a:off x="5989320" y="640080"/>
            <a:ext cx="5623560" cy="3163824"/>
          </a:xfrm>
          <a:prstGeom prst="rect">
            <a:avLst/>
          </a:prstGeom>
        </p:spPr>
      </p:pic>
      <p:pic>
        <p:nvPicPr>
          <p:cNvPr id="21" name="Image 1" descr="Pragati scan screen on a phone (illustrative)">    </p:cNvPr>
          <p:cNvPicPr>
            <a:picLocks noChangeAspect="1"/>
          </p:cNvPicPr>
          <p:nvPr/>
        </p:nvPicPr>
        <p:blipFill>
          <a:blip r:embed="rId2"/>
          <a:stretch>
            <a:fillRect/>
          </a:stretch>
        </p:blipFill>
        <p:spPr>
          <a:xfrm>
            <a:off x="6400800" y="3108960"/>
            <a:ext cx="1554480" cy="3108960"/>
          </a:xfrm>
          <a:prstGeom prst="rect">
            <a:avLst/>
          </a:prstGeom>
        </p:spPr>
      </p:pic>
      <p:pic>
        <p:nvPicPr>
          <p:cNvPr id="22" name="Image 2" descr="Pragati mentor app (illustrative)">    </p:cNvPr>
          <p:cNvPicPr>
            <a:picLocks noChangeAspect="1"/>
          </p:cNvPicPr>
          <p:nvPr/>
        </p:nvPicPr>
        <p:blipFill>
          <a:blip r:embed="rId3"/>
          <a:stretch>
            <a:fillRect/>
          </a:stretch>
        </p:blipFill>
        <p:spPr>
          <a:xfrm>
            <a:off x="8092440" y="2880360"/>
            <a:ext cx="1554480" cy="3108960"/>
          </a:xfrm>
          <a:prstGeom prst="rect">
            <a:avLst/>
          </a:prstGeom>
        </p:spPr>
      </p:pic>
      <p:pic>
        <p:nvPicPr>
          <p:cNvPr id="23" name="Image 3" descr="Pragati parent app (illustrative)">    </p:cNvPr>
          <p:cNvPicPr>
            <a:picLocks noChangeAspect="1"/>
          </p:cNvPicPr>
          <p:nvPr/>
        </p:nvPicPr>
        <p:blipFill>
          <a:blip r:embed="rId4"/>
          <a:stretch>
            <a:fillRect/>
          </a:stretch>
        </p:blipFill>
        <p:spPr>
          <a:xfrm>
            <a:off x="9784080" y="3108960"/>
            <a:ext cx="1554480" cy="3108960"/>
          </a:xfrm>
          <a:prstGeom prst="rect">
            <a:avLst/>
          </a:prstGeom>
        </p:spPr>
      </p:pic>
      <p:sp>
        <p:nvSpPr>
          <p:cNvPr id="24" name="Text 18"/>
          <p:cNvSpPr txBox="1"/>
          <p:nvPr/>
        </p:nvSpPr>
        <p:spPr>
          <a:xfrm>
            <a:off x="9326880" y="6355080"/>
            <a:ext cx="2468880" cy="228600"/>
          </a:xfrm>
          <a:prstGeom prst="rect">
            <a:avLst/>
          </a:prstGeom>
          <a:noFill/>
          <a:ln/>
        </p:spPr>
        <p:txBody>
          <a:bodyPr wrap="square" lIns="0" tIns="0" rIns="0" bIns="0" rtlCol="0" anchor="t"/>
          <a:lstStyle/>
          <a:p>
            <a:pPr algn="r" indent="0" marL="0">
              <a:buNone/>
            </a:pPr>
            <a:r>
              <a:rPr lang="en-US" sz="900" i="1" dirty="0">
                <a:solidFill>
                  <a:srgbClr val="5B6573"/>
                </a:solidFill>
                <a:latin typeface="Calibri" pitchFamily="34" charset="0"/>
                <a:ea typeface="Calibri" pitchFamily="34" charset="-122"/>
                <a:cs typeface="Calibri" pitchFamily="34" charset="-120"/>
              </a:rPr>
              <a:t>Illustrative mock-ups, synthetic data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EXECUTIVE SUMMARY</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Small institutes already hold the data. Pragati turns it into a weekly to-do list for mentors, at a price owners can say yes to</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ALL CRITERIA · ONE-PAGE VIEW</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Shape 5"/>
          <p:cNvSpPr/>
          <p:nvPr/>
        </p:nvSpPr>
        <p:spPr>
          <a:xfrm>
            <a:off x="411480" y="6528816"/>
            <a:ext cx="1343025" cy="274320"/>
          </a:xfrm>
          <a:prstGeom prst="rect">
            <a:avLst/>
          </a:prstGeom>
          <a:solidFill>
            <a:srgbClr val="1F4A82"/>
          </a:solidFill>
          <a:ln/>
        </p:spPr>
      </p:sp>
      <p:sp>
        <p:nvSpPr>
          <p:cNvPr id="8" name="Text 6"/>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Summary</a:t>
            </a:r>
            <a:endParaRPr lang="en-US" sz="1050" dirty="0"/>
          </a:p>
        </p:txBody>
      </p:sp>
      <p:sp>
        <p:nvSpPr>
          <p:cNvPr id="9" name="Text 7"/>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1143000" cy="896112"/>
          </a:xfrm>
          <a:prstGeom prst="rect">
            <a:avLst/>
          </a:prstGeom>
          <a:solidFill>
            <a:srgbClr val="1F4A82"/>
          </a:solidFill>
          <a:ln/>
        </p:spPr>
      </p:sp>
      <p:sp>
        <p:nvSpPr>
          <p:cNvPr id="17" name="Text 15"/>
          <p:cNvSpPr txBox="1"/>
          <p:nvPr/>
        </p:nvSpPr>
        <p:spPr>
          <a:xfrm>
            <a:off x="411480" y="1115568"/>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SITUATION</a:t>
            </a:r>
            <a:endParaRPr lang="en-US" sz="1050" dirty="0"/>
          </a:p>
        </p:txBody>
      </p:sp>
      <p:sp>
        <p:nvSpPr>
          <p:cNvPr id="18" name="Shape 16"/>
          <p:cNvSpPr/>
          <p:nvPr/>
        </p:nvSpPr>
        <p:spPr>
          <a:xfrm>
            <a:off x="1554480" y="1115568"/>
            <a:ext cx="4434840" cy="896112"/>
          </a:xfrm>
          <a:prstGeom prst="rect">
            <a:avLst/>
          </a:prstGeom>
          <a:solidFill>
            <a:srgbClr val="FFFFFF"/>
          </a:solidFill>
          <a:ln w="12700">
            <a:solidFill>
              <a:srgbClr val="C9D6E8"/>
            </a:solidFill>
            <a:prstDash val="solid"/>
          </a:ln>
        </p:spPr>
      </p:sp>
      <p:sp>
        <p:nvSpPr>
          <p:cNvPr id="19" name="Text 17"/>
          <p:cNvSpPr txBox="1"/>
          <p:nvPr/>
        </p:nvSpPr>
        <p:spPr>
          <a:xfrm>
            <a:off x="1673352" y="1152144"/>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Tier-2 and Tier-3 JEE/NEET institutes (150 to 1,200 students) run on </a:t>
            </a:r>
            <a:pPr algn="l" indent="0" marL="0">
              <a:buNone/>
            </a:pPr>
            <a:r>
              <a:rPr lang="en-US" sz="1050" b="1" dirty="0">
                <a:solidFill>
                  <a:srgbClr val="1F2937"/>
                </a:solidFill>
                <a:latin typeface="Calibri" pitchFamily="34" charset="0"/>
                <a:ea typeface="Calibri" pitchFamily="34" charset="-122"/>
                <a:cs typeface="Calibri" pitchFamily="34" charset="-120"/>
              </a:rPr>
              <a:t>paper OMR sheets, Excel and WhatsApp.</a:t>
            </a:r>
            <a:pPr algn="l" indent="0" marL="0">
              <a:buNone/>
            </a:pPr>
            <a:r>
              <a:rPr lang="en-US" sz="1050" dirty="0">
                <a:solidFill>
                  <a:srgbClr val="1F2937"/>
                </a:solidFill>
                <a:latin typeface="Calibri" pitchFamily="34" charset="0"/>
                <a:ea typeface="Calibri" pitchFamily="34" charset="-122"/>
                <a:cs typeface="Calibri" pitchFamily="34" charset="-120"/>
              </a:rPr>
              <a:t> 22.8 lakh NEET and about 15.4 lakh JEE Main candidates registered in 2025.</a:t>
            </a:r>
            <a:endParaRPr lang="en-US" sz="1050" dirty="0"/>
          </a:p>
        </p:txBody>
      </p:sp>
      <p:sp>
        <p:nvSpPr>
          <p:cNvPr id="20" name="Shape 18"/>
          <p:cNvSpPr/>
          <p:nvPr/>
        </p:nvSpPr>
        <p:spPr>
          <a:xfrm>
            <a:off x="411480" y="2103120"/>
            <a:ext cx="1143000" cy="896112"/>
          </a:xfrm>
          <a:prstGeom prst="rect">
            <a:avLst/>
          </a:prstGeom>
          <a:solidFill>
            <a:srgbClr val="2E6DB4"/>
          </a:solidFill>
          <a:ln/>
        </p:spPr>
      </p:sp>
      <p:sp>
        <p:nvSpPr>
          <p:cNvPr id="21" name="Text 19"/>
          <p:cNvSpPr txBox="1"/>
          <p:nvPr/>
        </p:nvSpPr>
        <p:spPr>
          <a:xfrm>
            <a:off x="411480" y="2103120"/>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COMPLICATION</a:t>
            </a:r>
            <a:endParaRPr lang="en-US" sz="1050" dirty="0"/>
          </a:p>
        </p:txBody>
      </p:sp>
      <p:sp>
        <p:nvSpPr>
          <p:cNvPr id="22" name="Shape 20"/>
          <p:cNvSpPr/>
          <p:nvPr/>
        </p:nvSpPr>
        <p:spPr>
          <a:xfrm>
            <a:off x="1554480" y="2103120"/>
            <a:ext cx="4434840" cy="896112"/>
          </a:xfrm>
          <a:prstGeom prst="rect">
            <a:avLst/>
          </a:prstGeom>
          <a:solidFill>
            <a:srgbClr val="FFFFFF"/>
          </a:solidFill>
          <a:ln w="12700">
            <a:solidFill>
              <a:srgbClr val="C9D6E8"/>
            </a:solidFill>
            <a:prstDash val="solid"/>
          </a:ln>
        </p:spPr>
      </p:sp>
      <p:sp>
        <p:nvSpPr>
          <p:cNvPr id="23" name="Text 21"/>
          <p:cNvSpPr txBox="1"/>
          <p:nvPr/>
        </p:nvSpPr>
        <p:spPr>
          <a:xfrm>
            <a:off x="1673352" y="2139696"/>
            <a:ext cx="4224528" cy="8229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400-student institute loses about </a:t>
            </a:r>
            <a:pPr algn="l" indent="0" marL="0">
              <a:buNone/>
            </a:pPr>
            <a:r>
              <a:rPr lang="en-US" sz="1050" b="1" dirty="0">
                <a:solidFill>
                  <a:srgbClr val="1F2937"/>
                </a:solidFill>
                <a:latin typeface="Calibri" pitchFamily="34" charset="0"/>
                <a:ea typeface="Calibri" pitchFamily="34" charset="-122"/>
                <a:cs typeface="Calibri" pitchFamily="34" charset="-120"/>
              </a:rPr>
              <a:t>₹17 lakh a year</a:t>
            </a:r>
            <a:pPr algn="l" indent="0" marL="0">
              <a:buNone/>
            </a:pPr>
            <a:r>
              <a:rPr lang="en-US" sz="1050" dirty="0">
                <a:solidFill>
                  <a:srgbClr val="1F2937"/>
                </a:solidFill>
                <a:latin typeface="Calibri" pitchFamily="34" charset="0"/>
                <a:ea typeface="Calibri" pitchFamily="34" charset="-122"/>
                <a:cs typeface="Calibri" pitchFamily="34" charset="-120"/>
              </a:rPr>
              <a:t> to mid-session dropouts, noticed only after students leave. Generic apps store marks but give no topic view or warning, and </a:t>
            </a:r>
            <a:pPr algn="l" indent="0" marL="0">
              <a:buNone/>
            </a:pPr>
            <a:r>
              <a:rPr lang="en-US" sz="1050" b="1" dirty="0">
                <a:solidFill>
                  <a:srgbClr val="1F2937"/>
                </a:solidFill>
                <a:latin typeface="Calibri" pitchFamily="34" charset="0"/>
                <a:ea typeface="Calibri" pitchFamily="34" charset="-122"/>
                <a:cs typeface="Calibri" pitchFamily="34" charset="-120"/>
              </a:rPr>
              <a:t>DPDP s.9(3) bars behavioural tracking of minors.</a:t>
            </a:r>
            <a:endParaRPr lang="en-US" sz="1050" dirty="0"/>
          </a:p>
        </p:txBody>
      </p:sp>
      <p:sp>
        <p:nvSpPr>
          <p:cNvPr id="24" name="Shape 22"/>
          <p:cNvSpPr/>
          <p:nvPr/>
        </p:nvSpPr>
        <p:spPr>
          <a:xfrm>
            <a:off x="411480" y="3090672"/>
            <a:ext cx="1143000" cy="896112"/>
          </a:xfrm>
          <a:prstGeom prst="rect">
            <a:avLst/>
          </a:prstGeom>
          <a:solidFill>
            <a:srgbClr val="1F4A82"/>
          </a:solidFill>
          <a:ln/>
        </p:spPr>
      </p:sp>
      <p:sp>
        <p:nvSpPr>
          <p:cNvPr id="25" name="Text 23"/>
          <p:cNvSpPr txBox="1"/>
          <p:nvPr/>
        </p:nvSpPr>
        <p:spPr>
          <a:xfrm>
            <a:off x="411480" y="3090672"/>
            <a:ext cx="1143000" cy="89611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RESOLUTION</a:t>
            </a:r>
            <a:endParaRPr lang="en-US" sz="1050" dirty="0"/>
          </a:p>
        </p:txBody>
      </p:sp>
      <p:sp>
        <p:nvSpPr>
          <p:cNvPr id="26" name="Shape 24"/>
          <p:cNvSpPr/>
          <p:nvPr/>
        </p:nvSpPr>
        <p:spPr>
          <a:xfrm>
            <a:off x="1554480" y="3090672"/>
            <a:ext cx="4434840" cy="896112"/>
          </a:xfrm>
          <a:prstGeom prst="rect">
            <a:avLst/>
          </a:prstGeom>
          <a:solidFill>
            <a:srgbClr val="FFFFFF"/>
          </a:solidFill>
          <a:ln w="12700">
            <a:solidFill>
              <a:srgbClr val="C9D6E8"/>
            </a:solidFill>
            <a:prstDash val="solid"/>
          </a:ln>
        </p:spPr>
      </p:sp>
      <p:sp>
        <p:nvSpPr>
          <p:cNvPr id="27" name="Text 25"/>
          <p:cNvSpPr txBox="1"/>
          <p:nvPr/>
        </p:nvSpPr>
        <p:spPr>
          <a:xfrm>
            <a:off x="1673352" y="3127248"/>
            <a:ext cx="4224528" cy="822960"/>
          </a:xfrm>
          <a:prstGeom prst="rect">
            <a:avLst/>
          </a:prstGeom>
          <a:noFill/>
          <a:ln/>
        </p:spPr>
        <p:txBody>
          <a:bodyPr wrap="square" lIns="0" tIns="0" rIns="0" bIns="0" rtlCol="0" anchor="ctr"/>
          <a:lstStyle/>
          <a:p>
            <a:pPr algn="l" indent="0" marL="0">
              <a:buNone/>
            </a:pPr>
            <a:r>
              <a:rPr lang="en-US" sz="1050" b="1" dirty="0">
                <a:solidFill>
                  <a:srgbClr val="1F2937"/>
                </a:solidFill>
                <a:latin typeface="Calibri" pitchFamily="34" charset="0"/>
                <a:ea typeface="Calibri" pitchFamily="34" charset="-122"/>
                <a:cs typeface="Calibri" pitchFamily="34" charset="-120"/>
              </a:rPr>
              <a:t>Pragati: </a:t>
            </a:r>
            <a:pPr algn="l" indent="0" marL="0">
              <a:buNone/>
            </a:pPr>
            <a:r>
              <a:rPr lang="en-US" sz="1050" dirty="0">
                <a:solidFill>
                  <a:srgbClr val="1F2937"/>
                </a:solidFill>
                <a:latin typeface="Calibri" pitchFamily="34" charset="0"/>
                <a:ea typeface="Calibri" pitchFamily="34" charset="-122"/>
                <a:cs typeface="Calibri" pitchFamily="34" charset="-120"/>
              </a:rPr>
              <a:t>OMR photo or Excel in, then topic mastery, a weekly support list with plain reasons, and checked Hindi and English parent reports. Runs offline on one laptop for </a:t>
            </a:r>
            <a:pPr algn="l" indent="0" marL="0">
              <a:buNone/>
            </a:pPr>
            <a:r>
              <a:rPr lang="en-US" sz="1050" b="1" dirty="0">
                <a:solidFill>
                  <a:srgbClr val="1F2937"/>
                </a:solidFill>
                <a:latin typeface="Calibri" pitchFamily="34" charset="0"/>
                <a:ea typeface="Calibri" pitchFamily="34" charset="-122"/>
                <a:cs typeface="Calibri" pitchFamily="34" charset="-120"/>
              </a:rPr>
              <a:t>₹3.6 per student per month.</a:t>
            </a:r>
            <a:endParaRPr lang="en-US" sz="1050" dirty="0"/>
          </a:p>
        </p:txBody>
      </p:sp>
      <p:sp>
        <p:nvSpPr>
          <p:cNvPr id="28" name="Shape 26"/>
          <p:cNvSpPr/>
          <p:nvPr/>
        </p:nvSpPr>
        <p:spPr>
          <a:xfrm>
            <a:off x="411480" y="4114800"/>
            <a:ext cx="5577840" cy="274320"/>
          </a:xfrm>
          <a:prstGeom prst="rect">
            <a:avLst/>
          </a:prstGeom>
          <a:solidFill>
            <a:srgbClr val="1F4A82"/>
          </a:solidFill>
          <a:ln/>
        </p:spPr>
      </p:sp>
      <p:sp>
        <p:nvSpPr>
          <p:cNvPr id="29" name="Text 27"/>
          <p:cNvSpPr txBox="1"/>
          <p:nvPr/>
        </p:nvSpPr>
        <p:spPr>
          <a:xfrm>
            <a:off x="484632" y="4114800"/>
            <a:ext cx="5431536"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WHY IT WINS ON THE RUBRIC (70 % TECHNOLOGY · 30 % BUSINESS)</a:t>
            </a:r>
            <a:endParaRPr lang="en-US" sz="1050" dirty="0"/>
          </a:p>
        </p:txBody>
      </p:sp>
      <p:sp>
        <p:nvSpPr>
          <p:cNvPr id="30" name="Shape 28"/>
          <p:cNvSpPr/>
          <p:nvPr/>
        </p:nvSpPr>
        <p:spPr>
          <a:xfrm>
            <a:off x="411480" y="4462272"/>
            <a:ext cx="2761488" cy="859536"/>
          </a:xfrm>
          <a:prstGeom prst="rect">
            <a:avLst/>
          </a:prstGeom>
          <a:solidFill>
            <a:srgbClr val="F4F7FB"/>
          </a:solidFill>
          <a:ln w="9525">
            <a:solidFill>
              <a:srgbClr val="C9D6E8"/>
            </a:solidFill>
            <a:prstDash val="solid"/>
          </a:ln>
        </p:spPr>
      </p:sp>
      <p:sp>
        <p:nvSpPr>
          <p:cNvPr id="31" name="Shape 29"/>
          <p:cNvSpPr/>
          <p:nvPr/>
        </p:nvSpPr>
        <p:spPr>
          <a:xfrm>
            <a:off x="502920" y="4553712"/>
            <a:ext cx="329184" cy="329184"/>
          </a:xfrm>
          <a:prstGeom prst="ellipse">
            <a:avLst/>
          </a:prstGeom>
          <a:solidFill>
            <a:srgbClr val="1F4A82"/>
          </a:solidFill>
          <a:ln/>
        </p:spPr>
      </p:sp>
      <p:pic>
        <p:nvPicPr>
          <p:cNvPr id="32" name="Image 0" descr="FaSitemap icon">    </p:cNvPr>
          <p:cNvPicPr>
            <a:picLocks noChangeAspect="1"/>
          </p:cNvPicPr>
          <p:nvPr/>
        </p:nvPicPr>
        <p:blipFill>
          <a:blip r:embed="rId1"/>
          <a:stretch>
            <a:fillRect/>
          </a:stretch>
        </p:blipFill>
        <p:spPr>
          <a:xfrm>
            <a:off x="575340" y="4626132"/>
            <a:ext cx="184343" cy="184343"/>
          </a:xfrm>
          <a:prstGeom prst="rect">
            <a:avLst/>
          </a:prstGeom>
        </p:spPr>
      </p:pic>
      <p:sp>
        <p:nvSpPr>
          <p:cNvPr id="33" name="Text 30"/>
          <p:cNvSpPr txBox="1"/>
          <p:nvPr/>
        </p:nvSpPr>
        <p:spPr>
          <a:xfrm>
            <a:off x="905256"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Architecture 25</a:t>
            </a:r>
            <a:endParaRPr lang="en-US" sz="1100" dirty="0"/>
          </a:p>
        </p:txBody>
      </p:sp>
      <p:sp>
        <p:nvSpPr>
          <p:cNvPr id="34" name="Text 31"/>
          <p:cNvSpPr txBox="1"/>
          <p:nvPr/>
        </p:nvSpPr>
        <p:spPr>
          <a:xfrm>
            <a:off x="905256"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Local-first, 31 tables with row-level security tested on PostgreSQL 16; 116 automated tests.</a:t>
            </a:r>
            <a:endParaRPr lang="en-US" sz="900" dirty="0"/>
          </a:p>
        </p:txBody>
      </p:sp>
      <p:sp>
        <p:nvSpPr>
          <p:cNvPr id="35" name="Shape 32"/>
          <p:cNvSpPr/>
          <p:nvPr/>
        </p:nvSpPr>
        <p:spPr>
          <a:xfrm>
            <a:off x="3227832" y="4462272"/>
            <a:ext cx="2761488" cy="859536"/>
          </a:xfrm>
          <a:prstGeom prst="rect">
            <a:avLst/>
          </a:prstGeom>
          <a:solidFill>
            <a:srgbClr val="F4F7FB"/>
          </a:solidFill>
          <a:ln w="9525">
            <a:solidFill>
              <a:srgbClr val="C9D6E8"/>
            </a:solidFill>
            <a:prstDash val="solid"/>
          </a:ln>
        </p:spPr>
      </p:sp>
      <p:sp>
        <p:nvSpPr>
          <p:cNvPr id="36" name="Shape 33"/>
          <p:cNvSpPr/>
          <p:nvPr/>
        </p:nvSpPr>
        <p:spPr>
          <a:xfrm>
            <a:off x="3319272" y="4553712"/>
            <a:ext cx="329184" cy="329184"/>
          </a:xfrm>
          <a:prstGeom prst="ellipse">
            <a:avLst/>
          </a:prstGeom>
          <a:solidFill>
            <a:srgbClr val="2E6DB4"/>
          </a:solidFill>
          <a:ln/>
        </p:spPr>
      </p:sp>
      <p:pic>
        <p:nvPicPr>
          <p:cNvPr id="37" name="Image 1" descr="FaChartLine icon">    </p:cNvPr>
          <p:cNvPicPr>
            <a:picLocks noChangeAspect="1"/>
          </p:cNvPicPr>
          <p:nvPr/>
        </p:nvPicPr>
        <p:blipFill>
          <a:blip r:embed="rId2"/>
          <a:stretch>
            <a:fillRect/>
          </a:stretch>
        </p:blipFill>
        <p:spPr>
          <a:xfrm>
            <a:off x="3391692" y="4626132"/>
            <a:ext cx="184343" cy="184343"/>
          </a:xfrm>
          <a:prstGeom prst="rect">
            <a:avLst/>
          </a:prstGeom>
        </p:spPr>
      </p:pic>
      <p:sp>
        <p:nvSpPr>
          <p:cNvPr id="38" name="Text 34"/>
          <p:cNvSpPr txBox="1"/>
          <p:nvPr/>
        </p:nvSpPr>
        <p:spPr>
          <a:xfrm>
            <a:off x="3721608" y="4526280"/>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ML rigour 25</a:t>
            </a:r>
            <a:endParaRPr lang="en-US" sz="1100" dirty="0"/>
          </a:p>
        </p:txBody>
      </p:sp>
      <p:sp>
        <p:nvSpPr>
          <p:cNvPr id="39" name="Text 35"/>
          <p:cNvSpPr txBox="1"/>
          <p:nvPr/>
        </p:nvSpPr>
        <p:spPr>
          <a:xfrm>
            <a:off x="3721608" y="4791456"/>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Measured on public data against baselines: 0.763 AUC (DKT 0.754); precision 0.46 vs 0.24 to 0.31 for rules.</a:t>
            </a:r>
            <a:endParaRPr lang="en-US" sz="900" dirty="0"/>
          </a:p>
        </p:txBody>
      </p:sp>
      <p:sp>
        <p:nvSpPr>
          <p:cNvPr id="40" name="Shape 36"/>
          <p:cNvSpPr/>
          <p:nvPr/>
        </p:nvSpPr>
        <p:spPr>
          <a:xfrm>
            <a:off x="411480" y="5394960"/>
            <a:ext cx="2761488" cy="859536"/>
          </a:xfrm>
          <a:prstGeom prst="rect">
            <a:avLst/>
          </a:prstGeom>
          <a:solidFill>
            <a:srgbClr val="F4F7FB"/>
          </a:solidFill>
          <a:ln w="9525">
            <a:solidFill>
              <a:srgbClr val="C9D6E8"/>
            </a:solidFill>
            <a:prstDash val="solid"/>
          </a:ln>
        </p:spPr>
      </p:sp>
      <p:sp>
        <p:nvSpPr>
          <p:cNvPr id="41" name="Shape 37"/>
          <p:cNvSpPr/>
          <p:nvPr/>
        </p:nvSpPr>
        <p:spPr>
          <a:xfrm>
            <a:off x="502920" y="5486400"/>
            <a:ext cx="329184" cy="329184"/>
          </a:xfrm>
          <a:prstGeom prst="ellipse">
            <a:avLst/>
          </a:prstGeom>
          <a:solidFill>
            <a:srgbClr val="1F4A82"/>
          </a:solidFill>
          <a:ln/>
        </p:spPr>
      </p:sp>
      <p:pic>
        <p:nvPicPr>
          <p:cNvPr id="42" name="Image 2" descr="FaUserShield icon">    </p:cNvPr>
          <p:cNvPicPr>
            <a:picLocks noChangeAspect="1"/>
          </p:cNvPicPr>
          <p:nvPr/>
        </p:nvPicPr>
        <p:blipFill>
          <a:blip r:embed="rId3"/>
          <a:stretch>
            <a:fillRect/>
          </a:stretch>
        </p:blipFill>
        <p:spPr>
          <a:xfrm>
            <a:off x="575340" y="5558820"/>
            <a:ext cx="184343" cy="184343"/>
          </a:xfrm>
          <a:prstGeom prst="rect">
            <a:avLst/>
          </a:prstGeom>
        </p:spPr>
      </p:pic>
      <p:sp>
        <p:nvSpPr>
          <p:cNvPr id="43" name="Text 38"/>
          <p:cNvSpPr txBox="1"/>
          <p:nvPr/>
        </p:nvSpPr>
        <p:spPr>
          <a:xfrm>
            <a:off x="905256"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Privacy and safety 20</a:t>
            </a:r>
            <a:endParaRPr lang="en-US" sz="1100" dirty="0"/>
          </a:p>
        </p:txBody>
      </p:sp>
      <p:sp>
        <p:nvSpPr>
          <p:cNvPr id="44" name="Text 39"/>
          <p:cNvSpPr txBox="1"/>
          <p:nvPr/>
        </p:nvSpPr>
        <p:spPr>
          <a:xfrm>
            <a:off x="905256"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Age- and purpose-aware routing; academic-only features cost just 0.008 AUC; every report checked.</a:t>
            </a:r>
            <a:endParaRPr lang="en-US" sz="900" dirty="0"/>
          </a:p>
        </p:txBody>
      </p:sp>
      <p:sp>
        <p:nvSpPr>
          <p:cNvPr id="45" name="Shape 40"/>
          <p:cNvSpPr/>
          <p:nvPr/>
        </p:nvSpPr>
        <p:spPr>
          <a:xfrm>
            <a:off x="3227832" y="5394960"/>
            <a:ext cx="2761488" cy="859536"/>
          </a:xfrm>
          <a:prstGeom prst="rect">
            <a:avLst/>
          </a:prstGeom>
          <a:solidFill>
            <a:srgbClr val="F4F7FB"/>
          </a:solidFill>
          <a:ln w="9525">
            <a:solidFill>
              <a:srgbClr val="C9D6E8"/>
            </a:solidFill>
            <a:prstDash val="solid"/>
          </a:ln>
        </p:spPr>
      </p:sp>
      <p:sp>
        <p:nvSpPr>
          <p:cNvPr id="46" name="Shape 41"/>
          <p:cNvSpPr/>
          <p:nvPr/>
        </p:nvSpPr>
        <p:spPr>
          <a:xfrm>
            <a:off x="3319272" y="5486400"/>
            <a:ext cx="329184" cy="329184"/>
          </a:xfrm>
          <a:prstGeom prst="ellipse">
            <a:avLst/>
          </a:prstGeom>
          <a:solidFill>
            <a:srgbClr val="5B8DC9"/>
          </a:solidFill>
          <a:ln/>
        </p:spPr>
      </p:sp>
      <p:pic>
        <p:nvPicPr>
          <p:cNvPr id="47" name="Image 3" descr="FaIndianRupeeSign icon">    </p:cNvPr>
          <p:cNvPicPr>
            <a:picLocks noChangeAspect="1"/>
          </p:cNvPicPr>
          <p:nvPr/>
        </p:nvPicPr>
        <p:blipFill>
          <a:blip r:embed="rId4"/>
          <a:stretch>
            <a:fillRect/>
          </a:stretch>
        </p:blipFill>
        <p:spPr>
          <a:xfrm>
            <a:off x="3391692" y="5558820"/>
            <a:ext cx="184343" cy="184343"/>
          </a:xfrm>
          <a:prstGeom prst="rect">
            <a:avLst/>
          </a:prstGeom>
        </p:spPr>
      </p:pic>
      <p:sp>
        <p:nvSpPr>
          <p:cNvPr id="48" name="Text 42"/>
          <p:cNvSpPr txBox="1"/>
          <p:nvPr/>
        </p:nvSpPr>
        <p:spPr>
          <a:xfrm>
            <a:off x="3721608" y="5458968"/>
            <a:ext cx="2194560" cy="256032"/>
          </a:xfrm>
          <a:prstGeom prst="rect">
            <a:avLst/>
          </a:prstGeom>
          <a:noFill/>
          <a:ln/>
        </p:spPr>
        <p:txBody>
          <a:bodyPr wrap="square" lIns="0" tIns="0" rIns="0" bIns="0" rtlCol="0" anchor="ctr"/>
          <a:lstStyle/>
          <a:p>
            <a:pPr algn="l" indent="0" marL="0">
              <a:buNone/>
            </a:pPr>
            <a:r>
              <a:rPr lang="en-US" sz="1100" b="1" dirty="0">
                <a:solidFill>
                  <a:srgbClr val="1F4A82"/>
                </a:solidFill>
                <a:latin typeface="Calibri" pitchFamily="34" charset="0"/>
                <a:ea typeface="Calibri" pitchFamily="34" charset="-122"/>
                <a:cs typeface="Calibri" pitchFamily="34" charset="-120"/>
              </a:rPr>
              <a:t>Business 30</a:t>
            </a:r>
            <a:endParaRPr lang="en-US" sz="1100" dirty="0"/>
          </a:p>
        </p:txBody>
      </p:sp>
      <p:sp>
        <p:nvSpPr>
          <p:cNvPr id="49" name="Text 43"/>
          <p:cNvSpPr txBox="1"/>
          <p:nvPr/>
        </p:nvSpPr>
        <p:spPr>
          <a:xfrm>
            <a:off x="3721608" y="5724144"/>
            <a:ext cx="2212848"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2.9x institute return in base, 1.0x on fees and staff time alone; LTV/CAC 3.7x with the bear case shown.</a:t>
            </a:r>
            <a:endParaRPr lang="en-US" sz="900" dirty="0"/>
          </a:p>
        </p:txBody>
      </p:sp>
      <p:sp>
        <p:nvSpPr>
          <p:cNvPr id="50" name="Shape 44"/>
          <p:cNvSpPr/>
          <p:nvPr/>
        </p:nvSpPr>
        <p:spPr>
          <a:xfrm>
            <a:off x="6172200" y="1115568"/>
            <a:ext cx="1333424" cy="1078992"/>
          </a:xfrm>
          <a:prstGeom prst="rect">
            <a:avLst/>
          </a:prstGeom>
          <a:solidFill>
            <a:srgbClr val="FFFFFF"/>
          </a:solidFill>
          <a:ln w="15875">
            <a:solidFill>
              <a:srgbClr val="1F4A82"/>
            </a:solidFill>
            <a:prstDash val="solid"/>
          </a:ln>
        </p:spPr>
      </p:sp>
      <p:sp>
        <p:nvSpPr>
          <p:cNvPr id="51" name="Shape 45"/>
          <p:cNvSpPr/>
          <p:nvPr/>
        </p:nvSpPr>
        <p:spPr>
          <a:xfrm>
            <a:off x="6172200" y="1115568"/>
            <a:ext cx="1333424" cy="54864"/>
          </a:xfrm>
          <a:prstGeom prst="rect">
            <a:avLst/>
          </a:prstGeom>
          <a:solidFill>
            <a:srgbClr val="1F4A82"/>
          </a:solidFill>
          <a:ln/>
        </p:spPr>
      </p:sp>
      <p:sp>
        <p:nvSpPr>
          <p:cNvPr id="52" name="Text 46"/>
          <p:cNvSpPr txBox="1"/>
          <p:nvPr/>
        </p:nvSpPr>
        <p:spPr>
          <a:xfrm>
            <a:off x="6172200"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0.763</a:t>
            </a:r>
            <a:endParaRPr lang="en-US" sz="2400" dirty="0"/>
          </a:p>
        </p:txBody>
      </p:sp>
      <p:sp>
        <p:nvSpPr>
          <p:cNvPr id="53" name="Text 47"/>
          <p:cNvSpPr txBox="1"/>
          <p:nvPr/>
        </p:nvSpPr>
        <p:spPr>
          <a:xfrm>
            <a:off x="6227064"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next-answer AUC on ASSISTments</a:t>
            </a:r>
            <a:endParaRPr lang="en-US" sz="900" dirty="0"/>
          </a:p>
        </p:txBody>
      </p:sp>
      <p:sp>
        <p:nvSpPr>
          <p:cNvPr id="54" name="Text 48"/>
          <p:cNvSpPr txBox="1"/>
          <p:nvPr/>
        </p:nvSpPr>
        <p:spPr>
          <a:xfrm>
            <a:off x="6172200"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55" name="Shape 49"/>
          <p:cNvSpPr/>
          <p:nvPr/>
        </p:nvSpPr>
        <p:spPr>
          <a:xfrm>
            <a:off x="7597064" y="1115568"/>
            <a:ext cx="1333424" cy="1078992"/>
          </a:xfrm>
          <a:prstGeom prst="rect">
            <a:avLst/>
          </a:prstGeom>
          <a:solidFill>
            <a:srgbClr val="FFFFFF"/>
          </a:solidFill>
          <a:ln w="15875">
            <a:solidFill>
              <a:srgbClr val="1F4A82"/>
            </a:solidFill>
            <a:prstDash val="solid"/>
          </a:ln>
        </p:spPr>
      </p:sp>
      <p:sp>
        <p:nvSpPr>
          <p:cNvPr id="56" name="Shape 50"/>
          <p:cNvSpPr/>
          <p:nvPr/>
        </p:nvSpPr>
        <p:spPr>
          <a:xfrm>
            <a:off x="7597064" y="1115568"/>
            <a:ext cx="1333424" cy="54864"/>
          </a:xfrm>
          <a:prstGeom prst="rect">
            <a:avLst/>
          </a:prstGeom>
          <a:solidFill>
            <a:srgbClr val="1F4A82"/>
          </a:solidFill>
          <a:ln/>
        </p:spPr>
      </p:sp>
      <p:sp>
        <p:nvSpPr>
          <p:cNvPr id="57" name="Text 51"/>
          <p:cNvSpPr txBox="1"/>
          <p:nvPr/>
        </p:nvSpPr>
        <p:spPr>
          <a:xfrm>
            <a:off x="7597064"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0.46</a:t>
            </a:r>
            <a:endParaRPr lang="en-US" sz="2400" dirty="0"/>
          </a:p>
        </p:txBody>
      </p:sp>
      <p:sp>
        <p:nvSpPr>
          <p:cNvPr id="58" name="Text 52"/>
          <p:cNvSpPr txBox="1"/>
          <p:nvPr/>
        </p:nvSpPr>
        <p:spPr>
          <a:xfrm>
            <a:off x="7651928"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precision at top 10 % (rules 0.24 to 0.31)</a:t>
            </a:r>
            <a:endParaRPr lang="en-US" sz="900" dirty="0"/>
          </a:p>
        </p:txBody>
      </p:sp>
      <p:sp>
        <p:nvSpPr>
          <p:cNvPr id="59" name="Text 53"/>
          <p:cNvSpPr txBox="1"/>
          <p:nvPr/>
        </p:nvSpPr>
        <p:spPr>
          <a:xfrm>
            <a:off x="7597064"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PUBLIC DATA</a:t>
            </a:r>
            <a:endParaRPr lang="en-US" sz="750" dirty="0"/>
          </a:p>
        </p:txBody>
      </p:sp>
      <p:sp>
        <p:nvSpPr>
          <p:cNvPr id="60" name="Shape 54"/>
          <p:cNvSpPr/>
          <p:nvPr/>
        </p:nvSpPr>
        <p:spPr>
          <a:xfrm>
            <a:off x="9021928" y="1115568"/>
            <a:ext cx="1333424" cy="1078992"/>
          </a:xfrm>
          <a:prstGeom prst="rect">
            <a:avLst/>
          </a:prstGeom>
          <a:solidFill>
            <a:srgbClr val="FFFFFF"/>
          </a:solidFill>
          <a:ln w="15875">
            <a:solidFill>
              <a:srgbClr val="1F4A82"/>
            </a:solidFill>
            <a:prstDash val="solid"/>
          </a:ln>
        </p:spPr>
      </p:sp>
      <p:sp>
        <p:nvSpPr>
          <p:cNvPr id="61" name="Shape 55"/>
          <p:cNvSpPr/>
          <p:nvPr/>
        </p:nvSpPr>
        <p:spPr>
          <a:xfrm>
            <a:off x="9021928" y="1115568"/>
            <a:ext cx="1333424" cy="54864"/>
          </a:xfrm>
          <a:prstGeom prst="rect">
            <a:avLst/>
          </a:prstGeom>
          <a:solidFill>
            <a:srgbClr val="1F4A82"/>
          </a:solidFill>
          <a:ln/>
        </p:spPr>
      </p:sp>
      <p:sp>
        <p:nvSpPr>
          <p:cNvPr id="62" name="Text 56"/>
          <p:cNvSpPr txBox="1"/>
          <p:nvPr/>
        </p:nvSpPr>
        <p:spPr>
          <a:xfrm>
            <a:off x="9021928"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2.9x</a:t>
            </a:r>
            <a:endParaRPr lang="en-US" sz="2400" dirty="0"/>
          </a:p>
        </p:txBody>
      </p:sp>
      <p:sp>
        <p:nvSpPr>
          <p:cNvPr id="63" name="Text 57"/>
          <p:cNvSpPr txBox="1"/>
          <p:nvPr/>
        </p:nvSpPr>
        <p:spPr>
          <a:xfrm>
            <a:off x="9076792"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institute return, base case</a:t>
            </a:r>
            <a:endParaRPr lang="en-US" sz="900" dirty="0"/>
          </a:p>
        </p:txBody>
      </p:sp>
      <p:sp>
        <p:nvSpPr>
          <p:cNvPr id="64" name="Text 58"/>
          <p:cNvSpPr txBox="1"/>
          <p:nvPr/>
        </p:nvSpPr>
        <p:spPr>
          <a:xfrm>
            <a:off x="9021928"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65" name="Shape 59"/>
          <p:cNvSpPr/>
          <p:nvPr/>
        </p:nvSpPr>
        <p:spPr>
          <a:xfrm>
            <a:off x="10446791" y="1115568"/>
            <a:ext cx="1333424" cy="1078992"/>
          </a:xfrm>
          <a:prstGeom prst="rect">
            <a:avLst/>
          </a:prstGeom>
          <a:solidFill>
            <a:srgbClr val="FFFFFF"/>
          </a:solidFill>
          <a:ln w="15875">
            <a:solidFill>
              <a:srgbClr val="1F4A82"/>
            </a:solidFill>
            <a:prstDash val="solid"/>
          </a:ln>
        </p:spPr>
      </p:sp>
      <p:sp>
        <p:nvSpPr>
          <p:cNvPr id="66" name="Shape 60"/>
          <p:cNvSpPr/>
          <p:nvPr/>
        </p:nvSpPr>
        <p:spPr>
          <a:xfrm>
            <a:off x="10446791" y="1115568"/>
            <a:ext cx="1333424" cy="54864"/>
          </a:xfrm>
          <a:prstGeom prst="rect">
            <a:avLst/>
          </a:prstGeom>
          <a:solidFill>
            <a:srgbClr val="1F4A82"/>
          </a:solidFill>
          <a:ln/>
        </p:spPr>
      </p:sp>
      <p:sp>
        <p:nvSpPr>
          <p:cNvPr id="67" name="Text 61"/>
          <p:cNvSpPr txBox="1"/>
          <p:nvPr/>
        </p:nvSpPr>
        <p:spPr>
          <a:xfrm>
            <a:off x="10446791" y="1188720"/>
            <a:ext cx="1333424" cy="438912"/>
          </a:xfrm>
          <a:prstGeom prst="rect">
            <a:avLst/>
          </a:prstGeom>
          <a:noFill/>
          <a:ln/>
        </p:spPr>
        <p:txBody>
          <a:bodyPr wrap="square" lIns="0" tIns="0" rIns="0" bIns="0" rtlCol="0" anchor="ctr"/>
          <a:lstStyle/>
          <a:p>
            <a:pPr algn="ctr" indent="0" marL="0">
              <a:buNone/>
            </a:pPr>
            <a:r>
              <a:rPr lang="en-US" sz="2400" b="1" dirty="0">
                <a:solidFill>
                  <a:srgbClr val="1F4A82"/>
                </a:solidFill>
                <a:latin typeface="Calibri" pitchFamily="34" charset="0"/>
                <a:ea typeface="Calibri" pitchFamily="34" charset="-122"/>
                <a:cs typeface="Calibri" pitchFamily="34" charset="-120"/>
              </a:rPr>
              <a:t>₹3.6</a:t>
            </a:r>
            <a:endParaRPr lang="en-US" sz="2400" dirty="0"/>
          </a:p>
        </p:txBody>
      </p:sp>
      <p:sp>
        <p:nvSpPr>
          <p:cNvPr id="68" name="Text 62"/>
          <p:cNvSpPr txBox="1"/>
          <p:nvPr/>
        </p:nvSpPr>
        <p:spPr>
          <a:xfrm>
            <a:off x="10501655" y="1618488"/>
            <a:ext cx="1223696" cy="384048"/>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all-in cost per student per month</a:t>
            </a:r>
            <a:endParaRPr lang="en-US" sz="900" dirty="0"/>
          </a:p>
        </p:txBody>
      </p:sp>
      <p:sp>
        <p:nvSpPr>
          <p:cNvPr id="69" name="Text 63"/>
          <p:cNvSpPr txBox="1"/>
          <p:nvPr/>
        </p:nvSpPr>
        <p:spPr>
          <a:xfrm>
            <a:off x="10446791" y="1984248"/>
            <a:ext cx="1333424" cy="182880"/>
          </a:xfrm>
          <a:prstGeom prst="rect">
            <a:avLst/>
          </a:prstGeom>
          <a:noFill/>
          <a:ln/>
        </p:spPr>
        <p:txBody>
          <a:bodyPr wrap="square" lIns="0" tIns="0" rIns="0" bIns="0" rtlCol="0" anchor="ctr"/>
          <a:lstStyle/>
          <a:p>
            <a:pPr algn="ctr" indent="0" marL="0">
              <a:buNone/>
            </a:pPr>
            <a:r>
              <a:rPr lang="en-US" sz="750" b="1" spc="100" kern="0" dirty="0">
                <a:solidFill>
                  <a:srgbClr val="5B6573"/>
                </a:solidFill>
                <a:latin typeface="Calibri" pitchFamily="34" charset="0"/>
                <a:ea typeface="Calibri" pitchFamily="34" charset="-122"/>
                <a:cs typeface="Calibri" pitchFamily="34" charset="-120"/>
              </a:rPr>
              <a:t>MODEL OUTPUT</a:t>
            </a:r>
            <a:endParaRPr lang="en-US" sz="750" dirty="0"/>
          </a:p>
        </p:txBody>
      </p:sp>
      <p:sp>
        <p:nvSpPr>
          <p:cNvPr id="70" name="Shape 64"/>
          <p:cNvSpPr/>
          <p:nvPr/>
        </p:nvSpPr>
        <p:spPr>
          <a:xfrm>
            <a:off x="6172200" y="2304288"/>
            <a:ext cx="5608015" cy="256032"/>
          </a:xfrm>
          <a:prstGeom prst="rect">
            <a:avLst/>
          </a:prstGeom>
          <a:solidFill>
            <a:srgbClr val="1F4A82"/>
          </a:solidFill>
          <a:ln/>
        </p:spPr>
      </p:sp>
      <p:sp>
        <p:nvSpPr>
          <p:cNvPr id="71" name="Text 65"/>
          <p:cNvSpPr txBox="1"/>
          <p:nvPr/>
        </p:nvSpPr>
        <p:spPr>
          <a:xfrm>
            <a:off x="6245352" y="2304288"/>
            <a:ext cx="5461711"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PRAGATI LOOP: CAPTURE → STRUCTURE → ESTIMATE → FLAG → ACT → REPORT</a:t>
            </a:r>
            <a:endParaRPr lang="en-US" sz="1000" dirty="0"/>
          </a:p>
        </p:txBody>
      </p:sp>
      <p:sp>
        <p:nvSpPr>
          <p:cNvPr id="72" name="Shape 66"/>
          <p:cNvSpPr/>
          <p:nvPr/>
        </p:nvSpPr>
        <p:spPr>
          <a:xfrm>
            <a:off x="6913855" y="2880360"/>
            <a:ext cx="386029" cy="0"/>
          </a:xfrm>
          <a:prstGeom prst="line">
            <a:avLst/>
          </a:prstGeom>
          <a:noFill/>
          <a:ln w="19050">
            <a:solidFill>
              <a:srgbClr val="C9D6E8"/>
            </a:solidFill>
            <a:prstDash val="solid"/>
            <a:tailEnd type="triangle"/>
          </a:ln>
        </p:spPr>
      </p:sp>
      <p:sp>
        <p:nvSpPr>
          <p:cNvPr id="73" name="Shape 67"/>
          <p:cNvSpPr/>
          <p:nvPr/>
        </p:nvSpPr>
        <p:spPr>
          <a:xfrm>
            <a:off x="6392647" y="2633472"/>
            <a:ext cx="493776" cy="493776"/>
          </a:xfrm>
          <a:prstGeom prst="ellipse">
            <a:avLst/>
          </a:prstGeom>
          <a:solidFill>
            <a:srgbClr val="1F4A82"/>
          </a:solidFill>
          <a:ln/>
        </p:spPr>
      </p:sp>
      <p:pic>
        <p:nvPicPr>
          <p:cNvPr id="74" name="Image 4" descr="FaCamera icon">    </p:cNvPr>
          <p:cNvPicPr>
            <a:picLocks noChangeAspect="1"/>
          </p:cNvPicPr>
          <p:nvPr/>
        </p:nvPicPr>
        <p:blipFill>
          <a:blip r:embed="rId5"/>
          <a:stretch>
            <a:fillRect/>
          </a:stretch>
        </p:blipFill>
        <p:spPr>
          <a:xfrm>
            <a:off x="6501277" y="2742103"/>
            <a:ext cx="276515" cy="276515"/>
          </a:xfrm>
          <a:prstGeom prst="rect">
            <a:avLst/>
          </a:prstGeom>
        </p:spPr>
      </p:pic>
      <p:sp>
        <p:nvSpPr>
          <p:cNvPr id="75" name="Text 68"/>
          <p:cNvSpPr txBox="1"/>
          <p:nvPr/>
        </p:nvSpPr>
        <p:spPr>
          <a:xfrm>
            <a:off x="6172200"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Capture</a:t>
            </a:r>
            <a:endParaRPr lang="en-US" sz="1000" dirty="0"/>
          </a:p>
        </p:txBody>
      </p:sp>
      <p:sp>
        <p:nvSpPr>
          <p:cNvPr id="76" name="Text 69"/>
          <p:cNvSpPr txBox="1"/>
          <p:nvPr/>
        </p:nvSpPr>
        <p:spPr>
          <a:xfrm>
            <a:off x="6199632"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OMR photo, Excel, Forms</a:t>
            </a:r>
            <a:endParaRPr lang="en-US" sz="850" dirty="0"/>
          </a:p>
        </p:txBody>
      </p:sp>
      <p:sp>
        <p:nvSpPr>
          <p:cNvPr id="77" name="Shape 70"/>
          <p:cNvSpPr/>
          <p:nvPr/>
        </p:nvSpPr>
        <p:spPr>
          <a:xfrm>
            <a:off x="7848524" y="2880360"/>
            <a:ext cx="386029" cy="0"/>
          </a:xfrm>
          <a:prstGeom prst="line">
            <a:avLst/>
          </a:prstGeom>
          <a:noFill/>
          <a:ln w="19050">
            <a:solidFill>
              <a:srgbClr val="C9D6E8"/>
            </a:solidFill>
            <a:prstDash val="solid"/>
            <a:tailEnd type="triangle"/>
          </a:ln>
        </p:spPr>
      </p:sp>
      <p:sp>
        <p:nvSpPr>
          <p:cNvPr id="78" name="Shape 71"/>
          <p:cNvSpPr/>
          <p:nvPr/>
        </p:nvSpPr>
        <p:spPr>
          <a:xfrm>
            <a:off x="7327316" y="2633472"/>
            <a:ext cx="493776" cy="493776"/>
          </a:xfrm>
          <a:prstGeom prst="ellipse">
            <a:avLst/>
          </a:prstGeom>
          <a:solidFill>
            <a:srgbClr val="2E6DB4"/>
          </a:solidFill>
          <a:ln/>
        </p:spPr>
      </p:sp>
      <p:pic>
        <p:nvPicPr>
          <p:cNvPr id="79" name="Image 5" descr="FaDiagramProject icon">    </p:cNvPr>
          <p:cNvPicPr>
            <a:picLocks noChangeAspect="1"/>
          </p:cNvPicPr>
          <p:nvPr/>
        </p:nvPicPr>
        <p:blipFill>
          <a:blip r:embed="rId6"/>
          <a:stretch>
            <a:fillRect/>
          </a:stretch>
        </p:blipFill>
        <p:spPr>
          <a:xfrm>
            <a:off x="7435947" y="2742103"/>
            <a:ext cx="276515" cy="276515"/>
          </a:xfrm>
          <a:prstGeom prst="rect">
            <a:avLst/>
          </a:prstGeom>
        </p:spPr>
      </p:pic>
      <p:sp>
        <p:nvSpPr>
          <p:cNvPr id="80" name="Text 72"/>
          <p:cNvSpPr txBox="1"/>
          <p:nvPr/>
        </p:nvSpPr>
        <p:spPr>
          <a:xfrm>
            <a:off x="7106869"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Structure</a:t>
            </a:r>
            <a:endParaRPr lang="en-US" sz="1000" dirty="0"/>
          </a:p>
        </p:txBody>
      </p:sp>
      <p:sp>
        <p:nvSpPr>
          <p:cNvPr id="81" name="Text 73"/>
          <p:cNvSpPr txBox="1"/>
          <p:nvPr/>
        </p:nvSpPr>
        <p:spPr>
          <a:xfrm>
            <a:off x="7134301"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380-topic syllabus graph</a:t>
            </a:r>
            <a:endParaRPr lang="en-US" sz="850" dirty="0"/>
          </a:p>
        </p:txBody>
      </p:sp>
      <p:sp>
        <p:nvSpPr>
          <p:cNvPr id="82" name="Shape 74"/>
          <p:cNvSpPr/>
          <p:nvPr/>
        </p:nvSpPr>
        <p:spPr>
          <a:xfrm>
            <a:off x="8783193" y="2880360"/>
            <a:ext cx="386029" cy="0"/>
          </a:xfrm>
          <a:prstGeom prst="line">
            <a:avLst/>
          </a:prstGeom>
          <a:noFill/>
          <a:ln w="19050">
            <a:solidFill>
              <a:srgbClr val="C9D6E8"/>
            </a:solidFill>
            <a:prstDash val="solid"/>
            <a:tailEnd type="triangle"/>
          </a:ln>
        </p:spPr>
      </p:sp>
      <p:sp>
        <p:nvSpPr>
          <p:cNvPr id="83" name="Shape 75"/>
          <p:cNvSpPr/>
          <p:nvPr/>
        </p:nvSpPr>
        <p:spPr>
          <a:xfrm>
            <a:off x="8261985" y="2633472"/>
            <a:ext cx="493776" cy="493776"/>
          </a:xfrm>
          <a:prstGeom prst="ellipse">
            <a:avLst/>
          </a:prstGeom>
          <a:solidFill>
            <a:srgbClr val="1F4A82"/>
          </a:solidFill>
          <a:ln/>
        </p:spPr>
      </p:sp>
      <p:pic>
        <p:nvPicPr>
          <p:cNvPr id="84" name="Image 6" descr="FaBrain icon">    </p:cNvPr>
          <p:cNvPicPr>
            <a:picLocks noChangeAspect="1"/>
          </p:cNvPicPr>
          <p:nvPr/>
        </p:nvPicPr>
        <p:blipFill>
          <a:blip r:embed="rId7"/>
          <a:stretch>
            <a:fillRect/>
          </a:stretch>
        </p:blipFill>
        <p:spPr>
          <a:xfrm>
            <a:off x="8370616" y="2742103"/>
            <a:ext cx="276515" cy="276515"/>
          </a:xfrm>
          <a:prstGeom prst="rect">
            <a:avLst/>
          </a:prstGeom>
        </p:spPr>
      </p:pic>
      <p:sp>
        <p:nvSpPr>
          <p:cNvPr id="85" name="Text 76"/>
          <p:cNvSpPr txBox="1"/>
          <p:nvPr/>
        </p:nvSpPr>
        <p:spPr>
          <a:xfrm>
            <a:off x="804153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Estimate</a:t>
            </a:r>
            <a:endParaRPr lang="en-US" sz="1000" dirty="0"/>
          </a:p>
        </p:txBody>
      </p:sp>
      <p:sp>
        <p:nvSpPr>
          <p:cNvPr id="86" name="Text 77"/>
          <p:cNvSpPr txBox="1"/>
          <p:nvPr/>
        </p:nvSpPr>
        <p:spPr>
          <a:xfrm>
            <a:off x="806897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Difficulty and mastery</a:t>
            </a:r>
            <a:endParaRPr lang="en-US" sz="850" dirty="0"/>
          </a:p>
        </p:txBody>
      </p:sp>
      <p:sp>
        <p:nvSpPr>
          <p:cNvPr id="87" name="Shape 78"/>
          <p:cNvSpPr/>
          <p:nvPr/>
        </p:nvSpPr>
        <p:spPr>
          <a:xfrm>
            <a:off x="9717862" y="2880360"/>
            <a:ext cx="386029" cy="0"/>
          </a:xfrm>
          <a:prstGeom prst="line">
            <a:avLst/>
          </a:prstGeom>
          <a:noFill/>
          <a:ln w="19050">
            <a:solidFill>
              <a:srgbClr val="C9D6E8"/>
            </a:solidFill>
            <a:prstDash val="solid"/>
            <a:tailEnd type="triangle"/>
          </a:ln>
        </p:spPr>
      </p:sp>
      <p:sp>
        <p:nvSpPr>
          <p:cNvPr id="88" name="Shape 79"/>
          <p:cNvSpPr/>
          <p:nvPr/>
        </p:nvSpPr>
        <p:spPr>
          <a:xfrm>
            <a:off x="9196654" y="2633472"/>
            <a:ext cx="493776" cy="493776"/>
          </a:xfrm>
          <a:prstGeom prst="ellipse">
            <a:avLst/>
          </a:prstGeom>
          <a:solidFill>
            <a:srgbClr val="5B8DC9"/>
          </a:solidFill>
          <a:ln/>
        </p:spPr>
      </p:sp>
      <p:pic>
        <p:nvPicPr>
          <p:cNvPr id="89" name="Image 7" descr="FaFlag icon">    </p:cNvPr>
          <p:cNvPicPr>
            <a:picLocks noChangeAspect="1"/>
          </p:cNvPicPr>
          <p:nvPr/>
        </p:nvPicPr>
        <p:blipFill>
          <a:blip r:embed="rId8"/>
          <a:stretch>
            <a:fillRect/>
          </a:stretch>
        </p:blipFill>
        <p:spPr>
          <a:xfrm>
            <a:off x="9305285" y="2742103"/>
            <a:ext cx="276515" cy="276515"/>
          </a:xfrm>
          <a:prstGeom prst="rect">
            <a:avLst/>
          </a:prstGeom>
        </p:spPr>
      </p:pic>
      <p:sp>
        <p:nvSpPr>
          <p:cNvPr id="90" name="Text 80"/>
          <p:cNvSpPr txBox="1"/>
          <p:nvPr/>
        </p:nvSpPr>
        <p:spPr>
          <a:xfrm>
            <a:off x="8976208"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Flag</a:t>
            </a:r>
            <a:endParaRPr lang="en-US" sz="1000" dirty="0"/>
          </a:p>
        </p:txBody>
      </p:sp>
      <p:sp>
        <p:nvSpPr>
          <p:cNvPr id="91" name="Text 81"/>
          <p:cNvSpPr txBox="1"/>
          <p:nvPr/>
        </p:nvSpPr>
        <p:spPr>
          <a:xfrm>
            <a:off x="9003640"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Weekly list, plain reasons</a:t>
            </a:r>
            <a:endParaRPr lang="en-US" sz="850" dirty="0"/>
          </a:p>
        </p:txBody>
      </p:sp>
      <p:sp>
        <p:nvSpPr>
          <p:cNvPr id="92" name="Shape 82"/>
          <p:cNvSpPr/>
          <p:nvPr/>
        </p:nvSpPr>
        <p:spPr>
          <a:xfrm>
            <a:off x="10652531" y="2880360"/>
            <a:ext cx="386029" cy="0"/>
          </a:xfrm>
          <a:prstGeom prst="line">
            <a:avLst/>
          </a:prstGeom>
          <a:noFill/>
          <a:ln w="19050">
            <a:solidFill>
              <a:srgbClr val="C9D6E8"/>
            </a:solidFill>
            <a:prstDash val="solid"/>
            <a:tailEnd type="triangle"/>
          </a:ln>
        </p:spPr>
      </p:sp>
      <p:sp>
        <p:nvSpPr>
          <p:cNvPr id="93" name="Shape 83"/>
          <p:cNvSpPr/>
          <p:nvPr/>
        </p:nvSpPr>
        <p:spPr>
          <a:xfrm>
            <a:off x="10131323" y="2633472"/>
            <a:ext cx="493776" cy="493776"/>
          </a:xfrm>
          <a:prstGeom prst="ellipse">
            <a:avLst/>
          </a:prstGeom>
          <a:solidFill>
            <a:srgbClr val="1F4A82"/>
          </a:solidFill>
          <a:ln/>
        </p:spPr>
      </p:sp>
      <p:pic>
        <p:nvPicPr>
          <p:cNvPr id="94" name="Image 8" descr="FaHandshake icon">    </p:cNvPr>
          <p:cNvPicPr>
            <a:picLocks noChangeAspect="1"/>
          </p:cNvPicPr>
          <p:nvPr/>
        </p:nvPicPr>
        <p:blipFill>
          <a:blip r:embed="rId9"/>
          <a:stretch>
            <a:fillRect/>
          </a:stretch>
        </p:blipFill>
        <p:spPr>
          <a:xfrm>
            <a:off x="10239954" y="2742103"/>
            <a:ext cx="276515" cy="276515"/>
          </a:xfrm>
          <a:prstGeom prst="rect">
            <a:avLst/>
          </a:prstGeom>
        </p:spPr>
      </p:pic>
      <p:sp>
        <p:nvSpPr>
          <p:cNvPr id="95" name="Text 84"/>
          <p:cNvSpPr txBox="1"/>
          <p:nvPr/>
        </p:nvSpPr>
        <p:spPr>
          <a:xfrm>
            <a:off x="9910877"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Act</a:t>
            </a:r>
            <a:endParaRPr lang="en-US" sz="1000" dirty="0"/>
          </a:p>
        </p:txBody>
      </p:sp>
      <p:sp>
        <p:nvSpPr>
          <p:cNvPr id="96" name="Text 85"/>
          <p:cNvSpPr txBox="1"/>
          <p:nvPr/>
        </p:nvSpPr>
        <p:spPr>
          <a:xfrm>
            <a:off x="9938309"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Call, remedial session</a:t>
            </a:r>
            <a:endParaRPr lang="en-US" sz="850" dirty="0"/>
          </a:p>
        </p:txBody>
      </p:sp>
      <p:sp>
        <p:nvSpPr>
          <p:cNvPr id="97" name="Shape 86"/>
          <p:cNvSpPr/>
          <p:nvPr/>
        </p:nvSpPr>
        <p:spPr>
          <a:xfrm>
            <a:off x="11065993" y="2633472"/>
            <a:ext cx="493776" cy="493776"/>
          </a:xfrm>
          <a:prstGeom prst="ellipse">
            <a:avLst/>
          </a:prstGeom>
          <a:solidFill>
            <a:srgbClr val="2E6DB4"/>
          </a:solidFill>
          <a:ln/>
        </p:spPr>
      </p:sp>
      <p:pic>
        <p:nvPicPr>
          <p:cNvPr id="98" name="Image 9" descr="FaFileLines icon">    </p:cNvPr>
          <p:cNvPicPr>
            <a:picLocks noChangeAspect="1"/>
          </p:cNvPicPr>
          <p:nvPr/>
        </p:nvPicPr>
        <p:blipFill>
          <a:blip r:embed="rId10"/>
          <a:stretch>
            <a:fillRect/>
          </a:stretch>
        </p:blipFill>
        <p:spPr>
          <a:xfrm>
            <a:off x="11174623" y="2742103"/>
            <a:ext cx="276515" cy="276515"/>
          </a:xfrm>
          <a:prstGeom prst="rect">
            <a:avLst/>
          </a:prstGeom>
        </p:spPr>
      </p:pic>
      <p:sp>
        <p:nvSpPr>
          <p:cNvPr id="99" name="Text 87"/>
          <p:cNvSpPr txBox="1"/>
          <p:nvPr/>
        </p:nvSpPr>
        <p:spPr>
          <a:xfrm>
            <a:off x="10845546" y="3163824"/>
            <a:ext cx="934669" cy="201168"/>
          </a:xfrm>
          <a:prstGeom prst="rect">
            <a:avLst/>
          </a:prstGeom>
          <a:noFill/>
          <a:ln/>
        </p:spPr>
        <p:txBody>
          <a:bodyPr wrap="square" lIns="0" tIns="0" rIns="0" bIns="0" rtlCol="0" anchor="ctr"/>
          <a:lstStyle/>
          <a:p>
            <a:pPr algn="ctr" indent="0" marL="0">
              <a:buNone/>
            </a:pPr>
            <a:r>
              <a:rPr lang="en-US" sz="1000" b="1" dirty="0">
                <a:solidFill>
                  <a:srgbClr val="1F4A82"/>
                </a:solidFill>
                <a:latin typeface="Calibri" pitchFamily="34" charset="0"/>
                <a:ea typeface="Calibri" pitchFamily="34" charset="-122"/>
                <a:cs typeface="Calibri" pitchFamily="34" charset="-120"/>
              </a:rPr>
              <a:t>Report</a:t>
            </a:r>
            <a:endParaRPr lang="en-US" sz="1000" dirty="0"/>
          </a:p>
        </p:txBody>
      </p:sp>
      <p:sp>
        <p:nvSpPr>
          <p:cNvPr id="100" name="Text 88"/>
          <p:cNvSpPr txBox="1"/>
          <p:nvPr/>
        </p:nvSpPr>
        <p:spPr>
          <a:xfrm>
            <a:off x="10872978" y="3355848"/>
            <a:ext cx="879805" cy="329184"/>
          </a:xfrm>
          <a:prstGeom prst="rect">
            <a:avLst/>
          </a:prstGeom>
          <a:noFill/>
          <a:ln/>
        </p:spPr>
        <p:txBody>
          <a:bodyPr wrap="square" lIns="0" tIns="0" rIns="0" bIns="0" rtlCol="0" anchor="t"/>
          <a:lstStyle/>
          <a:p>
            <a:pPr algn="ctr" indent="0" marL="0">
              <a:buNone/>
            </a:pPr>
            <a:r>
              <a:rPr lang="en-US" sz="850" dirty="0">
                <a:solidFill>
                  <a:srgbClr val="5B6573"/>
                </a:solidFill>
                <a:latin typeface="Calibri" pitchFamily="34" charset="0"/>
                <a:ea typeface="Calibri" pitchFamily="34" charset="-122"/>
                <a:cs typeface="Calibri" pitchFamily="34" charset="-120"/>
              </a:rPr>
              <a:t>Checked Hindi / English</a:t>
            </a:r>
            <a:endParaRPr lang="en-US" sz="850" dirty="0"/>
          </a:p>
        </p:txBody>
      </p:sp>
      <p:sp>
        <p:nvSpPr>
          <p:cNvPr id="101" name="Shape 89"/>
          <p:cNvSpPr/>
          <p:nvPr/>
        </p:nvSpPr>
        <p:spPr>
          <a:xfrm>
            <a:off x="6172200" y="3749040"/>
            <a:ext cx="1051560" cy="246888"/>
          </a:xfrm>
          <a:prstGeom prst="rect">
            <a:avLst/>
          </a:prstGeom>
          <a:solidFill>
            <a:srgbClr val="1F4A82"/>
          </a:solidFill>
          <a:ln/>
        </p:spPr>
      </p:sp>
      <p:sp>
        <p:nvSpPr>
          <p:cNvPr id="102" name="Text 90"/>
          <p:cNvSpPr txBox="1"/>
          <p:nvPr/>
        </p:nvSpPr>
        <p:spPr>
          <a:xfrm>
            <a:off x="6217920" y="3749040"/>
            <a:ext cx="96012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Build choice</a:t>
            </a:r>
            <a:endParaRPr lang="en-US" sz="900" dirty="0"/>
          </a:p>
        </p:txBody>
      </p:sp>
      <p:sp>
        <p:nvSpPr>
          <p:cNvPr id="103" name="Shape 91"/>
          <p:cNvSpPr/>
          <p:nvPr/>
        </p:nvSpPr>
        <p:spPr>
          <a:xfrm>
            <a:off x="7223760" y="3749040"/>
            <a:ext cx="2926080" cy="246888"/>
          </a:xfrm>
          <a:prstGeom prst="rect">
            <a:avLst/>
          </a:prstGeom>
          <a:solidFill>
            <a:srgbClr val="1F4A82"/>
          </a:solidFill>
          <a:ln/>
        </p:spPr>
      </p:sp>
      <p:sp>
        <p:nvSpPr>
          <p:cNvPr id="104" name="Text 92"/>
          <p:cNvSpPr txBox="1"/>
          <p:nvPr/>
        </p:nvSpPr>
        <p:spPr>
          <a:xfrm>
            <a:off x="7269480" y="3749040"/>
            <a:ext cx="2834640"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use</a:t>
            </a:r>
            <a:endParaRPr lang="en-US" sz="900" dirty="0"/>
          </a:p>
        </p:txBody>
      </p:sp>
      <p:sp>
        <p:nvSpPr>
          <p:cNvPr id="105" name="Shape 93"/>
          <p:cNvSpPr/>
          <p:nvPr/>
        </p:nvSpPr>
        <p:spPr>
          <a:xfrm>
            <a:off x="10149840" y="3749040"/>
            <a:ext cx="1630375" cy="246888"/>
          </a:xfrm>
          <a:prstGeom prst="rect">
            <a:avLst/>
          </a:prstGeom>
          <a:solidFill>
            <a:srgbClr val="1F4A82"/>
          </a:solidFill>
          <a:ln/>
        </p:spPr>
      </p:sp>
      <p:sp>
        <p:nvSpPr>
          <p:cNvPr id="106" name="Text 94"/>
          <p:cNvSpPr txBox="1"/>
          <p:nvPr/>
        </p:nvSpPr>
        <p:spPr>
          <a:xfrm>
            <a:off x="10195560" y="3749040"/>
            <a:ext cx="1538935" cy="24688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p>
        </p:txBody>
      </p:sp>
      <p:sp>
        <p:nvSpPr>
          <p:cNvPr id="107" name="Shape 95"/>
          <p:cNvSpPr/>
          <p:nvPr/>
        </p:nvSpPr>
        <p:spPr>
          <a:xfrm>
            <a:off x="6172200" y="3995928"/>
            <a:ext cx="1051560" cy="246888"/>
          </a:xfrm>
          <a:prstGeom prst="rect">
            <a:avLst/>
          </a:prstGeom>
          <a:solidFill>
            <a:srgbClr val="F1F7F3"/>
          </a:solidFill>
          <a:ln/>
        </p:spPr>
      </p:sp>
      <p:sp>
        <p:nvSpPr>
          <p:cNvPr id="108" name="Text 96"/>
          <p:cNvSpPr txBox="1"/>
          <p:nvPr/>
        </p:nvSpPr>
        <p:spPr>
          <a:xfrm>
            <a:off x="6217920" y="3995928"/>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OMR capture</a:t>
            </a:r>
            <a:endParaRPr lang="en-US" sz="900" dirty="0"/>
          </a:p>
        </p:txBody>
      </p:sp>
      <p:sp>
        <p:nvSpPr>
          <p:cNvPr id="109" name="Shape 97"/>
          <p:cNvSpPr/>
          <p:nvPr/>
        </p:nvSpPr>
        <p:spPr>
          <a:xfrm>
            <a:off x="7223760" y="3995928"/>
            <a:ext cx="2926080" cy="246888"/>
          </a:xfrm>
          <a:prstGeom prst="rect">
            <a:avLst/>
          </a:prstGeom>
          <a:solidFill>
            <a:srgbClr val="F1F7F3"/>
          </a:solidFill>
          <a:ln/>
        </p:spPr>
      </p:sp>
      <p:sp>
        <p:nvSpPr>
          <p:cNvPr id="110" name="Text 98"/>
          <p:cNvSpPr txBox="1"/>
          <p:nvPr/>
        </p:nvSpPr>
        <p:spPr>
          <a:xfrm>
            <a:off x="7269480" y="3995928"/>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Corner marks and QR; unclear bubbles sent back</a:t>
            </a:r>
            <a:endParaRPr lang="en-US" sz="900" dirty="0"/>
          </a:p>
        </p:txBody>
      </p:sp>
      <p:sp>
        <p:nvSpPr>
          <p:cNvPr id="111" name="Shape 99"/>
          <p:cNvSpPr/>
          <p:nvPr/>
        </p:nvSpPr>
        <p:spPr>
          <a:xfrm>
            <a:off x="10149840" y="3995928"/>
            <a:ext cx="1630375" cy="246888"/>
          </a:xfrm>
          <a:prstGeom prst="rect">
            <a:avLst/>
          </a:prstGeom>
          <a:solidFill>
            <a:srgbClr val="F1F7F3"/>
          </a:solidFill>
          <a:ln/>
        </p:spPr>
      </p:sp>
      <p:sp>
        <p:nvSpPr>
          <p:cNvPr id="112" name="Text 100"/>
          <p:cNvSpPr txBox="1"/>
          <p:nvPr/>
        </p:nvSpPr>
        <p:spPr>
          <a:xfrm>
            <a:off x="10195560" y="3995928"/>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scanner, works offline</a:t>
            </a:r>
            <a:endParaRPr lang="en-US" sz="900" dirty="0"/>
          </a:p>
        </p:txBody>
      </p:sp>
      <p:sp>
        <p:nvSpPr>
          <p:cNvPr id="113" name="Shape 101"/>
          <p:cNvSpPr/>
          <p:nvPr/>
        </p:nvSpPr>
        <p:spPr>
          <a:xfrm>
            <a:off x="6172200" y="4242816"/>
            <a:ext cx="5608015" cy="0"/>
          </a:xfrm>
          <a:prstGeom prst="line">
            <a:avLst/>
          </a:prstGeom>
          <a:noFill/>
          <a:ln w="6350">
            <a:solidFill>
              <a:srgbClr val="E3E8E4"/>
            </a:solidFill>
            <a:prstDash val="solid"/>
          </a:ln>
        </p:spPr>
      </p:sp>
      <p:sp>
        <p:nvSpPr>
          <p:cNvPr id="114" name="Shape 102"/>
          <p:cNvSpPr/>
          <p:nvPr/>
        </p:nvSpPr>
        <p:spPr>
          <a:xfrm>
            <a:off x="6172200" y="4242816"/>
            <a:ext cx="1051560" cy="246888"/>
          </a:xfrm>
          <a:prstGeom prst="rect">
            <a:avLst/>
          </a:prstGeom>
          <a:solidFill>
            <a:srgbClr val="FFFFFF"/>
          </a:solidFill>
          <a:ln/>
        </p:spPr>
      </p:sp>
      <p:sp>
        <p:nvSpPr>
          <p:cNvPr id="115" name="Text 103"/>
          <p:cNvSpPr txBox="1"/>
          <p:nvPr/>
        </p:nvSpPr>
        <p:spPr>
          <a:xfrm>
            <a:off x="6217920" y="4242816"/>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Topic mastery</a:t>
            </a:r>
            <a:endParaRPr lang="en-US" sz="900" dirty="0"/>
          </a:p>
        </p:txBody>
      </p:sp>
      <p:sp>
        <p:nvSpPr>
          <p:cNvPr id="116" name="Shape 104"/>
          <p:cNvSpPr/>
          <p:nvPr/>
        </p:nvSpPr>
        <p:spPr>
          <a:xfrm>
            <a:off x="7223760" y="4242816"/>
            <a:ext cx="2926080" cy="246888"/>
          </a:xfrm>
          <a:prstGeom prst="rect">
            <a:avLst/>
          </a:prstGeom>
          <a:solidFill>
            <a:srgbClr val="FFFFFF"/>
          </a:solidFill>
          <a:ln/>
        </p:spPr>
      </p:sp>
      <p:sp>
        <p:nvSpPr>
          <p:cNvPr id="117" name="Text 105"/>
          <p:cNvSpPr txBox="1"/>
          <p:nvPr/>
        </p:nvSpPr>
        <p:spPr>
          <a:xfrm>
            <a:off x="7269480" y="4242816"/>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2-parameter IRT, guessing prior; Rasch if small</a:t>
            </a:r>
            <a:endParaRPr lang="en-US" sz="900" dirty="0"/>
          </a:p>
        </p:txBody>
      </p:sp>
      <p:sp>
        <p:nvSpPr>
          <p:cNvPr id="118" name="Shape 106"/>
          <p:cNvSpPr/>
          <p:nvPr/>
        </p:nvSpPr>
        <p:spPr>
          <a:xfrm>
            <a:off x="10149840" y="4242816"/>
            <a:ext cx="1630375" cy="246888"/>
          </a:xfrm>
          <a:prstGeom prst="rect">
            <a:avLst/>
          </a:prstGeom>
          <a:solidFill>
            <a:srgbClr val="FFFFFF"/>
          </a:solidFill>
          <a:ln/>
        </p:spPr>
      </p:sp>
      <p:sp>
        <p:nvSpPr>
          <p:cNvPr id="119" name="Text 107"/>
          <p:cNvSpPr txBox="1"/>
          <p:nvPr/>
        </p:nvSpPr>
        <p:spPr>
          <a:xfrm>
            <a:off x="10195560" y="4242816"/>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Explains itself on sparse tests</a:t>
            </a:r>
            <a:endParaRPr lang="en-US" sz="900" dirty="0"/>
          </a:p>
        </p:txBody>
      </p:sp>
      <p:sp>
        <p:nvSpPr>
          <p:cNvPr id="120" name="Shape 108"/>
          <p:cNvSpPr/>
          <p:nvPr/>
        </p:nvSpPr>
        <p:spPr>
          <a:xfrm>
            <a:off x="6172200" y="4489704"/>
            <a:ext cx="5608015" cy="0"/>
          </a:xfrm>
          <a:prstGeom prst="line">
            <a:avLst/>
          </a:prstGeom>
          <a:noFill/>
          <a:ln w="6350">
            <a:solidFill>
              <a:srgbClr val="E3E8E4"/>
            </a:solidFill>
            <a:prstDash val="solid"/>
          </a:ln>
        </p:spPr>
      </p:sp>
      <p:sp>
        <p:nvSpPr>
          <p:cNvPr id="121" name="Shape 109"/>
          <p:cNvSpPr/>
          <p:nvPr/>
        </p:nvSpPr>
        <p:spPr>
          <a:xfrm>
            <a:off x="6172200" y="4489704"/>
            <a:ext cx="1051560" cy="246888"/>
          </a:xfrm>
          <a:prstGeom prst="rect">
            <a:avLst/>
          </a:prstGeom>
          <a:solidFill>
            <a:srgbClr val="F1F7F3"/>
          </a:solidFill>
          <a:ln/>
        </p:spPr>
      </p:sp>
      <p:sp>
        <p:nvSpPr>
          <p:cNvPr id="122" name="Text 110"/>
          <p:cNvSpPr txBox="1"/>
          <p:nvPr/>
        </p:nvSpPr>
        <p:spPr>
          <a:xfrm>
            <a:off x="6217920" y="4489704"/>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Early warning</a:t>
            </a:r>
            <a:endParaRPr lang="en-US" sz="900" dirty="0"/>
          </a:p>
        </p:txBody>
      </p:sp>
      <p:sp>
        <p:nvSpPr>
          <p:cNvPr id="123" name="Shape 111"/>
          <p:cNvSpPr/>
          <p:nvPr/>
        </p:nvSpPr>
        <p:spPr>
          <a:xfrm>
            <a:off x="7223760" y="4489704"/>
            <a:ext cx="2926080" cy="246888"/>
          </a:xfrm>
          <a:prstGeom prst="rect">
            <a:avLst/>
          </a:prstGeom>
          <a:solidFill>
            <a:srgbClr val="F1F7F3"/>
          </a:solidFill>
          <a:ln/>
        </p:spPr>
      </p:sp>
      <p:sp>
        <p:nvSpPr>
          <p:cNvPr id="124" name="Text 112"/>
          <p:cNvSpPr txBox="1"/>
          <p:nvPr/>
        </p:nvSpPr>
        <p:spPr>
          <a:xfrm>
            <a:off x="7269480" y="4489704"/>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Calibrated LightGBM; rules for minors' dropout</a:t>
            </a:r>
            <a:endParaRPr lang="en-US" sz="900" dirty="0"/>
          </a:p>
        </p:txBody>
      </p:sp>
      <p:sp>
        <p:nvSpPr>
          <p:cNvPr id="125" name="Shape 113"/>
          <p:cNvSpPr/>
          <p:nvPr/>
        </p:nvSpPr>
        <p:spPr>
          <a:xfrm>
            <a:off x="10149840" y="4489704"/>
            <a:ext cx="1630375" cy="246888"/>
          </a:xfrm>
          <a:prstGeom prst="rect">
            <a:avLst/>
          </a:prstGeom>
          <a:solidFill>
            <a:srgbClr val="F1F7F3"/>
          </a:solidFill>
          <a:ln/>
        </p:spPr>
      </p:sp>
      <p:sp>
        <p:nvSpPr>
          <p:cNvPr id="126" name="Text 114"/>
          <p:cNvSpPr txBox="1"/>
          <p:nvPr/>
        </p:nvSpPr>
        <p:spPr>
          <a:xfrm>
            <a:off x="10195560" y="4489704"/>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Legal for under-18s</a:t>
            </a:r>
            <a:endParaRPr lang="en-US" sz="900" dirty="0"/>
          </a:p>
        </p:txBody>
      </p:sp>
      <p:sp>
        <p:nvSpPr>
          <p:cNvPr id="127" name="Shape 115"/>
          <p:cNvSpPr/>
          <p:nvPr/>
        </p:nvSpPr>
        <p:spPr>
          <a:xfrm>
            <a:off x="6172200" y="4736592"/>
            <a:ext cx="5608015" cy="0"/>
          </a:xfrm>
          <a:prstGeom prst="line">
            <a:avLst/>
          </a:prstGeom>
          <a:noFill/>
          <a:ln w="6350">
            <a:solidFill>
              <a:srgbClr val="E3E8E4"/>
            </a:solidFill>
            <a:prstDash val="solid"/>
          </a:ln>
        </p:spPr>
      </p:sp>
      <p:sp>
        <p:nvSpPr>
          <p:cNvPr id="128" name="Shape 116"/>
          <p:cNvSpPr/>
          <p:nvPr/>
        </p:nvSpPr>
        <p:spPr>
          <a:xfrm>
            <a:off x="6172200" y="4736592"/>
            <a:ext cx="1051560" cy="246888"/>
          </a:xfrm>
          <a:prstGeom prst="rect">
            <a:avLst/>
          </a:prstGeom>
          <a:solidFill>
            <a:srgbClr val="FFFFFF"/>
          </a:solidFill>
          <a:ln/>
        </p:spPr>
      </p:sp>
      <p:sp>
        <p:nvSpPr>
          <p:cNvPr id="129" name="Text 117"/>
          <p:cNvSpPr txBox="1"/>
          <p:nvPr/>
        </p:nvSpPr>
        <p:spPr>
          <a:xfrm>
            <a:off x="6217920" y="4736592"/>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Percentile</a:t>
            </a:r>
            <a:endParaRPr lang="en-US" sz="900" dirty="0"/>
          </a:p>
        </p:txBody>
      </p:sp>
      <p:sp>
        <p:nvSpPr>
          <p:cNvPr id="130" name="Shape 118"/>
          <p:cNvSpPr/>
          <p:nvPr/>
        </p:nvSpPr>
        <p:spPr>
          <a:xfrm>
            <a:off x="7223760" y="4736592"/>
            <a:ext cx="2926080" cy="246888"/>
          </a:xfrm>
          <a:prstGeom prst="rect">
            <a:avLst/>
          </a:prstGeom>
          <a:solidFill>
            <a:srgbClr val="FFFFFF"/>
          </a:solidFill>
          <a:ln/>
        </p:spPr>
      </p:sp>
      <p:sp>
        <p:nvSpPr>
          <p:cNvPr id="131" name="Text 119"/>
          <p:cNvSpPr txBox="1"/>
          <p:nvPr/>
        </p:nvSpPr>
        <p:spPr>
          <a:xfrm>
            <a:off x="7269480" y="4736592"/>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Quantile model, conformal band, NTA table</a:t>
            </a:r>
            <a:endParaRPr lang="en-US" sz="900" dirty="0"/>
          </a:p>
        </p:txBody>
      </p:sp>
      <p:sp>
        <p:nvSpPr>
          <p:cNvPr id="132" name="Shape 120"/>
          <p:cNvSpPr/>
          <p:nvPr/>
        </p:nvSpPr>
        <p:spPr>
          <a:xfrm>
            <a:off x="10149840" y="4736592"/>
            <a:ext cx="1630375" cy="246888"/>
          </a:xfrm>
          <a:prstGeom prst="rect">
            <a:avLst/>
          </a:prstGeom>
          <a:solidFill>
            <a:srgbClr val="FFFFFF"/>
          </a:solidFill>
          <a:ln/>
        </p:spPr>
      </p:sp>
      <p:sp>
        <p:nvSpPr>
          <p:cNvPr id="133" name="Text 121"/>
          <p:cNvSpPr txBox="1"/>
          <p:nvPr/>
        </p:nvSpPr>
        <p:spPr>
          <a:xfrm>
            <a:off x="10195560" y="4736592"/>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A range, never a rank promise</a:t>
            </a:r>
            <a:endParaRPr lang="en-US" sz="900" dirty="0"/>
          </a:p>
        </p:txBody>
      </p:sp>
      <p:sp>
        <p:nvSpPr>
          <p:cNvPr id="134" name="Shape 122"/>
          <p:cNvSpPr/>
          <p:nvPr/>
        </p:nvSpPr>
        <p:spPr>
          <a:xfrm>
            <a:off x="6172200" y="4983480"/>
            <a:ext cx="5608015" cy="0"/>
          </a:xfrm>
          <a:prstGeom prst="line">
            <a:avLst/>
          </a:prstGeom>
          <a:noFill/>
          <a:ln w="6350">
            <a:solidFill>
              <a:srgbClr val="E3E8E4"/>
            </a:solidFill>
            <a:prstDash val="solid"/>
          </a:ln>
        </p:spPr>
      </p:sp>
      <p:sp>
        <p:nvSpPr>
          <p:cNvPr id="135" name="Shape 123"/>
          <p:cNvSpPr/>
          <p:nvPr/>
        </p:nvSpPr>
        <p:spPr>
          <a:xfrm>
            <a:off x="6172200" y="4983480"/>
            <a:ext cx="1051560" cy="246888"/>
          </a:xfrm>
          <a:prstGeom prst="rect">
            <a:avLst/>
          </a:prstGeom>
          <a:solidFill>
            <a:srgbClr val="F1F7F3"/>
          </a:solidFill>
          <a:ln/>
        </p:spPr>
      </p:sp>
      <p:sp>
        <p:nvSpPr>
          <p:cNvPr id="136" name="Text 124"/>
          <p:cNvSpPr txBox="1"/>
          <p:nvPr/>
        </p:nvSpPr>
        <p:spPr>
          <a:xfrm>
            <a:off x="6217920" y="4983480"/>
            <a:ext cx="960120" cy="246888"/>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Parent report</a:t>
            </a:r>
            <a:endParaRPr lang="en-US" sz="900" dirty="0"/>
          </a:p>
        </p:txBody>
      </p:sp>
      <p:sp>
        <p:nvSpPr>
          <p:cNvPr id="137" name="Shape 125"/>
          <p:cNvSpPr/>
          <p:nvPr/>
        </p:nvSpPr>
        <p:spPr>
          <a:xfrm>
            <a:off x="7223760" y="4983480"/>
            <a:ext cx="2926080" cy="246888"/>
          </a:xfrm>
          <a:prstGeom prst="rect">
            <a:avLst/>
          </a:prstGeom>
          <a:solidFill>
            <a:srgbClr val="F1F7F3"/>
          </a:solidFill>
          <a:ln/>
        </p:spPr>
      </p:sp>
      <p:sp>
        <p:nvSpPr>
          <p:cNvPr id="138" name="Text 126"/>
          <p:cNvSpPr txBox="1"/>
          <p:nvPr/>
        </p:nvSpPr>
        <p:spPr>
          <a:xfrm>
            <a:off x="7269480" y="4983480"/>
            <a:ext cx="2834640"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Facts, local model, 8 checks, template fallback</a:t>
            </a:r>
            <a:endParaRPr lang="en-US" sz="900" dirty="0"/>
          </a:p>
        </p:txBody>
      </p:sp>
      <p:sp>
        <p:nvSpPr>
          <p:cNvPr id="139" name="Shape 127"/>
          <p:cNvSpPr/>
          <p:nvPr/>
        </p:nvSpPr>
        <p:spPr>
          <a:xfrm>
            <a:off x="10149840" y="4983480"/>
            <a:ext cx="1630375" cy="246888"/>
          </a:xfrm>
          <a:prstGeom prst="rect">
            <a:avLst/>
          </a:prstGeom>
          <a:solidFill>
            <a:srgbClr val="F1F7F3"/>
          </a:solidFill>
          <a:ln/>
        </p:spPr>
      </p:sp>
      <p:sp>
        <p:nvSpPr>
          <p:cNvPr id="140" name="Text 128"/>
          <p:cNvSpPr txBox="1"/>
          <p:nvPr/>
        </p:nvSpPr>
        <p:spPr>
          <a:xfrm>
            <a:off x="10195560" y="4983480"/>
            <a:ext cx="1538935" cy="24688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 invented numbers</a:t>
            </a:r>
            <a:endParaRPr lang="en-US" sz="900" dirty="0"/>
          </a:p>
        </p:txBody>
      </p:sp>
      <p:sp>
        <p:nvSpPr>
          <p:cNvPr id="141" name="Shape 129"/>
          <p:cNvSpPr/>
          <p:nvPr/>
        </p:nvSpPr>
        <p:spPr>
          <a:xfrm>
            <a:off x="6172200" y="5230368"/>
            <a:ext cx="5608015" cy="0"/>
          </a:xfrm>
          <a:prstGeom prst="line">
            <a:avLst/>
          </a:prstGeom>
          <a:noFill/>
          <a:ln w="6350">
            <a:solidFill>
              <a:srgbClr val="E3E8E4"/>
            </a:solidFill>
            <a:prstDash val="solid"/>
          </a:ln>
        </p:spPr>
      </p:sp>
      <p:sp>
        <p:nvSpPr>
          <p:cNvPr id="142" name="Shape 130"/>
          <p:cNvSpPr/>
          <p:nvPr/>
        </p:nvSpPr>
        <p:spPr>
          <a:xfrm>
            <a:off x="6172200" y="5321808"/>
            <a:ext cx="5608015" cy="1005840"/>
          </a:xfrm>
          <a:prstGeom prst="rect">
            <a:avLst/>
          </a:prstGeom>
          <a:solidFill>
            <a:srgbClr val="1F4A82"/>
          </a:solidFill>
          <a:ln/>
        </p:spPr>
      </p:sp>
      <p:pic>
        <p:nvPicPr>
          <p:cNvPr id="143" name="Image 10" descr="FaLayerGroup icon">    </p:cNvPr>
          <p:cNvPicPr>
            <a:picLocks noChangeAspect="1"/>
          </p:cNvPicPr>
          <p:nvPr/>
        </p:nvPicPr>
        <p:blipFill>
          <a:blip r:embed="rId11"/>
          <a:stretch>
            <a:fillRect/>
          </a:stretch>
        </p:blipFill>
        <p:spPr>
          <a:xfrm>
            <a:off x="6355080" y="5577840"/>
            <a:ext cx="457200" cy="457200"/>
          </a:xfrm>
          <a:prstGeom prst="rect">
            <a:avLst/>
          </a:prstGeom>
        </p:spPr>
      </p:pic>
      <p:sp>
        <p:nvSpPr>
          <p:cNvPr id="144" name="Text 131"/>
          <p:cNvSpPr txBox="1"/>
          <p:nvPr/>
        </p:nvSpPr>
        <p:spPr>
          <a:xfrm>
            <a:off x="6995160" y="5376672"/>
            <a:ext cx="2743200" cy="256032"/>
          </a:xfrm>
          <a:prstGeom prst="rect">
            <a:avLst/>
          </a:prstGeom>
          <a:noFill/>
          <a:ln/>
        </p:spPr>
        <p:txBody>
          <a:bodyPr wrap="square" lIns="0" tIns="0" rIns="0" bIns="0" rtlCol="0" anchor="ctr"/>
          <a:lstStyle/>
          <a:p>
            <a:pPr algn="l" indent="0" marL="0">
              <a:buNone/>
            </a:pPr>
            <a:r>
              <a:rPr lang="en-US" sz="1200" b="1" spc="100" kern="0" dirty="0">
                <a:solidFill>
                  <a:srgbClr val="F1D9A0"/>
                </a:solidFill>
                <a:latin typeface="Calibri" pitchFamily="34" charset="0"/>
                <a:ea typeface="Calibri" pitchFamily="34" charset="-122"/>
                <a:cs typeface="Calibri" pitchFamily="34" charset="-120"/>
              </a:rPr>
              <a:t>THE MOAT</a:t>
            </a:r>
            <a:endParaRPr lang="en-US" sz="1200" dirty="0"/>
          </a:p>
        </p:txBody>
      </p:sp>
      <p:sp>
        <p:nvSpPr>
          <p:cNvPr id="145" name="Text 132"/>
          <p:cNvSpPr txBox="1"/>
          <p:nvPr/>
        </p:nvSpPr>
        <p:spPr>
          <a:xfrm>
            <a:off x="6995160" y="5623560"/>
            <a:ext cx="4647895" cy="676656"/>
          </a:xfrm>
          <a:prstGeom prst="rect">
            <a:avLst/>
          </a:prstGeom>
          <a:noFill/>
          <a:ln/>
        </p:spPr>
        <p:txBody>
          <a:bodyPr wrap="square" lIns="0" tIns="0" rIns="0" bIns="0" rtlCol="0" anchor="t"/>
          <a:lstStyle/>
          <a:p>
            <a:pPr algn="l" indent="0" marL="0">
              <a:buNone/>
            </a:pPr>
            <a:r>
              <a:rPr lang="en-US" sz="950" dirty="0">
                <a:solidFill>
                  <a:srgbClr val="FFFFFF"/>
                </a:solidFill>
                <a:latin typeface="Calibri" pitchFamily="34" charset="0"/>
                <a:ea typeface="Calibri" pitchFamily="34" charset="-122"/>
                <a:cs typeface="Calibri" pitchFamily="34" charset="-120"/>
              </a:rPr>
              <a:t>Every institute adds answers that sharpen question difficulty for all (pooled item statistics, no raw child records shared), and every logged call teaches which actions work. A new rival starts with an uncalibrated question bank and no outcome history.</a:t>
            </a:r>
            <a:endParaRPr lang="en-US" sz="950" dirty="0"/>
          </a:p>
        </p:txBody>
      </p:sp>
      <p:sp>
        <p:nvSpPr>
          <p:cNvPr id="146" name="Text 133"/>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NTA NEET UG 2025 result data; JEE Main 2025 unique registrations as reported (secondary); case guide baselines; public validation results; financial workbook (Base). Full register: Appendix 10.</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THE PROBLEM AND THE MARKET</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Institutes have the marks, but notice a struggling student only after that student has already left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PROBLEM FRAMING · PARTICIPANT GUIDE §2, §7</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Shape 6"/>
          <p:cNvSpPr/>
          <p:nvPr/>
        </p:nvSpPr>
        <p:spPr>
          <a:xfrm>
            <a:off x="1754505" y="6528816"/>
            <a:ext cx="1343025" cy="274320"/>
          </a:xfrm>
          <a:prstGeom prst="rect">
            <a:avLst/>
          </a:prstGeom>
          <a:solidFill>
            <a:srgbClr val="1F4A82"/>
          </a:solidFill>
          <a:ln/>
        </p:spPr>
      </p:sp>
      <p:sp>
        <p:nvSpPr>
          <p:cNvPr id="9" name="Text 7"/>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343400" cy="301752"/>
          </a:xfrm>
          <a:prstGeom prst="rect">
            <a:avLst/>
          </a:prstGeom>
          <a:solidFill>
            <a:srgbClr val="1F4A82"/>
          </a:solidFill>
          <a:ln/>
        </p:spPr>
      </p:sp>
      <p:sp>
        <p:nvSpPr>
          <p:cNvPr id="17" name="Text 15"/>
          <p:cNvSpPr txBox="1"/>
          <p:nvPr/>
        </p:nvSpPr>
        <p:spPr>
          <a:xfrm>
            <a:off x="521208" y="1115568"/>
            <a:ext cx="41239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LOSES TODAY</a:t>
            </a:r>
            <a:endParaRPr lang="en-US" sz="1200" dirty="0"/>
          </a:p>
        </p:txBody>
      </p:sp>
      <p:sp>
        <p:nvSpPr>
          <p:cNvPr id="18" name="Shape 16"/>
          <p:cNvSpPr/>
          <p:nvPr/>
        </p:nvSpPr>
        <p:spPr>
          <a:xfrm>
            <a:off x="4809744" y="1115568"/>
            <a:ext cx="0" cy="2651760"/>
          </a:xfrm>
          <a:prstGeom prst="line">
            <a:avLst/>
          </a:prstGeom>
          <a:noFill/>
          <a:ln w="12700">
            <a:solidFill>
              <a:srgbClr val="8FA9CC"/>
            </a:solidFill>
            <a:prstDash val="dash"/>
          </a:ln>
        </p:spPr>
      </p:sp>
      <p:sp>
        <p:nvSpPr>
          <p:cNvPr id="19" name="Shape 17"/>
          <p:cNvSpPr/>
          <p:nvPr/>
        </p:nvSpPr>
        <p:spPr>
          <a:xfrm>
            <a:off x="548640" y="1481328"/>
            <a:ext cx="420624" cy="420624"/>
          </a:xfrm>
          <a:prstGeom prst="ellipse">
            <a:avLst/>
          </a:prstGeom>
          <a:solidFill>
            <a:srgbClr val="1F4A82"/>
          </a:solidFill>
          <a:ln/>
        </p:spPr>
      </p:sp>
      <p:pic>
        <p:nvPicPr>
          <p:cNvPr id="20" name="Image 0" descr="FaChalkboardUser icon">    </p:cNvPr>
          <p:cNvPicPr>
            <a:picLocks noChangeAspect="1"/>
          </p:cNvPicPr>
          <p:nvPr/>
        </p:nvPicPr>
        <p:blipFill>
          <a:blip r:embed="rId1"/>
          <a:stretch>
            <a:fillRect/>
          </a:stretch>
        </p:blipFill>
        <p:spPr>
          <a:xfrm>
            <a:off x="641177" y="1573865"/>
            <a:ext cx="235549" cy="235549"/>
          </a:xfrm>
          <a:prstGeom prst="rect">
            <a:avLst/>
          </a:prstGeom>
        </p:spPr>
      </p:pic>
      <p:sp>
        <p:nvSpPr>
          <p:cNvPr id="21" name="Text 18"/>
          <p:cNvSpPr txBox="1"/>
          <p:nvPr/>
        </p:nvSpPr>
        <p:spPr>
          <a:xfrm>
            <a:off x="1097280" y="148132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Teachers</a:t>
            </a:r>
            <a:endParaRPr lang="en-US" sz="1250" dirty="0"/>
          </a:p>
        </p:txBody>
      </p:sp>
      <p:sp>
        <p:nvSpPr>
          <p:cNvPr id="22" name="Text 19"/>
          <p:cNvSpPr txBox="1"/>
          <p:nvPr/>
        </p:nvSpPr>
        <p:spPr>
          <a:xfrm>
            <a:off x="2011680" y="148132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Learn which topics are weak only after the exam.</a:t>
            </a:r>
            <a:endParaRPr lang="en-US" sz="1100" dirty="0"/>
          </a:p>
        </p:txBody>
      </p:sp>
      <p:sp>
        <p:nvSpPr>
          <p:cNvPr id="23" name="Shape 20"/>
          <p:cNvSpPr/>
          <p:nvPr/>
        </p:nvSpPr>
        <p:spPr>
          <a:xfrm>
            <a:off x="548640" y="2029968"/>
            <a:ext cx="420624" cy="420624"/>
          </a:xfrm>
          <a:prstGeom prst="ellipse">
            <a:avLst/>
          </a:prstGeom>
          <a:solidFill>
            <a:srgbClr val="2E6DB4"/>
          </a:solidFill>
          <a:ln/>
        </p:spPr>
      </p:sp>
      <p:pic>
        <p:nvPicPr>
          <p:cNvPr id="24" name="Image 1" descr="FaBuilding icon">    </p:cNvPr>
          <p:cNvPicPr>
            <a:picLocks noChangeAspect="1"/>
          </p:cNvPicPr>
          <p:nvPr/>
        </p:nvPicPr>
        <p:blipFill>
          <a:blip r:embed="rId2"/>
          <a:stretch>
            <a:fillRect/>
          </a:stretch>
        </p:blipFill>
        <p:spPr>
          <a:xfrm>
            <a:off x="641177" y="2122505"/>
            <a:ext cx="235549" cy="235549"/>
          </a:xfrm>
          <a:prstGeom prst="rect">
            <a:avLst/>
          </a:prstGeom>
        </p:spPr>
      </p:pic>
      <p:sp>
        <p:nvSpPr>
          <p:cNvPr id="25" name="Text 21"/>
          <p:cNvSpPr txBox="1"/>
          <p:nvPr/>
        </p:nvSpPr>
        <p:spPr>
          <a:xfrm>
            <a:off x="1097280" y="202996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Owners</a:t>
            </a:r>
            <a:endParaRPr lang="en-US" sz="1250" dirty="0"/>
          </a:p>
        </p:txBody>
      </p:sp>
      <p:sp>
        <p:nvSpPr>
          <p:cNvPr id="26" name="Text 22"/>
          <p:cNvSpPr txBox="1"/>
          <p:nvPr/>
        </p:nvSpPr>
        <p:spPr>
          <a:xfrm>
            <a:off x="2011680" y="202996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Cannot compare batches or teaching methods.</a:t>
            </a:r>
            <a:endParaRPr lang="en-US" sz="1100" dirty="0"/>
          </a:p>
        </p:txBody>
      </p:sp>
      <p:sp>
        <p:nvSpPr>
          <p:cNvPr id="27" name="Shape 23"/>
          <p:cNvSpPr/>
          <p:nvPr/>
        </p:nvSpPr>
        <p:spPr>
          <a:xfrm>
            <a:off x="548640" y="2578608"/>
            <a:ext cx="420624" cy="420624"/>
          </a:xfrm>
          <a:prstGeom prst="ellipse">
            <a:avLst/>
          </a:prstGeom>
          <a:solidFill>
            <a:srgbClr val="1F4A82"/>
          </a:solidFill>
          <a:ln/>
        </p:spPr>
      </p:sp>
      <p:pic>
        <p:nvPicPr>
          <p:cNvPr id="28" name="Image 2" descr="FaUsers icon">    </p:cNvPr>
          <p:cNvPicPr>
            <a:picLocks noChangeAspect="1"/>
          </p:cNvPicPr>
          <p:nvPr/>
        </p:nvPicPr>
        <p:blipFill>
          <a:blip r:embed="rId3"/>
          <a:stretch>
            <a:fillRect/>
          </a:stretch>
        </p:blipFill>
        <p:spPr>
          <a:xfrm>
            <a:off x="641177" y="2671145"/>
            <a:ext cx="235549" cy="235549"/>
          </a:xfrm>
          <a:prstGeom prst="rect">
            <a:avLst/>
          </a:prstGeom>
        </p:spPr>
      </p:pic>
      <p:sp>
        <p:nvSpPr>
          <p:cNvPr id="29" name="Text 24"/>
          <p:cNvSpPr txBox="1"/>
          <p:nvPr/>
        </p:nvSpPr>
        <p:spPr>
          <a:xfrm>
            <a:off x="1097280" y="257860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Parents</a:t>
            </a:r>
            <a:endParaRPr lang="en-US" sz="1250" dirty="0"/>
          </a:p>
        </p:txBody>
      </p:sp>
      <p:sp>
        <p:nvSpPr>
          <p:cNvPr id="30" name="Text 25"/>
          <p:cNvSpPr txBox="1"/>
          <p:nvPr/>
        </p:nvSpPr>
        <p:spPr>
          <a:xfrm>
            <a:off x="2011680" y="257860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Get a marks list and little else, so trust suffers.</a:t>
            </a:r>
            <a:endParaRPr lang="en-US" sz="1100" dirty="0"/>
          </a:p>
        </p:txBody>
      </p:sp>
      <p:sp>
        <p:nvSpPr>
          <p:cNvPr id="31" name="Shape 26"/>
          <p:cNvSpPr/>
          <p:nvPr/>
        </p:nvSpPr>
        <p:spPr>
          <a:xfrm>
            <a:off x="548640" y="3127248"/>
            <a:ext cx="420624" cy="420624"/>
          </a:xfrm>
          <a:prstGeom prst="ellipse">
            <a:avLst/>
          </a:prstGeom>
          <a:solidFill>
            <a:srgbClr val="5B8DC9"/>
          </a:solidFill>
          <a:ln/>
        </p:spPr>
      </p:sp>
      <p:pic>
        <p:nvPicPr>
          <p:cNvPr id="32" name="Image 3" descr="FaChildReaching icon">    </p:cNvPr>
          <p:cNvPicPr>
            <a:picLocks noChangeAspect="1"/>
          </p:cNvPicPr>
          <p:nvPr/>
        </p:nvPicPr>
        <p:blipFill>
          <a:blip r:embed="rId4"/>
          <a:stretch>
            <a:fillRect/>
          </a:stretch>
        </p:blipFill>
        <p:spPr>
          <a:xfrm>
            <a:off x="641177" y="3219785"/>
            <a:ext cx="235549" cy="235549"/>
          </a:xfrm>
          <a:prstGeom prst="rect">
            <a:avLst/>
          </a:prstGeom>
        </p:spPr>
      </p:pic>
      <p:sp>
        <p:nvSpPr>
          <p:cNvPr id="33" name="Text 27"/>
          <p:cNvSpPr txBox="1"/>
          <p:nvPr/>
        </p:nvSpPr>
        <p:spPr>
          <a:xfrm>
            <a:off x="1097280" y="3127248"/>
            <a:ext cx="914400" cy="420624"/>
          </a:xfrm>
          <a:prstGeom prst="rect">
            <a:avLst/>
          </a:prstGeom>
          <a:noFill/>
          <a:ln/>
        </p:spPr>
        <p:txBody>
          <a:bodyPr wrap="square" lIns="0" tIns="0" rIns="0" bIns="0" rtlCol="0" anchor="ctr"/>
          <a:lstStyle/>
          <a:p>
            <a:pPr algn="l" indent="0" marL="0">
              <a:buNone/>
            </a:pPr>
            <a:r>
              <a:rPr lang="en-US" sz="1250" b="1" dirty="0">
                <a:solidFill>
                  <a:srgbClr val="17325C"/>
                </a:solidFill>
                <a:latin typeface="Calibri" pitchFamily="34" charset="0"/>
                <a:ea typeface="Calibri" pitchFamily="34" charset="-122"/>
                <a:cs typeface="Calibri" pitchFamily="34" charset="-120"/>
              </a:rPr>
              <a:t>Students</a:t>
            </a:r>
            <a:endParaRPr lang="en-US" sz="1250" dirty="0"/>
          </a:p>
        </p:txBody>
      </p:sp>
      <p:sp>
        <p:nvSpPr>
          <p:cNvPr id="34" name="Text 28"/>
          <p:cNvSpPr txBox="1"/>
          <p:nvPr/>
        </p:nvSpPr>
        <p:spPr>
          <a:xfrm>
            <a:off x="2011680" y="3127248"/>
            <a:ext cx="2651760" cy="420624"/>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Noticed only after they stop paying or coming.</a:t>
            </a:r>
            <a:endParaRPr lang="en-US" sz="1100" dirty="0"/>
          </a:p>
        </p:txBody>
      </p:sp>
      <p:sp>
        <p:nvSpPr>
          <p:cNvPr id="35" name="Shape 29"/>
          <p:cNvSpPr/>
          <p:nvPr/>
        </p:nvSpPr>
        <p:spPr>
          <a:xfrm>
            <a:off x="4846320" y="1115568"/>
            <a:ext cx="3977640" cy="301752"/>
          </a:xfrm>
          <a:prstGeom prst="rect">
            <a:avLst/>
          </a:prstGeom>
          <a:solidFill>
            <a:srgbClr val="2E6DB4"/>
          </a:solidFill>
          <a:ln/>
        </p:spPr>
      </p:sp>
      <p:sp>
        <p:nvSpPr>
          <p:cNvPr id="36" name="Text 30"/>
          <p:cNvSpPr txBox="1"/>
          <p:nvPr/>
        </p:nvSpPr>
        <p:spPr>
          <a:xfrm>
            <a:off x="4956048" y="1115568"/>
            <a:ext cx="3758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WHERE THE DATA LIVES</a:t>
            </a:r>
            <a:endParaRPr lang="en-US" sz="1200" dirty="0"/>
          </a:p>
        </p:txBody>
      </p:sp>
      <p:sp>
        <p:nvSpPr>
          <p:cNvPr id="37" name="Shape 31"/>
          <p:cNvSpPr/>
          <p:nvPr/>
        </p:nvSpPr>
        <p:spPr>
          <a:xfrm>
            <a:off x="8878824" y="1115568"/>
            <a:ext cx="0" cy="2651760"/>
          </a:xfrm>
          <a:prstGeom prst="line">
            <a:avLst/>
          </a:prstGeom>
          <a:noFill/>
          <a:ln w="12700">
            <a:solidFill>
              <a:srgbClr val="8FA9CC"/>
            </a:solidFill>
            <a:prstDash val="dash"/>
          </a:ln>
        </p:spPr>
      </p:sp>
      <p:sp>
        <p:nvSpPr>
          <p:cNvPr id="38" name="Shape 32"/>
          <p:cNvSpPr/>
          <p:nvPr/>
        </p:nvSpPr>
        <p:spPr>
          <a:xfrm>
            <a:off x="4983480" y="1481328"/>
            <a:ext cx="3703320" cy="530352"/>
          </a:xfrm>
          <a:prstGeom prst="rect">
            <a:avLst/>
          </a:prstGeom>
          <a:solidFill>
            <a:srgbClr val="F2F6FB"/>
          </a:solidFill>
          <a:ln/>
        </p:spPr>
      </p:sp>
      <p:sp>
        <p:nvSpPr>
          <p:cNvPr id="39" name="Shape 33"/>
          <p:cNvSpPr/>
          <p:nvPr/>
        </p:nvSpPr>
        <p:spPr>
          <a:xfrm>
            <a:off x="5047488" y="1545336"/>
            <a:ext cx="402336" cy="402336"/>
          </a:xfrm>
          <a:prstGeom prst="ellipse">
            <a:avLst/>
          </a:prstGeom>
          <a:solidFill>
            <a:srgbClr val="1F4A82"/>
          </a:solidFill>
          <a:ln/>
        </p:spPr>
      </p:sp>
      <p:pic>
        <p:nvPicPr>
          <p:cNvPr id="40" name="Image 4" descr="FaFileLines icon">    </p:cNvPr>
          <p:cNvPicPr>
            <a:picLocks noChangeAspect="1"/>
          </p:cNvPicPr>
          <p:nvPr/>
        </p:nvPicPr>
        <p:blipFill>
          <a:blip r:embed="rId5"/>
          <a:stretch>
            <a:fillRect/>
          </a:stretch>
        </p:blipFill>
        <p:spPr>
          <a:xfrm>
            <a:off x="5136002" y="1633850"/>
            <a:ext cx="225308" cy="225308"/>
          </a:xfrm>
          <a:prstGeom prst="rect">
            <a:avLst/>
          </a:prstGeom>
        </p:spPr>
      </p:pic>
      <p:sp>
        <p:nvSpPr>
          <p:cNvPr id="41" name="Text 34"/>
          <p:cNvSpPr txBox="1"/>
          <p:nvPr/>
        </p:nvSpPr>
        <p:spPr>
          <a:xfrm>
            <a:off x="5559552" y="1481328"/>
            <a:ext cx="1463040" cy="53035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Paper OMR sheets</a:t>
            </a:r>
            <a:endParaRPr lang="en-US" sz="1150" dirty="0"/>
          </a:p>
        </p:txBody>
      </p:sp>
      <p:sp>
        <p:nvSpPr>
          <p:cNvPr id="42" name="Text 35"/>
          <p:cNvSpPr txBox="1"/>
          <p:nvPr/>
        </p:nvSpPr>
        <p:spPr>
          <a:xfrm>
            <a:off x="6995160" y="1481328"/>
            <a:ext cx="1645920"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Marks kept; per-question answers rarely are.</a:t>
            </a:r>
            <a:endParaRPr lang="en-US" sz="1050" dirty="0"/>
          </a:p>
        </p:txBody>
      </p:sp>
      <p:sp>
        <p:nvSpPr>
          <p:cNvPr id="43" name="Shape 36"/>
          <p:cNvSpPr/>
          <p:nvPr/>
        </p:nvSpPr>
        <p:spPr>
          <a:xfrm>
            <a:off x="4983480" y="2084832"/>
            <a:ext cx="3703320" cy="530352"/>
          </a:xfrm>
          <a:prstGeom prst="rect">
            <a:avLst/>
          </a:prstGeom>
          <a:solidFill>
            <a:srgbClr val="F2F6FB"/>
          </a:solidFill>
          <a:ln/>
        </p:spPr>
      </p:sp>
      <p:sp>
        <p:nvSpPr>
          <p:cNvPr id="44" name="Shape 37"/>
          <p:cNvSpPr/>
          <p:nvPr/>
        </p:nvSpPr>
        <p:spPr>
          <a:xfrm>
            <a:off x="5047488" y="2148840"/>
            <a:ext cx="402336" cy="402336"/>
          </a:xfrm>
          <a:prstGeom prst="ellipse">
            <a:avLst/>
          </a:prstGeom>
          <a:solidFill>
            <a:srgbClr val="2E6DB4"/>
          </a:solidFill>
          <a:ln/>
        </p:spPr>
      </p:sp>
      <p:pic>
        <p:nvPicPr>
          <p:cNvPr id="45" name="Image 5" descr="FaFileExcel icon">    </p:cNvPr>
          <p:cNvPicPr>
            <a:picLocks noChangeAspect="1"/>
          </p:cNvPicPr>
          <p:nvPr/>
        </p:nvPicPr>
        <p:blipFill>
          <a:blip r:embed="rId6"/>
          <a:stretch>
            <a:fillRect/>
          </a:stretch>
        </p:blipFill>
        <p:spPr>
          <a:xfrm>
            <a:off x="5136002" y="2237354"/>
            <a:ext cx="225308" cy="225308"/>
          </a:xfrm>
          <a:prstGeom prst="rect">
            <a:avLst/>
          </a:prstGeom>
        </p:spPr>
      </p:pic>
      <p:sp>
        <p:nvSpPr>
          <p:cNvPr id="46" name="Text 38"/>
          <p:cNvSpPr txBox="1"/>
          <p:nvPr/>
        </p:nvSpPr>
        <p:spPr>
          <a:xfrm>
            <a:off x="5559552" y="2084832"/>
            <a:ext cx="1463040" cy="53035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Excel and registers</a:t>
            </a:r>
            <a:endParaRPr lang="en-US" sz="1150" dirty="0"/>
          </a:p>
        </p:txBody>
      </p:sp>
      <p:sp>
        <p:nvSpPr>
          <p:cNvPr id="47" name="Text 39"/>
          <p:cNvSpPr txBox="1"/>
          <p:nvPr/>
        </p:nvSpPr>
        <p:spPr>
          <a:xfrm>
            <a:off x="6995160" y="2084832"/>
            <a:ext cx="1645920"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Headers, names and dates differ file to file.</a:t>
            </a:r>
            <a:endParaRPr lang="en-US" sz="1050" dirty="0"/>
          </a:p>
        </p:txBody>
      </p:sp>
      <p:sp>
        <p:nvSpPr>
          <p:cNvPr id="48" name="Shape 40"/>
          <p:cNvSpPr/>
          <p:nvPr/>
        </p:nvSpPr>
        <p:spPr>
          <a:xfrm>
            <a:off x="4983480" y="2688336"/>
            <a:ext cx="3703320" cy="530352"/>
          </a:xfrm>
          <a:prstGeom prst="rect">
            <a:avLst/>
          </a:prstGeom>
          <a:solidFill>
            <a:srgbClr val="F2F6FB"/>
          </a:solidFill>
          <a:ln/>
        </p:spPr>
      </p:sp>
      <p:sp>
        <p:nvSpPr>
          <p:cNvPr id="49" name="Shape 41"/>
          <p:cNvSpPr/>
          <p:nvPr/>
        </p:nvSpPr>
        <p:spPr>
          <a:xfrm>
            <a:off x="5047488" y="2752344"/>
            <a:ext cx="402336" cy="402336"/>
          </a:xfrm>
          <a:prstGeom prst="ellipse">
            <a:avLst/>
          </a:prstGeom>
          <a:solidFill>
            <a:srgbClr val="1F4A82"/>
          </a:solidFill>
          <a:ln/>
        </p:spPr>
      </p:sp>
      <p:pic>
        <p:nvPicPr>
          <p:cNvPr id="50" name="Image 6" descr="FaWhatsapp icon">    </p:cNvPr>
          <p:cNvPicPr>
            <a:picLocks noChangeAspect="1"/>
          </p:cNvPicPr>
          <p:nvPr/>
        </p:nvPicPr>
        <p:blipFill>
          <a:blip r:embed="rId7"/>
          <a:stretch>
            <a:fillRect/>
          </a:stretch>
        </p:blipFill>
        <p:spPr>
          <a:xfrm>
            <a:off x="5136002" y="2840858"/>
            <a:ext cx="225308" cy="225308"/>
          </a:xfrm>
          <a:prstGeom prst="rect">
            <a:avLst/>
          </a:prstGeom>
        </p:spPr>
      </p:pic>
      <p:sp>
        <p:nvSpPr>
          <p:cNvPr id="51" name="Text 42"/>
          <p:cNvSpPr txBox="1"/>
          <p:nvPr/>
        </p:nvSpPr>
        <p:spPr>
          <a:xfrm>
            <a:off x="5559552" y="2688336"/>
            <a:ext cx="1463040" cy="530352"/>
          </a:xfrm>
          <a:prstGeom prst="rect">
            <a:avLst/>
          </a:prstGeom>
          <a:noFill/>
          <a:ln/>
        </p:spPr>
        <p:txBody>
          <a:bodyPr wrap="square" lIns="0" tIns="0" rIns="0" bIns="0" rtlCol="0" anchor="ctr"/>
          <a:lstStyle/>
          <a:p>
            <a:pPr algn="l" indent="0" marL="0">
              <a:buNone/>
            </a:pPr>
            <a:r>
              <a:rPr lang="en-US" sz="1150" b="1" dirty="0">
                <a:solidFill>
                  <a:srgbClr val="1F2937"/>
                </a:solidFill>
                <a:latin typeface="Calibri" pitchFamily="34" charset="0"/>
                <a:ea typeface="Calibri" pitchFamily="34" charset="-122"/>
                <a:cs typeface="Calibri" pitchFamily="34" charset="-120"/>
              </a:rPr>
              <a:t>WhatsApp groups</a:t>
            </a:r>
            <a:endParaRPr lang="en-US" sz="1150" dirty="0"/>
          </a:p>
        </p:txBody>
      </p:sp>
      <p:sp>
        <p:nvSpPr>
          <p:cNvPr id="52" name="Text 43"/>
          <p:cNvSpPr txBox="1"/>
          <p:nvPr/>
        </p:nvSpPr>
        <p:spPr>
          <a:xfrm>
            <a:off x="6995160" y="2688336"/>
            <a:ext cx="1645920" cy="53035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Photos and chats, with no structure to analyse.</a:t>
            </a:r>
            <a:endParaRPr lang="en-US" sz="1050" dirty="0"/>
          </a:p>
        </p:txBody>
      </p:sp>
      <p:sp>
        <p:nvSpPr>
          <p:cNvPr id="53" name="Shape 44"/>
          <p:cNvSpPr/>
          <p:nvPr/>
        </p:nvSpPr>
        <p:spPr>
          <a:xfrm>
            <a:off x="4983480" y="3364992"/>
            <a:ext cx="3703320" cy="274320"/>
          </a:xfrm>
          <a:prstGeom prst="rect">
            <a:avLst/>
          </a:prstGeom>
          <a:solidFill>
            <a:srgbClr val="1F4A82"/>
          </a:solidFill>
          <a:ln/>
        </p:spPr>
      </p:sp>
      <p:sp>
        <p:nvSpPr>
          <p:cNvPr id="54" name="Text 45"/>
          <p:cNvSpPr txBox="1"/>
          <p:nvPr/>
        </p:nvSpPr>
        <p:spPr>
          <a:xfrm>
            <a:off x="5120640" y="3364992"/>
            <a:ext cx="342900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Result: no topic view, no early warning</a:t>
            </a:r>
            <a:endParaRPr lang="en-US" sz="1150" dirty="0"/>
          </a:p>
        </p:txBody>
      </p:sp>
      <p:sp>
        <p:nvSpPr>
          <p:cNvPr id="55" name="Shape 46"/>
          <p:cNvSpPr/>
          <p:nvPr/>
        </p:nvSpPr>
        <p:spPr>
          <a:xfrm>
            <a:off x="8915400" y="1115568"/>
            <a:ext cx="2864815" cy="301752"/>
          </a:xfrm>
          <a:prstGeom prst="rect">
            <a:avLst/>
          </a:prstGeom>
          <a:solidFill>
            <a:srgbClr val="1F4A82"/>
          </a:solidFill>
          <a:ln/>
        </p:spPr>
      </p:sp>
      <p:sp>
        <p:nvSpPr>
          <p:cNvPr id="56" name="Text 47"/>
          <p:cNvSpPr txBox="1"/>
          <p:nvPr/>
        </p:nvSpPr>
        <p:spPr>
          <a:xfrm>
            <a:off x="9025128" y="1115568"/>
            <a:ext cx="264535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IT COSTS</a:t>
            </a:r>
            <a:endParaRPr lang="en-US" sz="1200" dirty="0"/>
          </a:p>
        </p:txBody>
      </p:sp>
      <p:sp>
        <p:nvSpPr>
          <p:cNvPr id="57" name="Shape 48"/>
          <p:cNvSpPr/>
          <p:nvPr/>
        </p:nvSpPr>
        <p:spPr>
          <a:xfrm>
            <a:off x="9025128" y="1463040"/>
            <a:ext cx="2645359" cy="585216"/>
          </a:xfrm>
          <a:prstGeom prst="rect">
            <a:avLst/>
          </a:prstGeom>
          <a:solidFill>
            <a:srgbClr val="F1E8D3"/>
          </a:solidFill>
          <a:ln/>
        </p:spPr>
      </p:sp>
      <p:sp>
        <p:nvSpPr>
          <p:cNvPr id="58" name="Text 49"/>
          <p:cNvSpPr txBox="1"/>
          <p:nvPr/>
        </p:nvSpPr>
        <p:spPr>
          <a:xfrm>
            <a:off x="9098280" y="1463040"/>
            <a:ext cx="1325880" cy="585216"/>
          </a:xfrm>
          <a:prstGeom prst="rect">
            <a:avLst/>
          </a:prstGeom>
          <a:noFill/>
          <a:ln/>
        </p:spPr>
        <p:txBody>
          <a:bodyPr wrap="square" lIns="0" tIns="0" rIns="0" bIns="0" rtlCol="0" anchor="ctr"/>
          <a:lstStyle/>
          <a:p>
            <a:pPr algn="l" indent="0" marL="0">
              <a:buNone/>
            </a:pPr>
            <a:r>
              <a:rPr lang="en-US" sz="1800" b="1" dirty="0">
                <a:solidFill>
                  <a:srgbClr val="17325C"/>
                </a:solidFill>
                <a:latin typeface="Calibri" pitchFamily="34" charset="0"/>
                <a:ea typeface="Calibri" pitchFamily="34" charset="-122"/>
                <a:cs typeface="Calibri" pitchFamily="34" charset="-120"/>
              </a:rPr>
              <a:t>8-15 %</a:t>
            </a:r>
            <a:endParaRPr lang="en-US" sz="1800" dirty="0"/>
          </a:p>
        </p:txBody>
      </p:sp>
      <p:sp>
        <p:nvSpPr>
          <p:cNvPr id="59" name="Text 50"/>
          <p:cNvSpPr txBox="1"/>
          <p:nvPr/>
        </p:nvSpPr>
        <p:spPr>
          <a:xfrm>
            <a:off x="10396728" y="1463040"/>
            <a:ext cx="1218895" cy="58521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of students drop out or default mid-session</a:t>
            </a:r>
            <a:endParaRPr lang="en-US" sz="1000" dirty="0"/>
          </a:p>
        </p:txBody>
      </p:sp>
      <p:sp>
        <p:nvSpPr>
          <p:cNvPr id="60" name="Shape 51"/>
          <p:cNvSpPr/>
          <p:nvPr/>
        </p:nvSpPr>
        <p:spPr>
          <a:xfrm>
            <a:off x="9025128" y="2103120"/>
            <a:ext cx="2645359" cy="585216"/>
          </a:xfrm>
          <a:prstGeom prst="rect">
            <a:avLst/>
          </a:prstGeom>
          <a:solidFill>
            <a:srgbClr val="F1E8D3"/>
          </a:solidFill>
          <a:ln/>
        </p:spPr>
      </p:sp>
      <p:sp>
        <p:nvSpPr>
          <p:cNvPr id="61" name="Text 52"/>
          <p:cNvSpPr txBox="1"/>
          <p:nvPr/>
        </p:nvSpPr>
        <p:spPr>
          <a:xfrm>
            <a:off x="9098280" y="2103120"/>
            <a:ext cx="1325880" cy="585216"/>
          </a:xfrm>
          <a:prstGeom prst="rect">
            <a:avLst/>
          </a:prstGeom>
          <a:noFill/>
          <a:ln/>
        </p:spPr>
        <p:txBody>
          <a:bodyPr wrap="square" lIns="0" tIns="0" rIns="0" bIns="0" rtlCol="0" anchor="ctr"/>
          <a:lstStyle/>
          <a:p>
            <a:pPr algn="l" indent="0" marL="0">
              <a:buNone/>
            </a:pPr>
            <a:r>
              <a:rPr lang="en-US" sz="1800" b="1" dirty="0">
                <a:solidFill>
                  <a:srgbClr val="17325C"/>
                </a:solidFill>
                <a:latin typeface="Calibri" pitchFamily="34" charset="0"/>
                <a:ea typeface="Calibri" pitchFamily="34" charset="-122"/>
                <a:cs typeface="Calibri" pitchFamily="34" charset="-120"/>
              </a:rPr>
              <a:t>₹36,000</a:t>
            </a:r>
            <a:endParaRPr lang="en-US" sz="1800" dirty="0"/>
          </a:p>
        </p:txBody>
      </p:sp>
      <p:sp>
        <p:nvSpPr>
          <p:cNvPr id="62" name="Text 53"/>
          <p:cNvSpPr txBox="1"/>
          <p:nvPr/>
        </p:nvSpPr>
        <p:spPr>
          <a:xfrm>
            <a:off x="10396728" y="2103120"/>
            <a:ext cx="1218895" cy="58521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fees lost per dropout at month 4</a:t>
            </a:r>
            <a:endParaRPr lang="en-US" sz="1000" dirty="0"/>
          </a:p>
        </p:txBody>
      </p:sp>
      <p:sp>
        <p:nvSpPr>
          <p:cNvPr id="63" name="Shape 54"/>
          <p:cNvSpPr/>
          <p:nvPr/>
        </p:nvSpPr>
        <p:spPr>
          <a:xfrm>
            <a:off x="9025128" y="2743200"/>
            <a:ext cx="2645359" cy="585216"/>
          </a:xfrm>
          <a:prstGeom prst="rect">
            <a:avLst/>
          </a:prstGeom>
          <a:solidFill>
            <a:srgbClr val="F1E8D3"/>
          </a:solidFill>
          <a:ln/>
        </p:spPr>
      </p:sp>
      <p:sp>
        <p:nvSpPr>
          <p:cNvPr id="64" name="Text 55"/>
          <p:cNvSpPr txBox="1"/>
          <p:nvPr/>
        </p:nvSpPr>
        <p:spPr>
          <a:xfrm>
            <a:off x="9098280" y="2743200"/>
            <a:ext cx="1325880" cy="585216"/>
          </a:xfrm>
          <a:prstGeom prst="rect">
            <a:avLst/>
          </a:prstGeom>
          <a:noFill/>
          <a:ln/>
        </p:spPr>
        <p:txBody>
          <a:bodyPr wrap="square" lIns="0" tIns="0" rIns="0" bIns="0" rtlCol="0" anchor="ctr"/>
          <a:lstStyle/>
          <a:p>
            <a:pPr algn="l" indent="0" marL="0">
              <a:buNone/>
            </a:pPr>
            <a:r>
              <a:rPr lang="en-US" sz="1800" b="1" dirty="0">
                <a:solidFill>
                  <a:srgbClr val="17325C"/>
                </a:solidFill>
                <a:latin typeface="Calibri" pitchFamily="34" charset="0"/>
                <a:ea typeface="Calibri" pitchFamily="34" charset="-122"/>
                <a:cs typeface="Calibri" pitchFamily="34" charset="-120"/>
              </a:rPr>
              <a:t>₹17.3 lakh</a:t>
            </a:r>
            <a:endParaRPr lang="en-US" sz="1800" dirty="0"/>
          </a:p>
        </p:txBody>
      </p:sp>
      <p:sp>
        <p:nvSpPr>
          <p:cNvPr id="65" name="Text 56"/>
          <p:cNvSpPr txBox="1"/>
          <p:nvPr/>
        </p:nvSpPr>
        <p:spPr>
          <a:xfrm>
            <a:off x="10396728" y="2743200"/>
            <a:ext cx="1218895" cy="58521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fees at risk a year (400 students, 12 %)</a:t>
            </a:r>
            <a:endParaRPr lang="en-US" sz="1000" dirty="0"/>
          </a:p>
        </p:txBody>
      </p:sp>
      <p:sp>
        <p:nvSpPr>
          <p:cNvPr id="66" name="Shape 57"/>
          <p:cNvSpPr/>
          <p:nvPr/>
        </p:nvSpPr>
        <p:spPr>
          <a:xfrm>
            <a:off x="9025128" y="3438144"/>
            <a:ext cx="1091184" cy="182880"/>
          </a:xfrm>
          <a:prstGeom prst="roundRect">
            <a:avLst>
              <a:gd name="adj" fmla="val 50000"/>
            </a:avLst>
          </a:prstGeom>
          <a:solidFill>
            <a:srgbClr val="FFFFFF"/>
          </a:solidFill>
          <a:ln w="12700">
            <a:solidFill>
              <a:srgbClr val="5B6573"/>
            </a:solidFill>
            <a:prstDash val="solid"/>
          </a:ln>
        </p:spPr>
      </p:sp>
      <p:sp>
        <p:nvSpPr>
          <p:cNvPr id="67" name="Text 58"/>
          <p:cNvSpPr txBox="1"/>
          <p:nvPr/>
        </p:nvSpPr>
        <p:spPr>
          <a:xfrm>
            <a:off x="9025128" y="3438144"/>
            <a:ext cx="1091184" cy="182880"/>
          </a:xfrm>
          <a:prstGeom prst="rect">
            <a:avLst/>
          </a:prstGeom>
          <a:noFill/>
          <a:ln/>
        </p:spPr>
        <p:txBody>
          <a:bodyPr wrap="square" lIns="0" tIns="0" rIns="0" bIns="0" rtlCol="0" anchor="ctr"/>
          <a:lstStyle/>
          <a:p>
            <a:pPr algn="ctr" indent="0" marL="0">
              <a:buNone/>
            </a:pPr>
            <a:r>
              <a:rPr lang="en-US" sz="800" b="1" spc="100" kern="0" dirty="0">
                <a:solidFill>
                  <a:srgbClr val="5B6573"/>
                </a:solidFill>
                <a:latin typeface="Calibri" pitchFamily="34" charset="0"/>
                <a:ea typeface="Calibri" pitchFamily="34" charset="-122"/>
                <a:cs typeface="Calibri" pitchFamily="34" charset="-120"/>
              </a:rPr>
              <a:t>GUIDE BASELINE</a:t>
            </a:r>
            <a:endParaRPr lang="en-US" sz="800" dirty="0"/>
          </a:p>
        </p:txBody>
      </p:sp>
      <p:sp>
        <p:nvSpPr>
          <p:cNvPr id="68" name="Text 59"/>
          <p:cNvSpPr txBox="1"/>
          <p:nvPr/>
        </p:nvSpPr>
        <p:spPr>
          <a:xfrm>
            <a:off x="448056" y="3904488"/>
            <a:ext cx="425196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WHO WE SERVE</a:t>
            </a:r>
            <a:endParaRPr lang="en-US" sz="1250" dirty="0"/>
          </a:p>
        </p:txBody>
      </p:sp>
      <p:sp>
        <p:nvSpPr>
          <p:cNvPr id="69" name="Shape 60"/>
          <p:cNvSpPr/>
          <p:nvPr/>
        </p:nvSpPr>
        <p:spPr>
          <a:xfrm>
            <a:off x="448056" y="4197096"/>
            <a:ext cx="4251960" cy="10973"/>
          </a:xfrm>
          <a:prstGeom prst="rect">
            <a:avLst/>
          </a:prstGeom>
          <a:solidFill>
            <a:srgbClr val="C9D6E8"/>
          </a:solidFill>
          <a:ln/>
        </p:spPr>
      </p:sp>
      <p:sp>
        <p:nvSpPr>
          <p:cNvPr id="70" name="Shape 61"/>
          <p:cNvSpPr/>
          <p:nvPr/>
        </p:nvSpPr>
        <p:spPr>
          <a:xfrm>
            <a:off x="448056" y="4187952"/>
            <a:ext cx="2194560" cy="27432"/>
          </a:xfrm>
          <a:prstGeom prst="rect">
            <a:avLst/>
          </a:prstGeom>
          <a:solidFill>
            <a:srgbClr val="1F4A82"/>
          </a:solidFill>
          <a:ln/>
        </p:spPr>
      </p:sp>
      <p:sp>
        <p:nvSpPr>
          <p:cNvPr id="71" name="Shape 62"/>
          <p:cNvSpPr/>
          <p:nvPr/>
        </p:nvSpPr>
        <p:spPr>
          <a:xfrm>
            <a:off x="4809744" y="3931920"/>
            <a:ext cx="0" cy="2423160"/>
          </a:xfrm>
          <a:prstGeom prst="line">
            <a:avLst/>
          </a:prstGeom>
          <a:noFill/>
          <a:ln w="12700">
            <a:solidFill>
              <a:srgbClr val="8FA9CC"/>
            </a:solidFill>
            <a:prstDash val="dash"/>
          </a:ln>
        </p:spPr>
      </p:sp>
      <p:sp>
        <p:nvSpPr>
          <p:cNvPr id="72" name="Text 63"/>
          <p:cNvSpPr txBox="1"/>
          <p:nvPr/>
        </p:nvSpPr>
        <p:spPr>
          <a:xfrm>
            <a:off x="548640" y="4279392"/>
            <a:ext cx="1005840" cy="402336"/>
          </a:xfrm>
          <a:prstGeom prst="rect">
            <a:avLst/>
          </a:prstGeom>
          <a:noFill/>
          <a:ln/>
        </p:spPr>
        <p:txBody>
          <a:bodyPr wrap="square" lIns="0" tIns="0" rIns="0" bIns="0" rtlCol="0" anchor="ctr"/>
          <a:lstStyle/>
          <a:p>
            <a:pPr algn="l" indent="0" marL="0">
              <a:buNone/>
            </a:pPr>
            <a:r>
              <a:rPr lang="en-US" sz="1800" b="1" dirty="0">
                <a:solidFill>
                  <a:srgbClr val="1F4A82"/>
                </a:solidFill>
                <a:latin typeface="Calibri" pitchFamily="34" charset="0"/>
                <a:ea typeface="Calibri" pitchFamily="34" charset="-122"/>
                <a:cs typeface="Calibri" pitchFamily="34" charset="-120"/>
              </a:rPr>
              <a:t>22.8 L</a:t>
            </a:r>
            <a:endParaRPr lang="en-US" sz="1800" dirty="0"/>
          </a:p>
        </p:txBody>
      </p:sp>
      <p:sp>
        <p:nvSpPr>
          <p:cNvPr id="73" name="Text 64"/>
          <p:cNvSpPr txBox="1"/>
          <p:nvPr/>
        </p:nvSpPr>
        <p:spPr>
          <a:xfrm>
            <a:off x="1600200" y="4279392"/>
            <a:ext cx="3063240" cy="40233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NEET UG 2025 registered candidates</a:t>
            </a:r>
            <a:endParaRPr lang="en-US" sz="1000" dirty="0"/>
          </a:p>
          <a:p>
            <a:pPr algn="l" indent="0" marL="0">
              <a:buNone/>
            </a:pPr>
            <a:r>
              <a:rPr lang="en-US" sz="850" i="1" dirty="0">
                <a:solidFill>
                  <a:srgbClr val="5B6573"/>
                </a:solidFill>
                <a:latin typeface="Calibri" pitchFamily="34" charset="0"/>
                <a:ea typeface="Calibri" pitchFamily="34" charset="-122"/>
                <a:cs typeface="Calibri" pitchFamily="34" charset="-120"/>
              </a:rPr>
              <a:t>NTA result data</a:t>
            </a:r>
            <a:endParaRPr lang="en-US" sz="1000" dirty="0"/>
          </a:p>
        </p:txBody>
      </p:sp>
      <p:sp>
        <p:nvSpPr>
          <p:cNvPr id="74" name="Text 65"/>
          <p:cNvSpPr txBox="1"/>
          <p:nvPr/>
        </p:nvSpPr>
        <p:spPr>
          <a:xfrm>
            <a:off x="548640" y="4736592"/>
            <a:ext cx="1005840" cy="402336"/>
          </a:xfrm>
          <a:prstGeom prst="rect">
            <a:avLst/>
          </a:prstGeom>
          <a:noFill/>
          <a:ln/>
        </p:spPr>
        <p:txBody>
          <a:bodyPr wrap="square" lIns="0" tIns="0" rIns="0" bIns="0" rtlCol="0" anchor="ctr"/>
          <a:lstStyle/>
          <a:p>
            <a:pPr algn="l" indent="0" marL="0">
              <a:buNone/>
            </a:pPr>
            <a:r>
              <a:rPr lang="en-US" sz="1800" b="1" dirty="0">
                <a:solidFill>
                  <a:srgbClr val="1F4A82"/>
                </a:solidFill>
                <a:latin typeface="Calibri" pitchFamily="34" charset="0"/>
                <a:ea typeface="Calibri" pitchFamily="34" charset="-122"/>
                <a:cs typeface="Calibri" pitchFamily="34" charset="-120"/>
              </a:rPr>
              <a:t>15.4 L</a:t>
            </a:r>
            <a:endParaRPr lang="en-US" sz="1800" dirty="0"/>
          </a:p>
        </p:txBody>
      </p:sp>
      <p:sp>
        <p:nvSpPr>
          <p:cNvPr id="75" name="Text 66"/>
          <p:cNvSpPr txBox="1"/>
          <p:nvPr/>
        </p:nvSpPr>
        <p:spPr>
          <a:xfrm>
            <a:off x="1600200" y="4736592"/>
            <a:ext cx="3063240" cy="40233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JEE Main 2025 unique registrations</a:t>
            </a:r>
            <a:endParaRPr lang="en-US" sz="1000" dirty="0"/>
          </a:p>
          <a:p>
            <a:pPr algn="l" indent="0" marL="0">
              <a:buNone/>
            </a:pPr>
            <a:r>
              <a:rPr lang="en-US" sz="850" i="1" dirty="0">
                <a:solidFill>
                  <a:srgbClr val="5B6573"/>
                </a:solidFill>
                <a:latin typeface="Calibri" pitchFamily="34" charset="0"/>
                <a:ea typeface="Calibri" pitchFamily="34" charset="-122"/>
                <a:cs typeface="Calibri" pitchFamily="34" charset="-120"/>
              </a:rPr>
              <a:t>reported, secondary</a:t>
            </a:r>
            <a:endParaRPr lang="en-US" sz="1000" dirty="0"/>
          </a:p>
        </p:txBody>
      </p:sp>
      <p:sp>
        <p:nvSpPr>
          <p:cNvPr id="76" name="Text 67"/>
          <p:cNvSpPr txBox="1"/>
          <p:nvPr/>
        </p:nvSpPr>
        <p:spPr>
          <a:xfrm>
            <a:off x="548640" y="5193792"/>
            <a:ext cx="1005840" cy="402336"/>
          </a:xfrm>
          <a:prstGeom prst="rect">
            <a:avLst/>
          </a:prstGeom>
          <a:noFill/>
          <a:ln/>
        </p:spPr>
        <p:txBody>
          <a:bodyPr wrap="square" lIns="0" tIns="0" rIns="0" bIns="0" rtlCol="0" anchor="ctr"/>
          <a:lstStyle/>
          <a:p>
            <a:pPr algn="l" indent="0" marL="0">
              <a:buNone/>
            </a:pPr>
            <a:r>
              <a:rPr lang="en-US" sz="1800" b="1" dirty="0">
                <a:solidFill>
                  <a:srgbClr val="1F4A82"/>
                </a:solidFill>
                <a:latin typeface="Calibri" pitchFamily="34" charset="0"/>
                <a:ea typeface="Calibri" pitchFamily="34" charset="-122"/>
                <a:cs typeface="Calibri" pitchFamily="34" charset="-120"/>
              </a:rPr>
              <a:t>27 %</a:t>
            </a:r>
            <a:endParaRPr lang="en-US" sz="1800" dirty="0"/>
          </a:p>
        </p:txBody>
      </p:sp>
      <p:sp>
        <p:nvSpPr>
          <p:cNvPr id="77" name="Text 68"/>
          <p:cNvSpPr txBox="1"/>
          <p:nvPr/>
        </p:nvSpPr>
        <p:spPr>
          <a:xfrm>
            <a:off x="1600200" y="5193792"/>
            <a:ext cx="3063240" cy="402336"/>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of school students take private coaching</a:t>
            </a:r>
            <a:endParaRPr lang="en-US" sz="1000" dirty="0"/>
          </a:p>
          <a:p>
            <a:pPr algn="l" indent="0" marL="0">
              <a:buNone/>
            </a:pPr>
            <a:r>
              <a:rPr lang="en-US" sz="850" i="1" dirty="0">
                <a:solidFill>
                  <a:srgbClr val="5B6573"/>
                </a:solidFill>
                <a:latin typeface="Calibri" pitchFamily="34" charset="0"/>
                <a:ea typeface="Calibri" pitchFamily="34" charset="-122"/>
                <a:cs typeface="Calibri" pitchFamily="34" charset="-120"/>
              </a:rPr>
              <a:t>NSO survey 2025</a:t>
            </a:r>
            <a:endParaRPr lang="en-US" sz="1000" dirty="0"/>
          </a:p>
        </p:txBody>
      </p:sp>
      <p:sp>
        <p:nvSpPr>
          <p:cNvPr id="78" name="Shape 69"/>
          <p:cNvSpPr/>
          <p:nvPr/>
        </p:nvSpPr>
        <p:spPr>
          <a:xfrm>
            <a:off x="521208" y="5669280"/>
            <a:ext cx="4123944" cy="594360"/>
          </a:xfrm>
          <a:prstGeom prst="rect">
            <a:avLst/>
          </a:prstGeom>
          <a:solidFill>
            <a:srgbClr val="F4F7FB"/>
          </a:solidFill>
          <a:ln/>
        </p:spPr>
      </p:sp>
      <p:sp>
        <p:nvSpPr>
          <p:cNvPr id="79" name="Text 70"/>
          <p:cNvSpPr txBox="1"/>
          <p:nvPr/>
        </p:nvSpPr>
        <p:spPr>
          <a:xfrm>
            <a:off x="594360" y="5669280"/>
            <a:ext cx="3977640" cy="59436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Ceiling, not a forecast: </a:t>
            </a:r>
            <a:pPr algn="l" indent="0" marL="0">
              <a:buNone/>
            </a:pPr>
            <a:r>
              <a:rPr lang="en-US" sz="900" dirty="0">
                <a:solidFill>
                  <a:srgbClr val="1F2937"/>
                </a:solidFill>
                <a:latin typeface="Calibri" pitchFamily="34" charset="0"/>
                <a:ea typeface="Calibri" pitchFamily="34" charset="-122"/>
                <a:cs typeface="Calibri" pitchFamily="34" charset="-120"/>
              </a:rPr>
              <a:t>if every JEE and NEET aspirant's institute paid ₹30 a month, the pool is about ₹137 crore a year (38 lakh x ₹360).</a:t>
            </a:r>
            <a:endParaRPr lang="en-US" sz="900" dirty="0"/>
          </a:p>
        </p:txBody>
      </p:sp>
      <p:sp>
        <p:nvSpPr>
          <p:cNvPr id="80" name="Text 71"/>
          <p:cNvSpPr txBox="1"/>
          <p:nvPr/>
        </p:nvSpPr>
        <p:spPr>
          <a:xfrm>
            <a:off x="4882896" y="3904488"/>
            <a:ext cx="388620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THE BUYER'S CONSTRAINTS</a:t>
            </a:r>
            <a:endParaRPr lang="en-US" sz="1250" dirty="0"/>
          </a:p>
        </p:txBody>
      </p:sp>
      <p:sp>
        <p:nvSpPr>
          <p:cNvPr id="81" name="Shape 72"/>
          <p:cNvSpPr/>
          <p:nvPr/>
        </p:nvSpPr>
        <p:spPr>
          <a:xfrm>
            <a:off x="4882896" y="4197096"/>
            <a:ext cx="3886200" cy="10973"/>
          </a:xfrm>
          <a:prstGeom prst="rect">
            <a:avLst/>
          </a:prstGeom>
          <a:solidFill>
            <a:srgbClr val="C9D6E8"/>
          </a:solidFill>
          <a:ln/>
        </p:spPr>
      </p:sp>
      <p:sp>
        <p:nvSpPr>
          <p:cNvPr id="82" name="Shape 73"/>
          <p:cNvSpPr/>
          <p:nvPr/>
        </p:nvSpPr>
        <p:spPr>
          <a:xfrm>
            <a:off x="4882896" y="4187952"/>
            <a:ext cx="2194560" cy="27432"/>
          </a:xfrm>
          <a:prstGeom prst="rect">
            <a:avLst/>
          </a:prstGeom>
          <a:solidFill>
            <a:srgbClr val="1F4A82"/>
          </a:solidFill>
          <a:ln/>
        </p:spPr>
      </p:sp>
      <p:sp>
        <p:nvSpPr>
          <p:cNvPr id="83" name="Shape 74"/>
          <p:cNvSpPr/>
          <p:nvPr/>
        </p:nvSpPr>
        <p:spPr>
          <a:xfrm>
            <a:off x="8878824" y="3931920"/>
            <a:ext cx="0" cy="2423160"/>
          </a:xfrm>
          <a:prstGeom prst="line">
            <a:avLst/>
          </a:prstGeom>
          <a:noFill/>
          <a:ln w="12700">
            <a:solidFill>
              <a:srgbClr val="8FA9CC"/>
            </a:solidFill>
            <a:prstDash val="dash"/>
          </a:ln>
        </p:spPr>
      </p:sp>
      <p:sp>
        <p:nvSpPr>
          <p:cNvPr id="84" name="Shape 75"/>
          <p:cNvSpPr/>
          <p:nvPr/>
        </p:nvSpPr>
        <p:spPr>
          <a:xfrm>
            <a:off x="4956048" y="4251960"/>
            <a:ext cx="1828800" cy="932688"/>
          </a:xfrm>
          <a:prstGeom prst="rect">
            <a:avLst/>
          </a:prstGeom>
          <a:solidFill>
            <a:srgbClr val="F2F6FB"/>
          </a:solidFill>
          <a:ln/>
        </p:spPr>
      </p:sp>
      <p:sp>
        <p:nvSpPr>
          <p:cNvPr id="85" name="Shape 76"/>
          <p:cNvSpPr/>
          <p:nvPr/>
        </p:nvSpPr>
        <p:spPr>
          <a:xfrm>
            <a:off x="5029200" y="4325112"/>
            <a:ext cx="329184" cy="329184"/>
          </a:xfrm>
          <a:prstGeom prst="ellipse">
            <a:avLst/>
          </a:prstGeom>
          <a:solidFill>
            <a:srgbClr val="5B8DC9"/>
          </a:solidFill>
          <a:ln/>
        </p:spPr>
      </p:sp>
      <p:pic>
        <p:nvPicPr>
          <p:cNvPr id="86" name="Image 7" descr="FaIndianRupeeSign icon">    </p:cNvPr>
          <p:cNvPicPr>
            <a:picLocks noChangeAspect="1"/>
          </p:cNvPicPr>
          <p:nvPr/>
        </p:nvPicPr>
        <p:blipFill>
          <a:blip r:embed="rId8"/>
          <a:stretch>
            <a:fillRect/>
          </a:stretch>
        </p:blipFill>
        <p:spPr>
          <a:xfrm>
            <a:off x="5101620" y="4397532"/>
            <a:ext cx="184343" cy="184343"/>
          </a:xfrm>
          <a:prstGeom prst="rect">
            <a:avLst/>
          </a:prstGeom>
        </p:spPr>
      </p:pic>
      <p:sp>
        <p:nvSpPr>
          <p:cNvPr id="87" name="Text 77"/>
          <p:cNvSpPr txBox="1"/>
          <p:nvPr/>
        </p:nvSpPr>
        <p:spPr>
          <a:xfrm>
            <a:off x="5413248" y="4297680"/>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Price-sensitive</a:t>
            </a:r>
            <a:endParaRPr lang="en-US" sz="1100" dirty="0"/>
          </a:p>
        </p:txBody>
      </p:sp>
      <p:sp>
        <p:nvSpPr>
          <p:cNvPr id="88" name="Text 78"/>
          <p:cNvSpPr txBox="1"/>
          <p:nvPr/>
        </p:nvSpPr>
        <p:spPr>
          <a:xfrm>
            <a:off x="5029200" y="4690872"/>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Generic apps cost ₹4 to ₹21 per student per month today.</a:t>
            </a:r>
            <a:endParaRPr lang="en-US" sz="950" dirty="0"/>
          </a:p>
        </p:txBody>
      </p:sp>
      <p:sp>
        <p:nvSpPr>
          <p:cNvPr id="89" name="Shape 79"/>
          <p:cNvSpPr/>
          <p:nvPr/>
        </p:nvSpPr>
        <p:spPr>
          <a:xfrm>
            <a:off x="6876288" y="4251960"/>
            <a:ext cx="1828800" cy="932688"/>
          </a:xfrm>
          <a:prstGeom prst="rect">
            <a:avLst/>
          </a:prstGeom>
          <a:solidFill>
            <a:srgbClr val="F2F6FB"/>
          </a:solidFill>
          <a:ln/>
        </p:spPr>
      </p:sp>
      <p:sp>
        <p:nvSpPr>
          <p:cNvPr id="90" name="Shape 80"/>
          <p:cNvSpPr/>
          <p:nvPr/>
        </p:nvSpPr>
        <p:spPr>
          <a:xfrm>
            <a:off x="6949440" y="4325112"/>
            <a:ext cx="329184" cy="329184"/>
          </a:xfrm>
          <a:prstGeom prst="ellipse">
            <a:avLst/>
          </a:prstGeom>
          <a:solidFill>
            <a:srgbClr val="1F4A82"/>
          </a:solidFill>
          <a:ln/>
        </p:spPr>
      </p:sp>
      <p:pic>
        <p:nvPicPr>
          <p:cNvPr id="91" name="Image 8" descr="FaTable icon">    </p:cNvPr>
          <p:cNvPicPr>
            <a:picLocks noChangeAspect="1"/>
          </p:cNvPicPr>
          <p:nvPr/>
        </p:nvPicPr>
        <p:blipFill>
          <a:blip r:embed="rId9"/>
          <a:stretch>
            <a:fillRect/>
          </a:stretch>
        </p:blipFill>
        <p:spPr>
          <a:xfrm>
            <a:off x="7021860" y="4397532"/>
            <a:ext cx="184343" cy="184343"/>
          </a:xfrm>
          <a:prstGeom prst="rect">
            <a:avLst/>
          </a:prstGeom>
        </p:spPr>
      </p:pic>
      <p:sp>
        <p:nvSpPr>
          <p:cNvPr id="92" name="Text 81"/>
          <p:cNvSpPr txBox="1"/>
          <p:nvPr/>
        </p:nvSpPr>
        <p:spPr>
          <a:xfrm>
            <a:off x="7333488" y="4297680"/>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Low-tech staff</a:t>
            </a:r>
            <a:endParaRPr lang="en-US" sz="1100" dirty="0"/>
          </a:p>
        </p:txBody>
      </p:sp>
      <p:sp>
        <p:nvSpPr>
          <p:cNvPr id="93" name="Text 82"/>
          <p:cNvSpPr txBox="1"/>
          <p:nvPr/>
        </p:nvSpPr>
        <p:spPr>
          <a:xfrm>
            <a:off x="6949440" y="4690872"/>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Excel, registers and the phone camera.</a:t>
            </a:r>
            <a:endParaRPr lang="en-US" sz="950" dirty="0"/>
          </a:p>
        </p:txBody>
      </p:sp>
      <p:sp>
        <p:nvSpPr>
          <p:cNvPr id="94" name="Shape 83"/>
          <p:cNvSpPr/>
          <p:nvPr/>
        </p:nvSpPr>
        <p:spPr>
          <a:xfrm>
            <a:off x="4956048" y="5276088"/>
            <a:ext cx="1828800" cy="932688"/>
          </a:xfrm>
          <a:prstGeom prst="rect">
            <a:avLst/>
          </a:prstGeom>
          <a:solidFill>
            <a:srgbClr val="F2F6FB"/>
          </a:solidFill>
          <a:ln/>
        </p:spPr>
      </p:sp>
      <p:sp>
        <p:nvSpPr>
          <p:cNvPr id="95" name="Shape 84"/>
          <p:cNvSpPr/>
          <p:nvPr/>
        </p:nvSpPr>
        <p:spPr>
          <a:xfrm>
            <a:off x="5029200" y="5349240"/>
            <a:ext cx="329184" cy="329184"/>
          </a:xfrm>
          <a:prstGeom prst="ellipse">
            <a:avLst/>
          </a:prstGeom>
          <a:solidFill>
            <a:srgbClr val="2E6DB4"/>
          </a:solidFill>
          <a:ln/>
        </p:spPr>
      </p:sp>
      <p:pic>
        <p:nvPicPr>
          <p:cNvPr id="96" name="Image 9" descr="FaWifi icon">    </p:cNvPr>
          <p:cNvPicPr>
            <a:picLocks noChangeAspect="1"/>
          </p:cNvPicPr>
          <p:nvPr/>
        </p:nvPicPr>
        <p:blipFill>
          <a:blip r:embed="rId10"/>
          <a:stretch>
            <a:fillRect/>
          </a:stretch>
        </p:blipFill>
        <p:spPr>
          <a:xfrm>
            <a:off x="5101620" y="5421660"/>
            <a:ext cx="184343" cy="184343"/>
          </a:xfrm>
          <a:prstGeom prst="rect">
            <a:avLst/>
          </a:prstGeom>
        </p:spPr>
      </p:pic>
      <p:sp>
        <p:nvSpPr>
          <p:cNvPr id="97" name="Text 85"/>
          <p:cNvSpPr txBox="1"/>
          <p:nvPr/>
        </p:nvSpPr>
        <p:spPr>
          <a:xfrm>
            <a:off x="5413248" y="5321808"/>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Patchy internet</a:t>
            </a:r>
            <a:endParaRPr lang="en-US" sz="1100" dirty="0"/>
          </a:p>
        </p:txBody>
      </p:sp>
      <p:sp>
        <p:nvSpPr>
          <p:cNvPr id="98" name="Text 86"/>
          <p:cNvSpPr txBox="1"/>
          <p:nvPr/>
        </p:nvSpPr>
        <p:spPr>
          <a:xfrm>
            <a:off x="5029200" y="5715000"/>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So it must work offline, on one laptop.</a:t>
            </a:r>
            <a:endParaRPr lang="en-US" sz="950" dirty="0"/>
          </a:p>
        </p:txBody>
      </p:sp>
      <p:sp>
        <p:nvSpPr>
          <p:cNvPr id="99" name="Shape 87"/>
          <p:cNvSpPr/>
          <p:nvPr/>
        </p:nvSpPr>
        <p:spPr>
          <a:xfrm>
            <a:off x="6876288" y="5276088"/>
            <a:ext cx="1828800" cy="932688"/>
          </a:xfrm>
          <a:prstGeom prst="rect">
            <a:avLst/>
          </a:prstGeom>
          <a:solidFill>
            <a:srgbClr val="F2F6FB"/>
          </a:solidFill>
          <a:ln/>
        </p:spPr>
      </p:sp>
      <p:sp>
        <p:nvSpPr>
          <p:cNvPr id="100" name="Shape 88"/>
          <p:cNvSpPr/>
          <p:nvPr/>
        </p:nvSpPr>
        <p:spPr>
          <a:xfrm>
            <a:off x="6949440" y="5349240"/>
            <a:ext cx="329184" cy="329184"/>
          </a:xfrm>
          <a:prstGeom prst="ellipse">
            <a:avLst/>
          </a:prstGeom>
          <a:solidFill>
            <a:srgbClr val="1F4A82"/>
          </a:solidFill>
          <a:ln/>
        </p:spPr>
      </p:sp>
      <p:pic>
        <p:nvPicPr>
          <p:cNvPr id="101" name="Image 10" descr="FaUserShield icon">    </p:cNvPr>
          <p:cNvPicPr>
            <a:picLocks noChangeAspect="1"/>
          </p:cNvPicPr>
          <p:nvPr/>
        </p:nvPicPr>
        <p:blipFill>
          <a:blip r:embed="rId11"/>
          <a:stretch>
            <a:fillRect/>
          </a:stretch>
        </p:blipFill>
        <p:spPr>
          <a:xfrm>
            <a:off x="7021860" y="5421660"/>
            <a:ext cx="184343" cy="184343"/>
          </a:xfrm>
          <a:prstGeom prst="rect">
            <a:avLst/>
          </a:prstGeom>
        </p:spPr>
      </p:pic>
      <p:sp>
        <p:nvSpPr>
          <p:cNvPr id="102" name="Text 89"/>
          <p:cNvSpPr txBox="1"/>
          <p:nvPr/>
        </p:nvSpPr>
        <p:spPr>
          <a:xfrm>
            <a:off x="7333488" y="5321808"/>
            <a:ext cx="1325880" cy="36576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Minors' data</a:t>
            </a:r>
            <a:endParaRPr lang="en-US" sz="1100" dirty="0"/>
          </a:p>
        </p:txBody>
      </p:sp>
      <p:sp>
        <p:nvSpPr>
          <p:cNvPr id="103" name="Text 90"/>
          <p:cNvSpPr txBox="1"/>
          <p:nvPr/>
        </p:nvSpPr>
        <p:spPr>
          <a:xfrm>
            <a:off x="6949440" y="5715000"/>
            <a:ext cx="1691640" cy="475488"/>
          </a:xfrm>
          <a:prstGeom prst="rect">
            <a:avLst/>
          </a:prstGeom>
          <a:noFill/>
          <a:ln/>
        </p:spPr>
        <p:txBody>
          <a:bodyPr wrap="square" lIns="0" tIns="0" rIns="0" bIns="0" rtlCol="0" anchor="t"/>
          <a:lstStyle/>
          <a:p>
            <a:pPr algn="l" indent="0" marL="0">
              <a:buNone/>
            </a:pPr>
            <a:r>
              <a:rPr lang="en-US" sz="950" dirty="0">
                <a:solidFill>
                  <a:srgbClr val="1F2937"/>
                </a:solidFill>
                <a:latin typeface="Calibri" pitchFamily="34" charset="0"/>
                <a:ea typeface="Calibri" pitchFamily="34" charset="-122"/>
                <a:cs typeface="Calibri" pitchFamily="34" charset="-120"/>
              </a:rPr>
              <a:t>DPDP Act and MoE coaching rules apply.</a:t>
            </a:r>
            <a:endParaRPr lang="en-US" sz="950" dirty="0"/>
          </a:p>
        </p:txBody>
      </p:sp>
      <p:sp>
        <p:nvSpPr>
          <p:cNvPr id="104" name="Text 91"/>
          <p:cNvSpPr txBox="1"/>
          <p:nvPr/>
        </p:nvSpPr>
        <p:spPr>
          <a:xfrm>
            <a:off x="8951976" y="3904488"/>
            <a:ext cx="2773375"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WHAT PRAGATI DOES</a:t>
            </a:r>
            <a:endParaRPr lang="en-US" sz="1250" dirty="0"/>
          </a:p>
        </p:txBody>
      </p:sp>
      <p:sp>
        <p:nvSpPr>
          <p:cNvPr id="105" name="Shape 92"/>
          <p:cNvSpPr/>
          <p:nvPr/>
        </p:nvSpPr>
        <p:spPr>
          <a:xfrm>
            <a:off x="8951976" y="4197096"/>
            <a:ext cx="2773375" cy="10973"/>
          </a:xfrm>
          <a:prstGeom prst="rect">
            <a:avLst/>
          </a:prstGeom>
          <a:solidFill>
            <a:srgbClr val="C9D6E8"/>
          </a:solidFill>
          <a:ln/>
        </p:spPr>
      </p:sp>
      <p:sp>
        <p:nvSpPr>
          <p:cNvPr id="106" name="Shape 93"/>
          <p:cNvSpPr/>
          <p:nvPr/>
        </p:nvSpPr>
        <p:spPr>
          <a:xfrm>
            <a:off x="8951976" y="4187952"/>
            <a:ext cx="2194560" cy="27432"/>
          </a:xfrm>
          <a:prstGeom prst="rect">
            <a:avLst/>
          </a:prstGeom>
          <a:solidFill>
            <a:srgbClr val="1F4A82"/>
          </a:solidFill>
          <a:ln/>
        </p:spPr>
      </p:sp>
      <p:pic>
        <p:nvPicPr>
          <p:cNvPr id="107" name="Image 11" descr="FaCircleCheck icon">    </p:cNvPr>
          <p:cNvPicPr>
            <a:picLocks noChangeAspect="1"/>
          </p:cNvPicPr>
          <p:nvPr/>
        </p:nvPicPr>
        <p:blipFill>
          <a:blip r:embed="rId12"/>
          <a:stretch>
            <a:fillRect/>
          </a:stretch>
        </p:blipFill>
        <p:spPr>
          <a:xfrm>
            <a:off x="9061704" y="4315968"/>
            <a:ext cx="201168" cy="201168"/>
          </a:xfrm>
          <a:prstGeom prst="rect">
            <a:avLst/>
          </a:prstGeom>
        </p:spPr>
      </p:pic>
      <p:sp>
        <p:nvSpPr>
          <p:cNvPr id="108" name="Text 94"/>
          <p:cNvSpPr txBox="1"/>
          <p:nvPr/>
        </p:nvSpPr>
        <p:spPr>
          <a:xfrm>
            <a:off x="9354312" y="4261104"/>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Topic-level view of every student</a:t>
            </a:r>
            <a:endParaRPr lang="en-US" sz="1050" dirty="0"/>
          </a:p>
        </p:txBody>
      </p:sp>
      <p:pic>
        <p:nvPicPr>
          <p:cNvPr id="109" name="Image 12" descr="FaCircleCheck icon">    </p:cNvPr>
          <p:cNvPicPr>
            <a:picLocks noChangeAspect="1"/>
          </p:cNvPicPr>
          <p:nvPr/>
        </p:nvPicPr>
        <p:blipFill>
          <a:blip r:embed="rId13"/>
          <a:stretch>
            <a:fillRect/>
          </a:stretch>
        </p:blipFill>
        <p:spPr>
          <a:xfrm>
            <a:off x="9061704" y="4654296"/>
            <a:ext cx="201168" cy="201168"/>
          </a:xfrm>
          <a:prstGeom prst="rect">
            <a:avLst/>
          </a:prstGeom>
        </p:spPr>
      </p:pic>
      <p:sp>
        <p:nvSpPr>
          <p:cNvPr id="110" name="Text 95"/>
          <p:cNvSpPr txBox="1"/>
          <p:nvPr/>
        </p:nvSpPr>
        <p:spPr>
          <a:xfrm>
            <a:off x="9354312" y="4599432"/>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short, supportive list each week</a:t>
            </a:r>
            <a:endParaRPr lang="en-US" sz="1050" dirty="0"/>
          </a:p>
        </p:txBody>
      </p:sp>
      <p:pic>
        <p:nvPicPr>
          <p:cNvPr id="111" name="Image 13" descr="FaCircleCheck icon">    </p:cNvPr>
          <p:cNvPicPr>
            <a:picLocks noChangeAspect="1"/>
          </p:cNvPicPr>
          <p:nvPr/>
        </p:nvPicPr>
        <p:blipFill>
          <a:blip r:embed="rId14"/>
          <a:stretch>
            <a:fillRect/>
          </a:stretch>
        </p:blipFill>
        <p:spPr>
          <a:xfrm>
            <a:off x="9061704" y="4992624"/>
            <a:ext cx="201168" cy="201168"/>
          </a:xfrm>
          <a:prstGeom prst="rect">
            <a:avLst/>
          </a:prstGeom>
        </p:spPr>
      </p:pic>
      <p:sp>
        <p:nvSpPr>
          <p:cNvPr id="112" name="Text 96"/>
          <p:cNvSpPr txBox="1"/>
          <p:nvPr/>
        </p:nvSpPr>
        <p:spPr>
          <a:xfrm>
            <a:off x="9354312" y="4937760"/>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An honest percentile range</a:t>
            </a:r>
            <a:endParaRPr lang="en-US" sz="1050" dirty="0"/>
          </a:p>
        </p:txBody>
      </p:sp>
      <p:pic>
        <p:nvPicPr>
          <p:cNvPr id="113" name="Image 14" descr="FaCircleCheck icon">    </p:cNvPr>
          <p:cNvPicPr>
            <a:picLocks noChangeAspect="1"/>
          </p:cNvPicPr>
          <p:nvPr/>
        </p:nvPicPr>
        <p:blipFill>
          <a:blip r:embed="rId15"/>
          <a:stretch>
            <a:fillRect/>
          </a:stretch>
        </p:blipFill>
        <p:spPr>
          <a:xfrm>
            <a:off x="9061704" y="5330952"/>
            <a:ext cx="201168" cy="201168"/>
          </a:xfrm>
          <a:prstGeom prst="rect">
            <a:avLst/>
          </a:prstGeom>
        </p:spPr>
      </p:pic>
      <p:sp>
        <p:nvSpPr>
          <p:cNvPr id="114" name="Text 97"/>
          <p:cNvSpPr txBox="1"/>
          <p:nvPr/>
        </p:nvSpPr>
        <p:spPr>
          <a:xfrm>
            <a:off x="9354312" y="5276088"/>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Verified Hindi and English reports</a:t>
            </a:r>
            <a:endParaRPr lang="en-US" sz="1050" dirty="0"/>
          </a:p>
        </p:txBody>
      </p:sp>
      <p:pic>
        <p:nvPicPr>
          <p:cNvPr id="115" name="Image 15" descr="FaCircleCheck icon">    </p:cNvPr>
          <p:cNvPicPr>
            <a:picLocks noChangeAspect="1"/>
          </p:cNvPicPr>
          <p:nvPr/>
        </p:nvPicPr>
        <p:blipFill>
          <a:blip r:embed="rId16"/>
          <a:stretch>
            <a:fillRect/>
          </a:stretch>
        </p:blipFill>
        <p:spPr>
          <a:xfrm>
            <a:off x="9061704" y="5669280"/>
            <a:ext cx="201168" cy="201168"/>
          </a:xfrm>
          <a:prstGeom prst="rect">
            <a:avLst/>
          </a:prstGeom>
        </p:spPr>
      </p:pic>
      <p:sp>
        <p:nvSpPr>
          <p:cNvPr id="116" name="Text 98"/>
          <p:cNvSpPr txBox="1"/>
          <p:nvPr/>
        </p:nvSpPr>
        <p:spPr>
          <a:xfrm>
            <a:off x="9354312" y="5614416"/>
            <a:ext cx="2316175" cy="310896"/>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Runs offline, free to run</a:t>
            </a:r>
            <a:endParaRPr lang="en-US" sz="1050" dirty="0"/>
          </a:p>
        </p:txBody>
      </p:sp>
      <p:sp>
        <p:nvSpPr>
          <p:cNvPr id="117" name="Shape 99"/>
          <p:cNvSpPr/>
          <p:nvPr/>
        </p:nvSpPr>
        <p:spPr>
          <a:xfrm>
            <a:off x="9025128" y="6016752"/>
            <a:ext cx="2645359" cy="246888"/>
          </a:xfrm>
          <a:prstGeom prst="rect">
            <a:avLst/>
          </a:prstGeom>
          <a:solidFill>
            <a:srgbClr val="1F4A82"/>
          </a:solidFill>
          <a:ln/>
        </p:spPr>
      </p:sp>
      <p:sp>
        <p:nvSpPr>
          <p:cNvPr id="118" name="Text 100"/>
          <p:cNvSpPr txBox="1"/>
          <p:nvPr/>
        </p:nvSpPr>
        <p:spPr>
          <a:xfrm>
            <a:off x="9162288" y="6016752"/>
            <a:ext cx="2371039"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Next: how it works</a:t>
            </a:r>
            <a:endParaRPr lang="en-US" sz="1050" dirty="0"/>
          </a:p>
        </p:txBody>
      </p:sp>
      <p:sp>
        <p:nvSpPr>
          <p:cNvPr id="119" name="Text 101"/>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Participant Guide sections 2, 6 and 7 (illustrative baselines); NTA NEET UG 2025 result data; JEE Main 2025 statistics (secondary); NSO CMS: Education 2025; competitor prices from financial/research R1.</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STRESS-TESTING THE GUIDE</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The case guide's example looks great on paper. We tested every number and built around what survives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FEASIBILITY · BUSINESS REALISM</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Shape 6"/>
          <p:cNvSpPr/>
          <p:nvPr/>
        </p:nvSpPr>
        <p:spPr>
          <a:xfrm>
            <a:off x="1754505" y="6528816"/>
            <a:ext cx="1343025" cy="274320"/>
          </a:xfrm>
          <a:prstGeom prst="rect">
            <a:avLst/>
          </a:prstGeom>
          <a:solidFill>
            <a:srgbClr val="1F4A82"/>
          </a:solidFill>
          <a:ln/>
        </p:spPr>
      </p:sp>
      <p:sp>
        <p:nvSpPr>
          <p:cNvPr id="9" name="Text 7"/>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Problem</a:t>
            </a:r>
            <a:endParaRPr lang="en-US" sz="1050" dirty="0"/>
          </a:p>
        </p:txBody>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256032" cy="256032"/>
          </a:xfrm>
          <a:prstGeom prst="rect">
            <a:avLst/>
          </a:prstGeom>
          <a:solidFill>
            <a:srgbClr val="1F4A82"/>
          </a:solidFill>
          <a:ln/>
        </p:spPr>
      </p:sp>
      <p:sp>
        <p:nvSpPr>
          <p:cNvPr id="17" name="Text 15"/>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8" name="Text 16"/>
          <p:cNvSpPr txBox="1"/>
          <p:nvPr/>
        </p:nvSpPr>
        <p:spPr>
          <a:xfrm>
            <a:off x="740664" y="1115568"/>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SIX ASSUMPTIONS, TESTED</a:t>
            </a:r>
            <a:endParaRPr lang="en-US" sz="1200" dirty="0"/>
          </a:p>
        </p:txBody>
      </p:sp>
      <p:sp>
        <p:nvSpPr>
          <p:cNvPr id="19" name="Shape 17"/>
          <p:cNvSpPr/>
          <p:nvPr/>
        </p:nvSpPr>
        <p:spPr>
          <a:xfrm>
            <a:off x="411480" y="1444752"/>
            <a:ext cx="1600200" cy="274320"/>
          </a:xfrm>
          <a:prstGeom prst="rect">
            <a:avLst/>
          </a:prstGeom>
          <a:solidFill>
            <a:srgbClr val="1F4A82"/>
          </a:solidFill>
          <a:ln/>
        </p:spPr>
      </p:sp>
      <p:sp>
        <p:nvSpPr>
          <p:cNvPr id="20" name="Text 18"/>
          <p:cNvSpPr txBox="1"/>
          <p:nvPr/>
        </p:nvSpPr>
        <p:spPr>
          <a:xfrm>
            <a:off x="457200" y="1444752"/>
            <a:ext cx="15087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Guide assumption</a:t>
            </a:r>
            <a:endParaRPr lang="en-US" sz="950" dirty="0"/>
          </a:p>
        </p:txBody>
      </p:sp>
      <p:sp>
        <p:nvSpPr>
          <p:cNvPr id="21" name="Shape 19"/>
          <p:cNvSpPr/>
          <p:nvPr/>
        </p:nvSpPr>
        <p:spPr>
          <a:xfrm>
            <a:off x="2011680" y="1444752"/>
            <a:ext cx="2926080" cy="274320"/>
          </a:xfrm>
          <a:prstGeom prst="rect">
            <a:avLst/>
          </a:prstGeom>
          <a:solidFill>
            <a:srgbClr val="1F4A82"/>
          </a:solidFill>
          <a:ln/>
        </p:spPr>
      </p:sp>
      <p:sp>
        <p:nvSpPr>
          <p:cNvPr id="22" name="Text 20"/>
          <p:cNvSpPr txBox="1"/>
          <p:nvPr/>
        </p:nvSpPr>
        <p:spPr>
          <a:xfrm>
            <a:off x="205740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What the evidence says</a:t>
            </a:r>
            <a:endParaRPr lang="en-US" sz="950" dirty="0"/>
          </a:p>
        </p:txBody>
      </p:sp>
      <p:sp>
        <p:nvSpPr>
          <p:cNvPr id="23" name="Shape 21"/>
          <p:cNvSpPr/>
          <p:nvPr/>
        </p:nvSpPr>
        <p:spPr>
          <a:xfrm>
            <a:off x="4937760" y="1444752"/>
            <a:ext cx="2926080" cy="274320"/>
          </a:xfrm>
          <a:prstGeom prst="rect">
            <a:avLst/>
          </a:prstGeom>
          <a:solidFill>
            <a:srgbClr val="1F4A82"/>
          </a:solidFill>
          <a:ln/>
        </p:spPr>
      </p:sp>
      <p:sp>
        <p:nvSpPr>
          <p:cNvPr id="24" name="Text 22"/>
          <p:cNvSpPr txBox="1"/>
          <p:nvPr/>
        </p:nvSpPr>
        <p:spPr>
          <a:xfrm>
            <a:off x="4983480" y="1444752"/>
            <a:ext cx="283464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What we do instead</a:t>
            </a:r>
            <a:endParaRPr lang="en-US" sz="950" dirty="0"/>
          </a:p>
        </p:txBody>
      </p:sp>
      <p:sp>
        <p:nvSpPr>
          <p:cNvPr id="25" name="Shape 23"/>
          <p:cNvSpPr/>
          <p:nvPr/>
        </p:nvSpPr>
        <p:spPr>
          <a:xfrm>
            <a:off x="411480" y="1719072"/>
            <a:ext cx="1600200" cy="548640"/>
          </a:xfrm>
          <a:prstGeom prst="rect">
            <a:avLst/>
          </a:prstGeom>
          <a:solidFill>
            <a:srgbClr val="FFFFFF"/>
          </a:solidFill>
          <a:ln/>
        </p:spPr>
      </p:sp>
      <p:sp>
        <p:nvSpPr>
          <p:cNvPr id="26" name="Text 24"/>
          <p:cNvSpPr txBox="1"/>
          <p:nvPr/>
        </p:nvSpPr>
        <p:spPr>
          <a:xfrm>
            <a:off x="457200" y="17190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₹40 per student per month</a:t>
            </a:r>
            <a:endParaRPr lang="en-US" sz="950" dirty="0"/>
          </a:p>
        </p:txBody>
      </p:sp>
      <p:sp>
        <p:nvSpPr>
          <p:cNvPr id="27" name="Shape 25"/>
          <p:cNvSpPr/>
          <p:nvPr/>
        </p:nvSpPr>
        <p:spPr>
          <a:xfrm>
            <a:off x="2011680" y="1719072"/>
            <a:ext cx="2926080" cy="548640"/>
          </a:xfrm>
          <a:prstGeom prst="rect">
            <a:avLst/>
          </a:prstGeom>
          <a:solidFill>
            <a:srgbClr val="FFFFFF"/>
          </a:solidFill>
          <a:ln/>
        </p:spPr>
      </p:sp>
      <p:sp>
        <p:nvSpPr>
          <p:cNvPr id="28" name="Text 26"/>
          <p:cNvSpPr txBox="1"/>
          <p:nvPr/>
        </p:nvSpPr>
        <p:spPr>
          <a:xfrm>
            <a:off x="205740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Generic institute apps list at ₹4 to ₹21 per student per month. ₹40 x 400 students = ₹1.92 lakh a year.</a:t>
            </a:r>
            <a:endParaRPr lang="en-US" sz="950" dirty="0"/>
          </a:p>
        </p:txBody>
      </p:sp>
      <p:sp>
        <p:nvSpPr>
          <p:cNvPr id="29" name="Shape 27"/>
          <p:cNvSpPr/>
          <p:nvPr/>
        </p:nvSpPr>
        <p:spPr>
          <a:xfrm>
            <a:off x="4937760" y="1719072"/>
            <a:ext cx="2926080" cy="548640"/>
          </a:xfrm>
          <a:prstGeom prst="rect">
            <a:avLst/>
          </a:prstGeom>
          <a:solidFill>
            <a:srgbClr val="FFFFFF"/>
          </a:solidFill>
          <a:ln/>
        </p:spPr>
      </p:sp>
      <p:sp>
        <p:nvSpPr>
          <p:cNvPr id="30" name="Text 28"/>
          <p:cNvSpPr txBox="1"/>
          <p:nvPr/>
        </p:nvSpPr>
        <p:spPr>
          <a:xfrm>
            <a:off x="4983480" y="17190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List ₹30, tested from ₹20 to ₹40. Willingness to pay goes to owner interviews first.</a:t>
            </a:r>
            <a:endParaRPr lang="en-US" sz="950" dirty="0"/>
          </a:p>
        </p:txBody>
      </p:sp>
      <p:sp>
        <p:nvSpPr>
          <p:cNvPr id="31" name="Shape 29"/>
          <p:cNvSpPr/>
          <p:nvPr/>
        </p:nvSpPr>
        <p:spPr>
          <a:xfrm>
            <a:off x="411480" y="2267712"/>
            <a:ext cx="7452360" cy="0"/>
          </a:xfrm>
          <a:prstGeom prst="line">
            <a:avLst/>
          </a:prstGeom>
          <a:noFill/>
          <a:ln w="6350">
            <a:solidFill>
              <a:srgbClr val="E3E8E4"/>
            </a:solidFill>
            <a:prstDash val="solid"/>
          </a:ln>
        </p:spPr>
      </p:sp>
      <p:sp>
        <p:nvSpPr>
          <p:cNvPr id="32" name="Shape 30"/>
          <p:cNvSpPr/>
          <p:nvPr/>
        </p:nvSpPr>
        <p:spPr>
          <a:xfrm>
            <a:off x="411480" y="2267712"/>
            <a:ext cx="1600200" cy="548640"/>
          </a:xfrm>
          <a:prstGeom prst="rect">
            <a:avLst/>
          </a:prstGeom>
          <a:solidFill>
            <a:srgbClr val="F1F7F3"/>
          </a:solidFill>
          <a:ln/>
        </p:spPr>
      </p:sp>
      <p:sp>
        <p:nvSpPr>
          <p:cNvPr id="33" name="Text 31"/>
          <p:cNvSpPr txBox="1"/>
          <p:nvPr/>
        </p:nvSpPr>
        <p:spPr>
          <a:xfrm>
            <a:off x="457200" y="226771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25 % of dropouts prevented</a:t>
            </a:r>
            <a:endParaRPr lang="en-US" sz="950" dirty="0"/>
          </a:p>
        </p:txBody>
      </p:sp>
      <p:sp>
        <p:nvSpPr>
          <p:cNvPr id="34" name="Shape 32"/>
          <p:cNvSpPr/>
          <p:nvPr/>
        </p:nvSpPr>
        <p:spPr>
          <a:xfrm>
            <a:off x="2011680" y="2267712"/>
            <a:ext cx="2926080" cy="548640"/>
          </a:xfrm>
          <a:prstGeom prst="rect">
            <a:avLst/>
          </a:prstGeom>
          <a:solidFill>
            <a:srgbClr val="F1F7F3"/>
          </a:solidFill>
          <a:ln/>
        </p:spPr>
      </p:sp>
      <p:sp>
        <p:nvSpPr>
          <p:cNvPr id="35" name="Text 33"/>
          <p:cNvSpPr txBox="1"/>
          <p:nvPr/>
        </p:nvSpPr>
        <p:spPr>
          <a:xfrm>
            <a:off x="205740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trials in comparable settings average 15.8 % among students who get outreach; month-1 leavers cannot be flagged.</a:t>
            </a:r>
            <a:endParaRPr lang="en-US" sz="950" dirty="0"/>
          </a:p>
        </p:txBody>
      </p:sp>
      <p:sp>
        <p:nvSpPr>
          <p:cNvPr id="36" name="Shape 34"/>
          <p:cNvSpPr/>
          <p:nvPr/>
        </p:nvSpPr>
        <p:spPr>
          <a:xfrm>
            <a:off x="4937760" y="2267712"/>
            <a:ext cx="2926080" cy="548640"/>
          </a:xfrm>
          <a:prstGeom prst="rect">
            <a:avLst/>
          </a:prstGeom>
          <a:solidFill>
            <a:srgbClr val="F1F7F3"/>
          </a:solidFill>
          <a:ln/>
        </p:spPr>
      </p:sp>
      <p:sp>
        <p:nvSpPr>
          <p:cNvPr id="37" name="Text 35"/>
          <p:cNvSpPr txBox="1"/>
          <p:nvPr/>
        </p:nvSpPr>
        <p:spPr>
          <a:xfrm>
            <a:off x="4983480" y="226771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Model 6.6 % effective reduction. Prove it with comparison batches in a pilot.</a:t>
            </a:r>
            <a:endParaRPr lang="en-US" sz="950" dirty="0"/>
          </a:p>
        </p:txBody>
      </p:sp>
      <p:sp>
        <p:nvSpPr>
          <p:cNvPr id="38" name="Shape 36"/>
          <p:cNvSpPr/>
          <p:nvPr/>
        </p:nvSpPr>
        <p:spPr>
          <a:xfrm>
            <a:off x="411480" y="2816352"/>
            <a:ext cx="7452360" cy="0"/>
          </a:xfrm>
          <a:prstGeom prst="line">
            <a:avLst/>
          </a:prstGeom>
          <a:noFill/>
          <a:ln w="6350">
            <a:solidFill>
              <a:srgbClr val="E3E8E4"/>
            </a:solidFill>
            <a:prstDash val="solid"/>
          </a:ln>
        </p:spPr>
      </p:sp>
      <p:sp>
        <p:nvSpPr>
          <p:cNvPr id="39" name="Shape 37"/>
          <p:cNvSpPr/>
          <p:nvPr/>
        </p:nvSpPr>
        <p:spPr>
          <a:xfrm>
            <a:off x="411480" y="2816352"/>
            <a:ext cx="1600200" cy="548640"/>
          </a:xfrm>
          <a:prstGeom prst="rect">
            <a:avLst/>
          </a:prstGeom>
          <a:solidFill>
            <a:srgbClr val="FFFFFF"/>
          </a:solidFill>
          <a:ln/>
        </p:spPr>
      </p:sp>
      <p:sp>
        <p:nvSpPr>
          <p:cNvPr id="40" name="Text 38"/>
          <p:cNvSpPr txBox="1"/>
          <p:nvPr/>
        </p:nvSpPr>
        <p:spPr>
          <a:xfrm>
            <a:off x="457200" y="281635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Saved fees pay for the product</a:t>
            </a:r>
            <a:endParaRPr lang="en-US" sz="950" dirty="0"/>
          </a:p>
        </p:txBody>
      </p:sp>
      <p:sp>
        <p:nvSpPr>
          <p:cNvPr id="41" name="Shape 39"/>
          <p:cNvSpPr/>
          <p:nvPr/>
        </p:nvSpPr>
        <p:spPr>
          <a:xfrm>
            <a:off x="2011680" y="2816352"/>
            <a:ext cx="2926080" cy="548640"/>
          </a:xfrm>
          <a:prstGeom prst="rect">
            <a:avLst/>
          </a:prstGeom>
          <a:solidFill>
            <a:srgbClr val="FFFFFF"/>
          </a:solidFill>
          <a:ln/>
        </p:spPr>
      </p:sp>
      <p:sp>
        <p:nvSpPr>
          <p:cNvPr id="42" name="Text 40"/>
          <p:cNvSpPr txBox="1"/>
          <p:nvPr/>
        </p:nvSpPr>
        <p:spPr>
          <a:xfrm>
            <a:off x="205740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Fees retained return 0.75x of the cost on their own.</a:t>
            </a:r>
            <a:endParaRPr lang="en-US" sz="950" dirty="0"/>
          </a:p>
        </p:txBody>
      </p:sp>
      <p:sp>
        <p:nvSpPr>
          <p:cNvPr id="43" name="Shape 41"/>
          <p:cNvSpPr/>
          <p:nvPr/>
        </p:nvSpPr>
        <p:spPr>
          <a:xfrm>
            <a:off x="4937760" y="2816352"/>
            <a:ext cx="2926080" cy="548640"/>
          </a:xfrm>
          <a:prstGeom prst="rect">
            <a:avLst/>
          </a:prstGeom>
          <a:solidFill>
            <a:srgbClr val="FFFFFF"/>
          </a:solidFill>
          <a:ln/>
        </p:spPr>
      </p:sp>
      <p:sp>
        <p:nvSpPr>
          <p:cNvPr id="44" name="Text 42"/>
          <p:cNvSpPr txBox="1"/>
          <p:nvPr/>
        </p:nvSpPr>
        <p:spPr>
          <a:xfrm>
            <a:off x="4983480" y="281635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Lead with staff time and parent reports: fees plus time reach 1.0x.</a:t>
            </a:r>
            <a:endParaRPr lang="en-US" sz="950" dirty="0"/>
          </a:p>
        </p:txBody>
      </p:sp>
      <p:sp>
        <p:nvSpPr>
          <p:cNvPr id="45" name="Shape 43"/>
          <p:cNvSpPr/>
          <p:nvPr/>
        </p:nvSpPr>
        <p:spPr>
          <a:xfrm>
            <a:off x="411480" y="3364992"/>
            <a:ext cx="7452360" cy="0"/>
          </a:xfrm>
          <a:prstGeom prst="line">
            <a:avLst/>
          </a:prstGeom>
          <a:noFill/>
          <a:ln w="6350">
            <a:solidFill>
              <a:srgbClr val="E3E8E4"/>
            </a:solidFill>
            <a:prstDash val="solid"/>
          </a:ln>
        </p:spPr>
      </p:sp>
      <p:sp>
        <p:nvSpPr>
          <p:cNvPr id="46" name="Shape 44"/>
          <p:cNvSpPr/>
          <p:nvPr/>
        </p:nvSpPr>
        <p:spPr>
          <a:xfrm>
            <a:off x="411480" y="3364992"/>
            <a:ext cx="1600200" cy="548640"/>
          </a:xfrm>
          <a:prstGeom prst="rect">
            <a:avLst/>
          </a:prstGeom>
          <a:solidFill>
            <a:srgbClr val="F1F7F3"/>
          </a:solidFill>
          <a:ln/>
        </p:spPr>
      </p:sp>
      <p:sp>
        <p:nvSpPr>
          <p:cNvPr id="47" name="Text 45"/>
          <p:cNvSpPr txBox="1"/>
          <p:nvPr/>
        </p:nvSpPr>
        <p:spPr>
          <a:xfrm>
            <a:off x="457200" y="336499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LTV / CAC of 10.7x</a:t>
            </a:r>
            <a:endParaRPr lang="en-US" sz="950" dirty="0"/>
          </a:p>
        </p:txBody>
      </p:sp>
      <p:sp>
        <p:nvSpPr>
          <p:cNvPr id="48" name="Shape 46"/>
          <p:cNvSpPr/>
          <p:nvPr/>
        </p:nvSpPr>
        <p:spPr>
          <a:xfrm>
            <a:off x="2011680" y="3364992"/>
            <a:ext cx="2926080" cy="548640"/>
          </a:xfrm>
          <a:prstGeom prst="rect">
            <a:avLst/>
          </a:prstGeom>
          <a:solidFill>
            <a:srgbClr val="F1F7F3"/>
          </a:solidFill>
          <a:ln/>
        </p:spPr>
      </p:sp>
      <p:sp>
        <p:nvSpPr>
          <p:cNvPr id="49" name="Text 47"/>
          <p:cNvSpPr txBox="1"/>
          <p:nvPr/>
        </p:nvSpPr>
        <p:spPr>
          <a:xfrm>
            <a:off x="205740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Seasonal billing, 20 % post-exam non-renewal and pilots that do not convert.</a:t>
            </a:r>
            <a:endParaRPr lang="en-US" sz="950" dirty="0"/>
          </a:p>
        </p:txBody>
      </p:sp>
      <p:sp>
        <p:nvSpPr>
          <p:cNvPr id="50" name="Shape 48"/>
          <p:cNvSpPr/>
          <p:nvPr/>
        </p:nvSpPr>
        <p:spPr>
          <a:xfrm>
            <a:off x="4937760" y="3364992"/>
            <a:ext cx="2926080" cy="548640"/>
          </a:xfrm>
          <a:prstGeom prst="rect">
            <a:avLst/>
          </a:prstGeom>
          <a:solidFill>
            <a:srgbClr val="F1F7F3"/>
          </a:solidFill>
          <a:ln/>
        </p:spPr>
      </p:sp>
      <p:sp>
        <p:nvSpPr>
          <p:cNvPr id="51" name="Text 49"/>
          <p:cNvSpPr txBox="1"/>
          <p:nvPr/>
        </p:nvSpPr>
        <p:spPr>
          <a:xfrm>
            <a:off x="4983480" y="336499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3.7x in base; small institutes go self-serve (1.5x).</a:t>
            </a:r>
            <a:endParaRPr lang="en-US" sz="950" dirty="0"/>
          </a:p>
        </p:txBody>
      </p:sp>
      <p:sp>
        <p:nvSpPr>
          <p:cNvPr id="52" name="Shape 50"/>
          <p:cNvSpPr/>
          <p:nvPr/>
        </p:nvSpPr>
        <p:spPr>
          <a:xfrm>
            <a:off x="411480" y="3913632"/>
            <a:ext cx="7452360" cy="0"/>
          </a:xfrm>
          <a:prstGeom prst="line">
            <a:avLst/>
          </a:prstGeom>
          <a:noFill/>
          <a:ln w="6350">
            <a:solidFill>
              <a:srgbClr val="E3E8E4"/>
            </a:solidFill>
            <a:prstDash val="solid"/>
          </a:ln>
        </p:spPr>
      </p:sp>
      <p:sp>
        <p:nvSpPr>
          <p:cNvPr id="53" name="Shape 51"/>
          <p:cNvSpPr/>
          <p:nvPr/>
        </p:nvSpPr>
        <p:spPr>
          <a:xfrm>
            <a:off x="411480" y="3913632"/>
            <a:ext cx="1600200" cy="548640"/>
          </a:xfrm>
          <a:prstGeom prst="rect">
            <a:avLst/>
          </a:prstGeom>
          <a:solidFill>
            <a:srgbClr val="FFFFFF"/>
          </a:solidFill>
          <a:ln/>
        </p:spPr>
      </p:sp>
      <p:sp>
        <p:nvSpPr>
          <p:cNvPr id="54" name="Text 52"/>
          <p:cNvSpPr txBox="1"/>
          <p:nvPr/>
        </p:nvSpPr>
        <p:spPr>
          <a:xfrm>
            <a:off x="457200" y="391363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Published AUC of 0.794</a:t>
            </a:r>
            <a:endParaRPr lang="en-US" sz="950" dirty="0"/>
          </a:p>
        </p:txBody>
      </p:sp>
      <p:sp>
        <p:nvSpPr>
          <p:cNvPr id="55" name="Shape 53"/>
          <p:cNvSpPr/>
          <p:nvPr/>
        </p:nvSpPr>
        <p:spPr>
          <a:xfrm>
            <a:off x="2011680" y="3913632"/>
            <a:ext cx="2926080" cy="548640"/>
          </a:xfrm>
          <a:prstGeom prst="rect">
            <a:avLst/>
          </a:prstGeom>
          <a:solidFill>
            <a:srgbClr val="FFFFFF"/>
          </a:solidFill>
          <a:ln/>
        </p:spPr>
      </p:sp>
      <p:sp>
        <p:nvSpPr>
          <p:cNvPr id="56" name="Text 54"/>
          <p:cNvSpPr txBox="1"/>
          <p:nvPr/>
        </p:nvSpPr>
        <p:spPr>
          <a:xfrm>
            <a:off x="205740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Our honest student-grouped estimate on OULAD is 0.706; leakage inflates many reported numbers.</a:t>
            </a:r>
            <a:endParaRPr lang="en-US" sz="950" dirty="0"/>
          </a:p>
        </p:txBody>
      </p:sp>
      <p:sp>
        <p:nvSpPr>
          <p:cNvPr id="57" name="Shape 55"/>
          <p:cNvSpPr/>
          <p:nvPr/>
        </p:nvSpPr>
        <p:spPr>
          <a:xfrm>
            <a:off x="4937760" y="3913632"/>
            <a:ext cx="2926080" cy="548640"/>
          </a:xfrm>
          <a:prstGeom prst="rect">
            <a:avLst/>
          </a:prstGeom>
          <a:solidFill>
            <a:srgbClr val="FFFFFF"/>
          </a:solidFill>
          <a:ln/>
        </p:spPr>
      </p:sp>
      <p:sp>
        <p:nvSpPr>
          <p:cNvPr id="58" name="Text 56"/>
          <p:cNvSpPr txBox="1"/>
          <p:nvPr/>
        </p:nvSpPr>
        <p:spPr>
          <a:xfrm>
            <a:off x="4983480" y="391363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Judge on precision at mentor capacity: 0.46 vs 0.24 to 0.31 for rules.</a:t>
            </a:r>
            <a:endParaRPr lang="en-US" sz="950" dirty="0"/>
          </a:p>
        </p:txBody>
      </p:sp>
      <p:sp>
        <p:nvSpPr>
          <p:cNvPr id="59" name="Shape 57"/>
          <p:cNvSpPr/>
          <p:nvPr/>
        </p:nvSpPr>
        <p:spPr>
          <a:xfrm>
            <a:off x="411480" y="4462272"/>
            <a:ext cx="7452360" cy="0"/>
          </a:xfrm>
          <a:prstGeom prst="line">
            <a:avLst/>
          </a:prstGeom>
          <a:noFill/>
          <a:ln w="6350">
            <a:solidFill>
              <a:srgbClr val="E3E8E4"/>
            </a:solidFill>
            <a:prstDash val="solid"/>
          </a:ln>
        </p:spPr>
      </p:sp>
      <p:sp>
        <p:nvSpPr>
          <p:cNvPr id="60" name="Shape 58"/>
          <p:cNvSpPr/>
          <p:nvPr/>
        </p:nvSpPr>
        <p:spPr>
          <a:xfrm>
            <a:off x="411480" y="4462272"/>
            <a:ext cx="1600200" cy="548640"/>
          </a:xfrm>
          <a:prstGeom prst="rect">
            <a:avLst/>
          </a:prstGeom>
          <a:solidFill>
            <a:srgbClr val="F1F7F3"/>
          </a:solidFill>
          <a:ln/>
        </p:spPr>
      </p:sp>
      <p:sp>
        <p:nvSpPr>
          <p:cNvPr id="61" name="Text 59"/>
          <p:cNvSpPr txBox="1"/>
          <p:nvPr/>
        </p:nvSpPr>
        <p:spPr>
          <a:xfrm>
            <a:off x="457200" y="4462272"/>
            <a:ext cx="1508760" cy="548640"/>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Track app activity for everyone</a:t>
            </a:r>
            <a:endParaRPr lang="en-US" sz="950" dirty="0"/>
          </a:p>
        </p:txBody>
      </p:sp>
      <p:sp>
        <p:nvSpPr>
          <p:cNvPr id="62" name="Shape 60"/>
          <p:cNvSpPr/>
          <p:nvPr/>
        </p:nvSpPr>
        <p:spPr>
          <a:xfrm>
            <a:off x="2011680" y="4462272"/>
            <a:ext cx="2926080" cy="548640"/>
          </a:xfrm>
          <a:prstGeom prst="rect">
            <a:avLst/>
          </a:prstGeom>
          <a:solidFill>
            <a:srgbClr val="F1F7F3"/>
          </a:solidFill>
          <a:ln/>
        </p:spPr>
      </p:sp>
      <p:sp>
        <p:nvSpPr>
          <p:cNvPr id="63" name="Text 61"/>
          <p:cNvSpPr txBox="1"/>
          <p:nvPr/>
        </p:nvSpPr>
        <p:spPr>
          <a:xfrm>
            <a:off x="205740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s.9(3) bans behavioural monitoring of children, even with consent.</a:t>
            </a:r>
            <a:endParaRPr lang="en-US" sz="950" dirty="0"/>
          </a:p>
        </p:txBody>
      </p:sp>
      <p:sp>
        <p:nvSpPr>
          <p:cNvPr id="64" name="Shape 62"/>
          <p:cNvSpPr/>
          <p:nvPr/>
        </p:nvSpPr>
        <p:spPr>
          <a:xfrm>
            <a:off x="4937760" y="4462272"/>
            <a:ext cx="2926080" cy="548640"/>
          </a:xfrm>
          <a:prstGeom prst="rect">
            <a:avLst/>
          </a:prstGeom>
          <a:solidFill>
            <a:srgbClr val="F1F7F3"/>
          </a:solidFill>
          <a:ln/>
        </p:spPr>
      </p:sp>
      <p:sp>
        <p:nvSpPr>
          <p:cNvPr id="65" name="Text 63"/>
          <p:cNvSpPr txBox="1"/>
          <p:nvPr/>
        </p:nvSpPr>
        <p:spPr>
          <a:xfrm>
            <a:off x="4983480" y="4462272"/>
            <a:ext cx="2834640" cy="548640"/>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Academic data only for under-18s; it costs 0.008 AUC on OULAD.</a:t>
            </a:r>
            <a:endParaRPr lang="en-US" sz="950" dirty="0"/>
          </a:p>
        </p:txBody>
      </p:sp>
      <p:sp>
        <p:nvSpPr>
          <p:cNvPr id="66" name="Shape 64"/>
          <p:cNvSpPr/>
          <p:nvPr/>
        </p:nvSpPr>
        <p:spPr>
          <a:xfrm>
            <a:off x="411480" y="5010912"/>
            <a:ext cx="7452360" cy="0"/>
          </a:xfrm>
          <a:prstGeom prst="line">
            <a:avLst/>
          </a:prstGeom>
          <a:noFill/>
          <a:ln w="6350">
            <a:solidFill>
              <a:srgbClr val="E3E8E4"/>
            </a:solidFill>
            <a:prstDash val="solid"/>
          </a:ln>
        </p:spPr>
      </p:sp>
      <p:sp>
        <p:nvSpPr>
          <p:cNvPr id="67" name="Shape 65"/>
          <p:cNvSpPr/>
          <p:nvPr/>
        </p:nvSpPr>
        <p:spPr>
          <a:xfrm>
            <a:off x="8001000" y="1115568"/>
            <a:ext cx="3779215" cy="3950208"/>
          </a:xfrm>
          <a:prstGeom prst="rect">
            <a:avLst/>
          </a:prstGeom>
          <a:solidFill>
            <a:srgbClr val="F4F7FB"/>
          </a:solidFill>
          <a:ln w="12700">
            <a:solidFill>
              <a:srgbClr val="C9D6E8"/>
            </a:solidFill>
            <a:prstDash val="solid"/>
          </a:ln>
        </p:spPr>
      </p:sp>
      <p:sp>
        <p:nvSpPr>
          <p:cNvPr id="68" name="Shape 66"/>
          <p:cNvSpPr/>
          <p:nvPr/>
        </p:nvSpPr>
        <p:spPr>
          <a:xfrm>
            <a:off x="8001000" y="1115568"/>
            <a:ext cx="3779215" cy="292608"/>
          </a:xfrm>
          <a:prstGeom prst="rect">
            <a:avLst/>
          </a:prstGeom>
          <a:solidFill>
            <a:srgbClr val="1F4A82"/>
          </a:solidFill>
          <a:ln/>
        </p:spPr>
      </p:sp>
      <p:sp>
        <p:nvSpPr>
          <p:cNvPr id="69" name="Text 67"/>
          <p:cNvSpPr txBox="1"/>
          <p:nvPr/>
        </p:nvSpPr>
        <p:spPr>
          <a:xfrm>
            <a:off x="8074152" y="1115568"/>
            <a:ext cx="363291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 REFRAME</a:t>
            </a:r>
            <a:endParaRPr lang="en-US" sz="1100" dirty="0"/>
          </a:p>
        </p:txBody>
      </p:sp>
      <p:sp>
        <p:nvSpPr>
          <p:cNvPr id="70" name="Text 68"/>
          <p:cNvSpPr txBox="1"/>
          <p:nvPr/>
        </p:nvSpPr>
        <p:spPr>
          <a:xfrm>
            <a:off x="8183880" y="1517904"/>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wrong question</a:t>
            </a:r>
            <a:endParaRPr lang="en-US" sz="950" dirty="0"/>
          </a:p>
        </p:txBody>
      </p:sp>
      <p:sp>
        <p:nvSpPr>
          <p:cNvPr id="71" name="Text 69"/>
          <p:cNvSpPr txBox="1"/>
          <p:nvPr/>
        </p:nvSpPr>
        <p:spPr>
          <a:xfrm>
            <a:off x="8183880" y="1737360"/>
            <a:ext cx="3413455" cy="292608"/>
          </a:xfrm>
          <a:prstGeom prst="rect">
            <a:avLst/>
          </a:prstGeom>
          <a:noFill/>
          <a:ln/>
        </p:spPr>
        <p:txBody>
          <a:bodyPr wrap="square" lIns="0" tIns="0" rIns="0" bIns="0" rtlCol="0" anchor="t"/>
          <a:lstStyle/>
          <a:p>
            <a:pPr algn="l" indent="0" marL="0">
              <a:buNone/>
            </a:pPr>
            <a:r>
              <a:rPr lang="en-US" sz="1300" b="1" strike="sngStrike" dirty="0">
                <a:solidFill>
                  <a:srgbClr val="9AA6B5"/>
                </a:solidFill>
                <a:latin typeface="Calibri" pitchFamily="34" charset="0"/>
                <a:ea typeface="Calibri" pitchFamily="34" charset="-122"/>
                <a:cs typeface="Calibri" pitchFamily="34" charset="-120"/>
              </a:rPr>
              <a:t>"Can a model predict who drops out?"</a:t>
            </a:r>
            <a:endParaRPr lang="en-US" sz="1300" dirty="0"/>
          </a:p>
        </p:txBody>
      </p:sp>
      <p:sp>
        <p:nvSpPr>
          <p:cNvPr id="72" name="Text 70"/>
          <p:cNvSpPr txBox="1"/>
          <p:nvPr/>
        </p:nvSpPr>
        <p:spPr>
          <a:xfrm>
            <a:off x="8183880" y="2121408"/>
            <a:ext cx="3413455" cy="219456"/>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The right question</a:t>
            </a:r>
            <a:endParaRPr lang="en-US" sz="950" dirty="0"/>
          </a:p>
        </p:txBody>
      </p:sp>
      <p:sp>
        <p:nvSpPr>
          <p:cNvPr id="73" name="Text 71"/>
          <p:cNvSpPr txBox="1"/>
          <p:nvPr/>
        </p:nvSpPr>
        <p:spPr>
          <a:xfrm>
            <a:off x="8183880" y="2340864"/>
            <a:ext cx="3413455" cy="868680"/>
          </a:xfrm>
          <a:prstGeom prst="rect">
            <a:avLst/>
          </a:prstGeom>
          <a:noFill/>
          <a:ln/>
        </p:spPr>
        <p:txBody>
          <a:bodyPr wrap="square" lIns="0" tIns="0" rIns="0" bIns="0" rtlCol="0" anchor="t"/>
          <a:lstStyle/>
          <a:p>
            <a:pPr algn="l" indent="0" marL="0">
              <a:buNone/>
            </a:pPr>
            <a:r>
              <a:rPr lang="en-US" sz="1400" b="1" dirty="0">
                <a:solidFill>
                  <a:srgbClr val="1F4A82"/>
                </a:solidFill>
                <a:latin typeface="Calibri" pitchFamily="34" charset="0"/>
                <a:ea typeface="Calibri" pitchFamily="34" charset="-122"/>
                <a:cs typeface="Calibri" pitchFamily="34" charset="-120"/>
              </a:rPr>
              <a:t>"Of the eight students a mentor can call this week, are they the right eight, and does the call help?"</a:t>
            </a:r>
            <a:endParaRPr lang="en-US" sz="1400" dirty="0"/>
          </a:p>
        </p:txBody>
      </p:sp>
      <p:sp>
        <p:nvSpPr>
          <p:cNvPr id="74" name="Shape 72"/>
          <p:cNvSpPr/>
          <p:nvPr/>
        </p:nvSpPr>
        <p:spPr>
          <a:xfrm>
            <a:off x="8138160" y="3310128"/>
            <a:ext cx="966201" cy="384048"/>
          </a:xfrm>
          <a:prstGeom prst="homePlate">
            <a:avLst/>
          </a:prstGeom>
          <a:solidFill>
            <a:srgbClr val="1F4A82"/>
          </a:solidFill>
          <a:ln w="25400">
            <a:solidFill>
              <a:srgbClr val="FFFFFF"/>
            </a:solidFill>
            <a:prstDash val="solid"/>
          </a:ln>
        </p:spPr>
      </p:sp>
      <p:sp>
        <p:nvSpPr>
          <p:cNvPr id="75" name="Text 73"/>
          <p:cNvSpPr txBox="1"/>
          <p:nvPr/>
        </p:nvSpPr>
        <p:spPr>
          <a:xfrm>
            <a:off x="8266176" y="3310128"/>
            <a:ext cx="673593"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Score</a:t>
            </a:r>
            <a:endParaRPr lang="en-US" sz="1000" dirty="0"/>
          </a:p>
        </p:txBody>
      </p:sp>
      <p:sp>
        <p:nvSpPr>
          <p:cNvPr id="76" name="Shape 74"/>
          <p:cNvSpPr/>
          <p:nvPr/>
        </p:nvSpPr>
        <p:spPr>
          <a:xfrm>
            <a:off x="8984391" y="3310128"/>
            <a:ext cx="966201" cy="384048"/>
          </a:xfrm>
          <a:prstGeom prst="chevron">
            <a:avLst/>
          </a:prstGeom>
          <a:solidFill>
            <a:srgbClr val="2E6DB4"/>
          </a:solidFill>
          <a:ln w="25400">
            <a:solidFill>
              <a:srgbClr val="FFFFFF"/>
            </a:solidFill>
            <a:prstDash val="solid"/>
          </a:ln>
        </p:spPr>
      </p:sp>
      <p:sp>
        <p:nvSpPr>
          <p:cNvPr id="77" name="Text 75"/>
          <p:cNvSpPr txBox="1"/>
          <p:nvPr/>
        </p:nvSpPr>
        <p:spPr>
          <a:xfrm>
            <a:off x="9167271"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Explain</a:t>
            </a:r>
            <a:endParaRPr lang="en-US" sz="1000" dirty="0"/>
          </a:p>
        </p:txBody>
      </p:sp>
      <p:sp>
        <p:nvSpPr>
          <p:cNvPr id="78" name="Shape 76"/>
          <p:cNvSpPr/>
          <p:nvPr/>
        </p:nvSpPr>
        <p:spPr>
          <a:xfrm>
            <a:off x="9830623" y="3310128"/>
            <a:ext cx="966201" cy="384048"/>
          </a:xfrm>
          <a:prstGeom prst="chevron">
            <a:avLst/>
          </a:prstGeom>
          <a:solidFill>
            <a:srgbClr val="1F4A82"/>
          </a:solidFill>
          <a:ln w="25400">
            <a:solidFill>
              <a:srgbClr val="FFFFFF"/>
            </a:solidFill>
            <a:prstDash val="solid"/>
          </a:ln>
        </p:spPr>
      </p:sp>
      <p:sp>
        <p:nvSpPr>
          <p:cNvPr id="79" name="Text 77"/>
          <p:cNvSpPr txBox="1"/>
          <p:nvPr/>
        </p:nvSpPr>
        <p:spPr>
          <a:xfrm>
            <a:off x="10013503"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a:t>
            </a:r>
            <a:endParaRPr lang="en-US" sz="1000" dirty="0"/>
          </a:p>
        </p:txBody>
      </p:sp>
      <p:sp>
        <p:nvSpPr>
          <p:cNvPr id="80" name="Shape 78"/>
          <p:cNvSpPr/>
          <p:nvPr/>
        </p:nvSpPr>
        <p:spPr>
          <a:xfrm>
            <a:off x="10676854" y="3310128"/>
            <a:ext cx="966201" cy="384048"/>
          </a:xfrm>
          <a:prstGeom prst="chevron">
            <a:avLst/>
          </a:prstGeom>
          <a:solidFill>
            <a:srgbClr val="5B8DC9"/>
          </a:solidFill>
          <a:ln w="25400">
            <a:solidFill>
              <a:srgbClr val="FFFFFF"/>
            </a:solidFill>
            <a:prstDash val="solid"/>
          </a:ln>
        </p:spPr>
      </p:sp>
      <p:sp>
        <p:nvSpPr>
          <p:cNvPr id="81" name="Text 79"/>
          <p:cNvSpPr txBox="1"/>
          <p:nvPr/>
        </p:nvSpPr>
        <p:spPr>
          <a:xfrm>
            <a:off x="10859734" y="3310128"/>
            <a:ext cx="61872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Log</a:t>
            </a:r>
            <a:endParaRPr lang="en-US" sz="1000" dirty="0"/>
          </a:p>
        </p:txBody>
      </p:sp>
      <p:sp>
        <p:nvSpPr>
          <p:cNvPr id="82" name="Text 80"/>
          <p:cNvSpPr txBox="1"/>
          <p:nvPr/>
        </p:nvSpPr>
        <p:spPr>
          <a:xfrm>
            <a:off x="8183880" y="3767328"/>
            <a:ext cx="3413455" cy="73152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A model with a high AUC that produces a list nobody calls is worth nothing. We cap the list at mentor capacity and judge the system on students retained and actions taken, not on AUC.</a:t>
            </a:r>
            <a:endParaRPr lang="en-US" sz="1000" dirty="0"/>
          </a:p>
        </p:txBody>
      </p:sp>
      <p:sp>
        <p:nvSpPr>
          <p:cNvPr id="83" name="Text 81"/>
          <p:cNvSpPr txBox="1"/>
          <p:nvPr/>
        </p:nvSpPr>
        <p:spPr>
          <a:xfrm>
            <a:off x="8183880" y="448056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8</a:t>
            </a:r>
            <a:endParaRPr lang="en-US" sz="1050" dirty="0"/>
          </a:p>
        </p:txBody>
      </p:sp>
      <p:sp>
        <p:nvSpPr>
          <p:cNvPr id="84" name="Text 82"/>
          <p:cNvSpPr txBox="1"/>
          <p:nvPr/>
        </p:nvSpPr>
        <p:spPr>
          <a:xfrm>
            <a:off x="8549640" y="448056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students per batch per week: the list cap</a:t>
            </a:r>
            <a:endParaRPr lang="en-US" sz="900" dirty="0"/>
          </a:p>
        </p:txBody>
      </p:sp>
      <p:sp>
        <p:nvSpPr>
          <p:cNvPr id="85" name="Text 83"/>
          <p:cNvSpPr txBox="1"/>
          <p:nvPr/>
        </p:nvSpPr>
        <p:spPr>
          <a:xfrm>
            <a:off x="8183880" y="466344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a:t>
            </a:r>
            <a:endParaRPr lang="en-US" sz="1050" dirty="0"/>
          </a:p>
        </p:txBody>
      </p:sp>
      <p:sp>
        <p:nvSpPr>
          <p:cNvPr id="86" name="Text 84"/>
          <p:cNvSpPr txBox="1"/>
          <p:nvPr/>
        </p:nvSpPr>
        <p:spPr>
          <a:xfrm>
            <a:off x="8549640" y="466344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same workload as the institute's own rule</a:t>
            </a:r>
            <a:endParaRPr lang="en-US" sz="900" dirty="0"/>
          </a:p>
        </p:txBody>
      </p:sp>
      <p:sp>
        <p:nvSpPr>
          <p:cNvPr id="87" name="Text 85"/>
          <p:cNvSpPr txBox="1"/>
          <p:nvPr/>
        </p:nvSpPr>
        <p:spPr>
          <a:xfrm>
            <a:off x="8183880" y="4846320"/>
            <a:ext cx="320040" cy="182880"/>
          </a:xfrm>
          <a:prstGeom prst="rect">
            <a:avLst/>
          </a:prstGeom>
          <a:noFill/>
          <a:ln/>
        </p:spPr>
        <p:txBody>
          <a:bodyPr wrap="square" lIns="0" tIns="0" rIns="0" bIns="0" rtlCol="0" anchor="ctr"/>
          <a:lstStyle/>
          <a:p>
            <a:pPr algn="ctr" indent="0" marL="0">
              <a:buNone/>
            </a:pPr>
            <a:r>
              <a:rPr lang="en-US" sz="1050" b="1" dirty="0">
                <a:solidFill>
                  <a:srgbClr val="1F4A82"/>
                </a:solidFill>
                <a:latin typeface="Calibri" pitchFamily="34" charset="0"/>
                <a:ea typeface="Calibri" pitchFamily="34" charset="-122"/>
                <a:cs typeface="Calibri" pitchFamily="34" charset="-120"/>
              </a:rPr>
              <a:t>1</a:t>
            </a:r>
            <a:endParaRPr lang="en-US" sz="1050" dirty="0"/>
          </a:p>
        </p:txBody>
      </p:sp>
      <p:sp>
        <p:nvSpPr>
          <p:cNvPr id="88" name="Text 86"/>
          <p:cNvSpPr txBox="1"/>
          <p:nvPr/>
        </p:nvSpPr>
        <p:spPr>
          <a:xfrm>
            <a:off x="8549640" y="4846320"/>
            <a:ext cx="3047695" cy="182880"/>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logged outcome for every flag</a:t>
            </a:r>
            <a:endParaRPr lang="en-US" sz="900" dirty="0"/>
          </a:p>
        </p:txBody>
      </p:sp>
      <p:sp>
        <p:nvSpPr>
          <p:cNvPr id="89" name="Shape 87"/>
          <p:cNvSpPr/>
          <p:nvPr/>
        </p:nvSpPr>
        <p:spPr>
          <a:xfrm>
            <a:off x="411480" y="5193792"/>
            <a:ext cx="256032" cy="256032"/>
          </a:xfrm>
          <a:prstGeom prst="rect">
            <a:avLst/>
          </a:prstGeom>
          <a:solidFill>
            <a:srgbClr val="1F4A82"/>
          </a:solidFill>
          <a:ln/>
        </p:spPr>
      </p:sp>
      <p:sp>
        <p:nvSpPr>
          <p:cNvPr id="90" name="Text 88"/>
          <p:cNvSpPr txBox="1"/>
          <p:nvPr/>
        </p:nvSpPr>
        <p:spPr>
          <a:xfrm>
            <a:off x="411480" y="519379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91" name="Text 89"/>
          <p:cNvSpPr txBox="1"/>
          <p:nvPr/>
        </p:nvSpPr>
        <p:spPr>
          <a:xfrm>
            <a:off x="740664" y="5193792"/>
            <a:ext cx="69860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FOUR DESIGN PRINCIPLES THAT FOLLOW</a:t>
            </a:r>
            <a:endParaRPr lang="en-US" sz="1200" dirty="0"/>
          </a:p>
        </p:txBody>
      </p:sp>
      <p:sp>
        <p:nvSpPr>
          <p:cNvPr id="92" name="Shape 90"/>
          <p:cNvSpPr/>
          <p:nvPr/>
        </p:nvSpPr>
        <p:spPr>
          <a:xfrm>
            <a:off x="411480" y="5504688"/>
            <a:ext cx="2779776" cy="804672"/>
          </a:xfrm>
          <a:prstGeom prst="rect">
            <a:avLst/>
          </a:prstGeom>
          <a:solidFill>
            <a:srgbClr val="FFFFFF"/>
          </a:solidFill>
          <a:ln w="12700">
            <a:solidFill>
              <a:srgbClr val="1F4A82"/>
            </a:solidFill>
            <a:prstDash val="solid"/>
          </a:ln>
        </p:spPr>
      </p:sp>
      <p:sp>
        <p:nvSpPr>
          <p:cNvPr id="93" name="Shape 91"/>
          <p:cNvSpPr/>
          <p:nvPr/>
        </p:nvSpPr>
        <p:spPr>
          <a:xfrm>
            <a:off x="411480" y="5504688"/>
            <a:ext cx="457200" cy="804672"/>
          </a:xfrm>
          <a:prstGeom prst="rect">
            <a:avLst/>
          </a:prstGeom>
          <a:solidFill>
            <a:srgbClr val="1F4A82"/>
          </a:solidFill>
          <a:ln/>
        </p:spPr>
      </p:sp>
      <p:pic>
        <p:nvPicPr>
          <p:cNvPr id="94" name="Image 0" descr="FaUserShield icon">    </p:cNvPr>
          <p:cNvPicPr>
            <a:picLocks noChangeAspect="1"/>
          </p:cNvPicPr>
          <p:nvPr/>
        </p:nvPicPr>
        <p:blipFill>
          <a:blip r:embed="rId1"/>
          <a:stretch>
            <a:fillRect/>
          </a:stretch>
        </p:blipFill>
        <p:spPr>
          <a:xfrm>
            <a:off x="512064" y="5742432"/>
            <a:ext cx="256032" cy="256032"/>
          </a:xfrm>
          <a:prstGeom prst="rect">
            <a:avLst/>
          </a:prstGeom>
        </p:spPr>
      </p:pic>
      <p:sp>
        <p:nvSpPr>
          <p:cNvPr id="95" name="Text 92"/>
          <p:cNvSpPr txBox="1"/>
          <p:nvPr/>
        </p:nvSpPr>
        <p:spPr>
          <a:xfrm>
            <a:off x="960120"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Support, never surveillance</a:t>
            </a:r>
            <a:endParaRPr lang="en-US" sz="1050" dirty="0"/>
          </a:p>
        </p:txBody>
      </p:sp>
      <p:sp>
        <p:nvSpPr>
          <p:cNvPr id="96" name="Text 93"/>
          <p:cNvSpPr txBox="1"/>
          <p:nvPr/>
        </p:nvSpPr>
        <p:spPr>
          <a:xfrm>
            <a:off x="960120"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Risk lists go to mentors only; no ranks for students or parents.</a:t>
            </a:r>
            <a:endParaRPr lang="en-US" sz="900" dirty="0"/>
          </a:p>
        </p:txBody>
      </p:sp>
      <p:sp>
        <p:nvSpPr>
          <p:cNvPr id="97" name="Shape 94"/>
          <p:cNvSpPr/>
          <p:nvPr/>
        </p:nvSpPr>
        <p:spPr>
          <a:xfrm>
            <a:off x="3273552" y="5504688"/>
            <a:ext cx="2779776" cy="804672"/>
          </a:xfrm>
          <a:prstGeom prst="rect">
            <a:avLst/>
          </a:prstGeom>
          <a:solidFill>
            <a:srgbClr val="FFFFFF"/>
          </a:solidFill>
          <a:ln w="12700">
            <a:solidFill>
              <a:srgbClr val="1F4A82"/>
            </a:solidFill>
            <a:prstDash val="solid"/>
          </a:ln>
        </p:spPr>
      </p:sp>
      <p:sp>
        <p:nvSpPr>
          <p:cNvPr id="98" name="Shape 95"/>
          <p:cNvSpPr/>
          <p:nvPr/>
        </p:nvSpPr>
        <p:spPr>
          <a:xfrm>
            <a:off x="3273552" y="5504688"/>
            <a:ext cx="457200" cy="804672"/>
          </a:xfrm>
          <a:prstGeom prst="rect">
            <a:avLst/>
          </a:prstGeom>
          <a:solidFill>
            <a:srgbClr val="1F4A82"/>
          </a:solidFill>
          <a:ln/>
        </p:spPr>
      </p:sp>
      <p:pic>
        <p:nvPicPr>
          <p:cNvPr id="99" name="Image 1" descr="FaUsers icon">    </p:cNvPr>
          <p:cNvPicPr>
            <a:picLocks noChangeAspect="1"/>
          </p:cNvPicPr>
          <p:nvPr/>
        </p:nvPicPr>
        <p:blipFill>
          <a:blip r:embed="rId2"/>
          <a:stretch>
            <a:fillRect/>
          </a:stretch>
        </p:blipFill>
        <p:spPr>
          <a:xfrm>
            <a:off x="3374136" y="5742432"/>
            <a:ext cx="256032" cy="256032"/>
          </a:xfrm>
          <a:prstGeom prst="rect">
            <a:avLst/>
          </a:prstGeom>
        </p:spPr>
      </p:pic>
      <p:sp>
        <p:nvSpPr>
          <p:cNvPr id="100" name="Text 96"/>
          <p:cNvSpPr txBox="1"/>
          <p:nvPr/>
        </p:nvSpPr>
        <p:spPr>
          <a:xfrm>
            <a:off x="3822192"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Sized to mentor capacity</a:t>
            </a:r>
            <a:endParaRPr lang="en-US" sz="1050" dirty="0"/>
          </a:p>
        </p:txBody>
      </p:sp>
      <p:sp>
        <p:nvSpPr>
          <p:cNvPr id="101" name="Text 97"/>
          <p:cNvSpPr txBox="1"/>
          <p:nvPr/>
        </p:nvSpPr>
        <p:spPr>
          <a:xfrm>
            <a:off x="3822192"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short weekly list, compared with the institute's own rule at equal workload.</a:t>
            </a:r>
            <a:endParaRPr lang="en-US" sz="900" dirty="0"/>
          </a:p>
        </p:txBody>
      </p:sp>
      <p:sp>
        <p:nvSpPr>
          <p:cNvPr id="102" name="Shape 98"/>
          <p:cNvSpPr/>
          <p:nvPr/>
        </p:nvSpPr>
        <p:spPr>
          <a:xfrm>
            <a:off x="6135624" y="5504688"/>
            <a:ext cx="2779776" cy="804672"/>
          </a:xfrm>
          <a:prstGeom prst="rect">
            <a:avLst/>
          </a:prstGeom>
          <a:solidFill>
            <a:srgbClr val="FFFFFF"/>
          </a:solidFill>
          <a:ln w="12700">
            <a:solidFill>
              <a:srgbClr val="1F4A82"/>
            </a:solidFill>
            <a:prstDash val="solid"/>
          </a:ln>
        </p:spPr>
      </p:sp>
      <p:sp>
        <p:nvSpPr>
          <p:cNvPr id="103" name="Shape 99"/>
          <p:cNvSpPr/>
          <p:nvPr/>
        </p:nvSpPr>
        <p:spPr>
          <a:xfrm>
            <a:off x="6135624" y="5504688"/>
            <a:ext cx="457200" cy="804672"/>
          </a:xfrm>
          <a:prstGeom prst="rect">
            <a:avLst/>
          </a:prstGeom>
          <a:solidFill>
            <a:srgbClr val="1F4A82"/>
          </a:solidFill>
          <a:ln/>
        </p:spPr>
      </p:sp>
      <p:pic>
        <p:nvPicPr>
          <p:cNvPr id="104" name="Image 2" descr="FaListCheck icon">    </p:cNvPr>
          <p:cNvPicPr>
            <a:picLocks noChangeAspect="1"/>
          </p:cNvPicPr>
          <p:nvPr/>
        </p:nvPicPr>
        <p:blipFill>
          <a:blip r:embed="rId3"/>
          <a:stretch>
            <a:fillRect/>
          </a:stretch>
        </p:blipFill>
        <p:spPr>
          <a:xfrm>
            <a:off x="6236208" y="5742432"/>
            <a:ext cx="256032" cy="256032"/>
          </a:xfrm>
          <a:prstGeom prst="rect">
            <a:avLst/>
          </a:prstGeom>
        </p:spPr>
      </p:pic>
      <p:sp>
        <p:nvSpPr>
          <p:cNvPr id="105" name="Text 100"/>
          <p:cNvSpPr txBox="1"/>
          <p:nvPr/>
        </p:nvSpPr>
        <p:spPr>
          <a:xfrm>
            <a:off x="6684264"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number checked</a:t>
            </a:r>
            <a:endParaRPr lang="en-US" sz="1050" dirty="0"/>
          </a:p>
        </p:txBody>
      </p:sp>
      <p:sp>
        <p:nvSpPr>
          <p:cNvPr id="106" name="Text 101"/>
          <p:cNvSpPr txBox="1"/>
          <p:nvPr/>
        </p:nvSpPr>
        <p:spPr>
          <a:xfrm>
            <a:off x="6684264"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Reports are verified in code; a template goes out if any check fails.</a:t>
            </a:r>
            <a:endParaRPr lang="en-US" sz="900" dirty="0"/>
          </a:p>
        </p:txBody>
      </p:sp>
      <p:sp>
        <p:nvSpPr>
          <p:cNvPr id="107" name="Shape 102"/>
          <p:cNvSpPr/>
          <p:nvPr/>
        </p:nvSpPr>
        <p:spPr>
          <a:xfrm>
            <a:off x="8997696" y="5504688"/>
            <a:ext cx="2779776" cy="804672"/>
          </a:xfrm>
          <a:prstGeom prst="rect">
            <a:avLst/>
          </a:prstGeom>
          <a:solidFill>
            <a:srgbClr val="FFFFFF"/>
          </a:solidFill>
          <a:ln w="12700">
            <a:solidFill>
              <a:srgbClr val="1F4A82"/>
            </a:solidFill>
            <a:prstDash val="solid"/>
          </a:ln>
        </p:spPr>
      </p:sp>
      <p:sp>
        <p:nvSpPr>
          <p:cNvPr id="108" name="Shape 103"/>
          <p:cNvSpPr/>
          <p:nvPr/>
        </p:nvSpPr>
        <p:spPr>
          <a:xfrm>
            <a:off x="8997696" y="5504688"/>
            <a:ext cx="457200" cy="804672"/>
          </a:xfrm>
          <a:prstGeom prst="rect">
            <a:avLst/>
          </a:prstGeom>
          <a:solidFill>
            <a:srgbClr val="1F4A82"/>
          </a:solidFill>
          <a:ln/>
        </p:spPr>
      </p:sp>
      <p:pic>
        <p:nvPicPr>
          <p:cNvPr id="109" name="Image 3" descr="FaLaptop icon">    </p:cNvPr>
          <p:cNvPicPr>
            <a:picLocks noChangeAspect="1"/>
          </p:cNvPicPr>
          <p:nvPr/>
        </p:nvPicPr>
        <p:blipFill>
          <a:blip r:embed="rId4"/>
          <a:stretch>
            <a:fillRect/>
          </a:stretch>
        </p:blipFill>
        <p:spPr>
          <a:xfrm>
            <a:off x="9098280" y="5742432"/>
            <a:ext cx="256032" cy="256032"/>
          </a:xfrm>
          <a:prstGeom prst="rect">
            <a:avLst/>
          </a:prstGeom>
        </p:spPr>
      </p:pic>
      <p:sp>
        <p:nvSpPr>
          <p:cNvPr id="110" name="Text 104"/>
          <p:cNvSpPr txBox="1"/>
          <p:nvPr/>
        </p:nvSpPr>
        <p:spPr>
          <a:xfrm>
            <a:off x="9546336" y="5532120"/>
            <a:ext cx="2176272"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Free and offline first</a:t>
            </a:r>
            <a:endParaRPr lang="en-US" sz="1050" dirty="0"/>
          </a:p>
        </p:txBody>
      </p:sp>
      <p:sp>
        <p:nvSpPr>
          <p:cNvPr id="111" name="Text 105"/>
          <p:cNvSpPr txBox="1"/>
          <p:nvPr/>
        </p:nvSpPr>
        <p:spPr>
          <a:xfrm>
            <a:off x="9546336" y="5769864"/>
            <a:ext cx="2176272" cy="51206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One laptop, local models, no paid services; syncs when the network returns.</a:t>
            </a:r>
            <a:endParaRPr lang="en-US" sz="900" dirty="0"/>
          </a:p>
        </p:txBody>
      </p:sp>
      <p:sp>
        <p:nvSpPr>
          <p:cNvPr id="112" name="Text 10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case guide; financial/research (vendor listings R1, outreach trials R4); financial workbook (Base); OULAD results in ml/public_validation; PLOS ONE 2026; DPDP Act 2023 s.9(3).</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THE PRODUCT</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One product, two surfaces: a web console for the office, a phone app for mentors and parents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ARCHITECTURE · PRODUCT</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Shape 7"/>
          <p:cNvSpPr/>
          <p:nvPr/>
        </p:nvSpPr>
        <p:spPr>
          <a:xfrm>
            <a:off x="3097530" y="6528816"/>
            <a:ext cx="1343025" cy="274320"/>
          </a:xfrm>
          <a:prstGeom prst="rect">
            <a:avLst/>
          </a:prstGeom>
          <a:solidFill>
            <a:srgbClr val="1F4A82"/>
          </a:solidFill>
          <a:ln/>
        </p:spPr>
      </p:sp>
      <p:sp>
        <p:nvSpPr>
          <p:cNvPr id="10" name="Text 8"/>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p>
        </p:txBody>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5852160" cy="3291840"/>
          </a:xfrm>
          <a:prstGeom prst="rect">
            <a:avLst/>
          </a:prstGeom>
          <a:solidFill>
            <a:srgbClr val="FFFFFF"/>
          </a:solidFill>
          <a:ln w="15875">
            <a:solidFill>
              <a:srgbClr val="1F4A82"/>
            </a:solidFill>
            <a:prstDash val="solid"/>
          </a:ln>
        </p:spPr>
      </p:sp>
      <p:pic>
        <p:nvPicPr>
          <p:cNvPr id="17" name="Image 0" descr="Pragati web console (illustrative)">    </p:cNvPr>
          <p:cNvPicPr>
            <a:picLocks noChangeAspect="1"/>
          </p:cNvPicPr>
          <p:nvPr/>
        </p:nvPicPr>
        <p:blipFill>
          <a:blip r:embed="rId1"/>
          <a:stretch>
            <a:fillRect/>
          </a:stretch>
        </p:blipFill>
        <p:spPr>
          <a:xfrm>
            <a:off x="429768" y="1133856"/>
            <a:ext cx="5815584" cy="3255264"/>
          </a:xfrm>
          <a:prstGeom prst="rect">
            <a:avLst/>
          </a:prstGeom>
        </p:spPr>
      </p:pic>
      <p:sp>
        <p:nvSpPr>
          <p:cNvPr id="18" name="Shape 15"/>
          <p:cNvSpPr/>
          <p:nvPr/>
        </p:nvSpPr>
        <p:spPr>
          <a:xfrm>
            <a:off x="411480" y="4443984"/>
            <a:ext cx="5852160" cy="246888"/>
          </a:xfrm>
          <a:prstGeom prst="rect">
            <a:avLst/>
          </a:prstGeom>
          <a:solidFill>
            <a:srgbClr val="1F4A82"/>
          </a:solidFill>
          <a:ln/>
        </p:spPr>
      </p:sp>
      <p:sp>
        <p:nvSpPr>
          <p:cNvPr id="19" name="Text 16"/>
          <p:cNvSpPr txBox="1"/>
          <p:nvPr/>
        </p:nvSpPr>
        <p:spPr>
          <a:xfrm>
            <a:off x="484632" y="4443984"/>
            <a:ext cx="5705856"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WEB CONSOLE · owner, teacher and compliance views</a:t>
            </a:r>
            <a:endParaRPr lang="en-US" sz="1000" dirty="0"/>
          </a:p>
        </p:txBody>
      </p:sp>
      <p:sp>
        <p:nvSpPr>
          <p:cNvPr id="20" name="Shape 17"/>
          <p:cNvSpPr/>
          <p:nvPr/>
        </p:nvSpPr>
        <p:spPr>
          <a:xfrm>
            <a:off x="6382512" y="1115568"/>
            <a:ext cx="5397703" cy="3291840"/>
          </a:xfrm>
          <a:prstGeom prst="rect">
            <a:avLst/>
          </a:prstGeom>
          <a:solidFill>
            <a:srgbClr val="EAF1FA"/>
          </a:solidFill>
          <a:ln/>
        </p:spPr>
      </p:sp>
      <p:pic>
        <p:nvPicPr>
          <p:cNvPr id="21" name="Image 1" descr="Scan an OMR sheet (illustrative)">    </p:cNvPr>
          <p:cNvPicPr>
            <a:picLocks noChangeAspect="1"/>
          </p:cNvPicPr>
          <p:nvPr/>
        </p:nvPicPr>
        <p:blipFill>
          <a:blip r:embed="rId2"/>
          <a:stretch>
            <a:fillRect/>
          </a:stretch>
        </p:blipFill>
        <p:spPr>
          <a:xfrm>
            <a:off x="6473952" y="1161288"/>
            <a:ext cx="1600200" cy="3200400"/>
          </a:xfrm>
          <a:prstGeom prst="rect">
            <a:avLst/>
          </a:prstGeom>
        </p:spPr>
      </p:pic>
      <p:pic>
        <p:nvPicPr>
          <p:cNvPr id="22" name="Image 2" descr="Mentor: this week's list (illustrative)">    </p:cNvPr>
          <p:cNvPicPr>
            <a:picLocks noChangeAspect="1"/>
          </p:cNvPicPr>
          <p:nvPr/>
        </p:nvPicPr>
        <p:blipFill>
          <a:blip r:embed="rId3"/>
          <a:stretch>
            <a:fillRect/>
          </a:stretch>
        </p:blipFill>
        <p:spPr>
          <a:xfrm>
            <a:off x="8247888" y="1161288"/>
            <a:ext cx="1600200" cy="3200400"/>
          </a:xfrm>
          <a:prstGeom prst="rect">
            <a:avLst/>
          </a:prstGeom>
        </p:spPr>
      </p:pic>
      <p:pic>
        <p:nvPicPr>
          <p:cNvPr id="23" name="Image 3" descr="Parent: Hindi or English (illustrative)">    </p:cNvPr>
          <p:cNvPicPr>
            <a:picLocks noChangeAspect="1"/>
          </p:cNvPicPr>
          <p:nvPr/>
        </p:nvPicPr>
        <p:blipFill>
          <a:blip r:embed="rId4"/>
          <a:stretch>
            <a:fillRect/>
          </a:stretch>
        </p:blipFill>
        <p:spPr>
          <a:xfrm>
            <a:off x="10021824" y="1161288"/>
            <a:ext cx="1600200" cy="3200400"/>
          </a:xfrm>
          <a:prstGeom prst="rect">
            <a:avLst/>
          </a:prstGeom>
        </p:spPr>
      </p:pic>
      <p:sp>
        <p:nvSpPr>
          <p:cNvPr id="24" name="Shape 18"/>
          <p:cNvSpPr/>
          <p:nvPr/>
        </p:nvSpPr>
        <p:spPr>
          <a:xfrm>
            <a:off x="6382512" y="4443984"/>
            <a:ext cx="5397703" cy="246888"/>
          </a:xfrm>
          <a:prstGeom prst="rect">
            <a:avLst/>
          </a:prstGeom>
          <a:solidFill>
            <a:srgbClr val="1F4A82"/>
          </a:solidFill>
          <a:ln/>
        </p:spPr>
      </p:sp>
      <p:sp>
        <p:nvSpPr>
          <p:cNvPr id="25" name="Text 19"/>
          <p:cNvSpPr txBox="1"/>
          <p:nvPr/>
        </p:nvSpPr>
        <p:spPr>
          <a:xfrm>
            <a:off x="6455664" y="4443984"/>
            <a:ext cx="5251399"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PHONE APP · scan sheets, weekly list, parent view</a:t>
            </a:r>
            <a:endParaRPr lang="en-US" sz="1000" dirty="0"/>
          </a:p>
        </p:txBody>
      </p:sp>
      <p:sp>
        <p:nvSpPr>
          <p:cNvPr id="26" name="Shape 20"/>
          <p:cNvSpPr/>
          <p:nvPr/>
        </p:nvSpPr>
        <p:spPr>
          <a:xfrm>
            <a:off x="411480" y="4800600"/>
            <a:ext cx="256032" cy="256032"/>
          </a:xfrm>
          <a:prstGeom prst="rect">
            <a:avLst/>
          </a:prstGeom>
          <a:solidFill>
            <a:srgbClr val="1F4A82"/>
          </a:solidFill>
          <a:ln/>
        </p:spPr>
      </p:sp>
      <p:sp>
        <p:nvSpPr>
          <p:cNvPr id="27" name="Text 21"/>
          <p:cNvSpPr txBox="1"/>
          <p:nvPr/>
        </p:nvSpPr>
        <p:spPr>
          <a:xfrm>
            <a:off x="411480" y="48006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8" name="Text 22"/>
          <p:cNvSpPr txBox="1"/>
          <p:nvPr/>
        </p:nvSpPr>
        <p:spPr>
          <a:xfrm>
            <a:off x="740664" y="4800600"/>
            <a:ext cx="68945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WHO SEES WHAT</a:t>
            </a:r>
            <a:endParaRPr lang="en-US" sz="1200" dirty="0"/>
          </a:p>
        </p:txBody>
      </p:sp>
      <p:sp>
        <p:nvSpPr>
          <p:cNvPr id="29" name="Shape 23"/>
          <p:cNvSpPr/>
          <p:nvPr/>
        </p:nvSpPr>
        <p:spPr>
          <a:xfrm>
            <a:off x="411480" y="5120640"/>
            <a:ext cx="1737360" cy="1207008"/>
          </a:xfrm>
          <a:prstGeom prst="rect">
            <a:avLst/>
          </a:prstGeom>
          <a:solidFill>
            <a:srgbClr val="FFFFFF"/>
          </a:solidFill>
          <a:ln w="12700">
            <a:solidFill>
              <a:srgbClr val="C9D6E8"/>
            </a:solidFill>
            <a:prstDash val="solid"/>
          </a:ln>
        </p:spPr>
      </p:sp>
      <p:sp>
        <p:nvSpPr>
          <p:cNvPr id="30" name="Shape 24"/>
          <p:cNvSpPr/>
          <p:nvPr/>
        </p:nvSpPr>
        <p:spPr>
          <a:xfrm>
            <a:off x="411480" y="5120640"/>
            <a:ext cx="1737360" cy="274320"/>
          </a:xfrm>
          <a:prstGeom prst="rect">
            <a:avLst/>
          </a:prstGeom>
          <a:solidFill>
            <a:srgbClr val="1F4A82"/>
          </a:solidFill>
          <a:ln/>
        </p:spPr>
      </p:sp>
      <p:pic>
        <p:nvPicPr>
          <p:cNvPr id="31" name="Image 4" descr="FaBuilding icon">    </p:cNvPr>
          <p:cNvPicPr>
            <a:picLocks noChangeAspect="1"/>
          </p:cNvPicPr>
          <p:nvPr/>
        </p:nvPicPr>
        <p:blipFill>
          <a:blip r:embed="rId5"/>
          <a:stretch>
            <a:fillRect/>
          </a:stretch>
        </p:blipFill>
        <p:spPr>
          <a:xfrm>
            <a:off x="484632" y="5166360"/>
            <a:ext cx="182880" cy="182880"/>
          </a:xfrm>
          <a:prstGeom prst="rect">
            <a:avLst/>
          </a:prstGeom>
        </p:spPr>
      </p:pic>
      <p:sp>
        <p:nvSpPr>
          <p:cNvPr id="32" name="Text 25"/>
          <p:cNvSpPr txBox="1"/>
          <p:nvPr/>
        </p:nvSpPr>
        <p:spPr>
          <a:xfrm>
            <a:off x="722376"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Owner</a:t>
            </a:r>
            <a:endParaRPr lang="en-US" sz="1000" dirty="0"/>
          </a:p>
        </p:txBody>
      </p:sp>
      <p:sp>
        <p:nvSpPr>
          <p:cNvPr id="33" name="Text 26"/>
          <p:cNvSpPr txBox="1"/>
          <p:nvPr/>
        </p:nvSpPr>
        <p:spPr>
          <a:xfrm>
            <a:off x="484632"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Web console</a:t>
            </a:r>
            <a:endParaRPr lang="en-US" sz="850" dirty="0"/>
          </a:p>
        </p:txBody>
      </p:sp>
      <p:sp>
        <p:nvSpPr>
          <p:cNvPr id="34" name="Text 27"/>
          <p:cNvSpPr txBox="1"/>
          <p:nvPr/>
        </p:nvSpPr>
        <p:spPr>
          <a:xfrm>
            <a:off x="457200"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Batch comparison, retention</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Actions done, outcomes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Compliance exports</a:t>
            </a:r>
            <a:endParaRPr lang="en-US" sz="850" dirty="0"/>
          </a:p>
        </p:txBody>
      </p:sp>
      <p:sp>
        <p:nvSpPr>
          <p:cNvPr id="35" name="Shape 28"/>
          <p:cNvSpPr/>
          <p:nvPr/>
        </p:nvSpPr>
        <p:spPr>
          <a:xfrm>
            <a:off x="2221992" y="5120640"/>
            <a:ext cx="1737360" cy="1207008"/>
          </a:xfrm>
          <a:prstGeom prst="rect">
            <a:avLst/>
          </a:prstGeom>
          <a:solidFill>
            <a:srgbClr val="FFFFFF"/>
          </a:solidFill>
          <a:ln w="12700">
            <a:solidFill>
              <a:srgbClr val="C9D6E8"/>
            </a:solidFill>
            <a:prstDash val="solid"/>
          </a:ln>
        </p:spPr>
      </p:sp>
      <p:sp>
        <p:nvSpPr>
          <p:cNvPr id="36" name="Shape 29"/>
          <p:cNvSpPr/>
          <p:nvPr/>
        </p:nvSpPr>
        <p:spPr>
          <a:xfrm>
            <a:off x="2221992" y="5120640"/>
            <a:ext cx="1737360" cy="274320"/>
          </a:xfrm>
          <a:prstGeom prst="rect">
            <a:avLst/>
          </a:prstGeom>
          <a:solidFill>
            <a:srgbClr val="1F4A82"/>
          </a:solidFill>
          <a:ln/>
        </p:spPr>
      </p:sp>
      <p:pic>
        <p:nvPicPr>
          <p:cNvPr id="37" name="Image 5" descr="FaChalkboardUser icon">    </p:cNvPr>
          <p:cNvPicPr>
            <a:picLocks noChangeAspect="1"/>
          </p:cNvPicPr>
          <p:nvPr/>
        </p:nvPicPr>
        <p:blipFill>
          <a:blip r:embed="rId6"/>
          <a:stretch>
            <a:fillRect/>
          </a:stretch>
        </p:blipFill>
        <p:spPr>
          <a:xfrm>
            <a:off x="2295144" y="5166360"/>
            <a:ext cx="182880" cy="182880"/>
          </a:xfrm>
          <a:prstGeom prst="rect">
            <a:avLst/>
          </a:prstGeom>
        </p:spPr>
      </p:pic>
      <p:sp>
        <p:nvSpPr>
          <p:cNvPr id="38" name="Text 30"/>
          <p:cNvSpPr txBox="1"/>
          <p:nvPr/>
        </p:nvSpPr>
        <p:spPr>
          <a:xfrm>
            <a:off x="2532888"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Teacher and mentor</a:t>
            </a:r>
            <a:endParaRPr lang="en-US" sz="1000" dirty="0"/>
          </a:p>
        </p:txBody>
      </p:sp>
      <p:sp>
        <p:nvSpPr>
          <p:cNvPr id="39" name="Text 31"/>
          <p:cNvSpPr txBox="1"/>
          <p:nvPr/>
        </p:nvSpPr>
        <p:spPr>
          <a:xfrm>
            <a:off x="2295144"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Web and phone</a:t>
            </a:r>
            <a:endParaRPr lang="en-US" sz="850" dirty="0"/>
          </a:p>
        </p:txBody>
      </p:sp>
      <p:sp>
        <p:nvSpPr>
          <p:cNvPr id="40" name="Text 32"/>
          <p:cNvSpPr txBox="1"/>
          <p:nvPr/>
        </p:nvSpPr>
        <p:spPr>
          <a:xfrm>
            <a:off x="2267712"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Topic heatmap, wrong keys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Weekly list with reasons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Log what was done</a:t>
            </a:r>
            <a:endParaRPr lang="en-US" sz="850" dirty="0"/>
          </a:p>
        </p:txBody>
      </p:sp>
      <p:sp>
        <p:nvSpPr>
          <p:cNvPr id="41" name="Shape 33"/>
          <p:cNvSpPr/>
          <p:nvPr/>
        </p:nvSpPr>
        <p:spPr>
          <a:xfrm>
            <a:off x="4032504" y="5120640"/>
            <a:ext cx="1737360" cy="1207008"/>
          </a:xfrm>
          <a:prstGeom prst="rect">
            <a:avLst/>
          </a:prstGeom>
          <a:solidFill>
            <a:srgbClr val="FFFFFF"/>
          </a:solidFill>
          <a:ln w="12700">
            <a:solidFill>
              <a:srgbClr val="C9D6E8"/>
            </a:solidFill>
            <a:prstDash val="solid"/>
          </a:ln>
        </p:spPr>
      </p:sp>
      <p:sp>
        <p:nvSpPr>
          <p:cNvPr id="42" name="Shape 34"/>
          <p:cNvSpPr/>
          <p:nvPr/>
        </p:nvSpPr>
        <p:spPr>
          <a:xfrm>
            <a:off x="4032504" y="5120640"/>
            <a:ext cx="1737360" cy="274320"/>
          </a:xfrm>
          <a:prstGeom prst="rect">
            <a:avLst/>
          </a:prstGeom>
          <a:solidFill>
            <a:srgbClr val="1F4A82"/>
          </a:solidFill>
          <a:ln/>
        </p:spPr>
      </p:sp>
      <p:pic>
        <p:nvPicPr>
          <p:cNvPr id="43" name="Image 6" descr="FaUserGraduate icon">    </p:cNvPr>
          <p:cNvPicPr>
            <a:picLocks noChangeAspect="1"/>
          </p:cNvPicPr>
          <p:nvPr/>
        </p:nvPicPr>
        <p:blipFill>
          <a:blip r:embed="rId7"/>
          <a:stretch>
            <a:fillRect/>
          </a:stretch>
        </p:blipFill>
        <p:spPr>
          <a:xfrm>
            <a:off x="4105656" y="5166360"/>
            <a:ext cx="182880" cy="182880"/>
          </a:xfrm>
          <a:prstGeom prst="rect">
            <a:avLst/>
          </a:prstGeom>
        </p:spPr>
      </p:pic>
      <p:sp>
        <p:nvSpPr>
          <p:cNvPr id="44" name="Text 35"/>
          <p:cNvSpPr txBox="1"/>
          <p:nvPr/>
        </p:nvSpPr>
        <p:spPr>
          <a:xfrm>
            <a:off x="4343400"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Student</a:t>
            </a:r>
            <a:endParaRPr lang="en-US" sz="1000" dirty="0"/>
          </a:p>
        </p:txBody>
      </p:sp>
      <p:sp>
        <p:nvSpPr>
          <p:cNvPr id="45" name="Text 36"/>
          <p:cNvSpPr txBox="1"/>
          <p:nvPr/>
        </p:nvSpPr>
        <p:spPr>
          <a:xfrm>
            <a:off x="4105656"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Phone (web app)</a:t>
            </a:r>
            <a:endParaRPr lang="en-US" sz="850" dirty="0"/>
          </a:p>
        </p:txBody>
      </p:sp>
      <p:sp>
        <p:nvSpPr>
          <p:cNvPr id="46" name="Text 37"/>
          <p:cNvSpPr txBox="1"/>
          <p:nvPr/>
        </p:nvSpPr>
        <p:spPr>
          <a:xfrm>
            <a:off x="4078224"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Own topic mastery</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Practice on weak topics</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Never a risk score</a:t>
            </a:r>
            <a:endParaRPr lang="en-US" sz="850" dirty="0"/>
          </a:p>
        </p:txBody>
      </p:sp>
      <p:sp>
        <p:nvSpPr>
          <p:cNvPr id="47" name="Shape 38"/>
          <p:cNvSpPr/>
          <p:nvPr/>
        </p:nvSpPr>
        <p:spPr>
          <a:xfrm>
            <a:off x="5843016" y="5120640"/>
            <a:ext cx="1737360" cy="1207008"/>
          </a:xfrm>
          <a:prstGeom prst="rect">
            <a:avLst/>
          </a:prstGeom>
          <a:solidFill>
            <a:srgbClr val="FFFFFF"/>
          </a:solidFill>
          <a:ln w="12700">
            <a:solidFill>
              <a:srgbClr val="C9D6E8"/>
            </a:solidFill>
            <a:prstDash val="solid"/>
          </a:ln>
        </p:spPr>
      </p:sp>
      <p:sp>
        <p:nvSpPr>
          <p:cNvPr id="48" name="Shape 39"/>
          <p:cNvSpPr/>
          <p:nvPr/>
        </p:nvSpPr>
        <p:spPr>
          <a:xfrm>
            <a:off x="5843016" y="5120640"/>
            <a:ext cx="1737360" cy="274320"/>
          </a:xfrm>
          <a:prstGeom prst="rect">
            <a:avLst/>
          </a:prstGeom>
          <a:solidFill>
            <a:srgbClr val="1F4A82"/>
          </a:solidFill>
          <a:ln/>
        </p:spPr>
      </p:sp>
      <p:pic>
        <p:nvPicPr>
          <p:cNvPr id="49" name="Image 7" descr="FaUsers icon">    </p:cNvPr>
          <p:cNvPicPr>
            <a:picLocks noChangeAspect="1"/>
          </p:cNvPicPr>
          <p:nvPr/>
        </p:nvPicPr>
        <p:blipFill>
          <a:blip r:embed="rId8"/>
          <a:stretch>
            <a:fillRect/>
          </a:stretch>
        </p:blipFill>
        <p:spPr>
          <a:xfrm>
            <a:off x="5916168" y="5166360"/>
            <a:ext cx="182880" cy="182880"/>
          </a:xfrm>
          <a:prstGeom prst="rect">
            <a:avLst/>
          </a:prstGeom>
        </p:spPr>
      </p:pic>
      <p:sp>
        <p:nvSpPr>
          <p:cNvPr id="50" name="Text 40"/>
          <p:cNvSpPr txBox="1"/>
          <p:nvPr/>
        </p:nvSpPr>
        <p:spPr>
          <a:xfrm>
            <a:off x="6153912" y="5120640"/>
            <a:ext cx="1389888" cy="274320"/>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Parent</a:t>
            </a:r>
            <a:endParaRPr lang="en-US" sz="1000" dirty="0"/>
          </a:p>
        </p:txBody>
      </p:sp>
      <p:sp>
        <p:nvSpPr>
          <p:cNvPr id="51" name="Text 41"/>
          <p:cNvSpPr txBox="1"/>
          <p:nvPr/>
        </p:nvSpPr>
        <p:spPr>
          <a:xfrm>
            <a:off x="5916168" y="5413248"/>
            <a:ext cx="1609344" cy="201168"/>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Phone or WhatsApp</a:t>
            </a:r>
            <a:endParaRPr lang="en-US" sz="850" dirty="0"/>
          </a:p>
        </p:txBody>
      </p:sp>
      <p:sp>
        <p:nvSpPr>
          <p:cNvPr id="52" name="Text 42"/>
          <p:cNvSpPr txBox="1"/>
          <p:nvPr/>
        </p:nvSpPr>
        <p:spPr>
          <a:xfrm>
            <a:off x="5888736" y="5614416"/>
            <a:ext cx="1664208" cy="713232"/>
          </a:xfrm>
          <a:prstGeom prst="rect">
            <a:avLst/>
          </a:prstGeom>
          <a:noFill/>
          <a:ln/>
        </p:spPr>
        <p:txBody>
          <a:bodyPr wrap="square" lIns="0" tIns="0" rIns="0" bIns="0" rtlCol="0" anchor="t"/>
          <a:lstStyle/>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Weekly Hindi / English note</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What improved, what next</a:t>
            </a:r>
            <a:endParaRPr lang="en-US" sz="850" dirty="0"/>
          </a:p>
          <a:p>
            <a:pPr algn="l" marL="152400" indent="-152400">
              <a:spcAft>
                <a:spcPts val="100"/>
              </a:spcAft>
              <a:buSzPct val="100000"/>
              <a:buChar char="•"/>
            </a:pPr>
            <a:r>
              <a:rPr lang="en-US" sz="850" dirty="0">
                <a:solidFill>
                  <a:srgbClr val="1F2937"/>
                </a:solidFill>
                <a:latin typeface="Calibri" pitchFamily="34" charset="0"/>
                <a:ea typeface="Calibri" pitchFamily="34" charset="-122"/>
                <a:cs typeface="Calibri" pitchFamily="34" charset="-120"/>
              </a:rPr>
              <a:t>No peer ranks</a:t>
            </a:r>
            <a:endParaRPr lang="en-US" sz="850" dirty="0"/>
          </a:p>
        </p:txBody>
      </p:sp>
      <p:sp>
        <p:nvSpPr>
          <p:cNvPr id="53" name="Shape 43"/>
          <p:cNvSpPr/>
          <p:nvPr/>
        </p:nvSpPr>
        <p:spPr>
          <a:xfrm>
            <a:off x="7772400" y="4800600"/>
            <a:ext cx="256032" cy="256032"/>
          </a:xfrm>
          <a:prstGeom prst="rect">
            <a:avLst/>
          </a:prstGeom>
          <a:solidFill>
            <a:srgbClr val="1F4A82"/>
          </a:solidFill>
          <a:ln/>
        </p:spPr>
      </p:sp>
      <p:sp>
        <p:nvSpPr>
          <p:cNvPr id="54" name="Text 44"/>
          <p:cNvSpPr txBox="1"/>
          <p:nvPr/>
        </p:nvSpPr>
        <p:spPr>
          <a:xfrm>
            <a:off x="7772400" y="480060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55" name="Text 45"/>
          <p:cNvSpPr txBox="1"/>
          <p:nvPr/>
        </p:nvSpPr>
        <p:spPr>
          <a:xfrm>
            <a:off x="8101584" y="4800600"/>
            <a:ext cx="3678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A WEEK WITH PRAGATI</a:t>
            </a:r>
            <a:endParaRPr lang="en-US" sz="1200" dirty="0"/>
          </a:p>
        </p:txBody>
      </p:sp>
      <p:sp>
        <p:nvSpPr>
          <p:cNvPr id="56" name="Shape 46"/>
          <p:cNvSpPr/>
          <p:nvPr/>
        </p:nvSpPr>
        <p:spPr>
          <a:xfrm>
            <a:off x="7772400" y="5129784"/>
            <a:ext cx="658368" cy="182880"/>
          </a:xfrm>
          <a:prstGeom prst="rect">
            <a:avLst/>
          </a:prstGeom>
          <a:solidFill>
            <a:srgbClr val="1F4A82"/>
          </a:solidFill>
          <a:ln/>
        </p:spPr>
      </p:sp>
      <p:sp>
        <p:nvSpPr>
          <p:cNvPr id="57" name="Text 47"/>
          <p:cNvSpPr txBox="1"/>
          <p:nvPr/>
        </p:nvSpPr>
        <p:spPr>
          <a:xfrm>
            <a:off x="7772400" y="5129784"/>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a:t>
            </a:r>
            <a:endParaRPr lang="en-US" sz="850" dirty="0"/>
          </a:p>
        </p:txBody>
      </p:sp>
      <p:sp>
        <p:nvSpPr>
          <p:cNvPr id="58" name="Text 48"/>
          <p:cNvSpPr txBox="1"/>
          <p:nvPr/>
        </p:nvSpPr>
        <p:spPr>
          <a:xfrm>
            <a:off x="8503920" y="5120640"/>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Weekly test on OMR; sheets scanned on a phone</a:t>
            </a:r>
            <a:endParaRPr lang="en-US" sz="900" dirty="0"/>
          </a:p>
        </p:txBody>
      </p:sp>
      <p:sp>
        <p:nvSpPr>
          <p:cNvPr id="59" name="Shape 49"/>
          <p:cNvSpPr/>
          <p:nvPr/>
        </p:nvSpPr>
        <p:spPr>
          <a:xfrm>
            <a:off x="7772400" y="5330952"/>
            <a:ext cx="658368" cy="182880"/>
          </a:xfrm>
          <a:prstGeom prst="rect">
            <a:avLst/>
          </a:prstGeom>
          <a:solidFill>
            <a:srgbClr val="2E6DB4"/>
          </a:solidFill>
          <a:ln/>
        </p:spPr>
      </p:sp>
      <p:sp>
        <p:nvSpPr>
          <p:cNvPr id="60" name="Text 50"/>
          <p:cNvSpPr txBox="1"/>
          <p:nvPr/>
        </p:nvSpPr>
        <p:spPr>
          <a:xfrm>
            <a:off x="7772400" y="5330952"/>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 pm</a:t>
            </a:r>
            <a:endParaRPr lang="en-US" sz="850" dirty="0"/>
          </a:p>
        </p:txBody>
      </p:sp>
      <p:sp>
        <p:nvSpPr>
          <p:cNvPr id="61" name="Text 51"/>
          <p:cNvSpPr txBox="1"/>
          <p:nvPr/>
        </p:nvSpPr>
        <p:spPr>
          <a:xfrm>
            <a:off x="8503920" y="5321808"/>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Topic map and wrong-key flags for the teacher</a:t>
            </a:r>
            <a:endParaRPr lang="en-US" sz="900" dirty="0"/>
          </a:p>
        </p:txBody>
      </p:sp>
      <p:sp>
        <p:nvSpPr>
          <p:cNvPr id="62" name="Shape 52"/>
          <p:cNvSpPr/>
          <p:nvPr/>
        </p:nvSpPr>
        <p:spPr>
          <a:xfrm>
            <a:off x="7772400" y="5532120"/>
            <a:ext cx="658368" cy="182880"/>
          </a:xfrm>
          <a:prstGeom prst="rect">
            <a:avLst/>
          </a:prstGeom>
          <a:solidFill>
            <a:srgbClr val="1F4A82"/>
          </a:solidFill>
          <a:ln/>
        </p:spPr>
      </p:sp>
      <p:sp>
        <p:nvSpPr>
          <p:cNvPr id="63" name="Text 53"/>
          <p:cNvSpPr txBox="1"/>
          <p:nvPr/>
        </p:nvSpPr>
        <p:spPr>
          <a:xfrm>
            <a:off x="7772400" y="5532120"/>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Tue</a:t>
            </a:r>
            <a:endParaRPr lang="en-US" sz="850" dirty="0"/>
          </a:p>
        </p:txBody>
      </p:sp>
      <p:sp>
        <p:nvSpPr>
          <p:cNvPr id="64" name="Text 54"/>
          <p:cNvSpPr txBox="1"/>
          <p:nvPr/>
        </p:nvSpPr>
        <p:spPr>
          <a:xfrm>
            <a:off x="8503920" y="5522976"/>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Mentor list of up to 8, each with reasons</a:t>
            </a:r>
            <a:endParaRPr lang="en-US" sz="900" dirty="0"/>
          </a:p>
        </p:txBody>
      </p:sp>
      <p:sp>
        <p:nvSpPr>
          <p:cNvPr id="65" name="Shape 55"/>
          <p:cNvSpPr/>
          <p:nvPr/>
        </p:nvSpPr>
        <p:spPr>
          <a:xfrm>
            <a:off x="7772400" y="5733288"/>
            <a:ext cx="658368" cy="182880"/>
          </a:xfrm>
          <a:prstGeom prst="rect">
            <a:avLst/>
          </a:prstGeom>
          <a:solidFill>
            <a:srgbClr val="2E6DB4"/>
          </a:solidFill>
          <a:ln/>
        </p:spPr>
      </p:sp>
      <p:sp>
        <p:nvSpPr>
          <p:cNvPr id="66" name="Text 56"/>
          <p:cNvSpPr txBox="1"/>
          <p:nvPr/>
        </p:nvSpPr>
        <p:spPr>
          <a:xfrm>
            <a:off x="7772400" y="5733288"/>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Wed</a:t>
            </a:r>
            <a:endParaRPr lang="en-US" sz="850" dirty="0"/>
          </a:p>
        </p:txBody>
      </p:sp>
      <p:sp>
        <p:nvSpPr>
          <p:cNvPr id="67" name="Text 57"/>
          <p:cNvSpPr txBox="1"/>
          <p:nvPr/>
        </p:nvSpPr>
        <p:spPr>
          <a:xfrm>
            <a:off x="8503920" y="5724144"/>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Remedial session for the weakest topic</a:t>
            </a:r>
            <a:endParaRPr lang="en-US" sz="900" dirty="0"/>
          </a:p>
        </p:txBody>
      </p:sp>
      <p:sp>
        <p:nvSpPr>
          <p:cNvPr id="68" name="Shape 58"/>
          <p:cNvSpPr/>
          <p:nvPr/>
        </p:nvSpPr>
        <p:spPr>
          <a:xfrm>
            <a:off x="7772400" y="5934456"/>
            <a:ext cx="658368" cy="182880"/>
          </a:xfrm>
          <a:prstGeom prst="rect">
            <a:avLst/>
          </a:prstGeom>
          <a:solidFill>
            <a:srgbClr val="1F4A82"/>
          </a:solidFill>
          <a:ln/>
        </p:spPr>
      </p:sp>
      <p:sp>
        <p:nvSpPr>
          <p:cNvPr id="69" name="Text 59"/>
          <p:cNvSpPr txBox="1"/>
          <p:nvPr/>
        </p:nvSpPr>
        <p:spPr>
          <a:xfrm>
            <a:off x="7772400" y="5934456"/>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Sat</a:t>
            </a:r>
            <a:endParaRPr lang="en-US" sz="850" dirty="0"/>
          </a:p>
        </p:txBody>
      </p:sp>
      <p:sp>
        <p:nvSpPr>
          <p:cNvPr id="70" name="Text 60"/>
          <p:cNvSpPr txBox="1"/>
          <p:nvPr/>
        </p:nvSpPr>
        <p:spPr>
          <a:xfrm>
            <a:off x="8503920" y="5925312"/>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Checked Hindi / English note to parents</a:t>
            </a:r>
            <a:endParaRPr lang="en-US" sz="900" dirty="0"/>
          </a:p>
        </p:txBody>
      </p:sp>
      <p:sp>
        <p:nvSpPr>
          <p:cNvPr id="71" name="Shape 61"/>
          <p:cNvSpPr/>
          <p:nvPr/>
        </p:nvSpPr>
        <p:spPr>
          <a:xfrm>
            <a:off x="7772400" y="6135624"/>
            <a:ext cx="658368" cy="182880"/>
          </a:xfrm>
          <a:prstGeom prst="rect">
            <a:avLst/>
          </a:prstGeom>
          <a:solidFill>
            <a:srgbClr val="2E6DB4"/>
          </a:solidFill>
          <a:ln/>
        </p:spPr>
      </p:sp>
      <p:sp>
        <p:nvSpPr>
          <p:cNvPr id="72" name="Text 62"/>
          <p:cNvSpPr txBox="1"/>
          <p:nvPr/>
        </p:nvSpPr>
        <p:spPr>
          <a:xfrm>
            <a:off x="7772400" y="6135624"/>
            <a:ext cx="658368" cy="1828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Month</a:t>
            </a:r>
            <a:endParaRPr lang="en-US" sz="850" dirty="0"/>
          </a:p>
        </p:txBody>
      </p:sp>
      <p:sp>
        <p:nvSpPr>
          <p:cNvPr id="73" name="Text 63"/>
          <p:cNvSpPr txBox="1"/>
          <p:nvPr/>
        </p:nvSpPr>
        <p:spPr>
          <a:xfrm>
            <a:off x="8503920" y="6126480"/>
            <a:ext cx="3276295" cy="20116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Owner sees actions taken and outcomes</a:t>
            </a:r>
            <a:endParaRPr lang="en-US" sz="900" dirty="0"/>
          </a:p>
        </p:txBody>
      </p:sp>
      <p:sp>
        <p:nvSpPr>
          <p:cNvPr id="74" name="Text 64"/>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with synthetic students. Both surfaces use one API; the phone app is a progressive web app installed from the browser (no app-store fee).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ystem architecture: capture, structure, intelligence, deliver, with a trust layer underneath">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LEARNING ANALYTICS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We estimate what each student knows, topic by topic, and tell the teacher how sure we are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ML RIGOUR 25 % · LEARNING ANALYTICS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4440555" y="6528816"/>
            <a:ext cx="1343025" cy="274320"/>
          </a:xfrm>
          <a:prstGeom prst="rect">
            <a:avLst/>
          </a:prstGeom>
          <a:solidFill>
            <a:srgbClr val="1F4A82"/>
          </a:solidFill>
          <a:ln/>
        </p:spPr>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892040" cy="301752"/>
          </a:xfrm>
          <a:prstGeom prst="rect">
            <a:avLst/>
          </a:prstGeom>
          <a:solidFill>
            <a:srgbClr val="1F4A82"/>
          </a:solidFill>
          <a:ln/>
        </p:spPr>
      </p:sp>
      <p:sp>
        <p:nvSpPr>
          <p:cNvPr id="17" name="Text 15"/>
          <p:cNvSpPr txBox="1"/>
          <p:nvPr/>
        </p:nvSpPr>
        <p:spPr>
          <a:xfrm>
            <a:off x="521208" y="1115568"/>
            <a:ext cx="46725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THE TEACHER SEES</a:t>
            </a:r>
            <a:endParaRPr lang="en-US" sz="1200" dirty="0"/>
          </a:p>
        </p:txBody>
      </p:sp>
      <p:sp>
        <p:nvSpPr>
          <p:cNvPr id="18" name="Shape 16"/>
          <p:cNvSpPr/>
          <p:nvPr/>
        </p:nvSpPr>
        <p:spPr>
          <a:xfrm>
            <a:off x="5358384" y="1115568"/>
            <a:ext cx="0" cy="5212080"/>
          </a:xfrm>
          <a:prstGeom prst="line">
            <a:avLst/>
          </a:prstGeom>
          <a:noFill/>
          <a:ln w="12700">
            <a:solidFill>
              <a:srgbClr val="8FA9CC"/>
            </a:solidFill>
            <a:prstDash val="dash"/>
          </a:ln>
        </p:spPr>
      </p:sp>
      <p:pic>
        <p:nvPicPr>
          <p:cNvPr id="19" name="Image 0" descr="Topic mastery heatmap (illustrative)">    </p:cNvPr>
          <p:cNvPicPr>
            <a:picLocks noChangeAspect="1"/>
          </p:cNvPicPr>
          <p:nvPr/>
        </p:nvPicPr>
        <p:blipFill>
          <a:blip r:embed="rId1"/>
          <a:stretch>
            <a:fillRect/>
          </a:stretch>
        </p:blipFill>
        <p:spPr>
          <a:xfrm>
            <a:off x="566928" y="1481328"/>
            <a:ext cx="4572000" cy="2569464"/>
          </a:xfrm>
          <a:prstGeom prst="rect">
            <a:avLst/>
          </a:prstGeom>
        </p:spPr>
      </p:pic>
      <p:sp>
        <p:nvSpPr>
          <p:cNvPr id="20" name="Shape 17"/>
          <p:cNvSpPr/>
          <p:nvPr/>
        </p:nvSpPr>
        <p:spPr>
          <a:xfrm>
            <a:off x="1097280" y="3822192"/>
            <a:ext cx="274320" cy="274320"/>
          </a:xfrm>
          <a:prstGeom prst="ellipse">
            <a:avLst/>
          </a:prstGeom>
          <a:solidFill>
            <a:srgbClr val="1F4A82"/>
          </a:solidFill>
          <a:ln w="19050">
            <a:solidFill>
              <a:srgbClr val="FFFFFF"/>
            </a:solidFill>
            <a:prstDash val="solid"/>
          </a:ln>
        </p:spPr>
      </p:sp>
      <p:sp>
        <p:nvSpPr>
          <p:cNvPr id="21" name="Text 18"/>
          <p:cNvSpPr txBox="1"/>
          <p:nvPr/>
        </p:nvSpPr>
        <p:spPr>
          <a:xfrm>
            <a:off x="1097280" y="38221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Shape 19"/>
          <p:cNvSpPr/>
          <p:nvPr/>
        </p:nvSpPr>
        <p:spPr>
          <a:xfrm>
            <a:off x="1947672" y="1664208"/>
            <a:ext cx="274320" cy="274320"/>
          </a:xfrm>
          <a:prstGeom prst="ellipse">
            <a:avLst/>
          </a:prstGeom>
          <a:solidFill>
            <a:srgbClr val="1F4A82"/>
          </a:solidFill>
          <a:ln w="19050">
            <a:solidFill>
              <a:srgbClr val="FFFFFF"/>
            </a:solidFill>
            <a:prstDash val="solid"/>
          </a:ln>
        </p:spPr>
      </p:sp>
      <p:sp>
        <p:nvSpPr>
          <p:cNvPr id="23" name="Text 20"/>
          <p:cNvSpPr txBox="1"/>
          <p:nvPr/>
        </p:nvSpPr>
        <p:spPr>
          <a:xfrm>
            <a:off x="1947672" y="16642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Shape 21"/>
          <p:cNvSpPr/>
          <p:nvPr/>
        </p:nvSpPr>
        <p:spPr>
          <a:xfrm>
            <a:off x="4160520" y="2834640"/>
            <a:ext cx="274320" cy="274320"/>
          </a:xfrm>
          <a:prstGeom prst="ellipse">
            <a:avLst/>
          </a:prstGeom>
          <a:solidFill>
            <a:srgbClr val="1F4A82"/>
          </a:solidFill>
          <a:ln w="19050">
            <a:solidFill>
              <a:srgbClr val="FFFFFF"/>
            </a:solidFill>
            <a:prstDash val="solid"/>
          </a:ln>
        </p:spPr>
      </p:sp>
      <p:sp>
        <p:nvSpPr>
          <p:cNvPr id="25" name="Text 22"/>
          <p:cNvSpPr txBox="1"/>
          <p:nvPr/>
        </p:nvSpPr>
        <p:spPr>
          <a:xfrm>
            <a:off x="4160520" y="28346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Shape 23"/>
          <p:cNvSpPr/>
          <p:nvPr/>
        </p:nvSpPr>
        <p:spPr>
          <a:xfrm>
            <a:off x="566928" y="4206240"/>
            <a:ext cx="237744" cy="237744"/>
          </a:xfrm>
          <a:prstGeom prst="ellipse">
            <a:avLst/>
          </a:prstGeom>
          <a:solidFill>
            <a:srgbClr val="1F4A82"/>
          </a:solidFill>
          <a:ln w="19050">
            <a:solidFill>
              <a:srgbClr val="FFFFFF"/>
            </a:solidFill>
            <a:prstDash val="solid"/>
          </a:ln>
        </p:spPr>
      </p:sp>
      <p:sp>
        <p:nvSpPr>
          <p:cNvPr id="27" name="Text 24"/>
          <p:cNvSpPr txBox="1"/>
          <p:nvPr/>
        </p:nvSpPr>
        <p:spPr>
          <a:xfrm>
            <a:off x="566928" y="42062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8" name="Text 25"/>
          <p:cNvSpPr txBox="1"/>
          <p:nvPr/>
        </p:nvSpPr>
        <p:spPr>
          <a:xfrm>
            <a:off x="914400" y="4160520"/>
            <a:ext cx="4251960"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Bands, not scores: building, steady, strong, or not enough data.</a:t>
            </a:r>
            <a:endParaRPr lang="en-US" sz="1050" dirty="0"/>
          </a:p>
        </p:txBody>
      </p:sp>
      <p:sp>
        <p:nvSpPr>
          <p:cNvPr id="29" name="Shape 26"/>
          <p:cNvSpPr/>
          <p:nvPr/>
        </p:nvSpPr>
        <p:spPr>
          <a:xfrm>
            <a:off x="566928" y="4663440"/>
            <a:ext cx="237744" cy="237744"/>
          </a:xfrm>
          <a:prstGeom prst="ellipse">
            <a:avLst/>
          </a:prstGeom>
          <a:solidFill>
            <a:srgbClr val="1F4A82"/>
          </a:solidFill>
          <a:ln w="19050">
            <a:solidFill>
              <a:srgbClr val="FFFFFF"/>
            </a:solidFill>
            <a:prstDash val="solid"/>
          </a:ln>
        </p:spPr>
      </p:sp>
      <p:sp>
        <p:nvSpPr>
          <p:cNvPr id="30" name="Text 27"/>
          <p:cNvSpPr txBox="1"/>
          <p:nvPr/>
        </p:nvSpPr>
        <p:spPr>
          <a:xfrm>
            <a:off x="566928" y="46634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914400" y="4617720"/>
            <a:ext cx="4251960"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column low for the whole batch means probably not taught yet, not weak students.</a:t>
            </a:r>
            <a:endParaRPr lang="en-US" sz="1050" dirty="0"/>
          </a:p>
        </p:txBody>
      </p:sp>
      <p:sp>
        <p:nvSpPr>
          <p:cNvPr id="32" name="Shape 29"/>
          <p:cNvSpPr/>
          <p:nvPr/>
        </p:nvSpPr>
        <p:spPr>
          <a:xfrm>
            <a:off x="566928" y="5120640"/>
            <a:ext cx="237744" cy="237744"/>
          </a:xfrm>
          <a:prstGeom prst="ellipse">
            <a:avLst/>
          </a:prstGeom>
          <a:solidFill>
            <a:srgbClr val="1F4A82"/>
          </a:solidFill>
          <a:ln w="19050">
            <a:solidFill>
              <a:srgbClr val="FFFFFF"/>
            </a:solidFill>
            <a:prstDash val="solid"/>
          </a:ln>
        </p:spPr>
      </p:sp>
      <p:sp>
        <p:nvSpPr>
          <p:cNvPr id="33" name="Text 30"/>
          <p:cNvSpPr txBox="1"/>
          <p:nvPr/>
        </p:nvSpPr>
        <p:spPr>
          <a:xfrm>
            <a:off x="566928" y="51206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4" name="Text 31"/>
          <p:cNvSpPr txBox="1"/>
          <p:nvPr/>
        </p:nvSpPr>
        <p:spPr>
          <a:xfrm>
            <a:off x="914400" y="5074920"/>
            <a:ext cx="4251960"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question the best students miss is flagged as a likely wrong answer key.</a:t>
            </a:r>
            <a:endParaRPr lang="en-US" sz="1050" dirty="0"/>
          </a:p>
        </p:txBody>
      </p:sp>
      <p:sp>
        <p:nvSpPr>
          <p:cNvPr id="35" name="Shape 32"/>
          <p:cNvSpPr/>
          <p:nvPr/>
        </p:nvSpPr>
        <p:spPr>
          <a:xfrm>
            <a:off x="566928" y="5623560"/>
            <a:ext cx="1609344" cy="219456"/>
          </a:xfrm>
          <a:prstGeom prst="roundRect">
            <a:avLst>
              <a:gd name="adj" fmla="val 50000"/>
            </a:avLst>
          </a:prstGeom>
          <a:solidFill>
            <a:srgbClr val="FFFFFF"/>
          </a:solidFill>
          <a:ln w="12700">
            <a:solidFill>
              <a:srgbClr val="5B6573"/>
            </a:solidFill>
            <a:prstDash val="solid"/>
          </a:ln>
        </p:spPr>
      </p:sp>
      <p:sp>
        <p:nvSpPr>
          <p:cNvPr id="36" name="Text 33"/>
          <p:cNvSpPr txBox="1"/>
          <p:nvPr/>
        </p:nvSpPr>
        <p:spPr>
          <a:xfrm>
            <a:off x="566928" y="562356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37" name="Shape 34"/>
          <p:cNvSpPr/>
          <p:nvPr/>
        </p:nvSpPr>
        <p:spPr>
          <a:xfrm>
            <a:off x="2514600" y="5623560"/>
            <a:ext cx="1197864" cy="219456"/>
          </a:xfrm>
          <a:prstGeom prst="roundRect">
            <a:avLst>
              <a:gd name="adj" fmla="val 50000"/>
            </a:avLst>
          </a:prstGeom>
          <a:solidFill>
            <a:srgbClr val="FFFFFF"/>
          </a:solidFill>
          <a:ln w="12700">
            <a:solidFill>
              <a:srgbClr val="1F4A82"/>
            </a:solidFill>
            <a:prstDash val="solid"/>
          </a:ln>
        </p:spPr>
      </p:sp>
      <p:sp>
        <p:nvSpPr>
          <p:cNvPr id="38" name="Text 35"/>
          <p:cNvSpPr txBox="1"/>
          <p:nvPr/>
        </p:nvSpPr>
        <p:spPr>
          <a:xfrm>
            <a:off x="2514600" y="5623560"/>
            <a:ext cx="119786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SYNTHETIC DATA</a:t>
            </a:r>
            <a:endParaRPr lang="en-US" sz="900" dirty="0"/>
          </a:p>
        </p:txBody>
      </p:sp>
      <p:sp>
        <p:nvSpPr>
          <p:cNvPr id="39" name="Shape 36"/>
          <p:cNvSpPr/>
          <p:nvPr/>
        </p:nvSpPr>
        <p:spPr>
          <a:xfrm>
            <a:off x="521208" y="5943600"/>
            <a:ext cx="4672584" cy="274320"/>
          </a:xfrm>
          <a:prstGeom prst="rect">
            <a:avLst/>
          </a:prstGeom>
          <a:solidFill>
            <a:srgbClr val="1F4A82"/>
          </a:solidFill>
          <a:ln/>
        </p:spPr>
      </p:sp>
      <p:sp>
        <p:nvSpPr>
          <p:cNvPr id="40" name="Text 37"/>
          <p:cNvSpPr txBox="1"/>
          <p:nvPr/>
        </p:nvSpPr>
        <p:spPr>
          <a:xfrm>
            <a:off x="658368" y="5943600"/>
            <a:ext cx="439826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Teacher view: topic-level, per student, per batch</a:t>
            </a:r>
            <a:endParaRPr lang="en-US" sz="1100" dirty="0"/>
          </a:p>
        </p:txBody>
      </p:sp>
      <p:sp>
        <p:nvSpPr>
          <p:cNvPr id="41" name="Shape 38"/>
          <p:cNvSpPr/>
          <p:nvPr/>
        </p:nvSpPr>
        <p:spPr>
          <a:xfrm>
            <a:off x="5394960" y="1115568"/>
            <a:ext cx="3154680" cy="301752"/>
          </a:xfrm>
          <a:prstGeom prst="rect">
            <a:avLst/>
          </a:prstGeom>
          <a:solidFill>
            <a:srgbClr val="2E6DB4"/>
          </a:solidFill>
          <a:ln/>
        </p:spPr>
      </p:sp>
      <p:sp>
        <p:nvSpPr>
          <p:cNvPr id="42" name="Text 39"/>
          <p:cNvSpPr txBox="1"/>
          <p:nvPr/>
        </p:nvSpPr>
        <p:spPr>
          <a:xfrm>
            <a:off x="5504688" y="1115568"/>
            <a:ext cx="29352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43" name="Shape 40"/>
          <p:cNvSpPr/>
          <p:nvPr/>
        </p:nvSpPr>
        <p:spPr>
          <a:xfrm>
            <a:off x="8604504" y="1115568"/>
            <a:ext cx="0" cy="5212080"/>
          </a:xfrm>
          <a:prstGeom prst="line">
            <a:avLst/>
          </a:prstGeom>
          <a:noFill/>
          <a:ln w="12700">
            <a:solidFill>
              <a:srgbClr val="8FA9CC"/>
            </a:solidFill>
            <a:prstDash val="dash"/>
          </a:ln>
        </p:spPr>
      </p:sp>
      <p:sp>
        <p:nvSpPr>
          <p:cNvPr id="44" name="Shape 41"/>
          <p:cNvSpPr/>
          <p:nvPr/>
        </p:nvSpPr>
        <p:spPr>
          <a:xfrm>
            <a:off x="5504688" y="1481328"/>
            <a:ext cx="2935224" cy="274320"/>
          </a:xfrm>
          <a:prstGeom prst="rect">
            <a:avLst/>
          </a:prstGeom>
          <a:solidFill>
            <a:srgbClr val="1F4A82"/>
          </a:solidFill>
          <a:ln/>
        </p:spPr>
      </p:sp>
      <p:sp>
        <p:nvSpPr>
          <p:cNvPr id="45" name="Text 42"/>
          <p:cNvSpPr txBox="1"/>
          <p:nvPr/>
        </p:nvSpPr>
        <p:spPr>
          <a:xfrm>
            <a:off x="5577840" y="1481328"/>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1  Answers and versioned keys</a:t>
            </a:r>
            <a:endParaRPr lang="en-US" sz="1100" dirty="0"/>
          </a:p>
        </p:txBody>
      </p:sp>
      <p:sp>
        <p:nvSpPr>
          <p:cNvPr id="46" name="Shape 43"/>
          <p:cNvSpPr/>
          <p:nvPr/>
        </p:nvSpPr>
        <p:spPr>
          <a:xfrm>
            <a:off x="5504688" y="1755648"/>
            <a:ext cx="2935224" cy="804672"/>
          </a:xfrm>
          <a:prstGeom prst="rect">
            <a:avLst/>
          </a:prstGeom>
          <a:solidFill>
            <a:srgbClr val="E3ECF7"/>
          </a:solidFill>
          <a:ln/>
        </p:spPr>
      </p:sp>
      <p:sp>
        <p:nvSpPr>
          <p:cNvPr id="47" name="Text 44"/>
          <p:cNvSpPr txBox="1"/>
          <p:nvPr/>
        </p:nvSpPr>
        <p:spPr>
          <a:xfrm>
            <a:off x="5577840" y="1783080"/>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Blank counts as wrong. Dropped and multi-correct items follow NTA rules; fixing a key re-scores everything.</a:t>
            </a:r>
            <a:endParaRPr lang="en-US" sz="1050" dirty="0"/>
          </a:p>
        </p:txBody>
      </p:sp>
      <p:sp>
        <p:nvSpPr>
          <p:cNvPr id="48" name="Shape 45"/>
          <p:cNvSpPr/>
          <p:nvPr/>
        </p:nvSpPr>
        <p:spPr>
          <a:xfrm>
            <a:off x="5504688" y="2651760"/>
            <a:ext cx="2935224" cy="274320"/>
          </a:xfrm>
          <a:prstGeom prst="rect">
            <a:avLst/>
          </a:prstGeom>
          <a:solidFill>
            <a:srgbClr val="1F4A82"/>
          </a:solidFill>
          <a:ln/>
        </p:spPr>
      </p:sp>
      <p:sp>
        <p:nvSpPr>
          <p:cNvPr id="49" name="Text 46"/>
          <p:cNvSpPr txBox="1"/>
          <p:nvPr/>
        </p:nvSpPr>
        <p:spPr>
          <a:xfrm>
            <a:off x="5577840" y="2651760"/>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2  Question difficulty</a:t>
            </a:r>
            <a:endParaRPr lang="en-US" sz="1100" dirty="0"/>
          </a:p>
        </p:txBody>
      </p:sp>
      <p:sp>
        <p:nvSpPr>
          <p:cNvPr id="50" name="Shape 47"/>
          <p:cNvSpPr/>
          <p:nvPr/>
        </p:nvSpPr>
        <p:spPr>
          <a:xfrm>
            <a:off x="5504688" y="2926080"/>
            <a:ext cx="2935224" cy="804672"/>
          </a:xfrm>
          <a:prstGeom prst="rect">
            <a:avLst/>
          </a:prstGeom>
          <a:solidFill>
            <a:srgbClr val="E3ECF7"/>
          </a:solidFill>
          <a:ln/>
        </p:spPr>
      </p:sp>
      <p:sp>
        <p:nvSpPr>
          <p:cNvPr id="51" name="Text 48"/>
          <p:cNvSpPr txBox="1"/>
          <p:nvPr/>
        </p:nvSpPr>
        <p:spPr>
          <a:xfrm>
            <a:off x="5577840" y="2953512"/>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2-parameter IRT with a guessing prior; Rasch for small samples. Negative discrimination flags a bad key.</a:t>
            </a:r>
            <a:endParaRPr lang="en-US" sz="1050" dirty="0"/>
          </a:p>
        </p:txBody>
      </p:sp>
      <p:sp>
        <p:nvSpPr>
          <p:cNvPr id="52" name="Shape 49"/>
          <p:cNvSpPr/>
          <p:nvPr/>
        </p:nvSpPr>
        <p:spPr>
          <a:xfrm>
            <a:off x="5504688" y="3822192"/>
            <a:ext cx="2935224" cy="274320"/>
          </a:xfrm>
          <a:prstGeom prst="rect">
            <a:avLst/>
          </a:prstGeom>
          <a:solidFill>
            <a:srgbClr val="1F4A82"/>
          </a:solidFill>
          <a:ln/>
        </p:spPr>
      </p:sp>
      <p:sp>
        <p:nvSpPr>
          <p:cNvPr id="53" name="Text 50"/>
          <p:cNvSpPr txBox="1"/>
          <p:nvPr/>
        </p:nvSpPr>
        <p:spPr>
          <a:xfrm>
            <a:off x="5577840" y="3822192"/>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3  Mastery per topic</a:t>
            </a:r>
            <a:endParaRPr lang="en-US" sz="1100" dirty="0"/>
          </a:p>
        </p:txBody>
      </p:sp>
      <p:sp>
        <p:nvSpPr>
          <p:cNvPr id="54" name="Shape 51"/>
          <p:cNvSpPr/>
          <p:nvPr/>
        </p:nvSpPr>
        <p:spPr>
          <a:xfrm>
            <a:off x="5504688" y="4096512"/>
            <a:ext cx="2935224" cy="804672"/>
          </a:xfrm>
          <a:prstGeom prst="rect">
            <a:avLst/>
          </a:prstGeom>
          <a:solidFill>
            <a:srgbClr val="E3ECF7"/>
          </a:solidFill>
          <a:ln/>
        </p:spPr>
      </p:sp>
      <p:sp>
        <p:nvSpPr>
          <p:cNvPr id="55" name="Text 52"/>
          <p:cNvSpPr txBox="1"/>
          <p:nvPr/>
        </p:nvSpPr>
        <p:spPr>
          <a:xfrm>
            <a:off x="5577840" y="4123944"/>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Shrunk toward the student's overall level and the batch; recent tests count more.</a:t>
            </a:r>
            <a:endParaRPr lang="en-US" sz="1050" dirty="0"/>
          </a:p>
        </p:txBody>
      </p:sp>
      <p:sp>
        <p:nvSpPr>
          <p:cNvPr id="56" name="Shape 53"/>
          <p:cNvSpPr/>
          <p:nvPr/>
        </p:nvSpPr>
        <p:spPr>
          <a:xfrm>
            <a:off x="5504688" y="4992624"/>
            <a:ext cx="2935224" cy="274320"/>
          </a:xfrm>
          <a:prstGeom prst="rect">
            <a:avLst/>
          </a:prstGeom>
          <a:solidFill>
            <a:srgbClr val="1F4A82"/>
          </a:solidFill>
          <a:ln/>
        </p:spPr>
      </p:sp>
      <p:sp>
        <p:nvSpPr>
          <p:cNvPr id="57" name="Text 54"/>
          <p:cNvSpPr txBox="1"/>
          <p:nvPr/>
        </p:nvSpPr>
        <p:spPr>
          <a:xfrm>
            <a:off x="5577840" y="4992624"/>
            <a:ext cx="2788920" cy="274320"/>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4  Bands with honesty</a:t>
            </a:r>
            <a:endParaRPr lang="en-US" sz="1100" dirty="0"/>
          </a:p>
        </p:txBody>
      </p:sp>
      <p:sp>
        <p:nvSpPr>
          <p:cNvPr id="58" name="Shape 55"/>
          <p:cNvSpPr/>
          <p:nvPr/>
        </p:nvSpPr>
        <p:spPr>
          <a:xfrm>
            <a:off x="5504688" y="5266944"/>
            <a:ext cx="2935224" cy="804672"/>
          </a:xfrm>
          <a:prstGeom prst="rect">
            <a:avLst/>
          </a:prstGeom>
          <a:solidFill>
            <a:srgbClr val="E3ECF7"/>
          </a:solidFill>
          <a:ln/>
        </p:spPr>
      </p:sp>
      <p:sp>
        <p:nvSpPr>
          <p:cNvPr id="59" name="Text 56"/>
          <p:cNvSpPr txBox="1"/>
          <p:nvPr/>
        </p:nvSpPr>
        <p:spPr>
          <a:xfrm>
            <a:off x="5577840" y="5294376"/>
            <a:ext cx="2788920" cy="749808"/>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A band appears only when the standard error is small; otherwise: not enough data.</a:t>
            </a:r>
            <a:endParaRPr lang="en-US" sz="1050" dirty="0"/>
          </a:p>
        </p:txBody>
      </p:sp>
      <p:sp>
        <p:nvSpPr>
          <p:cNvPr id="60" name="Shape 57"/>
          <p:cNvSpPr/>
          <p:nvPr/>
        </p:nvSpPr>
        <p:spPr>
          <a:xfrm>
            <a:off x="8686800" y="1115568"/>
            <a:ext cx="3093415" cy="301752"/>
          </a:xfrm>
          <a:prstGeom prst="rect">
            <a:avLst/>
          </a:prstGeom>
          <a:solidFill>
            <a:srgbClr val="1F4A82"/>
          </a:solidFill>
          <a:ln/>
        </p:spPr>
      </p:sp>
      <p:sp>
        <p:nvSpPr>
          <p:cNvPr id="61" name="Text 58"/>
          <p:cNvSpPr txBox="1"/>
          <p:nvPr/>
        </p:nvSpPr>
        <p:spPr>
          <a:xfrm>
            <a:off x="8796528" y="1115568"/>
            <a:ext cx="287395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EVIDENCE ON REAL DATA</a:t>
            </a:r>
            <a:endParaRPr lang="en-US" sz="1200" dirty="0"/>
          </a:p>
        </p:txBody>
      </p:sp>
      <p:pic>
        <p:nvPicPr>
          <p:cNvPr id="62" name="Image 1" descr="Knowledge tracing AUC: ours vs published">    </p:cNvPr>
          <p:cNvPicPr>
            <a:picLocks noChangeAspect="1"/>
          </p:cNvPicPr>
          <p:nvPr/>
        </p:nvPicPr>
        <p:blipFill>
          <a:blip r:embed="rId2"/>
          <a:stretch>
            <a:fillRect/>
          </a:stretch>
        </p:blipFill>
        <p:spPr>
          <a:xfrm>
            <a:off x="8778240" y="1481328"/>
            <a:ext cx="2910535" cy="1804532"/>
          </a:xfrm>
          <a:prstGeom prst="rect">
            <a:avLst/>
          </a:prstGeom>
        </p:spPr>
      </p:pic>
      <p:sp>
        <p:nvSpPr>
          <p:cNvPr id="63" name="Shape 59"/>
          <p:cNvSpPr/>
          <p:nvPr/>
        </p:nvSpPr>
        <p:spPr>
          <a:xfrm>
            <a:off x="8796528" y="3429000"/>
            <a:ext cx="992124" cy="219456"/>
          </a:xfrm>
          <a:prstGeom prst="roundRect">
            <a:avLst>
              <a:gd name="adj" fmla="val 50000"/>
            </a:avLst>
          </a:prstGeom>
          <a:solidFill>
            <a:srgbClr val="FFFFFF"/>
          </a:solidFill>
          <a:ln w="12700">
            <a:solidFill>
              <a:srgbClr val="1F4A82"/>
            </a:solidFill>
            <a:prstDash val="solid"/>
          </a:ln>
        </p:spPr>
      </p:sp>
      <p:sp>
        <p:nvSpPr>
          <p:cNvPr id="64" name="Text 60"/>
          <p:cNvSpPr txBox="1"/>
          <p:nvPr/>
        </p:nvSpPr>
        <p:spPr>
          <a:xfrm>
            <a:off x="8796528" y="342900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65" name="Text 61"/>
          <p:cNvSpPr txBox="1"/>
          <p:nvPr/>
        </p:nvSpPr>
        <p:spPr>
          <a:xfrm>
            <a:off x="8796528" y="3675888"/>
            <a:ext cx="287395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770 held-out students, 55,755 predictions, 5-fold, pyKT split. Our 95% interval: 0.756 to 0.779. AKT is higher than ours.</a:t>
            </a:r>
            <a:endParaRPr lang="en-US" sz="1000" dirty="0"/>
          </a:p>
        </p:txBody>
      </p:sp>
      <p:sp>
        <p:nvSpPr>
          <p:cNvPr id="66" name="Shape 62"/>
          <p:cNvSpPr/>
          <p:nvPr/>
        </p:nvSpPr>
        <p:spPr>
          <a:xfrm>
            <a:off x="8796528" y="4315968"/>
            <a:ext cx="2873959" cy="256032"/>
          </a:xfrm>
          <a:prstGeom prst="rect">
            <a:avLst/>
          </a:prstGeom>
          <a:solidFill>
            <a:srgbClr val="5B6573"/>
          </a:solidFill>
          <a:ln/>
        </p:spPr>
      </p:sp>
      <p:sp>
        <p:nvSpPr>
          <p:cNvPr id="67" name="Text 63"/>
          <p:cNvSpPr txBox="1"/>
          <p:nvPr/>
        </p:nvSpPr>
        <p:spPr>
          <a:xfrm>
            <a:off x="8869680" y="4315968"/>
            <a:ext cx="2727655"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SYNTHETIC-DATA RESULTS</a:t>
            </a:r>
            <a:endParaRPr lang="en-US" sz="1050" dirty="0"/>
          </a:p>
        </p:txBody>
      </p:sp>
      <p:sp>
        <p:nvSpPr>
          <p:cNvPr id="68" name="Shape 64"/>
          <p:cNvSpPr/>
          <p:nvPr/>
        </p:nvSpPr>
        <p:spPr>
          <a:xfrm>
            <a:off x="8796528" y="4572000"/>
            <a:ext cx="2873959" cy="347472"/>
          </a:xfrm>
          <a:prstGeom prst="rect">
            <a:avLst/>
          </a:prstGeom>
          <a:solidFill>
            <a:srgbClr val="F4F7FB"/>
          </a:solidFill>
          <a:ln/>
        </p:spPr>
      </p:sp>
      <p:sp>
        <p:nvSpPr>
          <p:cNvPr id="69" name="Text 65"/>
          <p:cNvSpPr txBox="1"/>
          <p:nvPr/>
        </p:nvSpPr>
        <p:spPr>
          <a:xfrm>
            <a:off x="8869680" y="4572000"/>
            <a:ext cx="1813255" cy="34747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Difficulty recovery vs students</a:t>
            </a:r>
            <a:endParaRPr lang="en-US" sz="1050" dirty="0"/>
          </a:p>
        </p:txBody>
      </p:sp>
      <p:sp>
        <p:nvSpPr>
          <p:cNvPr id="70" name="Shape 66"/>
          <p:cNvSpPr/>
          <p:nvPr/>
        </p:nvSpPr>
        <p:spPr>
          <a:xfrm>
            <a:off x="10820095" y="4645152"/>
            <a:ext cx="664464" cy="201168"/>
          </a:xfrm>
          <a:prstGeom prst="roundRect">
            <a:avLst>
              <a:gd name="adj" fmla="val 50000"/>
            </a:avLst>
          </a:prstGeom>
          <a:solidFill>
            <a:srgbClr val="D4A24C"/>
          </a:solidFill>
          <a:ln/>
        </p:spPr>
      </p:sp>
      <p:sp>
        <p:nvSpPr>
          <p:cNvPr id="71" name="Text 67"/>
          <p:cNvSpPr txBox="1"/>
          <p:nvPr/>
        </p:nvSpPr>
        <p:spPr>
          <a:xfrm>
            <a:off x="10820095" y="464515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72" name="Shape 68"/>
          <p:cNvSpPr/>
          <p:nvPr/>
        </p:nvSpPr>
        <p:spPr>
          <a:xfrm>
            <a:off x="8796528" y="4937760"/>
            <a:ext cx="2873959" cy="347472"/>
          </a:xfrm>
          <a:prstGeom prst="rect">
            <a:avLst/>
          </a:prstGeom>
          <a:solidFill>
            <a:srgbClr val="FFFFFF"/>
          </a:solidFill>
          <a:ln/>
        </p:spPr>
      </p:sp>
      <p:sp>
        <p:nvSpPr>
          <p:cNvPr id="73" name="Text 69"/>
          <p:cNvSpPr txBox="1"/>
          <p:nvPr/>
        </p:nvSpPr>
        <p:spPr>
          <a:xfrm>
            <a:off x="8869680" y="4937760"/>
            <a:ext cx="1813255" cy="34747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Wrong-key detection</a:t>
            </a:r>
            <a:endParaRPr lang="en-US" sz="1050" dirty="0"/>
          </a:p>
        </p:txBody>
      </p:sp>
      <p:sp>
        <p:nvSpPr>
          <p:cNvPr id="74" name="Shape 70"/>
          <p:cNvSpPr/>
          <p:nvPr/>
        </p:nvSpPr>
        <p:spPr>
          <a:xfrm>
            <a:off x="10820095" y="5010912"/>
            <a:ext cx="664464" cy="201168"/>
          </a:xfrm>
          <a:prstGeom prst="roundRect">
            <a:avLst>
              <a:gd name="adj" fmla="val 50000"/>
            </a:avLst>
          </a:prstGeom>
          <a:solidFill>
            <a:srgbClr val="D4A24C"/>
          </a:solidFill>
          <a:ln/>
        </p:spPr>
      </p:sp>
      <p:sp>
        <p:nvSpPr>
          <p:cNvPr id="75" name="Text 71"/>
          <p:cNvSpPr txBox="1"/>
          <p:nvPr/>
        </p:nvSpPr>
        <p:spPr>
          <a:xfrm>
            <a:off x="10820095" y="501091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76" name="Shape 72"/>
          <p:cNvSpPr/>
          <p:nvPr/>
        </p:nvSpPr>
        <p:spPr>
          <a:xfrm>
            <a:off x="8796528" y="5303520"/>
            <a:ext cx="2873959" cy="347472"/>
          </a:xfrm>
          <a:prstGeom prst="rect">
            <a:avLst/>
          </a:prstGeom>
          <a:solidFill>
            <a:srgbClr val="F4F7FB"/>
          </a:solidFill>
          <a:ln/>
        </p:spPr>
      </p:sp>
      <p:sp>
        <p:nvSpPr>
          <p:cNvPr id="77" name="Text 73"/>
          <p:cNvSpPr txBox="1"/>
          <p:nvPr/>
        </p:nvSpPr>
        <p:spPr>
          <a:xfrm>
            <a:off x="8869680" y="5303520"/>
            <a:ext cx="1813255" cy="347472"/>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Mastery vs raw % correct</a:t>
            </a:r>
            <a:endParaRPr lang="en-US" sz="1050" dirty="0"/>
          </a:p>
        </p:txBody>
      </p:sp>
      <p:sp>
        <p:nvSpPr>
          <p:cNvPr id="78" name="Shape 74"/>
          <p:cNvSpPr/>
          <p:nvPr/>
        </p:nvSpPr>
        <p:spPr>
          <a:xfrm>
            <a:off x="10820095" y="5376672"/>
            <a:ext cx="664464" cy="201168"/>
          </a:xfrm>
          <a:prstGeom prst="roundRect">
            <a:avLst>
              <a:gd name="adj" fmla="val 50000"/>
            </a:avLst>
          </a:prstGeom>
          <a:solidFill>
            <a:srgbClr val="D4A24C"/>
          </a:solidFill>
          <a:ln/>
        </p:spPr>
      </p:sp>
      <p:sp>
        <p:nvSpPr>
          <p:cNvPr id="79" name="Text 75"/>
          <p:cNvSpPr txBox="1"/>
          <p:nvPr/>
        </p:nvSpPr>
        <p:spPr>
          <a:xfrm>
            <a:off x="10820095" y="5376672"/>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80" name="Text 76"/>
          <p:cNvSpPr txBox="1"/>
          <p:nvPr/>
        </p:nvSpPr>
        <p:spPr>
          <a:xfrm>
            <a:off x="8796528" y="5715000"/>
            <a:ext cx="2873959" cy="457200"/>
          </a:xfrm>
          <a:prstGeom prst="rect">
            <a:avLst/>
          </a:prstGeom>
          <a:noFill/>
          <a:ln/>
        </p:spPr>
        <p:txBody>
          <a:bodyPr wrap="square" lIns="0" tIns="0" rIns="0" bIns="0" rtlCol="0" anchor="t"/>
          <a:lstStyle/>
          <a:p>
            <a:pPr algn="l" indent="0" marL="0">
              <a:buNone/>
            </a:pPr>
            <a:r>
              <a:rPr lang="en-US" sz="1000" dirty="0">
                <a:solidFill>
                  <a:srgbClr val="5B6573"/>
                </a:solidFill>
                <a:latin typeface="Calibri" pitchFamily="34" charset="0"/>
                <a:ea typeface="Calibri" pitchFamily="34" charset="-122"/>
                <a:cs typeface="Calibri" pitchFamily="34" charset="-120"/>
              </a:rPr>
              <a:t>Moat curve: difficulty accuracy as more students answer.</a:t>
            </a:r>
            <a:endParaRPr lang="en-US" sz="1000" dirty="0"/>
          </a:p>
        </p:txBody>
      </p:sp>
      <p:sp>
        <p:nvSpPr>
          <p:cNvPr id="81" name="Text 77"/>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(ASSISTments 2009, pyKT NeurIPS 2022 reference values); screens are illustrative. Difficulty and mastery results on synthetic data are pending.</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EARLY WARNING</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Each week a mentor gets a short list: who to call, why, and what to offer</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ML RIGOUR 25 % · EARLY WARNING</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4440555" y="6528816"/>
            <a:ext cx="1343025" cy="274320"/>
          </a:xfrm>
          <a:prstGeom prst="rect">
            <a:avLst/>
          </a:prstGeom>
          <a:solidFill>
            <a:srgbClr val="1F4A82"/>
          </a:solidFill>
          <a:ln/>
        </p:spPr>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572000" cy="301752"/>
          </a:xfrm>
          <a:prstGeom prst="rect">
            <a:avLst/>
          </a:prstGeom>
          <a:solidFill>
            <a:srgbClr val="1F4A82"/>
          </a:solidFill>
          <a:ln/>
        </p:spPr>
      </p:sp>
      <p:sp>
        <p:nvSpPr>
          <p:cNvPr id="17" name="Text 15"/>
          <p:cNvSpPr txBox="1"/>
          <p:nvPr/>
        </p:nvSpPr>
        <p:spPr>
          <a:xfrm>
            <a:off x="521208" y="1115568"/>
            <a:ext cx="43525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WHAT THE MENTOR SEES</a:t>
            </a:r>
            <a:endParaRPr lang="en-US" sz="1200" dirty="0"/>
          </a:p>
        </p:txBody>
      </p:sp>
      <p:sp>
        <p:nvSpPr>
          <p:cNvPr id="18" name="Shape 16"/>
          <p:cNvSpPr/>
          <p:nvPr/>
        </p:nvSpPr>
        <p:spPr>
          <a:xfrm>
            <a:off x="5038344" y="1115568"/>
            <a:ext cx="0" cy="5212080"/>
          </a:xfrm>
          <a:prstGeom prst="line">
            <a:avLst/>
          </a:prstGeom>
          <a:noFill/>
          <a:ln w="12700">
            <a:solidFill>
              <a:srgbClr val="8FA9CC"/>
            </a:solidFill>
            <a:prstDash val="dash"/>
          </a:ln>
        </p:spPr>
      </p:sp>
      <p:pic>
        <p:nvPicPr>
          <p:cNvPr id="19" name="Image 0" descr="Support list (illustrative)">    </p:cNvPr>
          <p:cNvPicPr>
            <a:picLocks noChangeAspect="1"/>
          </p:cNvPicPr>
          <p:nvPr/>
        </p:nvPicPr>
        <p:blipFill>
          <a:blip r:embed="rId1"/>
          <a:stretch>
            <a:fillRect/>
          </a:stretch>
        </p:blipFill>
        <p:spPr>
          <a:xfrm>
            <a:off x="502920" y="1463040"/>
            <a:ext cx="4389120" cy="2468880"/>
          </a:xfrm>
          <a:prstGeom prst="rect">
            <a:avLst/>
          </a:prstGeom>
        </p:spPr>
      </p:pic>
      <p:sp>
        <p:nvSpPr>
          <p:cNvPr id="20" name="Shape 17"/>
          <p:cNvSpPr/>
          <p:nvPr/>
        </p:nvSpPr>
        <p:spPr>
          <a:xfrm>
            <a:off x="3794760" y="1965960"/>
            <a:ext cx="274320" cy="274320"/>
          </a:xfrm>
          <a:prstGeom prst="ellipse">
            <a:avLst/>
          </a:prstGeom>
          <a:solidFill>
            <a:srgbClr val="1F4A82"/>
          </a:solidFill>
          <a:ln w="19050">
            <a:solidFill>
              <a:srgbClr val="FFFFFF"/>
            </a:solidFill>
            <a:prstDash val="solid"/>
          </a:ln>
        </p:spPr>
      </p:sp>
      <p:sp>
        <p:nvSpPr>
          <p:cNvPr id="21" name="Text 18"/>
          <p:cNvSpPr txBox="1"/>
          <p:nvPr/>
        </p:nvSpPr>
        <p:spPr>
          <a:xfrm>
            <a:off x="3794760" y="196596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Shape 19"/>
          <p:cNvSpPr/>
          <p:nvPr/>
        </p:nvSpPr>
        <p:spPr>
          <a:xfrm>
            <a:off x="2423160" y="2148840"/>
            <a:ext cx="274320" cy="274320"/>
          </a:xfrm>
          <a:prstGeom prst="ellipse">
            <a:avLst/>
          </a:prstGeom>
          <a:solidFill>
            <a:srgbClr val="1F4A82"/>
          </a:solidFill>
          <a:ln w="19050">
            <a:solidFill>
              <a:srgbClr val="FFFFFF"/>
            </a:solidFill>
            <a:prstDash val="solid"/>
          </a:ln>
        </p:spPr>
      </p:sp>
      <p:sp>
        <p:nvSpPr>
          <p:cNvPr id="23" name="Text 20"/>
          <p:cNvSpPr txBox="1"/>
          <p:nvPr/>
        </p:nvSpPr>
        <p:spPr>
          <a:xfrm>
            <a:off x="2423160" y="2148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4" name="Text 21"/>
          <p:cNvSpPr txBox="1"/>
          <p:nvPr/>
        </p:nvSpPr>
        <p:spPr>
          <a:xfrm>
            <a:off x="502920" y="3977640"/>
            <a:ext cx="4389120" cy="237744"/>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ROUTING BY AGE AND PURPOSE</a:t>
            </a:r>
            <a:endParaRPr lang="en-US" sz="1050" dirty="0"/>
          </a:p>
        </p:txBody>
      </p:sp>
      <p:sp>
        <p:nvSpPr>
          <p:cNvPr id="25" name="Shape 22"/>
          <p:cNvSpPr/>
          <p:nvPr/>
        </p:nvSpPr>
        <p:spPr>
          <a:xfrm>
            <a:off x="502920" y="4224528"/>
            <a:ext cx="1188720" cy="256032"/>
          </a:xfrm>
          <a:prstGeom prst="rect">
            <a:avLst/>
          </a:prstGeom>
          <a:solidFill>
            <a:srgbClr val="1F4A82"/>
          </a:solidFill>
          <a:ln/>
        </p:spPr>
      </p:sp>
      <p:sp>
        <p:nvSpPr>
          <p:cNvPr id="26" name="Text 23"/>
          <p:cNvSpPr txBox="1"/>
          <p:nvPr/>
        </p:nvSpPr>
        <p:spPr>
          <a:xfrm>
            <a:off x="548640" y="4224528"/>
            <a:ext cx="1097280" cy="256032"/>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1691640" y="4224528"/>
            <a:ext cx="1097280" cy="256032"/>
          </a:xfrm>
          <a:prstGeom prst="rect">
            <a:avLst/>
          </a:prstGeom>
          <a:solidFill>
            <a:srgbClr val="1F4A82"/>
          </a:solidFill>
          <a:ln/>
        </p:spPr>
      </p:sp>
      <p:sp>
        <p:nvSpPr>
          <p:cNvPr id="28" name="Text 25"/>
          <p:cNvSpPr txBox="1"/>
          <p:nvPr/>
        </p:nvSpPr>
        <p:spPr>
          <a:xfrm>
            <a:off x="1737360" y="4224528"/>
            <a:ext cx="100584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Academic support</a:t>
            </a:r>
            <a:endParaRPr lang="en-US" sz="1000" dirty="0"/>
          </a:p>
        </p:txBody>
      </p:sp>
      <p:sp>
        <p:nvSpPr>
          <p:cNvPr id="29" name="Shape 26"/>
          <p:cNvSpPr/>
          <p:nvPr/>
        </p:nvSpPr>
        <p:spPr>
          <a:xfrm>
            <a:off x="2788920" y="4224528"/>
            <a:ext cx="1051560" cy="256032"/>
          </a:xfrm>
          <a:prstGeom prst="rect">
            <a:avLst/>
          </a:prstGeom>
          <a:solidFill>
            <a:srgbClr val="1F4A82"/>
          </a:solidFill>
          <a:ln/>
        </p:spPr>
      </p:sp>
      <p:sp>
        <p:nvSpPr>
          <p:cNvPr id="30" name="Text 27"/>
          <p:cNvSpPr txBox="1"/>
          <p:nvPr/>
        </p:nvSpPr>
        <p:spPr>
          <a:xfrm>
            <a:off x="2834640" y="4224528"/>
            <a:ext cx="9601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Dropout</a:t>
            </a:r>
            <a:endParaRPr lang="en-US" sz="1000" dirty="0"/>
          </a:p>
        </p:txBody>
      </p:sp>
      <p:sp>
        <p:nvSpPr>
          <p:cNvPr id="31" name="Shape 28"/>
          <p:cNvSpPr/>
          <p:nvPr/>
        </p:nvSpPr>
        <p:spPr>
          <a:xfrm>
            <a:off x="3840480" y="4224528"/>
            <a:ext cx="1051560" cy="256032"/>
          </a:xfrm>
          <a:prstGeom prst="rect">
            <a:avLst/>
          </a:prstGeom>
          <a:solidFill>
            <a:srgbClr val="1F4A82"/>
          </a:solidFill>
          <a:ln/>
        </p:spPr>
      </p:sp>
      <p:sp>
        <p:nvSpPr>
          <p:cNvPr id="32" name="Text 29"/>
          <p:cNvSpPr txBox="1"/>
          <p:nvPr/>
        </p:nvSpPr>
        <p:spPr>
          <a:xfrm>
            <a:off x="3886200" y="4224528"/>
            <a:ext cx="9601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Fees</a:t>
            </a:r>
            <a:endParaRPr lang="en-US" sz="1000" dirty="0"/>
          </a:p>
        </p:txBody>
      </p:sp>
      <p:sp>
        <p:nvSpPr>
          <p:cNvPr id="33" name="Shape 30"/>
          <p:cNvSpPr/>
          <p:nvPr/>
        </p:nvSpPr>
        <p:spPr>
          <a:xfrm>
            <a:off x="502920" y="4480560"/>
            <a:ext cx="1188720" cy="310896"/>
          </a:xfrm>
          <a:prstGeom prst="rect">
            <a:avLst/>
          </a:prstGeom>
          <a:solidFill>
            <a:srgbClr val="F1F7F3"/>
          </a:solidFill>
          <a:ln/>
        </p:spPr>
      </p:sp>
      <p:sp>
        <p:nvSpPr>
          <p:cNvPr id="34" name="Text 31"/>
          <p:cNvSpPr txBox="1"/>
          <p:nvPr/>
        </p:nvSpPr>
        <p:spPr>
          <a:xfrm>
            <a:off x="548640" y="4480560"/>
            <a:ext cx="1097280" cy="310896"/>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Under 18</a:t>
            </a:r>
            <a:endParaRPr lang="en-US" sz="1000" dirty="0"/>
          </a:p>
        </p:txBody>
      </p:sp>
      <p:sp>
        <p:nvSpPr>
          <p:cNvPr id="35" name="Shape 32"/>
          <p:cNvSpPr/>
          <p:nvPr/>
        </p:nvSpPr>
        <p:spPr>
          <a:xfrm>
            <a:off x="1691640" y="4480560"/>
            <a:ext cx="1097280" cy="310896"/>
          </a:xfrm>
          <a:prstGeom prst="rect">
            <a:avLst/>
          </a:prstGeom>
          <a:solidFill>
            <a:srgbClr val="D6E4F5"/>
          </a:solidFill>
          <a:ln/>
        </p:spPr>
      </p:sp>
      <p:sp>
        <p:nvSpPr>
          <p:cNvPr id="36" name="Text 33"/>
          <p:cNvSpPr txBox="1"/>
          <p:nvPr/>
        </p:nvSpPr>
        <p:spPr>
          <a:xfrm>
            <a:off x="1737360" y="4480560"/>
            <a:ext cx="100584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37" name="Shape 34"/>
          <p:cNvSpPr/>
          <p:nvPr/>
        </p:nvSpPr>
        <p:spPr>
          <a:xfrm>
            <a:off x="2788920" y="4480560"/>
            <a:ext cx="1051560" cy="310896"/>
          </a:xfrm>
          <a:prstGeom prst="rect">
            <a:avLst/>
          </a:prstGeom>
          <a:solidFill>
            <a:srgbClr val="F1E8D3"/>
          </a:solidFill>
          <a:ln/>
        </p:spPr>
      </p:sp>
      <p:sp>
        <p:nvSpPr>
          <p:cNvPr id="38" name="Text 35"/>
          <p:cNvSpPr txBox="1"/>
          <p:nvPr/>
        </p:nvSpPr>
        <p:spPr>
          <a:xfrm>
            <a:off x="2834640" y="4480560"/>
            <a:ext cx="960120" cy="310896"/>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39" name="Shape 36"/>
          <p:cNvSpPr/>
          <p:nvPr/>
        </p:nvSpPr>
        <p:spPr>
          <a:xfrm>
            <a:off x="3840480" y="4480560"/>
            <a:ext cx="1051560" cy="310896"/>
          </a:xfrm>
          <a:prstGeom prst="rect">
            <a:avLst/>
          </a:prstGeom>
          <a:solidFill>
            <a:srgbClr val="F1E8D3"/>
          </a:solidFill>
          <a:ln/>
        </p:spPr>
      </p:sp>
      <p:sp>
        <p:nvSpPr>
          <p:cNvPr id="40" name="Text 37"/>
          <p:cNvSpPr txBox="1"/>
          <p:nvPr/>
        </p:nvSpPr>
        <p:spPr>
          <a:xfrm>
            <a:off x="3886200" y="4480560"/>
            <a:ext cx="960120" cy="310896"/>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41" name="Shape 38"/>
          <p:cNvSpPr/>
          <p:nvPr/>
        </p:nvSpPr>
        <p:spPr>
          <a:xfrm>
            <a:off x="502920" y="4791456"/>
            <a:ext cx="4389120" cy="0"/>
          </a:xfrm>
          <a:prstGeom prst="line">
            <a:avLst/>
          </a:prstGeom>
          <a:noFill/>
          <a:ln w="6350">
            <a:solidFill>
              <a:srgbClr val="E3E8E4"/>
            </a:solidFill>
            <a:prstDash val="solid"/>
          </a:ln>
        </p:spPr>
      </p:sp>
      <p:sp>
        <p:nvSpPr>
          <p:cNvPr id="42" name="Shape 39"/>
          <p:cNvSpPr/>
          <p:nvPr/>
        </p:nvSpPr>
        <p:spPr>
          <a:xfrm>
            <a:off x="502920" y="4791456"/>
            <a:ext cx="1188720" cy="310896"/>
          </a:xfrm>
          <a:prstGeom prst="rect">
            <a:avLst/>
          </a:prstGeom>
          <a:solidFill>
            <a:srgbClr val="FFFFFF"/>
          </a:solidFill>
          <a:ln/>
        </p:spPr>
      </p:sp>
      <p:sp>
        <p:nvSpPr>
          <p:cNvPr id="43" name="Text 40"/>
          <p:cNvSpPr txBox="1"/>
          <p:nvPr/>
        </p:nvSpPr>
        <p:spPr>
          <a:xfrm>
            <a:off x="548640" y="4791456"/>
            <a:ext cx="1097280" cy="310896"/>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18 and over</a:t>
            </a:r>
            <a:endParaRPr lang="en-US" sz="1000" dirty="0"/>
          </a:p>
        </p:txBody>
      </p:sp>
      <p:sp>
        <p:nvSpPr>
          <p:cNvPr id="44" name="Shape 41"/>
          <p:cNvSpPr/>
          <p:nvPr/>
        </p:nvSpPr>
        <p:spPr>
          <a:xfrm>
            <a:off x="1691640" y="4791456"/>
            <a:ext cx="1097280" cy="310896"/>
          </a:xfrm>
          <a:prstGeom prst="rect">
            <a:avLst/>
          </a:prstGeom>
          <a:solidFill>
            <a:srgbClr val="D6E4F5"/>
          </a:solidFill>
          <a:ln/>
        </p:spPr>
      </p:sp>
      <p:sp>
        <p:nvSpPr>
          <p:cNvPr id="45" name="Text 42"/>
          <p:cNvSpPr txBox="1"/>
          <p:nvPr/>
        </p:nvSpPr>
        <p:spPr>
          <a:xfrm>
            <a:off x="1737360" y="4791456"/>
            <a:ext cx="100584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6" name="Shape 43"/>
          <p:cNvSpPr/>
          <p:nvPr/>
        </p:nvSpPr>
        <p:spPr>
          <a:xfrm>
            <a:off x="2788920" y="4791456"/>
            <a:ext cx="1051560" cy="310896"/>
          </a:xfrm>
          <a:prstGeom prst="rect">
            <a:avLst/>
          </a:prstGeom>
          <a:solidFill>
            <a:srgbClr val="D6E4F5"/>
          </a:solidFill>
          <a:ln/>
        </p:spPr>
      </p:sp>
      <p:sp>
        <p:nvSpPr>
          <p:cNvPr id="47" name="Text 44"/>
          <p:cNvSpPr txBox="1"/>
          <p:nvPr/>
        </p:nvSpPr>
        <p:spPr>
          <a:xfrm>
            <a:off x="2834640" y="4791456"/>
            <a:ext cx="96012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8" name="Shape 45"/>
          <p:cNvSpPr/>
          <p:nvPr/>
        </p:nvSpPr>
        <p:spPr>
          <a:xfrm>
            <a:off x="3840480" y="4791456"/>
            <a:ext cx="1051560" cy="310896"/>
          </a:xfrm>
          <a:prstGeom prst="rect">
            <a:avLst/>
          </a:prstGeom>
          <a:solidFill>
            <a:srgbClr val="D6E4F5"/>
          </a:solidFill>
          <a:ln/>
        </p:spPr>
      </p:sp>
      <p:sp>
        <p:nvSpPr>
          <p:cNvPr id="49" name="Text 46"/>
          <p:cNvSpPr txBox="1"/>
          <p:nvPr/>
        </p:nvSpPr>
        <p:spPr>
          <a:xfrm>
            <a:off x="3886200" y="4791456"/>
            <a:ext cx="96012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0" name="Shape 47"/>
          <p:cNvSpPr/>
          <p:nvPr/>
        </p:nvSpPr>
        <p:spPr>
          <a:xfrm>
            <a:off x="502920" y="5102352"/>
            <a:ext cx="4389120" cy="0"/>
          </a:xfrm>
          <a:prstGeom prst="line">
            <a:avLst/>
          </a:prstGeom>
          <a:noFill/>
          <a:ln w="6350">
            <a:solidFill>
              <a:srgbClr val="E3E8E4"/>
            </a:solidFill>
            <a:prstDash val="solid"/>
          </a:ln>
        </p:spPr>
      </p:sp>
      <p:sp>
        <p:nvSpPr>
          <p:cNvPr id="51" name="Shape 48"/>
          <p:cNvSpPr/>
          <p:nvPr/>
        </p:nvSpPr>
        <p:spPr>
          <a:xfrm>
            <a:off x="502920" y="5102352"/>
            <a:ext cx="1188720" cy="310896"/>
          </a:xfrm>
          <a:prstGeom prst="rect">
            <a:avLst/>
          </a:prstGeom>
          <a:solidFill>
            <a:srgbClr val="F1F7F3"/>
          </a:solidFill>
          <a:ln/>
        </p:spPr>
      </p:sp>
      <p:sp>
        <p:nvSpPr>
          <p:cNvPr id="52" name="Text 49"/>
          <p:cNvSpPr txBox="1"/>
          <p:nvPr/>
        </p:nvSpPr>
        <p:spPr>
          <a:xfrm>
            <a:off x="548640" y="5102352"/>
            <a:ext cx="1097280" cy="310896"/>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Minors, legal opinion</a:t>
            </a:r>
            <a:endParaRPr lang="en-US" sz="1000" dirty="0"/>
          </a:p>
        </p:txBody>
      </p:sp>
      <p:sp>
        <p:nvSpPr>
          <p:cNvPr id="53" name="Shape 50"/>
          <p:cNvSpPr/>
          <p:nvPr/>
        </p:nvSpPr>
        <p:spPr>
          <a:xfrm>
            <a:off x="1691640" y="5102352"/>
            <a:ext cx="1097280" cy="310896"/>
          </a:xfrm>
          <a:prstGeom prst="rect">
            <a:avLst/>
          </a:prstGeom>
          <a:solidFill>
            <a:srgbClr val="D6E4F5"/>
          </a:solidFill>
          <a:ln/>
        </p:spPr>
      </p:sp>
      <p:sp>
        <p:nvSpPr>
          <p:cNvPr id="54" name="Text 51"/>
          <p:cNvSpPr txBox="1"/>
          <p:nvPr/>
        </p:nvSpPr>
        <p:spPr>
          <a:xfrm>
            <a:off x="1737360" y="5102352"/>
            <a:ext cx="100584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5" name="Shape 52"/>
          <p:cNvSpPr/>
          <p:nvPr/>
        </p:nvSpPr>
        <p:spPr>
          <a:xfrm>
            <a:off x="2788920" y="5102352"/>
            <a:ext cx="1051560" cy="310896"/>
          </a:xfrm>
          <a:prstGeom prst="rect">
            <a:avLst/>
          </a:prstGeom>
          <a:solidFill>
            <a:srgbClr val="D6E4F5"/>
          </a:solidFill>
          <a:ln/>
        </p:spPr>
      </p:sp>
      <p:sp>
        <p:nvSpPr>
          <p:cNvPr id="56" name="Text 53"/>
          <p:cNvSpPr txBox="1"/>
          <p:nvPr/>
        </p:nvSpPr>
        <p:spPr>
          <a:xfrm>
            <a:off x="2834640" y="5102352"/>
            <a:ext cx="960120" cy="310896"/>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7" name="Shape 54"/>
          <p:cNvSpPr/>
          <p:nvPr/>
        </p:nvSpPr>
        <p:spPr>
          <a:xfrm>
            <a:off x="3840480" y="5102352"/>
            <a:ext cx="1051560" cy="310896"/>
          </a:xfrm>
          <a:prstGeom prst="rect">
            <a:avLst/>
          </a:prstGeom>
          <a:solidFill>
            <a:srgbClr val="F1E8D3"/>
          </a:solidFill>
          <a:ln/>
        </p:spPr>
      </p:sp>
      <p:sp>
        <p:nvSpPr>
          <p:cNvPr id="58" name="Text 55"/>
          <p:cNvSpPr txBox="1"/>
          <p:nvPr/>
        </p:nvSpPr>
        <p:spPr>
          <a:xfrm>
            <a:off x="3886200" y="5102352"/>
            <a:ext cx="960120" cy="310896"/>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59" name="Shape 56"/>
          <p:cNvSpPr/>
          <p:nvPr/>
        </p:nvSpPr>
        <p:spPr>
          <a:xfrm>
            <a:off x="502920" y="5413248"/>
            <a:ext cx="4389120" cy="0"/>
          </a:xfrm>
          <a:prstGeom prst="line">
            <a:avLst/>
          </a:prstGeom>
          <a:noFill/>
          <a:ln w="6350">
            <a:solidFill>
              <a:srgbClr val="E3E8E4"/>
            </a:solidFill>
            <a:prstDash val="solid"/>
          </a:ln>
        </p:spPr>
      </p:sp>
      <p:sp>
        <p:nvSpPr>
          <p:cNvPr id="60" name="Text 57"/>
          <p:cNvSpPr txBox="1"/>
          <p:nvPr/>
        </p:nvSpPr>
        <p:spPr>
          <a:xfrm>
            <a:off x="502920" y="5468112"/>
            <a:ext cx="4389120" cy="36576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Never used for minors: app activity tracking. Flags persist until resolved; list capped at mentor capacity.</a:t>
            </a:r>
            <a:endParaRPr lang="en-US" sz="950" dirty="0"/>
          </a:p>
        </p:txBody>
      </p:sp>
      <p:sp>
        <p:nvSpPr>
          <p:cNvPr id="61" name="Shape 58"/>
          <p:cNvSpPr/>
          <p:nvPr/>
        </p:nvSpPr>
        <p:spPr>
          <a:xfrm>
            <a:off x="502920" y="5852160"/>
            <a:ext cx="1609344" cy="219456"/>
          </a:xfrm>
          <a:prstGeom prst="roundRect">
            <a:avLst>
              <a:gd name="adj" fmla="val 50000"/>
            </a:avLst>
          </a:prstGeom>
          <a:solidFill>
            <a:srgbClr val="FFFFFF"/>
          </a:solidFill>
          <a:ln w="12700">
            <a:solidFill>
              <a:srgbClr val="5B6573"/>
            </a:solidFill>
            <a:prstDash val="solid"/>
          </a:ln>
        </p:spPr>
      </p:sp>
      <p:sp>
        <p:nvSpPr>
          <p:cNvPr id="62" name="Text 59"/>
          <p:cNvSpPr txBox="1"/>
          <p:nvPr/>
        </p:nvSpPr>
        <p:spPr>
          <a:xfrm>
            <a:off x="502920" y="585216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63" name="Shape 60"/>
          <p:cNvSpPr/>
          <p:nvPr/>
        </p:nvSpPr>
        <p:spPr>
          <a:xfrm>
            <a:off x="502920" y="6053328"/>
            <a:ext cx="4389120" cy="246888"/>
          </a:xfrm>
          <a:prstGeom prst="rect">
            <a:avLst/>
          </a:prstGeom>
          <a:solidFill>
            <a:srgbClr val="1F4A82"/>
          </a:solidFill>
          <a:ln/>
        </p:spPr>
      </p:sp>
      <p:sp>
        <p:nvSpPr>
          <p:cNvPr id="64" name="Text 61"/>
          <p:cNvSpPr txBox="1"/>
          <p:nvPr/>
        </p:nvSpPr>
        <p:spPr>
          <a:xfrm>
            <a:off x="640080" y="6053328"/>
            <a:ext cx="4114800"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Visible to mentor and owner only</a:t>
            </a:r>
            <a:endParaRPr lang="en-US" sz="1050" dirty="0"/>
          </a:p>
        </p:txBody>
      </p:sp>
      <p:sp>
        <p:nvSpPr>
          <p:cNvPr id="65" name="Shape 62"/>
          <p:cNvSpPr/>
          <p:nvPr/>
        </p:nvSpPr>
        <p:spPr>
          <a:xfrm>
            <a:off x="5120640" y="1115568"/>
            <a:ext cx="3657600" cy="301752"/>
          </a:xfrm>
          <a:prstGeom prst="rect">
            <a:avLst/>
          </a:prstGeom>
          <a:solidFill>
            <a:srgbClr val="2E6DB4"/>
          </a:solidFill>
          <a:ln/>
        </p:spPr>
      </p:sp>
      <p:sp>
        <p:nvSpPr>
          <p:cNvPr id="66" name="Text 63"/>
          <p:cNvSpPr txBox="1"/>
          <p:nvPr/>
        </p:nvSpPr>
        <p:spPr>
          <a:xfrm>
            <a:off x="5230368" y="1115568"/>
            <a:ext cx="34381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REAL-DATA CHECK ON OULAD (WITHDRAWAL)</a:t>
            </a:r>
            <a:endParaRPr lang="en-US" sz="1200" dirty="0"/>
          </a:p>
        </p:txBody>
      </p:sp>
      <p:sp>
        <p:nvSpPr>
          <p:cNvPr id="67" name="Shape 64"/>
          <p:cNvSpPr/>
          <p:nvPr/>
        </p:nvSpPr>
        <p:spPr>
          <a:xfrm>
            <a:off x="8833104" y="1115568"/>
            <a:ext cx="0" cy="5212080"/>
          </a:xfrm>
          <a:prstGeom prst="line">
            <a:avLst/>
          </a:prstGeom>
          <a:noFill/>
          <a:ln w="12700">
            <a:solidFill>
              <a:srgbClr val="8FA9CC"/>
            </a:solidFill>
            <a:prstDash val="dash"/>
          </a:ln>
        </p:spPr>
      </p:sp>
      <p:pic>
        <p:nvPicPr>
          <p:cNvPr id="68" name="Image 1" descr="OULAD AUC by observation window">    </p:cNvPr>
          <p:cNvPicPr>
            <a:picLocks noChangeAspect="1"/>
          </p:cNvPicPr>
          <p:nvPr/>
        </p:nvPicPr>
        <p:blipFill>
          <a:blip r:embed="rId2"/>
          <a:stretch>
            <a:fillRect/>
          </a:stretch>
        </p:blipFill>
        <p:spPr>
          <a:xfrm>
            <a:off x="5212080" y="1463040"/>
            <a:ext cx="3474720" cy="2414930"/>
          </a:xfrm>
          <a:prstGeom prst="rect">
            <a:avLst/>
          </a:prstGeom>
        </p:spPr>
      </p:pic>
      <p:sp>
        <p:nvSpPr>
          <p:cNvPr id="69" name="Shape 65"/>
          <p:cNvSpPr/>
          <p:nvPr/>
        </p:nvSpPr>
        <p:spPr>
          <a:xfrm>
            <a:off x="5230368" y="4041648"/>
            <a:ext cx="992124" cy="219456"/>
          </a:xfrm>
          <a:prstGeom prst="roundRect">
            <a:avLst>
              <a:gd name="adj" fmla="val 50000"/>
            </a:avLst>
          </a:prstGeom>
          <a:solidFill>
            <a:srgbClr val="FFFFFF"/>
          </a:solidFill>
          <a:ln w="12700">
            <a:solidFill>
              <a:srgbClr val="1F4A82"/>
            </a:solidFill>
            <a:prstDash val="solid"/>
          </a:ln>
        </p:spPr>
      </p:sp>
      <p:sp>
        <p:nvSpPr>
          <p:cNvPr id="70" name="Text 66"/>
          <p:cNvSpPr txBox="1"/>
          <p:nvPr/>
        </p:nvSpPr>
        <p:spPr>
          <a:xfrm>
            <a:off x="5230368" y="4041648"/>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sp>
        <p:nvSpPr>
          <p:cNvPr id="71" name="Shape 67"/>
          <p:cNvSpPr/>
          <p:nvPr/>
        </p:nvSpPr>
        <p:spPr>
          <a:xfrm>
            <a:off x="5212080" y="4297680"/>
            <a:ext cx="1828800" cy="246888"/>
          </a:xfrm>
          <a:prstGeom prst="rect">
            <a:avLst/>
          </a:prstGeom>
          <a:solidFill>
            <a:srgbClr val="1F4A82"/>
          </a:solidFill>
          <a:ln/>
        </p:spPr>
      </p:sp>
      <p:sp>
        <p:nvSpPr>
          <p:cNvPr id="72" name="Text 68"/>
          <p:cNvSpPr txBox="1"/>
          <p:nvPr/>
        </p:nvSpPr>
        <p:spPr>
          <a:xfrm>
            <a:off x="5257800" y="4297680"/>
            <a:ext cx="1737360" cy="24688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Day 28, 5-fold by student</a:t>
            </a:r>
            <a:endParaRPr lang="en-US" sz="950" dirty="0"/>
          </a:p>
        </p:txBody>
      </p:sp>
      <p:sp>
        <p:nvSpPr>
          <p:cNvPr id="73" name="Shape 69"/>
          <p:cNvSpPr/>
          <p:nvPr/>
        </p:nvSpPr>
        <p:spPr>
          <a:xfrm>
            <a:off x="7040880" y="4297680"/>
            <a:ext cx="822960" cy="246888"/>
          </a:xfrm>
          <a:prstGeom prst="rect">
            <a:avLst/>
          </a:prstGeom>
          <a:solidFill>
            <a:srgbClr val="1F4A82"/>
          </a:solidFill>
          <a:ln/>
        </p:spPr>
      </p:sp>
      <p:sp>
        <p:nvSpPr>
          <p:cNvPr id="74" name="Text 70"/>
          <p:cNvSpPr txBox="1"/>
          <p:nvPr/>
        </p:nvSpPr>
        <p:spPr>
          <a:xfrm>
            <a:off x="7086600" y="4297680"/>
            <a:ext cx="73152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AUC</a:t>
            </a:r>
            <a:endParaRPr lang="en-US" sz="950" dirty="0"/>
          </a:p>
        </p:txBody>
      </p:sp>
      <p:sp>
        <p:nvSpPr>
          <p:cNvPr id="75" name="Shape 71"/>
          <p:cNvSpPr/>
          <p:nvPr/>
        </p:nvSpPr>
        <p:spPr>
          <a:xfrm>
            <a:off x="7863840" y="4297680"/>
            <a:ext cx="731520" cy="246888"/>
          </a:xfrm>
          <a:prstGeom prst="rect">
            <a:avLst/>
          </a:prstGeom>
          <a:solidFill>
            <a:srgbClr val="1F4A82"/>
          </a:solidFill>
          <a:ln/>
        </p:spPr>
      </p:sp>
      <p:sp>
        <p:nvSpPr>
          <p:cNvPr id="76" name="Text 72"/>
          <p:cNvSpPr txBox="1"/>
          <p:nvPr/>
        </p:nvSpPr>
        <p:spPr>
          <a:xfrm>
            <a:off x="7909560" y="4297680"/>
            <a:ext cx="640080" cy="2468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P@10 %</a:t>
            </a:r>
            <a:endParaRPr lang="en-US" sz="950" dirty="0"/>
          </a:p>
        </p:txBody>
      </p:sp>
      <p:sp>
        <p:nvSpPr>
          <p:cNvPr id="77" name="Shape 73"/>
          <p:cNvSpPr/>
          <p:nvPr/>
        </p:nvSpPr>
        <p:spPr>
          <a:xfrm>
            <a:off x="5212080" y="4544568"/>
            <a:ext cx="1828800" cy="246888"/>
          </a:xfrm>
          <a:prstGeom prst="rect">
            <a:avLst/>
          </a:prstGeom>
          <a:solidFill>
            <a:srgbClr val="D6E4F5"/>
          </a:solidFill>
          <a:ln/>
        </p:spPr>
      </p:sp>
      <p:sp>
        <p:nvSpPr>
          <p:cNvPr id="78" name="Text 74"/>
          <p:cNvSpPr txBox="1"/>
          <p:nvPr/>
        </p:nvSpPr>
        <p:spPr>
          <a:xfrm>
            <a:off x="5257800" y="4544568"/>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LightGBM, academic + clicks</a:t>
            </a:r>
            <a:endParaRPr lang="en-US" sz="950" dirty="0"/>
          </a:p>
        </p:txBody>
      </p:sp>
      <p:sp>
        <p:nvSpPr>
          <p:cNvPr id="79" name="Shape 75"/>
          <p:cNvSpPr/>
          <p:nvPr/>
        </p:nvSpPr>
        <p:spPr>
          <a:xfrm>
            <a:off x="7040880" y="4544568"/>
            <a:ext cx="822960" cy="246888"/>
          </a:xfrm>
          <a:prstGeom prst="rect">
            <a:avLst/>
          </a:prstGeom>
          <a:solidFill>
            <a:srgbClr val="D6E4F5"/>
          </a:solidFill>
          <a:ln/>
        </p:spPr>
      </p:sp>
      <p:sp>
        <p:nvSpPr>
          <p:cNvPr id="80" name="Text 76"/>
          <p:cNvSpPr txBox="1"/>
          <p:nvPr/>
        </p:nvSpPr>
        <p:spPr>
          <a:xfrm>
            <a:off x="7086600" y="4544568"/>
            <a:ext cx="73152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0.706</a:t>
            </a:r>
            <a:endParaRPr lang="en-US" sz="950" dirty="0"/>
          </a:p>
        </p:txBody>
      </p:sp>
      <p:sp>
        <p:nvSpPr>
          <p:cNvPr id="81" name="Shape 77"/>
          <p:cNvSpPr/>
          <p:nvPr/>
        </p:nvSpPr>
        <p:spPr>
          <a:xfrm>
            <a:off x="7863840" y="4544568"/>
            <a:ext cx="731520" cy="246888"/>
          </a:xfrm>
          <a:prstGeom prst="rect">
            <a:avLst/>
          </a:prstGeom>
          <a:solidFill>
            <a:srgbClr val="D6E4F5"/>
          </a:solidFill>
          <a:ln/>
        </p:spPr>
      </p:sp>
      <p:sp>
        <p:nvSpPr>
          <p:cNvPr id="82" name="Text 78"/>
          <p:cNvSpPr txBox="1"/>
          <p:nvPr/>
        </p:nvSpPr>
        <p:spPr>
          <a:xfrm>
            <a:off x="7909560" y="4544568"/>
            <a:ext cx="64008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0.46</a:t>
            </a:r>
            <a:endParaRPr lang="en-US" sz="950" dirty="0"/>
          </a:p>
        </p:txBody>
      </p:sp>
      <p:sp>
        <p:nvSpPr>
          <p:cNvPr id="83" name="Shape 79"/>
          <p:cNvSpPr/>
          <p:nvPr/>
        </p:nvSpPr>
        <p:spPr>
          <a:xfrm>
            <a:off x="5212080" y="4791456"/>
            <a:ext cx="3383280" cy="0"/>
          </a:xfrm>
          <a:prstGeom prst="line">
            <a:avLst/>
          </a:prstGeom>
          <a:noFill/>
          <a:ln w="6350">
            <a:solidFill>
              <a:srgbClr val="E3E8E4"/>
            </a:solidFill>
            <a:prstDash val="solid"/>
          </a:ln>
        </p:spPr>
      </p:sp>
      <p:sp>
        <p:nvSpPr>
          <p:cNvPr id="84" name="Shape 80"/>
          <p:cNvSpPr/>
          <p:nvPr/>
        </p:nvSpPr>
        <p:spPr>
          <a:xfrm>
            <a:off x="5212080" y="4791456"/>
            <a:ext cx="1828800" cy="246888"/>
          </a:xfrm>
          <a:prstGeom prst="rect">
            <a:avLst/>
          </a:prstGeom>
          <a:solidFill>
            <a:srgbClr val="F1F7F3"/>
          </a:solidFill>
          <a:ln/>
        </p:spPr>
      </p:sp>
      <p:sp>
        <p:nvSpPr>
          <p:cNvPr id="85" name="Text 81"/>
          <p:cNvSpPr txBox="1"/>
          <p:nvPr/>
        </p:nvSpPr>
        <p:spPr>
          <a:xfrm>
            <a:off x="5257800" y="4791456"/>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LightGBM, academic only</a:t>
            </a:r>
            <a:endParaRPr lang="en-US" sz="950" dirty="0"/>
          </a:p>
        </p:txBody>
      </p:sp>
      <p:sp>
        <p:nvSpPr>
          <p:cNvPr id="86" name="Shape 82"/>
          <p:cNvSpPr/>
          <p:nvPr/>
        </p:nvSpPr>
        <p:spPr>
          <a:xfrm>
            <a:off x="7040880" y="4791456"/>
            <a:ext cx="822960" cy="246888"/>
          </a:xfrm>
          <a:prstGeom prst="rect">
            <a:avLst/>
          </a:prstGeom>
          <a:solidFill>
            <a:srgbClr val="F1F7F3"/>
          </a:solidFill>
          <a:ln/>
        </p:spPr>
      </p:sp>
      <p:sp>
        <p:nvSpPr>
          <p:cNvPr id="87" name="Text 83"/>
          <p:cNvSpPr txBox="1"/>
          <p:nvPr/>
        </p:nvSpPr>
        <p:spPr>
          <a:xfrm>
            <a:off x="7086600" y="4791456"/>
            <a:ext cx="73152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0.698</a:t>
            </a:r>
            <a:endParaRPr lang="en-US" sz="950" dirty="0"/>
          </a:p>
        </p:txBody>
      </p:sp>
      <p:sp>
        <p:nvSpPr>
          <p:cNvPr id="88" name="Shape 84"/>
          <p:cNvSpPr/>
          <p:nvPr/>
        </p:nvSpPr>
        <p:spPr>
          <a:xfrm>
            <a:off x="7863840" y="4791456"/>
            <a:ext cx="731520" cy="246888"/>
          </a:xfrm>
          <a:prstGeom prst="rect">
            <a:avLst/>
          </a:prstGeom>
          <a:solidFill>
            <a:srgbClr val="F1F7F3"/>
          </a:solidFill>
          <a:ln/>
        </p:spPr>
      </p:sp>
      <p:sp>
        <p:nvSpPr>
          <p:cNvPr id="89" name="Text 85"/>
          <p:cNvSpPr txBox="1"/>
          <p:nvPr/>
        </p:nvSpPr>
        <p:spPr>
          <a:xfrm>
            <a:off x="7909560" y="4791456"/>
            <a:ext cx="64008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0.46</a:t>
            </a:r>
            <a:endParaRPr lang="en-US" sz="950" dirty="0"/>
          </a:p>
        </p:txBody>
      </p:sp>
      <p:sp>
        <p:nvSpPr>
          <p:cNvPr id="90" name="Shape 86"/>
          <p:cNvSpPr/>
          <p:nvPr/>
        </p:nvSpPr>
        <p:spPr>
          <a:xfrm>
            <a:off x="5212080" y="5038344"/>
            <a:ext cx="3383280" cy="0"/>
          </a:xfrm>
          <a:prstGeom prst="line">
            <a:avLst/>
          </a:prstGeom>
          <a:noFill/>
          <a:ln w="6350">
            <a:solidFill>
              <a:srgbClr val="E3E8E4"/>
            </a:solidFill>
            <a:prstDash val="solid"/>
          </a:ln>
        </p:spPr>
      </p:sp>
      <p:sp>
        <p:nvSpPr>
          <p:cNvPr id="91" name="Shape 87"/>
          <p:cNvSpPr/>
          <p:nvPr/>
        </p:nvSpPr>
        <p:spPr>
          <a:xfrm>
            <a:off x="5212080" y="5038344"/>
            <a:ext cx="1828800" cy="246888"/>
          </a:xfrm>
          <a:prstGeom prst="rect">
            <a:avLst/>
          </a:prstGeom>
          <a:solidFill>
            <a:srgbClr val="FFFFFF"/>
          </a:solidFill>
          <a:ln/>
        </p:spPr>
      </p:sp>
      <p:sp>
        <p:nvSpPr>
          <p:cNvPr id="92" name="Text 88"/>
          <p:cNvSpPr txBox="1"/>
          <p:nvPr/>
        </p:nvSpPr>
        <p:spPr>
          <a:xfrm>
            <a:off x="5257800" y="5038344"/>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Logistic, academic only</a:t>
            </a:r>
            <a:endParaRPr lang="en-US" sz="950" dirty="0"/>
          </a:p>
        </p:txBody>
      </p:sp>
      <p:sp>
        <p:nvSpPr>
          <p:cNvPr id="93" name="Shape 89"/>
          <p:cNvSpPr/>
          <p:nvPr/>
        </p:nvSpPr>
        <p:spPr>
          <a:xfrm>
            <a:off x="7040880" y="5038344"/>
            <a:ext cx="822960" cy="246888"/>
          </a:xfrm>
          <a:prstGeom prst="rect">
            <a:avLst/>
          </a:prstGeom>
          <a:solidFill>
            <a:srgbClr val="FFFFFF"/>
          </a:solidFill>
          <a:ln/>
        </p:spPr>
      </p:sp>
      <p:sp>
        <p:nvSpPr>
          <p:cNvPr id="94" name="Text 90"/>
          <p:cNvSpPr txBox="1"/>
          <p:nvPr/>
        </p:nvSpPr>
        <p:spPr>
          <a:xfrm>
            <a:off x="7086600" y="5038344"/>
            <a:ext cx="73152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0.680</a:t>
            </a:r>
            <a:endParaRPr lang="en-US" sz="950" dirty="0"/>
          </a:p>
        </p:txBody>
      </p:sp>
      <p:sp>
        <p:nvSpPr>
          <p:cNvPr id="95" name="Shape 91"/>
          <p:cNvSpPr/>
          <p:nvPr/>
        </p:nvSpPr>
        <p:spPr>
          <a:xfrm>
            <a:off x="7863840" y="5038344"/>
            <a:ext cx="731520" cy="246888"/>
          </a:xfrm>
          <a:prstGeom prst="rect">
            <a:avLst/>
          </a:prstGeom>
          <a:solidFill>
            <a:srgbClr val="FFFFFF"/>
          </a:solidFill>
          <a:ln/>
        </p:spPr>
      </p:sp>
      <p:sp>
        <p:nvSpPr>
          <p:cNvPr id="96" name="Text 92"/>
          <p:cNvSpPr txBox="1"/>
          <p:nvPr/>
        </p:nvSpPr>
        <p:spPr>
          <a:xfrm>
            <a:off x="7909560" y="5038344"/>
            <a:ext cx="640080" cy="24688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0.40</a:t>
            </a:r>
            <a:endParaRPr lang="en-US" sz="950" dirty="0"/>
          </a:p>
        </p:txBody>
      </p:sp>
      <p:sp>
        <p:nvSpPr>
          <p:cNvPr id="97" name="Shape 93"/>
          <p:cNvSpPr/>
          <p:nvPr/>
        </p:nvSpPr>
        <p:spPr>
          <a:xfrm>
            <a:off x="5212080" y="5285232"/>
            <a:ext cx="3383280" cy="0"/>
          </a:xfrm>
          <a:prstGeom prst="line">
            <a:avLst/>
          </a:prstGeom>
          <a:noFill/>
          <a:ln w="6350">
            <a:solidFill>
              <a:srgbClr val="E3E8E4"/>
            </a:solidFill>
            <a:prstDash val="solid"/>
          </a:ln>
        </p:spPr>
      </p:sp>
      <p:sp>
        <p:nvSpPr>
          <p:cNvPr id="98" name="Shape 94"/>
          <p:cNvSpPr/>
          <p:nvPr/>
        </p:nvSpPr>
        <p:spPr>
          <a:xfrm>
            <a:off x="5212080" y="5285232"/>
            <a:ext cx="1828800" cy="246888"/>
          </a:xfrm>
          <a:prstGeom prst="rect">
            <a:avLst/>
          </a:prstGeom>
          <a:solidFill>
            <a:srgbClr val="F1E8D3"/>
          </a:solidFill>
          <a:ln/>
        </p:spPr>
      </p:sp>
      <p:sp>
        <p:nvSpPr>
          <p:cNvPr id="99" name="Text 95"/>
          <p:cNvSpPr txBox="1"/>
          <p:nvPr/>
        </p:nvSpPr>
        <p:spPr>
          <a:xfrm>
            <a:off x="5257800" y="5285232"/>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Rule: no assessment</a:t>
            </a:r>
            <a:endParaRPr lang="en-US" sz="950" dirty="0"/>
          </a:p>
        </p:txBody>
      </p:sp>
      <p:sp>
        <p:nvSpPr>
          <p:cNvPr id="100" name="Shape 96"/>
          <p:cNvSpPr/>
          <p:nvPr/>
        </p:nvSpPr>
        <p:spPr>
          <a:xfrm>
            <a:off x="7040880" y="5285232"/>
            <a:ext cx="822960" cy="246888"/>
          </a:xfrm>
          <a:prstGeom prst="rect">
            <a:avLst/>
          </a:prstGeom>
          <a:solidFill>
            <a:srgbClr val="F1E8D3"/>
          </a:solidFill>
          <a:ln/>
        </p:spPr>
      </p:sp>
      <p:sp>
        <p:nvSpPr>
          <p:cNvPr id="101" name="Text 97"/>
          <p:cNvSpPr txBox="1"/>
          <p:nvPr/>
        </p:nvSpPr>
        <p:spPr>
          <a:xfrm>
            <a:off x="7086600" y="5285232"/>
            <a:ext cx="73152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0.521</a:t>
            </a:r>
            <a:endParaRPr lang="en-US" sz="950" dirty="0"/>
          </a:p>
        </p:txBody>
      </p:sp>
      <p:sp>
        <p:nvSpPr>
          <p:cNvPr id="102" name="Shape 98"/>
          <p:cNvSpPr/>
          <p:nvPr/>
        </p:nvSpPr>
        <p:spPr>
          <a:xfrm>
            <a:off x="7863840" y="5285232"/>
            <a:ext cx="731520" cy="246888"/>
          </a:xfrm>
          <a:prstGeom prst="rect">
            <a:avLst/>
          </a:prstGeom>
          <a:solidFill>
            <a:srgbClr val="F1E8D3"/>
          </a:solidFill>
          <a:ln/>
        </p:spPr>
      </p:sp>
      <p:sp>
        <p:nvSpPr>
          <p:cNvPr id="103" name="Text 99"/>
          <p:cNvSpPr txBox="1"/>
          <p:nvPr/>
        </p:nvSpPr>
        <p:spPr>
          <a:xfrm>
            <a:off x="7909560" y="5285232"/>
            <a:ext cx="64008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0.31</a:t>
            </a:r>
            <a:endParaRPr lang="en-US" sz="950" dirty="0"/>
          </a:p>
        </p:txBody>
      </p:sp>
      <p:sp>
        <p:nvSpPr>
          <p:cNvPr id="104" name="Shape 100"/>
          <p:cNvSpPr/>
          <p:nvPr/>
        </p:nvSpPr>
        <p:spPr>
          <a:xfrm>
            <a:off x="5212080" y="5532120"/>
            <a:ext cx="3383280" cy="0"/>
          </a:xfrm>
          <a:prstGeom prst="line">
            <a:avLst/>
          </a:prstGeom>
          <a:noFill/>
          <a:ln w="6350">
            <a:solidFill>
              <a:srgbClr val="E3E8E4"/>
            </a:solidFill>
            <a:prstDash val="solid"/>
          </a:ln>
        </p:spPr>
      </p:sp>
      <p:sp>
        <p:nvSpPr>
          <p:cNvPr id="105" name="Shape 101"/>
          <p:cNvSpPr/>
          <p:nvPr/>
        </p:nvSpPr>
        <p:spPr>
          <a:xfrm>
            <a:off x="5212080" y="5532120"/>
            <a:ext cx="1828800" cy="246888"/>
          </a:xfrm>
          <a:prstGeom prst="rect">
            <a:avLst/>
          </a:prstGeom>
          <a:solidFill>
            <a:srgbClr val="F1E8D3"/>
          </a:solidFill>
          <a:ln/>
        </p:spPr>
      </p:sp>
      <p:sp>
        <p:nvSpPr>
          <p:cNvPr id="106" name="Text 102"/>
          <p:cNvSpPr txBox="1"/>
          <p:nvPr/>
        </p:nvSpPr>
        <p:spPr>
          <a:xfrm>
            <a:off x="5257800" y="5532120"/>
            <a:ext cx="1737360" cy="2468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Rule: zero clicks, 7 days</a:t>
            </a:r>
            <a:endParaRPr lang="en-US" sz="950" dirty="0"/>
          </a:p>
        </p:txBody>
      </p:sp>
      <p:sp>
        <p:nvSpPr>
          <p:cNvPr id="107" name="Shape 103"/>
          <p:cNvSpPr/>
          <p:nvPr/>
        </p:nvSpPr>
        <p:spPr>
          <a:xfrm>
            <a:off x="7040880" y="5532120"/>
            <a:ext cx="822960" cy="246888"/>
          </a:xfrm>
          <a:prstGeom prst="rect">
            <a:avLst/>
          </a:prstGeom>
          <a:solidFill>
            <a:srgbClr val="F1E8D3"/>
          </a:solidFill>
          <a:ln/>
        </p:spPr>
      </p:sp>
      <p:sp>
        <p:nvSpPr>
          <p:cNvPr id="108" name="Text 104"/>
          <p:cNvSpPr txBox="1"/>
          <p:nvPr/>
        </p:nvSpPr>
        <p:spPr>
          <a:xfrm>
            <a:off x="7086600" y="5532120"/>
            <a:ext cx="73152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0.532</a:t>
            </a:r>
            <a:endParaRPr lang="en-US" sz="950" dirty="0"/>
          </a:p>
        </p:txBody>
      </p:sp>
      <p:sp>
        <p:nvSpPr>
          <p:cNvPr id="109" name="Shape 105"/>
          <p:cNvSpPr/>
          <p:nvPr/>
        </p:nvSpPr>
        <p:spPr>
          <a:xfrm>
            <a:off x="7863840" y="5532120"/>
            <a:ext cx="731520" cy="246888"/>
          </a:xfrm>
          <a:prstGeom prst="rect">
            <a:avLst/>
          </a:prstGeom>
          <a:solidFill>
            <a:srgbClr val="F1E8D3"/>
          </a:solidFill>
          <a:ln/>
        </p:spPr>
      </p:sp>
      <p:sp>
        <p:nvSpPr>
          <p:cNvPr id="110" name="Text 106"/>
          <p:cNvSpPr txBox="1"/>
          <p:nvPr/>
        </p:nvSpPr>
        <p:spPr>
          <a:xfrm>
            <a:off x="7909560" y="5532120"/>
            <a:ext cx="640080" cy="246888"/>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0.24</a:t>
            </a:r>
            <a:endParaRPr lang="en-US" sz="950" dirty="0"/>
          </a:p>
        </p:txBody>
      </p:sp>
      <p:sp>
        <p:nvSpPr>
          <p:cNvPr id="111" name="Shape 107"/>
          <p:cNvSpPr/>
          <p:nvPr/>
        </p:nvSpPr>
        <p:spPr>
          <a:xfrm>
            <a:off x="5212080" y="5779008"/>
            <a:ext cx="3383280" cy="0"/>
          </a:xfrm>
          <a:prstGeom prst="line">
            <a:avLst/>
          </a:prstGeom>
          <a:noFill/>
          <a:ln w="6350">
            <a:solidFill>
              <a:srgbClr val="E3E8E4"/>
            </a:solidFill>
            <a:prstDash val="solid"/>
          </a:ln>
        </p:spPr>
      </p:sp>
      <p:sp>
        <p:nvSpPr>
          <p:cNvPr id="112" name="Text 108"/>
          <p:cNvSpPr txBox="1"/>
          <p:nvPr/>
        </p:nvSpPr>
        <p:spPr>
          <a:xfrm>
            <a:off x="5212080" y="5852160"/>
            <a:ext cx="3474720" cy="274320"/>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Calibration error 0.009. Held-out course: 0.654.</a:t>
            </a:r>
            <a:endParaRPr lang="en-US" sz="1000" dirty="0"/>
          </a:p>
        </p:txBody>
      </p:sp>
      <p:sp>
        <p:nvSpPr>
          <p:cNvPr id="113" name="Shape 109"/>
          <p:cNvSpPr/>
          <p:nvPr/>
        </p:nvSpPr>
        <p:spPr>
          <a:xfrm>
            <a:off x="8915400" y="1115568"/>
            <a:ext cx="2864815" cy="301752"/>
          </a:xfrm>
          <a:prstGeom prst="rect">
            <a:avLst/>
          </a:prstGeom>
          <a:solidFill>
            <a:srgbClr val="1F4A82"/>
          </a:solidFill>
          <a:ln/>
        </p:spPr>
      </p:sp>
      <p:sp>
        <p:nvSpPr>
          <p:cNvPr id="114" name="Text 110"/>
          <p:cNvSpPr txBox="1"/>
          <p:nvPr/>
        </p:nvSpPr>
        <p:spPr>
          <a:xfrm>
            <a:off x="9025128" y="1115568"/>
            <a:ext cx="264535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HOW A FLAG IS MADE</a:t>
            </a:r>
            <a:endParaRPr lang="en-US" sz="1200" dirty="0"/>
          </a:p>
        </p:txBody>
      </p:sp>
      <p:sp>
        <p:nvSpPr>
          <p:cNvPr id="115" name="Shape 111"/>
          <p:cNvSpPr/>
          <p:nvPr/>
        </p:nvSpPr>
        <p:spPr>
          <a:xfrm>
            <a:off x="9025128" y="1481328"/>
            <a:ext cx="329184" cy="329184"/>
          </a:xfrm>
          <a:prstGeom prst="ellipse">
            <a:avLst/>
          </a:prstGeom>
          <a:solidFill>
            <a:srgbClr val="5B8DC9"/>
          </a:solidFill>
          <a:ln/>
        </p:spPr>
      </p:sp>
      <p:pic>
        <p:nvPicPr>
          <p:cNvPr id="116" name="Image 2" descr="FaClock icon">    </p:cNvPr>
          <p:cNvPicPr>
            <a:picLocks noChangeAspect="1"/>
          </p:cNvPicPr>
          <p:nvPr/>
        </p:nvPicPr>
        <p:blipFill>
          <a:blip r:embed="rId3"/>
          <a:stretch>
            <a:fillRect/>
          </a:stretch>
        </p:blipFill>
        <p:spPr>
          <a:xfrm>
            <a:off x="9097548" y="1553748"/>
            <a:ext cx="184343" cy="184343"/>
          </a:xfrm>
          <a:prstGeom prst="rect">
            <a:avLst/>
          </a:prstGeom>
        </p:spPr>
      </p:pic>
      <p:sp>
        <p:nvSpPr>
          <p:cNvPr id="117" name="Text 112"/>
          <p:cNvSpPr txBox="1"/>
          <p:nvPr/>
        </p:nvSpPr>
        <p:spPr>
          <a:xfrm>
            <a:off x="9427464" y="14813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Features as of the date, never the future</a:t>
            </a:r>
            <a:endParaRPr lang="en-US" sz="1050" dirty="0"/>
          </a:p>
        </p:txBody>
      </p:sp>
      <p:sp>
        <p:nvSpPr>
          <p:cNvPr id="118" name="Shape 113"/>
          <p:cNvSpPr/>
          <p:nvPr/>
        </p:nvSpPr>
        <p:spPr>
          <a:xfrm>
            <a:off x="9025128" y="1938528"/>
            <a:ext cx="329184" cy="329184"/>
          </a:xfrm>
          <a:prstGeom prst="ellipse">
            <a:avLst/>
          </a:prstGeom>
          <a:solidFill>
            <a:srgbClr val="1F4A82"/>
          </a:solidFill>
          <a:ln/>
        </p:spPr>
      </p:sp>
      <p:pic>
        <p:nvPicPr>
          <p:cNvPr id="119" name="Image 3" descr="FaScaleBalanced icon">    </p:cNvPr>
          <p:cNvPicPr>
            <a:picLocks noChangeAspect="1"/>
          </p:cNvPicPr>
          <p:nvPr/>
        </p:nvPicPr>
        <p:blipFill>
          <a:blip r:embed="rId4"/>
          <a:stretch>
            <a:fillRect/>
          </a:stretch>
        </p:blipFill>
        <p:spPr>
          <a:xfrm>
            <a:off x="9097548" y="2010948"/>
            <a:ext cx="184343" cy="184343"/>
          </a:xfrm>
          <a:prstGeom prst="rect">
            <a:avLst/>
          </a:prstGeom>
        </p:spPr>
      </p:pic>
      <p:sp>
        <p:nvSpPr>
          <p:cNvPr id="120" name="Text 114"/>
          <p:cNvSpPr txBox="1"/>
          <p:nvPr/>
        </p:nvSpPr>
        <p:spPr>
          <a:xfrm>
            <a:off x="9427464" y="19385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Route by age and purpose</a:t>
            </a:r>
            <a:endParaRPr lang="en-US" sz="1050" dirty="0"/>
          </a:p>
        </p:txBody>
      </p:sp>
      <p:sp>
        <p:nvSpPr>
          <p:cNvPr id="121" name="Shape 115"/>
          <p:cNvSpPr/>
          <p:nvPr/>
        </p:nvSpPr>
        <p:spPr>
          <a:xfrm>
            <a:off x="9025128" y="2395728"/>
            <a:ext cx="329184" cy="329184"/>
          </a:xfrm>
          <a:prstGeom prst="ellipse">
            <a:avLst/>
          </a:prstGeom>
          <a:solidFill>
            <a:srgbClr val="2E6DB4"/>
          </a:solidFill>
          <a:ln/>
        </p:spPr>
      </p:sp>
      <p:pic>
        <p:nvPicPr>
          <p:cNvPr id="122" name="Image 4" descr="FaChartLine icon">    </p:cNvPr>
          <p:cNvPicPr>
            <a:picLocks noChangeAspect="1"/>
          </p:cNvPicPr>
          <p:nvPr/>
        </p:nvPicPr>
        <p:blipFill>
          <a:blip r:embed="rId5"/>
          <a:stretch>
            <a:fillRect/>
          </a:stretch>
        </p:blipFill>
        <p:spPr>
          <a:xfrm>
            <a:off x="9097548" y="2468148"/>
            <a:ext cx="184343" cy="184343"/>
          </a:xfrm>
          <a:prstGeom prst="rect">
            <a:avLst/>
          </a:prstGeom>
        </p:spPr>
      </p:pic>
      <p:sp>
        <p:nvSpPr>
          <p:cNvPr id="123" name="Text 116"/>
          <p:cNvSpPr txBox="1"/>
          <p:nvPr/>
        </p:nvSpPr>
        <p:spPr>
          <a:xfrm>
            <a:off x="9427464" y="23957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Score or apply a plain rule</a:t>
            </a:r>
            <a:endParaRPr lang="en-US" sz="1050" dirty="0"/>
          </a:p>
        </p:txBody>
      </p:sp>
      <p:sp>
        <p:nvSpPr>
          <p:cNvPr id="124" name="Shape 117"/>
          <p:cNvSpPr/>
          <p:nvPr/>
        </p:nvSpPr>
        <p:spPr>
          <a:xfrm>
            <a:off x="9025128" y="2852928"/>
            <a:ext cx="329184" cy="329184"/>
          </a:xfrm>
          <a:prstGeom prst="ellipse">
            <a:avLst/>
          </a:prstGeom>
          <a:solidFill>
            <a:srgbClr val="1F4A82"/>
          </a:solidFill>
          <a:ln/>
        </p:spPr>
      </p:sp>
      <p:pic>
        <p:nvPicPr>
          <p:cNvPr id="125" name="Image 5" descr="FaClipboardCheck icon">    </p:cNvPr>
          <p:cNvPicPr>
            <a:picLocks noChangeAspect="1"/>
          </p:cNvPicPr>
          <p:nvPr/>
        </p:nvPicPr>
        <p:blipFill>
          <a:blip r:embed="rId6"/>
          <a:stretch>
            <a:fillRect/>
          </a:stretch>
        </p:blipFill>
        <p:spPr>
          <a:xfrm>
            <a:off x="9097548" y="2925348"/>
            <a:ext cx="184343" cy="184343"/>
          </a:xfrm>
          <a:prstGeom prst="rect">
            <a:avLst/>
          </a:prstGeom>
        </p:spPr>
      </p:pic>
      <p:sp>
        <p:nvSpPr>
          <p:cNvPr id="126" name="Text 118"/>
          <p:cNvSpPr txBox="1"/>
          <p:nvPr/>
        </p:nvSpPr>
        <p:spPr>
          <a:xfrm>
            <a:off x="9427464" y="28529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Plain reasons and a supportive action</a:t>
            </a:r>
            <a:endParaRPr lang="en-US" sz="1050" dirty="0"/>
          </a:p>
        </p:txBody>
      </p:sp>
      <p:sp>
        <p:nvSpPr>
          <p:cNvPr id="127" name="Shape 119"/>
          <p:cNvSpPr/>
          <p:nvPr/>
        </p:nvSpPr>
        <p:spPr>
          <a:xfrm>
            <a:off x="9025128" y="3310128"/>
            <a:ext cx="329184" cy="329184"/>
          </a:xfrm>
          <a:prstGeom prst="ellipse">
            <a:avLst/>
          </a:prstGeom>
          <a:solidFill>
            <a:srgbClr val="5B8DC9"/>
          </a:solidFill>
          <a:ln/>
        </p:spPr>
      </p:sp>
      <p:pic>
        <p:nvPicPr>
          <p:cNvPr id="128" name="Image 6" descr="FaHandshake icon">    </p:cNvPr>
          <p:cNvPicPr>
            <a:picLocks noChangeAspect="1"/>
          </p:cNvPicPr>
          <p:nvPr/>
        </p:nvPicPr>
        <p:blipFill>
          <a:blip r:embed="rId7"/>
          <a:stretch>
            <a:fillRect/>
          </a:stretch>
        </p:blipFill>
        <p:spPr>
          <a:xfrm>
            <a:off x="9097548" y="3382548"/>
            <a:ext cx="184343" cy="184343"/>
          </a:xfrm>
          <a:prstGeom prst="rect">
            <a:avLst/>
          </a:prstGeom>
        </p:spPr>
      </p:pic>
      <p:sp>
        <p:nvSpPr>
          <p:cNvPr id="129" name="Text 120"/>
          <p:cNvSpPr txBox="1"/>
          <p:nvPr/>
        </p:nvSpPr>
        <p:spPr>
          <a:xfrm>
            <a:off x="9427464" y="3310128"/>
            <a:ext cx="2243023" cy="365760"/>
          </a:xfrm>
          <a:prstGeom prst="rect">
            <a:avLst/>
          </a:prstGeom>
          <a:noFill/>
          <a:ln/>
        </p:spPr>
        <p:txBody>
          <a:bodyPr wrap="square" lIns="0" tIns="0" rIns="0" bIns="0" rtlCol="0" anchor="ctr"/>
          <a:lstStyle/>
          <a:p>
            <a:pPr algn="l" indent="0" marL="0">
              <a:buNone/>
            </a:pPr>
            <a:r>
              <a:rPr lang="en-US" sz="1050" dirty="0">
                <a:solidFill>
                  <a:srgbClr val="1F2937"/>
                </a:solidFill>
                <a:latin typeface="Calibri" pitchFamily="34" charset="0"/>
                <a:ea typeface="Calibri" pitchFamily="34" charset="-122"/>
                <a:cs typeface="Calibri" pitchFamily="34" charset="-120"/>
              </a:rPr>
              <a:t>A person decides; outcome is logged</a:t>
            </a:r>
            <a:endParaRPr lang="en-US" sz="1050" dirty="0"/>
          </a:p>
        </p:txBody>
      </p:sp>
      <p:pic>
        <p:nvPicPr>
          <p:cNvPr id="130" name="Image 7" descr="Calibration curve, OULAD day 28">    </p:cNvPr>
          <p:cNvPicPr>
            <a:picLocks noChangeAspect="1"/>
          </p:cNvPicPr>
          <p:nvPr/>
        </p:nvPicPr>
        <p:blipFill>
          <a:blip r:embed="rId8"/>
          <a:stretch>
            <a:fillRect/>
          </a:stretch>
        </p:blipFill>
        <p:spPr>
          <a:xfrm>
            <a:off x="9235440" y="3858768"/>
            <a:ext cx="2011680" cy="1892808"/>
          </a:xfrm>
          <a:prstGeom prst="rect">
            <a:avLst/>
          </a:prstGeom>
        </p:spPr>
      </p:pic>
      <p:sp>
        <p:nvSpPr>
          <p:cNvPr id="131" name="Text 121"/>
          <p:cNvSpPr txBox="1"/>
          <p:nvPr/>
        </p:nvSpPr>
        <p:spPr>
          <a:xfrm>
            <a:off x="9025128" y="5833872"/>
            <a:ext cx="1676095" cy="329184"/>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Model on synthetic institutes: pending.</a:t>
            </a:r>
            <a:endParaRPr lang="en-US" sz="900" dirty="0"/>
          </a:p>
        </p:txBody>
      </p:sp>
      <p:sp>
        <p:nvSpPr>
          <p:cNvPr id="132" name="Shape 122"/>
          <p:cNvSpPr/>
          <p:nvPr/>
        </p:nvSpPr>
        <p:spPr>
          <a:xfrm>
            <a:off x="10820095" y="5897880"/>
            <a:ext cx="664464" cy="201168"/>
          </a:xfrm>
          <a:prstGeom prst="roundRect">
            <a:avLst>
              <a:gd name="adj" fmla="val 50000"/>
            </a:avLst>
          </a:prstGeom>
          <a:solidFill>
            <a:srgbClr val="D4A24C"/>
          </a:solidFill>
          <a:ln/>
        </p:spPr>
      </p:sp>
      <p:sp>
        <p:nvSpPr>
          <p:cNvPr id="133" name="Text 123"/>
          <p:cNvSpPr txBox="1"/>
          <p:nvPr/>
        </p:nvSpPr>
        <p:spPr>
          <a:xfrm>
            <a:off x="10820095" y="5897880"/>
            <a:ext cx="664464" cy="201168"/>
          </a:xfrm>
          <a:prstGeom prst="rect">
            <a:avLst/>
          </a:prstGeom>
          <a:noFill/>
          <a:ln/>
        </p:spPr>
        <p:txBody>
          <a:bodyPr wrap="square" lIns="0" tIns="0" rIns="0" bIns="0" rtlCol="0" anchor="ctr"/>
          <a:lstStyle/>
          <a:p>
            <a:pPr algn="ctr" indent="0" marL="0">
              <a:buNone/>
            </a:pPr>
            <a:r>
              <a:rPr lang="en-US" sz="800" b="1" spc="100" kern="0" dirty="0">
                <a:solidFill>
                  <a:srgbClr val="17325C"/>
                </a:solidFill>
                <a:latin typeface="Calibri" pitchFamily="34" charset="0"/>
                <a:ea typeface="Calibri" pitchFamily="34" charset="-122"/>
                <a:cs typeface="Calibri" pitchFamily="34" charset="-120"/>
              </a:rPr>
              <a:t>PENDING</a:t>
            </a:r>
            <a:endParaRPr lang="en-US" sz="800" dirty="0"/>
          </a:p>
        </p:txBody>
      </p:sp>
      <p:sp>
        <p:nvSpPr>
          <p:cNvPr id="134" name="Text 124"/>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(OULAD, CC BY 4.0); routing policy: contracts/routing_policy.yaml. About a quarter of dropouts are sudden and cannot be predicted from academic data.</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PERCENTILE RANGE AND PARENT REPORTS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An honest range instead of a single rank, and parent messages where every number is checked</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ML RIGOUR 25 % · GENAI WITH GUARDRAILS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Shape 8"/>
          <p:cNvSpPr/>
          <p:nvPr/>
        </p:nvSpPr>
        <p:spPr>
          <a:xfrm>
            <a:off x="4440555" y="6528816"/>
            <a:ext cx="1343025" cy="274320"/>
          </a:xfrm>
          <a:prstGeom prst="rect">
            <a:avLst/>
          </a:prstGeom>
          <a:solidFill>
            <a:srgbClr val="1F4A82"/>
          </a:solidFill>
          <a:ln/>
        </p:spPr>
      </p:sp>
      <p:sp>
        <p:nvSpPr>
          <p:cNvPr id="11" name="Text 9"/>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p>
        </p:txBody>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840480" cy="301752"/>
          </a:xfrm>
          <a:prstGeom prst="rect">
            <a:avLst/>
          </a:prstGeom>
          <a:solidFill>
            <a:srgbClr val="1F4A82"/>
          </a:solidFill>
          <a:ln/>
        </p:spPr>
      </p:sp>
      <p:sp>
        <p:nvSpPr>
          <p:cNvPr id="17" name="Text 15"/>
          <p:cNvSpPr txBox="1"/>
          <p:nvPr/>
        </p:nvSpPr>
        <p:spPr>
          <a:xfrm>
            <a:off x="521208" y="1115568"/>
            <a:ext cx="36210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PERCENTILE RANGE</a:t>
            </a:r>
            <a:endParaRPr lang="en-US" sz="1200" dirty="0"/>
          </a:p>
        </p:txBody>
      </p:sp>
      <p:sp>
        <p:nvSpPr>
          <p:cNvPr id="18" name="Shape 16"/>
          <p:cNvSpPr/>
          <p:nvPr/>
        </p:nvSpPr>
        <p:spPr>
          <a:xfrm>
            <a:off x="4306824" y="1115568"/>
            <a:ext cx="0" cy="5212080"/>
          </a:xfrm>
          <a:prstGeom prst="line">
            <a:avLst/>
          </a:prstGeom>
          <a:noFill/>
          <a:ln w="12700">
            <a:solidFill>
              <a:srgbClr val="8FA9CC"/>
            </a:solidFill>
            <a:prstDash val="dash"/>
          </a:ln>
        </p:spPr>
      </p:sp>
      <p:sp>
        <p:nvSpPr>
          <p:cNvPr id="19" name="Shape 17"/>
          <p:cNvSpPr/>
          <p:nvPr/>
        </p:nvSpPr>
        <p:spPr>
          <a:xfrm>
            <a:off x="521208" y="1481328"/>
            <a:ext cx="3621024" cy="2514600"/>
          </a:xfrm>
          <a:prstGeom prst="roundRect">
            <a:avLst>
              <a:gd name="adj" fmla="val 3636"/>
            </a:avLst>
          </a:prstGeom>
          <a:solidFill>
            <a:srgbClr val="FFFFFF"/>
          </a:solidFill>
          <a:ln w="12700">
            <a:solidFill>
              <a:srgbClr val="C9D6E8"/>
            </a:solidFill>
            <a:prstDash val="solid"/>
          </a:ln>
        </p:spPr>
      </p:sp>
      <p:sp>
        <p:nvSpPr>
          <p:cNvPr id="20" name="Shape 18"/>
          <p:cNvSpPr/>
          <p:nvPr/>
        </p:nvSpPr>
        <p:spPr>
          <a:xfrm>
            <a:off x="1207008" y="3264408"/>
            <a:ext cx="2706624" cy="9144"/>
          </a:xfrm>
          <a:prstGeom prst="rect">
            <a:avLst/>
          </a:prstGeom>
          <a:solidFill>
            <a:srgbClr val="C9D6E8"/>
          </a:solidFill>
          <a:ln/>
        </p:spPr>
      </p:sp>
      <p:sp>
        <p:nvSpPr>
          <p:cNvPr id="21" name="Text 19"/>
          <p:cNvSpPr txBox="1"/>
          <p:nvPr/>
        </p:nvSpPr>
        <p:spPr>
          <a:xfrm>
            <a:off x="704088" y="315468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40</a:t>
            </a:r>
            <a:endParaRPr lang="en-US" sz="1100" dirty="0"/>
          </a:p>
        </p:txBody>
      </p:sp>
      <p:sp>
        <p:nvSpPr>
          <p:cNvPr id="22" name="Shape 20"/>
          <p:cNvSpPr/>
          <p:nvPr/>
        </p:nvSpPr>
        <p:spPr>
          <a:xfrm>
            <a:off x="1207008" y="2837688"/>
            <a:ext cx="2706624" cy="9144"/>
          </a:xfrm>
          <a:prstGeom prst="rect">
            <a:avLst/>
          </a:prstGeom>
          <a:solidFill>
            <a:srgbClr val="C9D6E8"/>
          </a:solidFill>
          <a:ln/>
        </p:spPr>
      </p:sp>
      <p:sp>
        <p:nvSpPr>
          <p:cNvPr id="23" name="Text 21"/>
          <p:cNvSpPr txBox="1"/>
          <p:nvPr/>
        </p:nvSpPr>
        <p:spPr>
          <a:xfrm>
            <a:off x="704088" y="272796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60</a:t>
            </a:r>
            <a:endParaRPr lang="en-US" sz="1100" dirty="0"/>
          </a:p>
        </p:txBody>
      </p:sp>
      <p:sp>
        <p:nvSpPr>
          <p:cNvPr id="24" name="Shape 22"/>
          <p:cNvSpPr/>
          <p:nvPr/>
        </p:nvSpPr>
        <p:spPr>
          <a:xfrm>
            <a:off x="1207008" y="2410968"/>
            <a:ext cx="2706624" cy="9144"/>
          </a:xfrm>
          <a:prstGeom prst="rect">
            <a:avLst/>
          </a:prstGeom>
          <a:solidFill>
            <a:srgbClr val="C9D6E8"/>
          </a:solidFill>
          <a:ln/>
        </p:spPr>
      </p:sp>
      <p:sp>
        <p:nvSpPr>
          <p:cNvPr id="25" name="Text 23"/>
          <p:cNvSpPr txBox="1"/>
          <p:nvPr/>
        </p:nvSpPr>
        <p:spPr>
          <a:xfrm>
            <a:off x="704088" y="230124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80</a:t>
            </a:r>
            <a:endParaRPr lang="en-US" sz="1100" dirty="0"/>
          </a:p>
        </p:txBody>
      </p:sp>
      <p:sp>
        <p:nvSpPr>
          <p:cNvPr id="26" name="Shape 24"/>
          <p:cNvSpPr/>
          <p:nvPr/>
        </p:nvSpPr>
        <p:spPr>
          <a:xfrm>
            <a:off x="1207008" y="1984248"/>
            <a:ext cx="2706624" cy="9144"/>
          </a:xfrm>
          <a:prstGeom prst="rect">
            <a:avLst/>
          </a:prstGeom>
          <a:solidFill>
            <a:srgbClr val="C9D6E8"/>
          </a:solidFill>
          <a:ln/>
        </p:spPr>
      </p:sp>
      <p:sp>
        <p:nvSpPr>
          <p:cNvPr id="27" name="Text 25"/>
          <p:cNvSpPr txBox="1"/>
          <p:nvPr/>
        </p:nvSpPr>
        <p:spPr>
          <a:xfrm>
            <a:off x="704088" y="1874520"/>
            <a:ext cx="411480" cy="219456"/>
          </a:xfrm>
          <a:prstGeom prst="rect">
            <a:avLst/>
          </a:prstGeom>
          <a:noFill/>
          <a:ln/>
        </p:spPr>
        <p:txBody>
          <a:bodyPr wrap="square" lIns="0" tIns="0" rIns="0" bIns="0" rtlCol="0" anchor="t"/>
          <a:lstStyle/>
          <a:p>
            <a:pPr algn="r" indent="0" marL="0">
              <a:buNone/>
            </a:pPr>
            <a:r>
              <a:rPr lang="en-US" sz="1100" dirty="0">
                <a:solidFill>
                  <a:srgbClr val="5B6573"/>
                </a:solidFill>
                <a:latin typeface="Calibri" pitchFamily="34" charset="0"/>
                <a:ea typeface="Calibri" pitchFamily="34" charset="-122"/>
                <a:cs typeface="Calibri" pitchFamily="34" charset="-120"/>
              </a:rPr>
              <a:t>100</a:t>
            </a:r>
            <a:endParaRPr lang="en-US" sz="1100" dirty="0"/>
          </a:p>
        </p:txBody>
      </p:sp>
      <p:sp>
        <p:nvSpPr>
          <p:cNvPr id="28" name="Text 26"/>
          <p:cNvSpPr txBox="1"/>
          <p:nvPr/>
        </p:nvSpPr>
        <p:spPr>
          <a:xfrm>
            <a:off x="704088" y="1572768"/>
            <a:ext cx="3255264" cy="274320"/>
          </a:xfrm>
          <a:prstGeom prst="rect">
            <a:avLst/>
          </a:prstGeom>
          <a:noFill/>
          <a:ln/>
        </p:spPr>
        <p:txBody>
          <a:bodyPr wrap="square" lIns="0" tIns="0" rIns="0" bIns="0" rtlCol="0" anchor="t"/>
          <a:lstStyle/>
          <a:p>
            <a:pPr algn="l" indent="0" marL="0">
              <a:buNone/>
            </a:pPr>
            <a:r>
              <a:rPr lang="en-US" sz="1200" b="1" dirty="0">
                <a:solidFill>
                  <a:srgbClr val="17325C"/>
                </a:solidFill>
                <a:latin typeface="Calibri" pitchFamily="34" charset="0"/>
                <a:ea typeface="Calibri" pitchFamily="34" charset="-122"/>
                <a:cs typeface="Calibri" pitchFamily="34" charset="-120"/>
              </a:rPr>
              <a:t>Predicted percentile range, one student</a:t>
            </a:r>
            <a:endParaRPr lang="en-US" sz="1200" dirty="0"/>
          </a:p>
        </p:txBody>
      </p:sp>
      <p:sp>
        <p:nvSpPr>
          <p:cNvPr id="29" name="Shape 27"/>
          <p:cNvSpPr/>
          <p:nvPr/>
        </p:nvSpPr>
        <p:spPr>
          <a:xfrm>
            <a:off x="1358579" y="2112264"/>
            <a:ext cx="238183" cy="896112"/>
          </a:xfrm>
          <a:prstGeom prst="roundRect">
            <a:avLst>
              <a:gd name="adj" fmla="val 19195"/>
            </a:avLst>
          </a:prstGeom>
          <a:solidFill>
            <a:srgbClr val="B9CFE8"/>
          </a:solidFill>
          <a:ln/>
        </p:spPr>
      </p:sp>
      <p:sp>
        <p:nvSpPr>
          <p:cNvPr id="30" name="Text 28"/>
          <p:cNvSpPr txBox="1"/>
          <p:nvPr/>
        </p:nvSpPr>
        <p:spPr>
          <a:xfrm>
            <a:off x="1207008"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Aug</a:t>
            </a:r>
            <a:endParaRPr lang="en-US" sz="1100" dirty="0"/>
          </a:p>
        </p:txBody>
      </p:sp>
      <p:sp>
        <p:nvSpPr>
          <p:cNvPr id="31" name="Shape 29"/>
          <p:cNvSpPr/>
          <p:nvPr/>
        </p:nvSpPr>
        <p:spPr>
          <a:xfrm>
            <a:off x="1899904" y="2176272"/>
            <a:ext cx="238183" cy="704088"/>
          </a:xfrm>
          <a:prstGeom prst="roundRect">
            <a:avLst>
              <a:gd name="adj" fmla="val 19195"/>
            </a:avLst>
          </a:prstGeom>
          <a:solidFill>
            <a:srgbClr val="B9CFE8"/>
          </a:solidFill>
          <a:ln/>
        </p:spPr>
      </p:sp>
      <p:sp>
        <p:nvSpPr>
          <p:cNvPr id="32" name="Text 30"/>
          <p:cNvSpPr txBox="1"/>
          <p:nvPr/>
        </p:nvSpPr>
        <p:spPr>
          <a:xfrm>
            <a:off x="1748333"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Oct</a:t>
            </a:r>
            <a:endParaRPr lang="en-US" sz="1100" dirty="0"/>
          </a:p>
        </p:txBody>
      </p:sp>
      <p:sp>
        <p:nvSpPr>
          <p:cNvPr id="33" name="Shape 31"/>
          <p:cNvSpPr/>
          <p:nvPr/>
        </p:nvSpPr>
        <p:spPr>
          <a:xfrm>
            <a:off x="2441229" y="2240280"/>
            <a:ext cx="238183" cy="533400"/>
          </a:xfrm>
          <a:prstGeom prst="roundRect">
            <a:avLst>
              <a:gd name="adj" fmla="val 19195"/>
            </a:avLst>
          </a:prstGeom>
          <a:solidFill>
            <a:srgbClr val="B9CFE8"/>
          </a:solidFill>
          <a:ln/>
        </p:spPr>
      </p:sp>
      <p:sp>
        <p:nvSpPr>
          <p:cNvPr id="34" name="Text 32"/>
          <p:cNvSpPr txBox="1"/>
          <p:nvPr/>
        </p:nvSpPr>
        <p:spPr>
          <a:xfrm>
            <a:off x="2289658"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Dec</a:t>
            </a:r>
            <a:endParaRPr lang="en-US" sz="1100" dirty="0"/>
          </a:p>
        </p:txBody>
      </p:sp>
      <p:sp>
        <p:nvSpPr>
          <p:cNvPr id="35" name="Shape 33"/>
          <p:cNvSpPr/>
          <p:nvPr/>
        </p:nvSpPr>
        <p:spPr>
          <a:xfrm>
            <a:off x="2982553" y="2304288"/>
            <a:ext cx="238183" cy="362712"/>
          </a:xfrm>
          <a:prstGeom prst="roundRect">
            <a:avLst>
              <a:gd name="adj" fmla="val 19195"/>
            </a:avLst>
          </a:prstGeom>
          <a:solidFill>
            <a:srgbClr val="B9CFE8"/>
          </a:solidFill>
          <a:ln/>
        </p:spPr>
      </p:sp>
      <p:sp>
        <p:nvSpPr>
          <p:cNvPr id="36" name="Text 34"/>
          <p:cNvSpPr txBox="1"/>
          <p:nvPr/>
        </p:nvSpPr>
        <p:spPr>
          <a:xfrm>
            <a:off x="2830982"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Feb</a:t>
            </a:r>
            <a:endParaRPr lang="en-US" sz="1100" dirty="0"/>
          </a:p>
        </p:txBody>
      </p:sp>
      <p:sp>
        <p:nvSpPr>
          <p:cNvPr id="37" name="Shape 35"/>
          <p:cNvSpPr/>
          <p:nvPr/>
        </p:nvSpPr>
        <p:spPr>
          <a:xfrm>
            <a:off x="3523878" y="2346960"/>
            <a:ext cx="238183" cy="234696"/>
          </a:xfrm>
          <a:prstGeom prst="roundRect">
            <a:avLst>
              <a:gd name="adj" fmla="val 19481"/>
            </a:avLst>
          </a:prstGeom>
          <a:solidFill>
            <a:srgbClr val="2E6DB4"/>
          </a:solidFill>
          <a:ln/>
        </p:spPr>
      </p:sp>
      <p:sp>
        <p:nvSpPr>
          <p:cNvPr id="38" name="Text 36"/>
          <p:cNvSpPr txBox="1"/>
          <p:nvPr/>
        </p:nvSpPr>
        <p:spPr>
          <a:xfrm>
            <a:off x="3372307" y="3319272"/>
            <a:ext cx="541325" cy="237744"/>
          </a:xfrm>
          <a:prstGeom prst="rect">
            <a:avLst/>
          </a:prstGeom>
          <a:noFill/>
          <a:ln/>
        </p:spPr>
        <p:txBody>
          <a:bodyPr wrap="square" lIns="0" tIns="0" rIns="0" bIns="0" rtlCol="0" anchor="t"/>
          <a:lstStyle/>
          <a:p>
            <a:pPr algn="ctr" indent="0" marL="0">
              <a:buNone/>
            </a:pPr>
            <a:r>
              <a:rPr lang="en-US" sz="1100" dirty="0">
                <a:solidFill>
                  <a:srgbClr val="5B6573"/>
                </a:solidFill>
                <a:latin typeface="Calibri" pitchFamily="34" charset="0"/>
                <a:ea typeface="Calibri" pitchFamily="34" charset="-122"/>
                <a:cs typeface="Calibri" pitchFamily="34" charset="-120"/>
              </a:rPr>
              <a:t>Apr</a:t>
            </a:r>
            <a:endParaRPr lang="en-US" sz="1100" dirty="0"/>
          </a:p>
        </p:txBody>
      </p:sp>
      <p:sp>
        <p:nvSpPr>
          <p:cNvPr id="39" name="Text 37"/>
          <p:cNvSpPr txBox="1"/>
          <p:nvPr/>
        </p:nvSpPr>
        <p:spPr>
          <a:xfrm>
            <a:off x="704088" y="3648456"/>
            <a:ext cx="3255264" cy="256032"/>
          </a:xfrm>
          <a:prstGeom prst="rect">
            <a:avLst/>
          </a:prstGeom>
          <a:noFill/>
          <a:ln/>
        </p:spPr>
        <p:txBody>
          <a:bodyPr wrap="square" lIns="0" tIns="0" rIns="0" bIns="0" rtlCol="0" anchor="t"/>
          <a:lstStyle/>
          <a:p>
            <a:pPr algn="l" indent="0" marL="0">
              <a:buNone/>
            </a:pPr>
            <a:r>
              <a:rPr lang="en-US" sz="1100" dirty="0">
                <a:solidFill>
                  <a:srgbClr val="5B6573"/>
                </a:solidFill>
                <a:latin typeface="Calibri" pitchFamily="34" charset="0"/>
                <a:ea typeface="Calibri" pitchFamily="34" charset="-122"/>
                <a:cs typeface="Calibri" pitchFamily="34" charset="-120"/>
              </a:rPr>
              <a:t>The range narrows as more tests come in</a:t>
            </a:r>
            <a:endParaRPr lang="en-US" sz="1100" dirty="0"/>
          </a:p>
        </p:txBody>
      </p:sp>
      <p:sp>
        <p:nvSpPr>
          <p:cNvPr id="40" name="Text 38"/>
          <p:cNvSpPr txBox="1"/>
          <p:nvPr/>
        </p:nvSpPr>
        <p:spPr>
          <a:xfrm>
            <a:off x="521208" y="4069080"/>
            <a:ext cx="3621024" cy="36576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Quantile model plus conformal band, 80 % target (77 to 83 % accepted).</a:t>
            </a:r>
            <a:endParaRPr lang="en-US" sz="1050" dirty="0"/>
          </a:p>
        </p:txBody>
      </p:sp>
      <p:sp>
        <p:nvSpPr>
          <p:cNvPr id="41" name="Text 39"/>
          <p:cNvSpPr txBox="1"/>
          <p:nvPr/>
        </p:nvSpPr>
        <p:spPr>
          <a:xfrm>
            <a:off x="521208" y="4462272"/>
            <a:ext cx="3621024" cy="64008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Mapped to the NTA percentile through an editable table: 2026 average curve, with 2024 easy and tough shifts as the uncertainty envelope.</a:t>
            </a:r>
            <a:endParaRPr lang="en-US" sz="1050" dirty="0"/>
          </a:p>
        </p:txBody>
      </p:sp>
      <p:sp>
        <p:nvSpPr>
          <p:cNvPr id="42" name="Text 40"/>
          <p:cNvSpPr txBox="1"/>
          <p:nvPr/>
        </p:nvSpPr>
        <p:spPr>
          <a:xfrm>
            <a:off x="521208" y="5120640"/>
            <a:ext cx="3621024" cy="45720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Shown as a range with a disclaimer, never a single number or a rank promise.</a:t>
            </a:r>
            <a:endParaRPr lang="en-US" sz="1050" dirty="0"/>
          </a:p>
        </p:txBody>
      </p:sp>
      <p:sp>
        <p:nvSpPr>
          <p:cNvPr id="43" name="Shape 41"/>
          <p:cNvSpPr/>
          <p:nvPr/>
        </p:nvSpPr>
        <p:spPr>
          <a:xfrm>
            <a:off x="521208" y="5669280"/>
            <a:ext cx="1609344" cy="219456"/>
          </a:xfrm>
          <a:prstGeom prst="roundRect">
            <a:avLst>
              <a:gd name="adj" fmla="val 50000"/>
            </a:avLst>
          </a:prstGeom>
          <a:solidFill>
            <a:srgbClr val="FFFFFF"/>
          </a:solidFill>
          <a:ln w="12700">
            <a:solidFill>
              <a:srgbClr val="5B6573"/>
            </a:solidFill>
            <a:prstDash val="solid"/>
          </a:ln>
        </p:spPr>
      </p:sp>
      <p:sp>
        <p:nvSpPr>
          <p:cNvPr id="44" name="Text 42"/>
          <p:cNvSpPr txBox="1"/>
          <p:nvPr/>
        </p:nvSpPr>
        <p:spPr>
          <a:xfrm>
            <a:off x="521208" y="566928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45" name="Shape 43"/>
          <p:cNvSpPr/>
          <p:nvPr/>
        </p:nvSpPr>
        <p:spPr>
          <a:xfrm>
            <a:off x="2514600" y="5669280"/>
            <a:ext cx="717804" cy="219456"/>
          </a:xfrm>
          <a:prstGeom prst="roundRect">
            <a:avLst>
              <a:gd name="adj" fmla="val 50000"/>
            </a:avLst>
          </a:prstGeom>
          <a:solidFill>
            <a:srgbClr val="D4A24C"/>
          </a:solidFill>
          <a:ln/>
        </p:spPr>
      </p:sp>
      <p:sp>
        <p:nvSpPr>
          <p:cNvPr id="46" name="Text 44"/>
          <p:cNvSpPr txBox="1"/>
          <p:nvPr/>
        </p:nvSpPr>
        <p:spPr>
          <a:xfrm>
            <a:off x="2514600" y="5669280"/>
            <a:ext cx="717804" cy="219456"/>
          </a:xfrm>
          <a:prstGeom prst="rect">
            <a:avLst/>
          </a:prstGeom>
          <a:noFill/>
          <a:ln/>
        </p:spPr>
        <p:txBody>
          <a:bodyPr wrap="square" lIns="0" tIns="0" rIns="0" bIns="0" rtlCol="0" anchor="ctr"/>
          <a:lstStyle/>
          <a:p>
            <a:pPr algn="ctr" indent="0" marL="0">
              <a:buNone/>
            </a:pPr>
            <a:r>
              <a:rPr lang="en-US" sz="900" b="1" spc="100" kern="0" dirty="0">
                <a:solidFill>
                  <a:srgbClr val="17325C"/>
                </a:solidFill>
                <a:latin typeface="Calibri" pitchFamily="34" charset="0"/>
                <a:ea typeface="Calibri" pitchFamily="34" charset="-122"/>
                <a:cs typeface="Calibri" pitchFamily="34" charset="-120"/>
              </a:rPr>
              <a:t>PENDING</a:t>
            </a:r>
            <a:endParaRPr lang="en-US" sz="900" dirty="0"/>
          </a:p>
        </p:txBody>
      </p:sp>
      <p:sp>
        <p:nvSpPr>
          <p:cNvPr id="47" name="Shape 45"/>
          <p:cNvSpPr/>
          <p:nvPr/>
        </p:nvSpPr>
        <p:spPr>
          <a:xfrm>
            <a:off x="521208" y="5943600"/>
            <a:ext cx="3621024" cy="256032"/>
          </a:xfrm>
          <a:prstGeom prst="rect">
            <a:avLst/>
          </a:prstGeom>
          <a:solidFill>
            <a:srgbClr val="5B6573"/>
          </a:solidFill>
          <a:ln/>
        </p:spPr>
      </p:sp>
      <p:sp>
        <p:nvSpPr>
          <p:cNvPr id="48" name="Text 46"/>
          <p:cNvSpPr txBox="1"/>
          <p:nvPr/>
        </p:nvSpPr>
        <p:spPr>
          <a:xfrm>
            <a:off x="658368" y="5943600"/>
            <a:ext cx="3346704"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Coverage results pending</a:t>
            </a:r>
            <a:endParaRPr lang="en-US" sz="1050" dirty="0"/>
          </a:p>
        </p:txBody>
      </p:sp>
      <p:sp>
        <p:nvSpPr>
          <p:cNvPr id="49" name="Shape 47"/>
          <p:cNvSpPr/>
          <p:nvPr/>
        </p:nvSpPr>
        <p:spPr>
          <a:xfrm>
            <a:off x="4389120" y="1115568"/>
            <a:ext cx="4572000" cy="301752"/>
          </a:xfrm>
          <a:prstGeom prst="rect">
            <a:avLst/>
          </a:prstGeom>
          <a:solidFill>
            <a:srgbClr val="2E6DB4"/>
          </a:solidFill>
          <a:ln/>
        </p:spPr>
      </p:sp>
      <p:sp>
        <p:nvSpPr>
          <p:cNvPr id="50" name="Text 48"/>
          <p:cNvSpPr txBox="1"/>
          <p:nvPr/>
        </p:nvSpPr>
        <p:spPr>
          <a:xfrm>
            <a:off x="4498848" y="1115568"/>
            <a:ext cx="435254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PARENT REPORT: HINDI AND ENGLISH</a:t>
            </a:r>
            <a:endParaRPr lang="en-US" sz="1200" dirty="0"/>
          </a:p>
        </p:txBody>
      </p:sp>
      <p:sp>
        <p:nvSpPr>
          <p:cNvPr id="51" name="Shape 49"/>
          <p:cNvSpPr/>
          <p:nvPr/>
        </p:nvSpPr>
        <p:spPr>
          <a:xfrm>
            <a:off x="9015984" y="1115568"/>
            <a:ext cx="0" cy="5212080"/>
          </a:xfrm>
          <a:prstGeom prst="line">
            <a:avLst/>
          </a:prstGeom>
          <a:noFill/>
          <a:ln w="12700">
            <a:solidFill>
              <a:srgbClr val="8FA9CC"/>
            </a:solidFill>
            <a:prstDash val="dash"/>
          </a:ln>
        </p:spPr>
      </p:sp>
      <p:pic>
        <p:nvPicPr>
          <p:cNvPr id="52" name="Image 0" descr="Parent report in Hindi and English (illustrative)">    </p:cNvPr>
          <p:cNvPicPr>
            <a:picLocks noChangeAspect="1"/>
          </p:cNvPicPr>
          <p:nvPr/>
        </p:nvPicPr>
        <p:blipFill>
          <a:blip r:embed="rId1"/>
          <a:stretch>
            <a:fillRect/>
          </a:stretch>
        </p:blipFill>
        <p:spPr>
          <a:xfrm>
            <a:off x="4480560" y="1463040"/>
            <a:ext cx="4389120" cy="2633472"/>
          </a:xfrm>
          <a:prstGeom prst="rect">
            <a:avLst/>
          </a:prstGeom>
        </p:spPr>
      </p:pic>
      <p:sp>
        <p:nvSpPr>
          <p:cNvPr id="53" name="Shape 50"/>
          <p:cNvSpPr/>
          <p:nvPr/>
        </p:nvSpPr>
        <p:spPr>
          <a:xfrm>
            <a:off x="7132320" y="1600200"/>
            <a:ext cx="274320" cy="274320"/>
          </a:xfrm>
          <a:prstGeom prst="ellipse">
            <a:avLst/>
          </a:prstGeom>
          <a:solidFill>
            <a:srgbClr val="1F4A82"/>
          </a:solidFill>
          <a:ln w="19050">
            <a:solidFill>
              <a:srgbClr val="FFFFFF"/>
            </a:solidFill>
            <a:prstDash val="solid"/>
          </a:ln>
        </p:spPr>
      </p:sp>
      <p:sp>
        <p:nvSpPr>
          <p:cNvPr id="54" name="Text 51"/>
          <p:cNvSpPr txBox="1"/>
          <p:nvPr/>
        </p:nvSpPr>
        <p:spPr>
          <a:xfrm>
            <a:off x="7132320" y="16002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5" name="Shape 52"/>
          <p:cNvSpPr/>
          <p:nvPr/>
        </p:nvSpPr>
        <p:spPr>
          <a:xfrm>
            <a:off x="4709160" y="3931920"/>
            <a:ext cx="274320" cy="274320"/>
          </a:xfrm>
          <a:prstGeom prst="ellipse">
            <a:avLst/>
          </a:prstGeom>
          <a:solidFill>
            <a:srgbClr val="1F4A82"/>
          </a:solidFill>
          <a:ln w="19050">
            <a:solidFill>
              <a:srgbClr val="FFFFFF"/>
            </a:solidFill>
            <a:prstDash val="solid"/>
          </a:ln>
        </p:spPr>
      </p:sp>
      <p:sp>
        <p:nvSpPr>
          <p:cNvPr id="56" name="Text 53"/>
          <p:cNvSpPr txBox="1"/>
          <p:nvPr/>
        </p:nvSpPr>
        <p:spPr>
          <a:xfrm>
            <a:off x="4709160" y="39319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57" name="Text 54"/>
          <p:cNvSpPr txBox="1"/>
          <p:nvPr/>
        </p:nvSpPr>
        <p:spPr>
          <a:xfrm>
            <a:off x="4526280" y="4343400"/>
            <a:ext cx="4297680" cy="2743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1  Every number and topic comes from the data, never from the AI.</a:t>
            </a:r>
            <a:endParaRPr lang="en-US" sz="1050" dirty="0"/>
          </a:p>
        </p:txBody>
      </p:sp>
      <p:sp>
        <p:nvSpPr>
          <p:cNvPr id="58" name="Text 55"/>
          <p:cNvSpPr txBox="1"/>
          <p:nvPr/>
        </p:nvSpPr>
        <p:spPr>
          <a:xfrm>
            <a:off x="4526280" y="4617720"/>
            <a:ext cx="4297680" cy="274320"/>
          </a:xfrm>
          <a:prstGeom prst="rect">
            <a:avLst/>
          </a:prstGeom>
          <a:noFill/>
          <a:ln/>
        </p:spPr>
        <p:txBody>
          <a:bodyPr wrap="square" lIns="0" tIns="0" rIns="0" bIns="0" rtlCol="0" anchor="t"/>
          <a:lstStyle/>
          <a:p>
            <a:pPr algn="l" indent="0" marL="0">
              <a:buNone/>
            </a:pPr>
            <a:r>
              <a:rPr lang="en-US" sz="1050" dirty="0">
                <a:solidFill>
                  <a:srgbClr val="1F2937"/>
                </a:solidFill>
                <a:latin typeface="Calibri" pitchFamily="34" charset="0"/>
                <a:ea typeface="Calibri" pitchFamily="34" charset="-122"/>
                <a:cs typeface="Calibri" pitchFamily="34" charset="-120"/>
              </a:rPr>
              <a:t>2  Checked before sending: if any check fails, a template is sent instead.</a:t>
            </a:r>
            <a:endParaRPr lang="en-US" sz="1050" dirty="0"/>
          </a:p>
        </p:txBody>
      </p:sp>
      <p:sp>
        <p:nvSpPr>
          <p:cNvPr id="59" name="Shape 56"/>
          <p:cNvSpPr/>
          <p:nvPr/>
        </p:nvSpPr>
        <p:spPr>
          <a:xfrm>
            <a:off x="4526280" y="5029200"/>
            <a:ext cx="1075944" cy="256032"/>
          </a:xfrm>
          <a:prstGeom prst="roundRect">
            <a:avLst>
              <a:gd name="adj" fmla="val 50000"/>
            </a:avLst>
          </a:prstGeom>
          <a:solidFill>
            <a:srgbClr val="E3ECF7"/>
          </a:solidFill>
          <a:ln/>
        </p:spPr>
      </p:sp>
      <p:sp>
        <p:nvSpPr>
          <p:cNvPr id="60" name="Text 57"/>
          <p:cNvSpPr txBox="1"/>
          <p:nvPr/>
        </p:nvSpPr>
        <p:spPr>
          <a:xfrm>
            <a:off x="4526280" y="5029200"/>
            <a:ext cx="1075944" cy="256032"/>
          </a:xfrm>
          <a:prstGeom prst="rect">
            <a:avLst/>
          </a:prstGeom>
          <a:noFill/>
          <a:ln/>
        </p:spPr>
        <p:txBody>
          <a:bodyPr wrap="square" lIns="0" tIns="0" rIns="0" bIns="0" rtlCol="0" anchor="ctr"/>
          <a:lstStyle/>
          <a:p>
            <a:pPr algn="ctr" indent="0" marL="0">
              <a:buNone/>
            </a:pPr>
            <a:r>
              <a:rPr lang="en-US" sz="1000" dirty="0">
                <a:solidFill>
                  <a:srgbClr val="17325C"/>
                </a:solidFill>
                <a:latin typeface="Calibri" pitchFamily="34" charset="0"/>
                <a:ea typeface="Calibri" pitchFamily="34" charset="-122"/>
                <a:cs typeface="Calibri" pitchFamily="34" charset="-120"/>
              </a:rPr>
              <a:t>No AI needed</a:t>
            </a:r>
            <a:endParaRPr lang="en-US" sz="1000" dirty="0"/>
          </a:p>
        </p:txBody>
      </p:sp>
      <p:sp>
        <p:nvSpPr>
          <p:cNvPr id="61" name="Shape 58"/>
          <p:cNvSpPr/>
          <p:nvPr/>
        </p:nvSpPr>
        <p:spPr>
          <a:xfrm>
            <a:off x="5675376" y="5029200"/>
            <a:ext cx="1075944" cy="256032"/>
          </a:xfrm>
          <a:prstGeom prst="roundRect">
            <a:avLst>
              <a:gd name="adj" fmla="val 50000"/>
            </a:avLst>
          </a:prstGeom>
          <a:solidFill>
            <a:srgbClr val="E3ECF7"/>
          </a:solidFill>
          <a:ln/>
        </p:spPr>
      </p:sp>
      <p:sp>
        <p:nvSpPr>
          <p:cNvPr id="62" name="Text 59"/>
          <p:cNvSpPr txBox="1"/>
          <p:nvPr/>
        </p:nvSpPr>
        <p:spPr>
          <a:xfrm>
            <a:off x="5675376" y="5029200"/>
            <a:ext cx="1075944" cy="256032"/>
          </a:xfrm>
          <a:prstGeom prst="rect">
            <a:avLst/>
          </a:prstGeom>
          <a:noFill/>
          <a:ln/>
        </p:spPr>
        <p:txBody>
          <a:bodyPr wrap="square" lIns="0" tIns="0" rIns="0" bIns="0" rtlCol="0" anchor="ctr"/>
          <a:lstStyle/>
          <a:p>
            <a:pPr algn="ctr" indent="0" marL="0">
              <a:buNone/>
            </a:pPr>
            <a:r>
              <a:rPr lang="en-US" sz="1000" dirty="0">
                <a:solidFill>
                  <a:srgbClr val="17325C"/>
                </a:solidFill>
                <a:latin typeface="Calibri" pitchFamily="34" charset="0"/>
                <a:ea typeface="Calibri" pitchFamily="34" charset="-122"/>
                <a:cs typeface="Calibri" pitchFamily="34" charset="-120"/>
              </a:rPr>
              <a:t>20 templates</a:t>
            </a:r>
            <a:endParaRPr lang="en-US" sz="1000" dirty="0"/>
          </a:p>
        </p:txBody>
      </p:sp>
      <p:sp>
        <p:nvSpPr>
          <p:cNvPr id="63" name="Shape 60"/>
          <p:cNvSpPr/>
          <p:nvPr/>
        </p:nvSpPr>
        <p:spPr>
          <a:xfrm>
            <a:off x="6824472" y="5029200"/>
            <a:ext cx="1355344" cy="256032"/>
          </a:xfrm>
          <a:prstGeom prst="roundRect">
            <a:avLst>
              <a:gd name="adj" fmla="val 50000"/>
            </a:avLst>
          </a:prstGeom>
          <a:solidFill>
            <a:srgbClr val="E3ECF7"/>
          </a:solidFill>
          <a:ln/>
        </p:spPr>
      </p:sp>
      <p:sp>
        <p:nvSpPr>
          <p:cNvPr id="64" name="Text 61"/>
          <p:cNvSpPr txBox="1"/>
          <p:nvPr/>
        </p:nvSpPr>
        <p:spPr>
          <a:xfrm>
            <a:off x="6824472" y="5029200"/>
            <a:ext cx="1355344" cy="256032"/>
          </a:xfrm>
          <a:prstGeom prst="rect">
            <a:avLst/>
          </a:prstGeom>
          <a:noFill/>
          <a:ln/>
        </p:spPr>
        <p:txBody>
          <a:bodyPr wrap="square" lIns="0" tIns="0" rIns="0" bIns="0" rtlCol="0" anchor="ctr"/>
          <a:lstStyle/>
          <a:p>
            <a:pPr algn="ctr" indent="0" marL="0">
              <a:buNone/>
            </a:pPr>
            <a:r>
              <a:rPr lang="en-US" sz="1000" dirty="0">
                <a:solidFill>
                  <a:srgbClr val="17325C"/>
                </a:solidFill>
                <a:latin typeface="Calibri" pitchFamily="34" charset="0"/>
                <a:ea typeface="Calibri" pitchFamily="34" charset="-122"/>
                <a:cs typeface="Calibri" pitchFamily="34" charset="-120"/>
              </a:rPr>
              <a:t>Names added last</a:t>
            </a:r>
            <a:endParaRPr lang="en-US" sz="1000" dirty="0"/>
          </a:p>
        </p:txBody>
      </p:sp>
      <p:sp>
        <p:nvSpPr>
          <p:cNvPr id="65" name="Shape 62"/>
          <p:cNvSpPr/>
          <p:nvPr/>
        </p:nvSpPr>
        <p:spPr>
          <a:xfrm>
            <a:off x="4526280" y="5669280"/>
            <a:ext cx="1609344" cy="219456"/>
          </a:xfrm>
          <a:prstGeom prst="roundRect">
            <a:avLst>
              <a:gd name="adj" fmla="val 50000"/>
            </a:avLst>
          </a:prstGeom>
          <a:solidFill>
            <a:srgbClr val="FFFFFF"/>
          </a:solidFill>
          <a:ln w="12700">
            <a:solidFill>
              <a:srgbClr val="5B6573"/>
            </a:solidFill>
            <a:prstDash val="solid"/>
          </a:ln>
        </p:spPr>
      </p:sp>
      <p:sp>
        <p:nvSpPr>
          <p:cNvPr id="66" name="Text 63"/>
          <p:cNvSpPr txBox="1"/>
          <p:nvPr/>
        </p:nvSpPr>
        <p:spPr>
          <a:xfrm>
            <a:off x="4526280" y="566928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67" name="Text 64"/>
          <p:cNvSpPr txBox="1"/>
          <p:nvPr/>
        </p:nvSpPr>
        <p:spPr>
          <a:xfrm>
            <a:off x="6492240" y="5641848"/>
            <a:ext cx="2331720" cy="365760"/>
          </a:xfrm>
          <a:prstGeom prst="rect">
            <a:avLst/>
          </a:prstGeom>
          <a:noFill/>
          <a:ln/>
        </p:spPr>
        <p:txBody>
          <a:bodyPr wrap="square" lIns="0" tIns="0" rIns="0" bIns="0" rtlCol="0" anchor="ctr"/>
          <a:lstStyle/>
          <a:p>
            <a:pPr algn="l" indent="0" marL="0">
              <a:buNone/>
            </a:pPr>
            <a:r>
              <a:rPr lang="en-US" sz="950" dirty="0">
                <a:solidFill>
                  <a:srgbClr val="5B6573"/>
                </a:solidFill>
                <a:latin typeface="Calibri" pitchFamily="34" charset="0"/>
                <a:ea typeface="Calibri" pitchFamily="34" charset="-122"/>
                <a:cs typeface="Calibri" pitchFamily="34" charset="-120"/>
              </a:rPr>
              <a:t>Report text produced by our report module (template path) for a synthetic student.</a:t>
            </a:r>
            <a:endParaRPr lang="en-US" sz="950" dirty="0"/>
          </a:p>
        </p:txBody>
      </p:sp>
      <p:sp>
        <p:nvSpPr>
          <p:cNvPr id="68" name="Shape 65"/>
          <p:cNvSpPr/>
          <p:nvPr/>
        </p:nvSpPr>
        <p:spPr>
          <a:xfrm>
            <a:off x="4480560" y="5989320"/>
            <a:ext cx="4389120" cy="246888"/>
          </a:xfrm>
          <a:prstGeom prst="rect">
            <a:avLst/>
          </a:prstGeom>
          <a:solidFill>
            <a:srgbClr val="5B6573"/>
          </a:solidFill>
          <a:ln/>
        </p:spPr>
      </p:sp>
      <p:sp>
        <p:nvSpPr>
          <p:cNvPr id="69" name="Text 66"/>
          <p:cNvSpPr txBox="1"/>
          <p:nvPr/>
        </p:nvSpPr>
        <p:spPr>
          <a:xfrm>
            <a:off x="4617720" y="5989320"/>
            <a:ext cx="4114800" cy="24688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Hindi still needs a native reviewer</a:t>
            </a:r>
            <a:endParaRPr lang="en-US" sz="1050" dirty="0"/>
          </a:p>
        </p:txBody>
      </p:sp>
      <p:sp>
        <p:nvSpPr>
          <p:cNvPr id="70" name="Shape 67"/>
          <p:cNvSpPr/>
          <p:nvPr/>
        </p:nvSpPr>
        <p:spPr>
          <a:xfrm>
            <a:off x="9098280" y="1115568"/>
            <a:ext cx="2681935" cy="301752"/>
          </a:xfrm>
          <a:prstGeom prst="rect">
            <a:avLst/>
          </a:prstGeom>
          <a:solidFill>
            <a:srgbClr val="1F4A82"/>
          </a:solidFill>
          <a:ln/>
        </p:spPr>
      </p:sp>
      <p:sp>
        <p:nvSpPr>
          <p:cNvPr id="71" name="Text 68"/>
          <p:cNvSpPr txBox="1"/>
          <p:nvPr/>
        </p:nvSpPr>
        <p:spPr>
          <a:xfrm>
            <a:off x="9208008" y="1115568"/>
            <a:ext cx="246247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CHECKING PIPELINE</a:t>
            </a:r>
            <a:endParaRPr lang="en-US" sz="1200" dirty="0"/>
          </a:p>
        </p:txBody>
      </p:sp>
      <p:sp>
        <p:nvSpPr>
          <p:cNvPr id="72" name="Shape 69"/>
          <p:cNvSpPr/>
          <p:nvPr/>
        </p:nvSpPr>
        <p:spPr>
          <a:xfrm>
            <a:off x="9208008" y="1481328"/>
            <a:ext cx="365760" cy="365760"/>
          </a:xfrm>
          <a:prstGeom prst="ellipse">
            <a:avLst/>
          </a:prstGeom>
          <a:solidFill>
            <a:srgbClr val="1F4A82"/>
          </a:solidFill>
          <a:ln/>
        </p:spPr>
      </p:sp>
      <p:pic>
        <p:nvPicPr>
          <p:cNvPr id="73" name="Image 1" descr="FaDatabase icon">    </p:cNvPr>
          <p:cNvPicPr>
            <a:picLocks noChangeAspect="1"/>
          </p:cNvPicPr>
          <p:nvPr/>
        </p:nvPicPr>
        <p:blipFill>
          <a:blip r:embed="rId2"/>
          <a:stretch>
            <a:fillRect/>
          </a:stretch>
        </p:blipFill>
        <p:spPr>
          <a:xfrm>
            <a:off x="9288475" y="1561795"/>
            <a:ext cx="204826" cy="204826"/>
          </a:xfrm>
          <a:prstGeom prst="rect">
            <a:avLst/>
          </a:prstGeom>
        </p:spPr>
      </p:pic>
      <p:sp>
        <p:nvSpPr>
          <p:cNvPr id="74" name="Text 70"/>
          <p:cNvSpPr txBox="1"/>
          <p:nvPr/>
        </p:nvSpPr>
        <p:spPr>
          <a:xfrm>
            <a:off x="9665208" y="1481328"/>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Facts from data</a:t>
            </a:r>
            <a:endParaRPr lang="en-US" sz="1150" dirty="0"/>
          </a:p>
        </p:txBody>
      </p:sp>
      <p:sp>
        <p:nvSpPr>
          <p:cNvPr id="75" name="Text 71"/>
          <p:cNvSpPr txBox="1"/>
          <p:nvPr/>
        </p:nvSpPr>
        <p:spPr>
          <a:xfrm>
            <a:off x="9665208" y="1847088"/>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Attendance, tests, topics, trend, two tips.</a:t>
            </a:r>
            <a:endParaRPr lang="en-US" sz="1000" dirty="0"/>
          </a:p>
        </p:txBody>
      </p:sp>
      <p:sp>
        <p:nvSpPr>
          <p:cNvPr id="76" name="Shape 72"/>
          <p:cNvSpPr/>
          <p:nvPr/>
        </p:nvSpPr>
        <p:spPr>
          <a:xfrm>
            <a:off x="9208008" y="2505456"/>
            <a:ext cx="365760" cy="365760"/>
          </a:xfrm>
          <a:prstGeom prst="ellipse">
            <a:avLst/>
          </a:prstGeom>
          <a:solidFill>
            <a:srgbClr val="2E6DB4"/>
          </a:solidFill>
          <a:ln/>
        </p:spPr>
      </p:sp>
      <p:pic>
        <p:nvPicPr>
          <p:cNvPr id="77" name="Image 2" descr="FaRobot icon">    </p:cNvPr>
          <p:cNvPicPr>
            <a:picLocks noChangeAspect="1"/>
          </p:cNvPicPr>
          <p:nvPr/>
        </p:nvPicPr>
        <p:blipFill>
          <a:blip r:embed="rId3"/>
          <a:stretch>
            <a:fillRect/>
          </a:stretch>
        </p:blipFill>
        <p:spPr>
          <a:xfrm>
            <a:off x="9288475" y="2585923"/>
            <a:ext cx="204826" cy="204826"/>
          </a:xfrm>
          <a:prstGeom prst="rect">
            <a:avLst/>
          </a:prstGeom>
        </p:spPr>
      </p:pic>
      <p:sp>
        <p:nvSpPr>
          <p:cNvPr id="78" name="Text 73"/>
          <p:cNvSpPr txBox="1"/>
          <p:nvPr/>
        </p:nvSpPr>
        <p:spPr>
          <a:xfrm>
            <a:off x="9665208" y="2505456"/>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Optional local AI</a:t>
            </a:r>
            <a:endParaRPr lang="en-US" sz="1150" dirty="0"/>
          </a:p>
        </p:txBody>
      </p:sp>
      <p:sp>
        <p:nvSpPr>
          <p:cNvPr id="79" name="Text 74"/>
          <p:cNvSpPr txBox="1"/>
          <p:nvPr/>
        </p:nvSpPr>
        <p:spPr>
          <a:xfrm>
            <a:off x="9665208" y="2871216"/>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Only rewords; runs on the laptop.</a:t>
            </a:r>
            <a:endParaRPr lang="en-US" sz="1000" dirty="0"/>
          </a:p>
        </p:txBody>
      </p:sp>
      <p:sp>
        <p:nvSpPr>
          <p:cNvPr id="80" name="Shape 75"/>
          <p:cNvSpPr/>
          <p:nvPr/>
        </p:nvSpPr>
        <p:spPr>
          <a:xfrm>
            <a:off x="9208008" y="3529584"/>
            <a:ext cx="365760" cy="365760"/>
          </a:xfrm>
          <a:prstGeom prst="ellipse">
            <a:avLst/>
          </a:prstGeom>
          <a:solidFill>
            <a:srgbClr val="1F4A82"/>
          </a:solidFill>
          <a:ln/>
        </p:spPr>
      </p:sp>
      <p:pic>
        <p:nvPicPr>
          <p:cNvPr id="81" name="Image 3" descr="FaListCheck icon">    </p:cNvPr>
          <p:cNvPicPr>
            <a:picLocks noChangeAspect="1"/>
          </p:cNvPicPr>
          <p:nvPr/>
        </p:nvPicPr>
        <p:blipFill>
          <a:blip r:embed="rId4"/>
          <a:stretch>
            <a:fillRect/>
          </a:stretch>
        </p:blipFill>
        <p:spPr>
          <a:xfrm>
            <a:off x="9288475" y="3610051"/>
            <a:ext cx="204826" cy="204826"/>
          </a:xfrm>
          <a:prstGeom prst="rect">
            <a:avLst/>
          </a:prstGeom>
        </p:spPr>
      </p:pic>
      <p:sp>
        <p:nvSpPr>
          <p:cNvPr id="82" name="Text 76"/>
          <p:cNvSpPr txBox="1"/>
          <p:nvPr/>
        </p:nvSpPr>
        <p:spPr>
          <a:xfrm>
            <a:off x="9665208" y="3529584"/>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Eight checks</a:t>
            </a:r>
            <a:endParaRPr lang="en-US" sz="1150" dirty="0"/>
          </a:p>
        </p:txBody>
      </p:sp>
      <p:sp>
        <p:nvSpPr>
          <p:cNvPr id="83" name="Text 77"/>
          <p:cNvSpPr txBox="1"/>
          <p:nvPr/>
        </p:nvSpPr>
        <p:spPr>
          <a:xfrm>
            <a:off x="9665208" y="3895344"/>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Numbers, topics, names, banned words, length, trend, tips, schema.</a:t>
            </a:r>
            <a:endParaRPr lang="en-US" sz="1000" dirty="0"/>
          </a:p>
        </p:txBody>
      </p:sp>
      <p:sp>
        <p:nvSpPr>
          <p:cNvPr id="84" name="Shape 78"/>
          <p:cNvSpPr/>
          <p:nvPr/>
        </p:nvSpPr>
        <p:spPr>
          <a:xfrm>
            <a:off x="9208008" y="4553712"/>
            <a:ext cx="365760" cy="365760"/>
          </a:xfrm>
          <a:prstGeom prst="ellipse">
            <a:avLst/>
          </a:prstGeom>
          <a:solidFill>
            <a:srgbClr val="5B8DC9"/>
          </a:solidFill>
          <a:ln/>
        </p:spPr>
      </p:sp>
      <p:pic>
        <p:nvPicPr>
          <p:cNvPr id="85" name="Image 4" descr="FaFilePdf icon">    </p:cNvPr>
          <p:cNvPicPr>
            <a:picLocks noChangeAspect="1"/>
          </p:cNvPicPr>
          <p:nvPr/>
        </p:nvPicPr>
        <p:blipFill>
          <a:blip r:embed="rId5"/>
          <a:stretch>
            <a:fillRect/>
          </a:stretch>
        </p:blipFill>
        <p:spPr>
          <a:xfrm>
            <a:off x="9288475" y="4634179"/>
            <a:ext cx="204826" cy="204826"/>
          </a:xfrm>
          <a:prstGeom prst="rect">
            <a:avLst/>
          </a:prstGeom>
        </p:spPr>
      </p:pic>
      <p:sp>
        <p:nvSpPr>
          <p:cNvPr id="86" name="Text 79"/>
          <p:cNvSpPr txBox="1"/>
          <p:nvPr/>
        </p:nvSpPr>
        <p:spPr>
          <a:xfrm>
            <a:off x="9665208" y="4553712"/>
            <a:ext cx="2005279"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Template fallback</a:t>
            </a:r>
            <a:endParaRPr lang="en-US" sz="1150" dirty="0"/>
          </a:p>
        </p:txBody>
      </p:sp>
      <p:sp>
        <p:nvSpPr>
          <p:cNvPr id="87" name="Text 80"/>
          <p:cNvSpPr txBox="1"/>
          <p:nvPr/>
        </p:nvSpPr>
        <p:spPr>
          <a:xfrm>
            <a:off x="9665208" y="4919472"/>
            <a:ext cx="2005279" cy="566928"/>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Safe human-written text if anything fails.</a:t>
            </a:r>
            <a:endParaRPr lang="en-US" sz="1000" dirty="0"/>
          </a:p>
        </p:txBody>
      </p:sp>
      <p:sp>
        <p:nvSpPr>
          <p:cNvPr id="88" name="Text 81"/>
          <p:cNvSpPr txBox="1"/>
          <p:nvPr/>
        </p:nvSpPr>
        <p:spPr>
          <a:xfrm>
            <a:off x="9208008" y="5029200"/>
            <a:ext cx="2462479" cy="621792"/>
          </a:xfrm>
          <a:prstGeom prst="rect">
            <a:avLst/>
          </a:prstGeom>
          <a:noFill/>
          <a:ln/>
        </p:spPr>
        <p:txBody>
          <a:bodyPr wrap="square" lIns="0" tIns="0" rIns="0" bIns="0" rtlCol="0" anchor="t"/>
          <a:lstStyle/>
          <a:p>
            <a:pPr algn="l" indent="0" marL="0">
              <a:buNone/>
            </a:pPr>
            <a:r>
              <a:rPr lang="en-US" sz="900" b="1" dirty="0">
                <a:solidFill>
                  <a:srgbClr val="1F4A82"/>
                </a:solidFill>
                <a:latin typeface="Calibri" pitchFamily="34" charset="0"/>
                <a:ea typeface="Calibri" pitchFamily="34" charset="-122"/>
                <a:cs typeface="Calibri" pitchFamily="34" charset="-120"/>
              </a:rPr>
              <a:t>Same pipeline, next jobs: </a:t>
            </a:r>
            <a:pPr algn="l" indent="0" marL="0">
              <a:buNone/>
            </a:pPr>
            <a:r>
              <a:rPr lang="en-US" sz="900" dirty="0">
                <a:solidFill>
                  <a:srgbClr val="1F2937"/>
                </a:solidFill>
                <a:latin typeface="Calibri" pitchFamily="34" charset="0"/>
                <a:ea typeface="Calibri" pitchFamily="34" charset="-122"/>
                <a:cs typeface="Calibri" pitchFamily="34" charset="-120"/>
              </a:rPr>
              <a:t>a 7-day study plan and doubt answers drawn from retrieved notes, under the same checks. Designed, not in the Round 1 build.</a:t>
            </a:r>
            <a:endParaRPr lang="en-US" sz="900" dirty="0"/>
          </a:p>
        </p:txBody>
      </p:sp>
      <p:sp>
        <p:nvSpPr>
          <p:cNvPr id="89" name="Shape 82"/>
          <p:cNvSpPr/>
          <p:nvPr/>
        </p:nvSpPr>
        <p:spPr>
          <a:xfrm>
            <a:off x="9208008" y="5623560"/>
            <a:ext cx="580644" cy="219456"/>
          </a:xfrm>
          <a:prstGeom prst="roundRect">
            <a:avLst>
              <a:gd name="adj" fmla="val 50000"/>
            </a:avLst>
          </a:prstGeom>
          <a:solidFill>
            <a:srgbClr val="1F4A82"/>
          </a:solidFill>
          <a:ln/>
        </p:spPr>
      </p:sp>
      <p:sp>
        <p:nvSpPr>
          <p:cNvPr id="90" name="Text 83"/>
          <p:cNvSpPr txBox="1"/>
          <p:nvPr/>
        </p:nvSpPr>
        <p:spPr>
          <a:xfrm>
            <a:off x="9208008" y="5623560"/>
            <a:ext cx="580644" cy="21945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BUILT</a:t>
            </a:r>
            <a:endParaRPr lang="en-US" sz="900" dirty="0"/>
          </a:p>
        </p:txBody>
      </p:sp>
      <p:sp>
        <p:nvSpPr>
          <p:cNvPr id="91" name="Text 84"/>
          <p:cNvSpPr txBox="1"/>
          <p:nvPr/>
        </p:nvSpPr>
        <p:spPr>
          <a:xfrm>
            <a:off x="9875520" y="5596128"/>
            <a:ext cx="1767535" cy="274320"/>
          </a:xfrm>
          <a:prstGeom prst="rect">
            <a:avLst/>
          </a:prstGeom>
          <a:noFill/>
          <a:ln/>
        </p:spPr>
        <p:txBody>
          <a:bodyPr wrap="square" lIns="0" tIns="0" rIns="0" bIns="0" rtlCol="0" anchor="ctr"/>
          <a:lstStyle/>
          <a:p>
            <a:pPr algn="l" indent="0" marL="0">
              <a:buNone/>
            </a:pPr>
            <a:r>
              <a:rPr lang="en-US" sz="1000" dirty="0">
                <a:solidFill>
                  <a:srgbClr val="5B6573"/>
                </a:solidFill>
                <a:latin typeface="Calibri" pitchFamily="34" charset="0"/>
                <a:ea typeface="Calibri" pitchFamily="34" charset="-122"/>
                <a:cs typeface="Calibri" pitchFamily="34" charset="-120"/>
              </a:rPr>
              <a:t>16 automated tests</a:t>
            </a:r>
            <a:endParaRPr lang="en-US" sz="1000" dirty="0"/>
          </a:p>
        </p:txBody>
      </p:sp>
      <p:sp>
        <p:nvSpPr>
          <p:cNvPr id="92" name="Text 85"/>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backend/app/genai (report module), contracts/report_numbers.schema.json. An independent attack on the checker found gaps; fixes are in progress, so no catch rate is claimed here.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PRIVACY, SAFETY AND COMPLIANCE</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Built for the law and for children: consent first, supportive actions only, no rankings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FEASIBILITY, PRIVACY AND SAFETY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Shape 9"/>
          <p:cNvSpPr/>
          <p:nvPr/>
        </p:nvSpPr>
        <p:spPr>
          <a:xfrm>
            <a:off x="5783580" y="6528816"/>
            <a:ext cx="1343025" cy="274320"/>
          </a:xfrm>
          <a:prstGeom prst="rect">
            <a:avLst/>
          </a:prstGeom>
          <a:solidFill>
            <a:srgbClr val="1F4A82"/>
          </a:solidFill>
          <a:ln/>
        </p:spPr>
      </p:sp>
      <p:sp>
        <p:nvSpPr>
          <p:cNvPr id="12" name="Text 10"/>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Trust</a:t>
            </a:r>
            <a:endParaRPr lang="en-US" sz="1050" dirty="0"/>
          </a:p>
        </p:txBody>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160520" cy="301752"/>
          </a:xfrm>
          <a:prstGeom prst="rect">
            <a:avLst/>
          </a:prstGeom>
          <a:solidFill>
            <a:srgbClr val="1F4A82"/>
          </a:solidFill>
          <a:ln/>
        </p:spPr>
      </p:sp>
      <p:sp>
        <p:nvSpPr>
          <p:cNvPr id="17" name="Text 15"/>
          <p:cNvSpPr txBox="1"/>
          <p:nvPr/>
        </p:nvSpPr>
        <p:spPr>
          <a:xfrm>
            <a:off x="521208" y="1115568"/>
            <a:ext cx="39410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WHO GETS WHAT</a:t>
            </a:r>
            <a:endParaRPr lang="en-US" sz="1200" dirty="0"/>
          </a:p>
        </p:txBody>
      </p:sp>
      <p:sp>
        <p:nvSpPr>
          <p:cNvPr id="18" name="Shape 16"/>
          <p:cNvSpPr/>
          <p:nvPr/>
        </p:nvSpPr>
        <p:spPr>
          <a:xfrm>
            <a:off x="4626864" y="1115568"/>
            <a:ext cx="0" cy="4526280"/>
          </a:xfrm>
          <a:prstGeom prst="line">
            <a:avLst/>
          </a:prstGeom>
          <a:noFill/>
          <a:ln w="12700">
            <a:solidFill>
              <a:srgbClr val="8FA9CC"/>
            </a:solidFill>
            <a:prstDash val="dash"/>
          </a:ln>
        </p:spPr>
      </p:sp>
      <p:sp>
        <p:nvSpPr>
          <p:cNvPr id="19" name="Shape 17"/>
          <p:cNvSpPr/>
          <p:nvPr/>
        </p:nvSpPr>
        <p:spPr>
          <a:xfrm>
            <a:off x="502920" y="1481328"/>
            <a:ext cx="960120" cy="457200"/>
          </a:xfrm>
          <a:prstGeom prst="rect">
            <a:avLst/>
          </a:prstGeom>
          <a:solidFill>
            <a:srgbClr val="1F4A82"/>
          </a:solidFill>
          <a:ln/>
        </p:spPr>
      </p:sp>
      <p:sp>
        <p:nvSpPr>
          <p:cNvPr id="20" name="Text 18"/>
          <p:cNvSpPr txBox="1"/>
          <p:nvPr/>
        </p:nvSpPr>
        <p:spPr>
          <a:xfrm>
            <a:off x="548640" y="1481328"/>
            <a:ext cx="868680" cy="457200"/>
          </a:xfrm>
          <a:prstGeom prst="rect">
            <a:avLst/>
          </a:prstGeom>
          <a:noFill/>
          <a:ln/>
        </p:spPr>
        <p:txBody>
          <a:bodyPr wrap="square" lIns="0" tIns="0" rIns="0" bIns="0" rtlCol="0" anchor="ctr"/>
          <a:lstStyle/>
          <a:p>
            <a:pPr algn="l" indent="0" marL="0">
              <a:buNone/>
            </a:pPr>
            <a:endParaRPr lang="en-US" sz="1000" dirty="0"/>
          </a:p>
        </p:txBody>
      </p:sp>
      <p:sp>
        <p:nvSpPr>
          <p:cNvPr id="21" name="Shape 19"/>
          <p:cNvSpPr/>
          <p:nvPr/>
        </p:nvSpPr>
        <p:spPr>
          <a:xfrm>
            <a:off x="1463040" y="1481328"/>
            <a:ext cx="822960" cy="457200"/>
          </a:xfrm>
          <a:prstGeom prst="rect">
            <a:avLst/>
          </a:prstGeom>
          <a:solidFill>
            <a:srgbClr val="1F4A82"/>
          </a:solidFill>
          <a:ln/>
        </p:spPr>
      </p:sp>
      <p:sp>
        <p:nvSpPr>
          <p:cNvPr id="22" name="Text 20"/>
          <p:cNvSpPr txBox="1"/>
          <p:nvPr/>
        </p:nvSpPr>
        <p:spPr>
          <a:xfrm>
            <a:off x="1508760" y="1481328"/>
            <a:ext cx="73152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Academic support</a:t>
            </a:r>
            <a:endParaRPr lang="en-US" sz="1000" dirty="0"/>
          </a:p>
        </p:txBody>
      </p:sp>
      <p:sp>
        <p:nvSpPr>
          <p:cNvPr id="23" name="Shape 21"/>
          <p:cNvSpPr/>
          <p:nvPr/>
        </p:nvSpPr>
        <p:spPr>
          <a:xfrm>
            <a:off x="2286000" y="1481328"/>
            <a:ext cx="777240" cy="457200"/>
          </a:xfrm>
          <a:prstGeom prst="rect">
            <a:avLst/>
          </a:prstGeom>
          <a:solidFill>
            <a:srgbClr val="1F4A82"/>
          </a:solidFill>
          <a:ln/>
        </p:spPr>
      </p:sp>
      <p:sp>
        <p:nvSpPr>
          <p:cNvPr id="24" name="Text 22"/>
          <p:cNvSpPr txBox="1"/>
          <p:nvPr/>
        </p:nvSpPr>
        <p:spPr>
          <a:xfrm>
            <a:off x="2331720" y="1481328"/>
            <a:ext cx="6858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Dropout</a:t>
            </a:r>
            <a:endParaRPr lang="en-US" sz="1000" dirty="0"/>
          </a:p>
        </p:txBody>
      </p:sp>
      <p:sp>
        <p:nvSpPr>
          <p:cNvPr id="25" name="Shape 23"/>
          <p:cNvSpPr/>
          <p:nvPr/>
        </p:nvSpPr>
        <p:spPr>
          <a:xfrm>
            <a:off x="3063240" y="1481328"/>
            <a:ext cx="731520" cy="457200"/>
          </a:xfrm>
          <a:prstGeom prst="rect">
            <a:avLst/>
          </a:prstGeom>
          <a:solidFill>
            <a:srgbClr val="1F4A82"/>
          </a:solidFill>
          <a:ln/>
        </p:spPr>
      </p:sp>
      <p:sp>
        <p:nvSpPr>
          <p:cNvPr id="26" name="Text 24"/>
          <p:cNvSpPr txBox="1"/>
          <p:nvPr/>
        </p:nvSpPr>
        <p:spPr>
          <a:xfrm>
            <a:off x="3108960" y="1481328"/>
            <a:ext cx="64008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Fees</a:t>
            </a:r>
            <a:endParaRPr lang="en-US" sz="1000" dirty="0"/>
          </a:p>
        </p:txBody>
      </p:sp>
      <p:sp>
        <p:nvSpPr>
          <p:cNvPr id="27" name="Shape 25"/>
          <p:cNvSpPr/>
          <p:nvPr/>
        </p:nvSpPr>
        <p:spPr>
          <a:xfrm>
            <a:off x="3794760" y="1481328"/>
            <a:ext cx="685800" cy="457200"/>
          </a:xfrm>
          <a:prstGeom prst="rect">
            <a:avLst/>
          </a:prstGeom>
          <a:solidFill>
            <a:srgbClr val="1F4A82"/>
          </a:solidFill>
          <a:ln/>
        </p:spPr>
      </p:sp>
      <p:sp>
        <p:nvSpPr>
          <p:cNvPr id="28" name="Text 26"/>
          <p:cNvSpPr txBox="1"/>
          <p:nvPr/>
        </p:nvSpPr>
        <p:spPr>
          <a:xfrm>
            <a:off x="3840480" y="1481328"/>
            <a:ext cx="59436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App activity</a:t>
            </a:r>
            <a:endParaRPr lang="en-US" sz="1000" dirty="0"/>
          </a:p>
        </p:txBody>
      </p:sp>
      <p:sp>
        <p:nvSpPr>
          <p:cNvPr id="29" name="Shape 27"/>
          <p:cNvSpPr/>
          <p:nvPr/>
        </p:nvSpPr>
        <p:spPr>
          <a:xfrm>
            <a:off x="502920" y="1938528"/>
            <a:ext cx="960120" cy="457200"/>
          </a:xfrm>
          <a:prstGeom prst="rect">
            <a:avLst/>
          </a:prstGeom>
          <a:solidFill>
            <a:srgbClr val="F1F7F3"/>
          </a:solidFill>
          <a:ln/>
        </p:spPr>
      </p:sp>
      <p:sp>
        <p:nvSpPr>
          <p:cNvPr id="30" name="Text 28"/>
          <p:cNvSpPr txBox="1"/>
          <p:nvPr/>
        </p:nvSpPr>
        <p:spPr>
          <a:xfrm>
            <a:off x="548640" y="1938528"/>
            <a:ext cx="868680" cy="45720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Under 18</a:t>
            </a:r>
            <a:endParaRPr lang="en-US" sz="1000" dirty="0"/>
          </a:p>
        </p:txBody>
      </p:sp>
      <p:sp>
        <p:nvSpPr>
          <p:cNvPr id="31" name="Shape 29"/>
          <p:cNvSpPr/>
          <p:nvPr/>
        </p:nvSpPr>
        <p:spPr>
          <a:xfrm>
            <a:off x="1463040" y="1938528"/>
            <a:ext cx="822960" cy="457200"/>
          </a:xfrm>
          <a:prstGeom prst="rect">
            <a:avLst/>
          </a:prstGeom>
          <a:solidFill>
            <a:srgbClr val="D6E4F5"/>
          </a:solidFill>
          <a:ln/>
        </p:spPr>
      </p:sp>
      <p:sp>
        <p:nvSpPr>
          <p:cNvPr id="32" name="Text 30"/>
          <p:cNvSpPr txBox="1"/>
          <p:nvPr/>
        </p:nvSpPr>
        <p:spPr>
          <a:xfrm>
            <a:off x="1508760" y="1938528"/>
            <a:ext cx="73152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33" name="Shape 31"/>
          <p:cNvSpPr/>
          <p:nvPr/>
        </p:nvSpPr>
        <p:spPr>
          <a:xfrm>
            <a:off x="2286000" y="1938528"/>
            <a:ext cx="777240" cy="457200"/>
          </a:xfrm>
          <a:prstGeom prst="rect">
            <a:avLst/>
          </a:prstGeom>
          <a:solidFill>
            <a:srgbClr val="F1E8D3"/>
          </a:solidFill>
          <a:ln/>
        </p:spPr>
      </p:sp>
      <p:sp>
        <p:nvSpPr>
          <p:cNvPr id="34" name="Text 32"/>
          <p:cNvSpPr txBox="1"/>
          <p:nvPr/>
        </p:nvSpPr>
        <p:spPr>
          <a:xfrm>
            <a:off x="2331720" y="1938528"/>
            <a:ext cx="68580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35" name="Shape 33"/>
          <p:cNvSpPr/>
          <p:nvPr/>
        </p:nvSpPr>
        <p:spPr>
          <a:xfrm>
            <a:off x="3063240" y="1938528"/>
            <a:ext cx="731520" cy="457200"/>
          </a:xfrm>
          <a:prstGeom prst="rect">
            <a:avLst/>
          </a:prstGeom>
          <a:solidFill>
            <a:srgbClr val="F1E8D3"/>
          </a:solidFill>
          <a:ln/>
        </p:spPr>
      </p:sp>
      <p:sp>
        <p:nvSpPr>
          <p:cNvPr id="36" name="Text 34"/>
          <p:cNvSpPr txBox="1"/>
          <p:nvPr/>
        </p:nvSpPr>
        <p:spPr>
          <a:xfrm>
            <a:off x="3108960" y="1938528"/>
            <a:ext cx="64008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37" name="Shape 35"/>
          <p:cNvSpPr/>
          <p:nvPr/>
        </p:nvSpPr>
        <p:spPr>
          <a:xfrm>
            <a:off x="3794760" y="1938528"/>
            <a:ext cx="685800" cy="457200"/>
          </a:xfrm>
          <a:prstGeom prst="rect">
            <a:avLst/>
          </a:prstGeom>
          <a:solidFill>
            <a:srgbClr val="F4CFCB"/>
          </a:solidFill>
          <a:ln/>
        </p:spPr>
      </p:sp>
      <p:sp>
        <p:nvSpPr>
          <p:cNvPr id="38" name="Text 36"/>
          <p:cNvSpPr txBox="1"/>
          <p:nvPr/>
        </p:nvSpPr>
        <p:spPr>
          <a:xfrm>
            <a:off x="3840480" y="1938528"/>
            <a:ext cx="594360" cy="45720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Never</a:t>
            </a:r>
            <a:endParaRPr lang="en-US" sz="1000" dirty="0"/>
          </a:p>
        </p:txBody>
      </p:sp>
      <p:sp>
        <p:nvSpPr>
          <p:cNvPr id="39" name="Shape 37"/>
          <p:cNvSpPr/>
          <p:nvPr/>
        </p:nvSpPr>
        <p:spPr>
          <a:xfrm>
            <a:off x="502920" y="2395728"/>
            <a:ext cx="3977640" cy="0"/>
          </a:xfrm>
          <a:prstGeom prst="line">
            <a:avLst/>
          </a:prstGeom>
          <a:noFill/>
          <a:ln w="6350">
            <a:solidFill>
              <a:srgbClr val="E3E8E4"/>
            </a:solidFill>
            <a:prstDash val="solid"/>
          </a:ln>
        </p:spPr>
      </p:sp>
      <p:sp>
        <p:nvSpPr>
          <p:cNvPr id="40" name="Shape 38"/>
          <p:cNvSpPr/>
          <p:nvPr/>
        </p:nvSpPr>
        <p:spPr>
          <a:xfrm>
            <a:off x="502920" y="2395728"/>
            <a:ext cx="960120" cy="457200"/>
          </a:xfrm>
          <a:prstGeom prst="rect">
            <a:avLst/>
          </a:prstGeom>
          <a:solidFill>
            <a:srgbClr val="FFFFFF"/>
          </a:solidFill>
          <a:ln/>
        </p:spPr>
      </p:sp>
      <p:sp>
        <p:nvSpPr>
          <p:cNvPr id="41" name="Text 39"/>
          <p:cNvSpPr txBox="1"/>
          <p:nvPr/>
        </p:nvSpPr>
        <p:spPr>
          <a:xfrm>
            <a:off x="548640" y="2395728"/>
            <a:ext cx="868680" cy="45720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18 and over</a:t>
            </a:r>
            <a:endParaRPr lang="en-US" sz="1000" dirty="0"/>
          </a:p>
        </p:txBody>
      </p:sp>
      <p:sp>
        <p:nvSpPr>
          <p:cNvPr id="42" name="Shape 40"/>
          <p:cNvSpPr/>
          <p:nvPr/>
        </p:nvSpPr>
        <p:spPr>
          <a:xfrm>
            <a:off x="1463040" y="2395728"/>
            <a:ext cx="822960" cy="457200"/>
          </a:xfrm>
          <a:prstGeom prst="rect">
            <a:avLst/>
          </a:prstGeom>
          <a:solidFill>
            <a:srgbClr val="D6E4F5"/>
          </a:solidFill>
          <a:ln/>
        </p:spPr>
      </p:sp>
      <p:sp>
        <p:nvSpPr>
          <p:cNvPr id="43" name="Text 41"/>
          <p:cNvSpPr txBox="1"/>
          <p:nvPr/>
        </p:nvSpPr>
        <p:spPr>
          <a:xfrm>
            <a:off x="1508760" y="2395728"/>
            <a:ext cx="73152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4" name="Shape 42"/>
          <p:cNvSpPr/>
          <p:nvPr/>
        </p:nvSpPr>
        <p:spPr>
          <a:xfrm>
            <a:off x="2286000" y="2395728"/>
            <a:ext cx="777240" cy="457200"/>
          </a:xfrm>
          <a:prstGeom prst="rect">
            <a:avLst/>
          </a:prstGeom>
          <a:solidFill>
            <a:srgbClr val="D6E4F5"/>
          </a:solidFill>
          <a:ln/>
        </p:spPr>
      </p:sp>
      <p:sp>
        <p:nvSpPr>
          <p:cNvPr id="45" name="Text 43"/>
          <p:cNvSpPr txBox="1"/>
          <p:nvPr/>
        </p:nvSpPr>
        <p:spPr>
          <a:xfrm>
            <a:off x="2331720" y="2395728"/>
            <a:ext cx="68580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6" name="Shape 44"/>
          <p:cNvSpPr/>
          <p:nvPr/>
        </p:nvSpPr>
        <p:spPr>
          <a:xfrm>
            <a:off x="3063240" y="2395728"/>
            <a:ext cx="731520" cy="457200"/>
          </a:xfrm>
          <a:prstGeom prst="rect">
            <a:avLst/>
          </a:prstGeom>
          <a:solidFill>
            <a:srgbClr val="D6E4F5"/>
          </a:solidFill>
          <a:ln/>
        </p:spPr>
      </p:sp>
      <p:sp>
        <p:nvSpPr>
          <p:cNvPr id="47" name="Text 45"/>
          <p:cNvSpPr txBox="1"/>
          <p:nvPr/>
        </p:nvSpPr>
        <p:spPr>
          <a:xfrm>
            <a:off x="3108960" y="2395728"/>
            <a:ext cx="64008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48" name="Shape 46"/>
          <p:cNvSpPr/>
          <p:nvPr/>
        </p:nvSpPr>
        <p:spPr>
          <a:xfrm>
            <a:off x="3794760" y="2395728"/>
            <a:ext cx="685800" cy="457200"/>
          </a:xfrm>
          <a:prstGeom prst="rect">
            <a:avLst/>
          </a:prstGeom>
          <a:solidFill>
            <a:srgbClr val="F1E8D3"/>
          </a:solidFill>
          <a:ln/>
        </p:spPr>
      </p:sp>
      <p:sp>
        <p:nvSpPr>
          <p:cNvPr id="49" name="Text 47"/>
          <p:cNvSpPr txBox="1"/>
          <p:nvPr/>
        </p:nvSpPr>
        <p:spPr>
          <a:xfrm>
            <a:off x="3840480" y="2395728"/>
            <a:ext cx="59436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Opt-in</a:t>
            </a:r>
            <a:endParaRPr lang="en-US" sz="1000" dirty="0"/>
          </a:p>
        </p:txBody>
      </p:sp>
      <p:sp>
        <p:nvSpPr>
          <p:cNvPr id="50" name="Shape 48"/>
          <p:cNvSpPr/>
          <p:nvPr/>
        </p:nvSpPr>
        <p:spPr>
          <a:xfrm>
            <a:off x="502920" y="2852928"/>
            <a:ext cx="3977640" cy="0"/>
          </a:xfrm>
          <a:prstGeom prst="line">
            <a:avLst/>
          </a:prstGeom>
          <a:noFill/>
          <a:ln w="6350">
            <a:solidFill>
              <a:srgbClr val="E3E8E4"/>
            </a:solidFill>
            <a:prstDash val="solid"/>
          </a:ln>
        </p:spPr>
      </p:sp>
      <p:sp>
        <p:nvSpPr>
          <p:cNvPr id="51" name="Shape 49"/>
          <p:cNvSpPr/>
          <p:nvPr/>
        </p:nvSpPr>
        <p:spPr>
          <a:xfrm>
            <a:off x="502920" y="2852928"/>
            <a:ext cx="960120" cy="457200"/>
          </a:xfrm>
          <a:prstGeom prst="rect">
            <a:avLst/>
          </a:prstGeom>
          <a:solidFill>
            <a:srgbClr val="F1F7F3"/>
          </a:solidFill>
          <a:ln/>
        </p:spPr>
      </p:sp>
      <p:sp>
        <p:nvSpPr>
          <p:cNvPr id="52" name="Text 50"/>
          <p:cNvSpPr txBox="1"/>
          <p:nvPr/>
        </p:nvSpPr>
        <p:spPr>
          <a:xfrm>
            <a:off x="548640" y="2852928"/>
            <a:ext cx="868680" cy="45720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Under 18, legal opinion</a:t>
            </a:r>
            <a:endParaRPr lang="en-US" sz="1000" dirty="0"/>
          </a:p>
        </p:txBody>
      </p:sp>
      <p:sp>
        <p:nvSpPr>
          <p:cNvPr id="53" name="Shape 51"/>
          <p:cNvSpPr/>
          <p:nvPr/>
        </p:nvSpPr>
        <p:spPr>
          <a:xfrm>
            <a:off x="1463040" y="2852928"/>
            <a:ext cx="822960" cy="457200"/>
          </a:xfrm>
          <a:prstGeom prst="rect">
            <a:avLst/>
          </a:prstGeom>
          <a:solidFill>
            <a:srgbClr val="D6E4F5"/>
          </a:solidFill>
          <a:ln/>
        </p:spPr>
      </p:sp>
      <p:sp>
        <p:nvSpPr>
          <p:cNvPr id="54" name="Text 52"/>
          <p:cNvSpPr txBox="1"/>
          <p:nvPr/>
        </p:nvSpPr>
        <p:spPr>
          <a:xfrm>
            <a:off x="1508760" y="2852928"/>
            <a:ext cx="73152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5" name="Shape 53"/>
          <p:cNvSpPr/>
          <p:nvPr/>
        </p:nvSpPr>
        <p:spPr>
          <a:xfrm>
            <a:off x="2286000" y="2852928"/>
            <a:ext cx="777240" cy="457200"/>
          </a:xfrm>
          <a:prstGeom prst="rect">
            <a:avLst/>
          </a:prstGeom>
          <a:solidFill>
            <a:srgbClr val="D6E4F5"/>
          </a:solidFill>
          <a:ln/>
        </p:spPr>
      </p:sp>
      <p:sp>
        <p:nvSpPr>
          <p:cNvPr id="56" name="Text 54"/>
          <p:cNvSpPr txBox="1"/>
          <p:nvPr/>
        </p:nvSpPr>
        <p:spPr>
          <a:xfrm>
            <a:off x="2331720" y="2852928"/>
            <a:ext cx="685800" cy="45720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Model</a:t>
            </a:r>
            <a:endParaRPr lang="en-US" sz="1000" dirty="0"/>
          </a:p>
        </p:txBody>
      </p:sp>
      <p:sp>
        <p:nvSpPr>
          <p:cNvPr id="57" name="Shape 55"/>
          <p:cNvSpPr/>
          <p:nvPr/>
        </p:nvSpPr>
        <p:spPr>
          <a:xfrm>
            <a:off x="3063240" y="2852928"/>
            <a:ext cx="731520" cy="457200"/>
          </a:xfrm>
          <a:prstGeom prst="rect">
            <a:avLst/>
          </a:prstGeom>
          <a:solidFill>
            <a:srgbClr val="F1E8D3"/>
          </a:solidFill>
          <a:ln/>
        </p:spPr>
      </p:sp>
      <p:sp>
        <p:nvSpPr>
          <p:cNvPr id="58" name="Text 56"/>
          <p:cNvSpPr txBox="1"/>
          <p:nvPr/>
        </p:nvSpPr>
        <p:spPr>
          <a:xfrm>
            <a:off x="3108960" y="2852928"/>
            <a:ext cx="640080" cy="45720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Plain rules</a:t>
            </a:r>
            <a:endParaRPr lang="en-US" sz="1000" dirty="0"/>
          </a:p>
        </p:txBody>
      </p:sp>
      <p:sp>
        <p:nvSpPr>
          <p:cNvPr id="59" name="Shape 57"/>
          <p:cNvSpPr/>
          <p:nvPr/>
        </p:nvSpPr>
        <p:spPr>
          <a:xfrm>
            <a:off x="3794760" y="2852928"/>
            <a:ext cx="685800" cy="457200"/>
          </a:xfrm>
          <a:prstGeom prst="rect">
            <a:avLst/>
          </a:prstGeom>
          <a:solidFill>
            <a:srgbClr val="F4CFCB"/>
          </a:solidFill>
          <a:ln/>
        </p:spPr>
      </p:sp>
      <p:sp>
        <p:nvSpPr>
          <p:cNvPr id="60" name="Text 58"/>
          <p:cNvSpPr txBox="1"/>
          <p:nvPr/>
        </p:nvSpPr>
        <p:spPr>
          <a:xfrm>
            <a:off x="3840480" y="2852928"/>
            <a:ext cx="594360" cy="457200"/>
          </a:xfrm>
          <a:prstGeom prst="rect">
            <a:avLst/>
          </a:prstGeom>
          <a:noFill/>
          <a:ln/>
        </p:spPr>
        <p:txBody>
          <a:bodyPr wrap="square" lIns="0" tIns="0" rIns="0" bIns="0"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Never</a:t>
            </a:r>
            <a:endParaRPr lang="en-US" sz="1000" dirty="0"/>
          </a:p>
        </p:txBody>
      </p:sp>
      <p:sp>
        <p:nvSpPr>
          <p:cNvPr id="61" name="Shape 59"/>
          <p:cNvSpPr/>
          <p:nvPr/>
        </p:nvSpPr>
        <p:spPr>
          <a:xfrm>
            <a:off x="502920" y="3310128"/>
            <a:ext cx="3977640" cy="0"/>
          </a:xfrm>
          <a:prstGeom prst="line">
            <a:avLst/>
          </a:prstGeom>
          <a:noFill/>
          <a:ln w="6350">
            <a:solidFill>
              <a:srgbClr val="E3E8E4"/>
            </a:solidFill>
            <a:prstDash val="solid"/>
          </a:ln>
        </p:spPr>
      </p:sp>
      <p:sp>
        <p:nvSpPr>
          <p:cNvPr id="62" name="Text 60"/>
          <p:cNvSpPr txBox="1"/>
          <p:nvPr/>
        </p:nvSpPr>
        <p:spPr>
          <a:xfrm>
            <a:off x="521208" y="3474720"/>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DPDP Act s.9(3): </a:t>
            </a:r>
            <a:pPr algn="l" indent="0" marL="0">
              <a:buNone/>
            </a:pPr>
            <a:r>
              <a:rPr lang="en-US" sz="1050" dirty="0">
                <a:solidFill>
                  <a:srgbClr val="1F2937"/>
                </a:solidFill>
                <a:latin typeface="Calibri" pitchFamily="34" charset="0"/>
                <a:ea typeface="Calibri" pitchFamily="34" charset="-122"/>
                <a:cs typeface="Calibri" pitchFamily="34" charset="-120"/>
              </a:rPr>
              <a:t>no tracking or behavioural monitoring of children, even with consent</a:t>
            </a:r>
            <a:endParaRPr lang="en-US" sz="1050" dirty="0"/>
          </a:p>
        </p:txBody>
      </p:sp>
      <p:sp>
        <p:nvSpPr>
          <p:cNvPr id="63" name="Text 61"/>
          <p:cNvSpPr txBox="1"/>
          <p:nvPr/>
        </p:nvSpPr>
        <p:spPr>
          <a:xfrm>
            <a:off x="521208" y="4005072"/>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Fourth Schedule: </a:t>
            </a:r>
            <a:pPr algn="l" indent="0" marL="0">
              <a:buNone/>
            </a:pPr>
            <a:r>
              <a:rPr lang="en-US" sz="1050" dirty="0">
                <a:solidFill>
                  <a:srgbClr val="1F2937"/>
                </a:solidFill>
                <a:latin typeface="Calibri" pitchFamily="34" charset="0"/>
                <a:ea typeface="Calibri" pitchFamily="34" charset="-122"/>
                <a:cs typeface="Calibri" pitchFamily="34" charset="-120"/>
              </a:rPr>
              <a:t>exemption is narrow and purpose-limited, so we do not rely on it for consent</a:t>
            </a:r>
            <a:endParaRPr lang="en-US" sz="1050" dirty="0"/>
          </a:p>
        </p:txBody>
      </p:sp>
      <p:sp>
        <p:nvSpPr>
          <p:cNvPr id="64" name="Text 62"/>
          <p:cNvSpPr txBox="1"/>
          <p:nvPr/>
        </p:nvSpPr>
        <p:spPr>
          <a:xfrm>
            <a:off x="521208" y="4535424"/>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MoE guidelines cl. 10.2(xi): </a:t>
            </a:r>
            <a:pPr algn="l" indent="0" marL="0">
              <a:buNone/>
            </a:pPr>
            <a:r>
              <a:rPr lang="en-US" sz="1050" dirty="0">
                <a:solidFill>
                  <a:srgbClr val="1F2937"/>
                </a:solidFill>
                <a:latin typeface="Calibri" pitchFamily="34" charset="0"/>
                <a:ea typeface="Calibri" pitchFamily="34" charset="-122"/>
                <a:cs typeface="Calibri" pitchFamily="34" charset="-120"/>
              </a:rPr>
              <a:t>analyse results and counsel students whose performance is deteriorating</a:t>
            </a:r>
            <a:endParaRPr lang="en-US" sz="1050" dirty="0"/>
          </a:p>
        </p:txBody>
      </p:sp>
      <p:sp>
        <p:nvSpPr>
          <p:cNvPr id="65" name="Text 63"/>
          <p:cNvSpPr txBox="1"/>
          <p:nvPr/>
        </p:nvSpPr>
        <p:spPr>
          <a:xfrm>
            <a:off x="521208" y="5065776"/>
            <a:ext cx="3931920" cy="502920"/>
          </a:xfrm>
          <a:prstGeom prst="rect">
            <a:avLst/>
          </a:prstGeom>
          <a:noFill/>
          <a:ln/>
        </p:spPr>
        <p:txBody>
          <a:bodyPr wrap="square" lIns="0" tIns="0" rIns="0" bIns="0" rtlCol="0" anchor="t"/>
          <a:lstStyle/>
          <a:p>
            <a:pPr algn="l" indent="0" marL="0">
              <a:buNone/>
            </a:pPr>
            <a:r>
              <a:rPr lang="en-US" sz="1050" b="1" dirty="0">
                <a:solidFill>
                  <a:srgbClr val="17325C"/>
                </a:solidFill>
                <a:latin typeface="Calibri" pitchFamily="34" charset="0"/>
                <a:ea typeface="Calibri" pitchFamily="34" charset="-122"/>
                <a:cs typeface="Calibri" pitchFamily="34" charset="-120"/>
              </a:rPr>
              <a:t>We act as the processor: </a:t>
            </a:r>
            <a:pPr algn="l" indent="0" marL="0">
              <a:buNone/>
            </a:pPr>
            <a:r>
              <a:rPr lang="en-US" sz="1050" dirty="0">
                <a:solidFill>
                  <a:srgbClr val="1F2937"/>
                </a:solidFill>
                <a:latin typeface="Calibri" pitchFamily="34" charset="0"/>
                <a:ea typeface="Calibri" pitchFamily="34" charset="-122"/>
                <a:cs typeface="Calibri" pitchFamily="34" charset="-120"/>
              </a:rPr>
              <a:t>the institute stays the data fiduciary; no pooling of children's raw data</a:t>
            </a:r>
            <a:endParaRPr lang="en-US" sz="1050" dirty="0"/>
          </a:p>
        </p:txBody>
      </p:sp>
      <p:sp>
        <p:nvSpPr>
          <p:cNvPr id="66" name="Shape 64"/>
          <p:cNvSpPr/>
          <p:nvPr/>
        </p:nvSpPr>
        <p:spPr>
          <a:xfrm>
            <a:off x="521208" y="5486400"/>
            <a:ext cx="2089404" cy="219456"/>
          </a:xfrm>
          <a:prstGeom prst="roundRect">
            <a:avLst>
              <a:gd name="adj" fmla="val 50000"/>
            </a:avLst>
          </a:prstGeom>
          <a:solidFill>
            <a:srgbClr val="FFFFFF"/>
          </a:solidFill>
          <a:ln w="12700">
            <a:solidFill>
              <a:srgbClr val="1F4A82"/>
            </a:solidFill>
            <a:prstDash val="solid"/>
          </a:ln>
        </p:spPr>
      </p:sp>
      <p:sp>
        <p:nvSpPr>
          <p:cNvPr id="67" name="Text 65"/>
          <p:cNvSpPr txBox="1"/>
          <p:nvPr/>
        </p:nvSpPr>
        <p:spPr>
          <a:xfrm>
            <a:off x="521208" y="5486400"/>
            <a:ext cx="208940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DESIGNED AND TESTED IN CODE</a:t>
            </a:r>
            <a:endParaRPr lang="en-US" sz="900" dirty="0"/>
          </a:p>
        </p:txBody>
      </p:sp>
      <p:sp>
        <p:nvSpPr>
          <p:cNvPr id="68" name="Shape 66"/>
          <p:cNvSpPr/>
          <p:nvPr/>
        </p:nvSpPr>
        <p:spPr>
          <a:xfrm>
            <a:off x="4709160" y="1115568"/>
            <a:ext cx="3246120" cy="301752"/>
          </a:xfrm>
          <a:prstGeom prst="rect">
            <a:avLst/>
          </a:prstGeom>
          <a:solidFill>
            <a:srgbClr val="2E6DB4"/>
          </a:solidFill>
          <a:ln/>
        </p:spPr>
      </p:sp>
      <p:sp>
        <p:nvSpPr>
          <p:cNvPr id="69" name="Text 67"/>
          <p:cNvSpPr txBox="1"/>
          <p:nvPr/>
        </p:nvSpPr>
        <p:spPr>
          <a:xfrm>
            <a:off x="4818888" y="1115568"/>
            <a:ext cx="30266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VERIFIABLE PARENTAL CONSENT</a:t>
            </a:r>
            <a:endParaRPr lang="en-US" sz="1200" dirty="0"/>
          </a:p>
        </p:txBody>
      </p:sp>
      <p:sp>
        <p:nvSpPr>
          <p:cNvPr id="70" name="Shape 68"/>
          <p:cNvSpPr/>
          <p:nvPr/>
        </p:nvSpPr>
        <p:spPr>
          <a:xfrm>
            <a:off x="8010144" y="1115568"/>
            <a:ext cx="0" cy="4526280"/>
          </a:xfrm>
          <a:prstGeom prst="line">
            <a:avLst/>
          </a:prstGeom>
          <a:noFill/>
          <a:ln w="12700">
            <a:solidFill>
              <a:srgbClr val="8FA9CC"/>
            </a:solidFill>
            <a:prstDash val="dash"/>
          </a:ln>
        </p:spPr>
      </p:sp>
      <p:pic>
        <p:nvPicPr>
          <p:cNvPr id="71" name="Image 0" descr="Consent notice with purpose switches (illustrative)">    </p:cNvPr>
          <p:cNvPicPr>
            <a:picLocks noChangeAspect="1"/>
          </p:cNvPicPr>
          <p:nvPr/>
        </p:nvPicPr>
        <p:blipFill>
          <a:blip r:embed="rId1"/>
          <a:stretch>
            <a:fillRect/>
          </a:stretch>
        </p:blipFill>
        <p:spPr>
          <a:xfrm>
            <a:off x="4846320" y="1481328"/>
            <a:ext cx="2971800" cy="2971800"/>
          </a:xfrm>
          <a:prstGeom prst="rect">
            <a:avLst/>
          </a:prstGeom>
        </p:spPr>
      </p:pic>
      <p:sp>
        <p:nvSpPr>
          <p:cNvPr id="72" name="Shape 69"/>
          <p:cNvSpPr/>
          <p:nvPr/>
        </p:nvSpPr>
        <p:spPr>
          <a:xfrm>
            <a:off x="4800600" y="1828800"/>
            <a:ext cx="274320" cy="274320"/>
          </a:xfrm>
          <a:prstGeom prst="ellipse">
            <a:avLst/>
          </a:prstGeom>
          <a:solidFill>
            <a:srgbClr val="1F4A82"/>
          </a:solidFill>
          <a:ln w="19050">
            <a:solidFill>
              <a:srgbClr val="FFFFFF"/>
            </a:solidFill>
            <a:prstDash val="solid"/>
          </a:ln>
        </p:spPr>
      </p:sp>
      <p:sp>
        <p:nvSpPr>
          <p:cNvPr id="73" name="Text 70"/>
          <p:cNvSpPr txBox="1"/>
          <p:nvPr/>
        </p:nvSpPr>
        <p:spPr>
          <a:xfrm>
            <a:off x="4800600" y="18288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4" name="Shape 71"/>
          <p:cNvSpPr/>
          <p:nvPr/>
        </p:nvSpPr>
        <p:spPr>
          <a:xfrm>
            <a:off x="4800600" y="2926080"/>
            <a:ext cx="274320" cy="274320"/>
          </a:xfrm>
          <a:prstGeom prst="ellipse">
            <a:avLst/>
          </a:prstGeom>
          <a:solidFill>
            <a:srgbClr val="1F4A82"/>
          </a:solidFill>
          <a:ln w="19050">
            <a:solidFill>
              <a:srgbClr val="FFFFFF"/>
            </a:solidFill>
            <a:prstDash val="solid"/>
          </a:ln>
        </p:spPr>
      </p:sp>
      <p:sp>
        <p:nvSpPr>
          <p:cNvPr id="75" name="Text 72"/>
          <p:cNvSpPr txBox="1"/>
          <p:nvPr/>
        </p:nvSpPr>
        <p:spPr>
          <a:xfrm>
            <a:off x="4800600" y="29260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76" name="Shape 73"/>
          <p:cNvSpPr/>
          <p:nvPr/>
        </p:nvSpPr>
        <p:spPr>
          <a:xfrm>
            <a:off x="4800600" y="3840480"/>
            <a:ext cx="274320" cy="274320"/>
          </a:xfrm>
          <a:prstGeom prst="ellipse">
            <a:avLst/>
          </a:prstGeom>
          <a:solidFill>
            <a:srgbClr val="1F4A82"/>
          </a:solidFill>
          <a:ln w="19050">
            <a:solidFill>
              <a:srgbClr val="FFFFFF"/>
            </a:solidFill>
            <a:prstDash val="solid"/>
          </a:ln>
        </p:spPr>
      </p:sp>
      <p:sp>
        <p:nvSpPr>
          <p:cNvPr id="77" name="Text 74"/>
          <p:cNvSpPr txBox="1"/>
          <p:nvPr/>
        </p:nvSpPr>
        <p:spPr>
          <a:xfrm>
            <a:off x="4800600" y="38404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78" name="Text 75"/>
          <p:cNvSpPr txBox="1"/>
          <p:nvPr/>
        </p:nvSpPr>
        <p:spPr>
          <a:xfrm>
            <a:off x="4846320" y="4498848"/>
            <a:ext cx="2971800" cy="41148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1 Itemised data  2 One switch per purpose  3 Withdraw in one tap</a:t>
            </a:r>
            <a:endParaRPr lang="en-US" sz="1000" dirty="0"/>
          </a:p>
        </p:txBody>
      </p:sp>
      <p:sp>
        <p:nvSpPr>
          <p:cNvPr id="79" name="Text 76"/>
          <p:cNvSpPr txBox="1"/>
          <p:nvPr/>
        </p:nvSpPr>
        <p:spPr>
          <a:xfrm>
            <a:off x="4846320" y="4919472"/>
            <a:ext cx="2971800" cy="457200"/>
          </a:xfrm>
          <a:prstGeom prst="rect">
            <a:avLst/>
          </a:prstGeom>
          <a:noFill/>
          <a:ln/>
        </p:spPr>
        <p:txBody>
          <a:bodyPr wrap="square" lIns="0" tIns="0" rIns="0" bIns="0" rtlCol="0" anchor="t"/>
          <a:lstStyle/>
          <a:p>
            <a:pPr algn="l" indent="0" marL="0">
              <a:buNone/>
            </a:pPr>
            <a:r>
              <a:rPr lang="en-US" sz="1000" dirty="0">
                <a:solidFill>
                  <a:srgbClr val="5B6573"/>
                </a:solidFill>
                <a:latin typeface="Calibri" pitchFamily="34" charset="0"/>
                <a:ea typeface="Calibri" pitchFamily="34" charset="-122"/>
                <a:cs typeface="Calibri" pitchFamily="34" charset="-120"/>
              </a:rPr>
              <a:t>ID checked at the admission desk (Rule 10); consent recorded per purpose and notice version.</a:t>
            </a:r>
            <a:endParaRPr lang="en-US" sz="1000" dirty="0"/>
          </a:p>
        </p:txBody>
      </p:sp>
      <p:sp>
        <p:nvSpPr>
          <p:cNvPr id="80" name="Shape 77"/>
          <p:cNvSpPr/>
          <p:nvPr/>
        </p:nvSpPr>
        <p:spPr>
          <a:xfrm>
            <a:off x="4846320" y="5349240"/>
            <a:ext cx="1609344" cy="219456"/>
          </a:xfrm>
          <a:prstGeom prst="roundRect">
            <a:avLst>
              <a:gd name="adj" fmla="val 50000"/>
            </a:avLst>
          </a:prstGeom>
          <a:solidFill>
            <a:srgbClr val="FFFFFF"/>
          </a:solidFill>
          <a:ln w="12700">
            <a:solidFill>
              <a:srgbClr val="5B6573"/>
            </a:solidFill>
            <a:prstDash val="solid"/>
          </a:ln>
        </p:spPr>
      </p:sp>
      <p:sp>
        <p:nvSpPr>
          <p:cNvPr id="81" name="Text 78"/>
          <p:cNvSpPr txBox="1"/>
          <p:nvPr/>
        </p:nvSpPr>
        <p:spPr>
          <a:xfrm>
            <a:off x="4846320" y="5349240"/>
            <a:ext cx="160934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ILLUSTRATIVE MOCK-UP</a:t>
            </a:r>
            <a:endParaRPr lang="en-US" sz="900" dirty="0"/>
          </a:p>
        </p:txBody>
      </p:sp>
      <p:sp>
        <p:nvSpPr>
          <p:cNvPr id="82" name="Shape 79"/>
          <p:cNvSpPr/>
          <p:nvPr/>
        </p:nvSpPr>
        <p:spPr>
          <a:xfrm>
            <a:off x="8092440" y="1115568"/>
            <a:ext cx="3687775" cy="301752"/>
          </a:xfrm>
          <a:prstGeom prst="rect">
            <a:avLst/>
          </a:prstGeom>
          <a:solidFill>
            <a:srgbClr val="1F4A82"/>
          </a:solidFill>
          <a:ln/>
        </p:spPr>
      </p:sp>
      <p:sp>
        <p:nvSpPr>
          <p:cNvPr id="83" name="Text 80"/>
          <p:cNvSpPr txBox="1"/>
          <p:nvPr/>
        </p:nvSpPr>
        <p:spPr>
          <a:xfrm>
            <a:off x="8202168" y="1115568"/>
            <a:ext cx="346831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THE COST OF PRIVACY, ON REAL DATA</a:t>
            </a:r>
            <a:endParaRPr lang="en-US" sz="1200" dirty="0"/>
          </a:p>
        </p:txBody>
      </p:sp>
      <p:pic>
        <p:nvPicPr>
          <p:cNvPr id="84" name="Image 1" descr="Academic-only vs academic plus click behaviour, OULAD">    </p:cNvPr>
          <p:cNvPicPr>
            <a:picLocks noChangeAspect="1"/>
          </p:cNvPicPr>
          <p:nvPr/>
        </p:nvPicPr>
        <p:blipFill>
          <a:blip r:embed="rId2"/>
          <a:stretch>
            <a:fillRect/>
          </a:stretch>
        </p:blipFill>
        <p:spPr>
          <a:xfrm>
            <a:off x="8202168" y="1463040"/>
            <a:ext cx="3468319" cy="2635923"/>
          </a:xfrm>
          <a:prstGeom prst="rect">
            <a:avLst/>
          </a:prstGeom>
        </p:spPr>
      </p:pic>
      <p:sp>
        <p:nvSpPr>
          <p:cNvPr id="85" name="Shape 81"/>
          <p:cNvSpPr/>
          <p:nvPr/>
        </p:nvSpPr>
        <p:spPr>
          <a:xfrm>
            <a:off x="8202168" y="4251960"/>
            <a:ext cx="992124" cy="219456"/>
          </a:xfrm>
          <a:prstGeom prst="roundRect">
            <a:avLst>
              <a:gd name="adj" fmla="val 50000"/>
            </a:avLst>
          </a:prstGeom>
          <a:solidFill>
            <a:srgbClr val="FFFFFF"/>
          </a:solidFill>
          <a:ln w="12700">
            <a:solidFill>
              <a:srgbClr val="1F4A82"/>
            </a:solidFill>
            <a:prstDash val="solid"/>
          </a:ln>
        </p:spPr>
      </p:sp>
      <p:sp>
        <p:nvSpPr>
          <p:cNvPr id="86" name="Text 82"/>
          <p:cNvSpPr txBox="1"/>
          <p:nvPr/>
        </p:nvSpPr>
        <p:spPr>
          <a:xfrm>
            <a:off x="8202168" y="4251960"/>
            <a:ext cx="992124" cy="219456"/>
          </a:xfrm>
          <a:prstGeom prst="rect">
            <a:avLst/>
          </a:prstGeom>
          <a:noFill/>
          <a:ln/>
        </p:spPr>
        <p:txBody>
          <a:bodyPr wrap="square" lIns="0" tIns="0" rIns="0" bIns="0" rtlCol="0" anchor="ctr"/>
          <a:lstStyle/>
          <a:p>
            <a:pPr algn="ctr" indent="0" marL="0">
              <a:buNone/>
            </a:pPr>
            <a:r>
              <a:rPr lang="en-US" sz="900" b="1" spc="100" kern="0" dirty="0">
                <a:solidFill>
                  <a:srgbClr val="1F4A82"/>
                </a:solidFill>
                <a:latin typeface="Calibri" pitchFamily="34" charset="0"/>
                <a:ea typeface="Calibri" pitchFamily="34" charset="-122"/>
                <a:cs typeface="Calibri" pitchFamily="34" charset="-120"/>
              </a:rPr>
              <a:t>PUBLIC DATA</a:t>
            </a:r>
            <a:endParaRPr lang="en-US" sz="900" dirty="0"/>
          </a:p>
        </p:txBody>
      </p:sp>
      <p:pic>
        <p:nvPicPr>
          <p:cNvPr id="87" name="Image 2" descr="FaCircleCheck icon">    </p:cNvPr>
          <p:cNvPicPr>
            <a:picLocks noChangeAspect="1"/>
          </p:cNvPicPr>
          <p:nvPr/>
        </p:nvPicPr>
        <p:blipFill>
          <a:blip r:embed="rId3"/>
          <a:stretch>
            <a:fillRect/>
          </a:stretch>
        </p:blipFill>
        <p:spPr>
          <a:xfrm>
            <a:off x="8238744" y="4572000"/>
            <a:ext cx="182880" cy="182880"/>
          </a:xfrm>
          <a:prstGeom prst="rect">
            <a:avLst/>
          </a:prstGeom>
        </p:spPr>
      </p:pic>
      <p:sp>
        <p:nvSpPr>
          <p:cNvPr id="88" name="Text 83"/>
          <p:cNvSpPr txBox="1"/>
          <p:nvPr/>
        </p:nvSpPr>
        <p:spPr>
          <a:xfrm>
            <a:off x="8503920" y="4526280"/>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No leaderboards, no public ranks</a:t>
            </a:r>
            <a:endParaRPr lang="en-US" sz="1000" dirty="0"/>
          </a:p>
        </p:txBody>
      </p:sp>
      <p:pic>
        <p:nvPicPr>
          <p:cNvPr id="89" name="Image 3" descr="FaCircleCheck icon">    </p:cNvPr>
          <p:cNvPicPr>
            <a:picLocks noChangeAspect="1"/>
          </p:cNvPicPr>
          <p:nvPr/>
        </p:nvPicPr>
        <p:blipFill>
          <a:blip r:embed="rId4"/>
          <a:stretch>
            <a:fillRect/>
          </a:stretch>
        </p:blipFill>
        <p:spPr>
          <a:xfrm>
            <a:off x="8238744" y="4828032"/>
            <a:ext cx="182880" cy="182880"/>
          </a:xfrm>
          <a:prstGeom prst="rect">
            <a:avLst/>
          </a:prstGeom>
        </p:spPr>
      </p:pic>
      <p:sp>
        <p:nvSpPr>
          <p:cNvPr id="90" name="Text 84"/>
          <p:cNvSpPr txBox="1"/>
          <p:nvPr/>
        </p:nvSpPr>
        <p:spPr>
          <a:xfrm>
            <a:off x="8503920" y="4782312"/>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No batch moves based on performance</a:t>
            </a:r>
            <a:endParaRPr lang="en-US" sz="1000" dirty="0"/>
          </a:p>
        </p:txBody>
      </p:sp>
      <p:pic>
        <p:nvPicPr>
          <p:cNvPr id="91" name="Image 4" descr="FaCircleCheck icon">    </p:cNvPr>
          <p:cNvPicPr>
            <a:picLocks noChangeAspect="1"/>
          </p:cNvPicPr>
          <p:nvPr/>
        </p:nvPicPr>
        <p:blipFill>
          <a:blip r:embed="rId5"/>
          <a:stretch>
            <a:fillRect/>
          </a:stretch>
        </p:blipFill>
        <p:spPr>
          <a:xfrm>
            <a:off x="8238744" y="5084064"/>
            <a:ext cx="182880" cy="182880"/>
          </a:xfrm>
          <a:prstGeom prst="rect">
            <a:avLst/>
          </a:prstGeom>
        </p:spPr>
      </p:pic>
      <p:sp>
        <p:nvSpPr>
          <p:cNvPr id="92" name="Text 85"/>
          <p:cNvSpPr txBox="1"/>
          <p:nvPr/>
        </p:nvSpPr>
        <p:spPr>
          <a:xfrm>
            <a:off x="8503920" y="5038344"/>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Banned-words check on every message</a:t>
            </a:r>
            <a:endParaRPr lang="en-US" sz="1000" dirty="0"/>
          </a:p>
        </p:txBody>
      </p:sp>
      <p:pic>
        <p:nvPicPr>
          <p:cNvPr id="93" name="Image 5" descr="FaCircleCheck icon">    </p:cNvPr>
          <p:cNvPicPr>
            <a:picLocks noChangeAspect="1"/>
          </p:cNvPicPr>
          <p:nvPr/>
        </p:nvPicPr>
        <p:blipFill>
          <a:blip r:embed="rId6"/>
          <a:stretch>
            <a:fillRect/>
          </a:stretch>
        </p:blipFill>
        <p:spPr>
          <a:xfrm>
            <a:off x="8238744" y="5340096"/>
            <a:ext cx="182880" cy="182880"/>
          </a:xfrm>
          <a:prstGeom prst="rect">
            <a:avLst/>
          </a:prstGeom>
        </p:spPr>
      </p:pic>
      <p:sp>
        <p:nvSpPr>
          <p:cNvPr id="94" name="Text 86"/>
          <p:cNvSpPr txBox="1"/>
          <p:nvPr/>
        </p:nvSpPr>
        <p:spPr>
          <a:xfrm>
            <a:off x="8503920" y="5294376"/>
            <a:ext cx="3184855" cy="256032"/>
          </a:xfrm>
          <a:prstGeom prst="rect">
            <a:avLst/>
          </a:prstGeom>
          <a:noFill/>
          <a:ln/>
        </p:spPr>
        <p:txBody>
          <a:bodyPr wrap="square" lIns="0" tIns="0" rIns="0" bIns="0" rtlCol="0" anchor="ctr"/>
          <a:lstStyle/>
          <a:p>
            <a:pPr algn="l" indent="0" marL="0">
              <a:buNone/>
            </a:pPr>
            <a:r>
              <a:rPr lang="en-US" sz="1000" dirty="0">
                <a:solidFill>
                  <a:srgbClr val="1F2937"/>
                </a:solidFill>
                <a:latin typeface="Calibri" pitchFamily="34" charset="0"/>
                <a:ea typeface="Calibri" pitchFamily="34" charset="-122"/>
                <a:cs typeface="Calibri" pitchFamily="34" charset="-120"/>
              </a:rPr>
              <a:t>Counsellor contact for every institute</a:t>
            </a:r>
            <a:endParaRPr lang="en-US" sz="1000" dirty="0"/>
          </a:p>
        </p:txBody>
      </p:sp>
      <p:sp>
        <p:nvSpPr>
          <p:cNvPr id="95" name="Shape 87"/>
          <p:cNvSpPr/>
          <p:nvPr/>
        </p:nvSpPr>
        <p:spPr>
          <a:xfrm>
            <a:off x="411480" y="5760720"/>
            <a:ext cx="11368735" cy="548640"/>
          </a:xfrm>
          <a:prstGeom prst="rect">
            <a:avLst/>
          </a:prstGeom>
          <a:solidFill>
            <a:srgbClr val="E3ECF7"/>
          </a:solidFill>
          <a:ln/>
        </p:spPr>
      </p:sp>
      <p:sp>
        <p:nvSpPr>
          <p:cNvPr id="96" name="Text 88"/>
          <p:cNvSpPr txBox="1"/>
          <p:nvPr/>
        </p:nvSpPr>
        <p:spPr>
          <a:xfrm>
            <a:off x="594360" y="5760720"/>
            <a:ext cx="11002975" cy="54864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MoE Coaching Centre Guidelines 2024, cl. 10.2(xi): </a:t>
            </a:r>
            <a:pPr algn="l" indent="0" marL="0">
              <a:buNone/>
            </a:pPr>
            <a:r>
              <a:rPr lang="en-US" sz="1150" i="1" dirty="0">
                <a:solidFill>
                  <a:srgbClr val="1F2937"/>
                </a:solidFill>
                <a:latin typeface="Calibri" pitchFamily="34" charset="0"/>
                <a:ea typeface="Calibri" pitchFamily="34" charset="-122"/>
                <a:cs typeface="Calibri" pitchFamily="34" charset="-120"/>
              </a:rPr>
              <a:t>results should be used for regular analysis and counselling of students whose performance is deteriorating. </a:t>
            </a:r>
            <a:pPr algn="l" indent="0" marL="0">
              <a:buNone/>
            </a:pPr>
            <a:r>
              <a:rPr lang="en-US" sz="1150" b="1" dirty="0">
                <a:solidFill>
                  <a:srgbClr val="1F4A82"/>
                </a:solidFill>
                <a:latin typeface="Calibri" pitchFamily="34" charset="0"/>
                <a:ea typeface="Calibri" pitchFamily="34" charset="-122"/>
                <a:cs typeface="Calibri" pitchFamily="34" charset="-120"/>
              </a:rPr>
              <a:t>Our whole flow is built on that sentence.</a:t>
            </a:r>
            <a:endParaRPr lang="en-US" sz="1150" dirty="0"/>
          </a:p>
        </p:txBody>
      </p:sp>
      <p:sp>
        <p:nvSpPr>
          <p:cNvPr id="97" name="Text 89"/>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s.9, DPDP Rules 2025, MoE Guidelines 2024; contracts/routing_policy.yaml; OULAD results in ml/public_validation. Not legal advice.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BUSINESS MODEL AND UNIT ECONOMICS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At ₹30 a student, fees kept and staff time saved already cover the cost; every admission it wins is a bonus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REVENUE MODEL AND UNIT ECONOMICS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Shape 10"/>
          <p:cNvSpPr/>
          <p:nvPr/>
        </p:nvSpPr>
        <p:spPr>
          <a:xfrm>
            <a:off x="7126605" y="6528816"/>
            <a:ext cx="1343025" cy="274320"/>
          </a:xfrm>
          <a:prstGeom prst="rect">
            <a:avLst/>
          </a:prstGeom>
          <a:solidFill>
            <a:srgbClr val="1F4A82"/>
          </a:solidFill>
          <a:ln/>
        </p:spPr>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611880" cy="301752"/>
          </a:xfrm>
          <a:prstGeom prst="rect">
            <a:avLst/>
          </a:prstGeom>
          <a:solidFill>
            <a:srgbClr val="1F4A82"/>
          </a:solidFill>
          <a:ln/>
        </p:spPr>
      </p:sp>
      <p:sp>
        <p:nvSpPr>
          <p:cNvPr id="17" name="Text 15"/>
          <p:cNvSpPr txBox="1"/>
          <p:nvPr/>
        </p:nvSpPr>
        <p:spPr>
          <a:xfrm>
            <a:off x="521208" y="1115568"/>
            <a:ext cx="33924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PRICE AND COST TO THE INSTITUTE</a:t>
            </a:r>
            <a:endParaRPr lang="en-US" sz="1200" dirty="0"/>
          </a:p>
        </p:txBody>
      </p:sp>
      <p:sp>
        <p:nvSpPr>
          <p:cNvPr id="18" name="Shape 16"/>
          <p:cNvSpPr/>
          <p:nvPr/>
        </p:nvSpPr>
        <p:spPr>
          <a:xfrm>
            <a:off x="4078224" y="1115568"/>
            <a:ext cx="0" cy="4645152"/>
          </a:xfrm>
          <a:prstGeom prst="line">
            <a:avLst/>
          </a:prstGeom>
          <a:noFill/>
          <a:ln w="12700">
            <a:solidFill>
              <a:srgbClr val="8FA9CC"/>
            </a:solidFill>
            <a:prstDash val="dash"/>
          </a:ln>
        </p:spPr>
      </p:sp>
      <p:sp>
        <p:nvSpPr>
          <p:cNvPr id="19" name="Shape 17"/>
          <p:cNvSpPr/>
          <p:nvPr/>
        </p:nvSpPr>
        <p:spPr>
          <a:xfrm>
            <a:off x="484632" y="1481328"/>
            <a:ext cx="2011680" cy="384048"/>
          </a:xfrm>
          <a:prstGeom prst="rect">
            <a:avLst/>
          </a:prstGeom>
          <a:solidFill>
            <a:srgbClr val="F1F7F3"/>
          </a:solidFill>
          <a:ln/>
        </p:spPr>
      </p:sp>
      <p:sp>
        <p:nvSpPr>
          <p:cNvPr id="20" name="Text 18"/>
          <p:cNvSpPr txBox="1"/>
          <p:nvPr/>
        </p:nvSpPr>
        <p:spPr>
          <a:xfrm>
            <a:off x="530352" y="1481328"/>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List price</a:t>
            </a:r>
            <a:endParaRPr lang="en-US" sz="950" dirty="0"/>
          </a:p>
        </p:txBody>
      </p:sp>
      <p:sp>
        <p:nvSpPr>
          <p:cNvPr id="21" name="Shape 19"/>
          <p:cNvSpPr/>
          <p:nvPr/>
        </p:nvSpPr>
        <p:spPr>
          <a:xfrm>
            <a:off x="2496312" y="1481328"/>
            <a:ext cx="1453896" cy="384048"/>
          </a:xfrm>
          <a:prstGeom prst="rect">
            <a:avLst/>
          </a:prstGeom>
          <a:solidFill>
            <a:srgbClr val="F1F7F3"/>
          </a:solidFill>
          <a:ln/>
        </p:spPr>
      </p:sp>
      <p:sp>
        <p:nvSpPr>
          <p:cNvPr id="22" name="Text 20"/>
          <p:cNvSpPr txBox="1"/>
          <p:nvPr/>
        </p:nvSpPr>
        <p:spPr>
          <a:xfrm>
            <a:off x="2542032" y="1481328"/>
            <a:ext cx="1362456"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₹30 / student / month</a:t>
            </a:r>
            <a:endParaRPr lang="en-US" sz="950" dirty="0"/>
          </a:p>
        </p:txBody>
      </p:sp>
      <p:sp>
        <p:nvSpPr>
          <p:cNvPr id="23" name="Shape 21"/>
          <p:cNvSpPr/>
          <p:nvPr/>
        </p:nvSpPr>
        <p:spPr>
          <a:xfrm>
            <a:off x="484632" y="1865376"/>
            <a:ext cx="3465576" cy="0"/>
          </a:xfrm>
          <a:prstGeom prst="line">
            <a:avLst/>
          </a:prstGeom>
          <a:noFill/>
          <a:ln w="6350">
            <a:solidFill>
              <a:srgbClr val="E3E8E4"/>
            </a:solidFill>
            <a:prstDash val="solid"/>
          </a:ln>
        </p:spPr>
      </p:sp>
      <p:sp>
        <p:nvSpPr>
          <p:cNvPr id="24" name="Shape 22"/>
          <p:cNvSpPr/>
          <p:nvPr/>
        </p:nvSpPr>
        <p:spPr>
          <a:xfrm>
            <a:off x="484632" y="1865376"/>
            <a:ext cx="2011680" cy="384048"/>
          </a:xfrm>
          <a:prstGeom prst="rect">
            <a:avLst/>
          </a:prstGeom>
          <a:solidFill>
            <a:srgbClr val="FFFFFF"/>
          </a:solidFill>
          <a:ln/>
        </p:spPr>
      </p:sp>
      <p:sp>
        <p:nvSpPr>
          <p:cNvPr id="25" name="Text 23"/>
          <p:cNvSpPr txBox="1"/>
          <p:nvPr/>
        </p:nvSpPr>
        <p:spPr>
          <a:xfrm>
            <a:off x="530352" y="1865376"/>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Range tested</a:t>
            </a:r>
            <a:endParaRPr lang="en-US" sz="950" dirty="0"/>
          </a:p>
        </p:txBody>
      </p:sp>
      <p:sp>
        <p:nvSpPr>
          <p:cNvPr id="26" name="Shape 24"/>
          <p:cNvSpPr/>
          <p:nvPr/>
        </p:nvSpPr>
        <p:spPr>
          <a:xfrm>
            <a:off x="2496312" y="1865376"/>
            <a:ext cx="1453896" cy="384048"/>
          </a:xfrm>
          <a:prstGeom prst="rect">
            <a:avLst/>
          </a:prstGeom>
          <a:solidFill>
            <a:srgbClr val="FFFFFF"/>
          </a:solidFill>
          <a:ln/>
        </p:spPr>
      </p:sp>
      <p:sp>
        <p:nvSpPr>
          <p:cNvPr id="27" name="Text 25"/>
          <p:cNvSpPr txBox="1"/>
          <p:nvPr/>
        </p:nvSpPr>
        <p:spPr>
          <a:xfrm>
            <a:off x="2542032" y="1865376"/>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₹20 to ₹40</a:t>
            </a:r>
            <a:endParaRPr lang="en-US" sz="950" dirty="0"/>
          </a:p>
        </p:txBody>
      </p:sp>
      <p:sp>
        <p:nvSpPr>
          <p:cNvPr id="28" name="Shape 26"/>
          <p:cNvSpPr/>
          <p:nvPr/>
        </p:nvSpPr>
        <p:spPr>
          <a:xfrm>
            <a:off x="484632" y="2249424"/>
            <a:ext cx="3465576" cy="0"/>
          </a:xfrm>
          <a:prstGeom prst="line">
            <a:avLst/>
          </a:prstGeom>
          <a:noFill/>
          <a:ln w="6350">
            <a:solidFill>
              <a:srgbClr val="E3E8E4"/>
            </a:solidFill>
            <a:prstDash val="solid"/>
          </a:ln>
        </p:spPr>
      </p:sp>
      <p:sp>
        <p:nvSpPr>
          <p:cNvPr id="29" name="Shape 27"/>
          <p:cNvSpPr/>
          <p:nvPr/>
        </p:nvSpPr>
        <p:spPr>
          <a:xfrm>
            <a:off x="484632" y="2249424"/>
            <a:ext cx="2011680" cy="384048"/>
          </a:xfrm>
          <a:prstGeom prst="rect">
            <a:avLst/>
          </a:prstGeom>
          <a:solidFill>
            <a:srgbClr val="F1F7F3"/>
          </a:solidFill>
          <a:ln/>
        </p:spPr>
      </p:sp>
      <p:sp>
        <p:nvSpPr>
          <p:cNvPr id="30" name="Text 28"/>
          <p:cNvSpPr txBox="1"/>
          <p:nvPr/>
        </p:nvSpPr>
        <p:spPr>
          <a:xfrm>
            <a:off x="530352" y="2249424"/>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Billed per year (active students, seasonal)</a:t>
            </a:r>
            <a:endParaRPr lang="en-US" sz="950" dirty="0"/>
          </a:p>
        </p:txBody>
      </p:sp>
      <p:sp>
        <p:nvSpPr>
          <p:cNvPr id="31" name="Shape 29"/>
          <p:cNvSpPr/>
          <p:nvPr/>
        </p:nvSpPr>
        <p:spPr>
          <a:xfrm>
            <a:off x="2496312" y="2249424"/>
            <a:ext cx="1453896" cy="384048"/>
          </a:xfrm>
          <a:prstGeom prst="rect">
            <a:avLst/>
          </a:prstGeom>
          <a:solidFill>
            <a:srgbClr val="F1F7F3"/>
          </a:solidFill>
          <a:ln/>
        </p:spPr>
      </p:sp>
      <p:sp>
        <p:nvSpPr>
          <p:cNvPr id="32" name="Text 30"/>
          <p:cNvSpPr txBox="1"/>
          <p:nvPr/>
        </p:nvSpPr>
        <p:spPr>
          <a:xfrm>
            <a:off x="2542032" y="2249424"/>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₹1.03 lakh</a:t>
            </a:r>
            <a:endParaRPr lang="en-US" sz="950" dirty="0"/>
          </a:p>
        </p:txBody>
      </p:sp>
      <p:sp>
        <p:nvSpPr>
          <p:cNvPr id="33" name="Shape 31"/>
          <p:cNvSpPr/>
          <p:nvPr/>
        </p:nvSpPr>
        <p:spPr>
          <a:xfrm>
            <a:off x="484632" y="2633472"/>
            <a:ext cx="3465576" cy="0"/>
          </a:xfrm>
          <a:prstGeom prst="line">
            <a:avLst/>
          </a:prstGeom>
          <a:noFill/>
          <a:ln w="6350">
            <a:solidFill>
              <a:srgbClr val="E3E8E4"/>
            </a:solidFill>
            <a:prstDash val="solid"/>
          </a:ln>
        </p:spPr>
      </p:sp>
      <p:sp>
        <p:nvSpPr>
          <p:cNvPr id="34" name="Shape 32"/>
          <p:cNvSpPr/>
          <p:nvPr/>
        </p:nvSpPr>
        <p:spPr>
          <a:xfrm>
            <a:off x="484632" y="2633472"/>
            <a:ext cx="2011680" cy="384048"/>
          </a:xfrm>
          <a:prstGeom prst="rect">
            <a:avLst/>
          </a:prstGeom>
          <a:solidFill>
            <a:srgbClr val="FFFFFF"/>
          </a:solidFill>
          <a:ln/>
        </p:spPr>
      </p:sp>
      <p:sp>
        <p:nvSpPr>
          <p:cNvPr id="35" name="Text 33"/>
          <p:cNvSpPr txBox="1"/>
          <p:nvPr/>
        </p:nvSpPr>
        <p:spPr>
          <a:xfrm>
            <a:off x="530352" y="2633472"/>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Total cost incl. GST not reclaimed and mentor time</a:t>
            </a:r>
            <a:endParaRPr lang="en-US" sz="950" dirty="0"/>
          </a:p>
        </p:txBody>
      </p:sp>
      <p:sp>
        <p:nvSpPr>
          <p:cNvPr id="36" name="Shape 34"/>
          <p:cNvSpPr/>
          <p:nvPr/>
        </p:nvSpPr>
        <p:spPr>
          <a:xfrm>
            <a:off x="2496312" y="2633472"/>
            <a:ext cx="1453896" cy="384048"/>
          </a:xfrm>
          <a:prstGeom prst="rect">
            <a:avLst/>
          </a:prstGeom>
          <a:solidFill>
            <a:srgbClr val="FFFFFF"/>
          </a:solidFill>
          <a:ln/>
        </p:spPr>
      </p:sp>
      <p:sp>
        <p:nvSpPr>
          <p:cNvPr id="37" name="Text 35"/>
          <p:cNvSpPr txBox="1"/>
          <p:nvPr/>
        </p:nvSpPr>
        <p:spPr>
          <a:xfrm>
            <a:off x="2542032" y="2633472"/>
            <a:ext cx="1362456"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₹1.20 lakh</a:t>
            </a:r>
            <a:endParaRPr lang="en-US" sz="950" dirty="0"/>
          </a:p>
        </p:txBody>
      </p:sp>
      <p:sp>
        <p:nvSpPr>
          <p:cNvPr id="38" name="Shape 36"/>
          <p:cNvSpPr/>
          <p:nvPr/>
        </p:nvSpPr>
        <p:spPr>
          <a:xfrm>
            <a:off x="484632" y="3017520"/>
            <a:ext cx="3465576" cy="0"/>
          </a:xfrm>
          <a:prstGeom prst="line">
            <a:avLst/>
          </a:prstGeom>
          <a:noFill/>
          <a:ln w="6350">
            <a:solidFill>
              <a:srgbClr val="E3E8E4"/>
            </a:solidFill>
            <a:prstDash val="solid"/>
          </a:ln>
        </p:spPr>
      </p:sp>
      <p:sp>
        <p:nvSpPr>
          <p:cNvPr id="39" name="Shape 37"/>
          <p:cNvSpPr/>
          <p:nvPr/>
        </p:nvSpPr>
        <p:spPr>
          <a:xfrm>
            <a:off x="484632" y="3017520"/>
            <a:ext cx="2011680" cy="384048"/>
          </a:xfrm>
          <a:prstGeom prst="rect">
            <a:avLst/>
          </a:prstGeom>
          <a:solidFill>
            <a:srgbClr val="F1F7F3"/>
          </a:solidFill>
          <a:ln/>
        </p:spPr>
      </p:sp>
      <p:sp>
        <p:nvSpPr>
          <p:cNvPr id="40" name="Text 38"/>
          <p:cNvSpPr txBox="1"/>
          <p:nvPr/>
        </p:nvSpPr>
        <p:spPr>
          <a:xfrm>
            <a:off x="530352" y="3017520"/>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 student per year</a:t>
            </a:r>
            <a:endParaRPr lang="en-US" sz="950" dirty="0"/>
          </a:p>
        </p:txBody>
      </p:sp>
      <p:sp>
        <p:nvSpPr>
          <p:cNvPr id="41" name="Shape 39"/>
          <p:cNvSpPr/>
          <p:nvPr/>
        </p:nvSpPr>
        <p:spPr>
          <a:xfrm>
            <a:off x="2496312" y="3017520"/>
            <a:ext cx="1453896" cy="384048"/>
          </a:xfrm>
          <a:prstGeom prst="rect">
            <a:avLst/>
          </a:prstGeom>
          <a:solidFill>
            <a:srgbClr val="F1F7F3"/>
          </a:solidFill>
          <a:ln/>
        </p:spPr>
      </p:sp>
      <p:sp>
        <p:nvSpPr>
          <p:cNvPr id="42" name="Text 40"/>
          <p:cNvSpPr txBox="1"/>
          <p:nvPr/>
        </p:nvSpPr>
        <p:spPr>
          <a:xfrm>
            <a:off x="2542032" y="3017520"/>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 ₹285 (0.3 % of fee)</a:t>
            </a:r>
            <a:endParaRPr lang="en-US" sz="950" dirty="0"/>
          </a:p>
        </p:txBody>
      </p:sp>
      <p:sp>
        <p:nvSpPr>
          <p:cNvPr id="43" name="Shape 41"/>
          <p:cNvSpPr/>
          <p:nvPr/>
        </p:nvSpPr>
        <p:spPr>
          <a:xfrm>
            <a:off x="484632" y="3401568"/>
            <a:ext cx="3465576" cy="0"/>
          </a:xfrm>
          <a:prstGeom prst="line">
            <a:avLst/>
          </a:prstGeom>
          <a:noFill/>
          <a:ln w="6350">
            <a:solidFill>
              <a:srgbClr val="E3E8E4"/>
            </a:solidFill>
            <a:prstDash val="solid"/>
          </a:ln>
        </p:spPr>
      </p:sp>
      <p:sp>
        <p:nvSpPr>
          <p:cNvPr id="44" name="Shape 42"/>
          <p:cNvSpPr/>
          <p:nvPr/>
        </p:nvSpPr>
        <p:spPr>
          <a:xfrm>
            <a:off x="484632" y="3401568"/>
            <a:ext cx="2011680" cy="384048"/>
          </a:xfrm>
          <a:prstGeom prst="rect">
            <a:avLst/>
          </a:prstGeom>
          <a:solidFill>
            <a:srgbClr val="FFFFFF"/>
          </a:solidFill>
          <a:ln/>
        </p:spPr>
      </p:sp>
      <p:sp>
        <p:nvSpPr>
          <p:cNvPr id="45" name="Text 43"/>
          <p:cNvSpPr txBox="1"/>
          <p:nvPr/>
        </p:nvSpPr>
        <p:spPr>
          <a:xfrm>
            <a:off x="530352" y="3401568"/>
            <a:ext cx="192024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Our cost to serve (all-in)</a:t>
            </a:r>
            <a:endParaRPr lang="en-US" sz="950" dirty="0"/>
          </a:p>
        </p:txBody>
      </p:sp>
      <p:sp>
        <p:nvSpPr>
          <p:cNvPr id="46" name="Shape 44"/>
          <p:cNvSpPr/>
          <p:nvPr/>
        </p:nvSpPr>
        <p:spPr>
          <a:xfrm>
            <a:off x="2496312" y="3401568"/>
            <a:ext cx="1453896" cy="384048"/>
          </a:xfrm>
          <a:prstGeom prst="rect">
            <a:avLst/>
          </a:prstGeom>
          <a:solidFill>
            <a:srgbClr val="FFFFFF"/>
          </a:solidFill>
          <a:ln/>
        </p:spPr>
      </p:sp>
      <p:sp>
        <p:nvSpPr>
          <p:cNvPr id="47" name="Text 45"/>
          <p:cNvSpPr txBox="1"/>
          <p:nvPr/>
        </p:nvSpPr>
        <p:spPr>
          <a:xfrm>
            <a:off x="2542032" y="3401568"/>
            <a:ext cx="1362456"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₹3.6 / student / month</a:t>
            </a:r>
            <a:endParaRPr lang="en-US" sz="950" dirty="0"/>
          </a:p>
        </p:txBody>
      </p:sp>
      <p:sp>
        <p:nvSpPr>
          <p:cNvPr id="48" name="Shape 46"/>
          <p:cNvSpPr/>
          <p:nvPr/>
        </p:nvSpPr>
        <p:spPr>
          <a:xfrm>
            <a:off x="484632" y="3785616"/>
            <a:ext cx="3465576" cy="0"/>
          </a:xfrm>
          <a:prstGeom prst="line">
            <a:avLst/>
          </a:prstGeom>
          <a:noFill/>
          <a:ln w="6350">
            <a:solidFill>
              <a:srgbClr val="E3E8E4"/>
            </a:solidFill>
            <a:prstDash val="solid"/>
          </a:ln>
        </p:spPr>
      </p:sp>
      <p:sp>
        <p:nvSpPr>
          <p:cNvPr id="49" name="Text 47"/>
          <p:cNvSpPr txBox="1"/>
          <p:nvPr/>
        </p:nvSpPr>
        <p:spPr>
          <a:xfrm>
            <a:off x="502920" y="3895344"/>
            <a:ext cx="3383280" cy="219456"/>
          </a:xfrm>
          <a:prstGeom prst="rect">
            <a:avLst/>
          </a:prstGeom>
          <a:noFill/>
          <a:ln/>
        </p:spPr>
        <p:txBody>
          <a:bodyPr wrap="square" lIns="0" tIns="0" rIns="0" bIns="0" rtlCol="0" anchor="t"/>
          <a:lstStyle/>
          <a:p>
            <a:pPr algn="l" indent="0" marL="0">
              <a:buNone/>
            </a:pPr>
            <a:r>
              <a:rPr lang="en-US" sz="1000" b="1" dirty="0">
                <a:solidFill>
                  <a:srgbClr val="1F4A82"/>
                </a:solidFill>
                <a:latin typeface="Calibri" pitchFamily="34" charset="0"/>
                <a:ea typeface="Calibri" pitchFamily="34" charset="-122"/>
                <a:cs typeface="Calibri" pitchFamily="34" charset="-120"/>
              </a:rPr>
              <a:t>BY SEGMENT (BASE)</a:t>
            </a:r>
            <a:endParaRPr lang="en-US" sz="1000" dirty="0"/>
          </a:p>
        </p:txBody>
      </p:sp>
      <p:sp>
        <p:nvSpPr>
          <p:cNvPr id="50" name="Shape 48"/>
          <p:cNvSpPr/>
          <p:nvPr/>
        </p:nvSpPr>
        <p:spPr>
          <a:xfrm>
            <a:off x="484632" y="4114800"/>
            <a:ext cx="1051560" cy="256032"/>
          </a:xfrm>
          <a:prstGeom prst="rect">
            <a:avLst/>
          </a:prstGeom>
          <a:solidFill>
            <a:srgbClr val="1F4A82"/>
          </a:solidFill>
          <a:ln/>
        </p:spPr>
      </p:sp>
      <p:sp>
        <p:nvSpPr>
          <p:cNvPr id="51" name="Text 49"/>
          <p:cNvSpPr txBox="1"/>
          <p:nvPr/>
        </p:nvSpPr>
        <p:spPr>
          <a:xfrm>
            <a:off x="530352" y="4114800"/>
            <a:ext cx="960120" cy="256032"/>
          </a:xfrm>
          <a:prstGeom prst="rect">
            <a:avLst/>
          </a:prstGeom>
          <a:noFill/>
          <a:ln/>
        </p:spPr>
        <p:txBody>
          <a:bodyPr wrap="square" lIns="0" tIns="0" rIns="0" bIns="0" rtlCol="0" anchor="ctr"/>
          <a:lstStyle/>
          <a:p>
            <a:pPr algn="l" indent="0" marL="0">
              <a:buNone/>
            </a:pPr>
            <a:endParaRPr lang="en-US" sz="950" dirty="0"/>
          </a:p>
        </p:txBody>
      </p:sp>
      <p:sp>
        <p:nvSpPr>
          <p:cNvPr id="52" name="Shape 50"/>
          <p:cNvSpPr/>
          <p:nvPr/>
        </p:nvSpPr>
        <p:spPr>
          <a:xfrm>
            <a:off x="1536192" y="4114800"/>
            <a:ext cx="804672" cy="256032"/>
          </a:xfrm>
          <a:prstGeom prst="rect">
            <a:avLst/>
          </a:prstGeom>
          <a:solidFill>
            <a:srgbClr val="5B6573"/>
          </a:solidFill>
          <a:ln/>
        </p:spPr>
      </p:sp>
      <p:sp>
        <p:nvSpPr>
          <p:cNvPr id="53" name="Text 51"/>
          <p:cNvSpPr txBox="1"/>
          <p:nvPr/>
        </p:nvSpPr>
        <p:spPr>
          <a:xfrm>
            <a:off x="1581912" y="4114800"/>
            <a:ext cx="7132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Small</a:t>
            </a:r>
            <a:endParaRPr lang="en-US" sz="950" dirty="0"/>
          </a:p>
        </p:txBody>
      </p:sp>
      <p:sp>
        <p:nvSpPr>
          <p:cNvPr id="54" name="Shape 52"/>
          <p:cNvSpPr/>
          <p:nvPr/>
        </p:nvSpPr>
        <p:spPr>
          <a:xfrm>
            <a:off x="2340864" y="4114800"/>
            <a:ext cx="804672" cy="256032"/>
          </a:xfrm>
          <a:prstGeom prst="rect">
            <a:avLst/>
          </a:prstGeom>
          <a:solidFill>
            <a:srgbClr val="1F4A82"/>
          </a:solidFill>
          <a:ln/>
        </p:spPr>
      </p:sp>
      <p:sp>
        <p:nvSpPr>
          <p:cNvPr id="55" name="Text 53"/>
          <p:cNvSpPr txBox="1"/>
          <p:nvPr/>
        </p:nvSpPr>
        <p:spPr>
          <a:xfrm>
            <a:off x="2386584" y="4114800"/>
            <a:ext cx="7132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Mid</a:t>
            </a:r>
            <a:endParaRPr lang="en-US" sz="950" dirty="0"/>
          </a:p>
        </p:txBody>
      </p:sp>
      <p:sp>
        <p:nvSpPr>
          <p:cNvPr id="56" name="Shape 54"/>
          <p:cNvSpPr/>
          <p:nvPr/>
        </p:nvSpPr>
        <p:spPr>
          <a:xfrm>
            <a:off x="3145536" y="4114800"/>
            <a:ext cx="804672" cy="256032"/>
          </a:xfrm>
          <a:prstGeom prst="rect">
            <a:avLst/>
          </a:prstGeom>
          <a:solidFill>
            <a:srgbClr val="5B6573"/>
          </a:solidFill>
          <a:ln/>
        </p:spPr>
      </p:sp>
      <p:sp>
        <p:nvSpPr>
          <p:cNvPr id="57" name="Text 55"/>
          <p:cNvSpPr txBox="1"/>
          <p:nvPr/>
        </p:nvSpPr>
        <p:spPr>
          <a:xfrm>
            <a:off x="3191256" y="4114800"/>
            <a:ext cx="7132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Large</a:t>
            </a:r>
            <a:endParaRPr lang="en-US" sz="950" dirty="0"/>
          </a:p>
        </p:txBody>
      </p:sp>
      <p:sp>
        <p:nvSpPr>
          <p:cNvPr id="58" name="Shape 56"/>
          <p:cNvSpPr/>
          <p:nvPr/>
        </p:nvSpPr>
        <p:spPr>
          <a:xfrm>
            <a:off x="484632" y="4370832"/>
            <a:ext cx="1051560" cy="274320"/>
          </a:xfrm>
          <a:prstGeom prst="rect">
            <a:avLst/>
          </a:prstGeom>
          <a:solidFill>
            <a:srgbClr val="F1F7F3"/>
          </a:solidFill>
          <a:ln/>
        </p:spPr>
      </p:sp>
      <p:sp>
        <p:nvSpPr>
          <p:cNvPr id="59" name="Text 57"/>
          <p:cNvSpPr txBox="1"/>
          <p:nvPr/>
        </p:nvSpPr>
        <p:spPr>
          <a:xfrm>
            <a:off x="530352" y="437083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a:t>
            </a:r>
            <a:endParaRPr lang="en-US" sz="950" dirty="0"/>
          </a:p>
        </p:txBody>
      </p:sp>
      <p:sp>
        <p:nvSpPr>
          <p:cNvPr id="60" name="Shape 58"/>
          <p:cNvSpPr/>
          <p:nvPr/>
        </p:nvSpPr>
        <p:spPr>
          <a:xfrm>
            <a:off x="1536192" y="4370832"/>
            <a:ext cx="804672" cy="274320"/>
          </a:xfrm>
          <a:prstGeom prst="rect">
            <a:avLst/>
          </a:prstGeom>
          <a:solidFill>
            <a:srgbClr val="F1F7F3"/>
          </a:solidFill>
          <a:ln/>
        </p:spPr>
      </p:sp>
      <p:sp>
        <p:nvSpPr>
          <p:cNvPr id="61" name="Text 59"/>
          <p:cNvSpPr txBox="1"/>
          <p:nvPr/>
        </p:nvSpPr>
        <p:spPr>
          <a:xfrm>
            <a:off x="1581912" y="437083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180</a:t>
            </a:r>
            <a:endParaRPr lang="en-US" sz="950" dirty="0"/>
          </a:p>
        </p:txBody>
      </p:sp>
      <p:sp>
        <p:nvSpPr>
          <p:cNvPr id="62" name="Shape 60"/>
          <p:cNvSpPr/>
          <p:nvPr/>
        </p:nvSpPr>
        <p:spPr>
          <a:xfrm>
            <a:off x="2340864" y="4370832"/>
            <a:ext cx="804672" cy="274320"/>
          </a:xfrm>
          <a:prstGeom prst="rect">
            <a:avLst/>
          </a:prstGeom>
          <a:solidFill>
            <a:srgbClr val="F1F7F3"/>
          </a:solidFill>
          <a:ln/>
        </p:spPr>
      </p:sp>
      <p:sp>
        <p:nvSpPr>
          <p:cNvPr id="63" name="Text 61"/>
          <p:cNvSpPr txBox="1"/>
          <p:nvPr/>
        </p:nvSpPr>
        <p:spPr>
          <a:xfrm>
            <a:off x="2386584" y="437083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400</a:t>
            </a:r>
            <a:endParaRPr lang="en-US" sz="950" dirty="0"/>
          </a:p>
        </p:txBody>
      </p:sp>
      <p:sp>
        <p:nvSpPr>
          <p:cNvPr id="64" name="Shape 62"/>
          <p:cNvSpPr/>
          <p:nvPr/>
        </p:nvSpPr>
        <p:spPr>
          <a:xfrm>
            <a:off x="3145536" y="4370832"/>
            <a:ext cx="804672" cy="274320"/>
          </a:xfrm>
          <a:prstGeom prst="rect">
            <a:avLst/>
          </a:prstGeom>
          <a:solidFill>
            <a:srgbClr val="F1F7F3"/>
          </a:solidFill>
          <a:ln/>
        </p:spPr>
      </p:sp>
      <p:sp>
        <p:nvSpPr>
          <p:cNvPr id="65" name="Text 63"/>
          <p:cNvSpPr txBox="1"/>
          <p:nvPr/>
        </p:nvSpPr>
        <p:spPr>
          <a:xfrm>
            <a:off x="3191256" y="437083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1,200</a:t>
            </a:r>
            <a:endParaRPr lang="en-US" sz="950" dirty="0"/>
          </a:p>
        </p:txBody>
      </p:sp>
      <p:sp>
        <p:nvSpPr>
          <p:cNvPr id="66" name="Shape 64"/>
          <p:cNvSpPr/>
          <p:nvPr/>
        </p:nvSpPr>
        <p:spPr>
          <a:xfrm>
            <a:off x="484632" y="4645152"/>
            <a:ext cx="3465576" cy="0"/>
          </a:xfrm>
          <a:prstGeom prst="line">
            <a:avLst/>
          </a:prstGeom>
          <a:noFill/>
          <a:ln w="6350">
            <a:solidFill>
              <a:srgbClr val="E3E8E4"/>
            </a:solidFill>
            <a:prstDash val="solid"/>
          </a:ln>
        </p:spPr>
      </p:sp>
      <p:sp>
        <p:nvSpPr>
          <p:cNvPr id="67" name="Shape 65"/>
          <p:cNvSpPr/>
          <p:nvPr/>
        </p:nvSpPr>
        <p:spPr>
          <a:xfrm>
            <a:off x="484632" y="4645152"/>
            <a:ext cx="1051560" cy="274320"/>
          </a:xfrm>
          <a:prstGeom prst="rect">
            <a:avLst/>
          </a:prstGeom>
          <a:solidFill>
            <a:srgbClr val="FFFFFF"/>
          </a:solidFill>
          <a:ln/>
        </p:spPr>
      </p:sp>
      <p:sp>
        <p:nvSpPr>
          <p:cNvPr id="68" name="Text 66"/>
          <p:cNvSpPr txBox="1"/>
          <p:nvPr/>
        </p:nvSpPr>
        <p:spPr>
          <a:xfrm>
            <a:off x="530352" y="464515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Institute return</a:t>
            </a:r>
            <a:endParaRPr lang="en-US" sz="950" dirty="0"/>
          </a:p>
        </p:txBody>
      </p:sp>
      <p:sp>
        <p:nvSpPr>
          <p:cNvPr id="69" name="Shape 67"/>
          <p:cNvSpPr/>
          <p:nvPr/>
        </p:nvSpPr>
        <p:spPr>
          <a:xfrm>
            <a:off x="1536192" y="4645152"/>
            <a:ext cx="804672" cy="274320"/>
          </a:xfrm>
          <a:prstGeom prst="rect">
            <a:avLst/>
          </a:prstGeom>
          <a:solidFill>
            <a:srgbClr val="FFFFFF"/>
          </a:solidFill>
          <a:ln/>
        </p:spPr>
      </p:sp>
      <p:sp>
        <p:nvSpPr>
          <p:cNvPr id="70" name="Text 68"/>
          <p:cNvSpPr txBox="1"/>
          <p:nvPr/>
        </p:nvSpPr>
        <p:spPr>
          <a:xfrm>
            <a:off x="1581912" y="464515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2.3x</a:t>
            </a:r>
            <a:endParaRPr lang="en-US" sz="950" dirty="0"/>
          </a:p>
        </p:txBody>
      </p:sp>
      <p:sp>
        <p:nvSpPr>
          <p:cNvPr id="71" name="Shape 69"/>
          <p:cNvSpPr/>
          <p:nvPr/>
        </p:nvSpPr>
        <p:spPr>
          <a:xfrm>
            <a:off x="2340864" y="4645152"/>
            <a:ext cx="804672" cy="274320"/>
          </a:xfrm>
          <a:prstGeom prst="rect">
            <a:avLst/>
          </a:prstGeom>
          <a:solidFill>
            <a:srgbClr val="FFFFFF"/>
          </a:solidFill>
          <a:ln/>
        </p:spPr>
      </p:sp>
      <p:sp>
        <p:nvSpPr>
          <p:cNvPr id="72" name="Text 70"/>
          <p:cNvSpPr txBox="1"/>
          <p:nvPr/>
        </p:nvSpPr>
        <p:spPr>
          <a:xfrm>
            <a:off x="2386584" y="4645152"/>
            <a:ext cx="713232"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2.9x</a:t>
            </a:r>
            <a:endParaRPr lang="en-US" sz="950" dirty="0"/>
          </a:p>
        </p:txBody>
      </p:sp>
      <p:sp>
        <p:nvSpPr>
          <p:cNvPr id="73" name="Shape 71"/>
          <p:cNvSpPr/>
          <p:nvPr/>
        </p:nvSpPr>
        <p:spPr>
          <a:xfrm>
            <a:off x="3145536" y="4645152"/>
            <a:ext cx="804672" cy="274320"/>
          </a:xfrm>
          <a:prstGeom prst="rect">
            <a:avLst/>
          </a:prstGeom>
          <a:solidFill>
            <a:srgbClr val="FFFFFF"/>
          </a:solidFill>
          <a:ln/>
        </p:spPr>
      </p:sp>
      <p:sp>
        <p:nvSpPr>
          <p:cNvPr id="74" name="Text 72"/>
          <p:cNvSpPr txBox="1"/>
          <p:nvPr/>
        </p:nvSpPr>
        <p:spPr>
          <a:xfrm>
            <a:off x="3191256" y="464515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3.6x</a:t>
            </a:r>
            <a:endParaRPr lang="en-US" sz="950" dirty="0"/>
          </a:p>
        </p:txBody>
      </p:sp>
      <p:sp>
        <p:nvSpPr>
          <p:cNvPr id="75" name="Shape 73"/>
          <p:cNvSpPr/>
          <p:nvPr/>
        </p:nvSpPr>
        <p:spPr>
          <a:xfrm>
            <a:off x="484632" y="4919472"/>
            <a:ext cx="3465576" cy="0"/>
          </a:xfrm>
          <a:prstGeom prst="line">
            <a:avLst/>
          </a:prstGeom>
          <a:noFill/>
          <a:ln w="6350">
            <a:solidFill>
              <a:srgbClr val="E3E8E4"/>
            </a:solidFill>
            <a:prstDash val="solid"/>
          </a:ln>
        </p:spPr>
      </p:sp>
      <p:sp>
        <p:nvSpPr>
          <p:cNvPr id="76" name="Shape 74"/>
          <p:cNvSpPr/>
          <p:nvPr/>
        </p:nvSpPr>
        <p:spPr>
          <a:xfrm>
            <a:off x="484632" y="4919472"/>
            <a:ext cx="1051560" cy="274320"/>
          </a:xfrm>
          <a:prstGeom prst="rect">
            <a:avLst/>
          </a:prstGeom>
          <a:solidFill>
            <a:srgbClr val="F1F7F3"/>
          </a:solidFill>
          <a:ln/>
        </p:spPr>
      </p:sp>
      <p:sp>
        <p:nvSpPr>
          <p:cNvPr id="77" name="Text 75"/>
          <p:cNvSpPr txBox="1"/>
          <p:nvPr/>
        </p:nvSpPr>
        <p:spPr>
          <a:xfrm>
            <a:off x="530352" y="491947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a:t>
            </a:r>
            <a:endParaRPr lang="en-US" sz="950" dirty="0"/>
          </a:p>
        </p:txBody>
      </p:sp>
      <p:sp>
        <p:nvSpPr>
          <p:cNvPr id="78" name="Shape 76"/>
          <p:cNvSpPr/>
          <p:nvPr/>
        </p:nvSpPr>
        <p:spPr>
          <a:xfrm>
            <a:off x="1536192" y="4919472"/>
            <a:ext cx="804672" cy="274320"/>
          </a:xfrm>
          <a:prstGeom prst="rect">
            <a:avLst/>
          </a:prstGeom>
          <a:solidFill>
            <a:srgbClr val="F1F7F3"/>
          </a:solidFill>
          <a:ln/>
        </p:spPr>
      </p:sp>
      <p:sp>
        <p:nvSpPr>
          <p:cNvPr id="79" name="Text 77"/>
          <p:cNvSpPr txBox="1"/>
          <p:nvPr/>
        </p:nvSpPr>
        <p:spPr>
          <a:xfrm>
            <a:off x="1581912" y="491947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1.5x</a:t>
            </a:r>
            <a:endParaRPr lang="en-US" sz="950" dirty="0"/>
          </a:p>
        </p:txBody>
      </p:sp>
      <p:sp>
        <p:nvSpPr>
          <p:cNvPr id="80" name="Shape 78"/>
          <p:cNvSpPr/>
          <p:nvPr/>
        </p:nvSpPr>
        <p:spPr>
          <a:xfrm>
            <a:off x="2340864" y="4919472"/>
            <a:ext cx="804672" cy="274320"/>
          </a:xfrm>
          <a:prstGeom prst="rect">
            <a:avLst/>
          </a:prstGeom>
          <a:solidFill>
            <a:srgbClr val="F1F7F3"/>
          </a:solidFill>
          <a:ln/>
        </p:spPr>
      </p:sp>
      <p:sp>
        <p:nvSpPr>
          <p:cNvPr id="81" name="Text 79"/>
          <p:cNvSpPr txBox="1"/>
          <p:nvPr/>
        </p:nvSpPr>
        <p:spPr>
          <a:xfrm>
            <a:off x="2386584" y="4919472"/>
            <a:ext cx="713232"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3.7x</a:t>
            </a:r>
            <a:endParaRPr lang="en-US" sz="950" dirty="0"/>
          </a:p>
        </p:txBody>
      </p:sp>
      <p:sp>
        <p:nvSpPr>
          <p:cNvPr id="82" name="Shape 80"/>
          <p:cNvSpPr/>
          <p:nvPr/>
        </p:nvSpPr>
        <p:spPr>
          <a:xfrm>
            <a:off x="3145536" y="4919472"/>
            <a:ext cx="804672" cy="274320"/>
          </a:xfrm>
          <a:prstGeom prst="rect">
            <a:avLst/>
          </a:prstGeom>
          <a:solidFill>
            <a:srgbClr val="F1F7F3"/>
          </a:solidFill>
          <a:ln/>
        </p:spPr>
      </p:sp>
      <p:sp>
        <p:nvSpPr>
          <p:cNvPr id="83" name="Text 81"/>
          <p:cNvSpPr txBox="1"/>
          <p:nvPr/>
        </p:nvSpPr>
        <p:spPr>
          <a:xfrm>
            <a:off x="3191256" y="491947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9.1x</a:t>
            </a:r>
            <a:endParaRPr lang="en-US" sz="950" dirty="0"/>
          </a:p>
        </p:txBody>
      </p:sp>
      <p:sp>
        <p:nvSpPr>
          <p:cNvPr id="84" name="Shape 82"/>
          <p:cNvSpPr/>
          <p:nvPr/>
        </p:nvSpPr>
        <p:spPr>
          <a:xfrm>
            <a:off x="484632" y="5193792"/>
            <a:ext cx="3465576" cy="0"/>
          </a:xfrm>
          <a:prstGeom prst="line">
            <a:avLst/>
          </a:prstGeom>
          <a:noFill/>
          <a:ln w="6350">
            <a:solidFill>
              <a:srgbClr val="E3E8E4"/>
            </a:solidFill>
            <a:prstDash val="solid"/>
          </a:ln>
        </p:spPr>
      </p:sp>
      <p:sp>
        <p:nvSpPr>
          <p:cNvPr id="85" name="Shape 83"/>
          <p:cNvSpPr/>
          <p:nvPr/>
        </p:nvSpPr>
        <p:spPr>
          <a:xfrm>
            <a:off x="484632" y="5193792"/>
            <a:ext cx="1051560" cy="274320"/>
          </a:xfrm>
          <a:prstGeom prst="rect">
            <a:avLst/>
          </a:prstGeom>
          <a:solidFill>
            <a:srgbClr val="FFFFFF"/>
          </a:solidFill>
          <a:ln/>
        </p:spPr>
      </p:sp>
      <p:sp>
        <p:nvSpPr>
          <p:cNvPr id="86" name="Text 84"/>
          <p:cNvSpPr txBox="1"/>
          <p:nvPr/>
        </p:nvSpPr>
        <p:spPr>
          <a:xfrm>
            <a:off x="530352" y="5193792"/>
            <a:ext cx="96012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a:t>
            </a:r>
            <a:endParaRPr lang="en-US" sz="950" dirty="0"/>
          </a:p>
        </p:txBody>
      </p:sp>
      <p:sp>
        <p:nvSpPr>
          <p:cNvPr id="87" name="Shape 85"/>
          <p:cNvSpPr/>
          <p:nvPr/>
        </p:nvSpPr>
        <p:spPr>
          <a:xfrm>
            <a:off x="1536192" y="5193792"/>
            <a:ext cx="804672" cy="274320"/>
          </a:xfrm>
          <a:prstGeom prst="rect">
            <a:avLst/>
          </a:prstGeom>
          <a:solidFill>
            <a:srgbClr val="FFFFFF"/>
          </a:solidFill>
          <a:ln/>
        </p:spPr>
      </p:sp>
      <p:sp>
        <p:nvSpPr>
          <p:cNvPr id="88" name="Text 86"/>
          <p:cNvSpPr txBox="1"/>
          <p:nvPr/>
        </p:nvSpPr>
        <p:spPr>
          <a:xfrm>
            <a:off x="1581912" y="519379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18 mo</a:t>
            </a:r>
            <a:endParaRPr lang="en-US" sz="950" dirty="0"/>
          </a:p>
        </p:txBody>
      </p:sp>
      <p:sp>
        <p:nvSpPr>
          <p:cNvPr id="89" name="Shape 87"/>
          <p:cNvSpPr/>
          <p:nvPr/>
        </p:nvSpPr>
        <p:spPr>
          <a:xfrm>
            <a:off x="2340864" y="5193792"/>
            <a:ext cx="804672" cy="274320"/>
          </a:xfrm>
          <a:prstGeom prst="rect">
            <a:avLst/>
          </a:prstGeom>
          <a:solidFill>
            <a:srgbClr val="FFFFFF"/>
          </a:solidFill>
          <a:ln/>
        </p:spPr>
      </p:sp>
      <p:sp>
        <p:nvSpPr>
          <p:cNvPr id="90" name="Text 88"/>
          <p:cNvSpPr txBox="1"/>
          <p:nvPr/>
        </p:nvSpPr>
        <p:spPr>
          <a:xfrm>
            <a:off x="2386584" y="5193792"/>
            <a:ext cx="713232"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 mo</a:t>
            </a:r>
            <a:endParaRPr lang="en-US" sz="950" dirty="0"/>
          </a:p>
        </p:txBody>
      </p:sp>
      <p:sp>
        <p:nvSpPr>
          <p:cNvPr id="91" name="Shape 89"/>
          <p:cNvSpPr/>
          <p:nvPr/>
        </p:nvSpPr>
        <p:spPr>
          <a:xfrm>
            <a:off x="3145536" y="5193792"/>
            <a:ext cx="804672" cy="274320"/>
          </a:xfrm>
          <a:prstGeom prst="rect">
            <a:avLst/>
          </a:prstGeom>
          <a:solidFill>
            <a:srgbClr val="FFFFFF"/>
          </a:solidFill>
          <a:ln/>
        </p:spPr>
      </p:sp>
      <p:sp>
        <p:nvSpPr>
          <p:cNvPr id="92" name="Text 90"/>
          <p:cNvSpPr txBox="1"/>
          <p:nvPr/>
        </p:nvSpPr>
        <p:spPr>
          <a:xfrm>
            <a:off x="3191256" y="5193792"/>
            <a:ext cx="713232"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 mo</a:t>
            </a:r>
            <a:endParaRPr lang="en-US" sz="950" dirty="0"/>
          </a:p>
        </p:txBody>
      </p:sp>
      <p:sp>
        <p:nvSpPr>
          <p:cNvPr id="93" name="Shape 91"/>
          <p:cNvSpPr/>
          <p:nvPr/>
        </p:nvSpPr>
        <p:spPr>
          <a:xfrm>
            <a:off x="484632" y="5468112"/>
            <a:ext cx="3465576" cy="0"/>
          </a:xfrm>
          <a:prstGeom prst="line">
            <a:avLst/>
          </a:prstGeom>
          <a:noFill/>
          <a:ln w="6350">
            <a:solidFill>
              <a:srgbClr val="E3E8E4"/>
            </a:solidFill>
            <a:prstDash val="solid"/>
          </a:ln>
        </p:spPr>
      </p:sp>
      <p:sp>
        <p:nvSpPr>
          <p:cNvPr id="94" name="Shape 92"/>
          <p:cNvSpPr/>
          <p:nvPr/>
        </p:nvSpPr>
        <p:spPr>
          <a:xfrm>
            <a:off x="502920" y="5486400"/>
            <a:ext cx="1060704" cy="219456"/>
          </a:xfrm>
          <a:prstGeom prst="roundRect">
            <a:avLst>
              <a:gd name="adj" fmla="val 50000"/>
            </a:avLst>
          </a:prstGeom>
          <a:solidFill>
            <a:srgbClr val="FFFFFF"/>
          </a:solidFill>
          <a:ln w="12700">
            <a:solidFill>
              <a:srgbClr val="5B6573"/>
            </a:solidFill>
            <a:prstDash val="solid"/>
          </a:ln>
        </p:spPr>
      </p:sp>
      <p:sp>
        <p:nvSpPr>
          <p:cNvPr id="95" name="Text 93"/>
          <p:cNvSpPr txBox="1"/>
          <p:nvPr/>
        </p:nvSpPr>
        <p:spPr>
          <a:xfrm>
            <a:off x="502920" y="5486400"/>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96" name="Shape 94"/>
          <p:cNvSpPr/>
          <p:nvPr/>
        </p:nvSpPr>
        <p:spPr>
          <a:xfrm>
            <a:off x="4160520" y="1115568"/>
            <a:ext cx="4206240" cy="301752"/>
          </a:xfrm>
          <a:prstGeom prst="rect">
            <a:avLst/>
          </a:prstGeom>
          <a:solidFill>
            <a:srgbClr val="2E6DB4"/>
          </a:solidFill>
          <a:ln/>
        </p:spPr>
      </p:sp>
      <p:sp>
        <p:nvSpPr>
          <p:cNvPr id="97" name="Text 95"/>
          <p:cNvSpPr txBox="1"/>
          <p:nvPr/>
        </p:nvSpPr>
        <p:spPr>
          <a:xfrm>
            <a:off x="4270248" y="1115568"/>
            <a:ext cx="39867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VALUE BRIDGE, MID INSTITUTE (₹ LAKH / YEAR)</a:t>
            </a:r>
            <a:endParaRPr lang="en-US" sz="1200" dirty="0"/>
          </a:p>
        </p:txBody>
      </p:sp>
      <p:sp>
        <p:nvSpPr>
          <p:cNvPr id="98" name="Shape 96"/>
          <p:cNvSpPr/>
          <p:nvPr/>
        </p:nvSpPr>
        <p:spPr>
          <a:xfrm>
            <a:off x="8421624" y="1115568"/>
            <a:ext cx="0" cy="4645152"/>
          </a:xfrm>
          <a:prstGeom prst="line">
            <a:avLst/>
          </a:prstGeom>
          <a:noFill/>
          <a:ln w="12700">
            <a:solidFill>
              <a:srgbClr val="8FA9CC"/>
            </a:solidFill>
            <a:prstDash val="dash"/>
          </a:ln>
        </p:spPr>
      </p:sp>
      <p:pic>
        <p:nvPicPr>
          <p:cNvPr id="99" name="Image 0" descr="Value bridge: fees retained, staff time, admissions uplift vs cost">    </p:cNvPr>
          <p:cNvPicPr>
            <a:picLocks noChangeAspect="1"/>
          </p:cNvPicPr>
          <p:nvPr/>
        </p:nvPicPr>
        <p:blipFill>
          <a:blip r:embed="rId1"/>
          <a:stretch>
            <a:fillRect/>
          </a:stretch>
        </p:blipFill>
        <p:spPr>
          <a:xfrm>
            <a:off x="4251960" y="1481328"/>
            <a:ext cx="4023360" cy="2896819"/>
          </a:xfrm>
          <a:prstGeom prst="rect">
            <a:avLst/>
          </a:prstGeom>
        </p:spPr>
      </p:pic>
      <p:sp>
        <p:nvSpPr>
          <p:cNvPr id="100" name="Shape 97"/>
          <p:cNvSpPr/>
          <p:nvPr/>
        </p:nvSpPr>
        <p:spPr>
          <a:xfrm>
            <a:off x="4270248" y="4480560"/>
            <a:ext cx="3986784" cy="1188720"/>
          </a:xfrm>
          <a:prstGeom prst="rect">
            <a:avLst/>
          </a:prstGeom>
          <a:solidFill>
            <a:srgbClr val="F4F7FB"/>
          </a:solidFill>
          <a:ln/>
        </p:spPr>
      </p:sp>
      <p:sp>
        <p:nvSpPr>
          <p:cNvPr id="101" name="Text 98"/>
          <p:cNvSpPr txBox="1"/>
          <p:nvPr/>
        </p:nvSpPr>
        <p:spPr>
          <a:xfrm>
            <a:off x="4343400" y="4535424"/>
            <a:ext cx="3840480" cy="1097280"/>
          </a:xfrm>
          <a:prstGeom prst="rect">
            <a:avLst/>
          </a:prstGeom>
          <a:noFill/>
          <a:ln/>
        </p:spPr>
        <p:txBody>
          <a:bodyPr wrap="square" lIns="0" tIns="0" rIns="0" bIns="0" rtlCol="0" anchor="t"/>
          <a:lstStyle/>
          <a:p>
            <a:pPr algn="l" marL="152400" indent="-152400">
              <a:spcAft>
                <a:spcPts val="200"/>
              </a:spcAft>
              <a:buSzPct val="100000"/>
              <a:buChar char="•"/>
            </a:pPr>
            <a:r>
              <a:rPr lang="en-US" sz="950" dirty="0">
                <a:solidFill>
                  <a:srgbClr val="1F2937"/>
                </a:solidFill>
                <a:latin typeface="Calibri" pitchFamily="34" charset="0"/>
                <a:ea typeface="Calibri" pitchFamily="34" charset="-122"/>
                <a:cs typeface="Calibri" pitchFamily="34" charset="-120"/>
              </a:rPr>
              <a:t>Fees retained (₹0.90 L) plus staff time (₹0.30 L) equal the cost: 1.0x with no admissions benefit.</a:t>
            </a:r>
            <a:endParaRPr lang="en-US" sz="950" dirty="0"/>
          </a:p>
          <a:p>
            <a:pPr algn="l" marL="152400" indent="-152400">
              <a:spcAft>
                <a:spcPts val="200"/>
              </a:spcAft>
              <a:buSzPct val="100000"/>
              <a:buChar char="•"/>
            </a:pPr>
            <a:r>
              <a:rPr lang="en-US" sz="950" dirty="0">
                <a:solidFill>
                  <a:srgbClr val="1F2937"/>
                </a:solidFill>
                <a:latin typeface="Calibri" pitchFamily="34" charset="0"/>
                <a:ea typeface="Calibri" pitchFamily="34" charset="-122"/>
                <a:cs typeface="Calibri" pitchFamily="34" charset="-120"/>
              </a:rPr>
              <a:t>The 2.9x needs a 1 % admissions uplift, our weakest assumption. Every 1 % adds about ₹2.3 L.</a:t>
            </a:r>
            <a:endParaRPr lang="en-US" sz="950" dirty="0"/>
          </a:p>
          <a:p>
            <a:pPr algn="l" marL="152400" indent="-152400">
              <a:spcAft>
                <a:spcPts val="200"/>
              </a:spcAft>
              <a:buSzPct val="100000"/>
              <a:buChar char="•"/>
            </a:pPr>
            <a:r>
              <a:rPr lang="en-US" sz="950" dirty="0">
                <a:solidFill>
                  <a:srgbClr val="1F2937"/>
                </a:solidFill>
                <a:latin typeface="Calibri" pitchFamily="34" charset="0"/>
                <a:ea typeface="Calibri" pitchFamily="34" charset="-122"/>
                <a:cs typeface="Calibri" pitchFamily="34" charset="-120"/>
              </a:rPr>
              <a:t>Break-even: save 3.5 students a year.</a:t>
            </a:r>
            <a:endParaRPr lang="en-US" sz="950" dirty="0"/>
          </a:p>
        </p:txBody>
      </p:sp>
      <p:sp>
        <p:nvSpPr>
          <p:cNvPr id="102" name="Shape 99"/>
          <p:cNvSpPr/>
          <p:nvPr/>
        </p:nvSpPr>
        <p:spPr>
          <a:xfrm>
            <a:off x="8503920" y="1115568"/>
            <a:ext cx="3276295" cy="301752"/>
          </a:xfrm>
          <a:prstGeom prst="rect">
            <a:avLst/>
          </a:prstGeom>
          <a:solidFill>
            <a:srgbClr val="1F4A82"/>
          </a:solidFill>
          <a:ln/>
        </p:spPr>
      </p:sp>
      <p:sp>
        <p:nvSpPr>
          <p:cNvPr id="103" name="Text 100"/>
          <p:cNvSpPr txBox="1"/>
          <p:nvPr/>
        </p:nvSpPr>
        <p:spPr>
          <a:xfrm>
            <a:off x="8613648" y="1115568"/>
            <a:ext cx="305683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OUR UNIT ECONOMICS: GUIDE VS OURS</a:t>
            </a:r>
            <a:endParaRPr lang="en-US" sz="1200" dirty="0"/>
          </a:p>
        </p:txBody>
      </p:sp>
      <p:sp>
        <p:nvSpPr>
          <p:cNvPr id="104" name="Shape 101"/>
          <p:cNvSpPr/>
          <p:nvPr/>
        </p:nvSpPr>
        <p:spPr>
          <a:xfrm>
            <a:off x="8577072" y="1481328"/>
            <a:ext cx="1463040" cy="274320"/>
          </a:xfrm>
          <a:prstGeom prst="rect">
            <a:avLst/>
          </a:prstGeom>
          <a:solidFill>
            <a:srgbClr val="1F4A82"/>
          </a:solidFill>
          <a:ln/>
        </p:spPr>
      </p:sp>
      <p:sp>
        <p:nvSpPr>
          <p:cNvPr id="105" name="Text 102"/>
          <p:cNvSpPr txBox="1"/>
          <p:nvPr/>
        </p:nvSpPr>
        <p:spPr>
          <a:xfrm>
            <a:off x="8622792" y="1481328"/>
            <a:ext cx="1371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Per institute</a:t>
            </a:r>
            <a:endParaRPr lang="en-US" sz="950" dirty="0"/>
          </a:p>
        </p:txBody>
      </p:sp>
      <p:sp>
        <p:nvSpPr>
          <p:cNvPr id="106" name="Shape 103"/>
          <p:cNvSpPr/>
          <p:nvPr/>
        </p:nvSpPr>
        <p:spPr>
          <a:xfrm>
            <a:off x="10040112" y="1481328"/>
            <a:ext cx="822960" cy="274320"/>
          </a:xfrm>
          <a:prstGeom prst="rect">
            <a:avLst/>
          </a:prstGeom>
          <a:solidFill>
            <a:srgbClr val="5B6573"/>
          </a:solidFill>
          <a:ln/>
        </p:spPr>
      </p:sp>
      <p:sp>
        <p:nvSpPr>
          <p:cNvPr id="107" name="Text 104"/>
          <p:cNvSpPr txBox="1"/>
          <p:nvPr/>
        </p:nvSpPr>
        <p:spPr>
          <a:xfrm>
            <a:off x="10085832" y="1481328"/>
            <a:ext cx="7315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108" name="Shape 105"/>
          <p:cNvSpPr/>
          <p:nvPr/>
        </p:nvSpPr>
        <p:spPr>
          <a:xfrm>
            <a:off x="10863072" y="1481328"/>
            <a:ext cx="843991" cy="274320"/>
          </a:xfrm>
          <a:prstGeom prst="rect">
            <a:avLst/>
          </a:prstGeom>
          <a:solidFill>
            <a:srgbClr val="1F4A82"/>
          </a:solidFill>
          <a:ln/>
        </p:spPr>
      </p:sp>
      <p:sp>
        <p:nvSpPr>
          <p:cNvPr id="109" name="Text 106"/>
          <p:cNvSpPr txBox="1"/>
          <p:nvPr/>
        </p:nvSpPr>
        <p:spPr>
          <a:xfrm>
            <a:off x="10908792" y="1481328"/>
            <a:ext cx="752551"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Pragati</a:t>
            </a:r>
            <a:endParaRPr lang="en-US" sz="950" dirty="0"/>
          </a:p>
        </p:txBody>
      </p:sp>
      <p:sp>
        <p:nvSpPr>
          <p:cNvPr id="110" name="Shape 107"/>
          <p:cNvSpPr/>
          <p:nvPr/>
        </p:nvSpPr>
        <p:spPr>
          <a:xfrm>
            <a:off x="8577072" y="1755648"/>
            <a:ext cx="1463040" cy="310896"/>
          </a:xfrm>
          <a:prstGeom prst="rect">
            <a:avLst/>
          </a:prstGeom>
          <a:solidFill>
            <a:srgbClr val="F1F7F3"/>
          </a:solidFill>
          <a:ln/>
        </p:spPr>
      </p:sp>
      <p:sp>
        <p:nvSpPr>
          <p:cNvPr id="111" name="Text 108"/>
          <p:cNvSpPr txBox="1"/>
          <p:nvPr/>
        </p:nvSpPr>
        <p:spPr>
          <a:xfrm>
            <a:off x="8622792" y="1755648"/>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acquisition cost</a:t>
            </a:r>
            <a:endParaRPr lang="en-US" sz="950" dirty="0"/>
          </a:p>
        </p:txBody>
      </p:sp>
      <p:sp>
        <p:nvSpPr>
          <p:cNvPr id="112" name="Shape 109"/>
          <p:cNvSpPr/>
          <p:nvPr/>
        </p:nvSpPr>
        <p:spPr>
          <a:xfrm>
            <a:off x="10040112" y="1755648"/>
            <a:ext cx="822960" cy="310896"/>
          </a:xfrm>
          <a:prstGeom prst="rect">
            <a:avLst/>
          </a:prstGeom>
          <a:solidFill>
            <a:srgbClr val="F1F7F3"/>
          </a:solidFill>
          <a:ln/>
        </p:spPr>
      </p:sp>
      <p:sp>
        <p:nvSpPr>
          <p:cNvPr id="113" name="Text 110"/>
          <p:cNvSpPr txBox="1"/>
          <p:nvPr/>
        </p:nvSpPr>
        <p:spPr>
          <a:xfrm>
            <a:off x="10085832" y="1755648"/>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10.7x</a:t>
            </a:r>
            <a:endParaRPr lang="en-US" sz="950" dirty="0"/>
          </a:p>
        </p:txBody>
      </p:sp>
      <p:sp>
        <p:nvSpPr>
          <p:cNvPr id="114" name="Shape 111"/>
          <p:cNvSpPr/>
          <p:nvPr/>
        </p:nvSpPr>
        <p:spPr>
          <a:xfrm>
            <a:off x="10863072" y="1755648"/>
            <a:ext cx="843991" cy="310896"/>
          </a:xfrm>
          <a:prstGeom prst="rect">
            <a:avLst/>
          </a:prstGeom>
          <a:solidFill>
            <a:srgbClr val="F1F7F3"/>
          </a:solidFill>
          <a:ln/>
        </p:spPr>
      </p:sp>
      <p:sp>
        <p:nvSpPr>
          <p:cNvPr id="115" name="Text 112"/>
          <p:cNvSpPr txBox="1"/>
          <p:nvPr/>
        </p:nvSpPr>
        <p:spPr>
          <a:xfrm>
            <a:off x="10908792" y="1755648"/>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3.7x</a:t>
            </a:r>
            <a:endParaRPr lang="en-US" sz="950" dirty="0"/>
          </a:p>
        </p:txBody>
      </p:sp>
      <p:sp>
        <p:nvSpPr>
          <p:cNvPr id="116" name="Shape 113"/>
          <p:cNvSpPr/>
          <p:nvPr/>
        </p:nvSpPr>
        <p:spPr>
          <a:xfrm>
            <a:off x="8577072" y="2066544"/>
            <a:ext cx="3129991" cy="0"/>
          </a:xfrm>
          <a:prstGeom prst="line">
            <a:avLst/>
          </a:prstGeom>
          <a:noFill/>
          <a:ln w="6350">
            <a:solidFill>
              <a:srgbClr val="E3E8E4"/>
            </a:solidFill>
            <a:prstDash val="solid"/>
          </a:ln>
        </p:spPr>
      </p:sp>
      <p:sp>
        <p:nvSpPr>
          <p:cNvPr id="117" name="Shape 114"/>
          <p:cNvSpPr/>
          <p:nvPr/>
        </p:nvSpPr>
        <p:spPr>
          <a:xfrm>
            <a:off x="8577072" y="2066544"/>
            <a:ext cx="1463040" cy="310896"/>
          </a:xfrm>
          <a:prstGeom prst="rect">
            <a:avLst/>
          </a:prstGeom>
          <a:solidFill>
            <a:srgbClr val="FFFFFF"/>
          </a:solidFill>
          <a:ln/>
        </p:spPr>
      </p:sp>
      <p:sp>
        <p:nvSpPr>
          <p:cNvPr id="118" name="Text 115"/>
          <p:cNvSpPr txBox="1"/>
          <p:nvPr/>
        </p:nvSpPr>
        <p:spPr>
          <a:xfrm>
            <a:off x="8622792" y="2066544"/>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a:t>
            </a:r>
            <a:endParaRPr lang="en-US" sz="950" dirty="0"/>
          </a:p>
        </p:txBody>
      </p:sp>
      <p:sp>
        <p:nvSpPr>
          <p:cNvPr id="119" name="Shape 116"/>
          <p:cNvSpPr/>
          <p:nvPr/>
        </p:nvSpPr>
        <p:spPr>
          <a:xfrm>
            <a:off x="10040112" y="2066544"/>
            <a:ext cx="822960" cy="310896"/>
          </a:xfrm>
          <a:prstGeom prst="rect">
            <a:avLst/>
          </a:prstGeom>
          <a:solidFill>
            <a:srgbClr val="FFFFFF"/>
          </a:solidFill>
          <a:ln/>
        </p:spPr>
      </p:sp>
      <p:sp>
        <p:nvSpPr>
          <p:cNvPr id="120" name="Text 117"/>
          <p:cNvSpPr txBox="1"/>
          <p:nvPr/>
        </p:nvSpPr>
        <p:spPr>
          <a:xfrm>
            <a:off x="10085832" y="2066544"/>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3.1 mo</a:t>
            </a:r>
            <a:endParaRPr lang="en-US" sz="950" dirty="0"/>
          </a:p>
        </p:txBody>
      </p:sp>
      <p:sp>
        <p:nvSpPr>
          <p:cNvPr id="121" name="Shape 118"/>
          <p:cNvSpPr/>
          <p:nvPr/>
        </p:nvSpPr>
        <p:spPr>
          <a:xfrm>
            <a:off x="10863072" y="2066544"/>
            <a:ext cx="843991" cy="310896"/>
          </a:xfrm>
          <a:prstGeom prst="rect">
            <a:avLst/>
          </a:prstGeom>
          <a:solidFill>
            <a:srgbClr val="FFFFFF"/>
          </a:solidFill>
          <a:ln/>
        </p:spPr>
      </p:sp>
      <p:sp>
        <p:nvSpPr>
          <p:cNvPr id="122" name="Text 119"/>
          <p:cNvSpPr txBox="1"/>
          <p:nvPr/>
        </p:nvSpPr>
        <p:spPr>
          <a:xfrm>
            <a:off x="10908792" y="2066544"/>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 mo</a:t>
            </a:r>
            <a:endParaRPr lang="en-US" sz="950" dirty="0"/>
          </a:p>
        </p:txBody>
      </p:sp>
      <p:sp>
        <p:nvSpPr>
          <p:cNvPr id="123" name="Shape 120"/>
          <p:cNvSpPr/>
          <p:nvPr/>
        </p:nvSpPr>
        <p:spPr>
          <a:xfrm>
            <a:off x="8577072" y="2377440"/>
            <a:ext cx="3129991" cy="0"/>
          </a:xfrm>
          <a:prstGeom prst="line">
            <a:avLst/>
          </a:prstGeom>
          <a:noFill/>
          <a:ln w="6350">
            <a:solidFill>
              <a:srgbClr val="E3E8E4"/>
            </a:solidFill>
            <a:prstDash val="solid"/>
          </a:ln>
        </p:spPr>
      </p:sp>
      <p:sp>
        <p:nvSpPr>
          <p:cNvPr id="124" name="Shape 121"/>
          <p:cNvSpPr/>
          <p:nvPr/>
        </p:nvSpPr>
        <p:spPr>
          <a:xfrm>
            <a:off x="8577072" y="2377440"/>
            <a:ext cx="1463040" cy="310896"/>
          </a:xfrm>
          <a:prstGeom prst="rect">
            <a:avLst/>
          </a:prstGeom>
          <a:solidFill>
            <a:srgbClr val="F1F7F3"/>
          </a:solidFill>
          <a:ln/>
        </p:spPr>
      </p:sp>
      <p:sp>
        <p:nvSpPr>
          <p:cNvPr id="125" name="Text 122"/>
          <p:cNvSpPr txBox="1"/>
          <p:nvPr/>
        </p:nvSpPr>
        <p:spPr>
          <a:xfrm>
            <a:off x="8622792" y="2377440"/>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Contribution margin</a:t>
            </a:r>
            <a:endParaRPr lang="en-US" sz="950" dirty="0"/>
          </a:p>
        </p:txBody>
      </p:sp>
      <p:sp>
        <p:nvSpPr>
          <p:cNvPr id="126" name="Shape 123"/>
          <p:cNvSpPr/>
          <p:nvPr/>
        </p:nvSpPr>
        <p:spPr>
          <a:xfrm>
            <a:off x="10040112" y="2377440"/>
            <a:ext cx="822960" cy="310896"/>
          </a:xfrm>
          <a:prstGeom prst="rect">
            <a:avLst/>
          </a:prstGeom>
          <a:solidFill>
            <a:srgbClr val="F1F7F3"/>
          </a:solidFill>
          <a:ln/>
        </p:spPr>
      </p:sp>
      <p:sp>
        <p:nvSpPr>
          <p:cNvPr id="127" name="Text 124"/>
          <p:cNvSpPr txBox="1"/>
          <p:nvPr/>
        </p:nvSpPr>
        <p:spPr>
          <a:xfrm>
            <a:off x="10085832" y="2377440"/>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66 %</a:t>
            </a:r>
            <a:endParaRPr lang="en-US" sz="950" dirty="0"/>
          </a:p>
        </p:txBody>
      </p:sp>
      <p:sp>
        <p:nvSpPr>
          <p:cNvPr id="128" name="Shape 125"/>
          <p:cNvSpPr/>
          <p:nvPr/>
        </p:nvSpPr>
        <p:spPr>
          <a:xfrm>
            <a:off x="10863072" y="2377440"/>
            <a:ext cx="843991" cy="310896"/>
          </a:xfrm>
          <a:prstGeom prst="rect">
            <a:avLst/>
          </a:prstGeom>
          <a:solidFill>
            <a:srgbClr val="F1F7F3"/>
          </a:solidFill>
          <a:ln/>
        </p:spPr>
      </p:sp>
      <p:sp>
        <p:nvSpPr>
          <p:cNvPr id="129" name="Text 126"/>
          <p:cNvSpPr txBox="1"/>
          <p:nvPr/>
        </p:nvSpPr>
        <p:spPr>
          <a:xfrm>
            <a:off x="10908792" y="2377440"/>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78 %</a:t>
            </a:r>
            <a:endParaRPr lang="en-US" sz="950" dirty="0"/>
          </a:p>
        </p:txBody>
      </p:sp>
      <p:sp>
        <p:nvSpPr>
          <p:cNvPr id="130" name="Shape 127"/>
          <p:cNvSpPr/>
          <p:nvPr/>
        </p:nvSpPr>
        <p:spPr>
          <a:xfrm>
            <a:off x="8577072" y="2688336"/>
            <a:ext cx="3129991" cy="0"/>
          </a:xfrm>
          <a:prstGeom prst="line">
            <a:avLst/>
          </a:prstGeom>
          <a:noFill/>
          <a:ln w="6350">
            <a:solidFill>
              <a:srgbClr val="E3E8E4"/>
            </a:solidFill>
            <a:prstDash val="solid"/>
          </a:ln>
        </p:spPr>
      </p:sp>
      <p:sp>
        <p:nvSpPr>
          <p:cNvPr id="131" name="Shape 128"/>
          <p:cNvSpPr/>
          <p:nvPr/>
        </p:nvSpPr>
        <p:spPr>
          <a:xfrm>
            <a:off x="8577072" y="2688336"/>
            <a:ext cx="1463040" cy="310896"/>
          </a:xfrm>
          <a:prstGeom prst="rect">
            <a:avLst/>
          </a:prstGeom>
          <a:solidFill>
            <a:srgbClr val="FFFFFF"/>
          </a:solidFill>
          <a:ln/>
        </p:spPr>
      </p:sp>
      <p:sp>
        <p:nvSpPr>
          <p:cNvPr id="132" name="Text 129"/>
          <p:cNvSpPr txBox="1"/>
          <p:nvPr/>
        </p:nvSpPr>
        <p:spPr>
          <a:xfrm>
            <a:off x="8622792" y="2688336"/>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Revenue per month</a:t>
            </a:r>
            <a:endParaRPr lang="en-US" sz="950" dirty="0"/>
          </a:p>
        </p:txBody>
      </p:sp>
      <p:sp>
        <p:nvSpPr>
          <p:cNvPr id="133" name="Shape 130"/>
          <p:cNvSpPr/>
          <p:nvPr/>
        </p:nvSpPr>
        <p:spPr>
          <a:xfrm>
            <a:off x="10040112" y="2688336"/>
            <a:ext cx="822960" cy="310896"/>
          </a:xfrm>
          <a:prstGeom prst="rect">
            <a:avLst/>
          </a:prstGeom>
          <a:solidFill>
            <a:srgbClr val="FFFFFF"/>
          </a:solidFill>
          <a:ln/>
        </p:spPr>
      </p:sp>
      <p:sp>
        <p:nvSpPr>
          <p:cNvPr id="134" name="Text 131"/>
          <p:cNvSpPr txBox="1"/>
          <p:nvPr/>
        </p:nvSpPr>
        <p:spPr>
          <a:xfrm>
            <a:off x="10085832" y="2688336"/>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₹16,000</a:t>
            </a:r>
            <a:endParaRPr lang="en-US" sz="950" dirty="0"/>
          </a:p>
        </p:txBody>
      </p:sp>
      <p:sp>
        <p:nvSpPr>
          <p:cNvPr id="135" name="Shape 132"/>
          <p:cNvSpPr/>
          <p:nvPr/>
        </p:nvSpPr>
        <p:spPr>
          <a:xfrm>
            <a:off x="10863072" y="2688336"/>
            <a:ext cx="843991" cy="310896"/>
          </a:xfrm>
          <a:prstGeom prst="rect">
            <a:avLst/>
          </a:prstGeom>
          <a:solidFill>
            <a:srgbClr val="FFFFFF"/>
          </a:solidFill>
          <a:ln/>
        </p:spPr>
      </p:sp>
      <p:sp>
        <p:nvSpPr>
          <p:cNvPr id="136" name="Text 133"/>
          <p:cNvSpPr txBox="1"/>
          <p:nvPr/>
        </p:nvSpPr>
        <p:spPr>
          <a:xfrm>
            <a:off x="10908792" y="2688336"/>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₹8,612</a:t>
            </a:r>
            <a:endParaRPr lang="en-US" sz="950" dirty="0"/>
          </a:p>
        </p:txBody>
      </p:sp>
      <p:sp>
        <p:nvSpPr>
          <p:cNvPr id="137" name="Shape 134"/>
          <p:cNvSpPr/>
          <p:nvPr/>
        </p:nvSpPr>
        <p:spPr>
          <a:xfrm>
            <a:off x="8577072" y="2999232"/>
            <a:ext cx="3129991" cy="0"/>
          </a:xfrm>
          <a:prstGeom prst="line">
            <a:avLst/>
          </a:prstGeom>
          <a:noFill/>
          <a:ln w="6350">
            <a:solidFill>
              <a:srgbClr val="E3E8E4"/>
            </a:solidFill>
            <a:prstDash val="solid"/>
          </a:ln>
        </p:spPr>
      </p:sp>
      <p:sp>
        <p:nvSpPr>
          <p:cNvPr id="138" name="Shape 135"/>
          <p:cNvSpPr/>
          <p:nvPr/>
        </p:nvSpPr>
        <p:spPr>
          <a:xfrm>
            <a:off x="8577072" y="2999232"/>
            <a:ext cx="1463040" cy="310896"/>
          </a:xfrm>
          <a:prstGeom prst="rect">
            <a:avLst/>
          </a:prstGeom>
          <a:solidFill>
            <a:srgbClr val="F1F7F3"/>
          </a:solidFill>
          <a:ln/>
        </p:spPr>
      </p:sp>
      <p:sp>
        <p:nvSpPr>
          <p:cNvPr id="139" name="Text 136"/>
          <p:cNvSpPr txBox="1"/>
          <p:nvPr/>
        </p:nvSpPr>
        <p:spPr>
          <a:xfrm>
            <a:off x="8622792" y="2999232"/>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Acquisition cost</a:t>
            </a:r>
            <a:endParaRPr lang="en-US" sz="950" dirty="0"/>
          </a:p>
        </p:txBody>
      </p:sp>
      <p:sp>
        <p:nvSpPr>
          <p:cNvPr id="140" name="Shape 137"/>
          <p:cNvSpPr/>
          <p:nvPr/>
        </p:nvSpPr>
        <p:spPr>
          <a:xfrm>
            <a:off x="10040112" y="2999232"/>
            <a:ext cx="822960" cy="310896"/>
          </a:xfrm>
          <a:prstGeom prst="rect">
            <a:avLst/>
          </a:prstGeom>
          <a:solidFill>
            <a:srgbClr val="F1F7F3"/>
          </a:solidFill>
          <a:ln/>
        </p:spPr>
      </p:sp>
      <p:sp>
        <p:nvSpPr>
          <p:cNvPr id="141" name="Text 138"/>
          <p:cNvSpPr txBox="1"/>
          <p:nvPr/>
        </p:nvSpPr>
        <p:spPr>
          <a:xfrm>
            <a:off x="10085832" y="2999232"/>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₹33,000</a:t>
            </a:r>
            <a:endParaRPr lang="en-US" sz="950" dirty="0"/>
          </a:p>
        </p:txBody>
      </p:sp>
      <p:sp>
        <p:nvSpPr>
          <p:cNvPr id="142" name="Shape 139"/>
          <p:cNvSpPr/>
          <p:nvPr/>
        </p:nvSpPr>
        <p:spPr>
          <a:xfrm>
            <a:off x="10863072" y="2999232"/>
            <a:ext cx="843991" cy="310896"/>
          </a:xfrm>
          <a:prstGeom prst="rect">
            <a:avLst/>
          </a:prstGeom>
          <a:solidFill>
            <a:srgbClr val="F1F7F3"/>
          </a:solidFill>
          <a:ln/>
        </p:spPr>
      </p:sp>
      <p:sp>
        <p:nvSpPr>
          <p:cNvPr id="143" name="Text 140"/>
          <p:cNvSpPr txBox="1"/>
          <p:nvPr/>
        </p:nvSpPr>
        <p:spPr>
          <a:xfrm>
            <a:off x="10908792" y="2999232"/>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₹35,492</a:t>
            </a:r>
            <a:endParaRPr lang="en-US" sz="950" dirty="0"/>
          </a:p>
        </p:txBody>
      </p:sp>
      <p:sp>
        <p:nvSpPr>
          <p:cNvPr id="144" name="Shape 141"/>
          <p:cNvSpPr/>
          <p:nvPr/>
        </p:nvSpPr>
        <p:spPr>
          <a:xfrm>
            <a:off x="8577072" y="3310128"/>
            <a:ext cx="3129991" cy="0"/>
          </a:xfrm>
          <a:prstGeom prst="line">
            <a:avLst/>
          </a:prstGeom>
          <a:noFill/>
          <a:ln w="6350">
            <a:solidFill>
              <a:srgbClr val="E3E8E4"/>
            </a:solidFill>
            <a:prstDash val="solid"/>
          </a:ln>
        </p:spPr>
      </p:sp>
      <p:sp>
        <p:nvSpPr>
          <p:cNvPr id="145" name="Shape 142"/>
          <p:cNvSpPr/>
          <p:nvPr/>
        </p:nvSpPr>
        <p:spPr>
          <a:xfrm>
            <a:off x="8577072" y="3310128"/>
            <a:ext cx="1463040" cy="310896"/>
          </a:xfrm>
          <a:prstGeom prst="rect">
            <a:avLst/>
          </a:prstGeom>
          <a:solidFill>
            <a:srgbClr val="FFFFFF"/>
          </a:solidFill>
          <a:ln/>
        </p:spPr>
      </p:sp>
      <p:sp>
        <p:nvSpPr>
          <p:cNvPr id="146" name="Text 143"/>
          <p:cNvSpPr txBox="1"/>
          <p:nvPr/>
        </p:nvSpPr>
        <p:spPr>
          <a:xfrm>
            <a:off x="8622792" y="3310128"/>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Logo retention a year</a:t>
            </a:r>
            <a:endParaRPr lang="en-US" sz="950" dirty="0"/>
          </a:p>
        </p:txBody>
      </p:sp>
      <p:sp>
        <p:nvSpPr>
          <p:cNvPr id="147" name="Shape 144"/>
          <p:cNvSpPr/>
          <p:nvPr/>
        </p:nvSpPr>
        <p:spPr>
          <a:xfrm>
            <a:off x="10040112" y="3310128"/>
            <a:ext cx="822960" cy="310896"/>
          </a:xfrm>
          <a:prstGeom prst="rect">
            <a:avLst/>
          </a:prstGeom>
          <a:solidFill>
            <a:srgbClr val="FFFFFF"/>
          </a:solidFill>
          <a:ln/>
        </p:spPr>
      </p:sp>
      <p:sp>
        <p:nvSpPr>
          <p:cNvPr id="148" name="Text 145"/>
          <p:cNvSpPr txBox="1"/>
          <p:nvPr/>
        </p:nvSpPr>
        <p:spPr>
          <a:xfrm>
            <a:off x="10085832" y="3310128"/>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69 %</a:t>
            </a:r>
            <a:endParaRPr lang="en-US" sz="950" dirty="0"/>
          </a:p>
        </p:txBody>
      </p:sp>
      <p:sp>
        <p:nvSpPr>
          <p:cNvPr id="149" name="Shape 146"/>
          <p:cNvSpPr/>
          <p:nvPr/>
        </p:nvSpPr>
        <p:spPr>
          <a:xfrm>
            <a:off x="10863072" y="3310128"/>
            <a:ext cx="843991" cy="310896"/>
          </a:xfrm>
          <a:prstGeom prst="rect">
            <a:avLst/>
          </a:prstGeom>
          <a:solidFill>
            <a:srgbClr val="FFFFFF"/>
          </a:solidFill>
          <a:ln/>
        </p:spPr>
      </p:sp>
      <p:sp>
        <p:nvSpPr>
          <p:cNvPr id="150" name="Text 147"/>
          <p:cNvSpPr txBox="1"/>
          <p:nvPr/>
        </p:nvSpPr>
        <p:spPr>
          <a:xfrm>
            <a:off x="10908792" y="3310128"/>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64 %</a:t>
            </a:r>
            <a:endParaRPr lang="en-US" sz="950" dirty="0"/>
          </a:p>
        </p:txBody>
      </p:sp>
      <p:sp>
        <p:nvSpPr>
          <p:cNvPr id="151" name="Shape 148"/>
          <p:cNvSpPr/>
          <p:nvPr/>
        </p:nvSpPr>
        <p:spPr>
          <a:xfrm>
            <a:off x="8577072" y="3621024"/>
            <a:ext cx="3129991" cy="0"/>
          </a:xfrm>
          <a:prstGeom prst="line">
            <a:avLst/>
          </a:prstGeom>
          <a:noFill/>
          <a:ln w="6350">
            <a:solidFill>
              <a:srgbClr val="E3E8E4"/>
            </a:solidFill>
            <a:prstDash val="solid"/>
          </a:ln>
        </p:spPr>
      </p:sp>
      <p:sp>
        <p:nvSpPr>
          <p:cNvPr id="152" name="Shape 149"/>
          <p:cNvSpPr/>
          <p:nvPr/>
        </p:nvSpPr>
        <p:spPr>
          <a:xfrm>
            <a:off x="8577072" y="3621024"/>
            <a:ext cx="1463040" cy="310896"/>
          </a:xfrm>
          <a:prstGeom prst="rect">
            <a:avLst/>
          </a:prstGeom>
          <a:solidFill>
            <a:srgbClr val="F1F7F3"/>
          </a:solidFill>
          <a:ln/>
        </p:spPr>
      </p:sp>
      <p:sp>
        <p:nvSpPr>
          <p:cNvPr id="153" name="Text 150"/>
          <p:cNvSpPr txBox="1"/>
          <p:nvPr/>
        </p:nvSpPr>
        <p:spPr>
          <a:xfrm>
            <a:off x="8622792" y="3621024"/>
            <a:ext cx="1371600" cy="310896"/>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Institutes to cover the team</a:t>
            </a:r>
            <a:endParaRPr lang="en-US" sz="950" dirty="0"/>
          </a:p>
        </p:txBody>
      </p:sp>
      <p:sp>
        <p:nvSpPr>
          <p:cNvPr id="154" name="Shape 151"/>
          <p:cNvSpPr/>
          <p:nvPr/>
        </p:nvSpPr>
        <p:spPr>
          <a:xfrm>
            <a:off x="10040112" y="3621024"/>
            <a:ext cx="822960" cy="310896"/>
          </a:xfrm>
          <a:prstGeom prst="rect">
            <a:avLst/>
          </a:prstGeom>
          <a:solidFill>
            <a:srgbClr val="F1F7F3"/>
          </a:solidFill>
          <a:ln/>
        </p:spPr>
      </p:sp>
      <p:sp>
        <p:nvSpPr>
          <p:cNvPr id="155" name="Text 152"/>
          <p:cNvSpPr txBox="1"/>
          <p:nvPr/>
        </p:nvSpPr>
        <p:spPr>
          <a:xfrm>
            <a:off x="10085832" y="3621024"/>
            <a:ext cx="731520" cy="310896"/>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n/a</a:t>
            </a:r>
            <a:endParaRPr lang="en-US" sz="950" dirty="0"/>
          </a:p>
        </p:txBody>
      </p:sp>
      <p:sp>
        <p:nvSpPr>
          <p:cNvPr id="156" name="Shape 153"/>
          <p:cNvSpPr/>
          <p:nvPr/>
        </p:nvSpPr>
        <p:spPr>
          <a:xfrm>
            <a:off x="10863072" y="3621024"/>
            <a:ext cx="843991" cy="310896"/>
          </a:xfrm>
          <a:prstGeom prst="rect">
            <a:avLst/>
          </a:prstGeom>
          <a:solidFill>
            <a:srgbClr val="F1F7F3"/>
          </a:solidFill>
          <a:ln/>
        </p:spPr>
      </p:sp>
      <p:sp>
        <p:nvSpPr>
          <p:cNvPr id="157" name="Text 154"/>
          <p:cNvSpPr txBox="1"/>
          <p:nvPr/>
        </p:nvSpPr>
        <p:spPr>
          <a:xfrm>
            <a:off x="10908792" y="3621024"/>
            <a:ext cx="752551" cy="310896"/>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18</a:t>
            </a:r>
            <a:endParaRPr lang="en-US" sz="950" dirty="0"/>
          </a:p>
        </p:txBody>
      </p:sp>
      <p:sp>
        <p:nvSpPr>
          <p:cNvPr id="158" name="Shape 155"/>
          <p:cNvSpPr/>
          <p:nvPr/>
        </p:nvSpPr>
        <p:spPr>
          <a:xfrm>
            <a:off x="8577072" y="3931920"/>
            <a:ext cx="3129991" cy="0"/>
          </a:xfrm>
          <a:prstGeom prst="line">
            <a:avLst/>
          </a:prstGeom>
          <a:noFill/>
          <a:ln w="6350">
            <a:solidFill>
              <a:srgbClr val="E3E8E4"/>
            </a:solidFill>
            <a:prstDash val="solid"/>
          </a:ln>
        </p:spPr>
      </p:sp>
      <p:sp>
        <p:nvSpPr>
          <p:cNvPr id="159" name="Text 156"/>
          <p:cNvSpPr txBox="1"/>
          <p:nvPr/>
        </p:nvSpPr>
        <p:spPr>
          <a:xfrm>
            <a:off x="8595360" y="4005072"/>
            <a:ext cx="3093415" cy="219456"/>
          </a:xfrm>
          <a:prstGeom prst="rect">
            <a:avLst/>
          </a:prstGeom>
          <a:noFill/>
          <a:ln/>
        </p:spPr>
        <p:txBody>
          <a:bodyPr wrap="square" lIns="0" tIns="0" rIns="0" bIns="0" rtlCol="0" anchor="t"/>
          <a:lstStyle/>
          <a:p>
            <a:pPr algn="l" indent="0" marL="0">
              <a:buNone/>
            </a:pPr>
            <a:r>
              <a:rPr lang="en-US" sz="1000" b="1" dirty="0">
                <a:solidFill>
                  <a:srgbClr val="1F4A82"/>
                </a:solidFill>
                <a:latin typeface="Calibri" pitchFamily="34" charset="0"/>
                <a:ea typeface="Calibri" pitchFamily="34" charset="-122"/>
                <a:cs typeface="Calibri" pitchFamily="34" charset="-120"/>
              </a:rPr>
              <a:t>SCENARIOS (MID)</a:t>
            </a:r>
            <a:endParaRPr lang="en-US" sz="1000" dirty="0"/>
          </a:p>
        </p:txBody>
      </p:sp>
      <p:sp>
        <p:nvSpPr>
          <p:cNvPr id="160" name="Shape 157"/>
          <p:cNvSpPr/>
          <p:nvPr/>
        </p:nvSpPr>
        <p:spPr>
          <a:xfrm>
            <a:off x="8577072" y="4224528"/>
            <a:ext cx="1097280" cy="256032"/>
          </a:xfrm>
          <a:prstGeom prst="rect">
            <a:avLst/>
          </a:prstGeom>
          <a:solidFill>
            <a:srgbClr val="1F4A82"/>
          </a:solidFill>
          <a:ln/>
        </p:spPr>
      </p:sp>
      <p:sp>
        <p:nvSpPr>
          <p:cNvPr id="161" name="Text 158"/>
          <p:cNvSpPr txBox="1"/>
          <p:nvPr/>
        </p:nvSpPr>
        <p:spPr>
          <a:xfrm>
            <a:off x="8622792" y="4224528"/>
            <a:ext cx="1005840" cy="256032"/>
          </a:xfrm>
          <a:prstGeom prst="rect">
            <a:avLst/>
          </a:prstGeom>
          <a:noFill/>
          <a:ln/>
        </p:spPr>
        <p:txBody>
          <a:bodyPr wrap="square" lIns="0" tIns="0" rIns="0" bIns="0" rtlCol="0" anchor="ctr"/>
          <a:lstStyle/>
          <a:p>
            <a:pPr algn="l" indent="0" marL="0">
              <a:buNone/>
            </a:pPr>
            <a:endParaRPr lang="en-US" sz="950" dirty="0"/>
          </a:p>
        </p:txBody>
      </p:sp>
      <p:sp>
        <p:nvSpPr>
          <p:cNvPr id="162" name="Shape 159"/>
          <p:cNvSpPr/>
          <p:nvPr/>
        </p:nvSpPr>
        <p:spPr>
          <a:xfrm>
            <a:off x="9674352" y="4224528"/>
            <a:ext cx="677570" cy="256032"/>
          </a:xfrm>
          <a:prstGeom prst="rect">
            <a:avLst/>
          </a:prstGeom>
          <a:solidFill>
            <a:srgbClr val="5B6573"/>
          </a:solidFill>
          <a:ln/>
        </p:spPr>
      </p:sp>
      <p:sp>
        <p:nvSpPr>
          <p:cNvPr id="163" name="Text 160"/>
          <p:cNvSpPr txBox="1"/>
          <p:nvPr/>
        </p:nvSpPr>
        <p:spPr>
          <a:xfrm>
            <a:off x="9720072" y="4224528"/>
            <a:ext cx="58613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164" name="Shape 161"/>
          <p:cNvSpPr/>
          <p:nvPr/>
        </p:nvSpPr>
        <p:spPr>
          <a:xfrm>
            <a:off x="10351922" y="4224528"/>
            <a:ext cx="677570" cy="256032"/>
          </a:xfrm>
          <a:prstGeom prst="rect">
            <a:avLst/>
          </a:prstGeom>
          <a:solidFill>
            <a:srgbClr val="1F4A82"/>
          </a:solidFill>
          <a:ln/>
        </p:spPr>
      </p:sp>
      <p:sp>
        <p:nvSpPr>
          <p:cNvPr id="165" name="Text 162"/>
          <p:cNvSpPr txBox="1"/>
          <p:nvPr/>
        </p:nvSpPr>
        <p:spPr>
          <a:xfrm>
            <a:off x="10397642" y="4224528"/>
            <a:ext cx="58613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166" name="Shape 163"/>
          <p:cNvSpPr/>
          <p:nvPr/>
        </p:nvSpPr>
        <p:spPr>
          <a:xfrm>
            <a:off x="11029493" y="4224528"/>
            <a:ext cx="677570" cy="256032"/>
          </a:xfrm>
          <a:prstGeom prst="rect">
            <a:avLst/>
          </a:prstGeom>
          <a:solidFill>
            <a:srgbClr val="5B6573"/>
          </a:solidFill>
          <a:ln/>
        </p:spPr>
      </p:sp>
      <p:sp>
        <p:nvSpPr>
          <p:cNvPr id="167" name="Text 164"/>
          <p:cNvSpPr txBox="1"/>
          <p:nvPr/>
        </p:nvSpPr>
        <p:spPr>
          <a:xfrm>
            <a:off x="11075213" y="4224528"/>
            <a:ext cx="58613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168" name="Shape 165"/>
          <p:cNvSpPr/>
          <p:nvPr/>
        </p:nvSpPr>
        <p:spPr>
          <a:xfrm>
            <a:off x="8577072" y="4480560"/>
            <a:ext cx="1097280" cy="274320"/>
          </a:xfrm>
          <a:prstGeom prst="rect">
            <a:avLst/>
          </a:prstGeom>
          <a:solidFill>
            <a:srgbClr val="F1F7F3"/>
          </a:solidFill>
          <a:ln/>
        </p:spPr>
      </p:sp>
      <p:sp>
        <p:nvSpPr>
          <p:cNvPr id="169" name="Text 166"/>
          <p:cNvSpPr txBox="1"/>
          <p:nvPr/>
        </p:nvSpPr>
        <p:spPr>
          <a:xfrm>
            <a:off x="8622792" y="4480560"/>
            <a:ext cx="100584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a:t>
            </a:r>
            <a:endParaRPr lang="en-US" sz="950" dirty="0"/>
          </a:p>
        </p:txBody>
      </p:sp>
      <p:sp>
        <p:nvSpPr>
          <p:cNvPr id="170" name="Shape 167"/>
          <p:cNvSpPr/>
          <p:nvPr/>
        </p:nvSpPr>
        <p:spPr>
          <a:xfrm>
            <a:off x="9674352" y="4480560"/>
            <a:ext cx="677570" cy="274320"/>
          </a:xfrm>
          <a:prstGeom prst="rect">
            <a:avLst/>
          </a:prstGeom>
          <a:solidFill>
            <a:srgbClr val="F1F7F3"/>
          </a:solidFill>
          <a:ln/>
        </p:spPr>
      </p:sp>
      <p:sp>
        <p:nvSpPr>
          <p:cNvPr id="171" name="Text 168"/>
          <p:cNvSpPr txBox="1"/>
          <p:nvPr/>
        </p:nvSpPr>
        <p:spPr>
          <a:xfrm>
            <a:off x="9720072" y="448056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0.15x</a:t>
            </a:r>
            <a:endParaRPr lang="en-US" sz="950" dirty="0"/>
          </a:p>
        </p:txBody>
      </p:sp>
      <p:sp>
        <p:nvSpPr>
          <p:cNvPr id="172" name="Shape 169"/>
          <p:cNvSpPr/>
          <p:nvPr/>
        </p:nvSpPr>
        <p:spPr>
          <a:xfrm>
            <a:off x="10351922" y="4480560"/>
            <a:ext cx="677570" cy="274320"/>
          </a:xfrm>
          <a:prstGeom prst="rect">
            <a:avLst/>
          </a:prstGeom>
          <a:solidFill>
            <a:srgbClr val="F1F7F3"/>
          </a:solidFill>
          <a:ln/>
        </p:spPr>
      </p:sp>
      <p:sp>
        <p:nvSpPr>
          <p:cNvPr id="173" name="Text 170"/>
          <p:cNvSpPr txBox="1"/>
          <p:nvPr/>
        </p:nvSpPr>
        <p:spPr>
          <a:xfrm>
            <a:off x="10397642" y="4480560"/>
            <a:ext cx="58613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2.9x</a:t>
            </a:r>
            <a:endParaRPr lang="en-US" sz="950" dirty="0"/>
          </a:p>
        </p:txBody>
      </p:sp>
      <p:sp>
        <p:nvSpPr>
          <p:cNvPr id="174" name="Shape 171"/>
          <p:cNvSpPr/>
          <p:nvPr/>
        </p:nvSpPr>
        <p:spPr>
          <a:xfrm>
            <a:off x="11029493" y="4480560"/>
            <a:ext cx="677570" cy="274320"/>
          </a:xfrm>
          <a:prstGeom prst="rect">
            <a:avLst/>
          </a:prstGeom>
          <a:solidFill>
            <a:srgbClr val="F1F7F3"/>
          </a:solidFill>
          <a:ln/>
        </p:spPr>
      </p:sp>
      <p:sp>
        <p:nvSpPr>
          <p:cNvPr id="175" name="Text 172"/>
          <p:cNvSpPr txBox="1"/>
          <p:nvPr/>
        </p:nvSpPr>
        <p:spPr>
          <a:xfrm>
            <a:off x="11075213" y="448056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14x</a:t>
            </a:r>
            <a:endParaRPr lang="en-US" sz="950" dirty="0"/>
          </a:p>
        </p:txBody>
      </p:sp>
      <p:sp>
        <p:nvSpPr>
          <p:cNvPr id="176" name="Shape 173"/>
          <p:cNvSpPr/>
          <p:nvPr/>
        </p:nvSpPr>
        <p:spPr>
          <a:xfrm>
            <a:off x="8577072" y="4754880"/>
            <a:ext cx="3129991" cy="0"/>
          </a:xfrm>
          <a:prstGeom prst="line">
            <a:avLst/>
          </a:prstGeom>
          <a:noFill/>
          <a:ln w="6350">
            <a:solidFill>
              <a:srgbClr val="E3E8E4"/>
            </a:solidFill>
            <a:prstDash val="solid"/>
          </a:ln>
        </p:spPr>
      </p:sp>
      <p:sp>
        <p:nvSpPr>
          <p:cNvPr id="177" name="Shape 174"/>
          <p:cNvSpPr/>
          <p:nvPr/>
        </p:nvSpPr>
        <p:spPr>
          <a:xfrm>
            <a:off x="8577072" y="4754880"/>
            <a:ext cx="1097280" cy="274320"/>
          </a:xfrm>
          <a:prstGeom prst="rect">
            <a:avLst/>
          </a:prstGeom>
          <a:solidFill>
            <a:srgbClr val="FFFFFF"/>
          </a:solidFill>
          <a:ln/>
        </p:spPr>
      </p:sp>
      <p:sp>
        <p:nvSpPr>
          <p:cNvPr id="178" name="Text 175"/>
          <p:cNvSpPr txBox="1"/>
          <p:nvPr/>
        </p:nvSpPr>
        <p:spPr>
          <a:xfrm>
            <a:off x="8622792" y="4754880"/>
            <a:ext cx="100584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LTV ÷ CAC</a:t>
            </a:r>
            <a:endParaRPr lang="en-US" sz="950" dirty="0"/>
          </a:p>
        </p:txBody>
      </p:sp>
      <p:sp>
        <p:nvSpPr>
          <p:cNvPr id="179" name="Shape 176"/>
          <p:cNvSpPr/>
          <p:nvPr/>
        </p:nvSpPr>
        <p:spPr>
          <a:xfrm>
            <a:off x="9674352" y="4754880"/>
            <a:ext cx="677570" cy="274320"/>
          </a:xfrm>
          <a:prstGeom prst="rect">
            <a:avLst/>
          </a:prstGeom>
          <a:solidFill>
            <a:srgbClr val="FFFFFF"/>
          </a:solidFill>
          <a:ln/>
        </p:spPr>
      </p:sp>
      <p:sp>
        <p:nvSpPr>
          <p:cNvPr id="180" name="Text 177"/>
          <p:cNvSpPr txBox="1"/>
          <p:nvPr/>
        </p:nvSpPr>
        <p:spPr>
          <a:xfrm>
            <a:off x="9720072" y="475488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-0.1x</a:t>
            </a:r>
            <a:endParaRPr lang="en-US" sz="950" dirty="0"/>
          </a:p>
        </p:txBody>
      </p:sp>
      <p:sp>
        <p:nvSpPr>
          <p:cNvPr id="181" name="Shape 178"/>
          <p:cNvSpPr/>
          <p:nvPr/>
        </p:nvSpPr>
        <p:spPr>
          <a:xfrm>
            <a:off x="10351922" y="4754880"/>
            <a:ext cx="677570" cy="274320"/>
          </a:xfrm>
          <a:prstGeom prst="rect">
            <a:avLst/>
          </a:prstGeom>
          <a:solidFill>
            <a:srgbClr val="FFFFFF"/>
          </a:solidFill>
          <a:ln/>
        </p:spPr>
      </p:sp>
      <p:sp>
        <p:nvSpPr>
          <p:cNvPr id="182" name="Text 179"/>
          <p:cNvSpPr txBox="1"/>
          <p:nvPr/>
        </p:nvSpPr>
        <p:spPr>
          <a:xfrm>
            <a:off x="10397642" y="4754880"/>
            <a:ext cx="58613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3.7x</a:t>
            </a:r>
            <a:endParaRPr lang="en-US" sz="950" dirty="0"/>
          </a:p>
        </p:txBody>
      </p:sp>
      <p:sp>
        <p:nvSpPr>
          <p:cNvPr id="183" name="Shape 180"/>
          <p:cNvSpPr/>
          <p:nvPr/>
        </p:nvSpPr>
        <p:spPr>
          <a:xfrm>
            <a:off x="11029493" y="4754880"/>
            <a:ext cx="677570" cy="274320"/>
          </a:xfrm>
          <a:prstGeom prst="rect">
            <a:avLst/>
          </a:prstGeom>
          <a:solidFill>
            <a:srgbClr val="FFFFFF"/>
          </a:solidFill>
          <a:ln/>
        </p:spPr>
      </p:sp>
      <p:sp>
        <p:nvSpPr>
          <p:cNvPr id="184" name="Text 181"/>
          <p:cNvSpPr txBox="1"/>
          <p:nvPr/>
        </p:nvSpPr>
        <p:spPr>
          <a:xfrm>
            <a:off x="11075213" y="475488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24x</a:t>
            </a:r>
            <a:endParaRPr lang="en-US" sz="950" dirty="0"/>
          </a:p>
        </p:txBody>
      </p:sp>
      <p:sp>
        <p:nvSpPr>
          <p:cNvPr id="185" name="Shape 182"/>
          <p:cNvSpPr/>
          <p:nvPr/>
        </p:nvSpPr>
        <p:spPr>
          <a:xfrm>
            <a:off x="8577072" y="5029200"/>
            <a:ext cx="3129991" cy="0"/>
          </a:xfrm>
          <a:prstGeom prst="line">
            <a:avLst/>
          </a:prstGeom>
          <a:noFill/>
          <a:ln w="6350">
            <a:solidFill>
              <a:srgbClr val="E3E8E4"/>
            </a:solidFill>
            <a:prstDash val="solid"/>
          </a:ln>
        </p:spPr>
      </p:sp>
      <p:sp>
        <p:nvSpPr>
          <p:cNvPr id="186" name="Shape 183"/>
          <p:cNvSpPr/>
          <p:nvPr/>
        </p:nvSpPr>
        <p:spPr>
          <a:xfrm>
            <a:off x="8577072" y="5029200"/>
            <a:ext cx="1097280" cy="274320"/>
          </a:xfrm>
          <a:prstGeom prst="rect">
            <a:avLst/>
          </a:prstGeom>
          <a:solidFill>
            <a:srgbClr val="F1F7F3"/>
          </a:solidFill>
          <a:ln/>
        </p:spPr>
      </p:sp>
      <p:sp>
        <p:nvSpPr>
          <p:cNvPr id="187" name="Text 184"/>
          <p:cNvSpPr txBox="1"/>
          <p:nvPr/>
        </p:nvSpPr>
        <p:spPr>
          <a:xfrm>
            <a:off x="8622792" y="5029200"/>
            <a:ext cx="1005840" cy="274320"/>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Payback</a:t>
            </a:r>
            <a:endParaRPr lang="en-US" sz="950" dirty="0"/>
          </a:p>
        </p:txBody>
      </p:sp>
      <p:sp>
        <p:nvSpPr>
          <p:cNvPr id="188" name="Shape 185"/>
          <p:cNvSpPr/>
          <p:nvPr/>
        </p:nvSpPr>
        <p:spPr>
          <a:xfrm>
            <a:off x="9674352" y="5029200"/>
            <a:ext cx="677570" cy="274320"/>
          </a:xfrm>
          <a:prstGeom prst="rect">
            <a:avLst/>
          </a:prstGeom>
          <a:solidFill>
            <a:srgbClr val="F1F7F3"/>
          </a:solidFill>
          <a:ln/>
        </p:spPr>
      </p:sp>
      <p:sp>
        <p:nvSpPr>
          <p:cNvPr id="189" name="Text 186"/>
          <p:cNvSpPr txBox="1"/>
          <p:nvPr/>
        </p:nvSpPr>
        <p:spPr>
          <a:xfrm>
            <a:off x="9720072" y="502920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61 mo</a:t>
            </a:r>
            <a:endParaRPr lang="en-US" sz="950" dirty="0"/>
          </a:p>
        </p:txBody>
      </p:sp>
      <p:sp>
        <p:nvSpPr>
          <p:cNvPr id="190" name="Shape 187"/>
          <p:cNvSpPr/>
          <p:nvPr/>
        </p:nvSpPr>
        <p:spPr>
          <a:xfrm>
            <a:off x="10351922" y="5029200"/>
            <a:ext cx="677570" cy="274320"/>
          </a:xfrm>
          <a:prstGeom prst="rect">
            <a:avLst/>
          </a:prstGeom>
          <a:solidFill>
            <a:srgbClr val="F1F7F3"/>
          </a:solidFill>
          <a:ln/>
        </p:spPr>
      </p:sp>
      <p:sp>
        <p:nvSpPr>
          <p:cNvPr id="191" name="Text 188"/>
          <p:cNvSpPr txBox="1"/>
          <p:nvPr/>
        </p:nvSpPr>
        <p:spPr>
          <a:xfrm>
            <a:off x="10397642" y="5029200"/>
            <a:ext cx="586130" cy="2743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 mo</a:t>
            </a:r>
            <a:endParaRPr lang="en-US" sz="950" dirty="0"/>
          </a:p>
        </p:txBody>
      </p:sp>
      <p:sp>
        <p:nvSpPr>
          <p:cNvPr id="192" name="Shape 189"/>
          <p:cNvSpPr/>
          <p:nvPr/>
        </p:nvSpPr>
        <p:spPr>
          <a:xfrm>
            <a:off x="11029493" y="5029200"/>
            <a:ext cx="677570" cy="274320"/>
          </a:xfrm>
          <a:prstGeom prst="rect">
            <a:avLst/>
          </a:prstGeom>
          <a:solidFill>
            <a:srgbClr val="F1F7F3"/>
          </a:solidFill>
          <a:ln/>
        </p:spPr>
      </p:sp>
      <p:sp>
        <p:nvSpPr>
          <p:cNvPr id="193" name="Text 190"/>
          <p:cNvSpPr txBox="1"/>
          <p:nvPr/>
        </p:nvSpPr>
        <p:spPr>
          <a:xfrm>
            <a:off x="11075213" y="5029200"/>
            <a:ext cx="586130" cy="27432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mo</a:t>
            </a:r>
            <a:endParaRPr lang="en-US" sz="950" dirty="0"/>
          </a:p>
        </p:txBody>
      </p:sp>
      <p:sp>
        <p:nvSpPr>
          <p:cNvPr id="194" name="Shape 191"/>
          <p:cNvSpPr/>
          <p:nvPr/>
        </p:nvSpPr>
        <p:spPr>
          <a:xfrm>
            <a:off x="8577072" y="5303520"/>
            <a:ext cx="3129991" cy="0"/>
          </a:xfrm>
          <a:prstGeom prst="line">
            <a:avLst/>
          </a:prstGeom>
          <a:noFill/>
          <a:ln w="6350">
            <a:solidFill>
              <a:srgbClr val="E3E8E4"/>
            </a:solidFill>
            <a:prstDash val="solid"/>
          </a:ln>
        </p:spPr>
      </p:sp>
      <p:sp>
        <p:nvSpPr>
          <p:cNvPr id="195" name="Text 192"/>
          <p:cNvSpPr txBox="1"/>
          <p:nvPr/>
        </p:nvSpPr>
        <p:spPr>
          <a:xfrm>
            <a:off x="8595360" y="5321808"/>
            <a:ext cx="3093415" cy="365760"/>
          </a:xfrm>
          <a:prstGeom prst="rect">
            <a:avLst/>
          </a:prstGeom>
          <a:noFill/>
          <a:ln/>
        </p:spPr>
        <p:txBody>
          <a:bodyPr wrap="square" lIns="0" tIns="0" rIns="0" bIns="0" rtlCol="0" anchor="t"/>
          <a:lstStyle/>
          <a:p>
            <a:pPr algn="l" indent="0" marL="0">
              <a:buNone/>
            </a:pPr>
            <a:r>
              <a:rPr lang="en-US" sz="900" i="1" dirty="0">
                <a:solidFill>
                  <a:srgbClr val="5B6573"/>
                </a:solidFill>
                <a:latin typeface="Calibri" pitchFamily="34" charset="0"/>
                <a:ea typeface="Calibri" pitchFamily="34" charset="-122"/>
                <a:cs typeface="Calibri" pitchFamily="34" charset="-120"/>
              </a:rPr>
              <a:t>Bear sets every input to its worst at once: a stress test, not a forecast.</a:t>
            </a:r>
            <a:endParaRPr lang="en-US" sz="900" dirty="0"/>
          </a:p>
        </p:txBody>
      </p:sp>
      <p:sp>
        <p:nvSpPr>
          <p:cNvPr id="196" name="Shape 193"/>
          <p:cNvSpPr/>
          <p:nvPr/>
        </p:nvSpPr>
        <p:spPr>
          <a:xfrm>
            <a:off x="411480" y="5852160"/>
            <a:ext cx="11368735" cy="457200"/>
          </a:xfrm>
          <a:prstGeom prst="rect">
            <a:avLst/>
          </a:prstGeom>
          <a:solidFill>
            <a:srgbClr val="1F4A82"/>
          </a:solidFill>
          <a:ln/>
        </p:spPr>
      </p:sp>
      <p:sp>
        <p:nvSpPr>
          <p:cNvPr id="197" name="Text 194"/>
          <p:cNvSpPr txBox="1"/>
          <p:nvPr/>
        </p:nvSpPr>
        <p:spPr>
          <a:xfrm>
            <a:off x="594360" y="5852160"/>
            <a:ext cx="11002975" cy="45720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Our base case is deliberately below the guide's: </a:t>
            </a:r>
            <a:pPr algn="ctr" indent="0" marL="0">
              <a:buNone/>
            </a:pPr>
            <a:r>
              <a:rPr lang="en-US" sz="1200" b="1" dirty="0">
                <a:solidFill>
                  <a:srgbClr val="F1D9A0"/>
                </a:solidFill>
                <a:latin typeface="Calibri" pitchFamily="34" charset="0"/>
                <a:ea typeface="Calibri" pitchFamily="34" charset="-122"/>
                <a:cs typeface="Calibri" pitchFamily="34" charset="-120"/>
              </a:rPr>
              <a:t>6.6 % not 25 %, ₹30 not ₹40, 3.7x not 10.7x.</a:t>
            </a:r>
            <a:pPr algn="ctr" indent="0" marL="0">
              <a:buNone/>
            </a:pPr>
            <a:r>
              <a:rPr lang="en-US" sz="1200" dirty="0">
                <a:solidFill>
                  <a:srgbClr val="FFFFFF"/>
                </a:solidFill>
                <a:latin typeface="Calibri" pitchFamily="34" charset="0"/>
                <a:ea typeface="Calibri" pitchFamily="34" charset="-122"/>
                <a:cs typeface="Calibri" pitchFamily="34" charset="-120"/>
              </a:rPr>
              <a:t> It still pays for itself if it saves three or four students a year.</a:t>
            </a:r>
            <a:endParaRPr lang="en-US" sz="1200" dirty="0"/>
          </a:p>
        </p:txBody>
      </p:sp>
      <p:sp>
        <p:nvSpPr>
          <p:cNvPr id="198" name="Text 195"/>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(Pricing, Institute_ROI, Unit_Econ, Scenarios). Model output from sourced and assumed inputs; willingness to pay is untested.</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GO-TO-MARKET, MOAT AND ROADMAP</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Start in Patna with a free trial on last year's Excel, then grow as the shared question bank gets sharper</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MARKET AND GO-TO-MARKET 10 %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Shape 10"/>
          <p:cNvSpPr/>
          <p:nvPr/>
        </p:nvSpPr>
        <p:spPr>
          <a:xfrm>
            <a:off x="7126605" y="6528816"/>
            <a:ext cx="1343025" cy="274320"/>
          </a:xfrm>
          <a:prstGeom prst="rect">
            <a:avLst/>
          </a:prstGeom>
          <a:solidFill>
            <a:srgbClr val="1F4A82"/>
          </a:solidFill>
          <a:ln/>
        </p:spPr>
      </p:sp>
      <p:sp>
        <p:nvSpPr>
          <p:cNvPr id="13" name="Text 11"/>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Business</a:t>
            </a:r>
            <a:endParaRPr lang="en-US" sz="1050" dirty="0"/>
          </a:p>
        </p:txBody>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256032" cy="256032"/>
          </a:xfrm>
          <a:prstGeom prst="rect">
            <a:avLst/>
          </a:prstGeom>
          <a:solidFill>
            <a:srgbClr val="1F4A82"/>
          </a:solidFill>
          <a:ln/>
        </p:spPr>
      </p:sp>
      <p:sp>
        <p:nvSpPr>
          <p:cNvPr id="17" name="Text 15"/>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8" name="Text 16"/>
          <p:cNvSpPr txBox="1"/>
          <p:nvPr/>
        </p:nvSpPr>
        <p:spPr>
          <a:xfrm>
            <a:off x="740664" y="1115568"/>
            <a:ext cx="51572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WHERE WE START, AND WHY</a:t>
            </a:r>
            <a:endParaRPr lang="en-US" sz="1200" dirty="0"/>
          </a:p>
        </p:txBody>
      </p:sp>
      <p:sp>
        <p:nvSpPr>
          <p:cNvPr id="19" name="Shape 17"/>
          <p:cNvSpPr/>
          <p:nvPr/>
        </p:nvSpPr>
        <p:spPr>
          <a:xfrm>
            <a:off x="411480" y="1444752"/>
            <a:ext cx="1783080" cy="274320"/>
          </a:xfrm>
          <a:prstGeom prst="rect">
            <a:avLst/>
          </a:prstGeom>
          <a:solidFill>
            <a:srgbClr val="1F4A82"/>
          </a:solidFill>
          <a:ln/>
        </p:spPr>
      </p:sp>
      <p:sp>
        <p:nvSpPr>
          <p:cNvPr id="20" name="Text 18"/>
          <p:cNvSpPr txBox="1"/>
          <p:nvPr/>
        </p:nvSpPr>
        <p:spPr>
          <a:xfrm>
            <a:off x="411480" y="1444752"/>
            <a:ext cx="1783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PHASE 1 · JAN TO MAR 2027</a:t>
            </a:r>
            <a:endParaRPr lang="en-US" sz="850" dirty="0"/>
          </a:p>
        </p:txBody>
      </p:sp>
      <p:sp>
        <p:nvSpPr>
          <p:cNvPr id="21" name="Shape 19"/>
          <p:cNvSpPr/>
          <p:nvPr/>
        </p:nvSpPr>
        <p:spPr>
          <a:xfrm>
            <a:off x="411480" y="1719072"/>
            <a:ext cx="1783080" cy="1188720"/>
          </a:xfrm>
          <a:prstGeom prst="rect">
            <a:avLst/>
          </a:prstGeom>
          <a:solidFill>
            <a:srgbClr val="FFFFFF"/>
          </a:solidFill>
          <a:ln w="12700">
            <a:solidFill>
              <a:srgbClr val="C9D6E8"/>
            </a:solidFill>
            <a:prstDash val="solid"/>
          </a:ln>
        </p:spPr>
      </p:sp>
      <p:sp>
        <p:nvSpPr>
          <p:cNvPr id="22" name="Text 20"/>
          <p:cNvSpPr txBox="1"/>
          <p:nvPr/>
        </p:nvSpPr>
        <p:spPr>
          <a:xfrm>
            <a:off x="484632" y="1755648"/>
            <a:ext cx="1645920"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Patna</a:t>
            </a:r>
            <a:endParaRPr lang="en-US" sz="1050" dirty="0"/>
          </a:p>
        </p:txBody>
      </p:sp>
      <p:sp>
        <p:nvSpPr>
          <p:cNvPr id="23" name="Text 21"/>
          <p:cNvSpPr txBox="1"/>
          <p:nvPr/>
        </p:nvSpPr>
        <p:spPr>
          <a:xfrm>
            <a:off x="484632" y="1993392"/>
            <a:ext cx="1645920" cy="896112"/>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Free retro-pilot at 2 institutes on last year's Excel: who left, and would we have flagged them?</a:t>
            </a:r>
            <a:endParaRPr lang="en-US" sz="900" dirty="0"/>
          </a:p>
        </p:txBody>
      </p:sp>
      <p:sp>
        <p:nvSpPr>
          <p:cNvPr id="24" name="Shape 22"/>
          <p:cNvSpPr/>
          <p:nvPr/>
        </p:nvSpPr>
        <p:spPr>
          <a:xfrm>
            <a:off x="2267712" y="1444752"/>
            <a:ext cx="1783080" cy="274320"/>
          </a:xfrm>
          <a:prstGeom prst="rect">
            <a:avLst/>
          </a:prstGeom>
          <a:solidFill>
            <a:srgbClr val="2E6DB4"/>
          </a:solidFill>
          <a:ln/>
        </p:spPr>
      </p:sp>
      <p:sp>
        <p:nvSpPr>
          <p:cNvPr id="25" name="Text 23"/>
          <p:cNvSpPr txBox="1"/>
          <p:nvPr/>
        </p:nvSpPr>
        <p:spPr>
          <a:xfrm>
            <a:off x="2267712" y="1444752"/>
            <a:ext cx="1783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PHASE 2 · APR 2027 SESSION</a:t>
            </a:r>
            <a:endParaRPr lang="en-US" sz="850" dirty="0"/>
          </a:p>
        </p:txBody>
      </p:sp>
      <p:sp>
        <p:nvSpPr>
          <p:cNvPr id="26" name="Shape 24"/>
          <p:cNvSpPr/>
          <p:nvPr/>
        </p:nvSpPr>
        <p:spPr>
          <a:xfrm>
            <a:off x="2267712" y="1719072"/>
            <a:ext cx="1783080" cy="1188720"/>
          </a:xfrm>
          <a:prstGeom prst="rect">
            <a:avLst/>
          </a:prstGeom>
          <a:solidFill>
            <a:srgbClr val="FFFFFF"/>
          </a:solidFill>
          <a:ln w="12700">
            <a:solidFill>
              <a:srgbClr val="C9D6E8"/>
            </a:solidFill>
            <a:prstDash val="solid"/>
          </a:ln>
        </p:spPr>
      </p:sp>
      <p:sp>
        <p:nvSpPr>
          <p:cNvPr id="27" name="Text 25"/>
          <p:cNvSpPr txBox="1"/>
          <p:nvPr/>
        </p:nvSpPr>
        <p:spPr>
          <a:xfrm>
            <a:off x="2340864" y="1755648"/>
            <a:ext cx="1645920"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Patna and Lucknow</a:t>
            </a:r>
            <a:endParaRPr lang="en-US" sz="1050" dirty="0"/>
          </a:p>
        </p:txBody>
      </p:sp>
      <p:sp>
        <p:nvSpPr>
          <p:cNvPr id="28" name="Text 26"/>
          <p:cNvSpPr txBox="1"/>
          <p:nvPr/>
        </p:nvSpPr>
        <p:spPr>
          <a:xfrm>
            <a:off x="2340864" y="1993392"/>
            <a:ext cx="1645920" cy="896112"/>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Paid pilots with comparison batches; measures written down before we start.</a:t>
            </a:r>
            <a:endParaRPr lang="en-US" sz="900" dirty="0"/>
          </a:p>
        </p:txBody>
      </p:sp>
      <p:sp>
        <p:nvSpPr>
          <p:cNvPr id="29" name="Shape 27"/>
          <p:cNvSpPr/>
          <p:nvPr/>
        </p:nvSpPr>
        <p:spPr>
          <a:xfrm>
            <a:off x="4123944" y="1444752"/>
            <a:ext cx="1783080" cy="274320"/>
          </a:xfrm>
          <a:prstGeom prst="rect">
            <a:avLst/>
          </a:prstGeom>
          <a:solidFill>
            <a:srgbClr val="2E6DB4"/>
          </a:solidFill>
          <a:ln/>
        </p:spPr>
      </p:sp>
      <p:sp>
        <p:nvSpPr>
          <p:cNvPr id="30" name="Text 28"/>
          <p:cNvSpPr txBox="1"/>
          <p:nvPr/>
        </p:nvSpPr>
        <p:spPr>
          <a:xfrm>
            <a:off x="4123944" y="1444752"/>
            <a:ext cx="178308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PHASE 3 · FY28</a:t>
            </a:r>
            <a:endParaRPr lang="en-US" sz="850" dirty="0"/>
          </a:p>
        </p:txBody>
      </p:sp>
      <p:sp>
        <p:nvSpPr>
          <p:cNvPr id="31" name="Shape 29"/>
          <p:cNvSpPr/>
          <p:nvPr/>
        </p:nvSpPr>
        <p:spPr>
          <a:xfrm>
            <a:off x="4123944" y="1719072"/>
            <a:ext cx="1783080" cy="1188720"/>
          </a:xfrm>
          <a:prstGeom prst="rect">
            <a:avLst/>
          </a:prstGeom>
          <a:solidFill>
            <a:srgbClr val="FFFFFF"/>
          </a:solidFill>
          <a:ln w="12700">
            <a:solidFill>
              <a:srgbClr val="C9D6E8"/>
            </a:solidFill>
            <a:prstDash val="solid"/>
          </a:ln>
        </p:spPr>
      </p:sp>
      <p:sp>
        <p:nvSpPr>
          <p:cNvPr id="32" name="Text 30"/>
          <p:cNvSpPr txBox="1"/>
          <p:nvPr/>
        </p:nvSpPr>
        <p:spPr>
          <a:xfrm>
            <a:off x="4197096" y="1755648"/>
            <a:ext cx="1645920" cy="237744"/>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Bihar, UP, Jharkhand</a:t>
            </a:r>
            <a:endParaRPr lang="en-US" sz="1050" dirty="0"/>
          </a:p>
        </p:txBody>
      </p:sp>
      <p:sp>
        <p:nvSpPr>
          <p:cNvPr id="33" name="Text 31"/>
          <p:cNvSpPr txBox="1"/>
          <p:nvPr/>
        </p:nvSpPr>
        <p:spPr>
          <a:xfrm>
            <a:off x="4197096" y="1993392"/>
            <a:ext cx="1645920" cy="896112"/>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Field sales for mid and large institutes; small ones self-serve (LTV/CAC 1.5x).</a:t>
            </a:r>
            <a:endParaRPr lang="en-US" sz="900" dirty="0"/>
          </a:p>
        </p:txBody>
      </p:sp>
      <p:sp>
        <p:nvSpPr>
          <p:cNvPr id="34" name="Shape 32"/>
          <p:cNvSpPr/>
          <p:nvPr/>
        </p:nvSpPr>
        <p:spPr>
          <a:xfrm>
            <a:off x="411480" y="3291840"/>
            <a:ext cx="256032" cy="256032"/>
          </a:xfrm>
          <a:prstGeom prst="rect">
            <a:avLst/>
          </a:prstGeom>
          <a:solidFill>
            <a:srgbClr val="1F4A82"/>
          </a:solidFill>
          <a:ln/>
        </p:spPr>
      </p:sp>
      <p:sp>
        <p:nvSpPr>
          <p:cNvPr id="35" name="Text 33"/>
          <p:cNvSpPr txBox="1"/>
          <p:nvPr/>
        </p:nvSpPr>
        <p:spPr>
          <a:xfrm>
            <a:off x="411480" y="329184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36" name="Text 34"/>
          <p:cNvSpPr txBox="1"/>
          <p:nvPr/>
        </p:nvSpPr>
        <p:spPr>
          <a:xfrm>
            <a:off x="740664" y="3291840"/>
            <a:ext cx="51572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CHANNELS</a:t>
            </a:r>
            <a:endParaRPr lang="en-US" sz="1200" dirty="0"/>
          </a:p>
        </p:txBody>
      </p:sp>
      <p:sp>
        <p:nvSpPr>
          <p:cNvPr id="37" name="Shape 35"/>
          <p:cNvSpPr/>
          <p:nvPr/>
        </p:nvSpPr>
        <p:spPr>
          <a:xfrm>
            <a:off x="411480" y="3657600"/>
            <a:ext cx="329184" cy="329184"/>
          </a:xfrm>
          <a:prstGeom prst="ellipse">
            <a:avLst/>
          </a:prstGeom>
          <a:solidFill>
            <a:srgbClr val="1F4A82"/>
          </a:solidFill>
          <a:ln/>
        </p:spPr>
      </p:sp>
      <p:pic>
        <p:nvPicPr>
          <p:cNvPr id="38" name="Image 0" descr="FaHandshake icon">    </p:cNvPr>
          <p:cNvPicPr>
            <a:picLocks noChangeAspect="1"/>
          </p:cNvPicPr>
          <p:nvPr/>
        </p:nvPicPr>
        <p:blipFill>
          <a:blip r:embed="rId1"/>
          <a:stretch>
            <a:fillRect/>
          </a:stretch>
        </p:blipFill>
        <p:spPr>
          <a:xfrm>
            <a:off x="483900" y="3730020"/>
            <a:ext cx="184343" cy="184343"/>
          </a:xfrm>
          <a:prstGeom prst="rect">
            <a:avLst/>
          </a:prstGeom>
        </p:spPr>
      </p:pic>
      <p:sp>
        <p:nvSpPr>
          <p:cNvPr id="39" name="Text 36"/>
          <p:cNvSpPr txBox="1"/>
          <p:nvPr/>
        </p:nvSpPr>
        <p:spPr>
          <a:xfrm>
            <a:off x="813816" y="362102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Nextute network</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partner channel, to be agreed</a:t>
            </a:r>
            <a:endParaRPr lang="en-US" sz="950" dirty="0"/>
          </a:p>
        </p:txBody>
      </p:sp>
      <p:sp>
        <p:nvSpPr>
          <p:cNvPr id="40" name="Shape 37"/>
          <p:cNvSpPr/>
          <p:nvPr/>
        </p:nvSpPr>
        <p:spPr>
          <a:xfrm>
            <a:off x="3200400" y="3657600"/>
            <a:ext cx="329184" cy="329184"/>
          </a:xfrm>
          <a:prstGeom prst="ellipse">
            <a:avLst/>
          </a:prstGeom>
          <a:solidFill>
            <a:srgbClr val="2E6DB4"/>
          </a:solidFill>
          <a:ln/>
        </p:spPr>
      </p:sp>
      <p:pic>
        <p:nvPicPr>
          <p:cNvPr id="41" name="Image 1" descr="FaGift icon">    </p:cNvPr>
          <p:cNvPicPr>
            <a:picLocks noChangeAspect="1"/>
          </p:cNvPicPr>
          <p:nvPr/>
        </p:nvPicPr>
        <p:blipFill>
          <a:blip r:embed="rId2"/>
          <a:stretch>
            <a:fillRect/>
          </a:stretch>
        </p:blipFill>
        <p:spPr>
          <a:xfrm>
            <a:off x="3272820" y="3730020"/>
            <a:ext cx="184343" cy="184343"/>
          </a:xfrm>
          <a:prstGeom prst="rect">
            <a:avLst/>
          </a:prstGeom>
        </p:spPr>
      </p:pic>
      <p:sp>
        <p:nvSpPr>
          <p:cNvPr id="42" name="Text 38"/>
          <p:cNvSpPr txBox="1"/>
          <p:nvPr/>
        </p:nvSpPr>
        <p:spPr>
          <a:xfrm>
            <a:off x="3602736" y="362102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Free retro-pilot</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one Excel file, one answer, no install</a:t>
            </a:r>
            <a:endParaRPr lang="en-US" sz="950" dirty="0"/>
          </a:p>
        </p:txBody>
      </p:sp>
      <p:sp>
        <p:nvSpPr>
          <p:cNvPr id="43" name="Shape 39"/>
          <p:cNvSpPr/>
          <p:nvPr/>
        </p:nvSpPr>
        <p:spPr>
          <a:xfrm>
            <a:off x="411480" y="4160520"/>
            <a:ext cx="329184" cy="329184"/>
          </a:xfrm>
          <a:prstGeom prst="ellipse">
            <a:avLst/>
          </a:prstGeom>
          <a:solidFill>
            <a:srgbClr val="1F4A82"/>
          </a:solidFill>
          <a:ln/>
        </p:spPr>
      </p:sp>
      <p:pic>
        <p:nvPicPr>
          <p:cNvPr id="44" name="Image 2" descr="FaPersonChalkboard icon">    </p:cNvPr>
          <p:cNvPicPr>
            <a:picLocks noChangeAspect="1"/>
          </p:cNvPicPr>
          <p:nvPr/>
        </p:nvPicPr>
        <p:blipFill>
          <a:blip r:embed="rId3"/>
          <a:stretch>
            <a:fillRect/>
          </a:stretch>
        </p:blipFill>
        <p:spPr>
          <a:xfrm>
            <a:off x="483900" y="4232940"/>
            <a:ext cx="184343" cy="184343"/>
          </a:xfrm>
          <a:prstGeom prst="rect">
            <a:avLst/>
          </a:prstGeom>
        </p:spPr>
      </p:pic>
      <p:sp>
        <p:nvSpPr>
          <p:cNvPr id="45" name="Text 40"/>
          <p:cNvSpPr txBox="1"/>
          <p:nvPr/>
        </p:nvSpPr>
        <p:spPr>
          <a:xfrm>
            <a:off x="813816" y="412394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Field demos, Jan to Mar</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before the April admission season</a:t>
            </a:r>
            <a:endParaRPr lang="en-US" sz="950" dirty="0"/>
          </a:p>
        </p:txBody>
      </p:sp>
      <p:sp>
        <p:nvSpPr>
          <p:cNvPr id="46" name="Shape 41"/>
          <p:cNvSpPr/>
          <p:nvPr/>
        </p:nvSpPr>
        <p:spPr>
          <a:xfrm>
            <a:off x="3200400" y="4160520"/>
            <a:ext cx="329184" cy="329184"/>
          </a:xfrm>
          <a:prstGeom prst="ellipse">
            <a:avLst/>
          </a:prstGeom>
          <a:solidFill>
            <a:srgbClr val="5B8DC9"/>
          </a:solidFill>
          <a:ln/>
        </p:spPr>
      </p:sp>
      <p:pic>
        <p:nvPicPr>
          <p:cNvPr id="47" name="Image 3" descr="FaPrint icon">    </p:cNvPr>
          <p:cNvPicPr>
            <a:picLocks noChangeAspect="1"/>
          </p:cNvPicPr>
          <p:nvPr/>
        </p:nvPicPr>
        <p:blipFill>
          <a:blip r:embed="rId4"/>
          <a:stretch>
            <a:fillRect/>
          </a:stretch>
        </p:blipFill>
        <p:spPr>
          <a:xfrm>
            <a:off x="3272820" y="4232940"/>
            <a:ext cx="184343" cy="184343"/>
          </a:xfrm>
          <a:prstGeom prst="rect">
            <a:avLst/>
          </a:prstGeom>
        </p:spPr>
      </p:pic>
      <p:sp>
        <p:nvSpPr>
          <p:cNvPr id="48" name="Text 42"/>
          <p:cNvSpPr txBox="1"/>
          <p:nvPr/>
        </p:nvSpPr>
        <p:spPr>
          <a:xfrm>
            <a:off x="3602736" y="4123944"/>
            <a:ext cx="2331720" cy="438912"/>
          </a:xfrm>
          <a:prstGeom prst="rect">
            <a:avLst/>
          </a:prstGeom>
          <a:noFill/>
          <a:ln/>
        </p:spPr>
        <p:txBody>
          <a:bodyPr wrap="square" lIns="0" tIns="0" rIns="0" bIns="0" rtlCol="0" anchor="ctr"/>
          <a:lstStyle/>
          <a:p>
            <a:pPr algn="l" indent="0" marL="0">
              <a:buNone/>
            </a:pPr>
            <a:r>
              <a:rPr lang="en-US" sz="950" b="1" dirty="0">
                <a:solidFill>
                  <a:srgbClr val="1F4A82"/>
                </a:solidFill>
                <a:latin typeface="Calibri" pitchFamily="34" charset="0"/>
                <a:ea typeface="Calibri" pitchFamily="34" charset="-122"/>
                <a:cs typeface="Calibri" pitchFamily="34" charset="-120"/>
              </a:rPr>
              <a:t>OMR and test-series vendors</a:t>
            </a:r>
            <a:endParaRPr lang="en-US" sz="950" dirty="0"/>
          </a:p>
          <a:p>
            <a:pPr algn="l" indent="0" marL="0">
              <a:buNone/>
            </a:pPr>
            <a:r>
              <a:rPr lang="en-US" sz="850" dirty="0">
                <a:solidFill>
                  <a:srgbClr val="5B6573"/>
                </a:solidFill>
                <a:latin typeface="Calibri" pitchFamily="34" charset="0"/>
                <a:ea typeface="Calibri" pitchFamily="34" charset="-122"/>
                <a:cs typeface="Calibri" pitchFamily="34" charset="-120"/>
              </a:rPr>
              <a:t>referral partners, to be tested</a:t>
            </a:r>
            <a:endParaRPr lang="en-US" sz="950" dirty="0"/>
          </a:p>
        </p:txBody>
      </p:sp>
      <p:sp>
        <p:nvSpPr>
          <p:cNvPr id="49" name="Shape 43"/>
          <p:cNvSpPr/>
          <p:nvPr/>
        </p:nvSpPr>
        <p:spPr>
          <a:xfrm>
            <a:off x="6126480" y="1115568"/>
            <a:ext cx="256032" cy="256032"/>
          </a:xfrm>
          <a:prstGeom prst="rect">
            <a:avLst/>
          </a:prstGeom>
          <a:solidFill>
            <a:srgbClr val="1F4A82"/>
          </a:solidFill>
          <a:ln/>
        </p:spPr>
      </p:sp>
      <p:sp>
        <p:nvSpPr>
          <p:cNvPr id="50" name="Text 44"/>
          <p:cNvSpPr txBox="1"/>
          <p:nvPr/>
        </p:nvSpPr>
        <p:spPr>
          <a:xfrm>
            <a:off x="6126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51" name="Text 45"/>
          <p:cNvSpPr txBox="1"/>
          <p:nvPr/>
        </p:nvSpPr>
        <p:spPr>
          <a:xfrm>
            <a:off x="6455664" y="1115568"/>
            <a:ext cx="532455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COMPETITION (VENDOR LISTINGS, OCT 2026)</a:t>
            </a:r>
            <a:endParaRPr lang="en-US" sz="1200" dirty="0"/>
          </a:p>
        </p:txBody>
      </p:sp>
      <p:sp>
        <p:nvSpPr>
          <p:cNvPr id="52" name="Shape 46"/>
          <p:cNvSpPr/>
          <p:nvPr/>
        </p:nvSpPr>
        <p:spPr>
          <a:xfrm>
            <a:off x="6126480" y="1444752"/>
            <a:ext cx="1097280" cy="347472"/>
          </a:xfrm>
          <a:prstGeom prst="rect">
            <a:avLst/>
          </a:prstGeom>
          <a:solidFill>
            <a:srgbClr val="1F4A82"/>
          </a:solidFill>
          <a:ln/>
        </p:spPr>
      </p:sp>
      <p:sp>
        <p:nvSpPr>
          <p:cNvPr id="53" name="Text 47"/>
          <p:cNvSpPr txBox="1"/>
          <p:nvPr/>
        </p:nvSpPr>
        <p:spPr>
          <a:xfrm>
            <a:off x="6172200" y="1444752"/>
            <a:ext cx="1005840" cy="347472"/>
          </a:xfrm>
          <a:prstGeom prst="rect">
            <a:avLst/>
          </a:prstGeom>
          <a:noFill/>
          <a:ln/>
        </p:spPr>
        <p:txBody>
          <a:bodyPr wrap="square" lIns="0" tIns="0" rIns="0" bIns="0" rtlCol="0" anchor="ctr"/>
          <a:lstStyle/>
          <a:p>
            <a:pPr algn="l" indent="0" marL="0">
              <a:buNone/>
            </a:pPr>
            <a:endParaRPr lang="en-US" sz="850" dirty="0"/>
          </a:p>
        </p:txBody>
      </p:sp>
      <p:sp>
        <p:nvSpPr>
          <p:cNvPr id="54" name="Shape 48"/>
          <p:cNvSpPr/>
          <p:nvPr/>
        </p:nvSpPr>
        <p:spPr>
          <a:xfrm>
            <a:off x="7223760" y="1444752"/>
            <a:ext cx="868680" cy="347472"/>
          </a:xfrm>
          <a:prstGeom prst="rect">
            <a:avLst/>
          </a:prstGeom>
          <a:solidFill>
            <a:srgbClr val="1F4A82"/>
          </a:solidFill>
          <a:ln/>
        </p:spPr>
      </p:sp>
      <p:sp>
        <p:nvSpPr>
          <p:cNvPr id="55" name="Text 49"/>
          <p:cNvSpPr txBox="1"/>
          <p:nvPr/>
        </p:nvSpPr>
        <p:spPr>
          <a:xfrm>
            <a:off x="7269480" y="1444752"/>
            <a:ext cx="77724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Price / student / mo</a:t>
            </a:r>
            <a:endParaRPr lang="en-US" sz="850" dirty="0"/>
          </a:p>
        </p:txBody>
      </p:sp>
      <p:sp>
        <p:nvSpPr>
          <p:cNvPr id="56" name="Shape 50"/>
          <p:cNvSpPr/>
          <p:nvPr/>
        </p:nvSpPr>
        <p:spPr>
          <a:xfrm>
            <a:off x="8092440" y="1444752"/>
            <a:ext cx="658368" cy="347472"/>
          </a:xfrm>
          <a:prstGeom prst="rect">
            <a:avLst/>
          </a:prstGeom>
          <a:solidFill>
            <a:srgbClr val="1F4A82"/>
          </a:solidFill>
          <a:ln/>
        </p:spPr>
      </p:sp>
      <p:sp>
        <p:nvSpPr>
          <p:cNvPr id="57" name="Text 51"/>
          <p:cNvSpPr txBox="1"/>
          <p:nvPr/>
        </p:nvSpPr>
        <p:spPr>
          <a:xfrm>
            <a:off x="8138160" y="1444752"/>
            <a:ext cx="56692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OMR</a:t>
            </a:r>
            <a:endParaRPr lang="en-US" sz="850" dirty="0"/>
          </a:p>
        </p:txBody>
      </p:sp>
      <p:sp>
        <p:nvSpPr>
          <p:cNvPr id="58" name="Shape 52"/>
          <p:cNvSpPr/>
          <p:nvPr/>
        </p:nvSpPr>
        <p:spPr>
          <a:xfrm>
            <a:off x="8750808" y="1444752"/>
            <a:ext cx="777240" cy="347472"/>
          </a:xfrm>
          <a:prstGeom prst="rect">
            <a:avLst/>
          </a:prstGeom>
          <a:solidFill>
            <a:srgbClr val="1F4A82"/>
          </a:solidFill>
          <a:ln/>
        </p:spPr>
      </p:sp>
      <p:sp>
        <p:nvSpPr>
          <p:cNvPr id="59" name="Text 53"/>
          <p:cNvSpPr txBox="1"/>
          <p:nvPr/>
        </p:nvSpPr>
        <p:spPr>
          <a:xfrm>
            <a:off x="8796528" y="1444752"/>
            <a:ext cx="68580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Topic analytics</a:t>
            </a:r>
            <a:endParaRPr lang="en-US" sz="850" dirty="0"/>
          </a:p>
        </p:txBody>
      </p:sp>
      <p:sp>
        <p:nvSpPr>
          <p:cNvPr id="60" name="Shape 54"/>
          <p:cNvSpPr/>
          <p:nvPr/>
        </p:nvSpPr>
        <p:spPr>
          <a:xfrm>
            <a:off x="9528048" y="1444752"/>
            <a:ext cx="749808" cy="347472"/>
          </a:xfrm>
          <a:prstGeom prst="rect">
            <a:avLst/>
          </a:prstGeom>
          <a:solidFill>
            <a:srgbClr val="1F4A82"/>
          </a:solidFill>
          <a:ln/>
        </p:spPr>
      </p:sp>
      <p:sp>
        <p:nvSpPr>
          <p:cNvPr id="61" name="Text 55"/>
          <p:cNvSpPr txBox="1"/>
          <p:nvPr/>
        </p:nvSpPr>
        <p:spPr>
          <a:xfrm>
            <a:off x="9573768" y="1444752"/>
            <a:ext cx="65836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Parent report</a:t>
            </a:r>
            <a:endParaRPr lang="en-US" sz="850" dirty="0"/>
          </a:p>
        </p:txBody>
      </p:sp>
      <p:sp>
        <p:nvSpPr>
          <p:cNvPr id="62" name="Shape 56"/>
          <p:cNvSpPr/>
          <p:nvPr/>
        </p:nvSpPr>
        <p:spPr>
          <a:xfrm>
            <a:off x="10277856" y="1444752"/>
            <a:ext cx="731520" cy="347472"/>
          </a:xfrm>
          <a:prstGeom prst="rect">
            <a:avLst/>
          </a:prstGeom>
          <a:solidFill>
            <a:srgbClr val="1F4A82"/>
          </a:solidFill>
          <a:ln/>
        </p:spPr>
      </p:sp>
      <p:sp>
        <p:nvSpPr>
          <p:cNvPr id="63" name="Text 57"/>
          <p:cNvSpPr txBox="1"/>
          <p:nvPr/>
        </p:nvSpPr>
        <p:spPr>
          <a:xfrm>
            <a:off x="10323576" y="1444752"/>
            <a:ext cx="64008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Hindi</a:t>
            </a:r>
            <a:endParaRPr lang="en-US" sz="850" dirty="0"/>
          </a:p>
        </p:txBody>
      </p:sp>
      <p:sp>
        <p:nvSpPr>
          <p:cNvPr id="64" name="Shape 58"/>
          <p:cNvSpPr/>
          <p:nvPr/>
        </p:nvSpPr>
        <p:spPr>
          <a:xfrm>
            <a:off x="11009376" y="1444752"/>
            <a:ext cx="749808" cy="347472"/>
          </a:xfrm>
          <a:prstGeom prst="rect">
            <a:avLst/>
          </a:prstGeom>
          <a:solidFill>
            <a:srgbClr val="1F4A82"/>
          </a:solidFill>
          <a:ln/>
        </p:spPr>
      </p:sp>
      <p:sp>
        <p:nvSpPr>
          <p:cNvPr id="65" name="Text 59"/>
          <p:cNvSpPr txBox="1"/>
          <p:nvPr/>
        </p:nvSpPr>
        <p:spPr>
          <a:xfrm>
            <a:off x="11055096" y="1444752"/>
            <a:ext cx="658368"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Consent ledger</a:t>
            </a:r>
            <a:endParaRPr lang="en-US" sz="850" dirty="0"/>
          </a:p>
        </p:txBody>
      </p:sp>
      <p:sp>
        <p:nvSpPr>
          <p:cNvPr id="66" name="Shape 60"/>
          <p:cNvSpPr/>
          <p:nvPr/>
        </p:nvSpPr>
        <p:spPr>
          <a:xfrm>
            <a:off x="6126480" y="1792224"/>
            <a:ext cx="1097280" cy="274320"/>
          </a:xfrm>
          <a:prstGeom prst="rect">
            <a:avLst/>
          </a:prstGeom>
          <a:solidFill>
            <a:srgbClr val="FFFFFF"/>
          </a:solidFill>
          <a:ln/>
        </p:spPr>
      </p:sp>
      <p:sp>
        <p:nvSpPr>
          <p:cNvPr id="67" name="Text 61"/>
          <p:cNvSpPr txBox="1"/>
          <p:nvPr/>
        </p:nvSpPr>
        <p:spPr>
          <a:xfrm>
            <a:off x="6172200" y="179222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Classplus</a:t>
            </a:r>
            <a:endParaRPr lang="en-US" sz="900" dirty="0"/>
          </a:p>
        </p:txBody>
      </p:sp>
      <p:sp>
        <p:nvSpPr>
          <p:cNvPr id="68" name="Shape 62"/>
          <p:cNvSpPr/>
          <p:nvPr/>
        </p:nvSpPr>
        <p:spPr>
          <a:xfrm>
            <a:off x="7223760" y="1792224"/>
            <a:ext cx="868680" cy="274320"/>
          </a:xfrm>
          <a:prstGeom prst="rect">
            <a:avLst/>
          </a:prstGeom>
          <a:solidFill>
            <a:srgbClr val="FFFFFF"/>
          </a:solidFill>
          <a:ln/>
        </p:spPr>
      </p:sp>
      <p:sp>
        <p:nvSpPr>
          <p:cNvPr id="69" name="Text 63"/>
          <p:cNvSpPr txBox="1"/>
          <p:nvPr/>
        </p:nvSpPr>
        <p:spPr>
          <a:xfrm>
            <a:off x="7269480" y="179222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₹4 to ₹7</a:t>
            </a:r>
            <a:endParaRPr lang="en-US" sz="900" dirty="0"/>
          </a:p>
        </p:txBody>
      </p:sp>
      <p:sp>
        <p:nvSpPr>
          <p:cNvPr id="70" name="Shape 64"/>
          <p:cNvSpPr/>
          <p:nvPr/>
        </p:nvSpPr>
        <p:spPr>
          <a:xfrm>
            <a:off x="8092440" y="1792224"/>
            <a:ext cx="658368" cy="274320"/>
          </a:xfrm>
          <a:prstGeom prst="rect">
            <a:avLst/>
          </a:prstGeom>
          <a:solidFill>
            <a:srgbClr val="F1E8D3"/>
          </a:solidFill>
          <a:ln/>
        </p:spPr>
      </p:sp>
      <p:sp>
        <p:nvSpPr>
          <p:cNvPr id="71" name="Text 65"/>
          <p:cNvSpPr txBox="1"/>
          <p:nvPr/>
        </p:nvSpPr>
        <p:spPr>
          <a:xfrm>
            <a:off x="8138160" y="179222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2" name="Shape 66"/>
          <p:cNvSpPr/>
          <p:nvPr/>
        </p:nvSpPr>
        <p:spPr>
          <a:xfrm>
            <a:off x="8750808" y="1792224"/>
            <a:ext cx="777240" cy="274320"/>
          </a:xfrm>
          <a:prstGeom prst="rect">
            <a:avLst/>
          </a:prstGeom>
          <a:solidFill>
            <a:srgbClr val="F1E8D3"/>
          </a:solidFill>
          <a:ln/>
        </p:spPr>
      </p:sp>
      <p:sp>
        <p:nvSpPr>
          <p:cNvPr id="73" name="Text 67"/>
          <p:cNvSpPr txBox="1"/>
          <p:nvPr/>
        </p:nvSpPr>
        <p:spPr>
          <a:xfrm>
            <a:off x="8796528" y="179222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4" name="Shape 68"/>
          <p:cNvSpPr/>
          <p:nvPr/>
        </p:nvSpPr>
        <p:spPr>
          <a:xfrm>
            <a:off x="9528048" y="1792224"/>
            <a:ext cx="749808" cy="274320"/>
          </a:xfrm>
          <a:prstGeom prst="rect">
            <a:avLst/>
          </a:prstGeom>
          <a:solidFill>
            <a:srgbClr val="F1E8D3"/>
          </a:solidFill>
          <a:ln/>
        </p:spPr>
      </p:sp>
      <p:sp>
        <p:nvSpPr>
          <p:cNvPr id="75" name="Text 69"/>
          <p:cNvSpPr txBox="1"/>
          <p:nvPr/>
        </p:nvSpPr>
        <p:spPr>
          <a:xfrm>
            <a:off x="9573768" y="179222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6" name="Shape 70"/>
          <p:cNvSpPr/>
          <p:nvPr/>
        </p:nvSpPr>
        <p:spPr>
          <a:xfrm>
            <a:off x="10277856" y="1792224"/>
            <a:ext cx="731520" cy="274320"/>
          </a:xfrm>
          <a:prstGeom prst="rect">
            <a:avLst/>
          </a:prstGeom>
          <a:solidFill>
            <a:srgbClr val="F1E8D3"/>
          </a:solidFill>
          <a:ln/>
        </p:spPr>
      </p:sp>
      <p:sp>
        <p:nvSpPr>
          <p:cNvPr id="77" name="Text 71"/>
          <p:cNvSpPr txBox="1"/>
          <p:nvPr/>
        </p:nvSpPr>
        <p:spPr>
          <a:xfrm>
            <a:off x="10323576" y="1792224"/>
            <a:ext cx="64008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78" name="Shape 72"/>
          <p:cNvSpPr/>
          <p:nvPr/>
        </p:nvSpPr>
        <p:spPr>
          <a:xfrm>
            <a:off x="11009376" y="1792224"/>
            <a:ext cx="749808" cy="274320"/>
          </a:xfrm>
          <a:prstGeom prst="rect">
            <a:avLst/>
          </a:prstGeom>
          <a:solidFill>
            <a:srgbClr val="F1E8D3"/>
          </a:solidFill>
          <a:ln/>
        </p:spPr>
      </p:sp>
      <p:sp>
        <p:nvSpPr>
          <p:cNvPr id="79" name="Text 73"/>
          <p:cNvSpPr txBox="1"/>
          <p:nvPr/>
        </p:nvSpPr>
        <p:spPr>
          <a:xfrm>
            <a:off x="11055096" y="179222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80" name="Shape 74"/>
          <p:cNvSpPr/>
          <p:nvPr/>
        </p:nvSpPr>
        <p:spPr>
          <a:xfrm>
            <a:off x="6126480" y="2066544"/>
            <a:ext cx="5632704" cy="0"/>
          </a:xfrm>
          <a:prstGeom prst="line">
            <a:avLst/>
          </a:prstGeom>
          <a:noFill/>
          <a:ln w="6350">
            <a:solidFill>
              <a:srgbClr val="E3E8E4"/>
            </a:solidFill>
            <a:prstDash val="solid"/>
          </a:ln>
        </p:spPr>
      </p:sp>
      <p:sp>
        <p:nvSpPr>
          <p:cNvPr id="81" name="Shape 75"/>
          <p:cNvSpPr/>
          <p:nvPr/>
        </p:nvSpPr>
        <p:spPr>
          <a:xfrm>
            <a:off x="6126480" y="2066544"/>
            <a:ext cx="1097280" cy="274320"/>
          </a:xfrm>
          <a:prstGeom prst="rect">
            <a:avLst/>
          </a:prstGeom>
          <a:solidFill>
            <a:srgbClr val="FFFFFF"/>
          </a:solidFill>
          <a:ln/>
        </p:spPr>
      </p:sp>
      <p:sp>
        <p:nvSpPr>
          <p:cNvPr id="82" name="Text 76"/>
          <p:cNvSpPr txBox="1"/>
          <p:nvPr/>
        </p:nvSpPr>
        <p:spPr>
          <a:xfrm>
            <a:off x="6172200" y="206654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Fedena</a:t>
            </a:r>
            <a:endParaRPr lang="en-US" sz="900" dirty="0"/>
          </a:p>
        </p:txBody>
      </p:sp>
      <p:sp>
        <p:nvSpPr>
          <p:cNvPr id="83" name="Shape 77"/>
          <p:cNvSpPr/>
          <p:nvPr/>
        </p:nvSpPr>
        <p:spPr>
          <a:xfrm>
            <a:off x="7223760" y="2066544"/>
            <a:ext cx="868680" cy="274320"/>
          </a:xfrm>
          <a:prstGeom prst="rect">
            <a:avLst/>
          </a:prstGeom>
          <a:solidFill>
            <a:srgbClr val="FFFFFF"/>
          </a:solidFill>
          <a:ln/>
        </p:spPr>
      </p:sp>
      <p:sp>
        <p:nvSpPr>
          <p:cNvPr id="84" name="Text 78"/>
          <p:cNvSpPr txBox="1"/>
          <p:nvPr/>
        </p:nvSpPr>
        <p:spPr>
          <a:xfrm>
            <a:off x="7269480" y="206654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₹10 to ₹21</a:t>
            </a:r>
            <a:endParaRPr lang="en-US" sz="900" dirty="0"/>
          </a:p>
        </p:txBody>
      </p:sp>
      <p:sp>
        <p:nvSpPr>
          <p:cNvPr id="85" name="Shape 79"/>
          <p:cNvSpPr/>
          <p:nvPr/>
        </p:nvSpPr>
        <p:spPr>
          <a:xfrm>
            <a:off x="8092440" y="2066544"/>
            <a:ext cx="658368" cy="274320"/>
          </a:xfrm>
          <a:prstGeom prst="rect">
            <a:avLst/>
          </a:prstGeom>
          <a:solidFill>
            <a:srgbClr val="F4F7FB"/>
          </a:solidFill>
          <a:ln/>
        </p:spPr>
      </p:sp>
      <p:sp>
        <p:nvSpPr>
          <p:cNvPr id="86" name="Text 80"/>
          <p:cNvSpPr txBox="1"/>
          <p:nvPr/>
        </p:nvSpPr>
        <p:spPr>
          <a:xfrm>
            <a:off x="8138160" y="206654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87" name="Shape 81"/>
          <p:cNvSpPr/>
          <p:nvPr/>
        </p:nvSpPr>
        <p:spPr>
          <a:xfrm>
            <a:off x="8750808" y="2066544"/>
            <a:ext cx="777240" cy="274320"/>
          </a:xfrm>
          <a:prstGeom prst="rect">
            <a:avLst/>
          </a:prstGeom>
          <a:solidFill>
            <a:srgbClr val="F1E8D3"/>
          </a:solidFill>
          <a:ln/>
        </p:spPr>
      </p:sp>
      <p:sp>
        <p:nvSpPr>
          <p:cNvPr id="88" name="Text 82"/>
          <p:cNvSpPr txBox="1"/>
          <p:nvPr/>
        </p:nvSpPr>
        <p:spPr>
          <a:xfrm>
            <a:off x="8796528" y="206654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89" name="Shape 83"/>
          <p:cNvSpPr/>
          <p:nvPr/>
        </p:nvSpPr>
        <p:spPr>
          <a:xfrm>
            <a:off x="9528048" y="2066544"/>
            <a:ext cx="749808" cy="274320"/>
          </a:xfrm>
          <a:prstGeom prst="rect">
            <a:avLst/>
          </a:prstGeom>
          <a:solidFill>
            <a:srgbClr val="D6E4F5"/>
          </a:solidFill>
          <a:ln/>
        </p:spPr>
      </p:sp>
      <p:sp>
        <p:nvSpPr>
          <p:cNvPr id="90" name="Text 84"/>
          <p:cNvSpPr txBox="1"/>
          <p:nvPr/>
        </p:nvSpPr>
        <p:spPr>
          <a:xfrm>
            <a:off x="9573768" y="206654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91" name="Shape 85"/>
          <p:cNvSpPr/>
          <p:nvPr/>
        </p:nvSpPr>
        <p:spPr>
          <a:xfrm>
            <a:off x="10277856" y="2066544"/>
            <a:ext cx="731520" cy="274320"/>
          </a:xfrm>
          <a:prstGeom prst="rect">
            <a:avLst/>
          </a:prstGeom>
          <a:solidFill>
            <a:srgbClr val="F1E8D3"/>
          </a:solidFill>
          <a:ln/>
        </p:spPr>
      </p:sp>
      <p:sp>
        <p:nvSpPr>
          <p:cNvPr id="92" name="Text 86"/>
          <p:cNvSpPr txBox="1"/>
          <p:nvPr/>
        </p:nvSpPr>
        <p:spPr>
          <a:xfrm>
            <a:off x="10323576" y="2066544"/>
            <a:ext cx="64008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93" name="Shape 87"/>
          <p:cNvSpPr/>
          <p:nvPr/>
        </p:nvSpPr>
        <p:spPr>
          <a:xfrm>
            <a:off x="11009376" y="2066544"/>
            <a:ext cx="749808" cy="274320"/>
          </a:xfrm>
          <a:prstGeom prst="rect">
            <a:avLst/>
          </a:prstGeom>
          <a:solidFill>
            <a:srgbClr val="F4F7FB"/>
          </a:solidFill>
          <a:ln/>
        </p:spPr>
      </p:sp>
      <p:sp>
        <p:nvSpPr>
          <p:cNvPr id="94" name="Text 88"/>
          <p:cNvSpPr txBox="1"/>
          <p:nvPr/>
        </p:nvSpPr>
        <p:spPr>
          <a:xfrm>
            <a:off x="11055096" y="206654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95" name="Shape 89"/>
          <p:cNvSpPr/>
          <p:nvPr/>
        </p:nvSpPr>
        <p:spPr>
          <a:xfrm>
            <a:off x="6126480" y="2340864"/>
            <a:ext cx="5632704" cy="0"/>
          </a:xfrm>
          <a:prstGeom prst="line">
            <a:avLst/>
          </a:prstGeom>
          <a:noFill/>
          <a:ln w="6350">
            <a:solidFill>
              <a:srgbClr val="E3E8E4"/>
            </a:solidFill>
            <a:prstDash val="solid"/>
          </a:ln>
        </p:spPr>
      </p:sp>
      <p:sp>
        <p:nvSpPr>
          <p:cNvPr id="96" name="Shape 90"/>
          <p:cNvSpPr/>
          <p:nvPr/>
        </p:nvSpPr>
        <p:spPr>
          <a:xfrm>
            <a:off x="6126480" y="2340864"/>
            <a:ext cx="1097280" cy="274320"/>
          </a:xfrm>
          <a:prstGeom prst="rect">
            <a:avLst/>
          </a:prstGeom>
          <a:solidFill>
            <a:srgbClr val="FFFFFF"/>
          </a:solidFill>
          <a:ln/>
        </p:spPr>
      </p:sp>
      <p:sp>
        <p:nvSpPr>
          <p:cNvPr id="97" name="Text 91"/>
          <p:cNvSpPr txBox="1"/>
          <p:nvPr/>
        </p:nvSpPr>
        <p:spPr>
          <a:xfrm>
            <a:off x="6172200" y="234086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Edmingle</a:t>
            </a:r>
            <a:endParaRPr lang="en-US" sz="900" dirty="0"/>
          </a:p>
        </p:txBody>
      </p:sp>
      <p:sp>
        <p:nvSpPr>
          <p:cNvPr id="98" name="Shape 92"/>
          <p:cNvSpPr/>
          <p:nvPr/>
        </p:nvSpPr>
        <p:spPr>
          <a:xfrm>
            <a:off x="7223760" y="2340864"/>
            <a:ext cx="868680" cy="274320"/>
          </a:xfrm>
          <a:prstGeom prst="rect">
            <a:avLst/>
          </a:prstGeom>
          <a:solidFill>
            <a:srgbClr val="FFFFFF"/>
          </a:solidFill>
          <a:ln/>
        </p:spPr>
      </p:sp>
      <p:sp>
        <p:nvSpPr>
          <p:cNvPr id="99" name="Text 93"/>
          <p:cNvSpPr txBox="1"/>
          <p:nvPr/>
        </p:nvSpPr>
        <p:spPr>
          <a:xfrm>
            <a:off x="7269480" y="234086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₹19 to ₹75</a:t>
            </a:r>
            <a:endParaRPr lang="en-US" sz="900" dirty="0"/>
          </a:p>
        </p:txBody>
      </p:sp>
      <p:sp>
        <p:nvSpPr>
          <p:cNvPr id="100" name="Shape 94"/>
          <p:cNvSpPr/>
          <p:nvPr/>
        </p:nvSpPr>
        <p:spPr>
          <a:xfrm>
            <a:off x="8092440" y="2340864"/>
            <a:ext cx="658368" cy="274320"/>
          </a:xfrm>
          <a:prstGeom prst="rect">
            <a:avLst/>
          </a:prstGeom>
          <a:solidFill>
            <a:srgbClr val="F4F7FB"/>
          </a:solidFill>
          <a:ln/>
        </p:spPr>
      </p:sp>
      <p:sp>
        <p:nvSpPr>
          <p:cNvPr id="101" name="Text 95"/>
          <p:cNvSpPr txBox="1"/>
          <p:nvPr/>
        </p:nvSpPr>
        <p:spPr>
          <a:xfrm>
            <a:off x="8138160" y="234086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102" name="Shape 96"/>
          <p:cNvSpPr/>
          <p:nvPr/>
        </p:nvSpPr>
        <p:spPr>
          <a:xfrm>
            <a:off x="8750808" y="2340864"/>
            <a:ext cx="777240" cy="274320"/>
          </a:xfrm>
          <a:prstGeom prst="rect">
            <a:avLst/>
          </a:prstGeom>
          <a:solidFill>
            <a:srgbClr val="F1E8D3"/>
          </a:solidFill>
          <a:ln/>
        </p:spPr>
      </p:sp>
      <p:sp>
        <p:nvSpPr>
          <p:cNvPr id="103" name="Text 97"/>
          <p:cNvSpPr txBox="1"/>
          <p:nvPr/>
        </p:nvSpPr>
        <p:spPr>
          <a:xfrm>
            <a:off x="8796528" y="234086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4" name="Shape 98"/>
          <p:cNvSpPr/>
          <p:nvPr/>
        </p:nvSpPr>
        <p:spPr>
          <a:xfrm>
            <a:off x="9528048" y="2340864"/>
            <a:ext cx="749808" cy="274320"/>
          </a:xfrm>
          <a:prstGeom prst="rect">
            <a:avLst/>
          </a:prstGeom>
          <a:solidFill>
            <a:srgbClr val="F1E8D3"/>
          </a:solidFill>
          <a:ln/>
        </p:spPr>
      </p:sp>
      <p:sp>
        <p:nvSpPr>
          <p:cNvPr id="105" name="Text 99"/>
          <p:cNvSpPr txBox="1"/>
          <p:nvPr/>
        </p:nvSpPr>
        <p:spPr>
          <a:xfrm>
            <a:off x="9573768" y="234086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6" name="Shape 100"/>
          <p:cNvSpPr/>
          <p:nvPr/>
        </p:nvSpPr>
        <p:spPr>
          <a:xfrm>
            <a:off x="10277856" y="2340864"/>
            <a:ext cx="731520" cy="274320"/>
          </a:xfrm>
          <a:prstGeom prst="rect">
            <a:avLst/>
          </a:prstGeom>
          <a:solidFill>
            <a:srgbClr val="F1E8D3"/>
          </a:solidFill>
          <a:ln/>
        </p:spPr>
      </p:sp>
      <p:sp>
        <p:nvSpPr>
          <p:cNvPr id="107" name="Text 101"/>
          <p:cNvSpPr txBox="1"/>
          <p:nvPr/>
        </p:nvSpPr>
        <p:spPr>
          <a:xfrm>
            <a:off x="10323576" y="2340864"/>
            <a:ext cx="64008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08" name="Shape 102"/>
          <p:cNvSpPr/>
          <p:nvPr/>
        </p:nvSpPr>
        <p:spPr>
          <a:xfrm>
            <a:off x="11009376" y="2340864"/>
            <a:ext cx="749808" cy="274320"/>
          </a:xfrm>
          <a:prstGeom prst="rect">
            <a:avLst/>
          </a:prstGeom>
          <a:solidFill>
            <a:srgbClr val="F4F7FB"/>
          </a:solidFill>
          <a:ln/>
        </p:spPr>
      </p:sp>
      <p:sp>
        <p:nvSpPr>
          <p:cNvPr id="109" name="Text 103"/>
          <p:cNvSpPr txBox="1"/>
          <p:nvPr/>
        </p:nvSpPr>
        <p:spPr>
          <a:xfrm>
            <a:off x="11055096" y="234086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no</a:t>
            </a:r>
            <a:endParaRPr lang="en-US" sz="900" dirty="0"/>
          </a:p>
        </p:txBody>
      </p:sp>
      <p:sp>
        <p:nvSpPr>
          <p:cNvPr id="110" name="Shape 104"/>
          <p:cNvSpPr/>
          <p:nvPr/>
        </p:nvSpPr>
        <p:spPr>
          <a:xfrm>
            <a:off x="6126480" y="2615184"/>
            <a:ext cx="5632704" cy="0"/>
          </a:xfrm>
          <a:prstGeom prst="line">
            <a:avLst/>
          </a:prstGeom>
          <a:noFill/>
          <a:ln w="6350">
            <a:solidFill>
              <a:srgbClr val="E3E8E4"/>
            </a:solidFill>
            <a:prstDash val="solid"/>
          </a:ln>
        </p:spPr>
      </p:sp>
      <p:sp>
        <p:nvSpPr>
          <p:cNvPr id="111" name="Shape 105"/>
          <p:cNvSpPr/>
          <p:nvPr/>
        </p:nvSpPr>
        <p:spPr>
          <a:xfrm>
            <a:off x="6126480" y="2615184"/>
            <a:ext cx="1097280" cy="274320"/>
          </a:xfrm>
          <a:prstGeom prst="rect">
            <a:avLst/>
          </a:prstGeom>
          <a:solidFill>
            <a:srgbClr val="FFFFFF"/>
          </a:solidFill>
          <a:ln/>
        </p:spPr>
      </p:sp>
      <p:sp>
        <p:nvSpPr>
          <p:cNvPr id="112" name="Text 106"/>
          <p:cNvSpPr txBox="1"/>
          <p:nvPr/>
        </p:nvSpPr>
        <p:spPr>
          <a:xfrm>
            <a:off x="6172200" y="2615184"/>
            <a:ext cx="1005840" cy="274320"/>
          </a:xfrm>
          <a:prstGeom prst="rect">
            <a:avLst/>
          </a:prstGeom>
          <a:noFill/>
          <a:ln/>
        </p:spPr>
        <p:txBody>
          <a:bodyPr wrap="square" lIns="0" tIns="0" rIns="0" bIns="0" rtlCol="0" anchor="ctr"/>
          <a:lstStyle/>
          <a:p>
            <a:pPr algn="l" indent="0" marL="0">
              <a:buNone/>
            </a:pPr>
            <a:r>
              <a:rPr lang="en-US" sz="900" b="1" dirty="0">
                <a:solidFill>
                  <a:srgbClr val="1F2937"/>
                </a:solidFill>
                <a:latin typeface="Calibri" pitchFamily="34" charset="0"/>
                <a:ea typeface="Calibri" pitchFamily="34" charset="-122"/>
                <a:cs typeface="Calibri" pitchFamily="34" charset="-120"/>
              </a:rPr>
              <a:t>Teachmint</a:t>
            </a:r>
            <a:endParaRPr lang="en-US" sz="900" dirty="0"/>
          </a:p>
        </p:txBody>
      </p:sp>
      <p:sp>
        <p:nvSpPr>
          <p:cNvPr id="113" name="Shape 107"/>
          <p:cNvSpPr/>
          <p:nvPr/>
        </p:nvSpPr>
        <p:spPr>
          <a:xfrm>
            <a:off x="7223760" y="2615184"/>
            <a:ext cx="868680" cy="274320"/>
          </a:xfrm>
          <a:prstGeom prst="rect">
            <a:avLst/>
          </a:prstGeom>
          <a:solidFill>
            <a:srgbClr val="FFFFFF"/>
          </a:solidFill>
          <a:ln/>
        </p:spPr>
      </p:sp>
      <p:sp>
        <p:nvSpPr>
          <p:cNvPr id="114" name="Text 108"/>
          <p:cNvSpPr txBox="1"/>
          <p:nvPr/>
        </p:nvSpPr>
        <p:spPr>
          <a:xfrm>
            <a:off x="7269480" y="2615184"/>
            <a:ext cx="777240" cy="27432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₹20 to ₹40 (est.)</a:t>
            </a:r>
            <a:endParaRPr lang="en-US" sz="900" dirty="0"/>
          </a:p>
        </p:txBody>
      </p:sp>
      <p:sp>
        <p:nvSpPr>
          <p:cNvPr id="115" name="Shape 109"/>
          <p:cNvSpPr/>
          <p:nvPr/>
        </p:nvSpPr>
        <p:spPr>
          <a:xfrm>
            <a:off x="8092440" y="2615184"/>
            <a:ext cx="658368" cy="274320"/>
          </a:xfrm>
          <a:prstGeom prst="rect">
            <a:avLst/>
          </a:prstGeom>
          <a:solidFill>
            <a:srgbClr val="F1E8D3"/>
          </a:solidFill>
          <a:ln/>
        </p:spPr>
      </p:sp>
      <p:sp>
        <p:nvSpPr>
          <p:cNvPr id="116" name="Text 110"/>
          <p:cNvSpPr txBox="1"/>
          <p:nvPr/>
        </p:nvSpPr>
        <p:spPr>
          <a:xfrm>
            <a:off x="8138160" y="2615184"/>
            <a:ext cx="56692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17" name="Shape 111"/>
          <p:cNvSpPr/>
          <p:nvPr/>
        </p:nvSpPr>
        <p:spPr>
          <a:xfrm>
            <a:off x="8750808" y="2615184"/>
            <a:ext cx="777240" cy="274320"/>
          </a:xfrm>
          <a:prstGeom prst="rect">
            <a:avLst/>
          </a:prstGeom>
          <a:solidFill>
            <a:srgbClr val="F1E8D3"/>
          </a:solidFill>
          <a:ln/>
        </p:spPr>
      </p:sp>
      <p:sp>
        <p:nvSpPr>
          <p:cNvPr id="118" name="Text 112"/>
          <p:cNvSpPr txBox="1"/>
          <p:nvPr/>
        </p:nvSpPr>
        <p:spPr>
          <a:xfrm>
            <a:off x="8796528" y="2615184"/>
            <a:ext cx="685800"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19" name="Shape 113"/>
          <p:cNvSpPr/>
          <p:nvPr/>
        </p:nvSpPr>
        <p:spPr>
          <a:xfrm>
            <a:off x="9528048" y="2615184"/>
            <a:ext cx="749808" cy="274320"/>
          </a:xfrm>
          <a:prstGeom prst="rect">
            <a:avLst/>
          </a:prstGeom>
          <a:solidFill>
            <a:srgbClr val="D6E4F5"/>
          </a:solidFill>
          <a:ln/>
        </p:spPr>
      </p:sp>
      <p:sp>
        <p:nvSpPr>
          <p:cNvPr id="120" name="Text 114"/>
          <p:cNvSpPr txBox="1"/>
          <p:nvPr/>
        </p:nvSpPr>
        <p:spPr>
          <a:xfrm>
            <a:off x="9573768" y="261518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21" name="Shape 115"/>
          <p:cNvSpPr/>
          <p:nvPr/>
        </p:nvSpPr>
        <p:spPr>
          <a:xfrm>
            <a:off x="10277856" y="2615184"/>
            <a:ext cx="731520" cy="274320"/>
          </a:xfrm>
          <a:prstGeom prst="rect">
            <a:avLst/>
          </a:prstGeom>
          <a:solidFill>
            <a:srgbClr val="D6E4F5"/>
          </a:solidFill>
          <a:ln/>
        </p:spPr>
      </p:sp>
      <p:sp>
        <p:nvSpPr>
          <p:cNvPr id="122" name="Text 116"/>
          <p:cNvSpPr txBox="1"/>
          <p:nvPr/>
        </p:nvSpPr>
        <p:spPr>
          <a:xfrm>
            <a:off x="10323576" y="2615184"/>
            <a:ext cx="640080"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23" name="Shape 117"/>
          <p:cNvSpPr/>
          <p:nvPr/>
        </p:nvSpPr>
        <p:spPr>
          <a:xfrm>
            <a:off x="11009376" y="2615184"/>
            <a:ext cx="749808" cy="274320"/>
          </a:xfrm>
          <a:prstGeom prst="rect">
            <a:avLst/>
          </a:prstGeom>
          <a:solidFill>
            <a:srgbClr val="F1E8D3"/>
          </a:solidFill>
          <a:ln/>
        </p:spPr>
      </p:sp>
      <p:sp>
        <p:nvSpPr>
          <p:cNvPr id="124" name="Text 118"/>
          <p:cNvSpPr txBox="1"/>
          <p:nvPr/>
        </p:nvSpPr>
        <p:spPr>
          <a:xfrm>
            <a:off x="11055096" y="2615184"/>
            <a:ext cx="658368" cy="274320"/>
          </a:xfrm>
          <a:prstGeom prst="rect">
            <a:avLst/>
          </a:prstGeom>
          <a:noFill/>
          <a:ln/>
        </p:spPr>
        <p:txBody>
          <a:bodyPr wrap="square" lIns="0" tIns="0" rIns="0" bIns="0" rtlCol="0" anchor="ctr"/>
          <a:lstStyle/>
          <a:p>
            <a:pPr algn="ctr" indent="0" marL="0">
              <a:buNone/>
            </a:pPr>
            <a:r>
              <a:rPr lang="en-US" sz="900" b="1" dirty="0">
                <a:solidFill>
                  <a:srgbClr val="5B6573"/>
                </a:solidFill>
                <a:latin typeface="Calibri" pitchFamily="34" charset="0"/>
                <a:ea typeface="Calibri" pitchFamily="34" charset="-122"/>
                <a:cs typeface="Calibri" pitchFamily="34" charset="-120"/>
              </a:rPr>
              <a:t>?</a:t>
            </a:r>
            <a:endParaRPr lang="en-US" sz="900" dirty="0"/>
          </a:p>
        </p:txBody>
      </p:sp>
      <p:sp>
        <p:nvSpPr>
          <p:cNvPr id="125" name="Shape 119"/>
          <p:cNvSpPr/>
          <p:nvPr/>
        </p:nvSpPr>
        <p:spPr>
          <a:xfrm>
            <a:off x="6126480" y="2889504"/>
            <a:ext cx="5632704" cy="0"/>
          </a:xfrm>
          <a:prstGeom prst="line">
            <a:avLst/>
          </a:prstGeom>
          <a:noFill/>
          <a:ln w="6350">
            <a:solidFill>
              <a:srgbClr val="E3E8E4"/>
            </a:solidFill>
            <a:prstDash val="solid"/>
          </a:ln>
        </p:spPr>
      </p:sp>
      <p:sp>
        <p:nvSpPr>
          <p:cNvPr id="126" name="Shape 120"/>
          <p:cNvSpPr/>
          <p:nvPr/>
        </p:nvSpPr>
        <p:spPr>
          <a:xfrm>
            <a:off x="6126480" y="2889504"/>
            <a:ext cx="1097280" cy="274320"/>
          </a:xfrm>
          <a:prstGeom prst="rect">
            <a:avLst/>
          </a:prstGeom>
          <a:solidFill>
            <a:srgbClr val="FFFFFF"/>
          </a:solidFill>
          <a:ln/>
        </p:spPr>
      </p:sp>
      <p:sp>
        <p:nvSpPr>
          <p:cNvPr id="127" name="Text 121"/>
          <p:cNvSpPr txBox="1"/>
          <p:nvPr/>
        </p:nvSpPr>
        <p:spPr>
          <a:xfrm>
            <a:off x="6172200" y="2889504"/>
            <a:ext cx="1005840" cy="274320"/>
          </a:xfrm>
          <a:prstGeom prst="rect">
            <a:avLst/>
          </a:prstGeom>
          <a:noFill/>
          <a:ln/>
        </p:spPr>
        <p:txBody>
          <a:bodyPr wrap="square" lIns="0" tIns="0" rIns="0" bIns="0" rtlCol="0" anchor="ctr"/>
          <a:lstStyle/>
          <a:p>
            <a:pPr algn="l" indent="0" marL="0">
              <a:buNone/>
            </a:pPr>
            <a:r>
              <a:rPr lang="en-US" sz="900" b="1" dirty="0">
                <a:solidFill>
                  <a:srgbClr val="1F4A82"/>
                </a:solidFill>
                <a:latin typeface="Calibri" pitchFamily="34" charset="0"/>
                <a:ea typeface="Calibri" pitchFamily="34" charset="-122"/>
                <a:cs typeface="Calibri" pitchFamily="34" charset="-120"/>
              </a:rPr>
              <a:t>Pragati</a:t>
            </a:r>
            <a:endParaRPr lang="en-US" sz="900" dirty="0"/>
          </a:p>
        </p:txBody>
      </p:sp>
      <p:sp>
        <p:nvSpPr>
          <p:cNvPr id="128" name="Shape 122"/>
          <p:cNvSpPr/>
          <p:nvPr/>
        </p:nvSpPr>
        <p:spPr>
          <a:xfrm>
            <a:off x="7223760" y="2889504"/>
            <a:ext cx="868680" cy="274320"/>
          </a:xfrm>
          <a:prstGeom prst="rect">
            <a:avLst/>
          </a:prstGeom>
          <a:solidFill>
            <a:srgbClr val="FFFFFF"/>
          </a:solidFill>
          <a:ln/>
        </p:spPr>
      </p:sp>
      <p:sp>
        <p:nvSpPr>
          <p:cNvPr id="129" name="Text 123"/>
          <p:cNvSpPr txBox="1"/>
          <p:nvPr/>
        </p:nvSpPr>
        <p:spPr>
          <a:xfrm>
            <a:off x="7269480" y="2889504"/>
            <a:ext cx="777240" cy="274320"/>
          </a:xfrm>
          <a:prstGeom prst="rect">
            <a:avLst/>
          </a:prstGeom>
          <a:noFill/>
          <a:ln/>
        </p:spPr>
        <p:txBody>
          <a:bodyPr wrap="square" lIns="0" tIns="0" rIns="0" bIns="0" rtlCol="0" anchor="ctr"/>
          <a:lstStyle/>
          <a:p>
            <a:pPr algn="ctr" indent="0" marL="0">
              <a:buNone/>
            </a:pPr>
            <a:r>
              <a:rPr lang="en-US" sz="900" b="1" dirty="0">
                <a:solidFill>
                  <a:srgbClr val="1F2937"/>
                </a:solidFill>
                <a:latin typeface="Calibri" pitchFamily="34" charset="0"/>
                <a:ea typeface="Calibri" pitchFamily="34" charset="-122"/>
                <a:cs typeface="Calibri" pitchFamily="34" charset="-120"/>
              </a:rPr>
              <a:t>₹30</a:t>
            </a:r>
            <a:endParaRPr lang="en-US" sz="900" dirty="0"/>
          </a:p>
        </p:txBody>
      </p:sp>
      <p:sp>
        <p:nvSpPr>
          <p:cNvPr id="130" name="Shape 124"/>
          <p:cNvSpPr/>
          <p:nvPr/>
        </p:nvSpPr>
        <p:spPr>
          <a:xfrm>
            <a:off x="8092440" y="2889504"/>
            <a:ext cx="658368" cy="274320"/>
          </a:xfrm>
          <a:prstGeom prst="rect">
            <a:avLst/>
          </a:prstGeom>
          <a:solidFill>
            <a:srgbClr val="F1E8D3"/>
          </a:solidFill>
          <a:ln/>
        </p:spPr>
      </p:sp>
      <p:sp>
        <p:nvSpPr>
          <p:cNvPr id="131" name="Text 125"/>
          <p:cNvSpPr txBox="1"/>
          <p:nvPr/>
        </p:nvSpPr>
        <p:spPr>
          <a:xfrm>
            <a:off x="8138160" y="2889504"/>
            <a:ext cx="566928" cy="274320"/>
          </a:xfrm>
          <a:prstGeom prst="rect">
            <a:avLst/>
          </a:prstGeom>
          <a:noFill/>
          <a:ln/>
        </p:spPr>
        <p:txBody>
          <a:bodyPr wrap="square" lIns="0" tIns="0" rIns="0" bIns="0" rtlCol="0" anchor="ctr"/>
          <a:lstStyle/>
          <a:p>
            <a:pPr algn="ctr" indent="0" marL="0">
              <a:buNone/>
            </a:pPr>
            <a:r>
              <a:rPr lang="en-US" sz="900" b="1" dirty="0">
                <a:solidFill>
                  <a:srgbClr val="1F2937"/>
                </a:solidFill>
                <a:latin typeface="Calibri" pitchFamily="34" charset="0"/>
                <a:ea typeface="Calibri" pitchFamily="34" charset="-122"/>
                <a:cs typeface="Calibri" pitchFamily="34" charset="-120"/>
              </a:rPr>
              <a:t>designed</a:t>
            </a:r>
            <a:endParaRPr lang="en-US" sz="900" dirty="0"/>
          </a:p>
        </p:txBody>
      </p:sp>
      <p:sp>
        <p:nvSpPr>
          <p:cNvPr id="132" name="Shape 126"/>
          <p:cNvSpPr/>
          <p:nvPr/>
        </p:nvSpPr>
        <p:spPr>
          <a:xfrm>
            <a:off x="8750808" y="2889504"/>
            <a:ext cx="777240" cy="274320"/>
          </a:xfrm>
          <a:prstGeom prst="rect">
            <a:avLst/>
          </a:prstGeom>
          <a:solidFill>
            <a:srgbClr val="D6E4F5"/>
          </a:solidFill>
          <a:ln/>
        </p:spPr>
      </p:sp>
      <p:sp>
        <p:nvSpPr>
          <p:cNvPr id="133" name="Text 127"/>
          <p:cNvSpPr txBox="1"/>
          <p:nvPr/>
        </p:nvSpPr>
        <p:spPr>
          <a:xfrm>
            <a:off x="8796528" y="2889504"/>
            <a:ext cx="685800"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4" name="Shape 128"/>
          <p:cNvSpPr/>
          <p:nvPr/>
        </p:nvSpPr>
        <p:spPr>
          <a:xfrm>
            <a:off x="9528048" y="2889504"/>
            <a:ext cx="749808" cy="274320"/>
          </a:xfrm>
          <a:prstGeom prst="rect">
            <a:avLst/>
          </a:prstGeom>
          <a:solidFill>
            <a:srgbClr val="D6E4F5"/>
          </a:solidFill>
          <a:ln/>
        </p:spPr>
      </p:sp>
      <p:sp>
        <p:nvSpPr>
          <p:cNvPr id="135" name="Text 129"/>
          <p:cNvSpPr txBox="1"/>
          <p:nvPr/>
        </p:nvSpPr>
        <p:spPr>
          <a:xfrm>
            <a:off x="9573768" y="288950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6" name="Shape 130"/>
          <p:cNvSpPr/>
          <p:nvPr/>
        </p:nvSpPr>
        <p:spPr>
          <a:xfrm>
            <a:off x="10277856" y="2889504"/>
            <a:ext cx="731520" cy="274320"/>
          </a:xfrm>
          <a:prstGeom prst="rect">
            <a:avLst/>
          </a:prstGeom>
          <a:solidFill>
            <a:srgbClr val="D6E4F5"/>
          </a:solidFill>
          <a:ln/>
        </p:spPr>
      </p:sp>
      <p:sp>
        <p:nvSpPr>
          <p:cNvPr id="137" name="Text 131"/>
          <p:cNvSpPr txBox="1"/>
          <p:nvPr/>
        </p:nvSpPr>
        <p:spPr>
          <a:xfrm>
            <a:off x="10323576" y="2889504"/>
            <a:ext cx="640080"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38" name="Shape 132"/>
          <p:cNvSpPr/>
          <p:nvPr/>
        </p:nvSpPr>
        <p:spPr>
          <a:xfrm>
            <a:off x="11009376" y="2889504"/>
            <a:ext cx="749808" cy="274320"/>
          </a:xfrm>
          <a:prstGeom prst="rect">
            <a:avLst/>
          </a:prstGeom>
          <a:solidFill>
            <a:srgbClr val="D6E4F5"/>
          </a:solidFill>
          <a:ln/>
        </p:spPr>
      </p:sp>
      <p:sp>
        <p:nvSpPr>
          <p:cNvPr id="139" name="Text 133"/>
          <p:cNvSpPr txBox="1"/>
          <p:nvPr/>
        </p:nvSpPr>
        <p:spPr>
          <a:xfrm>
            <a:off x="11055096" y="2889504"/>
            <a:ext cx="658368" cy="274320"/>
          </a:xfrm>
          <a:prstGeom prst="rect">
            <a:avLst/>
          </a:prstGeom>
          <a:noFill/>
          <a:ln/>
        </p:spPr>
        <p:txBody>
          <a:bodyPr wrap="square" lIns="0" tIns="0" rIns="0" bIns="0" rtlCol="0" anchor="ctr"/>
          <a:lstStyle/>
          <a:p>
            <a:pPr algn="ctr" indent="0" marL="0">
              <a:buNone/>
            </a:pPr>
            <a:r>
              <a:rPr lang="en-US" sz="900" b="1" dirty="0">
                <a:solidFill>
                  <a:srgbClr val="1F4A82"/>
                </a:solidFill>
                <a:latin typeface="Calibri" pitchFamily="34" charset="0"/>
                <a:ea typeface="Calibri" pitchFamily="34" charset="-122"/>
                <a:cs typeface="Calibri" pitchFamily="34" charset="-120"/>
              </a:rPr>
              <a:t>yes</a:t>
            </a:r>
            <a:endParaRPr lang="en-US" sz="900" dirty="0"/>
          </a:p>
        </p:txBody>
      </p:sp>
      <p:sp>
        <p:nvSpPr>
          <p:cNvPr id="140" name="Shape 134"/>
          <p:cNvSpPr/>
          <p:nvPr/>
        </p:nvSpPr>
        <p:spPr>
          <a:xfrm>
            <a:off x="6126480" y="3163824"/>
            <a:ext cx="5632704" cy="0"/>
          </a:xfrm>
          <a:prstGeom prst="line">
            <a:avLst/>
          </a:prstGeom>
          <a:noFill/>
          <a:ln w="6350">
            <a:solidFill>
              <a:srgbClr val="E3E8E4"/>
            </a:solidFill>
            <a:prstDash val="solid"/>
          </a:ln>
        </p:spPr>
      </p:sp>
      <p:sp>
        <p:nvSpPr>
          <p:cNvPr id="141" name="Text 135"/>
          <p:cNvSpPr txBox="1"/>
          <p:nvPr/>
        </p:nvSpPr>
        <p:spPr>
          <a:xfrm>
            <a:off x="6126480" y="3182112"/>
            <a:ext cx="5653735" cy="182880"/>
          </a:xfrm>
          <a:prstGeom prst="rect">
            <a:avLst/>
          </a:prstGeom>
          <a:noFill/>
          <a:ln/>
        </p:spPr>
        <p:txBody>
          <a:bodyPr wrap="square" lIns="0" tIns="0" rIns="0" bIns="0" rtlCol="0" anchor="t"/>
          <a:lstStyle/>
          <a:p>
            <a:pPr algn="l" indent="0" marL="0">
              <a:buNone/>
            </a:pPr>
            <a:r>
              <a:rPr lang="en-US" sz="800" i="1" dirty="0">
                <a:solidFill>
                  <a:srgbClr val="5B6573"/>
                </a:solidFill>
                <a:latin typeface="Calibri" pitchFamily="34" charset="0"/>
                <a:ea typeface="Calibri" pitchFamily="34" charset="-122"/>
                <a:cs typeface="Calibri" pitchFamily="34" charset="-120"/>
              </a:rPr>
              <a:t>yes: shown in the listing · no: not shown · ?: could not be verified from the listing</a:t>
            </a:r>
            <a:endParaRPr lang="en-US" sz="800" dirty="0"/>
          </a:p>
        </p:txBody>
      </p:sp>
      <p:sp>
        <p:nvSpPr>
          <p:cNvPr id="142" name="Shape 136"/>
          <p:cNvSpPr/>
          <p:nvPr/>
        </p:nvSpPr>
        <p:spPr>
          <a:xfrm>
            <a:off x="6126480" y="3438144"/>
            <a:ext cx="256032" cy="256032"/>
          </a:xfrm>
          <a:prstGeom prst="rect">
            <a:avLst/>
          </a:prstGeom>
          <a:solidFill>
            <a:srgbClr val="1F4A82"/>
          </a:solidFill>
          <a:ln/>
        </p:spPr>
      </p:sp>
      <p:sp>
        <p:nvSpPr>
          <p:cNvPr id="143" name="Text 137"/>
          <p:cNvSpPr txBox="1"/>
          <p:nvPr/>
        </p:nvSpPr>
        <p:spPr>
          <a:xfrm>
            <a:off x="6126480" y="3438144"/>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44" name="Text 138"/>
          <p:cNvSpPr txBox="1"/>
          <p:nvPr/>
        </p:nvSpPr>
        <p:spPr>
          <a:xfrm>
            <a:off x="6455664" y="3438144"/>
            <a:ext cx="532455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THE MOAT, AND ITS LIMITS</a:t>
            </a:r>
            <a:endParaRPr lang="en-US" sz="1200" dirty="0"/>
          </a:p>
        </p:txBody>
      </p:sp>
      <p:sp>
        <p:nvSpPr>
          <p:cNvPr id="145" name="Shape 139"/>
          <p:cNvSpPr/>
          <p:nvPr/>
        </p:nvSpPr>
        <p:spPr>
          <a:xfrm>
            <a:off x="6126480" y="3749040"/>
            <a:ext cx="1525905" cy="457200"/>
          </a:xfrm>
          <a:prstGeom prst="homePlate">
            <a:avLst/>
          </a:prstGeom>
          <a:solidFill>
            <a:srgbClr val="1F4A82"/>
          </a:solidFill>
          <a:ln w="25400">
            <a:solidFill>
              <a:srgbClr val="FFFFFF"/>
            </a:solidFill>
            <a:prstDash val="solid"/>
          </a:ln>
        </p:spPr>
      </p:sp>
      <p:sp>
        <p:nvSpPr>
          <p:cNvPr id="146" name="Text 140"/>
          <p:cNvSpPr txBox="1"/>
          <p:nvPr/>
        </p:nvSpPr>
        <p:spPr>
          <a:xfrm>
            <a:off x="6254496" y="3749040"/>
            <a:ext cx="119672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More institutes</a:t>
            </a:r>
            <a:endParaRPr lang="en-US" sz="900" dirty="0"/>
          </a:p>
        </p:txBody>
      </p:sp>
      <p:sp>
        <p:nvSpPr>
          <p:cNvPr id="147" name="Shape 141"/>
          <p:cNvSpPr/>
          <p:nvPr/>
        </p:nvSpPr>
        <p:spPr>
          <a:xfrm>
            <a:off x="7502423" y="3749040"/>
            <a:ext cx="1525905" cy="457200"/>
          </a:xfrm>
          <a:prstGeom prst="chevron">
            <a:avLst/>
          </a:prstGeom>
          <a:solidFill>
            <a:srgbClr val="2E6DB4"/>
          </a:solidFill>
          <a:ln w="25400">
            <a:solidFill>
              <a:srgbClr val="FFFFFF"/>
            </a:solidFill>
            <a:prstDash val="solid"/>
          </a:ln>
        </p:spPr>
      </p:sp>
      <p:sp>
        <p:nvSpPr>
          <p:cNvPr id="148" name="Text 142"/>
          <p:cNvSpPr txBox="1"/>
          <p:nvPr/>
        </p:nvSpPr>
        <p:spPr>
          <a:xfrm>
            <a:off x="7721879" y="3749040"/>
            <a:ext cx="110528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More answers per question</a:t>
            </a:r>
            <a:endParaRPr lang="en-US" sz="900" dirty="0"/>
          </a:p>
        </p:txBody>
      </p:sp>
      <p:sp>
        <p:nvSpPr>
          <p:cNvPr id="149" name="Shape 143"/>
          <p:cNvSpPr/>
          <p:nvPr/>
        </p:nvSpPr>
        <p:spPr>
          <a:xfrm>
            <a:off x="8878367" y="3749040"/>
            <a:ext cx="1525905" cy="457200"/>
          </a:xfrm>
          <a:prstGeom prst="chevron">
            <a:avLst/>
          </a:prstGeom>
          <a:solidFill>
            <a:srgbClr val="1F4A82"/>
          </a:solidFill>
          <a:ln w="25400">
            <a:solidFill>
              <a:srgbClr val="FFFFFF"/>
            </a:solidFill>
            <a:prstDash val="solid"/>
          </a:ln>
        </p:spPr>
      </p:sp>
      <p:sp>
        <p:nvSpPr>
          <p:cNvPr id="150" name="Text 144"/>
          <p:cNvSpPr txBox="1"/>
          <p:nvPr/>
        </p:nvSpPr>
        <p:spPr>
          <a:xfrm>
            <a:off x="9097823" y="3749040"/>
            <a:ext cx="110528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Sharper difficulty, wrong keys caught</a:t>
            </a:r>
            <a:endParaRPr lang="en-US" sz="900" dirty="0"/>
          </a:p>
        </p:txBody>
      </p:sp>
      <p:sp>
        <p:nvSpPr>
          <p:cNvPr id="151" name="Shape 145"/>
          <p:cNvSpPr/>
          <p:nvPr/>
        </p:nvSpPr>
        <p:spPr>
          <a:xfrm>
            <a:off x="10254310" y="3749040"/>
            <a:ext cx="1525905" cy="457200"/>
          </a:xfrm>
          <a:prstGeom prst="chevron">
            <a:avLst/>
          </a:prstGeom>
          <a:solidFill>
            <a:srgbClr val="5B8DC9"/>
          </a:solidFill>
          <a:ln w="25400">
            <a:solidFill>
              <a:srgbClr val="FFFFFF"/>
            </a:solidFill>
            <a:prstDash val="solid"/>
          </a:ln>
        </p:spPr>
      </p:sp>
      <p:sp>
        <p:nvSpPr>
          <p:cNvPr id="152" name="Text 146"/>
          <p:cNvSpPr txBox="1"/>
          <p:nvPr/>
        </p:nvSpPr>
        <p:spPr>
          <a:xfrm>
            <a:off x="10473766" y="3749040"/>
            <a:ext cx="1105281"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Better lists and reports</a:t>
            </a:r>
            <a:endParaRPr lang="en-US" sz="900" dirty="0"/>
          </a:p>
        </p:txBody>
      </p:sp>
      <p:sp>
        <p:nvSpPr>
          <p:cNvPr id="153" name="Text 147"/>
          <p:cNvSpPr txBox="1"/>
          <p:nvPr/>
        </p:nvSpPr>
        <p:spPr>
          <a:xfrm>
            <a:off x="6126480" y="4261104"/>
            <a:ext cx="5653735" cy="457200"/>
          </a:xfrm>
          <a:prstGeom prst="rect">
            <a:avLst/>
          </a:prstGeom>
          <a:noFill/>
          <a:ln/>
        </p:spPr>
        <p:txBody>
          <a:bodyPr wrap="square" lIns="0" tIns="0" rIns="0" bIns="0" rtlCol="0" anchor="t"/>
          <a:lstStyle/>
          <a:p>
            <a:pPr algn="l" indent="0" marL="0">
              <a:buNone/>
            </a:pPr>
            <a:r>
              <a:rPr lang="en-US" sz="900" b="1" dirty="0">
                <a:solidFill>
                  <a:srgbClr val="1F4A82"/>
                </a:solidFill>
                <a:latin typeface="Calibri" pitchFamily="34" charset="0"/>
                <a:ea typeface="Calibri" pitchFamily="34" charset="-122"/>
                <a:cs typeface="Calibri" pitchFamily="34" charset="-120"/>
              </a:rPr>
              <a:t>Limit: </a:t>
            </a:r>
            <a:pPr algn="l" indent="0" marL="0">
              <a:buNone/>
            </a:pPr>
            <a:r>
              <a:rPr lang="en-US" sz="900" dirty="0">
                <a:solidFill>
                  <a:srgbClr val="1F2937"/>
                </a:solidFill>
                <a:latin typeface="Calibri" pitchFamily="34" charset="0"/>
                <a:ea typeface="Calibri" pitchFamily="34" charset="-122"/>
                <a:cs typeface="Calibri" pitchFamily="34" charset="-120"/>
              </a:rPr>
              <a:t>until the shared bank covers the syllabus, early wins must come from staff time and parent reports, not model accuracy. Only item statistics are pooled; raw records stay with each institute.</a:t>
            </a:r>
            <a:endParaRPr lang="en-US" sz="900" dirty="0"/>
          </a:p>
        </p:txBody>
      </p:sp>
      <p:sp>
        <p:nvSpPr>
          <p:cNvPr id="154" name="Shape 148"/>
          <p:cNvSpPr/>
          <p:nvPr/>
        </p:nvSpPr>
        <p:spPr>
          <a:xfrm>
            <a:off x="411480" y="4846320"/>
            <a:ext cx="256032" cy="256032"/>
          </a:xfrm>
          <a:prstGeom prst="rect">
            <a:avLst/>
          </a:prstGeom>
          <a:solidFill>
            <a:srgbClr val="1F4A82"/>
          </a:solidFill>
          <a:ln/>
        </p:spPr>
      </p:sp>
      <p:sp>
        <p:nvSpPr>
          <p:cNvPr id="155" name="Text 149"/>
          <p:cNvSpPr txBox="1"/>
          <p:nvPr/>
        </p:nvSpPr>
        <p:spPr>
          <a:xfrm>
            <a:off x="411480" y="484632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156" name="Text 150"/>
          <p:cNvSpPr txBox="1"/>
          <p:nvPr/>
        </p:nvSpPr>
        <p:spPr>
          <a:xfrm>
            <a:off x="740664" y="4846320"/>
            <a:ext cx="1103955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ROADMAP</a:t>
            </a:r>
            <a:endParaRPr lang="en-US" sz="1200" dirty="0"/>
          </a:p>
        </p:txBody>
      </p:sp>
      <p:sp>
        <p:nvSpPr>
          <p:cNvPr id="157" name="Shape 151"/>
          <p:cNvSpPr/>
          <p:nvPr/>
        </p:nvSpPr>
        <p:spPr>
          <a:xfrm>
            <a:off x="411480" y="5358384"/>
            <a:ext cx="11368735" cy="36576"/>
          </a:xfrm>
          <a:prstGeom prst="rect">
            <a:avLst/>
          </a:prstGeom>
          <a:solidFill>
            <a:srgbClr val="C9D6E8"/>
          </a:solidFill>
          <a:ln/>
        </p:spPr>
      </p:sp>
      <p:sp>
        <p:nvSpPr>
          <p:cNvPr id="158" name="Shape 152"/>
          <p:cNvSpPr/>
          <p:nvPr/>
        </p:nvSpPr>
        <p:spPr>
          <a:xfrm>
            <a:off x="429768" y="5212080"/>
            <a:ext cx="1839925" cy="91440"/>
          </a:xfrm>
          <a:prstGeom prst="rect">
            <a:avLst/>
          </a:prstGeom>
          <a:solidFill>
            <a:srgbClr val="1F4A82"/>
          </a:solidFill>
          <a:ln/>
        </p:spPr>
      </p:sp>
      <p:sp>
        <p:nvSpPr>
          <p:cNvPr id="159" name="Shape 153"/>
          <p:cNvSpPr/>
          <p:nvPr/>
        </p:nvSpPr>
        <p:spPr>
          <a:xfrm>
            <a:off x="429768" y="5303520"/>
            <a:ext cx="128016" cy="128016"/>
          </a:xfrm>
          <a:prstGeom prst="ellipse">
            <a:avLst/>
          </a:prstGeom>
          <a:solidFill>
            <a:srgbClr val="1F4A82"/>
          </a:solidFill>
          <a:ln w="19050">
            <a:solidFill>
              <a:srgbClr val="1F4A82"/>
            </a:solidFill>
            <a:prstDash val="solid"/>
          </a:ln>
        </p:spPr>
      </p:sp>
      <p:sp>
        <p:nvSpPr>
          <p:cNvPr id="160" name="Text 154"/>
          <p:cNvSpPr txBox="1"/>
          <p:nvPr/>
        </p:nvSpPr>
        <p:spPr>
          <a:xfrm>
            <a:off x="612648"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Oct 2026</a:t>
            </a:r>
            <a:endParaRPr lang="en-US" sz="1000" dirty="0"/>
          </a:p>
        </p:txBody>
      </p:sp>
      <p:sp>
        <p:nvSpPr>
          <p:cNvPr id="161" name="Text 155"/>
          <p:cNvSpPr txBox="1"/>
          <p:nvPr/>
        </p:nvSpPr>
        <p:spPr>
          <a:xfrm>
            <a:off x="612648"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Public-data validation, synthetic pipeline, 116 tests</a:t>
            </a:r>
            <a:endParaRPr lang="en-US" sz="900" dirty="0"/>
          </a:p>
        </p:txBody>
      </p:sp>
      <p:sp>
        <p:nvSpPr>
          <p:cNvPr id="162" name="Shape 156"/>
          <p:cNvSpPr/>
          <p:nvPr/>
        </p:nvSpPr>
        <p:spPr>
          <a:xfrm>
            <a:off x="2324557" y="5212080"/>
            <a:ext cx="1839925" cy="91440"/>
          </a:xfrm>
          <a:prstGeom prst="rect">
            <a:avLst/>
          </a:prstGeom>
          <a:solidFill>
            <a:srgbClr val="2E6DB4"/>
          </a:solidFill>
          <a:ln/>
        </p:spPr>
      </p:sp>
      <p:sp>
        <p:nvSpPr>
          <p:cNvPr id="163" name="Shape 157"/>
          <p:cNvSpPr/>
          <p:nvPr/>
        </p:nvSpPr>
        <p:spPr>
          <a:xfrm>
            <a:off x="2324557" y="5303520"/>
            <a:ext cx="128016" cy="128016"/>
          </a:xfrm>
          <a:prstGeom prst="ellipse">
            <a:avLst/>
          </a:prstGeom>
          <a:solidFill>
            <a:srgbClr val="FFFFFF"/>
          </a:solidFill>
          <a:ln w="19050">
            <a:solidFill>
              <a:srgbClr val="1F4A82"/>
            </a:solidFill>
            <a:prstDash val="solid"/>
          </a:ln>
        </p:spPr>
      </p:sp>
      <p:sp>
        <p:nvSpPr>
          <p:cNvPr id="164" name="Text 158"/>
          <p:cNvSpPr txBox="1"/>
          <p:nvPr/>
        </p:nvSpPr>
        <p:spPr>
          <a:xfrm>
            <a:off x="2507437"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Round 2</a:t>
            </a:r>
            <a:endParaRPr lang="en-US" sz="1000" dirty="0"/>
          </a:p>
        </p:txBody>
      </p:sp>
      <p:sp>
        <p:nvSpPr>
          <p:cNvPr id="165" name="Text 159"/>
          <p:cNvSpPr txBox="1"/>
          <p:nvPr/>
        </p:nvSpPr>
        <p:spPr>
          <a:xfrm>
            <a:off x="2507437"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Working prototype; judges change the inputs live</a:t>
            </a:r>
            <a:endParaRPr lang="en-US" sz="900" dirty="0"/>
          </a:p>
        </p:txBody>
      </p:sp>
      <p:sp>
        <p:nvSpPr>
          <p:cNvPr id="166" name="Shape 160"/>
          <p:cNvSpPr/>
          <p:nvPr/>
        </p:nvSpPr>
        <p:spPr>
          <a:xfrm>
            <a:off x="4219346" y="5212080"/>
            <a:ext cx="1839925" cy="91440"/>
          </a:xfrm>
          <a:prstGeom prst="rect">
            <a:avLst/>
          </a:prstGeom>
          <a:solidFill>
            <a:srgbClr val="2E6DB4"/>
          </a:solidFill>
          <a:ln/>
        </p:spPr>
      </p:sp>
      <p:sp>
        <p:nvSpPr>
          <p:cNvPr id="167" name="Shape 161"/>
          <p:cNvSpPr/>
          <p:nvPr/>
        </p:nvSpPr>
        <p:spPr>
          <a:xfrm>
            <a:off x="4219346" y="5303520"/>
            <a:ext cx="128016" cy="128016"/>
          </a:xfrm>
          <a:prstGeom prst="ellipse">
            <a:avLst/>
          </a:prstGeom>
          <a:solidFill>
            <a:srgbClr val="FFFFFF"/>
          </a:solidFill>
          <a:ln w="19050">
            <a:solidFill>
              <a:srgbClr val="1F4A82"/>
            </a:solidFill>
            <a:prstDash val="solid"/>
          </a:ln>
        </p:spPr>
      </p:sp>
      <p:sp>
        <p:nvSpPr>
          <p:cNvPr id="168" name="Text 162"/>
          <p:cNvSpPr txBox="1"/>
          <p:nvPr/>
        </p:nvSpPr>
        <p:spPr>
          <a:xfrm>
            <a:off x="4402226"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Jan to Mar 2027</a:t>
            </a:r>
            <a:endParaRPr lang="en-US" sz="1000" dirty="0"/>
          </a:p>
        </p:txBody>
      </p:sp>
      <p:sp>
        <p:nvSpPr>
          <p:cNvPr id="169" name="Text 163"/>
          <p:cNvSpPr txBox="1"/>
          <p:nvPr/>
        </p:nvSpPr>
        <p:spPr>
          <a:xfrm>
            <a:off x="4402226"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Retro-pilots in Patna</a:t>
            </a:r>
            <a:endParaRPr lang="en-US" sz="900" dirty="0"/>
          </a:p>
        </p:txBody>
      </p:sp>
      <p:sp>
        <p:nvSpPr>
          <p:cNvPr id="170" name="Shape 164"/>
          <p:cNvSpPr/>
          <p:nvPr/>
        </p:nvSpPr>
        <p:spPr>
          <a:xfrm>
            <a:off x="6114136" y="5212080"/>
            <a:ext cx="1839925" cy="91440"/>
          </a:xfrm>
          <a:prstGeom prst="rect">
            <a:avLst/>
          </a:prstGeom>
          <a:solidFill>
            <a:srgbClr val="2E6DB4"/>
          </a:solidFill>
          <a:ln/>
        </p:spPr>
      </p:sp>
      <p:sp>
        <p:nvSpPr>
          <p:cNvPr id="171" name="Shape 165"/>
          <p:cNvSpPr/>
          <p:nvPr/>
        </p:nvSpPr>
        <p:spPr>
          <a:xfrm>
            <a:off x="6114136" y="5303520"/>
            <a:ext cx="128016" cy="128016"/>
          </a:xfrm>
          <a:prstGeom prst="ellipse">
            <a:avLst/>
          </a:prstGeom>
          <a:solidFill>
            <a:srgbClr val="FFFFFF"/>
          </a:solidFill>
          <a:ln w="19050">
            <a:solidFill>
              <a:srgbClr val="1F4A82"/>
            </a:solidFill>
            <a:prstDash val="solid"/>
          </a:ln>
        </p:spPr>
      </p:sp>
      <p:sp>
        <p:nvSpPr>
          <p:cNvPr id="172" name="Text 166"/>
          <p:cNvSpPr txBox="1"/>
          <p:nvPr/>
        </p:nvSpPr>
        <p:spPr>
          <a:xfrm>
            <a:off x="6297016"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Apr 2027</a:t>
            </a:r>
            <a:endParaRPr lang="en-US" sz="1000" dirty="0"/>
          </a:p>
        </p:txBody>
      </p:sp>
      <p:sp>
        <p:nvSpPr>
          <p:cNvPr id="173" name="Text 167"/>
          <p:cNvSpPr txBox="1"/>
          <p:nvPr/>
        </p:nvSpPr>
        <p:spPr>
          <a:xfrm>
            <a:off x="6297016"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Paid pilots start with the session</a:t>
            </a:r>
            <a:endParaRPr lang="en-US" sz="900" dirty="0"/>
          </a:p>
        </p:txBody>
      </p:sp>
      <p:sp>
        <p:nvSpPr>
          <p:cNvPr id="174" name="Shape 168"/>
          <p:cNvSpPr/>
          <p:nvPr/>
        </p:nvSpPr>
        <p:spPr>
          <a:xfrm>
            <a:off x="8008925" y="5212080"/>
            <a:ext cx="1839925" cy="91440"/>
          </a:xfrm>
          <a:prstGeom prst="rect">
            <a:avLst/>
          </a:prstGeom>
          <a:solidFill>
            <a:srgbClr val="2E6DB4"/>
          </a:solidFill>
          <a:ln/>
        </p:spPr>
      </p:sp>
      <p:sp>
        <p:nvSpPr>
          <p:cNvPr id="175" name="Shape 169"/>
          <p:cNvSpPr/>
          <p:nvPr/>
        </p:nvSpPr>
        <p:spPr>
          <a:xfrm>
            <a:off x="8008925" y="5303520"/>
            <a:ext cx="128016" cy="128016"/>
          </a:xfrm>
          <a:prstGeom prst="ellipse">
            <a:avLst/>
          </a:prstGeom>
          <a:solidFill>
            <a:srgbClr val="FFFFFF"/>
          </a:solidFill>
          <a:ln w="19050">
            <a:solidFill>
              <a:srgbClr val="1F4A82"/>
            </a:solidFill>
            <a:prstDash val="solid"/>
          </a:ln>
        </p:spPr>
      </p:sp>
      <p:sp>
        <p:nvSpPr>
          <p:cNvPr id="176" name="Text 170"/>
          <p:cNvSpPr txBox="1"/>
          <p:nvPr/>
        </p:nvSpPr>
        <p:spPr>
          <a:xfrm>
            <a:off x="8191805"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Jun 2027</a:t>
            </a:r>
            <a:endParaRPr lang="en-US" sz="1000" dirty="0"/>
          </a:p>
        </p:txBody>
      </p:sp>
      <p:sp>
        <p:nvSpPr>
          <p:cNvPr id="177" name="Text 171"/>
          <p:cNvSpPr txBox="1"/>
          <p:nvPr/>
        </p:nvSpPr>
        <p:spPr>
          <a:xfrm>
            <a:off x="8191805"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Publish what worked; fix the percentile table</a:t>
            </a:r>
            <a:endParaRPr lang="en-US" sz="900" dirty="0"/>
          </a:p>
        </p:txBody>
      </p:sp>
      <p:sp>
        <p:nvSpPr>
          <p:cNvPr id="178" name="Shape 172"/>
          <p:cNvSpPr/>
          <p:nvPr/>
        </p:nvSpPr>
        <p:spPr>
          <a:xfrm>
            <a:off x="9903714" y="5212080"/>
            <a:ext cx="1839925" cy="91440"/>
          </a:xfrm>
          <a:prstGeom prst="rect">
            <a:avLst/>
          </a:prstGeom>
          <a:solidFill>
            <a:srgbClr val="2E6DB4"/>
          </a:solidFill>
          <a:ln/>
        </p:spPr>
      </p:sp>
      <p:sp>
        <p:nvSpPr>
          <p:cNvPr id="179" name="Shape 173"/>
          <p:cNvSpPr/>
          <p:nvPr/>
        </p:nvSpPr>
        <p:spPr>
          <a:xfrm>
            <a:off x="9903714" y="5303520"/>
            <a:ext cx="128016" cy="128016"/>
          </a:xfrm>
          <a:prstGeom prst="ellipse">
            <a:avLst/>
          </a:prstGeom>
          <a:solidFill>
            <a:srgbClr val="FFFFFF"/>
          </a:solidFill>
          <a:ln w="19050">
            <a:solidFill>
              <a:srgbClr val="1F4A82"/>
            </a:solidFill>
            <a:prstDash val="solid"/>
          </a:ln>
        </p:spPr>
      </p:sp>
      <p:sp>
        <p:nvSpPr>
          <p:cNvPr id="180" name="Text 174"/>
          <p:cNvSpPr txBox="1"/>
          <p:nvPr/>
        </p:nvSpPr>
        <p:spPr>
          <a:xfrm>
            <a:off x="10086594" y="5468112"/>
            <a:ext cx="1657045" cy="219456"/>
          </a:xfrm>
          <a:prstGeom prst="rect">
            <a:avLst/>
          </a:prstGeom>
          <a:noFill/>
          <a:ln/>
        </p:spPr>
        <p:txBody>
          <a:bodyPr wrap="square" lIns="0" tIns="0" rIns="0" bIns="0" rtlCol="0" anchor="ctr"/>
          <a:lstStyle/>
          <a:p>
            <a:pPr algn="l" indent="0" marL="0">
              <a:buNone/>
            </a:pPr>
            <a:r>
              <a:rPr lang="en-US" sz="1000" b="1" dirty="0">
                <a:solidFill>
                  <a:srgbClr val="1F4A82"/>
                </a:solidFill>
                <a:latin typeface="Calibri" pitchFamily="34" charset="0"/>
                <a:ea typeface="Calibri" pitchFamily="34" charset="-122"/>
                <a:cs typeface="Calibri" pitchFamily="34" charset="-120"/>
              </a:rPr>
              <a:t>FY28</a:t>
            </a:r>
            <a:endParaRPr lang="en-US" sz="1000" dirty="0"/>
          </a:p>
        </p:txBody>
      </p:sp>
      <p:sp>
        <p:nvSpPr>
          <p:cNvPr id="181" name="Text 175"/>
          <p:cNvSpPr txBox="1"/>
          <p:nvPr/>
        </p:nvSpPr>
        <p:spPr>
          <a:xfrm>
            <a:off x="10086594" y="5687568"/>
            <a:ext cx="1657045" cy="60350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Bihar, UP, Jharkhand; deep knowledge tracing if it beats IRT</a:t>
            </a:r>
            <a:endParaRPr lang="en-US" sz="900" dirty="0"/>
          </a:p>
        </p:txBody>
      </p:sp>
      <p:sp>
        <p:nvSpPr>
          <p:cNvPr id="182" name="Text 17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financial/research R1 (vendor listings; many features unverifiable, so '?' is not 'absent'); financial workbook (segments, pilot assumptions). Roadmap dates are our plan.</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VALIDATION, RISKS AND OUR ASK</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What we have proved, what we have not, the risks, and the one pilot that settles it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FEASIBILITY, PRIVACY AND SAFETY 20 % · HONEST LIMITS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Shape 11"/>
          <p:cNvSpPr/>
          <p:nvPr/>
        </p:nvSpPr>
        <p:spPr>
          <a:xfrm>
            <a:off x="8469630" y="6528816"/>
            <a:ext cx="1343025" cy="274320"/>
          </a:xfrm>
          <a:prstGeom prst="rect">
            <a:avLst/>
          </a:prstGeom>
          <a:solidFill>
            <a:srgbClr val="1F4A82"/>
          </a:solidFill>
          <a:ln/>
        </p:spPr>
      </p:sp>
      <p:sp>
        <p:nvSpPr>
          <p:cNvPr id="14" name="Text 12"/>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Validation</a:t>
            </a:r>
            <a:endParaRPr lang="en-US" sz="1050" dirty="0"/>
          </a:p>
        </p:txBody>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703320" cy="2615184"/>
          </a:xfrm>
          <a:prstGeom prst="rect">
            <a:avLst/>
          </a:prstGeom>
          <a:solidFill>
            <a:srgbClr val="FFFFFF"/>
          </a:solidFill>
          <a:ln w="12700">
            <a:solidFill>
              <a:srgbClr val="C9D6E8"/>
            </a:solidFill>
            <a:prstDash val="solid"/>
          </a:ln>
        </p:spPr>
      </p:sp>
      <p:sp>
        <p:nvSpPr>
          <p:cNvPr id="17" name="Shape 15"/>
          <p:cNvSpPr/>
          <p:nvPr/>
        </p:nvSpPr>
        <p:spPr>
          <a:xfrm>
            <a:off x="521208" y="1207008"/>
            <a:ext cx="3483864" cy="256032"/>
          </a:xfrm>
          <a:prstGeom prst="roundRect">
            <a:avLst>
              <a:gd name="adj" fmla="val 50000"/>
            </a:avLst>
          </a:prstGeom>
          <a:solidFill>
            <a:srgbClr val="1F4A82"/>
          </a:solidFill>
          <a:ln/>
        </p:spPr>
      </p:sp>
      <p:sp>
        <p:nvSpPr>
          <p:cNvPr id="18" name="Text 16"/>
          <p:cNvSpPr txBox="1"/>
          <p:nvPr/>
        </p:nvSpPr>
        <p:spPr>
          <a:xfrm>
            <a:off x="521208" y="1207008"/>
            <a:ext cx="3483864"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PROVED ON PUBLIC DATA</a:t>
            </a:r>
            <a:endParaRPr lang="en-US" sz="900" dirty="0"/>
          </a:p>
        </p:txBody>
      </p:sp>
      <p:sp>
        <p:nvSpPr>
          <p:cNvPr id="19" name="Shape 17"/>
          <p:cNvSpPr/>
          <p:nvPr/>
        </p:nvSpPr>
        <p:spPr>
          <a:xfrm>
            <a:off x="521208" y="1554480"/>
            <a:ext cx="3483864" cy="402336"/>
          </a:xfrm>
          <a:prstGeom prst="rect">
            <a:avLst/>
          </a:prstGeom>
          <a:solidFill>
            <a:srgbClr val="F2F6FB"/>
          </a:solidFill>
          <a:ln/>
        </p:spPr>
      </p:sp>
      <p:sp>
        <p:nvSpPr>
          <p:cNvPr id="20" name="Text 18"/>
          <p:cNvSpPr txBox="1"/>
          <p:nvPr/>
        </p:nvSpPr>
        <p:spPr>
          <a:xfrm>
            <a:off x="594360" y="1554480"/>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Next-answer AUC</a:t>
            </a:r>
            <a:endParaRPr lang="en-US" sz="1000" dirty="0"/>
          </a:p>
        </p:txBody>
      </p:sp>
      <p:sp>
        <p:nvSpPr>
          <p:cNvPr id="21" name="Text 19"/>
          <p:cNvSpPr txBox="1"/>
          <p:nvPr/>
        </p:nvSpPr>
        <p:spPr>
          <a:xfrm>
            <a:off x="2377440" y="1554480"/>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0.763 (DKT 0.754)</a:t>
            </a:r>
            <a:endParaRPr lang="en-US" sz="950" dirty="0"/>
          </a:p>
        </p:txBody>
      </p:sp>
      <p:sp>
        <p:nvSpPr>
          <p:cNvPr id="22" name="Shape 20"/>
          <p:cNvSpPr/>
          <p:nvPr/>
        </p:nvSpPr>
        <p:spPr>
          <a:xfrm>
            <a:off x="521208" y="1984248"/>
            <a:ext cx="3483864" cy="402336"/>
          </a:xfrm>
          <a:prstGeom prst="rect">
            <a:avLst/>
          </a:prstGeom>
          <a:solidFill>
            <a:srgbClr val="FFFFFF"/>
          </a:solidFill>
          <a:ln/>
        </p:spPr>
      </p:sp>
      <p:sp>
        <p:nvSpPr>
          <p:cNvPr id="23" name="Text 21"/>
          <p:cNvSpPr txBox="1"/>
          <p:nvPr/>
        </p:nvSpPr>
        <p:spPr>
          <a:xfrm>
            <a:off x="594360" y="1984248"/>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Withdrawal AUC, day 28</a:t>
            </a:r>
            <a:endParaRPr lang="en-US" sz="1000" dirty="0"/>
          </a:p>
        </p:txBody>
      </p:sp>
      <p:sp>
        <p:nvSpPr>
          <p:cNvPr id="24" name="Text 22"/>
          <p:cNvSpPr txBox="1"/>
          <p:nvPr/>
        </p:nvSpPr>
        <p:spPr>
          <a:xfrm>
            <a:off x="2377440" y="1984248"/>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(published 0.794)</a:t>
            </a:r>
            <a:endParaRPr lang="en-US" sz="950" dirty="0"/>
          </a:p>
        </p:txBody>
      </p:sp>
      <p:sp>
        <p:nvSpPr>
          <p:cNvPr id="25" name="Shape 23"/>
          <p:cNvSpPr/>
          <p:nvPr/>
        </p:nvSpPr>
        <p:spPr>
          <a:xfrm>
            <a:off x="521208" y="2414016"/>
            <a:ext cx="3483864" cy="402336"/>
          </a:xfrm>
          <a:prstGeom prst="rect">
            <a:avLst/>
          </a:prstGeom>
          <a:solidFill>
            <a:srgbClr val="F2F6FB"/>
          </a:solidFill>
          <a:ln/>
        </p:spPr>
      </p:sp>
      <p:sp>
        <p:nvSpPr>
          <p:cNvPr id="26" name="Text 24"/>
          <p:cNvSpPr txBox="1"/>
          <p:nvPr/>
        </p:nvSpPr>
        <p:spPr>
          <a:xfrm>
            <a:off x="594360" y="2414016"/>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Calibration error</a:t>
            </a:r>
            <a:endParaRPr lang="en-US" sz="1000" dirty="0"/>
          </a:p>
        </p:txBody>
      </p:sp>
      <p:sp>
        <p:nvSpPr>
          <p:cNvPr id="27" name="Text 25"/>
          <p:cNvSpPr txBox="1"/>
          <p:nvPr/>
        </p:nvSpPr>
        <p:spPr>
          <a:xfrm>
            <a:off x="2377440" y="2414016"/>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0.009</a:t>
            </a:r>
            <a:endParaRPr lang="en-US" sz="950" dirty="0"/>
          </a:p>
        </p:txBody>
      </p:sp>
      <p:sp>
        <p:nvSpPr>
          <p:cNvPr id="28" name="Shape 26"/>
          <p:cNvSpPr/>
          <p:nvPr/>
        </p:nvSpPr>
        <p:spPr>
          <a:xfrm>
            <a:off x="521208" y="2843784"/>
            <a:ext cx="3483864" cy="402336"/>
          </a:xfrm>
          <a:prstGeom prst="rect">
            <a:avLst/>
          </a:prstGeom>
          <a:solidFill>
            <a:srgbClr val="FFFFFF"/>
          </a:solidFill>
          <a:ln/>
        </p:spPr>
      </p:sp>
      <p:sp>
        <p:nvSpPr>
          <p:cNvPr id="29" name="Text 27"/>
          <p:cNvSpPr txBox="1"/>
          <p:nvPr/>
        </p:nvSpPr>
        <p:spPr>
          <a:xfrm>
            <a:off x="594360" y="2843784"/>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Academic-only cost</a:t>
            </a:r>
            <a:endParaRPr lang="en-US" sz="1000" dirty="0"/>
          </a:p>
        </p:txBody>
      </p:sp>
      <p:sp>
        <p:nvSpPr>
          <p:cNvPr id="30" name="Text 28"/>
          <p:cNvSpPr txBox="1"/>
          <p:nvPr/>
        </p:nvSpPr>
        <p:spPr>
          <a:xfrm>
            <a:off x="2377440" y="2843784"/>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0.008 AUC</a:t>
            </a:r>
            <a:endParaRPr lang="en-US" sz="950" dirty="0"/>
          </a:p>
        </p:txBody>
      </p:sp>
      <p:sp>
        <p:nvSpPr>
          <p:cNvPr id="31" name="Shape 29"/>
          <p:cNvSpPr/>
          <p:nvPr/>
        </p:nvSpPr>
        <p:spPr>
          <a:xfrm>
            <a:off x="521208" y="3273552"/>
            <a:ext cx="3483864" cy="402336"/>
          </a:xfrm>
          <a:prstGeom prst="rect">
            <a:avLst/>
          </a:prstGeom>
          <a:solidFill>
            <a:srgbClr val="F2F6FB"/>
          </a:solidFill>
          <a:ln/>
        </p:spPr>
      </p:sp>
      <p:sp>
        <p:nvSpPr>
          <p:cNvPr id="32" name="Text 30"/>
          <p:cNvSpPr txBox="1"/>
          <p:nvPr/>
        </p:nvSpPr>
        <p:spPr>
          <a:xfrm>
            <a:off x="594360" y="3273552"/>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Precision at top 10 %</a:t>
            </a:r>
            <a:endParaRPr lang="en-US" sz="1000" dirty="0"/>
          </a:p>
        </p:txBody>
      </p:sp>
      <p:sp>
        <p:nvSpPr>
          <p:cNvPr id="33" name="Text 31"/>
          <p:cNvSpPr txBox="1"/>
          <p:nvPr/>
        </p:nvSpPr>
        <p:spPr>
          <a:xfrm>
            <a:off x="2377440" y="3273552"/>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0.46 vs 0.24 to 0.31</a:t>
            </a:r>
            <a:endParaRPr lang="en-US" sz="950" dirty="0"/>
          </a:p>
        </p:txBody>
      </p:sp>
      <p:sp>
        <p:nvSpPr>
          <p:cNvPr id="34" name="Shape 32"/>
          <p:cNvSpPr/>
          <p:nvPr/>
        </p:nvSpPr>
        <p:spPr>
          <a:xfrm>
            <a:off x="4242816" y="1115568"/>
            <a:ext cx="3703320" cy="2615184"/>
          </a:xfrm>
          <a:prstGeom prst="rect">
            <a:avLst/>
          </a:prstGeom>
          <a:solidFill>
            <a:srgbClr val="FFFFFF"/>
          </a:solidFill>
          <a:ln w="12700">
            <a:solidFill>
              <a:srgbClr val="C9D6E8"/>
            </a:solidFill>
            <a:prstDash val="solid"/>
          </a:ln>
        </p:spPr>
      </p:sp>
      <p:sp>
        <p:nvSpPr>
          <p:cNvPr id="35" name="Shape 33"/>
          <p:cNvSpPr/>
          <p:nvPr/>
        </p:nvSpPr>
        <p:spPr>
          <a:xfrm>
            <a:off x="4352544" y="1207008"/>
            <a:ext cx="3483864" cy="256032"/>
          </a:xfrm>
          <a:prstGeom prst="roundRect">
            <a:avLst>
              <a:gd name="adj" fmla="val 50000"/>
            </a:avLst>
          </a:prstGeom>
          <a:solidFill>
            <a:srgbClr val="D4A24C"/>
          </a:solidFill>
          <a:ln/>
        </p:spPr>
      </p:sp>
      <p:sp>
        <p:nvSpPr>
          <p:cNvPr id="36" name="Text 34"/>
          <p:cNvSpPr txBox="1"/>
          <p:nvPr/>
        </p:nvSpPr>
        <p:spPr>
          <a:xfrm>
            <a:off x="4352544" y="1207008"/>
            <a:ext cx="3483864" cy="256032"/>
          </a:xfrm>
          <a:prstGeom prst="rect">
            <a:avLst/>
          </a:prstGeom>
          <a:noFill/>
          <a:ln/>
        </p:spPr>
        <p:txBody>
          <a:bodyPr wrap="square" lIns="0" tIns="0" rIns="0" bIns="0" rtlCol="0" anchor="ctr"/>
          <a:lstStyle/>
          <a:p>
            <a:pPr algn="ctr" indent="0" marL="0">
              <a:buNone/>
            </a:pPr>
            <a:r>
              <a:rPr lang="en-US" sz="900" b="1" spc="100" kern="0" dirty="0">
                <a:solidFill>
                  <a:srgbClr val="17325C"/>
                </a:solidFill>
                <a:latin typeface="Calibri" pitchFamily="34" charset="0"/>
                <a:ea typeface="Calibri" pitchFamily="34" charset="-122"/>
                <a:cs typeface="Calibri" pitchFamily="34" charset="-120"/>
              </a:rPr>
              <a:t>SHOWN ON SYNTHETIC DATA</a:t>
            </a:r>
            <a:endParaRPr lang="en-US" sz="900" dirty="0"/>
          </a:p>
        </p:txBody>
      </p:sp>
      <p:sp>
        <p:nvSpPr>
          <p:cNvPr id="37" name="Shape 35"/>
          <p:cNvSpPr/>
          <p:nvPr/>
        </p:nvSpPr>
        <p:spPr>
          <a:xfrm>
            <a:off x="4352544" y="1554480"/>
            <a:ext cx="3483864" cy="402336"/>
          </a:xfrm>
          <a:prstGeom prst="rect">
            <a:avLst/>
          </a:prstGeom>
          <a:solidFill>
            <a:srgbClr val="F2F6FB"/>
          </a:solidFill>
          <a:ln/>
        </p:spPr>
      </p:sp>
      <p:sp>
        <p:nvSpPr>
          <p:cNvPr id="38" name="Text 36"/>
          <p:cNvSpPr txBox="1"/>
          <p:nvPr/>
        </p:nvSpPr>
        <p:spPr>
          <a:xfrm>
            <a:off x="4425696" y="1554480"/>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Pipeline end to end</a:t>
            </a:r>
            <a:endParaRPr lang="en-US" sz="1000" dirty="0"/>
          </a:p>
        </p:txBody>
      </p:sp>
      <p:sp>
        <p:nvSpPr>
          <p:cNvPr id="39" name="Text 37"/>
          <p:cNvSpPr txBox="1"/>
          <p:nvPr/>
        </p:nvSpPr>
        <p:spPr>
          <a:xfrm>
            <a:off x="6208776" y="1554480"/>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116 tests pass</a:t>
            </a:r>
            <a:endParaRPr lang="en-US" sz="950" dirty="0"/>
          </a:p>
        </p:txBody>
      </p:sp>
      <p:sp>
        <p:nvSpPr>
          <p:cNvPr id="40" name="Shape 38"/>
          <p:cNvSpPr/>
          <p:nvPr/>
        </p:nvSpPr>
        <p:spPr>
          <a:xfrm>
            <a:off x="4352544" y="1984248"/>
            <a:ext cx="3483864" cy="402336"/>
          </a:xfrm>
          <a:prstGeom prst="rect">
            <a:avLst/>
          </a:prstGeom>
          <a:solidFill>
            <a:srgbClr val="FFFFFF"/>
          </a:solidFill>
          <a:ln/>
        </p:spPr>
      </p:sp>
      <p:sp>
        <p:nvSpPr>
          <p:cNvPr id="41" name="Text 39"/>
          <p:cNvSpPr txBox="1"/>
          <p:nvPr/>
        </p:nvSpPr>
        <p:spPr>
          <a:xfrm>
            <a:off x="4425696" y="1984248"/>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Tenant isolation</a:t>
            </a:r>
            <a:endParaRPr lang="en-US" sz="1000" dirty="0"/>
          </a:p>
        </p:txBody>
      </p:sp>
      <p:sp>
        <p:nvSpPr>
          <p:cNvPr id="42" name="Text 40"/>
          <p:cNvSpPr txBox="1"/>
          <p:nvPr/>
        </p:nvSpPr>
        <p:spPr>
          <a:xfrm>
            <a:off x="6208776" y="1984248"/>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 rows across institutes</a:t>
            </a:r>
            <a:endParaRPr lang="en-US" sz="950" dirty="0"/>
          </a:p>
        </p:txBody>
      </p:sp>
      <p:sp>
        <p:nvSpPr>
          <p:cNvPr id="43" name="Shape 41"/>
          <p:cNvSpPr/>
          <p:nvPr/>
        </p:nvSpPr>
        <p:spPr>
          <a:xfrm>
            <a:off x="4352544" y="2414016"/>
            <a:ext cx="3483864" cy="402336"/>
          </a:xfrm>
          <a:prstGeom prst="rect">
            <a:avLst/>
          </a:prstGeom>
          <a:solidFill>
            <a:srgbClr val="F2F6FB"/>
          </a:solidFill>
          <a:ln/>
        </p:spPr>
      </p:sp>
      <p:sp>
        <p:nvSpPr>
          <p:cNvPr id="44" name="Text 42"/>
          <p:cNvSpPr txBox="1"/>
          <p:nvPr/>
        </p:nvSpPr>
        <p:spPr>
          <a:xfrm>
            <a:off x="4425696" y="2414016"/>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Report checker</a:t>
            </a:r>
            <a:endParaRPr lang="en-US" sz="1000" dirty="0"/>
          </a:p>
        </p:txBody>
      </p:sp>
      <p:sp>
        <p:nvSpPr>
          <p:cNvPr id="45" name="Text 43"/>
          <p:cNvSpPr txBox="1"/>
          <p:nvPr/>
        </p:nvSpPr>
        <p:spPr>
          <a:xfrm>
            <a:off x="6208776" y="2414016"/>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checks, template fallback</a:t>
            </a:r>
            <a:endParaRPr lang="en-US" sz="950" dirty="0"/>
          </a:p>
        </p:txBody>
      </p:sp>
      <p:sp>
        <p:nvSpPr>
          <p:cNvPr id="46" name="Shape 44"/>
          <p:cNvSpPr/>
          <p:nvPr/>
        </p:nvSpPr>
        <p:spPr>
          <a:xfrm>
            <a:off x="4352544" y="2843784"/>
            <a:ext cx="3483864" cy="402336"/>
          </a:xfrm>
          <a:prstGeom prst="rect">
            <a:avLst/>
          </a:prstGeom>
          <a:solidFill>
            <a:srgbClr val="FFFFFF"/>
          </a:solidFill>
          <a:ln/>
        </p:spPr>
      </p:sp>
      <p:sp>
        <p:nvSpPr>
          <p:cNvPr id="47" name="Text 45"/>
          <p:cNvSpPr txBox="1"/>
          <p:nvPr/>
        </p:nvSpPr>
        <p:spPr>
          <a:xfrm>
            <a:off x="4425696" y="2843784"/>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Difficulty recovery</a:t>
            </a:r>
            <a:endParaRPr lang="en-US" sz="1000" dirty="0"/>
          </a:p>
        </p:txBody>
      </p:sp>
      <p:sp>
        <p:nvSpPr>
          <p:cNvPr id="48" name="Text 46"/>
          <p:cNvSpPr txBox="1"/>
          <p:nvPr/>
        </p:nvSpPr>
        <p:spPr>
          <a:xfrm>
            <a:off x="6208776" y="2843784"/>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pending</a:t>
            </a:r>
            <a:endParaRPr lang="en-US" sz="950" dirty="0"/>
          </a:p>
        </p:txBody>
      </p:sp>
      <p:sp>
        <p:nvSpPr>
          <p:cNvPr id="49" name="Shape 47"/>
          <p:cNvSpPr/>
          <p:nvPr/>
        </p:nvSpPr>
        <p:spPr>
          <a:xfrm>
            <a:off x="4352544" y="3273552"/>
            <a:ext cx="3483864" cy="402336"/>
          </a:xfrm>
          <a:prstGeom prst="rect">
            <a:avLst/>
          </a:prstGeom>
          <a:solidFill>
            <a:srgbClr val="F2F6FB"/>
          </a:solidFill>
          <a:ln/>
        </p:spPr>
      </p:sp>
      <p:sp>
        <p:nvSpPr>
          <p:cNvPr id="50" name="Text 48"/>
          <p:cNvSpPr txBox="1"/>
          <p:nvPr/>
        </p:nvSpPr>
        <p:spPr>
          <a:xfrm>
            <a:off x="4425696" y="3273552"/>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Early-warning lift</a:t>
            </a:r>
            <a:endParaRPr lang="en-US" sz="1000" dirty="0"/>
          </a:p>
        </p:txBody>
      </p:sp>
      <p:sp>
        <p:nvSpPr>
          <p:cNvPr id="51" name="Text 49"/>
          <p:cNvSpPr txBox="1"/>
          <p:nvPr/>
        </p:nvSpPr>
        <p:spPr>
          <a:xfrm>
            <a:off x="6208776" y="3273552"/>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pending</a:t>
            </a:r>
            <a:endParaRPr lang="en-US" sz="950" dirty="0"/>
          </a:p>
        </p:txBody>
      </p:sp>
      <p:sp>
        <p:nvSpPr>
          <p:cNvPr id="52" name="Shape 50"/>
          <p:cNvSpPr/>
          <p:nvPr/>
        </p:nvSpPr>
        <p:spPr>
          <a:xfrm>
            <a:off x="8074152" y="1115568"/>
            <a:ext cx="3703320" cy="2615184"/>
          </a:xfrm>
          <a:prstGeom prst="rect">
            <a:avLst/>
          </a:prstGeom>
          <a:solidFill>
            <a:srgbClr val="FFFFFF"/>
          </a:solidFill>
          <a:ln w="12700">
            <a:solidFill>
              <a:srgbClr val="C9D6E8"/>
            </a:solidFill>
            <a:prstDash val="solid"/>
          </a:ln>
        </p:spPr>
      </p:sp>
      <p:sp>
        <p:nvSpPr>
          <p:cNvPr id="53" name="Shape 51"/>
          <p:cNvSpPr/>
          <p:nvPr/>
        </p:nvSpPr>
        <p:spPr>
          <a:xfrm>
            <a:off x="8183880" y="1207008"/>
            <a:ext cx="3483864" cy="256032"/>
          </a:xfrm>
          <a:prstGeom prst="roundRect">
            <a:avLst>
              <a:gd name="adj" fmla="val 50000"/>
            </a:avLst>
          </a:prstGeom>
          <a:solidFill>
            <a:srgbClr val="FFFFFF"/>
          </a:solidFill>
          <a:ln w="12700">
            <a:solidFill>
              <a:srgbClr val="C0392B"/>
            </a:solidFill>
            <a:prstDash val="solid"/>
          </a:ln>
        </p:spPr>
      </p:sp>
      <p:sp>
        <p:nvSpPr>
          <p:cNvPr id="54" name="Text 52"/>
          <p:cNvSpPr txBox="1"/>
          <p:nvPr/>
        </p:nvSpPr>
        <p:spPr>
          <a:xfrm>
            <a:off x="8183880" y="1207008"/>
            <a:ext cx="3483864" cy="256032"/>
          </a:xfrm>
          <a:prstGeom prst="rect">
            <a:avLst/>
          </a:prstGeom>
          <a:noFill/>
          <a:ln/>
        </p:spPr>
        <p:txBody>
          <a:bodyPr wrap="square" lIns="0" tIns="0" rIns="0" bIns="0" rtlCol="0" anchor="ctr"/>
          <a:lstStyle/>
          <a:p>
            <a:pPr algn="ctr" indent="0" marL="0">
              <a:buNone/>
            </a:pPr>
            <a:r>
              <a:rPr lang="en-US" sz="900" b="1" spc="100" kern="0" dirty="0">
                <a:solidFill>
                  <a:srgbClr val="C0392B"/>
                </a:solidFill>
                <a:latin typeface="Calibri" pitchFamily="34" charset="0"/>
                <a:ea typeface="Calibri" pitchFamily="34" charset="-122"/>
                <a:cs typeface="Calibri" pitchFamily="34" charset="-120"/>
              </a:rPr>
              <a:t>NOT PROVEN YET</a:t>
            </a:r>
            <a:endParaRPr lang="en-US" sz="900" dirty="0"/>
          </a:p>
        </p:txBody>
      </p:sp>
      <p:sp>
        <p:nvSpPr>
          <p:cNvPr id="55" name="Shape 53"/>
          <p:cNvSpPr/>
          <p:nvPr/>
        </p:nvSpPr>
        <p:spPr>
          <a:xfrm>
            <a:off x="8183880" y="1554480"/>
            <a:ext cx="3483864" cy="402336"/>
          </a:xfrm>
          <a:prstGeom prst="rect">
            <a:avLst/>
          </a:prstGeom>
          <a:solidFill>
            <a:srgbClr val="F2F6FB"/>
          </a:solidFill>
          <a:ln/>
        </p:spPr>
      </p:sp>
      <p:sp>
        <p:nvSpPr>
          <p:cNvPr id="56" name="Text 54"/>
          <p:cNvSpPr txBox="1"/>
          <p:nvPr/>
        </p:nvSpPr>
        <p:spPr>
          <a:xfrm>
            <a:off x="8257032" y="1554480"/>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Accuracy on real institutes</a:t>
            </a:r>
            <a:endParaRPr lang="en-US" sz="1000" dirty="0"/>
          </a:p>
        </p:txBody>
      </p:sp>
      <p:sp>
        <p:nvSpPr>
          <p:cNvPr id="57" name="Text 55"/>
          <p:cNvSpPr txBox="1"/>
          <p:nvPr/>
        </p:nvSpPr>
        <p:spPr>
          <a:xfrm>
            <a:off x="10040112" y="1554480"/>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needs a pilot</a:t>
            </a:r>
            <a:endParaRPr lang="en-US" sz="950" dirty="0"/>
          </a:p>
        </p:txBody>
      </p:sp>
      <p:sp>
        <p:nvSpPr>
          <p:cNvPr id="58" name="Shape 56"/>
          <p:cNvSpPr/>
          <p:nvPr/>
        </p:nvSpPr>
        <p:spPr>
          <a:xfrm>
            <a:off x="8183880" y="1984248"/>
            <a:ext cx="3483864" cy="402336"/>
          </a:xfrm>
          <a:prstGeom prst="rect">
            <a:avLst/>
          </a:prstGeom>
          <a:solidFill>
            <a:srgbClr val="FFFFFF"/>
          </a:solidFill>
          <a:ln/>
        </p:spPr>
      </p:sp>
      <p:sp>
        <p:nvSpPr>
          <p:cNvPr id="59" name="Text 57"/>
          <p:cNvSpPr txBox="1"/>
          <p:nvPr/>
        </p:nvSpPr>
        <p:spPr>
          <a:xfrm>
            <a:off x="8257032" y="1984248"/>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Willingness to pay</a:t>
            </a:r>
            <a:endParaRPr lang="en-US" sz="1000" dirty="0"/>
          </a:p>
        </p:txBody>
      </p:sp>
      <p:sp>
        <p:nvSpPr>
          <p:cNvPr id="60" name="Text 58"/>
          <p:cNvSpPr txBox="1"/>
          <p:nvPr/>
        </p:nvSpPr>
        <p:spPr>
          <a:xfrm>
            <a:off x="10040112" y="1984248"/>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owner interviews</a:t>
            </a:r>
            <a:endParaRPr lang="en-US" sz="950" dirty="0"/>
          </a:p>
        </p:txBody>
      </p:sp>
      <p:sp>
        <p:nvSpPr>
          <p:cNvPr id="61" name="Shape 59"/>
          <p:cNvSpPr/>
          <p:nvPr/>
        </p:nvSpPr>
        <p:spPr>
          <a:xfrm>
            <a:off x="8183880" y="2414016"/>
            <a:ext cx="3483864" cy="402336"/>
          </a:xfrm>
          <a:prstGeom prst="rect">
            <a:avLst/>
          </a:prstGeom>
          <a:solidFill>
            <a:srgbClr val="F2F6FB"/>
          </a:solidFill>
          <a:ln/>
        </p:spPr>
      </p:sp>
      <p:sp>
        <p:nvSpPr>
          <p:cNvPr id="62" name="Text 60"/>
          <p:cNvSpPr txBox="1"/>
          <p:nvPr/>
        </p:nvSpPr>
        <p:spPr>
          <a:xfrm>
            <a:off x="8257032" y="2414016"/>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Real dropout reduction</a:t>
            </a:r>
            <a:endParaRPr lang="en-US" sz="1000" dirty="0"/>
          </a:p>
        </p:txBody>
      </p:sp>
      <p:sp>
        <p:nvSpPr>
          <p:cNvPr id="63" name="Text 61"/>
          <p:cNvSpPr txBox="1"/>
          <p:nvPr/>
        </p:nvSpPr>
        <p:spPr>
          <a:xfrm>
            <a:off x="10040112" y="2414016"/>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borrowed from trials</a:t>
            </a:r>
            <a:endParaRPr lang="en-US" sz="950" dirty="0"/>
          </a:p>
        </p:txBody>
      </p:sp>
      <p:sp>
        <p:nvSpPr>
          <p:cNvPr id="64" name="Shape 62"/>
          <p:cNvSpPr/>
          <p:nvPr/>
        </p:nvSpPr>
        <p:spPr>
          <a:xfrm>
            <a:off x="8183880" y="2843784"/>
            <a:ext cx="3483864" cy="402336"/>
          </a:xfrm>
          <a:prstGeom prst="rect">
            <a:avLst/>
          </a:prstGeom>
          <a:solidFill>
            <a:srgbClr val="FFFFFF"/>
          </a:solidFill>
          <a:ln/>
        </p:spPr>
      </p:sp>
      <p:sp>
        <p:nvSpPr>
          <p:cNvPr id="65" name="Text 63"/>
          <p:cNvSpPr txBox="1"/>
          <p:nvPr/>
        </p:nvSpPr>
        <p:spPr>
          <a:xfrm>
            <a:off x="8257032" y="2843784"/>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Hindi quality at scale</a:t>
            </a:r>
            <a:endParaRPr lang="en-US" sz="1000" dirty="0"/>
          </a:p>
        </p:txBody>
      </p:sp>
      <p:sp>
        <p:nvSpPr>
          <p:cNvPr id="66" name="Text 64"/>
          <p:cNvSpPr txBox="1"/>
          <p:nvPr/>
        </p:nvSpPr>
        <p:spPr>
          <a:xfrm>
            <a:off x="10040112" y="2843784"/>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native review</a:t>
            </a:r>
            <a:endParaRPr lang="en-US" sz="950" dirty="0"/>
          </a:p>
        </p:txBody>
      </p:sp>
      <p:sp>
        <p:nvSpPr>
          <p:cNvPr id="67" name="Shape 65"/>
          <p:cNvSpPr/>
          <p:nvPr/>
        </p:nvSpPr>
        <p:spPr>
          <a:xfrm>
            <a:off x="8183880" y="3273552"/>
            <a:ext cx="3483864" cy="402336"/>
          </a:xfrm>
          <a:prstGeom prst="rect">
            <a:avLst/>
          </a:prstGeom>
          <a:solidFill>
            <a:srgbClr val="F2F6FB"/>
          </a:solidFill>
          <a:ln/>
        </p:spPr>
      </p:sp>
      <p:sp>
        <p:nvSpPr>
          <p:cNvPr id="68" name="Text 66"/>
          <p:cNvSpPr txBox="1"/>
          <p:nvPr/>
        </p:nvSpPr>
        <p:spPr>
          <a:xfrm>
            <a:off x="8257032" y="3273552"/>
            <a:ext cx="1783080" cy="402336"/>
          </a:xfrm>
          <a:prstGeom prst="rect">
            <a:avLst/>
          </a:prstGeom>
          <a:noFill/>
          <a:ln/>
        </p:spPr>
        <p:txBody>
          <a:bodyPr wrap="square" lIns="0" tIns="0" rIns="0" bIns="0" rtlCol="0" anchor="ctr"/>
          <a:lstStyle/>
          <a:p>
            <a:pPr algn="l" indent="0" marL="0">
              <a:buNone/>
            </a:pPr>
            <a:r>
              <a:rPr lang="en-US" sz="1000" b="1" dirty="0">
                <a:solidFill>
                  <a:srgbClr val="17325C"/>
                </a:solidFill>
                <a:latin typeface="Calibri" pitchFamily="34" charset="0"/>
                <a:ea typeface="Calibri" pitchFamily="34" charset="-122"/>
                <a:cs typeface="Calibri" pitchFamily="34" charset="-120"/>
              </a:rPr>
              <a:t>Other OMR layouts</a:t>
            </a:r>
            <a:endParaRPr lang="en-US" sz="1000" dirty="0"/>
          </a:p>
        </p:txBody>
      </p:sp>
      <p:sp>
        <p:nvSpPr>
          <p:cNvPr id="69" name="Text 67"/>
          <p:cNvSpPr txBox="1"/>
          <p:nvPr/>
        </p:nvSpPr>
        <p:spPr>
          <a:xfrm>
            <a:off x="10040112" y="3273552"/>
            <a:ext cx="1600200" cy="402336"/>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one-time onboarding</a:t>
            </a:r>
            <a:endParaRPr lang="en-US" sz="950" dirty="0"/>
          </a:p>
        </p:txBody>
      </p:sp>
      <p:sp>
        <p:nvSpPr>
          <p:cNvPr id="70" name="Shape 68"/>
          <p:cNvSpPr/>
          <p:nvPr/>
        </p:nvSpPr>
        <p:spPr>
          <a:xfrm>
            <a:off x="411480" y="3858768"/>
            <a:ext cx="256032" cy="256032"/>
          </a:xfrm>
          <a:prstGeom prst="rect">
            <a:avLst/>
          </a:prstGeom>
          <a:solidFill>
            <a:srgbClr val="1F4A82"/>
          </a:solidFill>
          <a:ln/>
        </p:spPr>
      </p:sp>
      <p:sp>
        <p:nvSpPr>
          <p:cNvPr id="71" name="Text 69"/>
          <p:cNvSpPr txBox="1"/>
          <p:nvPr/>
        </p:nvSpPr>
        <p:spPr>
          <a:xfrm>
            <a:off x="411480" y="38587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2" name="Text 70"/>
          <p:cNvSpPr txBox="1"/>
          <p:nvPr/>
        </p:nvSpPr>
        <p:spPr>
          <a:xfrm>
            <a:off x="740664" y="3858768"/>
            <a:ext cx="726033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KEY RISKS AND HOW WE CONTAIN THEM</a:t>
            </a:r>
            <a:endParaRPr lang="en-US" sz="1200" dirty="0"/>
          </a:p>
        </p:txBody>
      </p:sp>
      <p:sp>
        <p:nvSpPr>
          <p:cNvPr id="73" name="Shape 71"/>
          <p:cNvSpPr/>
          <p:nvPr/>
        </p:nvSpPr>
        <p:spPr>
          <a:xfrm>
            <a:off x="411480" y="4169664"/>
            <a:ext cx="2514600" cy="256032"/>
          </a:xfrm>
          <a:prstGeom prst="rect">
            <a:avLst/>
          </a:prstGeom>
          <a:solidFill>
            <a:srgbClr val="1F4A82"/>
          </a:solidFill>
          <a:ln/>
        </p:spPr>
      </p:sp>
      <p:sp>
        <p:nvSpPr>
          <p:cNvPr id="74" name="Text 72"/>
          <p:cNvSpPr txBox="1"/>
          <p:nvPr/>
        </p:nvSpPr>
        <p:spPr>
          <a:xfrm>
            <a:off x="457200" y="4169664"/>
            <a:ext cx="242316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Risk</a:t>
            </a:r>
            <a:endParaRPr lang="en-US" sz="950" dirty="0"/>
          </a:p>
        </p:txBody>
      </p:sp>
      <p:sp>
        <p:nvSpPr>
          <p:cNvPr id="75" name="Shape 73"/>
          <p:cNvSpPr/>
          <p:nvPr/>
        </p:nvSpPr>
        <p:spPr>
          <a:xfrm>
            <a:off x="2926080" y="4169664"/>
            <a:ext cx="5029200" cy="256032"/>
          </a:xfrm>
          <a:prstGeom prst="rect">
            <a:avLst/>
          </a:prstGeom>
          <a:solidFill>
            <a:srgbClr val="1F4A82"/>
          </a:solidFill>
          <a:ln/>
        </p:spPr>
      </p:sp>
      <p:sp>
        <p:nvSpPr>
          <p:cNvPr id="76" name="Text 74"/>
          <p:cNvSpPr txBox="1"/>
          <p:nvPr/>
        </p:nvSpPr>
        <p:spPr>
          <a:xfrm>
            <a:off x="2971800" y="4169664"/>
            <a:ext cx="4937760" cy="256032"/>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Mitigation</a:t>
            </a:r>
            <a:endParaRPr lang="en-US" sz="950" dirty="0"/>
          </a:p>
        </p:txBody>
      </p:sp>
      <p:sp>
        <p:nvSpPr>
          <p:cNvPr id="77" name="Shape 75"/>
          <p:cNvSpPr/>
          <p:nvPr/>
        </p:nvSpPr>
        <p:spPr>
          <a:xfrm>
            <a:off x="411480" y="4425696"/>
            <a:ext cx="2514600" cy="384048"/>
          </a:xfrm>
          <a:prstGeom prst="rect">
            <a:avLst/>
          </a:prstGeom>
          <a:solidFill>
            <a:srgbClr val="FFFFFF"/>
          </a:solidFill>
          <a:ln/>
        </p:spPr>
      </p:sp>
      <p:sp>
        <p:nvSpPr>
          <p:cNvPr id="78" name="Text 76"/>
          <p:cNvSpPr txBox="1"/>
          <p:nvPr/>
        </p:nvSpPr>
        <p:spPr>
          <a:xfrm>
            <a:off x="457200" y="4425696"/>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Real accuracy below public-data results</a:t>
            </a:r>
            <a:endParaRPr lang="en-US" sz="950" dirty="0"/>
          </a:p>
        </p:txBody>
      </p:sp>
      <p:sp>
        <p:nvSpPr>
          <p:cNvPr id="79" name="Shape 77"/>
          <p:cNvSpPr/>
          <p:nvPr/>
        </p:nvSpPr>
        <p:spPr>
          <a:xfrm>
            <a:off x="2926080" y="4425696"/>
            <a:ext cx="5029200" cy="384048"/>
          </a:xfrm>
          <a:prstGeom prst="rect">
            <a:avLst/>
          </a:prstGeom>
          <a:solidFill>
            <a:srgbClr val="FFFFFF"/>
          </a:solidFill>
          <a:ln/>
        </p:spPr>
      </p:sp>
      <p:sp>
        <p:nvSpPr>
          <p:cNvPr id="80" name="Text 78"/>
          <p:cNvSpPr txBox="1"/>
          <p:nvPr/>
        </p:nvSpPr>
        <p:spPr>
          <a:xfrm>
            <a:off x="2971800" y="4425696"/>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Retro-pilot on last year's Excel before any sale; compare with the institute's own rule at equal workload.</a:t>
            </a:r>
            <a:endParaRPr lang="en-US" sz="950" dirty="0"/>
          </a:p>
        </p:txBody>
      </p:sp>
      <p:sp>
        <p:nvSpPr>
          <p:cNvPr id="81" name="Shape 79"/>
          <p:cNvSpPr/>
          <p:nvPr/>
        </p:nvSpPr>
        <p:spPr>
          <a:xfrm>
            <a:off x="411480" y="4809744"/>
            <a:ext cx="7543800" cy="0"/>
          </a:xfrm>
          <a:prstGeom prst="line">
            <a:avLst/>
          </a:prstGeom>
          <a:noFill/>
          <a:ln w="6350">
            <a:solidFill>
              <a:srgbClr val="E3E8E4"/>
            </a:solidFill>
            <a:prstDash val="solid"/>
          </a:ln>
        </p:spPr>
      </p:sp>
      <p:sp>
        <p:nvSpPr>
          <p:cNvPr id="82" name="Shape 80"/>
          <p:cNvSpPr/>
          <p:nvPr/>
        </p:nvSpPr>
        <p:spPr>
          <a:xfrm>
            <a:off x="411480" y="4809744"/>
            <a:ext cx="2514600" cy="384048"/>
          </a:xfrm>
          <a:prstGeom prst="rect">
            <a:avLst/>
          </a:prstGeom>
          <a:solidFill>
            <a:srgbClr val="F1F7F3"/>
          </a:solidFill>
          <a:ln/>
        </p:spPr>
      </p:sp>
      <p:sp>
        <p:nvSpPr>
          <p:cNvPr id="83" name="Text 81"/>
          <p:cNvSpPr txBox="1"/>
          <p:nvPr/>
        </p:nvSpPr>
        <p:spPr>
          <a:xfrm>
            <a:off x="457200" y="4809744"/>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Owners will not pay ₹30</a:t>
            </a:r>
            <a:endParaRPr lang="en-US" sz="950" dirty="0"/>
          </a:p>
        </p:txBody>
      </p:sp>
      <p:sp>
        <p:nvSpPr>
          <p:cNvPr id="84" name="Shape 82"/>
          <p:cNvSpPr/>
          <p:nvPr/>
        </p:nvSpPr>
        <p:spPr>
          <a:xfrm>
            <a:off x="2926080" y="4809744"/>
            <a:ext cx="5029200" cy="384048"/>
          </a:xfrm>
          <a:prstGeom prst="rect">
            <a:avLst/>
          </a:prstGeom>
          <a:solidFill>
            <a:srgbClr val="F1F7F3"/>
          </a:solidFill>
          <a:ln/>
        </p:spPr>
      </p:sp>
      <p:sp>
        <p:nvSpPr>
          <p:cNvPr id="85" name="Text 83"/>
          <p:cNvSpPr txBox="1"/>
          <p:nvPr/>
        </p:nvSpPr>
        <p:spPr>
          <a:xfrm>
            <a:off x="2971800" y="4809744"/>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Owner interviews and a price survey first; lead with staff time and parent reports, tested at ₹20 to ₹40.</a:t>
            </a:r>
            <a:endParaRPr lang="en-US" sz="950" dirty="0"/>
          </a:p>
        </p:txBody>
      </p:sp>
      <p:sp>
        <p:nvSpPr>
          <p:cNvPr id="86" name="Shape 84"/>
          <p:cNvSpPr/>
          <p:nvPr/>
        </p:nvSpPr>
        <p:spPr>
          <a:xfrm>
            <a:off x="411480" y="5193792"/>
            <a:ext cx="7543800" cy="0"/>
          </a:xfrm>
          <a:prstGeom prst="line">
            <a:avLst/>
          </a:prstGeom>
          <a:noFill/>
          <a:ln w="6350">
            <a:solidFill>
              <a:srgbClr val="E3E8E4"/>
            </a:solidFill>
            <a:prstDash val="solid"/>
          </a:ln>
        </p:spPr>
      </p:sp>
      <p:sp>
        <p:nvSpPr>
          <p:cNvPr id="87" name="Shape 85"/>
          <p:cNvSpPr/>
          <p:nvPr/>
        </p:nvSpPr>
        <p:spPr>
          <a:xfrm>
            <a:off x="411480" y="5193792"/>
            <a:ext cx="2514600" cy="384048"/>
          </a:xfrm>
          <a:prstGeom prst="rect">
            <a:avLst/>
          </a:prstGeom>
          <a:solidFill>
            <a:srgbClr val="FFFFFF"/>
          </a:solidFill>
          <a:ln/>
        </p:spPr>
      </p:sp>
      <p:sp>
        <p:nvSpPr>
          <p:cNvPr id="88" name="Text 86"/>
          <p:cNvSpPr txBox="1"/>
          <p:nvPr/>
        </p:nvSpPr>
        <p:spPr>
          <a:xfrm>
            <a:off x="457200" y="5193792"/>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Mentors ignore the list</a:t>
            </a:r>
            <a:endParaRPr lang="en-US" sz="950" dirty="0"/>
          </a:p>
        </p:txBody>
      </p:sp>
      <p:sp>
        <p:nvSpPr>
          <p:cNvPr id="89" name="Shape 87"/>
          <p:cNvSpPr/>
          <p:nvPr/>
        </p:nvSpPr>
        <p:spPr>
          <a:xfrm>
            <a:off x="2926080" y="5193792"/>
            <a:ext cx="5029200" cy="384048"/>
          </a:xfrm>
          <a:prstGeom prst="rect">
            <a:avLst/>
          </a:prstGeom>
          <a:solidFill>
            <a:srgbClr val="FFFFFF"/>
          </a:solidFill>
          <a:ln/>
        </p:spPr>
      </p:sp>
      <p:sp>
        <p:nvSpPr>
          <p:cNvPr id="90" name="Text 88"/>
          <p:cNvSpPr txBox="1"/>
          <p:nvPr/>
        </p:nvSpPr>
        <p:spPr>
          <a:xfrm>
            <a:off x="2971800" y="5193792"/>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List capped at capacity; every flag needs a logged outcome; owner sees actions done.</a:t>
            </a:r>
            <a:endParaRPr lang="en-US" sz="950" dirty="0"/>
          </a:p>
        </p:txBody>
      </p:sp>
      <p:sp>
        <p:nvSpPr>
          <p:cNvPr id="91" name="Shape 89"/>
          <p:cNvSpPr/>
          <p:nvPr/>
        </p:nvSpPr>
        <p:spPr>
          <a:xfrm>
            <a:off x="411480" y="5577840"/>
            <a:ext cx="7543800" cy="0"/>
          </a:xfrm>
          <a:prstGeom prst="line">
            <a:avLst/>
          </a:prstGeom>
          <a:noFill/>
          <a:ln w="6350">
            <a:solidFill>
              <a:srgbClr val="E3E8E4"/>
            </a:solidFill>
            <a:prstDash val="solid"/>
          </a:ln>
        </p:spPr>
      </p:sp>
      <p:sp>
        <p:nvSpPr>
          <p:cNvPr id="92" name="Shape 90"/>
          <p:cNvSpPr/>
          <p:nvPr/>
        </p:nvSpPr>
        <p:spPr>
          <a:xfrm>
            <a:off x="411480" y="5577840"/>
            <a:ext cx="2514600" cy="384048"/>
          </a:xfrm>
          <a:prstGeom prst="rect">
            <a:avLst/>
          </a:prstGeom>
          <a:solidFill>
            <a:srgbClr val="F1F7F3"/>
          </a:solidFill>
          <a:ln/>
        </p:spPr>
      </p:sp>
      <p:sp>
        <p:nvSpPr>
          <p:cNvPr id="93" name="Text 91"/>
          <p:cNvSpPr txBox="1"/>
          <p:nvPr/>
        </p:nvSpPr>
        <p:spPr>
          <a:xfrm>
            <a:off x="457200" y="5577840"/>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Hindi quality</a:t>
            </a:r>
            <a:endParaRPr lang="en-US" sz="950" dirty="0"/>
          </a:p>
        </p:txBody>
      </p:sp>
      <p:sp>
        <p:nvSpPr>
          <p:cNvPr id="94" name="Shape 92"/>
          <p:cNvSpPr/>
          <p:nvPr/>
        </p:nvSpPr>
        <p:spPr>
          <a:xfrm>
            <a:off x="2926080" y="5577840"/>
            <a:ext cx="5029200" cy="384048"/>
          </a:xfrm>
          <a:prstGeom prst="rect">
            <a:avLst/>
          </a:prstGeom>
          <a:solidFill>
            <a:srgbClr val="F1F7F3"/>
          </a:solidFill>
          <a:ln/>
        </p:spPr>
      </p:sp>
      <p:sp>
        <p:nvSpPr>
          <p:cNvPr id="95" name="Text 93"/>
          <p:cNvSpPr txBox="1"/>
          <p:nvPr/>
        </p:nvSpPr>
        <p:spPr>
          <a:xfrm>
            <a:off x="2971800" y="5577840"/>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Native reviewer on all templates; template fallback when a check fails.</a:t>
            </a:r>
            <a:endParaRPr lang="en-US" sz="950" dirty="0"/>
          </a:p>
        </p:txBody>
      </p:sp>
      <p:sp>
        <p:nvSpPr>
          <p:cNvPr id="96" name="Shape 94"/>
          <p:cNvSpPr/>
          <p:nvPr/>
        </p:nvSpPr>
        <p:spPr>
          <a:xfrm>
            <a:off x="411480" y="5961888"/>
            <a:ext cx="7543800" cy="0"/>
          </a:xfrm>
          <a:prstGeom prst="line">
            <a:avLst/>
          </a:prstGeom>
          <a:noFill/>
          <a:ln w="6350">
            <a:solidFill>
              <a:srgbClr val="E3E8E4"/>
            </a:solidFill>
            <a:prstDash val="solid"/>
          </a:ln>
        </p:spPr>
      </p:sp>
      <p:sp>
        <p:nvSpPr>
          <p:cNvPr id="97" name="Shape 95"/>
          <p:cNvSpPr/>
          <p:nvPr/>
        </p:nvSpPr>
        <p:spPr>
          <a:xfrm>
            <a:off x="411480" y="5961888"/>
            <a:ext cx="2514600" cy="384048"/>
          </a:xfrm>
          <a:prstGeom prst="rect">
            <a:avLst/>
          </a:prstGeom>
          <a:solidFill>
            <a:srgbClr val="FFFFFF"/>
          </a:solidFill>
          <a:ln/>
        </p:spPr>
      </p:sp>
      <p:sp>
        <p:nvSpPr>
          <p:cNvPr id="98" name="Text 96"/>
          <p:cNvSpPr txBox="1"/>
          <p:nvPr/>
        </p:nvSpPr>
        <p:spPr>
          <a:xfrm>
            <a:off x="457200" y="5961888"/>
            <a:ext cx="2423160" cy="384048"/>
          </a:xfrm>
          <a:prstGeom prst="rect">
            <a:avLst/>
          </a:prstGeom>
          <a:noFill/>
          <a:ln/>
        </p:spPr>
        <p:txBody>
          <a:bodyPr wrap="square" lIns="0" tIns="0" rIns="0" bIns="0" rtlCol="0" anchor="ctr"/>
          <a:lstStyle/>
          <a:p>
            <a:pPr algn="l" indent="0" marL="0">
              <a:buNone/>
            </a:pPr>
            <a:r>
              <a:rPr lang="en-US" sz="950" b="1" dirty="0">
                <a:solidFill>
                  <a:srgbClr val="C0392B"/>
                </a:solidFill>
                <a:latin typeface="Calibri" pitchFamily="34" charset="0"/>
                <a:ea typeface="Calibri" pitchFamily="34" charset="-122"/>
                <a:cs typeface="Calibri" pitchFamily="34" charset="-120"/>
              </a:rPr>
              <a:t>DPDP reading changes</a:t>
            </a:r>
            <a:endParaRPr lang="en-US" sz="950" dirty="0"/>
          </a:p>
        </p:txBody>
      </p:sp>
      <p:sp>
        <p:nvSpPr>
          <p:cNvPr id="99" name="Shape 97"/>
          <p:cNvSpPr/>
          <p:nvPr/>
        </p:nvSpPr>
        <p:spPr>
          <a:xfrm>
            <a:off x="2926080" y="5961888"/>
            <a:ext cx="5029200" cy="384048"/>
          </a:xfrm>
          <a:prstGeom prst="rect">
            <a:avLst/>
          </a:prstGeom>
          <a:solidFill>
            <a:srgbClr val="FFFFFF"/>
          </a:solidFill>
          <a:ln/>
        </p:spPr>
      </p:sp>
      <p:sp>
        <p:nvSpPr>
          <p:cNvPr id="100" name="Text 98"/>
          <p:cNvSpPr txBox="1"/>
          <p:nvPr/>
        </p:nvSpPr>
        <p:spPr>
          <a:xfrm>
            <a:off x="2971800" y="5961888"/>
            <a:ext cx="493776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Consent-first design that does not depend on the education exemption.</a:t>
            </a:r>
            <a:endParaRPr lang="en-US" sz="950" dirty="0"/>
          </a:p>
        </p:txBody>
      </p:sp>
      <p:sp>
        <p:nvSpPr>
          <p:cNvPr id="101" name="Shape 99"/>
          <p:cNvSpPr/>
          <p:nvPr/>
        </p:nvSpPr>
        <p:spPr>
          <a:xfrm>
            <a:off x="411480" y="6345936"/>
            <a:ext cx="7543800" cy="0"/>
          </a:xfrm>
          <a:prstGeom prst="line">
            <a:avLst/>
          </a:prstGeom>
          <a:noFill/>
          <a:ln w="6350">
            <a:solidFill>
              <a:srgbClr val="E3E8E4"/>
            </a:solidFill>
            <a:prstDash val="solid"/>
          </a:ln>
        </p:spPr>
      </p:sp>
      <p:sp>
        <p:nvSpPr>
          <p:cNvPr id="102" name="Shape 100"/>
          <p:cNvSpPr/>
          <p:nvPr/>
        </p:nvSpPr>
        <p:spPr>
          <a:xfrm>
            <a:off x="8183880" y="3858768"/>
            <a:ext cx="3596335" cy="2468880"/>
          </a:xfrm>
          <a:prstGeom prst="rect">
            <a:avLst/>
          </a:prstGeom>
          <a:solidFill>
            <a:srgbClr val="1F4A82"/>
          </a:solidFill>
          <a:ln/>
        </p:spPr>
      </p:sp>
      <p:sp>
        <p:nvSpPr>
          <p:cNvPr id="103" name="Text 101"/>
          <p:cNvSpPr txBox="1"/>
          <p:nvPr/>
        </p:nvSpPr>
        <p:spPr>
          <a:xfrm>
            <a:off x="8412480" y="3950208"/>
            <a:ext cx="3139135" cy="274320"/>
          </a:xfrm>
          <a:prstGeom prst="rect">
            <a:avLst/>
          </a:prstGeom>
          <a:noFill/>
          <a:ln/>
        </p:spPr>
        <p:txBody>
          <a:bodyPr wrap="square" lIns="0" tIns="0" rIns="0" bIns="0" rtlCol="0" anchor="t"/>
          <a:lstStyle/>
          <a:p>
            <a:pPr algn="l" indent="0" marL="0">
              <a:buNone/>
            </a:pPr>
            <a:r>
              <a:rPr lang="en-US" sz="1200" b="1" spc="150" kern="0" dirty="0">
                <a:solidFill>
                  <a:srgbClr val="F1D9A0"/>
                </a:solidFill>
                <a:latin typeface="Calibri" pitchFamily="34" charset="0"/>
                <a:ea typeface="Calibri" pitchFamily="34" charset="-122"/>
                <a:cs typeface="Calibri" pitchFamily="34" charset="-120"/>
              </a:rPr>
              <a:t>OUR ASK</a:t>
            </a:r>
            <a:endParaRPr lang="en-US" sz="1200" dirty="0"/>
          </a:p>
        </p:txBody>
      </p:sp>
      <p:sp>
        <p:nvSpPr>
          <p:cNvPr id="104" name="Text 102"/>
          <p:cNvSpPr txBox="1"/>
          <p:nvPr/>
        </p:nvSpPr>
        <p:spPr>
          <a:xfrm>
            <a:off x="8412480" y="4261104"/>
            <a:ext cx="3139135" cy="45720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Two retro-pilots in Patna this winter.</a:t>
            </a:r>
            <a:endParaRPr lang="en-US" sz="1500" dirty="0"/>
          </a:p>
        </p:txBody>
      </p:sp>
      <p:sp>
        <p:nvSpPr>
          <p:cNvPr id="105" name="Text 103"/>
          <p:cNvSpPr txBox="1"/>
          <p:nvPr/>
        </p:nvSpPr>
        <p:spPr>
          <a:xfrm>
            <a:off x="8412480" y="4754880"/>
            <a:ext cx="3139135" cy="9601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Give us last year's Excel. If Pragati would not have flagged more of the students who left than your attendance rule, at the same weekly workload, we stop and say so.</a:t>
            </a:r>
            <a:endParaRPr lang="en-US" sz="1050" dirty="0"/>
          </a:p>
        </p:txBody>
      </p:sp>
      <p:sp>
        <p:nvSpPr>
          <p:cNvPr id="106" name="Text 104"/>
          <p:cNvSpPr txBox="1"/>
          <p:nvPr/>
        </p:nvSpPr>
        <p:spPr>
          <a:xfrm>
            <a:off x="8412480" y="5760720"/>
            <a:ext cx="3139135" cy="457200"/>
          </a:xfrm>
          <a:prstGeom prst="rect">
            <a:avLst/>
          </a:prstGeom>
          <a:noFill/>
          <a:ln/>
        </p:spPr>
        <p:txBody>
          <a:bodyPr wrap="square" lIns="0" tIns="0" rIns="0" bIns="0" rtlCol="0" anchor="t"/>
          <a:lstStyle/>
          <a:p>
            <a:pPr algn="l" indent="0" marL="0">
              <a:buNone/>
            </a:pPr>
            <a:r>
              <a:rPr lang="en-US" sz="900" i="1" dirty="0">
                <a:solidFill>
                  <a:srgbClr val="C9DBF0"/>
                </a:solidFill>
                <a:latin typeface="Calibri" pitchFamily="34" charset="0"/>
                <a:ea typeface="Calibri" pitchFamily="34" charset="-122"/>
                <a:cs typeface="Calibri" pitchFamily="34" charset="-120"/>
              </a:rPr>
              <a:t>Changed from the guide: 25 % to 6.6 % dropout reduction; LTV ÷ CAC 10.7x to 3.7x.</a:t>
            </a:r>
            <a:endParaRPr lang="en-US" sz="900" dirty="0"/>
          </a:p>
        </p:txBody>
      </p:sp>
      <p:sp>
        <p:nvSpPr>
          <p:cNvPr id="107" name="Text 105"/>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ml/public_validation; financial workbook; technical/docs/FEASIBILITY_CHECK.md. Amber items are replaced with measured values before submission.</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1: INSTITUTE RETURN ASSUMPTIONS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The assumptions behind the institute return, with ranges and confidence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REVENUE MODEL AND UNIT ECONOMICS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611880" cy="301752"/>
          </a:xfrm>
          <a:prstGeom prst="rect">
            <a:avLst/>
          </a:prstGeom>
          <a:solidFill>
            <a:srgbClr val="1F4A82"/>
          </a:solidFill>
          <a:ln/>
        </p:spPr>
      </p:sp>
      <p:sp>
        <p:nvSpPr>
          <p:cNvPr id="17" name="Text 15"/>
          <p:cNvSpPr txBox="1"/>
          <p:nvPr/>
        </p:nvSpPr>
        <p:spPr>
          <a:xfrm>
            <a:off x="521208" y="1115568"/>
            <a:ext cx="33924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ASSUMPTIONS (MID, BASE)</a:t>
            </a:r>
            <a:endParaRPr lang="en-US" sz="1200" dirty="0"/>
          </a:p>
        </p:txBody>
      </p:sp>
      <p:sp>
        <p:nvSpPr>
          <p:cNvPr id="18" name="Shape 16"/>
          <p:cNvSpPr/>
          <p:nvPr/>
        </p:nvSpPr>
        <p:spPr>
          <a:xfrm>
            <a:off x="4078224" y="1115568"/>
            <a:ext cx="0" cy="5212080"/>
          </a:xfrm>
          <a:prstGeom prst="line">
            <a:avLst/>
          </a:prstGeom>
          <a:noFill/>
          <a:ln w="12700">
            <a:solidFill>
              <a:srgbClr val="8FA9CC"/>
            </a:solidFill>
            <a:prstDash val="dash"/>
          </a:ln>
        </p:spPr>
      </p:sp>
      <p:sp>
        <p:nvSpPr>
          <p:cNvPr id="19" name="Shape 17"/>
          <p:cNvSpPr/>
          <p:nvPr/>
        </p:nvSpPr>
        <p:spPr>
          <a:xfrm>
            <a:off x="484632" y="1463040"/>
            <a:ext cx="1371600" cy="274320"/>
          </a:xfrm>
          <a:prstGeom prst="rect">
            <a:avLst/>
          </a:prstGeom>
          <a:solidFill>
            <a:srgbClr val="1F4A82"/>
          </a:solidFill>
          <a:ln/>
        </p:spPr>
      </p:sp>
      <p:sp>
        <p:nvSpPr>
          <p:cNvPr id="20" name="Text 18"/>
          <p:cNvSpPr txBox="1"/>
          <p:nvPr/>
        </p:nvSpPr>
        <p:spPr>
          <a:xfrm>
            <a:off x="530352" y="1463040"/>
            <a:ext cx="12801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21" name="Shape 19"/>
          <p:cNvSpPr/>
          <p:nvPr/>
        </p:nvSpPr>
        <p:spPr>
          <a:xfrm>
            <a:off x="1856232" y="1463040"/>
            <a:ext cx="685800" cy="274320"/>
          </a:xfrm>
          <a:prstGeom prst="rect">
            <a:avLst/>
          </a:prstGeom>
          <a:solidFill>
            <a:srgbClr val="1F4A82"/>
          </a:solidFill>
          <a:ln/>
        </p:spPr>
      </p:sp>
      <p:sp>
        <p:nvSpPr>
          <p:cNvPr id="22" name="Text 20"/>
          <p:cNvSpPr txBox="1"/>
          <p:nvPr/>
        </p:nvSpPr>
        <p:spPr>
          <a:xfrm>
            <a:off x="1901952" y="1463040"/>
            <a:ext cx="5943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23" name="Shape 21"/>
          <p:cNvSpPr/>
          <p:nvPr/>
        </p:nvSpPr>
        <p:spPr>
          <a:xfrm>
            <a:off x="2542032" y="1463040"/>
            <a:ext cx="914400" cy="274320"/>
          </a:xfrm>
          <a:prstGeom prst="rect">
            <a:avLst/>
          </a:prstGeom>
          <a:solidFill>
            <a:srgbClr val="1F4A82"/>
          </a:solidFill>
          <a:ln/>
        </p:spPr>
      </p:sp>
      <p:sp>
        <p:nvSpPr>
          <p:cNvPr id="24" name="Text 22"/>
          <p:cNvSpPr txBox="1"/>
          <p:nvPr/>
        </p:nvSpPr>
        <p:spPr>
          <a:xfrm>
            <a:off x="2587752" y="1463040"/>
            <a:ext cx="8229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Range</a:t>
            </a:r>
            <a:endParaRPr lang="en-US" sz="950" dirty="0"/>
          </a:p>
        </p:txBody>
      </p:sp>
      <p:sp>
        <p:nvSpPr>
          <p:cNvPr id="25" name="Shape 23"/>
          <p:cNvSpPr/>
          <p:nvPr/>
        </p:nvSpPr>
        <p:spPr>
          <a:xfrm>
            <a:off x="3456432" y="1463040"/>
            <a:ext cx="457200" cy="274320"/>
          </a:xfrm>
          <a:prstGeom prst="rect">
            <a:avLst/>
          </a:prstGeom>
          <a:solidFill>
            <a:srgbClr val="1F4A82"/>
          </a:solidFill>
          <a:ln/>
        </p:spPr>
      </p:sp>
      <p:sp>
        <p:nvSpPr>
          <p:cNvPr id="26" name="Text 24"/>
          <p:cNvSpPr txBox="1"/>
          <p:nvPr/>
        </p:nvSpPr>
        <p:spPr>
          <a:xfrm>
            <a:off x="3502152" y="1463040"/>
            <a:ext cx="36576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Conf.</a:t>
            </a:r>
            <a:endParaRPr lang="en-US" sz="950" dirty="0"/>
          </a:p>
        </p:txBody>
      </p:sp>
      <p:sp>
        <p:nvSpPr>
          <p:cNvPr id="27" name="Shape 25"/>
          <p:cNvSpPr/>
          <p:nvPr/>
        </p:nvSpPr>
        <p:spPr>
          <a:xfrm>
            <a:off x="484632" y="1737360"/>
            <a:ext cx="1371600" cy="301752"/>
          </a:xfrm>
          <a:prstGeom prst="rect">
            <a:avLst/>
          </a:prstGeom>
          <a:solidFill>
            <a:srgbClr val="F1F7F3"/>
          </a:solidFill>
          <a:ln/>
        </p:spPr>
      </p:sp>
      <p:sp>
        <p:nvSpPr>
          <p:cNvPr id="28" name="Text 26"/>
          <p:cNvSpPr txBox="1"/>
          <p:nvPr/>
        </p:nvSpPr>
        <p:spPr>
          <a:xfrm>
            <a:off x="530352" y="1737360"/>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a:t>
            </a:r>
            <a:endParaRPr lang="en-US" sz="950" dirty="0"/>
          </a:p>
        </p:txBody>
      </p:sp>
      <p:sp>
        <p:nvSpPr>
          <p:cNvPr id="29" name="Shape 27"/>
          <p:cNvSpPr/>
          <p:nvPr/>
        </p:nvSpPr>
        <p:spPr>
          <a:xfrm>
            <a:off x="1856232" y="1737360"/>
            <a:ext cx="685800" cy="301752"/>
          </a:xfrm>
          <a:prstGeom prst="rect">
            <a:avLst/>
          </a:prstGeom>
          <a:solidFill>
            <a:srgbClr val="F1F7F3"/>
          </a:solidFill>
          <a:ln/>
        </p:spPr>
      </p:sp>
      <p:sp>
        <p:nvSpPr>
          <p:cNvPr id="30" name="Text 28"/>
          <p:cNvSpPr txBox="1"/>
          <p:nvPr/>
        </p:nvSpPr>
        <p:spPr>
          <a:xfrm>
            <a:off x="1901952" y="1737360"/>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400</a:t>
            </a:r>
            <a:endParaRPr lang="en-US" sz="950" dirty="0"/>
          </a:p>
        </p:txBody>
      </p:sp>
      <p:sp>
        <p:nvSpPr>
          <p:cNvPr id="31" name="Shape 29"/>
          <p:cNvSpPr/>
          <p:nvPr/>
        </p:nvSpPr>
        <p:spPr>
          <a:xfrm>
            <a:off x="2542032" y="1737360"/>
            <a:ext cx="914400" cy="301752"/>
          </a:xfrm>
          <a:prstGeom prst="rect">
            <a:avLst/>
          </a:prstGeom>
          <a:solidFill>
            <a:srgbClr val="F1F7F3"/>
          </a:solidFill>
          <a:ln/>
        </p:spPr>
      </p:sp>
      <p:sp>
        <p:nvSpPr>
          <p:cNvPr id="32" name="Text 30"/>
          <p:cNvSpPr txBox="1"/>
          <p:nvPr/>
        </p:nvSpPr>
        <p:spPr>
          <a:xfrm>
            <a:off x="2587752" y="1737360"/>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180 to 1,200</a:t>
            </a:r>
            <a:endParaRPr lang="en-US" sz="950" dirty="0"/>
          </a:p>
        </p:txBody>
      </p:sp>
      <p:sp>
        <p:nvSpPr>
          <p:cNvPr id="33" name="Shape 31"/>
          <p:cNvSpPr/>
          <p:nvPr/>
        </p:nvSpPr>
        <p:spPr>
          <a:xfrm>
            <a:off x="3456432" y="1737360"/>
            <a:ext cx="457200" cy="301752"/>
          </a:xfrm>
          <a:prstGeom prst="rect">
            <a:avLst/>
          </a:prstGeom>
          <a:solidFill>
            <a:srgbClr val="F1F7F3"/>
          </a:solidFill>
          <a:ln/>
        </p:spPr>
      </p:sp>
      <p:sp>
        <p:nvSpPr>
          <p:cNvPr id="34" name="Text 32"/>
          <p:cNvSpPr txBox="1"/>
          <p:nvPr/>
        </p:nvSpPr>
        <p:spPr>
          <a:xfrm>
            <a:off x="3502152" y="1737360"/>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a:t>
            </a:r>
            <a:endParaRPr lang="en-US" sz="950" dirty="0"/>
          </a:p>
        </p:txBody>
      </p:sp>
      <p:sp>
        <p:nvSpPr>
          <p:cNvPr id="35" name="Shape 33"/>
          <p:cNvSpPr/>
          <p:nvPr/>
        </p:nvSpPr>
        <p:spPr>
          <a:xfrm>
            <a:off x="484632" y="2039112"/>
            <a:ext cx="3429000" cy="0"/>
          </a:xfrm>
          <a:prstGeom prst="line">
            <a:avLst/>
          </a:prstGeom>
          <a:noFill/>
          <a:ln w="6350">
            <a:solidFill>
              <a:srgbClr val="E3E8E4"/>
            </a:solidFill>
            <a:prstDash val="solid"/>
          </a:ln>
        </p:spPr>
      </p:sp>
      <p:sp>
        <p:nvSpPr>
          <p:cNvPr id="36" name="Shape 34"/>
          <p:cNvSpPr/>
          <p:nvPr/>
        </p:nvSpPr>
        <p:spPr>
          <a:xfrm>
            <a:off x="484632" y="2039112"/>
            <a:ext cx="1371600" cy="301752"/>
          </a:xfrm>
          <a:prstGeom prst="rect">
            <a:avLst/>
          </a:prstGeom>
          <a:solidFill>
            <a:srgbClr val="FFFFFF"/>
          </a:solidFill>
          <a:ln/>
        </p:spPr>
      </p:sp>
      <p:sp>
        <p:nvSpPr>
          <p:cNvPr id="37" name="Text 35"/>
          <p:cNvSpPr txBox="1"/>
          <p:nvPr/>
        </p:nvSpPr>
        <p:spPr>
          <a:xfrm>
            <a:off x="530352" y="2039112"/>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Annual fee</a:t>
            </a:r>
            <a:endParaRPr lang="en-US" sz="950" dirty="0"/>
          </a:p>
        </p:txBody>
      </p:sp>
      <p:sp>
        <p:nvSpPr>
          <p:cNvPr id="38" name="Shape 36"/>
          <p:cNvSpPr/>
          <p:nvPr/>
        </p:nvSpPr>
        <p:spPr>
          <a:xfrm>
            <a:off x="1856232" y="2039112"/>
            <a:ext cx="685800" cy="301752"/>
          </a:xfrm>
          <a:prstGeom prst="rect">
            <a:avLst/>
          </a:prstGeom>
          <a:solidFill>
            <a:srgbClr val="FFFFFF"/>
          </a:solidFill>
          <a:ln/>
        </p:spPr>
      </p:sp>
      <p:sp>
        <p:nvSpPr>
          <p:cNvPr id="39" name="Text 37"/>
          <p:cNvSpPr txBox="1"/>
          <p:nvPr/>
        </p:nvSpPr>
        <p:spPr>
          <a:xfrm>
            <a:off x="1901952" y="2039112"/>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₹95,000</a:t>
            </a:r>
            <a:endParaRPr lang="en-US" sz="950" dirty="0"/>
          </a:p>
        </p:txBody>
      </p:sp>
      <p:sp>
        <p:nvSpPr>
          <p:cNvPr id="40" name="Shape 38"/>
          <p:cNvSpPr/>
          <p:nvPr/>
        </p:nvSpPr>
        <p:spPr>
          <a:xfrm>
            <a:off x="2542032" y="2039112"/>
            <a:ext cx="914400" cy="301752"/>
          </a:xfrm>
          <a:prstGeom prst="rect">
            <a:avLst/>
          </a:prstGeom>
          <a:solidFill>
            <a:srgbClr val="FFFFFF"/>
          </a:solidFill>
          <a:ln/>
        </p:spPr>
      </p:sp>
      <p:sp>
        <p:nvSpPr>
          <p:cNvPr id="41" name="Text 39"/>
          <p:cNvSpPr txBox="1"/>
          <p:nvPr/>
        </p:nvSpPr>
        <p:spPr>
          <a:xfrm>
            <a:off x="2587752" y="2039112"/>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70k to 120k</a:t>
            </a:r>
            <a:endParaRPr lang="en-US" sz="950" dirty="0"/>
          </a:p>
        </p:txBody>
      </p:sp>
      <p:sp>
        <p:nvSpPr>
          <p:cNvPr id="42" name="Shape 40"/>
          <p:cNvSpPr/>
          <p:nvPr/>
        </p:nvSpPr>
        <p:spPr>
          <a:xfrm>
            <a:off x="3456432" y="2039112"/>
            <a:ext cx="457200" cy="301752"/>
          </a:xfrm>
          <a:prstGeom prst="rect">
            <a:avLst/>
          </a:prstGeom>
          <a:solidFill>
            <a:srgbClr val="FFFFFF"/>
          </a:solidFill>
          <a:ln/>
        </p:spPr>
      </p:sp>
      <p:sp>
        <p:nvSpPr>
          <p:cNvPr id="43" name="Text 41"/>
          <p:cNvSpPr txBox="1"/>
          <p:nvPr/>
        </p:nvSpPr>
        <p:spPr>
          <a:xfrm>
            <a:off x="3502152" y="2039112"/>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44" name="Shape 42"/>
          <p:cNvSpPr/>
          <p:nvPr/>
        </p:nvSpPr>
        <p:spPr>
          <a:xfrm>
            <a:off x="484632" y="2340864"/>
            <a:ext cx="3429000" cy="0"/>
          </a:xfrm>
          <a:prstGeom prst="line">
            <a:avLst/>
          </a:prstGeom>
          <a:noFill/>
          <a:ln w="6350">
            <a:solidFill>
              <a:srgbClr val="E3E8E4"/>
            </a:solidFill>
            <a:prstDash val="solid"/>
          </a:ln>
        </p:spPr>
      </p:sp>
      <p:sp>
        <p:nvSpPr>
          <p:cNvPr id="45" name="Shape 43"/>
          <p:cNvSpPr/>
          <p:nvPr/>
        </p:nvSpPr>
        <p:spPr>
          <a:xfrm>
            <a:off x="484632" y="2340864"/>
            <a:ext cx="1371600" cy="301752"/>
          </a:xfrm>
          <a:prstGeom prst="rect">
            <a:avLst/>
          </a:prstGeom>
          <a:solidFill>
            <a:srgbClr val="F1F7F3"/>
          </a:solidFill>
          <a:ln/>
        </p:spPr>
      </p:sp>
      <p:sp>
        <p:nvSpPr>
          <p:cNvPr id="46" name="Text 44"/>
          <p:cNvSpPr txBox="1"/>
          <p:nvPr/>
        </p:nvSpPr>
        <p:spPr>
          <a:xfrm>
            <a:off x="530352" y="2340864"/>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Mid-session dropout</a:t>
            </a:r>
            <a:endParaRPr lang="en-US" sz="950" dirty="0"/>
          </a:p>
        </p:txBody>
      </p:sp>
      <p:sp>
        <p:nvSpPr>
          <p:cNvPr id="47" name="Shape 45"/>
          <p:cNvSpPr/>
          <p:nvPr/>
        </p:nvSpPr>
        <p:spPr>
          <a:xfrm>
            <a:off x="1856232" y="2340864"/>
            <a:ext cx="685800" cy="301752"/>
          </a:xfrm>
          <a:prstGeom prst="rect">
            <a:avLst/>
          </a:prstGeom>
          <a:solidFill>
            <a:srgbClr val="F1F7F3"/>
          </a:solidFill>
          <a:ln/>
        </p:spPr>
      </p:sp>
      <p:sp>
        <p:nvSpPr>
          <p:cNvPr id="48" name="Text 46"/>
          <p:cNvSpPr txBox="1"/>
          <p:nvPr/>
        </p:nvSpPr>
        <p:spPr>
          <a:xfrm>
            <a:off x="1901952" y="2340864"/>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49" name="Shape 47"/>
          <p:cNvSpPr/>
          <p:nvPr/>
        </p:nvSpPr>
        <p:spPr>
          <a:xfrm>
            <a:off x="2542032" y="2340864"/>
            <a:ext cx="914400" cy="301752"/>
          </a:xfrm>
          <a:prstGeom prst="rect">
            <a:avLst/>
          </a:prstGeom>
          <a:solidFill>
            <a:srgbClr val="F1F7F3"/>
          </a:solidFill>
          <a:ln/>
        </p:spPr>
      </p:sp>
      <p:sp>
        <p:nvSpPr>
          <p:cNvPr id="50" name="Text 48"/>
          <p:cNvSpPr txBox="1"/>
          <p:nvPr/>
        </p:nvSpPr>
        <p:spPr>
          <a:xfrm>
            <a:off x="2587752" y="2340864"/>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 to 18 %</a:t>
            </a:r>
            <a:endParaRPr lang="en-US" sz="950" dirty="0"/>
          </a:p>
        </p:txBody>
      </p:sp>
      <p:sp>
        <p:nvSpPr>
          <p:cNvPr id="51" name="Shape 49"/>
          <p:cNvSpPr/>
          <p:nvPr/>
        </p:nvSpPr>
        <p:spPr>
          <a:xfrm>
            <a:off x="3456432" y="2340864"/>
            <a:ext cx="457200" cy="301752"/>
          </a:xfrm>
          <a:prstGeom prst="rect">
            <a:avLst/>
          </a:prstGeom>
          <a:solidFill>
            <a:srgbClr val="F1F7F3"/>
          </a:solidFill>
          <a:ln/>
        </p:spPr>
      </p:sp>
      <p:sp>
        <p:nvSpPr>
          <p:cNvPr id="52" name="Text 50"/>
          <p:cNvSpPr txBox="1"/>
          <p:nvPr/>
        </p:nvSpPr>
        <p:spPr>
          <a:xfrm>
            <a:off x="3502152" y="2340864"/>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53" name="Shape 51"/>
          <p:cNvSpPr/>
          <p:nvPr/>
        </p:nvSpPr>
        <p:spPr>
          <a:xfrm>
            <a:off x="484632" y="2642616"/>
            <a:ext cx="3429000" cy="0"/>
          </a:xfrm>
          <a:prstGeom prst="line">
            <a:avLst/>
          </a:prstGeom>
          <a:noFill/>
          <a:ln w="6350">
            <a:solidFill>
              <a:srgbClr val="E3E8E4"/>
            </a:solidFill>
            <a:prstDash val="solid"/>
          </a:ln>
        </p:spPr>
      </p:sp>
      <p:sp>
        <p:nvSpPr>
          <p:cNvPr id="54" name="Shape 52"/>
          <p:cNvSpPr/>
          <p:nvPr/>
        </p:nvSpPr>
        <p:spPr>
          <a:xfrm>
            <a:off x="484632" y="2642616"/>
            <a:ext cx="1371600" cy="301752"/>
          </a:xfrm>
          <a:prstGeom prst="rect">
            <a:avLst/>
          </a:prstGeom>
          <a:solidFill>
            <a:srgbClr val="FFFFFF"/>
          </a:solidFill>
          <a:ln/>
        </p:spPr>
      </p:sp>
      <p:sp>
        <p:nvSpPr>
          <p:cNvPr id="55" name="Text 53"/>
          <p:cNvSpPr txBox="1"/>
          <p:nvPr/>
        </p:nvSpPr>
        <p:spPr>
          <a:xfrm>
            <a:off x="530352" y="2642616"/>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Outreach effect</a:t>
            </a:r>
            <a:endParaRPr lang="en-US" sz="950" dirty="0"/>
          </a:p>
        </p:txBody>
      </p:sp>
      <p:sp>
        <p:nvSpPr>
          <p:cNvPr id="56" name="Shape 54"/>
          <p:cNvSpPr/>
          <p:nvPr/>
        </p:nvSpPr>
        <p:spPr>
          <a:xfrm>
            <a:off x="1856232" y="2642616"/>
            <a:ext cx="685800" cy="301752"/>
          </a:xfrm>
          <a:prstGeom prst="rect">
            <a:avLst/>
          </a:prstGeom>
          <a:solidFill>
            <a:srgbClr val="FFFFFF"/>
          </a:solidFill>
          <a:ln/>
        </p:spPr>
      </p:sp>
      <p:sp>
        <p:nvSpPr>
          <p:cNvPr id="57" name="Text 55"/>
          <p:cNvSpPr txBox="1"/>
          <p:nvPr/>
        </p:nvSpPr>
        <p:spPr>
          <a:xfrm>
            <a:off x="1901952" y="2642616"/>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15 %</a:t>
            </a:r>
            <a:endParaRPr lang="en-US" sz="950" dirty="0"/>
          </a:p>
        </p:txBody>
      </p:sp>
      <p:sp>
        <p:nvSpPr>
          <p:cNvPr id="58" name="Shape 56"/>
          <p:cNvSpPr/>
          <p:nvPr/>
        </p:nvSpPr>
        <p:spPr>
          <a:xfrm>
            <a:off x="2542032" y="2642616"/>
            <a:ext cx="914400" cy="301752"/>
          </a:xfrm>
          <a:prstGeom prst="rect">
            <a:avLst/>
          </a:prstGeom>
          <a:solidFill>
            <a:srgbClr val="FFFFFF"/>
          </a:solidFill>
          <a:ln/>
        </p:spPr>
      </p:sp>
      <p:sp>
        <p:nvSpPr>
          <p:cNvPr id="59" name="Text 57"/>
          <p:cNvSpPr txBox="1"/>
          <p:nvPr/>
        </p:nvSpPr>
        <p:spPr>
          <a:xfrm>
            <a:off x="2587752" y="2642616"/>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 to 30 %</a:t>
            </a:r>
            <a:endParaRPr lang="en-US" sz="950" dirty="0"/>
          </a:p>
        </p:txBody>
      </p:sp>
      <p:sp>
        <p:nvSpPr>
          <p:cNvPr id="60" name="Shape 58"/>
          <p:cNvSpPr/>
          <p:nvPr/>
        </p:nvSpPr>
        <p:spPr>
          <a:xfrm>
            <a:off x="3456432" y="2642616"/>
            <a:ext cx="457200" cy="301752"/>
          </a:xfrm>
          <a:prstGeom prst="rect">
            <a:avLst/>
          </a:prstGeom>
          <a:solidFill>
            <a:srgbClr val="FFFFFF"/>
          </a:solidFill>
          <a:ln/>
        </p:spPr>
      </p:sp>
      <p:sp>
        <p:nvSpPr>
          <p:cNvPr id="61" name="Text 59"/>
          <p:cNvSpPr txBox="1"/>
          <p:nvPr/>
        </p:nvSpPr>
        <p:spPr>
          <a:xfrm>
            <a:off x="3502152" y="2642616"/>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a:t>
            </a:r>
            <a:endParaRPr lang="en-US" sz="950" dirty="0"/>
          </a:p>
        </p:txBody>
      </p:sp>
      <p:sp>
        <p:nvSpPr>
          <p:cNvPr id="62" name="Shape 60"/>
          <p:cNvSpPr/>
          <p:nvPr/>
        </p:nvSpPr>
        <p:spPr>
          <a:xfrm>
            <a:off x="484632" y="2944368"/>
            <a:ext cx="3429000" cy="0"/>
          </a:xfrm>
          <a:prstGeom prst="line">
            <a:avLst/>
          </a:prstGeom>
          <a:noFill/>
          <a:ln w="6350">
            <a:solidFill>
              <a:srgbClr val="E3E8E4"/>
            </a:solidFill>
            <a:prstDash val="solid"/>
          </a:ln>
        </p:spPr>
      </p:sp>
      <p:sp>
        <p:nvSpPr>
          <p:cNvPr id="63" name="Shape 61"/>
          <p:cNvSpPr/>
          <p:nvPr/>
        </p:nvSpPr>
        <p:spPr>
          <a:xfrm>
            <a:off x="484632" y="2944368"/>
            <a:ext cx="1371600" cy="301752"/>
          </a:xfrm>
          <a:prstGeom prst="rect">
            <a:avLst/>
          </a:prstGeom>
          <a:solidFill>
            <a:srgbClr val="F1F7F3"/>
          </a:solidFill>
          <a:ln/>
        </p:spPr>
      </p:sp>
      <p:sp>
        <p:nvSpPr>
          <p:cNvPr id="64" name="Text 62"/>
          <p:cNvSpPr txBox="1"/>
          <p:nvPr/>
        </p:nvSpPr>
        <p:spPr>
          <a:xfrm>
            <a:off x="530352" y="2944368"/>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Share preventable</a:t>
            </a:r>
            <a:endParaRPr lang="en-US" sz="950" dirty="0"/>
          </a:p>
        </p:txBody>
      </p:sp>
      <p:sp>
        <p:nvSpPr>
          <p:cNvPr id="65" name="Shape 63"/>
          <p:cNvSpPr/>
          <p:nvPr/>
        </p:nvSpPr>
        <p:spPr>
          <a:xfrm>
            <a:off x="1856232" y="2944368"/>
            <a:ext cx="685800" cy="301752"/>
          </a:xfrm>
          <a:prstGeom prst="rect">
            <a:avLst/>
          </a:prstGeom>
          <a:solidFill>
            <a:srgbClr val="F1F7F3"/>
          </a:solidFill>
          <a:ln/>
        </p:spPr>
      </p:sp>
      <p:sp>
        <p:nvSpPr>
          <p:cNvPr id="66" name="Text 64"/>
          <p:cNvSpPr txBox="1"/>
          <p:nvPr/>
        </p:nvSpPr>
        <p:spPr>
          <a:xfrm>
            <a:off x="1901952" y="2944368"/>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45 %</a:t>
            </a:r>
            <a:endParaRPr lang="en-US" sz="950" dirty="0"/>
          </a:p>
        </p:txBody>
      </p:sp>
      <p:sp>
        <p:nvSpPr>
          <p:cNvPr id="67" name="Shape 65"/>
          <p:cNvSpPr/>
          <p:nvPr/>
        </p:nvSpPr>
        <p:spPr>
          <a:xfrm>
            <a:off x="2542032" y="2944368"/>
            <a:ext cx="914400" cy="301752"/>
          </a:xfrm>
          <a:prstGeom prst="rect">
            <a:avLst/>
          </a:prstGeom>
          <a:solidFill>
            <a:srgbClr val="F1F7F3"/>
          </a:solidFill>
          <a:ln/>
        </p:spPr>
      </p:sp>
      <p:sp>
        <p:nvSpPr>
          <p:cNvPr id="68" name="Text 66"/>
          <p:cNvSpPr txBox="1"/>
          <p:nvPr/>
        </p:nvSpPr>
        <p:spPr>
          <a:xfrm>
            <a:off x="2587752" y="2944368"/>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to 60 %</a:t>
            </a:r>
            <a:endParaRPr lang="en-US" sz="950" dirty="0"/>
          </a:p>
        </p:txBody>
      </p:sp>
      <p:sp>
        <p:nvSpPr>
          <p:cNvPr id="69" name="Shape 67"/>
          <p:cNvSpPr/>
          <p:nvPr/>
        </p:nvSpPr>
        <p:spPr>
          <a:xfrm>
            <a:off x="3456432" y="2944368"/>
            <a:ext cx="457200" cy="301752"/>
          </a:xfrm>
          <a:prstGeom prst="rect">
            <a:avLst/>
          </a:prstGeom>
          <a:solidFill>
            <a:srgbClr val="F1F7F3"/>
          </a:solidFill>
          <a:ln/>
        </p:spPr>
      </p:sp>
      <p:sp>
        <p:nvSpPr>
          <p:cNvPr id="70" name="Text 68"/>
          <p:cNvSpPr txBox="1"/>
          <p:nvPr/>
        </p:nvSpPr>
        <p:spPr>
          <a:xfrm>
            <a:off x="3502152" y="2944368"/>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71" name="Shape 69"/>
          <p:cNvSpPr/>
          <p:nvPr/>
        </p:nvSpPr>
        <p:spPr>
          <a:xfrm>
            <a:off x="484632" y="3246120"/>
            <a:ext cx="3429000" cy="0"/>
          </a:xfrm>
          <a:prstGeom prst="line">
            <a:avLst/>
          </a:prstGeom>
          <a:noFill/>
          <a:ln w="6350">
            <a:solidFill>
              <a:srgbClr val="E3E8E4"/>
            </a:solidFill>
            <a:prstDash val="solid"/>
          </a:ln>
        </p:spPr>
      </p:sp>
      <p:sp>
        <p:nvSpPr>
          <p:cNvPr id="72" name="Shape 70"/>
          <p:cNvSpPr/>
          <p:nvPr/>
        </p:nvSpPr>
        <p:spPr>
          <a:xfrm>
            <a:off x="484632" y="3246120"/>
            <a:ext cx="1371600" cy="301752"/>
          </a:xfrm>
          <a:prstGeom prst="rect">
            <a:avLst/>
          </a:prstGeom>
          <a:solidFill>
            <a:srgbClr val="FFFFFF"/>
          </a:solidFill>
          <a:ln/>
        </p:spPr>
      </p:sp>
      <p:sp>
        <p:nvSpPr>
          <p:cNvPr id="73" name="Text 71"/>
          <p:cNvSpPr txBox="1"/>
          <p:nvPr/>
        </p:nvSpPr>
        <p:spPr>
          <a:xfrm>
            <a:off x="530352" y="3246120"/>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Recall, under 18</a:t>
            </a:r>
            <a:endParaRPr lang="en-US" sz="950" dirty="0"/>
          </a:p>
        </p:txBody>
      </p:sp>
      <p:sp>
        <p:nvSpPr>
          <p:cNvPr id="74" name="Shape 72"/>
          <p:cNvSpPr/>
          <p:nvPr/>
        </p:nvSpPr>
        <p:spPr>
          <a:xfrm>
            <a:off x="1856232" y="3246120"/>
            <a:ext cx="685800" cy="301752"/>
          </a:xfrm>
          <a:prstGeom prst="rect">
            <a:avLst/>
          </a:prstGeom>
          <a:solidFill>
            <a:srgbClr val="FFFFFF"/>
          </a:solidFill>
          <a:ln/>
        </p:spPr>
      </p:sp>
      <p:sp>
        <p:nvSpPr>
          <p:cNvPr id="75" name="Text 73"/>
          <p:cNvSpPr txBox="1"/>
          <p:nvPr/>
        </p:nvSpPr>
        <p:spPr>
          <a:xfrm>
            <a:off x="1901952" y="3246120"/>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55 %</a:t>
            </a:r>
            <a:endParaRPr lang="en-US" sz="950" dirty="0"/>
          </a:p>
        </p:txBody>
      </p:sp>
      <p:sp>
        <p:nvSpPr>
          <p:cNvPr id="76" name="Shape 74"/>
          <p:cNvSpPr/>
          <p:nvPr/>
        </p:nvSpPr>
        <p:spPr>
          <a:xfrm>
            <a:off x="2542032" y="3246120"/>
            <a:ext cx="914400" cy="301752"/>
          </a:xfrm>
          <a:prstGeom prst="rect">
            <a:avLst/>
          </a:prstGeom>
          <a:solidFill>
            <a:srgbClr val="FFFFFF"/>
          </a:solidFill>
          <a:ln/>
        </p:spPr>
      </p:sp>
      <p:sp>
        <p:nvSpPr>
          <p:cNvPr id="77" name="Text 75"/>
          <p:cNvSpPr txBox="1"/>
          <p:nvPr/>
        </p:nvSpPr>
        <p:spPr>
          <a:xfrm>
            <a:off x="2587752" y="3246120"/>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40 to 70 %</a:t>
            </a:r>
            <a:endParaRPr lang="en-US" sz="950" dirty="0"/>
          </a:p>
        </p:txBody>
      </p:sp>
      <p:sp>
        <p:nvSpPr>
          <p:cNvPr id="78" name="Shape 76"/>
          <p:cNvSpPr/>
          <p:nvPr/>
        </p:nvSpPr>
        <p:spPr>
          <a:xfrm>
            <a:off x="3456432" y="3246120"/>
            <a:ext cx="457200" cy="301752"/>
          </a:xfrm>
          <a:prstGeom prst="rect">
            <a:avLst/>
          </a:prstGeom>
          <a:solidFill>
            <a:srgbClr val="FFFFFF"/>
          </a:solidFill>
          <a:ln/>
        </p:spPr>
      </p:sp>
      <p:sp>
        <p:nvSpPr>
          <p:cNvPr id="79" name="Text 77"/>
          <p:cNvSpPr txBox="1"/>
          <p:nvPr/>
        </p:nvSpPr>
        <p:spPr>
          <a:xfrm>
            <a:off x="3502152" y="3246120"/>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80" name="Shape 78"/>
          <p:cNvSpPr/>
          <p:nvPr/>
        </p:nvSpPr>
        <p:spPr>
          <a:xfrm>
            <a:off x="484632" y="3547872"/>
            <a:ext cx="3429000" cy="0"/>
          </a:xfrm>
          <a:prstGeom prst="line">
            <a:avLst/>
          </a:prstGeom>
          <a:noFill/>
          <a:ln w="6350">
            <a:solidFill>
              <a:srgbClr val="E3E8E4"/>
            </a:solidFill>
            <a:prstDash val="solid"/>
          </a:ln>
        </p:spPr>
      </p:sp>
      <p:sp>
        <p:nvSpPr>
          <p:cNvPr id="81" name="Shape 79"/>
          <p:cNvSpPr/>
          <p:nvPr/>
        </p:nvSpPr>
        <p:spPr>
          <a:xfrm>
            <a:off x="484632" y="3547872"/>
            <a:ext cx="1371600" cy="301752"/>
          </a:xfrm>
          <a:prstGeom prst="rect">
            <a:avLst/>
          </a:prstGeom>
          <a:solidFill>
            <a:srgbClr val="F1F7F3"/>
          </a:solidFill>
          <a:ln/>
        </p:spPr>
      </p:sp>
      <p:sp>
        <p:nvSpPr>
          <p:cNvPr id="82" name="Text 80"/>
          <p:cNvSpPr txBox="1"/>
          <p:nvPr/>
        </p:nvSpPr>
        <p:spPr>
          <a:xfrm>
            <a:off x="530352" y="3547872"/>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Recall, 18+</a:t>
            </a:r>
            <a:endParaRPr lang="en-US" sz="950" dirty="0"/>
          </a:p>
        </p:txBody>
      </p:sp>
      <p:sp>
        <p:nvSpPr>
          <p:cNvPr id="83" name="Shape 81"/>
          <p:cNvSpPr/>
          <p:nvPr/>
        </p:nvSpPr>
        <p:spPr>
          <a:xfrm>
            <a:off x="1856232" y="3547872"/>
            <a:ext cx="685800" cy="301752"/>
          </a:xfrm>
          <a:prstGeom prst="rect">
            <a:avLst/>
          </a:prstGeom>
          <a:solidFill>
            <a:srgbClr val="F1F7F3"/>
          </a:solidFill>
          <a:ln/>
        </p:spPr>
      </p:sp>
      <p:sp>
        <p:nvSpPr>
          <p:cNvPr id="84" name="Text 82"/>
          <p:cNvSpPr txBox="1"/>
          <p:nvPr/>
        </p:nvSpPr>
        <p:spPr>
          <a:xfrm>
            <a:off x="1901952" y="3547872"/>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65 %</a:t>
            </a:r>
            <a:endParaRPr lang="en-US" sz="950" dirty="0"/>
          </a:p>
        </p:txBody>
      </p:sp>
      <p:sp>
        <p:nvSpPr>
          <p:cNvPr id="85" name="Shape 83"/>
          <p:cNvSpPr/>
          <p:nvPr/>
        </p:nvSpPr>
        <p:spPr>
          <a:xfrm>
            <a:off x="2542032" y="3547872"/>
            <a:ext cx="914400" cy="301752"/>
          </a:xfrm>
          <a:prstGeom prst="rect">
            <a:avLst/>
          </a:prstGeom>
          <a:solidFill>
            <a:srgbClr val="F1F7F3"/>
          </a:solidFill>
          <a:ln/>
        </p:spPr>
      </p:sp>
      <p:sp>
        <p:nvSpPr>
          <p:cNvPr id="86" name="Text 84"/>
          <p:cNvSpPr txBox="1"/>
          <p:nvPr/>
        </p:nvSpPr>
        <p:spPr>
          <a:xfrm>
            <a:off x="2587752" y="3547872"/>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50 to 80 %</a:t>
            </a:r>
            <a:endParaRPr lang="en-US" sz="950" dirty="0"/>
          </a:p>
        </p:txBody>
      </p:sp>
      <p:sp>
        <p:nvSpPr>
          <p:cNvPr id="87" name="Shape 85"/>
          <p:cNvSpPr/>
          <p:nvPr/>
        </p:nvSpPr>
        <p:spPr>
          <a:xfrm>
            <a:off x="3456432" y="3547872"/>
            <a:ext cx="457200" cy="301752"/>
          </a:xfrm>
          <a:prstGeom prst="rect">
            <a:avLst/>
          </a:prstGeom>
          <a:solidFill>
            <a:srgbClr val="F1F7F3"/>
          </a:solidFill>
          <a:ln/>
        </p:spPr>
      </p:sp>
      <p:sp>
        <p:nvSpPr>
          <p:cNvPr id="88" name="Text 86"/>
          <p:cNvSpPr txBox="1"/>
          <p:nvPr/>
        </p:nvSpPr>
        <p:spPr>
          <a:xfrm>
            <a:off x="3502152" y="3547872"/>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a:t>
            </a:r>
            <a:endParaRPr lang="en-US" sz="950" dirty="0"/>
          </a:p>
        </p:txBody>
      </p:sp>
      <p:sp>
        <p:nvSpPr>
          <p:cNvPr id="89" name="Shape 87"/>
          <p:cNvSpPr/>
          <p:nvPr/>
        </p:nvSpPr>
        <p:spPr>
          <a:xfrm>
            <a:off x="484632" y="3849624"/>
            <a:ext cx="3429000" cy="0"/>
          </a:xfrm>
          <a:prstGeom prst="line">
            <a:avLst/>
          </a:prstGeom>
          <a:noFill/>
          <a:ln w="6350">
            <a:solidFill>
              <a:srgbClr val="E3E8E4"/>
            </a:solidFill>
            <a:prstDash val="solid"/>
          </a:ln>
        </p:spPr>
      </p:sp>
      <p:sp>
        <p:nvSpPr>
          <p:cNvPr id="90" name="Shape 88"/>
          <p:cNvSpPr/>
          <p:nvPr/>
        </p:nvSpPr>
        <p:spPr>
          <a:xfrm>
            <a:off x="484632" y="3849624"/>
            <a:ext cx="1371600" cy="301752"/>
          </a:xfrm>
          <a:prstGeom prst="rect">
            <a:avLst/>
          </a:prstGeom>
          <a:solidFill>
            <a:srgbClr val="FFFFFF"/>
          </a:solidFill>
          <a:ln/>
        </p:spPr>
      </p:sp>
      <p:sp>
        <p:nvSpPr>
          <p:cNvPr id="91" name="Text 89"/>
          <p:cNvSpPr txBox="1"/>
          <p:nvPr/>
        </p:nvSpPr>
        <p:spPr>
          <a:xfrm>
            <a:off x="530352" y="3849624"/>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Flag precision</a:t>
            </a:r>
            <a:endParaRPr lang="en-US" sz="950" dirty="0"/>
          </a:p>
        </p:txBody>
      </p:sp>
      <p:sp>
        <p:nvSpPr>
          <p:cNvPr id="92" name="Shape 90"/>
          <p:cNvSpPr/>
          <p:nvPr/>
        </p:nvSpPr>
        <p:spPr>
          <a:xfrm>
            <a:off x="1856232" y="3849624"/>
            <a:ext cx="685800" cy="301752"/>
          </a:xfrm>
          <a:prstGeom prst="rect">
            <a:avLst/>
          </a:prstGeom>
          <a:solidFill>
            <a:srgbClr val="FFFFFF"/>
          </a:solidFill>
          <a:ln/>
        </p:spPr>
      </p:sp>
      <p:sp>
        <p:nvSpPr>
          <p:cNvPr id="93" name="Text 91"/>
          <p:cNvSpPr txBox="1"/>
          <p:nvPr/>
        </p:nvSpPr>
        <p:spPr>
          <a:xfrm>
            <a:off x="1901952" y="3849624"/>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35 %</a:t>
            </a:r>
            <a:endParaRPr lang="en-US" sz="950" dirty="0"/>
          </a:p>
        </p:txBody>
      </p:sp>
      <p:sp>
        <p:nvSpPr>
          <p:cNvPr id="94" name="Shape 92"/>
          <p:cNvSpPr/>
          <p:nvPr/>
        </p:nvSpPr>
        <p:spPr>
          <a:xfrm>
            <a:off x="2542032" y="3849624"/>
            <a:ext cx="914400" cy="301752"/>
          </a:xfrm>
          <a:prstGeom prst="rect">
            <a:avLst/>
          </a:prstGeom>
          <a:solidFill>
            <a:srgbClr val="FFFFFF"/>
          </a:solidFill>
          <a:ln/>
        </p:spPr>
      </p:sp>
      <p:sp>
        <p:nvSpPr>
          <p:cNvPr id="95" name="Text 93"/>
          <p:cNvSpPr txBox="1"/>
          <p:nvPr/>
        </p:nvSpPr>
        <p:spPr>
          <a:xfrm>
            <a:off x="2587752" y="3849624"/>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to 50 %</a:t>
            </a:r>
            <a:endParaRPr lang="en-US" sz="950" dirty="0"/>
          </a:p>
        </p:txBody>
      </p:sp>
      <p:sp>
        <p:nvSpPr>
          <p:cNvPr id="96" name="Shape 94"/>
          <p:cNvSpPr/>
          <p:nvPr/>
        </p:nvSpPr>
        <p:spPr>
          <a:xfrm>
            <a:off x="3456432" y="3849624"/>
            <a:ext cx="457200" cy="301752"/>
          </a:xfrm>
          <a:prstGeom prst="rect">
            <a:avLst/>
          </a:prstGeom>
          <a:solidFill>
            <a:srgbClr val="FFFFFF"/>
          </a:solidFill>
          <a:ln/>
        </p:spPr>
      </p:sp>
      <p:sp>
        <p:nvSpPr>
          <p:cNvPr id="97" name="Text 95"/>
          <p:cNvSpPr txBox="1"/>
          <p:nvPr/>
        </p:nvSpPr>
        <p:spPr>
          <a:xfrm>
            <a:off x="3502152" y="3849624"/>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98" name="Shape 96"/>
          <p:cNvSpPr/>
          <p:nvPr/>
        </p:nvSpPr>
        <p:spPr>
          <a:xfrm>
            <a:off x="484632" y="4151376"/>
            <a:ext cx="3429000" cy="0"/>
          </a:xfrm>
          <a:prstGeom prst="line">
            <a:avLst/>
          </a:prstGeom>
          <a:noFill/>
          <a:ln w="6350">
            <a:solidFill>
              <a:srgbClr val="E3E8E4"/>
            </a:solidFill>
            <a:prstDash val="solid"/>
          </a:ln>
        </p:spPr>
      </p:sp>
      <p:sp>
        <p:nvSpPr>
          <p:cNvPr id="99" name="Shape 97"/>
          <p:cNvSpPr/>
          <p:nvPr/>
        </p:nvSpPr>
        <p:spPr>
          <a:xfrm>
            <a:off x="484632" y="4151376"/>
            <a:ext cx="1371600" cy="301752"/>
          </a:xfrm>
          <a:prstGeom prst="rect">
            <a:avLst/>
          </a:prstGeom>
          <a:solidFill>
            <a:srgbClr val="F1F7F3"/>
          </a:solidFill>
          <a:ln/>
        </p:spPr>
      </p:sp>
      <p:sp>
        <p:nvSpPr>
          <p:cNvPr id="100" name="Text 98"/>
          <p:cNvSpPr txBox="1"/>
          <p:nvPr/>
        </p:nvSpPr>
        <p:spPr>
          <a:xfrm>
            <a:off x="530352" y="4151376"/>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Flags acted on</a:t>
            </a:r>
            <a:endParaRPr lang="en-US" sz="950" dirty="0"/>
          </a:p>
        </p:txBody>
      </p:sp>
      <p:sp>
        <p:nvSpPr>
          <p:cNvPr id="101" name="Shape 99"/>
          <p:cNvSpPr/>
          <p:nvPr/>
        </p:nvSpPr>
        <p:spPr>
          <a:xfrm>
            <a:off x="1856232" y="4151376"/>
            <a:ext cx="685800" cy="301752"/>
          </a:xfrm>
          <a:prstGeom prst="rect">
            <a:avLst/>
          </a:prstGeom>
          <a:solidFill>
            <a:srgbClr val="F1F7F3"/>
          </a:solidFill>
          <a:ln/>
        </p:spPr>
      </p:sp>
      <p:sp>
        <p:nvSpPr>
          <p:cNvPr id="102" name="Text 100"/>
          <p:cNvSpPr txBox="1"/>
          <p:nvPr/>
        </p:nvSpPr>
        <p:spPr>
          <a:xfrm>
            <a:off x="1901952" y="4151376"/>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90 %</a:t>
            </a:r>
            <a:endParaRPr lang="en-US" sz="950" dirty="0"/>
          </a:p>
        </p:txBody>
      </p:sp>
      <p:sp>
        <p:nvSpPr>
          <p:cNvPr id="103" name="Shape 101"/>
          <p:cNvSpPr/>
          <p:nvPr/>
        </p:nvSpPr>
        <p:spPr>
          <a:xfrm>
            <a:off x="2542032" y="4151376"/>
            <a:ext cx="914400" cy="301752"/>
          </a:xfrm>
          <a:prstGeom prst="rect">
            <a:avLst/>
          </a:prstGeom>
          <a:solidFill>
            <a:srgbClr val="F1F7F3"/>
          </a:solidFill>
          <a:ln/>
        </p:spPr>
      </p:sp>
      <p:sp>
        <p:nvSpPr>
          <p:cNvPr id="104" name="Text 102"/>
          <p:cNvSpPr txBox="1"/>
          <p:nvPr/>
        </p:nvSpPr>
        <p:spPr>
          <a:xfrm>
            <a:off x="2587752" y="4151376"/>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70 to 100 %</a:t>
            </a:r>
            <a:endParaRPr lang="en-US" sz="950" dirty="0"/>
          </a:p>
        </p:txBody>
      </p:sp>
      <p:sp>
        <p:nvSpPr>
          <p:cNvPr id="105" name="Shape 103"/>
          <p:cNvSpPr/>
          <p:nvPr/>
        </p:nvSpPr>
        <p:spPr>
          <a:xfrm>
            <a:off x="3456432" y="4151376"/>
            <a:ext cx="457200" cy="301752"/>
          </a:xfrm>
          <a:prstGeom prst="rect">
            <a:avLst/>
          </a:prstGeom>
          <a:solidFill>
            <a:srgbClr val="F1F7F3"/>
          </a:solidFill>
          <a:ln/>
        </p:spPr>
      </p:sp>
      <p:sp>
        <p:nvSpPr>
          <p:cNvPr id="106" name="Text 104"/>
          <p:cNvSpPr txBox="1"/>
          <p:nvPr/>
        </p:nvSpPr>
        <p:spPr>
          <a:xfrm>
            <a:off x="3502152" y="4151376"/>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07" name="Shape 105"/>
          <p:cNvSpPr/>
          <p:nvPr/>
        </p:nvSpPr>
        <p:spPr>
          <a:xfrm>
            <a:off x="484632" y="4453128"/>
            <a:ext cx="3429000" cy="0"/>
          </a:xfrm>
          <a:prstGeom prst="line">
            <a:avLst/>
          </a:prstGeom>
          <a:noFill/>
          <a:ln w="6350">
            <a:solidFill>
              <a:srgbClr val="E3E8E4"/>
            </a:solidFill>
            <a:prstDash val="solid"/>
          </a:ln>
        </p:spPr>
      </p:sp>
      <p:sp>
        <p:nvSpPr>
          <p:cNvPr id="108" name="Shape 106"/>
          <p:cNvSpPr/>
          <p:nvPr/>
        </p:nvSpPr>
        <p:spPr>
          <a:xfrm>
            <a:off x="484632" y="4453128"/>
            <a:ext cx="1371600" cy="301752"/>
          </a:xfrm>
          <a:prstGeom prst="rect">
            <a:avLst/>
          </a:prstGeom>
          <a:solidFill>
            <a:srgbClr val="FFFFFF"/>
          </a:solidFill>
          <a:ln/>
        </p:spPr>
      </p:sp>
      <p:sp>
        <p:nvSpPr>
          <p:cNvPr id="109" name="Text 107"/>
          <p:cNvSpPr txBox="1"/>
          <p:nvPr/>
        </p:nvSpPr>
        <p:spPr>
          <a:xfrm>
            <a:off x="530352" y="4453128"/>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Admissions uplift</a:t>
            </a:r>
            <a:endParaRPr lang="en-US" sz="950" dirty="0"/>
          </a:p>
        </p:txBody>
      </p:sp>
      <p:sp>
        <p:nvSpPr>
          <p:cNvPr id="110" name="Shape 108"/>
          <p:cNvSpPr/>
          <p:nvPr/>
        </p:nvSpPr>
        <p:spPr>
          <a:xfrm>
            <a:off x="1856232" y="4453128"/>
            <a:ext cx="685800" cy="301752"/>
          </a:xfrm>
          <a:prstGeom prst="rect">
            <a:avLst/>
          </a:prstGeom>
          <a:solidFill>
            <a:srgbClr val="FFFFFF"/>
          </a:solidFill>
          <a:ln/>
        </p:spPr>
      </p:sp>
      <p:sp>
        <p:nvSpPr>
          <p:cNvPr id="111" name="Text 109"/>
          <p:cNvSpPr txBox="1"/>
          <p:nvPr/>
        </p:nvSpPr>
        <p:spPr>
          <a:xfrm>
            <a:off x="1901952" y="4453128"/>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1 %</a:t>
            </a:r>
            <a:endParaRPr lang="en-US" sz="950" dirty="0"/>
          </a:p>
        </p:txBody>
      </p:sp>
      <p:sp>
        <p:nvSpPr>
          <p:cNvPr id="112" name="Shape 110"/>
          <p:cNvSpPr/>
          <p:nvPr/>
        </p:nvSpPr>
        <p:spPr>
          <a:xfrm>
            <a:off x="2542032" y="4453128"/>
            <a:ext cx="914400" cy="301752"/>
          </a:xfrm>
          <a:prstGeom prst="rect">
            <a:avLst/>
          </a:prstGeom>
          <a:solidFill>
            <a:srgbClr val="FFFFFF"/>
          </a:solidFill>
          <a:ln/>
        </p:spPr>
      </p:sp>
      <p:sp>
        <p:nvSpPr>
          <p:cNvPr id="113" name="Text 111"/>
          <p:cNvSpPr txBox="1"/>
          <p:nvPr/>
        </p:nvSpPr>
        <p:spPr>
          <a:xfrm>
            <a:off x="2587752" y="4453128"/>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 to 3 %</a:t>
            </a:r>
            <a:endParaRPr lang="en-US" sz="950" dirty="0"/>
          </a:p>
        </p:txBody>
      </p:sp>
      <p:sp>
        <p:nvSpPr>
          <p:cNvPr id="114" name="Shape 112"/>
          <p:cNvSpPr/>
          <p:nvPr/>
        </p:nvSpPr>
        <p:spPr>
          <a:xfrm>
            <a:off x="3456432" y="4453128"/>
            <a:ext cx="457200" cy="301752"/>
          </a:xfrm>
          <a:prstGeom prst="rect">
            <a:avLst/>
          </a:prstGeom>
          <a:solidFill>
            <a:srgbClr val="FFFFFF"/>
          </a:solidFill>
          <a:ln/>
        </p:spPr>
      </p:sp>
      <p:sp>
        <p:nvSpPr>
          <p:cNvPr id="115" name="Text 113"/>
          <p:cNvSpPr txBox="1"/>
          <p:nvPr/>
        </p:nvSpPr>
        <p:spPr>
          <a:xfrm>
            <a:off x="3502152" y="4453128"/>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16" name="Shape 114"/>
          <p:cNvSpPr/>
          <p:nvPr/>
        </p:nvSpPr>
        <p:spPr>
          <a:xfrm>
            <a:off x="484632" y="4754880"/>
            <a:ext cx="3429000" cy="0"/>
          </a:xfrm>
          <a:prstGeom prst="line">
            <a:avLst/>
          </a:prstGeom>
          <a:noFill/>
          <a:ln w="6350">
            <a:solidFill>
              <a:srgbClr val="E3E8E4"/>
            </a:solidFill>
            <a:prstDash val="solid"/>
          </a:ln>
        </p:spPr>
      </p:sp>
      <p:sp>
        <p:nvSpPr>
          <p:cNvPr id="117" name="Shape 115"/>
          <p:cNvSpPr/>
          <p:nvPr/>
        </p:nvSpPr>
        <p:spPr>
          <a:xfrm>
            <a:off x="484632" y="4754880"/>
            <a:ext cx="1371600" cy="301752"/>
          </a:xfrm>
          <a:prstGeom prst="rect">
            <a:avLst/>
          </a:prstGeom>
          <a:solidFill>
            <a:srgbClr val="F1F7F3"/>
          </a:solidFill>
          <a:ln/>
        </p:spPr>
      </p:sp>
      <p:sp>
        <p:nvSpPr>
          <p:cNvPr id="118" name="Text 116"/>
          <p:cNvSpPr txBox="1"/>
          <p:nvPr/>
        </p:nvSpPr>
        <p:spPr>
          <a:xfrm>
            <a:off x="530352" y="4754880"/>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Staff hours saved</a:t>
            </a:r>
            <a:endParaRPr lang="en-US" sz="950" dirty="0"/>
          </a:p>
        </p:txBody>
      </p:sp>
      <p:sp>
        <p:nvSpPr>
          <p:cNvPr id="119" name="Shape 117"/>
          <p:cNvSpPr/>
          <p:nvPr/>
        </p:nvSpPr>
        <p:spPr>
          <a:xfrm>
            <a:off x="1856232" y="4754880"/>
            <a:ext cx="685800" cy="301752"/>
          </a:xfrm>
          <a:prstGeom prst="rect">
            <a:avLst/>
          </a:prstGeom>
          <a:solidFill>
            <a:srgbClr val="F1F7F3"/>
          </a:solidFill>
          <a:ln/>
        </p:spPr>
      </p:sp>
      <p:sp>
        <p:nvSpPr>
          <p:cNvPr id="120" name="Text 118"/>
          <p:cNvSpPr txBox="1"/>
          <p:nvPr/>
        </p:nvSpPr>
        <p:spPr>
          <a:xfrm>
            <a:off x="1901952" y="4754880"/>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 month</a:t>
            </a:r>
            <a:endParaRPr lang="en-US" sz="950" dirty="0"/>
          </a:p>
        </p:txBody>
      </p:sp>
      <p:sp>
        <p:nvSpPr>
          <p:cNvPr id="121" name="Shape 119"/>
          <p:cNvSpPr/>
          <p:nvPr/>
        </p:nvSpPr>
        <p:spPr>
          <a:xfrm>
            <a:off x="2542032" y="4754880"/>
            <a:ext cx="914400" cy="301752"/>
          </a:xfrm>
          <a:prstGeom prst="rect">
            <a:avLst/>
          </a:prstGeom>
          <a:solidFill>
            <a:srgbClr val="F1F7F3"/>
          </a:solidFill>
          <a:ln/>
        </p:spPr>
      </p:sp>
      <p:sp>
        <p:nvSpPr>
          <p:cNvPr id="122" name="Text 120"/>
          <p:cNvSpPr txBox="1"/>
          <p:nvPr/>
        </p:nvSpPr>
        <p:spPr>
          <a:xfrm>
            <a:off x="2587752" y="4754880"/>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to 50</a:t>
            </a:r>
            <a:endParaRPr lang="en-US" sz="950" dirty="0"/>
          </a:p>
        </p:txBody>
      </p:sp>
      <p:sp>
        <p:nvSpPr>
          <p:cNvPr id="123" name="Shape 121"/>
          <p:cNvSpPr/>
          <p:nvPr/>
        </p:nvSpPr>
        <p:spPr>
          <a:xfrm>
            <a:off x="3456432" y="4754880"/>
            <a:ext cx="457200" cy="301752"/>
          </a:xfrm>
          <a:prstGeom prst="rect">
            <a:avLst/>
          </a:prstGeom>
          <a:solidFill>
            <a:srgbClr val="F1F7F3"/>
          </a:solidFill>
          <a:ln/>
        </p:spPr>
      </p:sp>
      <p:sp>
        <p:nvSpPr>
          <p:cNvPr id="124" name="Text 122"/>
          <p:cNvSpPr txBox="1"/>
          <p:nvPr/>
        </p:nvSpPr>
        <p:spPr>
          <a:xfrm>
            <a:off x="3502152" y="4754880"/>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25" name="Shape 123"/>
          <p:cNvSpPr/>
          <p:nvPr/>
        </p:nvSpPr>
        <p:spPr>
          <a:xfrm>
            <a:off x="484632" y="5056632"/>
            <a:ext cx="3429000" cy="0"/>
          </a:xfrm>
          <a:prstGeom prst="line">
            <a:avLst/>
          </a:prstGeom>
          <a:noFill/>
          <a:ln w="6350">
            <a:solidFill>
              <a:srgbClr val="E3E8E4"/>
            </a:solidFill>
            <a:prstDash val="solid"/>
          </a:ln>
        </p:spPr>
      </p:sp>
      <p:sp>
        <p:nvSpPr>
          <p:cNvPr id="126" name="Shape 124"/>
          <p:cNvSpPr/>
          <p:nvPr/>
        </p:nvSpPr>
        <p:spPr>
          <a:xfrm>
            <a:off x="484632" y="5056632"/>
            <a:ext cx="1371600" cy="301752"/>
          </a:xfrm>
          <a:prstGeom prst="rect">
            <a:avLst/>
          </a:prstGeom>
          <a:solidFill>
            <a:srgbClr val="FFFFFF"/>
          </a:solidFill>
          <a:ln/>
        </p:spPr>
      </p:sp>
      <p:sp>
        <p:nvSpPr>
          <p:cNvPr id="127" name="Text 125"/>
          <p:cNvSpPr txBox="1"/>
          <p:nvPr/>
        </p:nvSpPr>
        <p:spPr>
          <a:xfrm>
            <a:off x="530352" y="5056632"/>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List price</a:t>
            </a:r>
            <a:endParaRPr lang="en-US" sz="950" dirty="0"/>
          </a:p>
        </p:txBody>
      </p:sp>
      <p:sp>
        <p:nvSpPr>
          <p:cNvPr id="128" name="Shape 126"/>
          <p:cNvSpPr/>
          <p:nvPr/>
        </p:nvSpPr>
        <p:spPr>
          <a:xfrm>
            <a:off x="1856232" y="5056632"/>
            <a:ext cx="685800" cy="301752"/>
          </a:xfrm>
          <a:prstGeom prst="rect">
            <a:avLst/>
          </a:prstGeom>
          <a:solidFill>
            <a:srgbClr val="FFFFFF"/>
          </a:solidFill>
          <a:ln/>
        </p:spPr>
      </p:sp>
      <p:sp>
        <p:nvSpPr>
          <p:cNvPr id="129" name="Text 127"/>
          <p:cNvSpPr txBox="1"/>
          <p:nvPr/>
        </p:nvSpPr>
        <p:spPr>
          <a:xfrm>
            <a:off x="1901952" y="5056632"/>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a:t>
            </a:r>
            <a:endParaRPr lang="en-US" sz="950" dirty="0"/>
          </a:p>
        </p:txBody>
      </p:sp>
      <p:sp>
        <p:nvSpPr>
          <p:cNvPr id="130" name="Shape 128"/>
          <p:cNvSpPr/>
          <p:nvPr/>
        </p:nvSpPr>
        <p:spPr>
          <a:xfrm>
            <a:off x="2542032" y="5056632"/>
            <a:ext cx="914400" cy="301752"/>
          </a:xfrm>
          <a:prstGeom prst="rect">
            <a:avLst/>
          </a:prstGeom>
          <a:solidFill>
            <a:srgbClr val="FFFFFF"/>
          </a:solidFill>
          <a:ln/>
        </p:spPr>
      </p:sp>
      <p:sp>
        <p:nvSpPr>
          <p:cNvPr id="131" name="Text 129"/>
          <p:cNvSpPr txBox="1"/>
          <p:nvPr/>
        </p:nvSpPr>
        <p:spPr>
          <a:xfrm>
            <a:off x="2587752" y="5056632"/>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₹20 to 40</a:t>
            </a:r>
            <a:endParaRPr lang="en-US" sz="950" dirty="0"/>
          </a:p>
        </p:txBody>
      </p:sp>
      <p:sp>
        <p:nvSpPr>
          <p:cNvPr id="132" name="Shape 130"/>
          <p:cNvSpPr/>
          <p:nvPr/>
        </p:nvSpPr>
        <p:spPr>
          <a:xfrm>
            <a:off x="3456432" y="5056632"/>
            <a:ext cx="457200" cy="301752"/>
          </a:xfrm>
          <a:prstGeom prst="rect">
            <a:avLst/>
          </a:prstGeom>
          <a:solidFill>
            <a:srgbClr val="FFFFFF"/>
          </a:solidFill>
          <a:ln/>
        </p:spPr>
      </p:sp>
      <p:sp>
        <p:nvSpPr>
          <p:cNvPr id="133" name="Text 131"/>
          <p:cNvSpPr txBox="1"/>
          <p:nvPr/>
        </p:nvSpPr>
        <p:spPr>
          <a:xfrm>
            <a:off x="3502152" y="5056632"/>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34" name="Shape 132"/>
          <p:cNvSpPr/>
          <p:nvPr/>
        </p:nvSpPr>
        <p:spPr>
          <a:xfrm>
            <a:off x="484632" y="5358384"/>
            <a:ext cx="3429000" cy="0"/>
          </a:xfrm>
          <a:prstGeom prst="line">
            <a:avLst/>
          </a:prstGeom>
          <a:noFill/>
          <a:ln w="6350">
            <a:solidFill>
              <a:srgbClr val="E3E8E4"/>
            </a:solidFill>
            <a:prstDash val="solid"/>
          </a:ln>
        </p:spPr>
      </p:sp>
      <p:sp>
        <p:nvSpPr>
          <p:cNvPr id="135" name="Shape 133"/>
          <p:cNvSpPr/>
          <p:nvPr/>
        </p:nvSpPr>
        <p:spPr>
          <a:xfrm>
            <a:off x="484632" y="5358384"/>
            <a:ext cx="1371600" cy="301752"/>
          </a:xfrm>
          <a:prstGeom prst="rect">
            <a:avLst/>
          </a:prstGeom>
          <a:solidFill>
            <a:srgbClr val="F1F7F3"/>
          </a:solidFill>
          <a:ln/>
        </p:spPr>
      </p:sp>
      <p:sp>
        <p:nvSpPr>
          <p:cNvPr id="136" name="Text 134"/>
          <p:cNvSpPr txBox="1"/>
          <p:nvPr/>
        </p:nvSpPr>
        <p:spPr>
          <a:xfrm>
            <a:off x="530352" y="5358384"/>
            <a:ext cx="1280160" cy="30175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GST reclaimed</a:t>
            </a:r>
            <a:endParaRPr lang="en-US" sz="950" dirty="0"/>
          </a:p>
        </p:txBody>
      </p:sp>
      <p:sp>
        <p:nvSpPr>
          <p:cNvPr id="137" name="Shape 135"/>
          <p:cNvSpPr/>
          <p:nvPr/>
        </p:nvSpPr>
        <p:spPr>
          <a:xfrm>
            <a:off x="1856232" y="5358384"/>
            <a:ext cx="685800" cy="301752"/>
          </a:xfrm>
          <a:prstGeom prst="rect">
            <a:avLst/>
          </a:prstGeom>
          <a:solidFill>
            <a:srgbClr val="F1F7F3"/>
          </a:solidFill>
          <a:ln/>
        </p:spPr>
      </p:sp>
      <p:sp>
        <p:nvSpPr>
          <p:cNvPr id="138" name="Text 136"/>
          <p:cNvSpPr txBox="1"/>
          <p:nvPr/>
        </p:nvSpPr>
        <p:spPr>
          <a:xfrm>
            <a:off x="1901952" y="5358384"/>
            <a:ext cx="5943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60 %</a:t>
            </a:r>
            <a:endParaRPr lang="en-US" sz="950" dirty="0"/>
          </a:p>
        </p:txBody>
      </p:sp>
      <p:sp>
        <p:nvSpPr>
          <p:cNvPr id="139" name="Shape 137"/>
          <p:cNvSpPr/>
          <p:nvPr/>
        </p:nvSpPr>
        <p:spPr>
          <a:xfrm>
            <a:off x="2542032" y="5358384"/>
            <a:ext cx="914400" cy="301752"/>
          </a:xfrm>
          <a:prstGeom prst="rect">
            <a:avLst/>
          </a:prstGeom>
          <a:solidFill>
            <a:srgbClr val="F1F7F3"/>
          </a:solidFill>
          <a:ln/>
        </p:spPr>
      </p:sp>
      <p:sp>
        <p:nvSpPr>
          <p:cNvPr id="140" name="Text 138"/>
          <p:cNvSpPr txBox="1"/>
          <p:nvPr/>
        </p:nvSpPr>
        <p:spPr>
          <a:xfrm>
            <a:off x="2587752" y="5358384"/>
            <a:ext cx="8229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to 90 %</a:t>
            </a:r>
            <a:endParaRPr lang="en-US" sz="950" dirty="0"/>
          </a:p>
        </p:txBody>
      </p:sp>
      <p:sp>
        <p:nvSpPr>
          <p:cNvPr id="141" name="Shape 139"/>
          <p:cNvSpPr/>
          <p:nvPr/>
        </p:nvSpPr>
        <p:spPr>
          <a:xfrm>
            <a:off x="3456432" y="5358384"/>
            <a:ext cx="457200" cy="301752"/>
          </a:xfrm>
          <a:prstGeom prst="rect">
            <a:avLst/>
          </a:prstGeom>
          <a:solidFill>
            <a:srgbClr val="F1F7F3"/>
          </a:solidFill>
          <a:ln/>
        </p:spPr>
      </p:sp>
      <p:sp>
        <p:nvSpPr>
          <p:cNvPr id="142" name="Text 140"/>
          <p:cNvSpPr txBox="1"/>
          <p:nvPr/>
        </p:nvSpPr>
        <p:spPr>
          <a:xfrm>
            <a:off x="3502152" y="5358384"/>
            <a:ext cx="365760" cy="30175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a:t>
            </a:r>
            <a:endParaRPr lang="en-US" sz="950" dirty="0"/>
          </a:p>
        </p:txBody>
      </p:sp>
      <p:sp>
        <p:nvSpPr>
          <p:cNvPr id="143" name="Shape 141"/>
          <p:cNvSpPr/>
          <p:nvPr/>
        </p:nvSpPr>
        <p:spPr>
          <a:xfrm>
            <a:off x="484632" y="5660136"/>
            <a:ext cx="3429000" cy="0"/>
          </a:xfrm>
          <a:prstGeom prst="line">
            <a:avLst/>
          </a:prstGeom>
          <a:noFill/>
          <a:ln w="6350">
            <a:solidFill>
              <a:srgbClr val="E3E8E4"/>
            </a:solidFill>
            <a:prstDash val="solid"/>
          </a:ln>
        </p:spPr>
      </p:sp>
      <p:sp>
        <p:nvSpPr>
          <p:cNvPr id="144" name="Text 142"/>
          <p:cNvSpPr txBox="1"/>
          <p:nvPr/>
        </p:nvSpPr>
        <p:spPr>
          <a:xfrm>
            <a:off x="502920" y="5742432"/>
            <a:ext cx="3383280" cy="45720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Conf.: H high, M medium, L low. Low means an assumption to test in owner interviews.</a:t>
            </a:r>
            <a:endParaRPr lang="en-US" sz="950" dirty="0"/>
          </a:p>
        </p:txBody>
      </p:sp>
      <p:sp>
        <p:nvSpPr>
          <p:cNvPr id="145" name="Shape 143"/>
          <p:cNvSpPr/>
          <p:nvPr/>
        </p:nvSpPr>
        <p:spPr>
          <a:xfrm>
            <a:off x="4160520" y="1115568"/>
            <a:ext cx="4434840" cy="301752"/>
          </a:xfrm>
          <a:prstGeom prst="rect">
            <a:avLst/>
          </a:prstGeom>
          <a:solidFill>
            <a:srgbClr val="2E6DB4"/>
          </a:solidFill>
          <a:ln/>
        </p:spPr>
      </p:sp>
      <p:sp>
        <p:nvSpPr>
          <p:cNvPr id="146" name="Text 144"/>
          <p:cNvSpPr txBox="1"/>
          <p:nvPr/>
        </p:nvSpPr>
        <p:spPr>
          <a:xfrm>
            <a:off x="4270248" y="1115568"/>
            <a:ext cx="42153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INSTITUTE ECONOMICS: GUIDE VS PRAGATI</a:t>
            </a:r>
            <a:endParaRPr lang="en-US" sz="1200" dirty="0"/>
          </a:p>
        </p:txBody>
      </p:sp>
      <p:sp>
        <p:nvSpPr>
          <p:cNvPr id="147" name="Shape 145"/>
          <p:cNvSpPr/>
          <p:nvPr/>
        </p:nvSpPr>
        <p:spPr>
          <a:xfrm>
            <a:off x="8650224" y="1115568"/>
            <a:ext cx="0" cy="5212080"/>
          </a:xfrm>
          <a:prstGeom prst="line">
            <a:avLst/>
          </a:prstGeom>
          <a:noFill/>
          <a:ln w="12700">
            <a:solidFill>
              <a:srgbClr val="8FA9CC"/>
            </a:solidFill>
            <a:prstDash val="dash"/>
          </a:ln>
        </p:spPr>
      </p:sp>
      <p:sp>
        <p:nvSpPr>
          <p:cNvPr id="148" name="Shape 146"/>
          <p:cNvSpPr/>
          <p:nvPr/>
        </p:nvSpPr>
        <p:spPr>
          <a:xfrm>
            <a:off x="4233672" y="1463040"/>
            <a:ext cx="1600200" cy="310896"/>
          </a:xfrm>
          <a:prstGeom prst="rect">
            <a:avLst/>
          </a:prstGeom>
          <a:solidFill>
            <a:srgbClr val="1F4A82"/>
          </a:solidFill>
          <a:ln/>
        </p:spPr>
      </p:sp>
      <p:sp>
        <p:nvSpPr>
          <p:cNvPr id="149" name="Text 147"/>
          <p:cNvSpPr txBox="1"/>
          <p:nvPr/>
        </p:nvSpPr>
        <p:spPr>
          <a:xfrm>
            <a:off x="4279392" y="1463040"/>
            <a:ext cx="1508760" cy="310896"/>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Per year, 400 students</a:t>
            </a:r>
            <a:endParaRPr lang="en-US" sz="950" dirty="0"/>
          </a:p>
        </p:txBody>
      </p:sp>
      <p:sp>
        <p:nvSpPr>
          <p:cNvPr id="150" name="Shape 148"/>
          <p:cNvSpPr/>
          <p:nvPr/>
        </p:nvSpPr>
        <p:spPr>
          <a:xfrm>
            <a:off x="5833872" y="1463040"/>
            <a:ext cx="640080" cy="310896"/>
          </a:xfrm>
          <a:prstGeom prst="rect">
            <a:avLst/>
          </a:prstGeom>
          <a:solidFill>
            <a:srgbClr val="5B6573"/>
          </a:solidFill>
          <a:ln/>
        </p:spPr>
      </p:sp>
      <p:sp>
        <p:nvSpPr>
          <p:cNvPr id="151" name="Text 149"/>
          <p:cNvSpPr txBox="1"/>
          <p:nvPr/>
        </p:nvSpPr>
        <p:spPr>
          <a:xfrm>
            <a:off x="5879592" y="1463040"/>
            <a:ext cx="548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Guide</a:t>
            </a:r>
            <a:endParaRPr lang="en-US" sz="950" dirty="0"/>
          </a:p>
        </p:txBody>
      </p:sp>
      <p:sp>
        <p:nvSpPr>
          <p:cNvPr id="152" name="Shape 150"/>
          <p:cNvSpPr/>
          <p:nvPr/>
        </p:nvSpPr>
        <p:spPr>
          <a:xfrm>
            <a:off x="6473952" y="1463040"/>
            <a:ext cx="685800" cy="310896"/>
          </a:xfrm>
          <a:prstGeom prst="rect">
            <a:avLst/>
          </a:prstGeom>
          <a:solidFill>
            <a:srgbClr val="5B6573"/>
          </a:solidFill>
          <a:ln/>
        </p:spPr>
      </p:sp>
      <p:sp>
        <p:nvSpPr>
          <p:cNvPr id="153" name="Text 151"/>
          <p:cNvSpPr txBox="1"/>
          <p:nvPr/>
        </p:nvSpPr>
        <p:spPr>
          <a:xfrm>
            <a:off x="6519672" y="1463040"/>
            <a:ext cx="59436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Bear</a:t>
            </a:r>
            <a:endParaRPr lang="en-US" sz="950" dirty="0"/>
          </a:p>
        </p:txBody>
      </p:sp>
      <p:sp>
        <p:nvSpPr>
          <p:cNvPr id="154" name="Shape 152"/>
          <p:cNvSpPr/>
          <p:nvPr/>
        </p:nvSpPr>
        <p:spPr>
          <a:xfrm>
            <a:off x="7159752" y="1463040"/>
            <a:ext cx="731520" cy="310896"/>
          </a:xfrm>
          <a:prstGeom prst="rect">
            <a:avLst/>
          </a:prstGeom>
          <a:solidFill>
            <a:srgbClr val="1F4A82"/>
          </a:solidFill>
          <a:ln/>
        </p:spPr>
      </p:sp>
      <p:sp>
        <p:nvSpPr>
          <p:cNvPr id="155" name="Text 153"/>
          <p:cNvSpPr txBox="1"/>
          <p:nvPr/>
        </p:nvSpPr>
        <p:spPr>
          <a:xfrm>
            <a:off x="7205472" y="1463040"/>
            <a:ext cx="640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Base</a:t>
            </a:r>
            <a:endParaRPr lang="en-US" sz="950" dirty="0"/>
          </a:p>
        </p:txBody>
      </p:sp>
      <p:sp>
        <p:nvSpPr>
          <p:cNvPr id="156" name="Shape 154"/>
          <p:cNvSpPr/>
          <p:nvPr/>
        </p:nvSpPr>
        <p:spPr>
          <a:xfrm>
            <a:off x="7891272" y="1463040"/>
            <a:ext cx="640080" cy="310896"/>
          </a:xfrm>
          <a:prstGeom prst="rect">
            <a:avLst/>
          </a:prstGeom>
          <a:solidFill>
            <a:srgbClr val="5B6573"/>
          </a:solidFill>
          <a:ln/>
        </p:spPr>
      </p:sp>
      <p:sp>
        <p:nvSpPr>
          <p:cNvPr id="157" name="Text 155"/>
          <p:cNvSpPr txBox="1"/>
          <p:nvPr/>
        </p:nvSpPr>
        <p:spPr>
          <a:xfrm>
            <a:off x="7936992" y="1463040"/>
            <a:ext cx="548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Bull</a:t>
            </a:r>
            <a:endParaRPr lang="en-US" sz="950" dirty="0"/>
          </a:p>
        </p:txBody>
      </p:sp>
      <p:sp>
        <p:nvSpPr>
          <p:cNvPr id="158" name="Shape 156"/>
          <p:cNvSpPr/>
          <p:nvPr/>
        </p:nvSpPr>
        <p:spPr>
          <a:xfrm>
            <a:off x="4233672" y="1773936"/>
            <a:ext cx="1600200" cy="393192"/>
          </a:xfrm>
          <a:prstGeom prst="rect">
            <a:avLst/>
          </a:prstGeom>
          <a:solidFill>
            <a:srgbClr val="F1F7F3"/>
          </a:solidFill>
          <a:ln/>
        </p:spPr>
      </p:sp>
      <p:sp>
        <p:nvSpPr>
          <p:cNvPr id="159" name="Text 157"/>
          <p:cNvSpPr txBox="1"/>
          <p:nvPr/>
        </p:nvSpPr>
        <p:spPr>
          <a:xfrm>
            <a:off x="4279392" y="1773936"/>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Effective dropout reduction</a:t>
            </a:r>
            <a:endParaRPr lang="en-US" sz="950" dirty="0"/>
          </a:p>
        </p:txBody>
      </p:sp>
      <p:sp>
        <p:nvSpPr>
          <p:cNvPr id="160" name="Shape 158"/>
          <p:cNvSpPr/>
          <p:nvPr/>
        </p:nvSpPr>
        <p:spPr>
          <a:xfrm>
            <a:off x="5833872" y="1773936"/>
            <a:ext cx="640080" cy="393192"/>
          </a:xfrm>
          <a:prstGeom prst="rect">
            <a:avLst/>
          </a:prstGeom>
          <a:solidFill>
            <a:srgbClr val="F1F7F3"/>
          </a:solidFill>
          <a:ln/>
        </p:spPr>
      </p:sp>
      <p:sp>
        <p:nvSpPr>
          <p:cNvPr id="161" name="Text 159"/>
          <p:cNvSpPr txBox="1"/>
          <p:nvPr/>
        </p:nvSpPr>
        <p:spPr>
          <a:xfrm>
            <a:off x="5879592" y="177393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25 %</a:t>
            </a:r>
            <a:endParaRPr lang="en-US" sz="950" dirty="0"/>
          </a:p>
        </p:txBody>
      </p:sp>
      <p:sp>
        <p:nvSpPr>
          <p:cNvPr id="162" name="Shape 160"/>
          <p:cNvSpPr/>
          <p:nvPr/>
        </p:nvSpPr>
        <p:spPr>
          <a:xfrm>
            <a:off x="6473952" y="1773936"/>
            <a:ext cx="685800" cy="393192"/>
          </a:xfrm>
          <a:prstGeom prst="rect">
            <a:avLst/>
          </a:prstGeom>
          <a:solidFill>
            <a:srgbClr val="F1F7F3"/>
          </a:solidFill>
          <a:ln/>
        </p:spPr>
      </p:sp>
      <p:sp>
        <p:nvSpPr>
          <p:cNvPr id="163" name="Text 161"/>
          <p:cNvSpPr txBox="1"/>
          <p:nvPr/>
        </p:nvSpPr>
        <p:spPr>
          <a:xfrm>
            <a:off x="6519672" y="1773936"/>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t>
            </a:r>
            <a:endParaRPr lang="en-US" sz="950" dirty="0"/>
          </a:p>
        </p:txBody>
      </p:sp>
      <p:sp>
        <p:nvSpPr>
          <p:cNvPr id="164" name="Shape 162"/>
          <p:cNvSpPr/>
          <p:nvPr/>
        </p:nvSpPr>
        <p:spPr>
          <a:xfrm>
            <a:off x="7159752" y="1773936"/>
            <a:ext cx="731520" cy="393192"/>
          </a:xfrm>
          <a:prstGeom prst="rect">
            <a:avLst/>
          </a:prstGeom>
          <a:solidFill>
            <a:srgbClr val="F1F7F3"/>
          </a:solidFill>
          <a:ln/>
        </p:spPr>
      </p:sp>
      <p:sp>
        <p:nvSpPr>
          <p:cNvPr id="165" name="Text 163"/>
          <p:cNvSpPr txBox="1"/>
          <p:nvPr/>
        </p:nvSpPr>
        <p:spPr>
          <a:xfrm>
            <a:off x="7205472" y="1773936"/>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6.6 %</a:t>
            </a:r>
            <a:endParaRPr lang="en-US" sz="950" dirty="0"/>
          </a:p>
        </p:txBody>
      </p:sp>
      <p:sp>
        <p:nvSpPr>
          <p:cNvPr id="166" name="Shape 164"/>
          <p:cNvSpPr/>
          <p:nvPr/>
        </p:nvSpPr>
        <p:spPr>
          <a:xfrm>
            <a:off x="7891272" y="1773936"/>
            <a:ext cx="640080" cy="393192"/>
          </a:xfrm>
          <a:prstGeom prst="rect">
            <a:avLst/>
          </a:prstGeom>
          <a:solidFill>
            <a:srgbClr val="F1F7F3"/>
          </a:solidFill>
          <a:ln/>
        </p:spPr>
      </p:sp>
      <p:sp>
        <p:nvSpPr>
          <p:cNvPr id="167" name="Text 165"/>
          <p:cNvSpPr txBox="1"/>
          <p:nvPr/>
        </p:nvSpPr>
        <p:spPr>
          <a:xfrm>
            <a:off x="7936992" y="177393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22 %</a:t>
            </a:r>
            <a:endParaRPr lang="en-US" sz="950" dirty="0"/>
          </a:p>
        </p:txBody>
      </p:sp>
      <p:sp>
        <p:nvSpPr>
          <p:cNvPr id="168" name="Shape 166"/>
          <p:cNvSpPr/>
          <p:nvPr/>
        </p:nvSpPr>
        <p:spPr>
          <a:xfrm>
            <a:off x="4233672" y="2167128"/>
            <a:ext cx="4297680" cy="0"/>
          </a:xfrm>
          <a:prstGeom prst="line">
            <a:avLst/>
          </a:prstGeom>
          <a:noFill/>
          <a:ln w="6350">
            <a:solidFill>
              <a:srgbClr val="E3E8E4"/>
            </a:solidFill>
            <a:prstDash val="solid"/>
          </a:ln>
        </p:spPr>
      </p:sp>
      <p:sp>
        <p:nvSpPr>
          <p:cNvPr id="169" name="Shape 167"/>
          <p:cNvSpPr/>
          <p:nvPr/>
        </p:nvSpPr>
        <p:spPr>
          <a:xfrm>
            <a:off x="4233672" y="2167128"/>
            <a:ext cx="1600200" cy="393192"/>
          </a:xfrm>
          <a:prstGeom prst="rect">
            <a:avLst/>
          </a:prstGeom>
          <a:solidFill>
            <a:srgbClr val="FFFFFF"/>
          </a:solidFill>
          <a:ln/>
        </p:spPr>
      </p:sp>
      <p:sp>
        <p:nvSpPr>
          <p:cNvPr id="170" name="Text 168"/>
          <p:cNvSpPr txBox="1"/>
          <p:nvPr/>
        </p:nvSpPr>
        <p:spPr>
          <a:xfrm>
            <a:off x="4279392" y="2167128"/>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Dropouts prevented</a:t>
            </a:r>
            <a:endParaRPr lang="en-US" sz="950" dirty="0"/>
          </a:p>
        </p:txBody>
      </p:sp>
      <p:sp>
        <p:nvSpPr>
          <p:cNvPr id="171" name="Shape 169"/>
          <p:cNvSpPr/>
          <p:nvPr/>
        </p:nvSpPr>
        <p:spPr>
          <a:xfrm>
            <a:off x="5833872" y="2167128"/>
            <a:ext cx="640080" cy="393192"/>
          </a:xfrm>
          <a:prstGeom prst="rect">
            <a:avLst/>
          </a:prstGeom>
          <a:solidFill>
            <a:srgbClr val="FFFFFF"/>
          </a:solidFill>
          <a:ln/>
        </p:spPr>
      </p:sp>
      <p:sp>
        <p:nvSpPr>
          <p:cNvPr id="172" name="Text 170"/>
          <p:cNvSpPr txBox="1"/>
          <p:nvPr/>
        </p:nvSpPr>
        <p:spPr>
          <a:xfrm>
            <a:off x="5879592" y="2167128"/>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a:t>
            </a:r>
            <a:endParaRPr lang="en-US" sz="950" dirty="0"/>
          </a:p>
        </p:txBody>
      </p:sp>
      <p:sp>
        <p:nvSpPr>
          <p:cNvPr id="173" name="Shape 171"/>
          <p:cNvSpPr/>
          <p:nvPr/>
        </p:nvSpPr>
        <p:spPr>
          <a:xfrm>
            <a:off x="6473952" y="2167128"/>
            <a:ext cx="685800" cy="393192"/>
          </a:xfrm>
          <a:prstGeom prst="rect">
            <a:avLst/>
          </a:prstGeom>
          <a:solidFill>
            <a:srgbClr val="FFFFFF"/>
          </a:solidFill>
          <a:ln/>
        </p:spPr>
      </p:sp>
      <p:sp>
        <p:nvSpPr>
          <p:cNvPr id="174" name="Text 172"/>
          <p:cNvSpPr txBox="1"/>
          <p:nvPr/>
        </p:nvSpPr>
        <p:spPr>
          <a:xfrm>
            <a:off x="6519672" y="2167128"/>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0.2</a:t>
            </a:r>
            <a:endParaRPr lang="en-US" sz="950" dirty="0"/>
          </a:p>
        </p:txBody>
      </p:sp>
      <p:sp>
        <p:nvSpPr>
          <p:cNvPr id="175" name="Shape 173"/>
          <p:cNvSpPr/>
          <p:nvPr/>
        </p:nvSpPr>
        <p:spPr>
          <a:xfrm>
            <a:off x="7159752" y="2167128"/>
            <a:ext cx="731520" cy="393192"/>
          </a:xfrm>
          <a:prstGeom prst="rect">
            <a:avLst/>
          </a:prstGeom>
          <a:solidFill>
            <a:srgbClr val="FFFFFF"/>
          </a:solidFill>
          <a:ln/>
        </p:spPr>
      </p:sp>
      <p:sp>
        <p:nvSpPr>
          <p:cNvPr id="176" name="Text 174"/>
          <p:cNvSpPr txBox="1"/>
          <p:nvPr/>
        </p:nvSpPr>
        <p:spPr>
          <a:xfrm>
            <a:off x="7205472" y="2167128"/>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2.6</a:t>
            </a:r>
            <a:endParaRPr lang="en-US" sz="950" dirty="0"/>
          </a:p>
        </p:txBody>
      </p:sp>
      <p:sp>
        <p:nvSpPr>
          <p:cNvPr id="177" name="Shape 175"/>
          <p:cNvSpPr/>
          <p:nvPr/>
        </p:nvSpPr>
        <p:spPr>
          <a:xfrm>
            <a:off x="7891272" y="2167128"/>
            <a:ext cx="640080" cy="393192"/>
          </a:xfrm>
          <a:prstGeom prst="rect">
            <a:avLst/>
          </a:prstGeom>
          <a:solidFill>
            <a:srgbClr val="FFFFFF"/>
          </a:solidFill>
          <a:ln/>
        </p:spPr>
      </p:sp>
      <p:sp>
        <p:nvSpPr>
          <p:cNvPr id="178" name="Text 176"/>
          <p:cNvSpPr txBox="1"/>
          <p:nvPr/>
        </p:nvSpPr>
        <p:spPr>
          <a:xfrm>
            <a:off x="7936992" y="2167128"/>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16</a:t>
            </a:r>
            <a:endParaRPr lang="en-US" sz="950" dirty="0"/>
          </a:p>
        </p:txBody>
      </p:sp>
      <p:sp>
        <p:nvSpPr>
          <p:cNvPr id="179" name="Shape 177"/>
          <p:cNvSpPr/>
          <p:nvPr/>
        </p:nvSpPr>
        <p:spPr>
          <a:xfrm>
            <a:off x="4233672" y="2560320"/>
            <a:ext cx="4297680" cy="0"/>
          </a:xfrm>
          <a:prstGeom prst="line">
            <a:avLst/>
          </a:prstGeom>
          <a:noFill/>
          <a:ln w="6350">
            <a:solidFill>
              <a:srgbClr val="E3E8E4"/>
            </a:solidFill>
            <a:prstDash val="solid"/>
          </a:ln>
        </p:spPr>
      </p:sp>
      <p:sp>
        <p:nvSpPr>
          <p:cNvPr id="180" name="Shape 178"/>
          <p:cNvSpPr/>
          <p:nvPr/>
        </p:nvSpPr>
        <p:spPr>
          <a:xfrm>
            <a:off x="4233672" y="2560320"/>
            <a:ext cx="1600200" cy="393192"/>
          </a:xfrm>
          <a:prstGeom prst="rect">
            <a:avLst/>
          </a:prstGeom>
          <a:solidFill>
            <a:srgbClr val="F1F7F3"/>
          </a:solidFill>
          <a:ln/>
        </p:spPr>
      </p:sp>
      <p:sp>
        <p:nvSpPr>
          <p:cNvPr id="181" name="Text 179"/>
          <p:cNvSpPr txBox="1"/>
          <p:nvPr/>
        </p:nvSpPr>
        <p:spPr>
          <a:xfrm>
            <a:off x="4279392" y="2560320"/>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Fee lost per dropout</a:t>
            </a:r>
            <a:endParaRPr lang="en-US" sz="950" dirty="0"/>
          </a:p>
        </p:txBody>
      </p:sp>
      <p:sp>
        <p:nvSpPr>
          <p:cNvPr id="182" name="Shape 180"/>
          <p:cNvSpPr/>
          <p:nvPr/>
        </p:nvSpPr>
        <p:spPr>
          <a:xfrm>
            <a:off x="5833872" y="2560320"/>
            <a:ext cx="640080" cy="393192"/>
          </a:xfrm>
          <a:prstGeom prst="rect">
            <a:avLst/>
          </a:prstGeom>
          <a:solidFill>
            <a:srgbClr val="F1F7F3"/>
          </a:solidFill>
          <a:ln/>
        </p:spPr>
      </p:sp>
      <p:sp>
        <p:nvSpPr>
          <p:cNvPr id="183" name="Text 181"/>
          <p:cNvSpPr txBox="1"/>
          <p:nvPr/>
        </p:nvSpPr>
        <p:spPr>
          <a:xfrm>
            <a:off x="5879592" y="2560320"/>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₹36,000</a:t>
            </a:r>
            <a:endParaRPr lang="en-US" sz="950" dirty="0"/>
          </a:p>
        </p:txBody>
      </p:sp>
      <p:sp>
        <p:nvSpPr>
          <p:cNvPr id="184" name="Shape 182"/>
          <p:cNvSpPr/>
          <p:nvPr/>
        </p:nvSpPr>
        <p:spPr>
          <a:xfrm>
            <a:off x="6473952" y="2560320"/>
            <a:ext cx="685800" cy="393192"/>
          </a:xfrm>
          <a:prstGeom prst="rect">
            <a:avLst/>
          </a:prstGeom>
          <a:solidFill>
            <a:srgbClr val="F1F7F3"/>
          </a:solidFill>
          <a:ln/>
        </p:spPr>
      </p:sp>
      <p:sp>
        <p:nvSpPr>
          <p:cNvPr id="185" name="Text 183"/>
          <p:cNvSpPr txBox="1"/>
          <p:nvPr/>
        </p:nvSpPr>
        <p:spPr>
          <a:xfrm>
            <a:off x="6519672" y="2560320"/>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₹15,414</a:t>
            </a:r>
            <a:endParaRPr lang="en-US" sz="950" dirty="0"/>
          </a:p>
        </p:txBody>
      </p:sp>
      <p:sp>
        <p:nvSpPr>
          <p:cNvPr id="186" name="Shape 184"/>
          <p:cNvSpPr/>
          <p:nvPr/>
        </p:nvSpPr>
        <p:spPr>
          <a:xfrm>
            <a:off x="7159752" y="2560320"/>
            <a:ext cx="731520" cy="393192"/>
          </a:xfrm>
          <a:prstGeom prst="rect">
            <a:avLst/>
          </a:prstGeom>
          <a:solidFill>
            <a:srgbClr val="F1F7F3"/>
          </a:solidFill>
          <a:ln/>
        </p:spPr>
      </p:sp>
      <p:sp>
        <p:nvSpPr>
          <p:cNvPr id="187" name="Text 185"/>
          <p:cNvSpPr txBox="1"/>
          <p:nvPr/>
        </p:nvSpPr>
        <p:spPr>
          <a:xfrm>
            <a:off x="7205472" y="2560320"/>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₹36,967</a:t>
            </a:r>
            <a:endParaRPr lang="en-US" sz="950" dirty="0"/>
          </a:p>
        </p:txBody>
      </p:sp>
      <p:sp>
        <p:nvSpPr>
          <p:cNvPr id="188" name="Shape 186"/>
          <p:cNvSpPr/>
          <p:nvPr/>
        </p:nvSpPr>
        <p:spPr>
          <a:xfrm>
            <a:off x="7891272" y="2560320"/>
            <a:ext cx="640080" cy="393192"/>
          </a:xfrm>
          <a:prstGeom prst="rect">
            <a:avLst/>
          </a:prstGeom>
          <a:solidFill>
            <a:srgbClr val="F1F7F3"/>
          </a:solidFill>
          <a:ln/>
        </p:spPr>
      </p:sp>
      <p:sp>
        <p:nvSpPr>
          <p:cNvPr id="189" name="Text 187"/>
          <p:cNvSpPr txBox="1"/>
          <p:nvPr/>
        </p:nvSpPr>
        <p:spPr>
          <a:xfrm>
            <a:off x="7936992" y="2560320"/>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₹56,994</a:t>
            </a:r>
            <a:endParaRPr lang="en-US" sz="950" dirty="0"/>
          </a:p>
        </p:txBody>
      </p:sp>
      <p:sp>
        <p:nvSpPr>
          <p:cNvPr id="190" name="Shape 188"/>
          <p:cNvSpPr/>
          <p:nvPr/>
        </p:nvSpPr>
        <p:spPr>
          <a:xfrm>
            <a:off x="4233672" y="2953512"/>
            <a:ext cx="4297680" cy="0"/>
          </a:xfrm>
          <a:prstGeom prst="line">
            <a:avLst/>
          </a:prstGeom>
          <a:noFill/>
          <a:ln w="6350">
            <a:solidFill>
              <a:srgbClr val="E3E8E4"/>
            </a:solidFill>
            <a:prstDash val="solid"/>
          </a:ln>
        </p:spPr>
      </p:sp>
      <p:sp>
        <p:nvSpPr>
          <p:cNvPr id="191" name="Shape 189"/>
          <p:cNvSpPr/>
          <p:nvPr/>
        </p:nvSpPr>
        <p:spPr>
          <a:xfrm>
            <a:off x="4233672" y="2953512"/>
            <a:ext cx="1600200" cy="393192"/>
          </a:xfrm>
          <a:prstGeom prst="rect">
            <a:avLst/>
          </a:prstGeom>
          <a:solidFill>
            <a:srgbClr val="F1E8D3"/>
          </a:solidFill>
          <a:ln/>
        </p:spPr>
      </p:sp>
      <p:sp>
        <p:nvSpPr>
          <p:cNvPr id="192" name="Text 190"/>
          <p:cNvSpPr txBox="1"/>
          <p:nvPr/>
        </p:nvSpPr>
        <p:spPr>
          <a:xfrm>
            <a:off x="4279392" y="2953512"/>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Fees retained</a:t>
            </a:r>
            <a:endParaRPr lang="en-US" sz="950" dirty="0"/>
          </a:p>
        </p:txBody>
      </p:sp>
      <p:sp>
        <p:nvSpPr>
          <p:cNvPr id="193" name="Shape 191"/>
          <p:cNvSpPr/>
          <p:nvPr/>
        </p:nvSpPr>
        <p:spPr>
          <a:xfrm>
            <a:off x="5833872" y="2953512"/>
            <a:ext cx="640080" cy="393192"/>
          </a:xfrm>
          <a:prstGeom prst="rect">
            <a:avLst/>
          </a:prstGeom>
          <a:solidFill>
            <a:srgbClr val="F1E8D3"/>
          </a:solidFill>
          <a:ln/>
        </p:spPr>
      </p:sp>
      <p:sp>
        <p:nvSpPr>
          <p:cNvPr id="194" name="Text 192"/>
          <p:cNvSpPr txBox="1"/>
          <p:nvPr/>
        </p:nvSpPr>
        <p:spPr>
          <a:xfrm>
            <a:off x="5879592" y="295351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₹4.32 L</a:t>
            </a:r>
            <a:endParaRPr lang="en-US" sz="950" dirty="0"/>
          </a:p>
        </p:txBody>
      </p:sp>
      <p:sp>
        <p:nvSpPr>
          <p:cNvPr id="195" name="Shape 193"/>
          <p:cNvSpPr/>
          <p:nvPr/>
        </p:nvSpPr>
        <p:spPr>
          <a:xfrm>
            <a:off x="6473952" y="2953512"/>
            <a:ext cx="685800" cy="393192"/>
          </a:xfrm>
          <a:prstGeom prst="rect">
            <a:avLst/>
          </a:prstGeom>
          <a:solidFill>
            <a:srgbClr val="F1E8D3"/>
          </a:solidFill>
          <a:ln/>
        </p:spPr>
      </p:sp>
      <p:sp>
        <p:nvSpPr>
          <p:cNvPr id="196" name="Text 194"/>
          <p:cNvSpPr txBox="1"/>
          <p:nvPr/>
        </p:nvSpPr>
        <p:spPr>
          <a:xfrm>
            <a:off x="6519672" y="2953512"/>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₹2,928</a:t>
            </a:r>
            <a:endParaRPr lang="en-US" sz="950" dirty="0"/>
          </a:p>
        </p:txBody>
      </p:sp>
      <p:sp>
        <p:nvSpPr>
          <p:cNvPr id="197" name="Shape 195"/>
          <p:cNvSpPr/>
          <p:nvPr/>
        </p:nvSpPr>
        <p:spPr>
          <a:xfrm>
            <a:off x="7159752" y="2953512"/>
            <a:ext cx="731520" cy="393192"/>
          </a:xfrm>
          <a:prstGeom prst="rect">
            <a:avLst/>
          </a:prstGeom>
          <a:solidFill>
            <a:srgbClr val="F1E8D3"/>
          </a:solidFill>
          <a:ln/>
        </p:spPr>
      </p:sp>
      <p:sp>
        <p:nvSpPr>
          <p:cNvPr id="198" name="Text 196"/>
          <p:cNvSpPr txBox="1"/>
          <p:nvPr/>
        </p:nvSpPr>
        <p:spPr>
          <a:xfrm>
            <a:off x="7205472" y="2953512"/>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₹89,672</a:t>
            </a:r>
            <a:endParaRPr lang="en-US" sz="950" dirty="0"/>
          </a:p>
        </p:txBody>
      </p:sp>
      <p:sp>
        <p:nvSpPr>
          <p:cNvPr id="199" name="Shape 197"/>
          <p:cNvSpPr/>
          <p:nvPr/>
        </p:nvSpPr>
        <p:spPr>
          <a:xfrm>
            <a:off x="7891272" y="2953512"/>
            <a:ext cx="640080" cy="393192"/>
          </a:xfrm>
          <a:prstGeom prst="rect">
            <a:avLst/>
          </a:prstGeom>
          <a:solidFill>
            <a:srgbClr val="F1E8D3"/>
          </a:solidFill>
          <a:ln/>
        </p:spPr>
      </p:sp>
      <p:sp>
        <p:nvSpPr>
          <p:cNvPr id="200" name="Text 198"/>
          <p:cNvSpPr txBox="1"/>
          <p:nvPr/>
        </p:nvSpPr>
        <p:spPr>
          <a:xfrm>
            <a:off x="7936992" y="295351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₹9.11 L</a:t>
            </a:r>
            <a:endParaRPr lang="en-US" sz="950" dirty="0"/>
          </a:p>
        </p:txBody>
      </p:sp>
      <p:sp>
        <p:nvSpPr>
          <p:cNvPr id="201" name="Shape 199"/>
          <p:cNvSpPr/>
          <p:nvPr/>
        </p:nvSpPr>
        <p:spPr>
          <a:xfrm>
            <a:off x="4233672" y="3346704"/>
            <a:ext cx="4297680" cy="0"/>
          </a:xfrm>
          <a:prstGeom prst="line">
            <a:avLst/>
          </a:prstGeom>
          <a:noFill/>
          <a:ln w="6350">
            <a:solidFill>
              <a:srgbClr val="E3E8E4"/>
            </a:solidFill>
            <a:prstDash val="solid"/>
          </a:ln>
        </p:spPr>
      </p:sp>
      <p:sp>
        <p:nvSpPr>
          <p:cNvPr id="202" name="Shape 200"/>
          <p:cNvSpPr/>
          <p:nvPr/>
        </p:nvSpPr>
        <p:spPr>
          <a:xfrm>
            <a:off x="4233672" y="3346704"/>
            <a:ext cx="1600200" cy="393192"/>
          </a:xfrm>
          <a:prstGeom prst="rect">
            <a:avLst/>
          </a:prstGeom>
          <a:solidFill>
            <a:srgbClr val="F1F7F3"/>
          </a:solidFill>
          <a:ln/>
        </p:spPr>
      </p:sp>
      <p:sp>
        <p:nvSpPr>
          <p:cNvPr id="203" name="Text 201"/>
          <p:cNvSpPr txBox="1"/>
          <p:nvPr/>
        </p:nvSpPr>
        <p:spPr>
          <a:xfrm>
            <a:off x="4279392" y="3346704"/>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Total value</a:t>
            </a:r>
            <a:endParaRPr lang="en-US" sz="950" dirty="0"/>
          </a:p>
        </p:txBody>
      </p:sp>
      <p:sp>
        <p:nvSpPr>
          <p:cNvPr id="204" name="Shape 202"/>
          <p:cNvSpPr/>
          <p:nvPr/>
        </p:nvSpPr>
        <p:spPr>
          <a:xfrm>
            <a:off x="5833872" y="3346704"/>
            <a:ext cx="640080" cy="393192"/>
          </a:xfrm>
          <a:prstGeom prst="rect">
            <a:avLst/>
          </a:prstGeom>
          <a:solidFill>
            <a:srgbClr val="F1F7F3"/>
          </a:solidFill>
          <a:ln/>
        </p:spPr>
      </p:sp>
      <p:sp>
        <p:nvSpPr>
          <p:cNvPr id="205" name="Text 203"/>
          <p:cNvSpPr txBox="1"/>
          <p:nvPr/>
        </p:nvSpPr>
        <p:spPr>
          <a:xfrm>
            <a:off x="5879592" y="3346704"/>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₹4.32 L</a:t>
            </a:r>
            <a:endParaRPr lang="en-US" sz="950" dirty="0"/>
          </a:p>
        </p:txBody>
      </p:sp>
      <p:sp>
        <p:nvSpPr>
          <p:cNvPr id="206" name="Shape 204"/>
          <p:cNvSpPr/>
          <p:nvPr/>
        </p:nvSpPr>
        <p:spPr>
          <a:xfrm>
            <a:off x="6473952" y="3346704"/>
            <a:ext cx="685800" cy="393192"/>
          </a:xfrm>
          <a:prstGeom prst="rect">
            <a:avLst/>
          </a:prstGeom>
          <a:solidFill>
            <a:srgbClr val="F1F7F3"/>
          </a:solidFill>
          <a:ln/>
        </p:spPr>
      </p:sp>
      <p:sp>
        <p:nvSpPr>
          <p:cNvPr id="207" name="Text 205"/>
          <p:cNvSpPr txBox="1"/>
          <p:nvPr/>
        </p:nvSpPr>
        <p:spPr>
          <a:xfrm>
            <a:off x="6519672" y="3346704"/>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₹11,928</a:t>
            </a:r>
            <a:endParaRPr lang="en-US" sz="950" dirty="0"/>
          </a:p>
        </p:txBody>
      </p:sp>
      <p:sp>
        <p:nvSpPr>
          <p:cNvPr id="208" name="Shape 206"/>
          <p:cNvSpPr/>
          <p:nvPr/>
        </p:nvSpPr>
        <p:spPr>
          <a:xfrm>
            <a:off x="7159752" y="3346704"/>
            <a:ext cx="731520" cy="393192"/>
          </a:xfrm>
          <a:prstGeom prst="rect">
            <a:avLst/>
          </a:prstGeom>
          <a:solidFill>
            <a:srgbClr val="F1F7F3"/>
          </a:solidFill>
          <a:ln/>
        </p:spPr>
      </p:sp>
      <p:sp>
        <p:nvSpPr>
          <p:cNvPr id="209" name="Text 207"/>
          <p:cNvSpPr txBox="1"/>
          <p:nvPr/>
        </p:nvSpPr>
        <p:spPr>
          <a:xfrm>
            <a:off x="7205472" y="3346704"/>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₹3.48 L</a:t>
            </a:r>
            <a:endParaRPr lang="en-US" sz="950" dirty="0"/>
          </a:p>
        </p:txBody>
      </p:sp>
      <p:sp>
        <p:nvSpPr>
          <p:cNvPr id="210" name="Shape 208"/>
          <p:cNvSpPr/>
          <p:nvPr/>
        </p:nvSpPr>
        <p:spPr>
          <a:xfrm>
            <a:off x="7891272" y="3346704"/>
            <a:ext cx="640080" cy="393192"/>
          </a:xfrm>
          <a:prstGeom prst="rect">
            <a:avLst/>
          </a:prstGeom>
          <a:solidFill>
            <a:srgbClr val="F1F7F3"/>
          </a:solidFill>
          <a:ln/>
        </p:spPr>
      </p:sp>
      <p:sp>
        <p:nvSpPr>
          <p:cNvPr id="211" name="Text 209"/>
          <p:cNvSpPr txBox="1"/>
          <p:nvPr/>
        </p:nvSpPr>
        <p:spPr>
          <a:xfrm>
            <a:off x="7936992" y="3346704"/>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₹21.5 L</a:t>
            </a:r>
            <a:endParaRPr lang="en-US" sz="950" dirty="0"/>
          </a:p>
        </p:txBody>
      </p:sp>
      <p:sp>
        <p:nvSpPr>
          <p:cNvPr id="212" name="Shape 210"/>
          <p:cNvSpPr/>
          <p:nvPr/>
        </p:nvSpPr>
        <p:spPr>
          <a:xfrm>
            <a:off x="4233672" y="3739896"/>
            <a:ext cx="4297680" cy="0"/>
          </a:xfrm>
          <a:prstGeom prst="line">
            <a:avLst/>
          </a:prstGeom>
          <a:noFill/>
          <a:ln w="6350">
            <a:solidFill>
              <a:srgbClr val="E3E8E4"/>
            </a:solidFill>
            <a:prstDash val="solid"/>
          </a:ln>
        </p:spPr>
      </p:sp>
      <p:sp>
        <p:nvSpPr>
          <p:cNvPr id="213" name="Shape 211"/>
          <p:cNvSpPr/>
          <p:nvPr/>
        </p:nvSpPr>
        <p:spPr>
          <a:xfrm>
            <a:off x="4233672" y="3739896"/>
            <a:ext cx="1600200" cy="393192"/>
          </a:xfrm>
          <a:prstGeom prst="rect">
            <a:avLst/>
          </a:prstGeom>
          <a:solidFill>
            <a:srgbClr val="FFFFFF"/>
          </a:solidFill>
          <a:ln/>
        </p:spPr>
      </p:sp>
      <p:sp>
        <p:nvSpPr>
          <p:cNvPr id="214" name="Text 212"/>
          <p:cNvSpPr txBox="1"/>
          <p:nvPr/>
        </p:nvSpPr>
        <p:spPr>
          <a:xfrm>
            <a:off x="4279392" y="3739896"/>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Total cost to institute</a:t>
            </a:r>
            <a:endParaRPr lang="en-US" sz="950" dirty="0"/>
          </a:p>
        </p:txBody>
      </p:sp>
      <p:sp>
        <p:nvSpPr>
          <p:cNvPr id="215" name="Shape 213"/>
          <p:cNvSpPr/>
          <p:nvPr/>
        </p:nvSpPr>
        <p:spPr>
          <a:xfrm>
            <a:off x="5833872" y="3739896"/>
            <a:ext cx="640080" cy="393192"/>
          </a:xfrm>
          <a:prstGeom prst="rect">
            <a:avLst/>
          </a:prstGeom>
          <a:solidFill>
            <a:srgbClr val="FFFFFF"/>
          </a:solidFill>
          <a:ln/>
        </p:spPr>
      </p:sp>
      <p:sp>
        <p:nvSpPr>
          <p:cNvPr id="216" name="Text 214"/>
          <p:cNvSpPr txBox="1"/>
          <p:nvPr/>
        </p:nvSpPr>
        <p:spPr>
          <a:xfrm>
            <a:off x="5879592" y="373989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₹1.92 L</a:t>
            </a:r>
            <a:endParaRPr lang="en-US" sz="950" dirty="0"/>
          </a:p>
        </p:txBody>
      </p:sp>
      <p:sp>
        <p:nvSpPr>
          <p:cNvPr id="217" name="Shape 215"/>
          <p:cNvSpPr/>
          <p:nvPr/>
        </p:nvSpPr>
        <p:spPr>
          <a:xfrm>
            <a:off x="6473952" y="3739896"/>
            <a:ext cx="685800" cy="393192"/>
          </a:xfrm>
          <a:prstGeom prst="rect">
            <a:avLst/>
          </a:prstGeom>
          <a:solidFill>
            <a:srgbClr val="FFFFFF"/>
          </a:solidFill>
          <a:ln/>
        </p:spPr>
      </p:sp>
      <p:sp>
        <p:nvSpPr>
          <p:cNvPr id="218" name="Text 216"/>
          <p:cNvSpPr txBox="1"/>
          <p:nvPr/>
        </p:nvSpPr>
        <p:spPr>
          <a:xfrm>
            <a:off x="6519672" y="3739896"/>
            <a:ext cx="59436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₹78,544</a:t>
            </a:r>
            <a:endParaRPr lang="en-US" sz="950" dirty="0"/>
          </a:p>
        </p:txBody>
      </p:sp>
      <p:sp>
        <p:nvSpPr>
          <p:cNvPr id="219" name="Shape 217"/>
          <p:cNvSpPr/>
          <p:nvPr/>
        </p:nvSpPr>
        <p:spPr>
          <a:xfrm>
            <a:off x="7159752" y="3739896"/>
            <a:ext cx="731520" cy="393192"/>
          </a:xfrm>
          <a:prstGeom prst="rect">
            <a:avLst/>
          </a:prstGeom>
          <a:solidFill>
            <a:srgbClr val="FFFFFF"/>
          </a:solidFill>
          <a:ln/>
        </p:spPr>
      </p:sp>
      <p:sp>
        <p:nvSpPr>
          <p:cNvPr id="220" name="Text 218"/>
          <p:cNvSpPr txBox="1"/>
          <p:nvPr/>
        </p:nvSpPr>
        <p:spPr>
          <a:xfrm>
            <a:off x="7205472" y="3739896"/>
            <a:ext cx="64008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₹1.20 L</a:t>
            </a:r>
            <a:endParaRPr lang="en-US" sz="950" dirty="0"/>
          </a:p>
        </p:txBody>
      </p:sp>
      <p:sp>
        <p:nvSpPr>
          <p:cNvPr id="221" name="Shape 219"/>
          <p:cNvSpPr/>
          <p:nvPr/>
        </p:nvSpPr>
        <p:spPr>
          <a:xfrm>
            <a:off x="7891272" y="3739896"/>
            <a:ext cx="640080" cy="393192"/>
          </a:xfrm>
          <a:prstGeom prst="rect">
            <a:avLst/>
          </a:prstGeom>
          <a:solidFill>
            <a:srgbClr val="FFFFFF"/>
          </a:solidFill>
          <a:ln/>
        </p:spPr>
      </p:sp>
      <p:sp>
        <p:nvSpPr>
          <p:cNvPr id="222" name="Text 220"/>
          <p:cNvSpPr txBox="1"/>
          <p:nvPr/>
        </p:nvSpPr>
        <p:spPr>
          <a:xfrm>
            <a:off x="7936992" y="3739896"/>
            <a:ext cx="548640" cy="39319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₹1.53 L</a:t>
            </a:r>
            <a:endParaRPr lang="en-US" sz="950" dirty="0"/>
          </a:p>
        </p:txBody>
      </p:sp>
      <p:sp>
        <p:nvSpPr>
          <p:cNvPr id="223" name="Shape 221"/>
          <p:cNvSpPr/>
          <p:nvPr/>
        </p:nvSpPr>
        <p:spPr>
          <a:xfrm>
            <a:off x="4233672" y="4133088"/>
            <a:ext cx="4297680" cy="0"/>
          </a:xfrm>
          <a:prstGeom prst="line">
            <a:avLst/>
          </a:prstGeom>
          <a:noFill/>
          <a:ln w="6350">
            <a:solidFill>
              <a:srgbClr val="E3E8E4"/>
            </a:solidFill>
            <a:prstDash val="solid"/>
          </a:ln>
        </p:spPr>
      </p:sp>
      <p:sp>
        <p:nvSpPr>
          <p:cNvPr id="224" name="Shape 222"/>
          <p:cNvSpPr/>
          <p:nvPr/>
        </p:nvSpPr>
        <p:spPr>
          <a:xfrm>
            <a:off x="4233672" y="4133088"/>
            <a:ext cx="1600200" cy="393192"/>
          </a:xfrm>
          <a:prstGeom prst="rect">
            <a:avLst/>
          </a:prstGeom>
          <a:solidFill>
            <a:srgbClr val="D6E4F5"/>
          </a:solidFill>
          <a:ln/>
        </p:spPr>
      </p:sp>
      <p:sp>
        <p:nvSpPr>
          <p:cNvPr id="225" name="Text 223"/>
          <p:cNvSpPr txBox="1"/>
          <p:nvPr/>
        </p:nvSpPr>
        <p:spPr>
          <a:xfrm>
            <a:off x="4279392" y="4133088"/>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all benefits</a:t>
            </a:r>
            <a:endParaRPr lang="en-US" sz="950" dirty="0"/>
          </a:p>
        </p:txBody>
      </p:sp>
      <p:sp>
        <p:nvSpPr>
          <p:cNvPr id="226" name="Shape 224"/>
          <p:cNvSpPr/>
          <p:nvPr/>
        </p:nvSpPr>
        <p:spPr>
          <a:xfrm>
            <a:off x="5833872" y="4133088"/>
            <a:ext cx="640080" cy="393192"/>
          </a:xfrm>
          <a:prstGeom prst="rect">
            <a:avLst/>
          </a:prstGeom>
          <a:solidFill>
            <a:srgbClr val="D6E4F5"/>
          </a:solidFill>
          <a:ln/>
        </p:spPr>
      </p:sp>
      <p:sp>
        <p:nvSpPr>
          <p:cNvPr id="227" name="Text 225"/>
          <p:cNvSpPr txBox="1"/>
          <p:nvPr/>
        </p:nvSpPr>
        <p:spPr>
          <a:xfrm>
            <a:off x="5879592" y="4133088"/>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2.25x</a:t>
            </a:r>
            <a:endParaRPr lang="en-US" sz="950" dirty="0"/>
          </a:p>
        </p:txBody>
      </p:sp>
      <p:sp>
        <p:nvSpPr>
          <p:cNvPr id="228" name="Shape 226"/>
          <p:cNvSpPr/>
          <p:nvPr/>
        </p:nvSpPr>
        <p:spPr>
          <a:xfrm>
            <a:off x="6473952" y="4133088"/>
            <a:ext cx="685800" cy="393192"/>
          </a:xfrm>
          <a:prstGeom prst="rect">
            <a:avLst/>
          </a:prstGeom>
          <a:solidFill>
            <a:srgbClr val="D6E4F5"/>
          </a:solidFill>
          <a:ln/>
        </p:spPr>
      </p:sp>
      <p:sp>
        <p:nvSpPr>
          <p:cNvPr id="229" name="Text 227"/>
          <p:cNvSpPr txBox="1"/>
          <p:nvPr/>
        </p:nvSpPr>
        <p:spPr>
          <a:xfrm>
            <a:off x="6519672" y="4133088"/>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0.15x</a:t>
            </a:r>
            <a:endParaRPr lang="en-US" sz="950" dirty="0"/>
          </a:p>
        </p:txBody>
      </p:sp>
      <p:sp>
        <p:nvSpPr>
          <p:cNvPr id="230" name="Shape 228"/>
          <p:cNvSpPr/>
          <p:nvPr/>
        </p:nvSpPr>
        <p:spPr>
          <a:xfrm>
            <a:off x="7159752" y="4133088"/>
            <a:ext cx="731520" cy="393192"/>
          </a:xfrm>
          <a:prstGeom prst="rect">
            <a:avLst/>
          </a:prstGeom>
          <a:solidFill>
            <a:srgbClr val="D6E4F5"/>
          </a:solidFill>
          <a:ln/>
        </p:spPr>
      </p:sp>
      <p:sp>
        <p:nvSpPr>
          <p:cNvPr id="231" name="Text 229"/>
          <p:cNvSpPr txBox="1"/>
          <p:nvPr/>
        </p:nvSpPr>
        <p:spPr>
          <a:xfrm>
            <a:off x="7205472" y="4133088"/>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2.9x</a:t>
            </a:r>
            <a:endParaRPr lang="en-US" sz="950" dirty="0"/>
          </a:p>
        </p:txBody>
      </p:sp>
      <p:sp>
        <p:nvSpPr>
          <p:cNvPr id="232" name="Shape 230"/>
          <p:cNvSpPr/>
          <p:nvPr/>
        </p:nvSpPr>
        <p:spPr>
          <a:xfrm>
            <a:off x="7891272" y="4133088"/>
            <a:ext cx="640080" cy="393192"/>
          </a:xfrm>
          <a:prstGeom prst="rect">
            <a:avLst/>
          </a:prstGeom>
          <a:solidFill>
            <a:srgbClr val="D6E4F5"/>
          </a:solidFill>
          <a:ln/>
        </p:spPr>
      </p:sp>
      <p:sp>
        <p:nvSpPr>
          <p:cNvPr id="233" name="Text 231"/>
          <p:cNvSpPr txBox="1"/>
          <p:nvPr/>
        </p:nvSpPr>
        <p:spPr>
          <a:xfrm>
            <a:off x="7936992" y="4133088"/>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14x</a:t>
            </a:r>
            <a:endParaRPr lang="en-US" sz="950" dirty="0"/>
          </a:p>
        </p:txBody>
      </p:sp>
      <p:sp>
        <p:nvSpPr>
          <p:cNvPr id="234" name="Shape 232"/>
          <p:cNvSpPr/>
          <p:nvPr/>
        </p:nvSpPr>
        <p:spPr>
          <a:xfrm>
            <a:off x="4233672" y="4526280"/>
            <a:ext cx="4297680" cy="0"/>
          </a:xfrm>
          <a:prstGeom prst="line">
            <a:avLst/>
          </a:prstGeom>
          <a:noFill/>
          <a:ln w="6350">
            <a:solidFill>
              <a:srgbClr val="E3E8E4"/>
            </a:solidFill>
            <a:prstDash val="solid"/>
          </a:ln>
        </p:spPr>
      </p:sp>
      <p:sp>
        <p:nvSpPr>
          <p:cNvPr id="235" name="Shape 233"/>
          <p:cNvSpPr/>
          <p:nvPr/>
        </p:nvSpPr>
        <p:spPr>
          <a:xfrm>
            <a:off x="4233672" y="4526280"/>
            <a:ext cx="1600200" cy="393192"/>
          </a:xfrm>
          <a:prstGeom prst="rect">
            <a:avLst/>
          </a:prstGeom>
          <a:solidFill>
            <a:srgbClr val="D6E4F5"/>
          </a:solidFill>
          <a:ln/>
        </p:spPr>
      </p:sp>
      <p:sp>
        <p:nvSpPr>
          <p:cNvPr id="236" name="Text 234"/>
          <p:cNvSpPr txBox="1"/>
          <p:nvPr/>
        </p:nvSpPr>
        <p:spPr>
          <a:xfrm>
            <a:off x="4279392" y="4526280"/>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Return, fees only</a:t>
            </a:r>
            <a:endParaRPr lang="en-US" sz="950" dirty="0"/>
          </a:p>
        </p:txBody>
      </p:sp>
      <p:sp>
        <p:nvSpPr>
          <p:cNvPr id="237" name="Shape 235"/>
          <p:cNvSpPr/>
          <p:nvPr/>
        </p:nvSpPr>
        <p:spPr>
          <a:xfrm>
            <a:off x="5833872" y="4526280"/>
            <a:ext cx="640080" cy="393192"/>
          </a:xfrm>
          <a:prstGeom prst="rect">
            <a:avLst/>
          </a:prstGeom>
          <a:solidFill>
            <a:srgbClr val="D6E4F5"/>
          </a:solidFill>
          <a:ln/>
        </p:spPr>
      </p:sp>
      <p:sp>
        <p:nvSpPr>
          <p:cNvPr id="238" name="Text 236"/>
          <p:cNvSpPr txBox="1"/>
          <p:nvPr/>
        </p:nvSpPr>
        <p:spPr>
          <a:xfrm>
            <a:off x="5879592" y="4526280"/>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2.25x</a:t>
            </a:r>
            <a:endParaRPr lang="en-US" sz="950" dirty="0"/>
          </a:p>
        </p:txBody>
      </p:sp>
      <p:sp>
        <p:nvSpPr>
          <p:cNvPr id="239" name="Shape 237"/>
          <p:cNvSpPr/>
          <p:nvPr/>
        </p:nvSpPr>
        <p:spPr>
          <a:xfrm>
            <a:off x="6473952" y="4526280"/>
            <a:ext cx="685800" cy="393192"/>
          </a:xfrm>
          <a:prstGeom prst="rect">
            <a:avLst/>
          </a:prstGeom>
          <a:solidFill>
            <a:srgbClr val="D6E4F5"/>
          </a:solidFill>
          <a:ln/>
        </p:spPr>
      </p:sp>
      <p:sp>
        <p:nvSpPr>
          <p:cNvPr id="240" name="Text 238"/>
          <p:cNvSpPr txBox="1"/>
          <p:nvPr/>
        </p:nvSpPr>
        <p:spPr>
          <a:xfrm>
            <a:off x="6519672" y="4526280"/>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0.04x</a:t>
            </a:r>
            <a:endParaRPr lang="en-US" sz="950" dirty="0"/>
          </a:p>
        </p:txBody>
      </p:sp>
      <p:sp>
        <p:nvSpPr>
          <p:cNvPr id="241" name="Shape 239"/>
          <p:cNvSpPr/>
          <p:nvPr/>
        </p:nvSpPr>
        <p:spPr>
          <a:xfrm>
            <a:off x="7159752" y="4526280"/>
            <a:ext cx="731520" cy="393192"/>
          </a:xfrm>
          <a:prstGeom prst="rect">
            <a:avLst/>
          </a:prstGeom>
          <a:solidFill>
            <a:srgbClr val="D6E4F5"/>
          </a:solidFill>
          <a:ln/>
        </p:spPr>
      </p:sp>
      <p:sp>
        <p:nvSpPr>
          <p:cNvPr id="242" name="Text 240"/>
          <p:cNvSpPr txBox="1"/>
          <p:nvPr/>
        </p:nvSpPr>
        <p:spPr>
          <a:xfrm>
            <a:off x="7205472" y="4526280"/>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0.75x</a:t>
            </a:r>
            <a:endParaRPr lang="en-US" sz="950" dirty="0"/>
          </a:p>
        </p:txBody>
      </p:sp>
      <p:sp>
        <p:nvSpPr>
          <p:cNvPr id="243" name="Shape 241"/>
          <p:cNvSpPr/>
          <p:nvPr/>
        </p:nvSpPr>
        <p:spPr>
          <a:xfrm>
            <a:off x="7891272" y="4526280"/>
            <a:ext cx="640080" cy="393192"/>
          </a:xfrm>
          <a:prstGeom prst="rect">
            <a:avLst/>
          </a:prstGeom>
          <a:solidFill>
            <a:srgbClr val="D6E4F5"/>
          </a:solidFill>
          <a:ln/>
        </p:spPr>
      </p:sp>
      <p:sp>
        <p:nvSpPr>
          <p:cNvPr id="244" name="Text 242"/>
          <p:cNvSpPr txBox="1"/>
          <p:nvPr/>
        </p:nvSpPr>
        <p:spPr>
          <a:xfrm>
            <a:off x="7936992" y="4526280"/>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5.9x</a:t>
            </a:r>
            <a:endParaRPr lang="en-US" sz="950" dirty="0"/>
          </a:p>
        </p:txBody>
      </p:sp>
      <p:sp>
        <p:nvSpPr>
          <p:cNvPr id="245" name="Shape 243"/>
          <p:cNvSpPr/>
          <p:nvPr/>
        </p:nvSpPr>
        <p:spPr>
          <a:xfrm>
            <a:off x="4233672" y="4919472"/>
            <a:ext cx="4297680" cy="0"/>
          </a:xfrm>
          <a:prstGeom prst="line">
            <a:avLst/>
          </a:prstGeom>
          <a:noFill/>
          <a:ln w="6350">
            <a:solidFill>
              <a:srgbClr val="E3E8E4"/>
            </a:solidFill>
            <a:prstDash val="solid"/>
          </a:ln>
        </p:spPr>
      </p:sp>
      <p:sp>
        <p:nvSpPr>
          <p:cNvPr id="246" name="Shape 244"/>
          <p:cNvSpPr/>
          <p:nvPr/>
        </p:nvSpPr>
        <p:spPr>
          <a:xfrm>
            <a:off x="4233672" y="4919472"/>
            <a:ext cx="1600200" cy="393192"/>
          </a:xfrm>
          <a:prstGeom prst="rect">
            <a:avLst/>
          </a:prstGeom>
          <a:solidFill>
            <a:srgbClr val="F1E8D3"/>
          </a:solidFill>
          <a:ln/>
        </p:spPr>
      </p:sp>
      <p:sp>
        <p:nvSpPr>
          <p:cNvPr id="247" name="Text 245"/>
          <p:cNvSpPr txBox="1"/>
          <p:nvPr/>
        </p:nvSpPr>
        <p:spPr>
          <a:xfrm>
            <a:off x="4279392" y="4919472"/>
            <a:ext cx="1508760" cy="39319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Students to save to break even</a:t>
            </a:r>
            <a:endParaRPr lang="en-US" sz="950" dirty="0"/>
          </a:p>
        </p:txBody>
      </p:sp>
      <p:sp>
        <p:nvSpPr>
          <p:cNvPr id="248" name="Shape 246"/>
          <p:cNvSpPr/>
          <p:nvPr/>
        </p:nvSpPr>
        <p:spPr>
          <a:xfrm>
            <a:off x="5833872" y="4919472"/>
            <a:ext cx="640080" cy="393192"/>
          </a:xfrm>
          <a:prstGeom prst="rect">
            <a:avLst/>
          </a:prstGeom>
          <a:solidFill>
            <a:srgbClr val="F1E8D3"/>
          </a:solidFill>
          <a:ln/>
        </p:spPr>
      </p:sp>
      <p:sp>
        <p:nvSpPr>
          <p:cNvPr id="249" name="Text 247"/>
          <p:cNvSpPr txBox="1"/>
          <p:nvPr/>
        </p:nvSpPr>
        <p:spPr>
          <a:xfrm>
            <a:off x="5879592" y="491947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5.3</a:t>
            </a:r>
            <a:endParaRPr lang="en-US" sz="950" dirty="0"/>
          </a:p>
        </p:txBody>
      </p:sp>
      <p:sp>
        <p:nvSpPr>
          <p:cNvPr id="250" name="Shape 248"/>
          <p:cNvSpPr/>
          <p:nvPr/>
        </p:nvSpPr>
        <p:spPr>
          <a:xfrm>
            <a:off x="6473952" y="4919472"/>
            <a:ext cx="685800" cy="393192"/>
          </a:xfrm>
          <a:prstGeom prst="rect">
            <a:avLst/>
          </a:prstGeom>
          <a:solidFill>
            <a:srgbClr val="F1E8D3"/>
          </a:solidFill>
          <a:ln/>
        </p:spPr>
      </p:sp>
      <p:sp>
        <p:nvSpPr>
          <p:cNvPr id="251" name="Text 249"/>
          <p:cNvSpPr txBox="1"/>
          <p:nvPr/>
        </p:nvSpPr>
        <p:spPr>
          <a:xfrm>
            <a:off x="6519672" y="4919472"/>
            <a:ext cx="59436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6.5</a:t>
            </a:r>
            <a:endParaRPr lang="en-US" sz="950" dirty="0"/>
          </a:p>
        </p:txBody>
      </p:sp>
      <p:sp>
        <p:nvSpPr>
          <p:cNvPr id="252" name="Shape 250"/>
          <p:cNvSpPr/>
          <p:nvPr/>
        </p:nvSpPr>
        <p:spPr>
          <a:xfrm>
            <a:off x="7159752" y="4919472"/>
            <a:ext cx="731520" cy="393192"/>
          </a:xfrm>
          <a:prstGeom prst="rect">
            <a:avLst/>
          </a:prstGeom>
          <a:solidFill>
            <a:srgbClr val="F1E8D3"/>
          </a:solidFill>
          <a:ln/>
        </p:spPr>
      </p:sp>
      <p:sp>
        <p:nvSpPr>
          <p:cNvPr id="253" name="Text 251"/>
          <p:cNvSpPr txBox="1"/>
          <p:nvPr/>
        </p:nvSpPr>
        <p:spPr>
          <a:xfrm>
            <a:off x="7205472" y="4919472"/>
            <a:ext cx="64008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3.5</a:t>
            </a:r>
            <a:endParaRPr lang="en-US" sz="950" dirty="0"/>
          </a:p>
        </p:txBody>
      </p:sp>
      <p:sp>
        <p:nvSpPr>
          <p:cNvPr id="254" name="Shape 252"/>
          <p:cNvSpPr/>
          <p:nvPr/>
        </p:nvSpPr>
        <p:spPr>
          <a:xfrm>
            <a:off x="7891272" y="4919472"/>
            <a:ext cx="640080" cy="393192"/>
          </a:xfrm>
          <a:prstGeom prst="rect">
            <a:avLst/>
          </a:prstGeom>
          <a:solidFill>
            <a:srgbClr val="F1E8D3"/>
          </a:solidFill>
          <a:ln/>
        </p:spPr>
      </p:sp>
      <p:sp>
        <p:nvSpPr>
          <p:cNvPr id="255" name="Text 253"/>
          <p:cNvSpPr txBox="1"/>
          <p:nvPr/>
        </p:nvSpPr>
        <p:spPr>
          <a:xfrm>
            <a:off x="7936992" y="4919472"/>
            <a:ext cx="548640" cy="393192"/>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2.7</a:t>
            </a:r>
            <a:endParaRPr lang="en-US" sz="950" dirty="0"/>
          </a:p>
        </p:txBody>
      </p:sp>
      <p:sp>
        <p:nvSpPr>
          <p:cNvPr id="256" name="Shape 254"/>
          <p:cNvSpPr/>
          <p:nvPr/>
        </p:nvSpPr>
        <p:spPr>
          <a:xfrm>
            <a:off x="4233672" y="5312664"/>
            <a:ext cx="4297680" cy="0"/>
          </a:xfrm>
          <a:prstGeom prst="line">
            <a:avLst/>
          </a:prstGeom>
          <a:noFill/>
          <a:ln w="6350">
            <a:solidFill>
              <a:srgbClr val="E3E8E4"/>
            </a:solidFill>
            <a:prstDash val="solid"/>
          </a:ln>
        </p:spPr>
      </p:sp>
      <p:sp>
        <p:nvSpPr>
          <p:cNvPr id="257" name="Shape 255"/>
          <p:cNvSpPr/>
          <p:nvPr/>
        </p:nvSpPr>
        <p:spPr>
          <a:xfrm>
            <a:off x="4251960" y="5468112"/>
            <a:ext cx="1060704" cy="219456"/>
          </a:xfrm>
          <a:prstGeom prst="roundRect">
            <a:avLst>
              <a:gd name="adj" fmla="val 50000"/>
            </a:avLst>
          </a:prstGeom>
          <a:solidFill>
            <a:srgbClr val="FFFFFF"/>
          </a:solidFill>
          <a:ln w="12700">
            <a:solidFill>
              <a:srgbClr val="5B6573"/>
            </a:solidFill>
            <a:prstDash val="solid"/>
          </a:ln>
        </p:spPr>
      </p:sp>
      <p:sp>
        <p:nvSpPr>
          <p:cNvPr id="258" name="Text 256"/>
          <p:cNvSpPr txBox="1"/>
          <p:nvPr/>
        </p:nvSpPr>
        <p:spPr>
          <a:xfrm>
            <a:off x="4251960" y="5468112"/>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259" name="Text 257"/>
          <p:cNvSpPr txBox="1"/>
          <p:nvPr/>
        </p:nvSpPr>
        <p:spPr>
          <a:xfrm>
            <a:off x="4251960" y="5742432"/>
            <a:ext cx="4251960" cy="45720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Total cost includes the fee, GST net of what institutes reclaim, and mentor time.</a:t>
            </a:r>
            <a:endParaRPr lang="en-US" sz="950" dirty="0"/>
          </a:p>
        </p:txBody>
      </p:sp>
      <p:sp>
        <p:nvSpPr>
          <p:cNvPr id="260" name="Shape 258"/>
          <p:cNvSpPr/>
          <p:nvPr/>
        </p:nvSpPr>
        <p:spPr>
          <a:xfrm>
            <a:off x="8732520" y="1115568"/>
            <a:ext cx="3047695" cy="301752"/>
          </a:xfrm>
          <a:prstGeom prst="rect">
            <a:avLst/>
          </a:prstGeom>
          <a:solidFill>
            <a:srgbClr val="1F4A82"/>
          </a:solidFill>
          <a:ln/>
        </p:spPr>
      </p:sp>
      <p:sp>
        <p:nvSpPr>
          <p:cNvPr id="261" name="Text 259"/>
          <p:cNvSpPr txBox="1"/>
          <p:nvPr/>
        </p:nvSpPr>
        <p:spPr>
          <a:xfrm>
            <a:off x="8842248" y="1115568"/>
            <a:ext cx="282823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VALUE VS COST AND WHAT IT MEANS</a:t>
            </a:r>
            <a:endParaRPr lang="en-US" sz="1200" dirty="0"/>
          </a:p>
        </p:txBody>
      </p:sp>
      <p:pic>
        <p:nvPicPr>
          <p:cNvPr id="262" name="Image 0" descr="Value vs cost by scenario">    </p:cNvPr>
          <p:cNvPicPr>
            <a:picLocks noChangeAspect="1"/>
          </p:cNvPicPr>
          <p:nvPr/>
        </p:nvPicPr>
        <p:blipFill>
          <a:blip r:embed="rId1"/>
          <a:stretch>
            <a:fillRect/>
          </a:stretch>
        </p:blipFill>
        <p:spPr>
          <a:xfrm>
            <a:off x="8823960" y="1463040"/>
            <a:ext cx="2864815" cy="2177260"/>
          </a:xfrm>
          <a:prstGeom prst="rect">
            <a:avLst/>
          </a:prstGeom>
        </p:spPr>
      </p:pic>
      <p:sp>
        <p:nvSpPr>
          <p:cNvPr id="263" name="Shape 260"/>
          <p:cNvSpPr/>
          <p:nvPr/>
        </p:nvSpPr>
        <p:spPr>
          <a:xfrm>
            <a:off x="8823960" y="3840480"/>
            <a:ext cx="2864815" cy="274320"/>
          </a:xfrm>
          <a:prstGeom prst="rect">
            <a:avLst/>
          </a:prstGeom>
          <a:solidFill>
            <a:srgbClr val="1F4A82"/>
          </a:solidFill>
          <a:ln/>
        </p:spPr>
      </p:sp>
      <p:sp>
        <p:nvSpPr>
          <p:cNvPr id="264" name="Text 261"/>
          <p:cNvSpPr txBox="1"/>
          <p:nvPr/>
        </p:nvSpPr>
        <p:spPr>
          <a:xfrm>
            <a:off x="8897112" y="3840480"/>
            <a:ext cx="2718511"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INSIGHTS</a:t>
            </a:r>
            <a:endParaRPr lang="en-US" sz="1100" dirty="0"/>
          </a:p>
        </p:txBody>
      </p:sp>
      <p:sp>
        <p:nvSpPr>
          <p:cNvPr id="265" name="Shape 262"/>
          <p:cNvSpPr/>
          <p:nvPr/>
        </p:nvSpPr>
        <p:spPr>
          <a:xfrm>
            <a:off x="8823960" y="4114800"/>
            <a:ext cx="2864815" cy="2103120"/>
          </a:xfrm>
          <a:prstGeom prst="rect">
            <a:avLst/>
          </a:prstGeom>
          <a:solidFill>
            <a:srgbClr val="F1E8D3"/>
          </a:solidFill>
          <a:ln/>
        </p:spPr>
      </p:sp>
      <p:sp>
        <p:nvSpPr>
          <p:cNvPr id="266" name="Text 263"/>
          <p:cNvSpPr txBox="1"/>
          <p:nvPr/>
        </p:nvSpPr>
        <p:spPr>
          <a:xfrm>
            <a:off x="8897112" y="4160520"/>
            <a:ext cx="2718511" cy="2011680"/>
          </a:xfrm>
          <a:prstGeom prst="rect">
            <a:avLst/>
          </a:prstGeom>
          <a:noFill/>
          <a:ln/>
        </p:spPr>
        <p:txBody>
          <a:bodyPr wrap="square" lIns="0" tIns="0" rIns="0" bIns="0" rtlCol="0" anchor="t"/>
          <a:lstStyle/>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Fees alone return 0.75x: they do not cover the cost on their own.</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Fees plus staff time reach about break-even; every 1 % admissions uplift adds about ₹2.3 lakh.</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Save 3 to 4 students a year and it pays for itself.</a:t>
            </a:r>
            <a:endParaRPr lang="en-US" sz="1050" dirty="0"/>
          </a:p>
          <a:p>
            <a:pPr algn="l" marL="152400" indent="-1524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Platform cost is 0.3 % of a student's fee.</a:t>
            </a:r>
            <a:endParaRPr lang="en-US" sz="1050" dirty="0"/>
          </a:p>
        </p:txBody>
      </p:sp>
      <p:sp>
        <p:nvSpPr>
          <p:cNvPr id="267" name="Text 264"/>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(Assumptions, Scenarios). Model output, not measured; dropout effect borrowed from 8 trials in comparable settings (mean 15.8 %).</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2: SENSITIVITY</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What moves the answer: price, effect size, acquisition cost and churn</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REVENUE MODEL AND UNIT ECONOMICS 20 %</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977640" cy="301752"/>
          </a:xfrm>
          <a:prstGeom prst="rect">
            <a:avLst/>
          </a:prstGeom>
          <a:solidFill>
            <a:srgbClr val="1F4A82"/>
          </a:solidFill>
          <a:ln/>
        </p:spPr>
      </p:sp>
      <p:sp>
        <p:nvSpPr>
          <p:cNvPr id="17" name="Text 15"/>
          <p:cNvSpPr txBox="1"/>
          <p:nvPr/>
        </p:nvSpPr>
        <p:spPr>
          <a:xfrm>
            <a:off x="521208" y="1115568"/>
            <a:ext cx="3758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UNIT ECONOMICS (MID, BASE)</a:t>
            </a:r>
            <a:endParaRPr lang="en-US" sz="1200" dirty="0"/>
          </a:p>
        </p:txBody>
      </p:sp>
      <p:sp>
        <p:nvSpPr>
          <p:cNvPr id="18" name="Shape 16"/>
          <p:cNvSpPr/>
          <p:nvPr/>
        </p:nvSpPr>
        <p:spPr>
          <a:xfrm>
            <a:off x="4443984" y="1115568"/>
            <a:ext cx="0" cy="5212080"/>
          </a:xfrm>
          <a:prstGeom prst="line">
            <a:avLst/>
          </a:prstGeom>
          <a:noFill/>
          <a:ln w="12700">
            <a:solidFill>
              <a:srgbClr val="8FA9CC"/>
            </a:solidFill>
            <a:prstDash val="dash"/>
          </a:ln>
        </p:spPr>
      </p:sp>
      <p:sp>
        <p:nvSpPr>
          <p:cNvPr id="19" name="Shape 17"/>
          <p:cNvSpPr/>
          <p:nvPr/>
        </p:nvSpPr>
        <p:spPr>
          <a:xfrm>
            <a:off x="484632" y="1463040"/>
            <a:ext cx="1737360" cy="292608"/>
          </a:xfrm>
          <a:prstGeom prst="rect">
            <a:avLst/>
          </a:prstGeom>
          <a:solidFill>
            <a:srgbClr val="1F4A82"/>
          </a:solidFill>
          <a:ln/>
        </p:spPr>
      </p:sp>
      <p:sp>
        <p:nvSpPr>
          <p:cNvPr id="20" name="Text 18"/>
          <p:cNvSpPr txBox="1"/>
          <p:nvPr/>
        </p:nvSpPr>
        <p:spPr>
          <a:xfrm>
            <a:off x="530352" y="1463040"/>
            <a:ext cx="164592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Per institute</a:t>
            </a:r>
            <a:endParaRPr lang="en-US" sz="1000" dirty="0"/>
          </a:p>
        </p:txBody>
      </p:sp>
      <p:sp>
        <p:nvSpPr>
          <p:cNvPr id="21" name="Shape 19"/>
          <p:cNvSpPr/>
          <p:nvPr/>
        </p:nvSpPr>
        <p:spPr>
          <a:xfrm>
            <a:off x="2221992" y="1463040"/>
            <a:ext cx="868680" cy="292608"/>
          </a:xfrm>
          <a:prstGeom prst="rect">
            <a:avLst/>
          </a:prstGeom>
          <a:solidFill>
            <a:srgbClr val="5B6573"/>
          </a:solidFill>
          <a:ln/>
        </p:spPr>
      </p:sp>
      <p:sp>
        <p:nvSpPr>
          <p:cNvPr id="22" name="Text 20"/>
          <p:cNvSpPr txBox="1"/>
          <p:nvPr/>
        </p:nvSpPr>
        <p:spPr>
          <a:xfrm>
            <a:off x="2267712" y="1463040"/>
            <a:ext cx="7772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Guide</a:t>
            </a:r>
            <a:endParaRPr lang="en-US" sz="1000" dirty="0"/>
          </a:p>
        </p:txBody>
      </p:sp>
      <p:sp>
        <p:nvSpPr>
          <p:cNvPr id="23" name="Shape 21"/>
          <p:cNvSpPr/>
          <p:nvPr/>
        </p:nvSpPr>
        <p:spPr>
          <a:xfrm>
            <a:off x="3090672" y="1463040"/>
            <a:ext cx="1188720" cy="292608"/>
          </a:xfrm>
          <a:prstGeom prst="rect">
            <a:avLst/>
          </a:prstGeom>
          <a:solidFill>
            <a:srgbClr val="1F4A82"/>
          </a:solidFill>
          <a:ln/>
        </p:spPr>
      </p:sp>
      <p:sp>
        <p:nvSpPr>
          <p:cNvPr id="24" name="Text 22"/>
          <p:cNvSpPr txBox="1"/>
          <p:nvPr/>
        </p:nvSpPr>
        <p:spPr>
          <a:xfrm>
            <a:off x="3136392" y="1463040"/>
            <a:ext cx="10972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Pragati</a:t>
            </a:r>
            <a:endParaRPr lang="en-US" sz="1000" dirty="0"/>
          </a:p>
        </p:txBody>
      </p:sp>
      <p:sp>
        <p:nvSpPr>
          <p:cNvPr id="25" name="Shape 23"/>
          <p:cNvSpPr/>
          <p:nvPr/>
        </p:nvSpPr>
        <p:spPr>
          <a:xfrm>
            <a:off x="484632" y="1755648"/>
            <a:ext cx="1737360" cy="384048"/>
          </a:xfrm>
          <a:prstGeom prst="rect">
            <a:avLst/>
          </a:prstGeom>
          <a:solidFill>
            <a:srgbClr val="F1E8D3"/>
          </a:solidFill>
          <a:ln/>
        </p:spPr>
      </p:sp>
      <p:sp>
        <p:nvSpPr>
          <p:cNvPr id="26" name="Text 24"/>
          <p:cNvSpPr txBox="1"/>
          <p:nvPr/>
        </p:nvSpPr>
        <p:spPr>
          <a:xfrm>
            <a:off x="530352" y="1755648"/>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LTV ÷ acquisition cost</a:t>
            </a:r>
            <a:endParaRPr lang="en-US" sz="1000" dirty="0"/>
          </a:p>
        </p:txBody>
      </p:sp>
      <p:sp>
        <p:nvSpPr>
          <p:cNvPr id="27" name="Shape 25"/>
          <p:cNvSpPr/>
          <p:nvPr/>
        </p:nvSpPr>
        <p:spPr>
          <a:xfrm>
            <a:off x="2221992" y="1755648"/>
            <a:ext cx="868680" cy="384048"/>
          </a:xfrm>
          <a:prstGeom prst="rect">
            <a:avLst/>
          </a:prstGeom>
          <a:solidFill>
            <a:srgbClr val="F1E8D3"/>
          </a:solidFill>
          <a:ln/>
        </p:spPr>
      </p:sp>
      <p:sp>
        <p:nvSpPr>
          <p:cNvPr id="28" name="Text 26"/>
          <p:cNvSpPr txBox="1"/>
          <p:nvPr/>
        </p:nvSpPr>
        <p:spPr>
          <a:xfrm>
            <a:off x="2267712" y="1755648"/>
            <a:ext cx="77724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10.7x</a:t>
            </a:r>
            <a:endParaRPr lang="en-US" sz="1000" dirty="0"/>
          </a:p>
        </p:txBody>
      </p:sp>
      <p:sp>
        <p:nvSpPr>
          <p:cNvPr id="29" name="Shape 27"/>
          <p:cNvSpPr/>
          <p:nvPr/>
        </p:nvSpPr>
        <p:spPr>
          <a:xfrm>
            <a:off x="3090672" y="1755648"/>
            <a:ext cx="1188720" cy="384048"/>
          </a:xfrm>
          <a:prstGeom prst="rect">
            <a:avLst/>
          </a:prstGeom>
          <a:solidFill>
            <a:srgbClr val="F1E8D3"/>
          </a:solidFill>
          <a:ln/>
        </p:spPr>
      </p:sp>
      <p:sp>
        <p:nvSpPr>
          <p:cNvPr id="30" name="Text 28"/>
          <p:cNvSpPr txBox="1"/>
          <p:nvPr/>
        </p:nvSpPr>
        <p:spPr>
          <a:xfrm>
            <a:off x="3136392" y="1755648"/>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3.7x</a:t>
            </a:r>
            <a:endParaRPr lang="en-US" sz="1000" dirty="0"/>
          </a:p>
        </p:txBody>
      </p:sp>
      <p:sp>
        <p:nvSpPr>
          <p:cNvPr id="31" name="Shape 29"/>
          <p:cNvSpPr/>
          <p:nvPr/>
        </p:nvSpPr>
        <p:spPr>
          <a:xfrm>
            <a:off x="484632" y="2139696"/>
            <a:ext cx="3794760" cy="0"/>
          </a:xfrm>
          <a:prstGeom prst="line">
            <a:avLst/>
          </a:prstGeom>
          <a:noFill/>
          <a:ln w="6350">
            <a:solidFill>
              <a:srgbClr val="E3E8E4"/>
            </a:solidFill>
            <a:prstDash val="solid"/>
          </a:ln>
        </p:spPr>
      </p:sp>
      <p:sp>
        <p:nvSpPr>
          <p:cNvPr id="32" name="Shape 30"/>
          <p:cNvSpPr/>
          <p:nvPr/>
        </p:nvSpPr>
        <p:spPr>
          <a:xfrm>
            <a:off x="484632" y="2139696"/>
            <a:ext cx="1737360" cy="384048"/>
          </a:xfrm>
          <a:prstGeom prst="rect">
            <a:avLst/>
          </a:prstGeom>
          <a:solidFill>
            <a:srgbClr val="F1F7F3"/>
          </a:solidFill>
          <a:ln/>
        </p:spPr>
      </p:sp>
      <p:sp>
        <p:nvSpPr>
          <p:cNvPr id="33" name="Text 31"/>
          <p:cNvSpPr txBox="1"/>
          <p:nvPr/>
        </p:nvSpPr>
        <p:spPr>
          <a:xfrm>
            <a:off x="530352" y="2139696"/>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Payback</a:t>
            </a:r>
            <a:endParaRPr lang="en-US" sz="1000" dirty="0"/>
          </a:p>
        </p:txBody>
      </p:sp>
      <p:sp>
        <p:nvSpPr>
          <p:cNvPr id="34" name="Shape 32"/>
          <p:cNvSpPr/>
          <p:nvPr/>
        </p:nvSpPr>
        <p:spPr>
          <a:xfrm>
            <a:off x="2221992" y="2139696"/>
            <a:ext cx="868680" cy="384048"/>
          </a:xfrm>
          <a:prstGeom prst="rect">
            <a:avLst/>
          </a:prstGeom>
          <a:solidFill>
            <a:srgbClr val="F1F7F3"/>
          </a:solidFill>
          <a:ln/>
        </p:spPr>
      </p:sp>
      <p:sp>
        <p:nvSpPr>
          <p:cNvPr id="35" name="Text 33"/>
          <p:cNvSpPr txBox="1"/>
          <p:nvPr/>
        </p:nvSpPr>
        <p:spPr>
          <a:xfrm>
            <a:off x="2267712" y="2139696"/>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3.1 months</a:t>
            </a:r>
            <a:endParaRPr lang="en-US" sz="1000" dirty="0"/>
          </a:p>
        </p:txBody>
      </p:sp>
      <p:sp>
        <p:nvSpPr>
          <p:cNvPr id="36" name="Shape 34"/>
          <p:cNvSpPr/>
          <p:nvPr/>
        </p:nvSpPr>
        <p:spPr>
          <a:xfrm>
            <a:off x="3090672" y="2139696"/>
            <a:ext cx="1188720" cy="384048"/>
          </a:xfrm>
          <a:prstGeom prst="rect">
            <a:avLst/>
          </a:prstGeom>
          <a:solidFill>
            <a:srgbClr val="F1F7F3"/>
          </a:solidFill>
          <a:ln/>
        </p:spPr>
      </p:sp>
      <p:sp>
        <p:nvSpPr>
          <p:cNvPr id="37" name="Text 35"/>
          <p:cNvSpPr txBox="1"/>
          <p:nvPr/>
        </p:nvSpPr>
        <p:spPr>
          <a:xfrm>
            <a:off x="3136392" y="2139696"/>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 months</a:t>
            </a:r>
            <a:endParaRPr lang="en-US" sz="1000" dirty="0"/>
          </a:p>
        </p:txBody>
      </p:sp>
      <p:sp>
        <p:nvSpPr>
          <p:cNvPr id="38" name="Shape 36"/>
          <p:cNvSpPr/>
          <p:nvPr/>
        </p:nvSpPr>
        <p:spPr>
          <a:xfrm>
            <a:off x="484632" y="2523744"/>
            <a:ext cx="3794760" cy="0"/>
          </a:xfrm>
          <a:prstGeom prst="line">
            <a:avLst/>
          </a:prstGeom>
          <a:noFill/>
          <a:ln w="6350">
            <a:solidFill>
              <a:srgbClr val="E3E8E4"/>
            </a:solidFill>
            <a:prstDash val="solid"/>
          </a:ln>
        </p:spPr>
      </p:sp>
      <p:sp>
        <p:nvSpPr>
          <p:cNvPr id="39" name="Shape 37"/>
          <p:cNvSpPr/>
          <p:nvPr/>
        </p:nvSpPr>
        <p:spPr>
          <a:xfrm>
            <a:off x="484632" y="2523744"/>
            <a:ext cx="1737360" cy="384048"/>
          </a:xfrm>
          <a:prstGeom prst="rect">
            <a:avLst/>
          </a:prstGeom>
          <a:solidFill>
            <a:srgbClr val="FFFFFF"/>
          </a:solidFill>
          <a:ln/>
        </p:spPr>
      </p:sp>
      <p:sp>
        <p:nvSpPr>
          <p:cNvPr id="40" name="Text 38"/>
          <p:cNvSpPr txBox="1"/>
          <p:nvPr/>
        </p:nvSpPr>
        <p:spPr>
          <a:xfrm>
            <a:off x="530352" y="2523744"/>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Contribution margin</a:t>
            </a:r>
            <a:endParaRPr lang="en-US" sz="1000" dirty="0"/>
          </a:p>
        </p:txBody>
      </p:sp>
      <p:sp>
        <p:nvSpPr>
          <p:cNvPr id="41" name="Shape 39"/>
          <p:cNvSpPr/>
          <p:nvPr/>
        </p:nvSpPr>
        <p:spPr>
          <a:xfrm>
            <a:off x="2221992" y="2523744"/>
            <a:ext cx="868680" cy="384048"/>
          </a:xfrm>
          <a:prstGeom prst="rect">
            <a:avLst/>
          </a:prstGeom>
          <a:solidFill>
            <a:srgbClr val="FFFFFF"/>
          </a:solidFill>
          <a:ln/>
        </p:spPr>
      </p:sp>
      <p:sp>
        <p:nvSpPr>
          <p:cNvPr id="42" name="Text 40"/>
          <p:cNvSpPr txBox="1"/>
          <p:nvPr/>
        </p:nvSpPr>
        <p:spPr>
          <a:xfrm>
            <a:off x="2267712" y="2523744"/>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66 %</a:t>
            </a:r>
            <a:endParaRPr lang="en-US" sz="1000" dirty="0"/>
          </a:p>
        </p:txBody>
      </p:sp>
      <p:sp>
        <p:nvSpPr>
          <p:cNvPr id="43" name="Shape 41"/>
          <p:cNvSpPr/>
          <p:nvPr/>
        </p:nvSpPr>
        <p:spPr>
          <a:xfrm>
            <a:off x="3090672" y="2523744"/>
            <a:ext cx="1188720" cy="384048"/>
          </a:xfrm>
          <a:prstGeom prst="rect">
            <a:avLst/>
          </a:prstGeom>
          <a:solidFill>
            <a:srgbClr val="FFFFFF"/>
          </a:solidFill>
          <a:ln/>
        </p:spPr>
      </p:sp>
      <p:sp>
        <p:nvSpPr>
          <p:cNvPr id="44" name="Text 42"/>
          <p:cNvSpPr txBox="1"/>
          <p:nvPr/>
        </p:nvSpPr>
        <p:spPr>
          <a:xfrm>
            <a:off x="3136392" y="2523744"/>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78 %</a:t>
            </a:r>
            <a:endParaRPr lang="en-US" sz="1000" dirty="0"/>
          </a:p>
        </p:txBody>
      </p:sp>
      <p:sp>
        <p:nvSpPr>
          <p:cNvPr id="45" name="Shape 43"/>
          <p:cNvSpPr/>
          <p:nvPr/>
        </p:nvSpPr>
        <p:spPr>
          <a:xfrm>
            <a:off x="484632" y="2907792"/>
            <a:ext cx="3794760" cy="0"/>
          </a:xfrm>
          <a:prstGeom prst="line">
            <a:avLst/>
          </a:prstGeom>
          <a:noFill/>
          <a:ln w="6350">
            <a:solidFill>
              <a:srgbClr val="E3E8E4"/>
            </a:solidFill>
            <a:prstDash val="solid"/>
          </a:ln>
        </p:spPr>
      </p:sp>
      <p:sp>
        <p:nvSpPr>
          <p:cNvPr id="46" name="Shape 44"/>
          <p:cNvSpPr/>
          <p:nvPr/>
        </p:nvSpPr>
        <p:spPr>
          <a:xfrm>
            <a:off x="484632" y="2907792"/>
            <a:ext cx="1737360" cy="384048"/>
          </a:xfrm>
          <a:prstGeom prst="rect">
            <a:avLst/>
          </a:prstGeom>
          <a:solidFill>
            <a:srgbClr val="F1F7F3"/>
          </a:solidFill>
          <a:ln/>
        </p:spPr>
      </p:sp>
      <p:sp>
        <p:nvSpPr>
          <p:cNvPr id="47" name="Text 45"/>
          <p:cNvSpPr txBox="1"/>
          <p:nvPr/>
        </p:nvSpPr>
        <p:spPr>
          <a:xfrm>
            <a:off x="530352" y="2907792"/>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Lifetime value</a:t>
            </a:r>
            <a:endParaRPr lang="en-US" sz="1000" dirty="0"/>
          </a:p>
        </p:txBody>
      </p:sp>
      <p:sp>
        <p:nvSpPr>
          <p:cNvPr id="48" name="Shape 46"/>
          <p:cNvSpPr/>
          <p:nvPr/>
        </p:nvSpPr>
        <p:spPr>
          <a:xfrm>
            <a:off x="2221992" y="2907792"/>
            <a:ext cx="868680" cy="384048"/>
          </a:xfrm>
          <a:prstGeom prst="rect">
            <a:avLst/>
          </a:prstGeom>
          <a:solidFill>
            <a:srgbClr val="F1F7F3"/>
          </a:solidFill>
          <a:ln/>
        </p:spPr>
      </p:sp>
      <p:sp>
        <p:nvSpPr>
          <p:cNvPr id="49" name="Text 47"/>
          <p:cNvSpPr txBox="1"/>
          <p:nvPr/>
        </p:nvSpPr>
        <p:spPr>
          <a:xfrm>
            <a:off x="2267712" y="2907792"/>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₹3.53 lakh</a:t>
            </a:r>
            <a:endParaRPr lang="en-US" sz="1000" dirty="0"/>
          </a:p>
        </p:txBody>
      </p:sp>
      <p:sp>
        <p:nvSpPr>
          <p:cNvPr id="50" name="Shape 48"/>
          <p:cNvSpPr/>
          <p:nvPr/>
        </p:nvSpPr>
        <p:spPr>
          <a:xfrm>
            <a:off x="3090672" y="2907792"/>
            <a:ext cx="1188720" cy="384048"/>
          </a:xfrm>
          <a:prstGeom prst="rect">
            <a:avLst/>
          </a:prstGeom>
          <a:solidFill>
            <a:srgbClr val="F1F7F3"/>
          </a:solidFill>
          <a:ln/>
        </p:spPr>
      </p:sp>
      <p:sp>
        <p:nvSpPr>
          <p:cNvPr id="51" name="Text 49"/>
          <p:cNvSpPr txBox="1"/>
          <p:nvPr/>
        </p:nvSpPr>
        <p:spPr>
          <a:xfrm>
            <a:off x="3136392" y="2907792"/>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₹1.30 lakh</a:t>
            </a:r>
            <a:endParaRPr lang="en-US" sz="1000" dirty="0"/>
          </a:p>
        </p:txBody>
      </p:sp>
      <p:sp>
        <p:nvSpPr>
          <p:cNvPr id="52" name="Shape 50"/>
          <p:cNvSpPr/>
          <p:nvPr/>
        </p:nvSpPr>
        <p:spPr>
          <a:xfrm>
            <a:off x="484632" y="3291840"/>
            <a:ext cx="3794760" cy="0"/>
          </a:xfrm>
          <a:prstGeom prst="line">
            <a:avLst/>
          </a:prstGeom>
          <a:noFill/>
          <a:ln w="6350">
            <a:solidFill>
              <a:srgbClr val="E3E8E4"/>
            </a:solidFill>
            <a:prstDash val="solid"/>
          </a:ln>
        </p:spPr>
      </p:sp>
      <p:sp>
        <p:nvSpPr>
          <p:cNvPr id="53" name="Shape 51"/>
          <p:cNvSpPr/>
          <p:nvPr/>
        </p:nvSpPr>
        <p:spPr>
          <a:xfrm>
            <a:off x="484632" y="3291840"/>
            <a:ext cx="1737360" cy="384048"/>
          </a:xfrm>
          <a:prstGeom prst="rect">
            <a:avLst/>
          </a:prstGeom>
          <a:solidFill>
            <a:srgbClr val="FFFFFF"/>
          </a:solidFill>
          <a:ln/>
        </p:spPr>
      </p:sp>
      <p:sp>
        <p:nvSpPr>
          <p:cNvPr id="54" name="Text 52"/>
          <p:cNvSpPr txBox="1"/>
          <p:nvPr/>
        </p:nvSpPr>
        <p:spPr>
          <a:xfrm>
            <a:off x="530352" y="3291840"/>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Acquisition cost</a:t>
            </a:r>
            <a:endParaRPr lang="en-US" sz="1000" dirty="0"/>
          </a:p>
        </p:txBody>
      </p:sp>
      <p:sp>
        <p:nvSpPr>
          <p:cNvPr id="55" name="Shape 53"/>
          <p:cNvSpPr/>
          <p:nvPr/>
        </p:nvSpPr>
        <p:spPr>
          <a:xfrm>
            <a:off x="2221992" y="3291840"/>
            <a:ext cx="868680" cy="384048"/>
          </a:xfrm>
          <a:prstGeom prst="rect">
            <a:avLst/>
          </a:prstGeom>
          <a:solidFill>
            <a:srgbClr val="FFFFFF"/>
          </a:solidFill>
          <a:ln/>
        </p:spPr>
      </p:sp>
      <p:sp>
        <p:nvSpPr>
          <p:cNvPr id="56" name="Text 54"/>
          <p:cNvSpPr txBox="1"/>
          <p:nvPr/>
        </p:nvSpPr>
        <p:spPr>
          <a:xfrm>
            <a:off x="2267712" y="3291840"/>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₹33,000</a:t>
            </a:r>
            <a:endParaRPr lang="en-US" sz="1000" dirty="0"/>
          </a:p>
        </p:txBody>
      </p:sp>
      <p:sp>
        <p:nvSpPr>
          <p:cNvPr id="57" name="Shape 55"/>
          <p:cNvSpPr/>
          <p:nvPr/>
        </p:nvSpPr>
        <p:spPr>
          <a:xfrm>
            <a:off x="3090672" y="3291840"/>
            <a:ext cx="1188720" cy="384048"/>
          </a:xfrm>
          <a:prstGeom prst="rect">
            <a:avLst/>
          </a:prstGeom>
          <a:solidFill>
            <a:srgbClr val="FFFFFF"/>
          </a:solidFill>
          <a:ln/>
        </p:spPr>
      </p:sp>
      <p:sp>
        <p:nvSpPr>
          <p:cNvPr id="58" name="Text 56"/>
          <p:cNvSpPr txBox="1"/>
          <p:nvPr/>
        </p:nvSpPr>
        <p:spPr>
          <a:xfrm>
            <a:off x="3136392" y="3291840"/>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₹35,492</a:t>
            </a:r>
            <a:endParaRPr lang="en-US" sz="1000" dirty="0"/>
          </a:p>
        </p:txBody>
      </p:sp>
      <p:sp>
        <p:nvSpPr>
          <p:cNvPr id="59" name="Shape 57"/>
          <p:cNvSpPr/>
          <p:nvPr/>
        </p:nvSpPr>
        <p:spPr>
          <a:xfrm>
            <a:off x="484632" y="3675888"/>
            <a:ext cx="3794760" cy="0"/>
          </a:xfrm>
          <a:prstGeom prst="line">
            <a:avLst/>
          </a:prstGeom>
          <a:noFill/>
          <a:ln w="6350">
            <a:solidFill>
              <a:srgbClr val="E3E8E4"/>
            </a:solidFill>
            <a:prstDash val="solid"/>
          </a:ln>
        </p:spPr>
      </p:sp>
      <p:sp>
        <p:nvSpPr>
          <p:cNvPr id="60" name="Shape 58"/>
          <p:cNvSpPr/>
          <p:nvPr/>
        </p:nvSpPr>
        <p:spPr>
          <a:xfrm>
            <a:off x="484632" y="3675888"/>
            <a:ext cx="1737360" cy="384048"/>
          </a:xfrm>
          <a:prstGeom prst="rect">
            <a:avLst/>
          </a:prstGeom>
          <a:solidFill>
            <a:srgbClr val="F1F7F3"/>
          </a:solidFill>
          <a:ln/>
        </p:spPr>
      </p:sp>
      <p:sp>
        <p:nvSpPr>
          <p:cNvPr id="61" name="Text 59"/>
          <p:cNvSpPr txBox="1"/>
          <p:nvPr/>
        </p:nvSpPr>
        <p:spPr>
          <a:xfrm>
            <a:off x="530352" y="3675888"/>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Revenue, monthly</a:t>
            </a:r>
            <a:endParaRPr lang="en-US" sz="1000" dirty="0"/>
          </a:p>
        </p:txBody>
      </p:sp>
      <p:sp>
        <p:nvSpPr>
          <p:cNvPr id="62" name="Shape 60"/>
          <p:cNvSpPr/>
          <p:nvPr/>
        </p:nvSpPr>
        <p:spPr>
          <a:xfrm>
            <a:off x="2221992" y="3675888"/>
            <a:ext cx="868680" cy="384048"/>
          </a:xfrm>
          <a:prstGeom prst="rect">
            <a:avLst/>
          </a:prstGeom>
          <a:solidFill>
            <a:srgbClr val="F1F7F3"/>
          </a:solidFill>
          <a:ln/>
        </p:spPr>
      </p:sp>
      <p:sp>
        <p:nvSpPr>
          <p:cNvPr id="63" name="Text 61"/>
          <p:cNvSpPr txBox="1"/>
          <p:nvPr/>
        </p:nvSpPr>
        <p:spPr>
          <a:xfrm>
            <a:off x="2267712" y="3675888"/>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₹16,000</a:t>
            </a:r>
            <a:endParaRPr lang="en-US" sz="1000" dirty="0"/>
          </a:p>
        </p:txBody>
      </p:sp>
      <p:sp>
        <p:nvSpPr>
          <p:cNvPr id="64" name="Shape 62"/>
          <p:cNvSpPr/>
          <p:nvPr/>
        </p:nvSpPr>
        <p:spPr>
          <a:xfrm>
            <a:off x="3090672" y="3675888"/>
            <a:ext cx="1188720" cy="384048"/>
          </a:xfrm>
          <a:prstGeom prst="rect">
            <a:avLst/>
          </a:prstGeom>
          <a:solidFill>
            <a:srgbClr val="F1F7F3"/>
          </a:solidFill>
          <a:ln/>
        </p:spPr>
      </p:sp>
      <p:sp>
        <p:nvSpPr>
          <p:cNvPr id="65" name="Text 63"/>
          <p:cNvSpPr txBox="1"/>
          <p:nvPr/>
        </p:nvSpPr>
        <p:spPr>
          <a:xfrm>
            <a:off x="3136392" y="3675888"/>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₹8,612</a:t>
            </a:r>
            <a:endParaRPr lang="en-US" sz="1000" dirty="0"/>
          </a:p>
        </p:txBody>
      </p:sp>
      <p:sp>
        <p:nvSpPr>
          <p:cNvPr id="66" name="Shape 64"/>
          <p:cNvSpPr/>
          <p:nvPr/>
        </p:nvSpPr>
        <p:spPr>
          <a:xfrm>
            <a:off x="484632" y="4059936"/>
            <a:ext cx="3794760" cy="0"/>
          </a:xfrm>
          <a:prstGeom prst="line">
            <a:avLst/>
          </a:prstGeom>
          <a:noFill/>
          <a:ln w="6350">
            <a:solidFill>
              <a:srgbClr val="E3E8E4"/>
            </a:solidFill>
            <a:prstDash val="solid"/>
          </a:ln>
        </p:spPr>
      </p:sp>
      <p:sp>
        <p:nvSpPr>
          <p:cNvPr id="67" name="Shape 65"/>
          <p:cNvSpPr/>
          <p:nvPr/>
        </p:nvSpPr>
        <p:spPr>
          <a:xfrm>
            <a:off x="484632" y="4059936"/>
            <a:ext cx="1737360" cy="384048"/>
          </a:xfrm>
          <a:prstGeom prst="rect">
            <a:avLst/>
          </a:prstGeom>
          <a:solidFill>
            <a:srgbClr val="FFFFFF"/>
          </a:solidFill>
          <a:ln/>
        </p:spPr>
      </p:sp>
      <p:sp>
        <p:nvSpPr>
          <p:cNvPr id="68" name="Text 66"/>
          <p:cNvSpPr txBox="1"/>
          <p:nvPr/>
        </p:nvSpPr>
        <p:spPr>
          <a:xfrm>
            <a:off x="530352" y="4059936"/>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Contribution, monthly</a:t>
            </a:r>
            <a:endParaRPr lang="en-US" sz="1000" dirty="0"/>
          </a:p>
        </p:txBody>
      </p:sp>
      <p:sp>
        <p:nvSpPr>
          <p:cNvPr id="69" name="Shape 67"/>
          <p:cNvSpPr/>
          <p:nvPr/>
        </p:nvSpPr>
        <p:spPr>
          <a:xfrm>
            <a:off x="2221992" y="4059936"/>
            <a:ext cx="868680" cy="384048"/>
          </a:xfrm>
          <a:prstGeom prst="rect">
            <a:avLst/>
          </a:prstGeom>
          <a:solidFill>
            <a:srgbClr val="FFFFFF"/>
          </a:solidFill>
          <a:ln/>
        </p:spPr>
      </p:sp>
      <p:sp>
        <p:nvSpPr>
          <p:cNvPr id="70" name="Text 68"/>
          <p:cNvSpPr txBox="1"/>
          <p:nvPr/>
        </p:nvSpPr>
        <p:spPr>
          <a:xfrm>
            <a:off x="2267712" y="4059936"/>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₹10,600</a:t>
            </a:r>
            <a:endParaRPr lang="en-US" sz="1000" dirty="0"/>
          </a:p>
        </p:txBody>
      </p:sp>
      <p:sp>
        <p:nvSpPr>
          <p:cNvPr id="71" name="Shape 69"/>
          <p:cNvSpPr/>
          <p:nvPr/>
        </p:nvSpPr>
        <p:spPr>
          <a:xfrm>
            <a:off x="3090672" y="4059936"/>
            <a:ext cx="1188720" cy="384048"/>
          </a:xfrm>
          <a:prstGeom prst="rect">
            <a:avLst/>
          </a:prstGeom>
          <a:solidFill>
            <a:srgbClr val="FFFFFF"/>
          </a:solidFill>
          <a:ln/>
        </p:spPr>
      </p:sp>
      <p:sp>
        <p:nvSpPr>
          <p:cNvPr id="72" name="Text 70"/>
          <p:cNvSpPr txBox="1"/>
          <p:nvPr/>
        </p:nvSpPr>
        <p:spPr>
          <a:xfrm>
            <a:off x="3136392" y="4059936"/>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₹6,740</a:t>
            </a:r>
            <a:endParaRPr lang="en-US" sz="1000" dirty="0"/>
          </a:p>
        </p:txBody>
      </p:sp>
      <p:sp>
        <p:nvSpPr>
          <p:cNvPr id="73" name="Shape 71"/>
          <p:cNvSpPr/>
          <p:nvPr/>
        </p:nvSpPr>
        <p:spPr>
          <a:xfrm>
            <a:off x="484632" y="4443984"/>
            <a:ext cx="3794760" cy="0"/>
          </a:xfrm>
          <a:prstGeom prst="line">
            <a:avLst/>
          </a:prstGeom>
          <a:noFill/>
          <a:ln w="6350">
            <a:solidFill>
              <a:srgbClr val="E3E8E4"/>
            </a:solidFill>
            <a:prstDash val="solid"/>
          </a:ln>
        </p:spPr>
      </p:sp>
      <p:sp>
        <p:nvSpPr>
          <p:cNvPr id="74" name="Shape 72"/>
          <p:cNvSpPr/>
          <p:nvPr/>
        </p:nvSpPr>
        <p:spPr>
          <a:xfrm>
            <a:off x="484632" y="4443984"/>
            <a:ext cx="1737360" cy="384048"/>
          </a:xfrm>
          <a:prstGeom prst="rect">
            <a:avLst/>
          </a:prstGeom>
          <a:solidFill>
            <a:srgbClr val="F1F7F3"/>
          </a:solidFill>
          <a:ln/>
        </p:spPr>
      </p:sp>
      <p:sp>
        <p:nvSpPr>
          <p:cNvPr id="75" name="Text 73"/>
          <p:cNvSpPr txBox="1"/>
          <p:nvPr/>
        </p:nvSpPr>
        <p:spPr>
          <a:xfrm>
            <a:off x="530352" y="4443984"/>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Annual logo retention</a:t>
            </a:r>
            <a:endParaRPr lang="en-US" sz="1000" dirty="0"/>
          </a:p>
        </p:txBody>
      </p:sp>
      <p:sp>
        <p:nvSpPr>
          <p:cNvPr id="76" name="Shape 74"/>
          <p:cNvSpPr/>
          <p:nvPr/>
        </p:nvSpPr>
        <p:spPr>
          <a:xfrm>
            <a:off x="2221992" y="4443984"/>
            <a:ext cx="868680" cy="384048"/>
          </a:xfrm>
          <a:prstGeom prst="rect">
            <a:avLst/>
          </a:prstGeom>
          <a:solidFill>
            <a:srgbClr val="F1F7F3"/>
          </a:solidFill>
          <a:ln/>
        </p:spPr>
      </p:sp>
      <p:sp>
        <p:nvSpPr>
          <p:cNvPr id="77" name="Text 75"/>
          <p:cNvSpPr txBox="1"/>
          <p:nvPr/>
        </p:nvSpPr>
        <p:spPr>
          <a:xfrm>
            <a:off x="2267712" y="4443984"/>
            <a:ext cx="777240" cy="384048"/>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69 %</a:t>
            </a:r>
            <a:endParaRPr lang="en-US" sz="1000" dirty="0"/>
          </a:p>
        </p:txBody>
      </p:sp>
      <p:sp>
        <p:nvSpPr>
          <p:cNvPr id="78" name="Shape 76"/>
          <p:cNvSpPr/>
          <p:nvPr/>
        </p:nvSpPr>
        <p:spPr>
          <a:xfrm>
            <a:off x="3090672" y="4443984"/>
            <a:ext cx="1188720" cy="384048"/>
          </a:xfrm>
          <a:prstGeom prst="rect">
            <a:avLst/>
          </a:prstGeom>
          <a:solidFill>
            <a:srgbClr val="F1F7F3"/>
          </a:solidFill>
          <a:ln/>
        </p:spPr>
      </p:sp>
      <p:sp>
        <p:nvSpPr>
          <p:cNvPr id="79" name="Text 77"/>
          <p:cNvSpPr txBox="1"/>
          <p:nvPr/>
        </p:nvSpPr>
        <p:spPr>
          <a:xfrm>
            <a:off x="3136392" y="4443984"/>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64 %</a:t>
            </a:r>
            <a:endParaRPr lang="en-US" sz="1000" dirty="0"/>
          </a:p>
        </p:txBody>
      </p:sp>
      <p:sp>
        <p:nvSpPr>
          <p:cNvPr id="80" name="Shape 78"/>
          <p:cNvSpPr/>
          <p:nvPr/>
        </p:nvSpPr>
        <p:spPr>
          <a:xfrm>
            <a:off x="484632" y="4828032"/>
            <a:ext cx="3794760" cy="0"/>
          </a:xfrm>
          <a:prstGeom prst="line">
            <a:avLst/>
          </a:prstGeom>
          <a:noFill/>
          <a:ln w="6350">
            <a:solidFill>
              <a:srgbClr val="E3E8E4"/>
            </a:solidFill>
            <a:prstDash val="solid"/>
          </a:ln>
        </p:spPr>
      </p:sp>
      <p:sp>
        <p:nvSpPr>
          <p:cNvPr id="81" name="Shape 79"/>
          <p:cNvSpPr/>
          <p:nvPr/>
        </p:nvSpPr>
        <p:spPr>
          <a:xfrm>
            <a:off x="484632" y="4828032"/>
            <a:ext cx="1737360" cy="384048"/>
          </a:xfrm>
          <a:prstGeom prst="rect">
            <a:avLst/>
          </a:prstGeom>
          <a:solidFill>
            <a:srgbClr val="D6E4F5"/>
          </a:solidFill>
          <a:ln/>
        </p:spPr>
      </p:sp>
      <p:sp>
        <p:nvSpPr>
          <p:cNvPr id="82" name="Text 80"/>
          <p:cNvSpPr txBox="1"/>
          <p:nvPr/>
        </p:nvSpPr>
        <p:spPr>
          <a:xfrm>
            <a:off x="530352" y="4828032"/>
            <a:ext cx="1645920" cy="384048"/>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Institutes to cover fixed team cost</a:t>
            </a:r>
            <a:endParaRPr lang="en-US" sz="1000" dirty="0"/>
          </a:p>
        </p:txBody>
      </p:sp>
      <p:sp>
        <p:nvSpPr>
          <p:cNvPr id="83" name="Shape 81"/>
          <p:cNvSpPr/>
          <p:nvPr/>
        </p:nvSpPr>
        <p:spPr>
          <a:xfrm>
            <a:off x="2221992" y="4828032"/>
            <a:ext cx="868680" cy="384048"/>
          </a:xfrm>
          <a:prstGeom prst="rect">
            <a:avLst/>
          </a:prstGeom>
          <a:solidFill>
            <a:srgbClr val="D6E4F5"/>
          </a:solidFill>
          <a:ln/>
        </p:spPr>
      </p:sp>
      <p:sp>
        <p:nvSpPr>
          <p:cNvPr id="84" name="Text 82"/>
          <p:cNvSpPr txBox="1"/>
          <p:nvPr/>
        </p:nvSpPr>
        <p:spPr>
          <a:xfrm>
            <a:off x="2267712" y="4828032"/>
            <a:ext cx="77724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n/a</a:t>
            </a:r>
            <a:endParaRPr lang="en-US" sz="1000" dirty="0"/>
          </a:p>
        </p:txBody>
      </p:sp>
      <p:sp>
        <p:nvSpPr>
          <p:cNvPr id="85" name="Shape 83"/>
          <p:cNvSpPr/>
          <p:nvPr/>
        </p:nvSpPr>
        <p:spPr>
          <a:xfrm>
            <a:off x="3090672" y="4828032"/>
            <a:ext cx="1188720" cy="384048"/>
          </a:xfrm>
          <a:prstGeom prst="rect">
            <a:avLst/>
          </a:prstGeom>
          <a:solidFill>
            <a:srgbClr val="D6E4F5"/>
          </a:solidFill>
          <a:ln/>
        </p:spPr>
      </p:sp>
      <p:sp>
        <p:nvSpPr>
          <p:cNvPr id="86" name="Text 84"/>
          <p:cNvSpPr txBox="1"/>
          <p:nvPr/>
        </p:nvSpPr>
        <p:spPr>
          <a:xfrm>
            <a:off x="3136392" y="4828032"/>
            <a:ext cx="1097280" cy="384048"/>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18</a:t>
            </a:r>
            <a:endParaRPr lang="en-US" sz="1000" dirty="0"/>
          </a:p>
        </p:txBody>
      </p:sp>
      <p:sp>
        <p:nvSpPr>
          <p:cNvPr id="87" name="Shape 85"/>
          <p:cNvSpPr/>
          <p:nvPr/>
        </p:nvSpPr>
        <p:spPr>
          <a:xfrm>
            <a:off x="484632" y="5212080"/>
            <a:ext cx="3794760" cy="0"/>
          </a:xfrm>
          <a:prstGeom prst="line">
            <a:avLst/>
          </a:prstGeom>
          <a:noFill/>
          <a:ln w="6350">
            <a:solidFill>
              <a:srgbClr val="E3E8E4"/>
            </a:solidFill>
            <a:prstDash val="solid"/>
          </a:ln>
        </p:spPr>
      </p:sp>
      <p:sp>
        <p:nvSpPr>
          <p:cNvPr id="88" name="Shape 86"/>
          <p:cNvSpPr/>
          <p:nvPr/>
        </p:nvSpPr>
        <p:spPr>
          <a:xfrm>
            <a:off x="502920" y="5285232"/>
            <a:ext cx="1060704" cy="219456"/>
          </a:xfrm>
          <a:prstGeom prst="roundRect">
            <a:avLst>
              <a:gd name="adj" fmla="val 50000"/>
            </a:avLst>
          </a:prstGeom>
          <a:solidFill>
            <a:srgbClr val="FFFFFF"/>
          </a:solidFill>
          <a:ln w="12700">
            <a:solidFill>
              <a:srgbClr val="5B6573"/>
            </a:solidFill>
            <a:prstDash val="solid"/>
          </a:ln>
        </p:spPr>
      </p:sp>
      <p:sp>
        <p:nvSpPr>
          <p:cNvPr id="89" name="Text 87"/>
          <p:cNvSpPr txBox="1"/>
          <p:nvPr/>
        </p:nvSpPr>
        <p:spPr>
          <a:xfrm>
            <a:off x="502920" y="5285232"/>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90" name="Text 88"/>
          <p:cNvSpPr txBox="1"/>
          <p:nvPr/>
        </p:nvSpPr>
        <p:spPr>
          <a:xfrm>
            <a:off x="502920" y="5559552"/>
            <a:ext cx="3794760" cy="685800"/>
          </a:xfrm>
          <a:prstGeom prst="rect">
            <a:avLst/>
          </a:prstGeom>
          <a:noFill/>
          <a:ln/>
        </p:spPr>
        <p:txBody>
          <a:bodyPr wrap="square" lIns="0" tIns="0" rIns="0" bIns="0" rtlCol="0" anchor="t"/>
          <a:lstStyle/>
          <a:p>
            <a:pPr algn="l" indent="0" marL="0">
              <a:buNone/>
            </a:pPr>
            <a:r>
              <a:rPr lang="en-US" sz="1000" dirty="0">
                <a:solidFill>
                  <a:srgbClr val="1F2937"/>
                </a:solidFill>
                <a:latin typeface="Calibri" pitchFamily="34" charset="0"/>
                <a:ea typeface="Calibri" pitchFamily="34" charset="-122"/>
                <a:cs typeface="Calibri" pitchFamily="34" charset="-120"/>
              </a:rPr>
              <a:t>Why thinner: seasonal billing, 20 % non-renewal after the session, pilots that do not convert, and a price near the top of what ERPs charge.</a:t>
            </a:r>
            <a:endParaRPr lang="en-US" sz="1000" dirty="0"/>
          </a:p>
        </p:txBody>
      </p:sp>
      <p:sp>
        <p:nvSpPr>
          <p:cNvPr id="91" name="Shape 89"/>
          <p:cNvSpPr/>
          <p:nvPr/>
        </p:nvSpPr>
        <p:spPr>
          <a:xfrm>
            <a:off x="4526280" y="1115568"/>
            <a:ext cx="3749040" cy="301752"/>
          </a:xfrm>
          <a:prstGeom prst="rect">
            <a:avLst/>
          </a:prstGeom>
          <a:solidFill>
            <a:srgbClr val="2E6DB4"/>
          </a:solidFill>
          <a:ln/>
        </p:spPr>
      </p:sp>
      <p:sp>
        <p:nvSpPr>
          <p:cNvPr id="92" name="Text 90"/>
          <p:cNvSpPr txBox="1"/>
          <p:nvPr/>
        </p:nvSpPr>
        <p:spPr>
          <a:xfrm>
            <a:off x="4636008" y="1115568"/>
            <a:ext cx="35295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SENSITIVITY: WHAT MOVES THE ANSWER</a:t>
            </a:r>
            <a:endParaRPr lang="en-US" sz="1200" dirty="0"/>
          </a:p>
        </p:txBody>
      </p:sp>
      <p:sp>
        <p:nvSpPr>
          <p:cNvPr id="93" name="Shape 91"/>
          <p:cNvSpPr/>
          <p:nvPr/>
        </p:nvSpPr>
        <p:spPr>
          <a:xfrm>
            <a:off x="8330184" y="1115568"/>
            <a:ext cx="0" cy="5212080"/>
          </a:xfrm>
          <a:prstGeom prst="line">
            <a:avLst/>
          </a:prstGeom>
          <a:noFill/>
          <a:ln w="12700">
            <a:solidFill>
              <a:srgbClr val="8FA9CC"/>
            </a:solidFill>
            <a:prstDash val="dash"/>
          </a:ln>
        </p:spPr>
      </p:sp>
      <p:sp>
        <p:nvSpPr>
          <p:cNvPr id="94" name="Text 92"/>
          <p:cNvSpPr txBox="1"/>
          <p:nvPr/>
        </p:nvSpPr>
        <p:spPr>
          <a:xfrm>
            <a:off x="4617720" y="1463040"/>
            <a:ext cx="3566160" cy="237744"/>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Institute return (x), by effective reduction and list price</a:t>
            </a:r>
            <a:endParaRPr lang="en-US" sz="1000" dirty="0"/>
          </a:p>
        </p:txBody>
      </p:sp>
      <p:sp>
        <p:nvSpPr>
          <p:cNvPr id="95" name="Text 93"/>
          <p:cNvSpPr txBox="1"/>
          <p:nvPr/>
        </p:nvSpPr>
        <p:spPr>
          <a:xfrm>
            <a:off x="5074920"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₹20</a:t>
            </a:r>
            <a:endParaRPr lang="en-US" sz="950" dirty="0"/>
          </a:p>
        </p:txBody>
      </p:sp>
      <p:sp>
        <p:nvSpPr>
          <p:cNvPr id="96" name="Text 94"/>
          <p:cNvSpPr txBox="1"/>
          <p:nvPr/>
        </p:nvSpPr>
        <p:spPr>
          <a:xfrm>
            <a:off x="5586984"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₹30</a:t>
            </a:r>
            <a:endParaRPr lang="en-US" sz="950" dirty="0"/>
          </a:p>
        </p:txBody>
      </p:sp>
      <p:sp>
        <p:nvSpPr>
          <p:cNvPr id="97" name="Text 95"/>
          <p:cNvSpPr txBox="1"/>
          <p:nvPr/>
        </p:nvSpPr>
        <p:spPr>
          <a:xfrm>
            <a:off x="6099048"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₹40</a:t>
            </a:r>
            <a:endParaRPr lang="en-US" sz="950" dirty="0"/>
          </a:p>
        </p:txBody>
      </p:sp>
      <p:sp>
        <p:nvSpPr>
          <p:cNvPr id="98" name="Text 96"/>
          <p:cNvSpPr txBox="1"/>
          <p:nvPr/>
        </p:nvSpPr>
        <p:spPr>
          <a:xfrm>
            <a:off x="6611112"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₹50</a:t>
            </a:r>
            <a:endParaRPr lang="en-US" sz="950" dirty="0"/>
          </a:p>
        </p:txBody>
      </p:sp>
      <p:sp>
        <p:nvSpPr>
          <p:cNvPr id="99" name="Text 97"/>
          <p:cNvSpPr txBox="1"/>
          <p:nvPr/>
        </p:nvSpPr>
        <p:spPr>
          <a:xfrm>
            <a:off x="7123176"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₹60</a:t>
            </a:r>
            <a:endParaRPr lang="en-US" sz="950" dirty="0"/>
          </a:p>
        </p:txBody>
      </p:sp>
      <p:sp>
        <p:nvSpPr>
          <p:cNvPr id="100" name="Text 98"/>
          <p:cNvSpPr txBox="1"/>
          <p:nvPr/>
        </p:nvSpPr>
        <p:spPr>
          <a:xfrm>
            <a:off x="7635240" y="1700784"/>
            <a:ext cx="512064"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₹80</a:t>
            </a:r>
            <a:endParaRPr lang="en-US" sz="950" dirty="0"/>
          </a:p>
        </p:txBody>
      </p:sp>
      <p:sp>
        <p:nvSpPr>
          <p:cNvPr id="101" name="Text 99"/>
          <p:cNvSpPr txBox="1"/>
          <p:nvPr/>
        </p:nvSpPr>
        <p:spPr>
          <a:xfrm>
            <a:off x="4617720" y="194767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5 %</a:t>
            </a:r>
            <a:endParaRPr lang="en-US" sz="950" dirty="0"/>
          </a:p>
        </p:txBody>
      </p:sp>
      <p:sp>
        <p:nvSpPr>
          <p:cNvPr id="102" name="Shape 100"/>
          <p:cNvSpPr/>
          <p:nvPr/>
        </p:nvSpPr>
        <p:spPr>
          <a:xfrm>
            <a:off x="5088636" y="1961388"/>
            <a:ext cx="484632" cy="246888"/>
          </a:xfrm>
          <a:prstGeom prst="rect">
            <a:avLst/>
          </a:prstGeom>
          <a:solidFill>
            <a:srgbClr val="719CD0"/>
          </a:solidFill>
          <a:ln/>
        </p:spPr>
      </p:sp>
      <p:sp>
        <p:nvSpPr>
          <p:cNvPr id="103" name="Text 101"/>
          <p:cNvSpPr txBox="1"/>
          <p:nvPr/>
        </p:nvSpPr>
        <p:spPr>
          <a:xfrm>
            <a:off x="5074920" y="194767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4.0x</a:t>
            </a:r>
            <a:endParaRPr lang="en-US" sz="950" dirty="0"/>
          </a:p>
        </p:txBody>
      </p:sp>
      <p:sp>
        <p:nvSpPr>
          <p:cNvPr id="104" name="Shape 102"/>
          <p:cNvSpPr/>
          <p:nvPr/>
        </p:nvSpPr>
        <p:spPr>
          <a:xfrm>
            <a:off x="5600700" y="1961388"/>
            <a:ext cx="484632" cy="246888"/>
          </a:xfrm>
          <a:prstGeom prst="rect">
            <a:avLst/>
          </a:prstGeom>
          <a:solidFill>
            <a:srgbClr val="A6C1E2"/>
          </a:solidFill>
          <a:ln/>
        </p:spPr>
      </p:sp>
      <p:sp>
        <p:nvSpPr>
          <p:cNvPr id="105" name="Text 103"/>
          <p:cNvSpPr txBox="1"/>
          <p:nvPr/>
        </p:nvSpPr>
        <p:spPr>
          <a:xfrm>
            <a:off x="5586984"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2.7x</a:t>
            </a:r>
            <a:endParaRPr lang="en-US" sz="950" dirty="0"/>
          </a:p>
        </p:txBody>
      </p:sp>
      <p:sp>
        <p:nvSpPr>
          <p:cNvPr id="106" name="Shape 104"/>
          <p:cNvSpPr/>
          <p:nvPr/>
        </p:nvSpPr>
        <p:spPr>
          <a:xfrm>
            <a:off x="6112764" y="1961388"/>
            <a:ext cx="484632" cy="246888"/>
          </a:xfrm>
          <a:prstGeom prst="rect">
            <a:avLst/>
          </a:prstGeom>
          <a:solidFill>
            <a:srgbClr val="C1D4EC"/>
          </a:solidFill>
          <a:ln/>
        </p:spPr>
      </p:sp>
      <p:sp>
        <p:nvSpPr>
          <p:cNvPr id="107" name="Text 105"/>
          <p:cNvSpPr txBox="1"/>
          <p:nvPr/>
        </p:nvSpPr>
        <p:spPr>
          <a:xfrm>
            <a:off x="6099048"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2.1x</a:t>
            </a:r>
            <a:endParaRPr lang="en-US" sz="950" dirty="0"/>
          </a:p>
        </p:txBody>
      </p:sp>
      <p:sp>
        <p:nvSpPr>
          <p:cNvPr id="108" name="Shape 106"/>
          <p:cNvSpPr/>
          <p:nvPr/>
        </p:nvSpPr>
        <p:spPr>
          <a:xfrm>
            <a:off x="6624828" y="1961388"/>
            <a:ext cx="484632" cy="246888"/>
          </a:xfrm>
          <a:prstGeom prst="rect">
            <a:avLst/>
          </a:prstGeom>
          <a:solidFill>
            <a:srgbClr val="D2E0F1"/>
          </a:solidFill>
          <a:ln/>
        </p:spPr>
      </p:sp>
      <p:sp>
        <p:nvSpPr>
          <p:cNvPr id="109" name="Text 107"/>
          <p:cNvSpPr txBox="1"/>
          <p:nvPr/>
        </p:nvSpPr>
        <p:spPr>
          <a:xfrm>
            <a:off x="6611112"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110" name="Shape 108"/>
          <p:cNvSpPr/>
          <p:nvPr/>
        </p:nvSpPr>
        <p:spPr>
          <a:xfrm>
            <a:off x="7136892" y="1961388"/>
            <a:ext cx="484632" cy="246888"/>
          </a:xfrm>
          <a:prstGeom prst="rect">
            <a:avLst/>
          </a:prstGeom>
          <a:solidFill>
            <a:srgbClr val="DEE8F5"/>
          </a:solidFill>
          <a:ln/>
        </p:spPr>
      </p:sp>
      <p:sp>
        <p:nvSpPr>
          <p:cNvPr id="111" name="Text 109"/>
          <p:cNvSpPr txBox="1"/>
          <p:nvPr/>
        </p:nvSpPr>
        <p:spPr>
          <a:xfrm>
            <a:off x="7123176"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1.4x</a:t>
            </a:r>
            <a:endParaRPr lang="en-US" sz="950" dirty="0"/>
          </a:p>
        </p:txBody>
      </p:sp>
      <p:sp>
        <p:nvSpPr>
          <p:cNvPr id="112" name="Shape 110"/>
          <p:cNvSpPr/>
          <p:nvPr/>
        </p:nvSpPr>
        <p:spPr>
          <a:xfrm>
            <a:off x="7648956" y="1961388"/>
            <a:ext cx="484632" cy="246888"/>
          </a:xfrm>
          <a:prstGeom prst="rect">
            <a:avLst/>
          </a:prstGeom>
          <a:solidFill>
            <a:srgbClr val="ECF2FA"/>
          </a:solidFill>
          <a:ln/>
        </p:spPr>
      </p:sp>
      <p:sp>
        <p:nvSpPr>
          <p:cNvPr id="113" name="Text 111"/>
          <p:cNvSpPr txBox="1"/>
          <p:nvPr/>
        </p:nvSpPr>
        <p:spPr>
          <a:xfrm>
            <a:off x="7635240" y="19476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1.1x</a:t>
            </a:r>
            <a:endParaRPr lang="en-US" sz="950" dirty="0"/>
          </a:p>
        </p:txBody>
      </p:sp>
      <p:sp>
        <p:nvSpPr>
          <p:cNvPr id="114" name="Text 112"/>
          <p:cNvSpPr txBox="1"/>
          <p:nvPr/>
        </p:nvSpPr>
        <p:spPr>
          <a:xfrm>
            <a:off x="4617720" y="222199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8 %</a:t>
            </a:r>
            <a:endParaRPr lang="en-US" sz="950" dirty="0"/>
          </a:p>
        </p:txBody>
      </p:sp>
      <p:sp>
        <p:nvSpPr>
          <p:cNvPr id="115" name="Shape 113"/>
          <p:cNvSpPr/>
          <p:nvPr/>
        </p:nvSpPr>
        <p:spPr>
          <a:xfrm>
            <a:off x="5088636" y="2235708"/>
            <a:ext cx="484632" cy="246888"/>
          </a:xfrm>
          <a:prstGeom prst="rect">
            <a:avLst/>
          </a:prstGeom>
          <a:solidFill>
            <a:srgbClr val="5C8DC9"/>
          </a:solidFill>
          <a:ln/>
        </p:spPr>
      </p:sp>
      <p:sp>
        <p:nvSpPr>
          <p:cNvPr id="116" name="Text 114"/>
          <p:cNvSpPr txBox="1"/>
          <p:nvPr/>
        </p:nvSpPr>
        <p:spPr>
          <a:xfrm>
            <a:off x="5074920" y="222199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4.5x</a:t>
            </a:r>
            <a:endParaRPr lang="en-US" sz="950" dirty="0"/>
          </a:p>
        </p:txBody>
      </p:sp>
      <p:sp>
        <p:nvSpPr>
          <p:cNvPr id="117" name="Shape 115"/>
          <p:cNvSpPr/>
          <p:nvPr/>
        </p:nvSpPr>
        <p:spPr>
          <a:xfrm>
            <a:off x="5600700" y="2235708"/>
            <a:ext cx="484632" cy="246888"/>
          </a:xfrm>
          <a:prstGeom prst="rect">
            <a:avLst/>
          </a:prstGeom>
          <a:solidFill>
            <a:srgbClr val="98B7DD"/>
          </a:solidFill>
          <a:ln/>
        </p:spPr>
      </p:sp>
      <p:sp>
        <p:nvSpPr>
          <p:cNvPr id="118" name="Text 116"/>
          <p:cNvSpPr txBox="1"/>
          <p:nvPr/>
        </p:nvSpPr>
        <p:spPr>
          <a:xfrm>
            <a:off x="5586984"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3.0x</a:t>
            </a:r>
            <a:endParaRPr lang="en-US" sz="950" dirty="0"/>
          </a:p>
        </p:txBody>
      </p:sp>
      <p:sp>
        <p:nvSpPr>
          <p:cNvPr id="119" name="Shape 117"/>
          <p:cNvSpPr/>
          <p:nvPr/>
        </p:nvSpPr>
        <p:spPr>
          <a:xfrm>
            <a:off x="6112764" y="2235708"/>
            <a:ext cx="484632" cy="246888"/>
          </a:xfrm>
          <a:prstGeom prst="rect">
            <a:avLst/>
          </a:prstGeom>
          <a:solidFill>
            <a:srgbClr val="B6CDE8"/>
          </a:solidFill>
          <a:ln/>
        </p:spPr>
      </p:sp>
      <p:sp>
        <p:nvSpPr>
          <p:cNvPr id="120" name="Text 118"/>
          <p:cNvSpPr txBox="1"/>
          <p:nvPr/>
        </p:nvSpPr>
        <p:spPr>
          <a:xfrm>
            <a:off x="6099048"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2.3x</a:t>
            </a:r>
            <a:endParaRPr lang="en-US" sz="950" dirty="0"/>
          </a:p>
        </p:txBody>
      </p:sp>
      <p:sp>
        <p:nvSpPr>
          <p:cNvPr id="121" name="Shape 119"/>
          <p:cNvSpPr/>
          <p:nvPr/>
        </p:nvSpPr>
        <p:spPr>
          <a:xfrm>
            <a:off x="6624828" y="2235708"/>
            <a:ext cx="484632" cy="246888"/>
          </a:xfrm>
          <a:prstGeom prst="rect">
            <a:avLst/>
          </a:prstGeom>
          <a:solidFill>
            <a:srgbClr val="C9DAEE"/>
          </a:solidFill>
          <a:ln/>
        </p:spPr>
      </p:sp>
      <p:sp>
        <p:nvSpPr>
          <p:cNvPr id="122" name="Text 120"/>
          <p:cNvSpPr txBox="1"/>
          <p:nvPr/>
        </p:nvSpPr>
        <p:spPr>
          <a:xfrm>
            <a:off x="6611112"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1.9x</a:t>
            </a:r>
            <a:endParaRPr lang="en-US" sz="950" dirty="0"/>
          </a:p>
        </p:txBody>
      </p:sp>
      <p:sp>
        <p:nvSpPr>
          <p:cNvPr id="123" name="Shape 121"/>
          <p:cNvSpPr/>
          <p:nvPr/>
        </p:nvSpPr>
        <p:spPr>
          <a:xfrm>
            <a:off x="7136892" y="2235708"/>
            <a:ext cx="484632" cy="246888"/>
          </a:xfrm>
          <a:prstGeom prst="rect">
            <a:avLst/>
          </a:prstGeom>
          <a:solidFill>
            <a:srgbClr val="D6E3F3"/>
          </a:solidFill>
          <a:ln/>
        </p:spPr>
      </p:sp>
      <p:sp>
        <p:nvSpPr>
          <p:cNvPr id="124" name="Text 122"/>
          <p:cNvSpPr txBox="1"/>
          <p:nvPr/>
        </p:nvSpPr>
        <p:spPr>
          <a:xfrm>
            <a:off x="7123176"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1.6x</a:t>
            </a:r>
            <a:endParaRPr lang="en-US" sz="950" dirty="0"/>
          </a:p>
        </p:txBody>
      </p:sp>
      <p:sp>
        <p:nvSpPr>
          <p:cNvPr id="125" name="Shape 123"/>
          <p:cNvSpPr/>
          <p:nvPr/>
        </p:nvSpPr>
        <p:spPr>
          <a:xfrm>
            <a:off x="7648956" y="2235708"/>
            <a:ext cx="484632" cy="246888"/>
          </a:xfrm>
          <a:prstGeom prst="rect">
            <a:avLst/>
          </a:prstGeom>
          <a:solidFill>
            <a:srgbClr val="E7EEF8"/>
          </a:solidFill>
          <a:ln/>
        </p:spPr>
      </p:sp>
      <p:sp>
        <p:nvSpPr>
          <p:cNvPr id="126" name="Text 124"/>
          <p:cNvSpPr txBox="1"/>
          <p:nvPr/>
        </p:nvSpPr>
        <p:spPr>
          <a:xfrm>
            <a:off x="7635240" y="222199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1.2x</a:t>
            </a:r>
            <a:endParaRPr lang="en-US" sz="950" dirty="0"/>
          </a:p>
        </p:txBody>
      </p:sp>
      <p:sp>
        <p:nvSpPr>
          <p:cNvPr id="127" name="Text 125"/>
          <p:cNvSpPr txBox="1"/>
          <p:nvPr/>
        </p:nvSpPr>
        <p:spPr>
          <a:xfrm>
            <a:off x="4617720" y="249631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11 %</a:t>
            </a:r>
            <a:endParaRPr lang="en-US" sz="950" dirty="0"/>
          </a:p>
        </p:txBody>
      </p:sp>
      <p:sp>
        <p:nvSpPr>
          <p:cNvPr id="128" name="Shape 126"/>
          <p:cNvSpPr/>
          <p:nvPr/>
        </p:nvSpPr>
        <p:spPr>
          <a:xfrm>
            <a:off x="5088636" y="2510028"/>
            <a:ext cx="484632" cy="246888"/>
          </a:xfrm>
          <a:prstGeom prst="rect">
            <a:avLst/>
          </a:prstGeom>
          <a:solidFill>
            <a:srgbClr val="4F7DB6"/>
          </a:solidFill>
          <a:ln/>
        </p:spPr>
      </p:sp>
      <p:sp>
        <p:nvSpPr>
          <p:cNvPr id="129" name="Text 127"/>
          <p:cNvSpPr txBox="1"/>
          <p:nvPr/>
        </p:nvSpPr>
        <p:spPr>
          <a:xfrm>
            <a:off x="5074920" y="249631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5.0x</a:t>
            </a:r>
            <a:endParaRPr lang="en-US" sz="950" dirty="0"/>
          </a:p>
        </p:txBody>
      </p:sp>
      <p:sp>
        <p:nvSpPr>
          <p:cNvPr id="130" name="Shape 128"/>
          <p:cNvSpPr/>
          <p:nvPr/>
        </p:nvSpPr>
        <p:spPr>
          <a:xfrm>
            <a:off x="5600700" y="2510028"/>
            <a:ext cx="484632" cy="246888"/>
          </a:xfrm>
          <a:prstGeom prst="rect">
            <a:avLst/>
          </a:prstGeom>
          <a:solidFill>
            <a:srgbClr val="89ADD9"/>
          </a:solidFill>
          <a:ln/>
        </p:spPr>
      </p:sp>
      <p:sp>
        <p:nvSpPr>
          <p:cNvPr id="131" name="Text 129"/>
          <p:cNvSpPr txBox="1"/>
          <p:nvPr/>
        </p:nvSpPr>
        <p:spPr>
          <a:xfrm>
            <a:off x="5586984"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3.4x</a:t>
            </a:r>
            <a:endParaRPr lang="en-US" sz="950" dirty="0"/>
          </a:p>
        </p:txBody>
      </p:sp>
      <p:sp>
        <p:nvSpPr>
          <p:cNvPr id="132" name="Shape 130"/>
          <p:cNvSpPr/>
          <p:nvPr/>
        </p:nvSpPr>
        <p:spPr>
          <a:xfrm>
            <a:off x="6112764" y="2510028"/>
            <a:ext cx="484632" cy="246888"/>
          </a:xfrm>
          <a:prstGeom prst="rect">
            <a:avLst/>
          </a:prstGeom>
          <a:solidFill>
            <a:srgbClr val="ABC5E4"/>
          </a:solidFill>
          <a:ln/>
        </p:spPr>
      </p:sp>
      <p:sp>
        <p:nvSpPr>
          <p:cNvPr id="133" name="Text 131"/>
          <p:cNvSpPr txBox="1"/>
          <p:nvPr/>
        </p:nvSpPr>
        <p:spPr>
          <a:xfrm>
            <a:off x="6099048"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2.6x</a:t>
            </a:r>
            <a:endParaRPr lang="en-US" sz="950" dirty="0"/>
          </a:p>
        </p:txBody>
      </p:sp>
      <p:sp>
        <p:nvSpPr>
          <p:cNvPr id="134" name="Shape 132"/>
          <p:cNvSpPr/>
          <p:nvPr/>
        </p:nvSpPr>
        <p:spPr>
          <a:xfrm>
            <a:off x="6624828" y="2510028"/>
            <a:ext cx="484632" cy="246888"/>
          </a:xfrm>
          <a:prstGeom prst="rect">
            <a:avLst/>
          </a:prstGeom>
          <a:solidFill>
            <a:srgbClr val="C0D4EB"/>
          </a:solidFill>
          <a:ln/>
        </p:spPr>
      </p:sp>
      <p:sp>
        <p:nvSpPr>
          <p:cNvPr id="135" name="Text 133"/>
          <p:cNvSpPr txBox="1"/>
          <p:nvPr/>
        </p:nvSpPr>
        <p:spPr>
          <a:xfrm>
            <a:off x="6611112"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2.1x</a:t>
            </a:r>
            <a:endParaRPr lang="en-US" sz="950" dirty="0"/>
          </a:p>
        </p:txBody>
      </p:sp>
      <p:sp>
        <p:nvSpPr>
          <p:cNvPr id="136" name="Shape 134"/>
          <p:cNvSpPr/>
          <p:nvPr/>
        </p:nvSpPr>
        <p:spPr>
          <a:xfrm>
            <a:off x="7136892" y="2510028"/>
            <a:ext cx="484632" cy="246888"/>
          </a:xfrm>
          <a:prstGeom prst="rect">
            <a:avLst/>
          </a:prstGeom>
          <a:solidFill>
            <a:srgbClr val="CFDEF0"/>
          </a:solidFill>
          <a:ln/>
        </p:spPr>
      </p:sp>
      <p:sp>
        <p:nvSpPr>
          <p:cNvPr id="137" name="Text 135"/>
          <p:cNvSpPr txBox="1"/>
          <p:nvPr/>
        </p:nvSpPr>
        <p:spPr>
          <a:xfrm>
            <a:off x="7123176"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138" name="Shape 136"/>
          <p:cNvSpPr/>
          <p:nvPr/>
        </p:nvSpPr>
        <p:spPr>
          <a:xfrm>
            <a:off x="7648956" y="2510028"/>
            <a:ext cx="484632" cy="246888"/>
          </a:xfrm>
          <a:prstGeom prst="rect">
            <a:avLst/>
          </a:prstGeom>
          <a:solidFill>
            <a:srgbClr val="E1EAF6"/>
          </a:solidFill>
          <a:ln/>
        </p:spPr>
      </p:sp>
      <p:sp>
        <p:nvSpPr>
          <p:cNvPr id="139" name="Text 137"/>
          <p:cNvSpPr txBox="1"/>
          <p:nvPr/>
        </p:nvSpPr>
        <p:spPr>
          <a:xfrm>
            <a:off x="7635240" y="249631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1.3x</a:t>
            </a:r>
            <a:endParaRPr lang="en-US" sz="950" dirty="0"/>
          </a:p>
        </p:txBody>
      </p:sp>
      <p:sp>
        <p:nvSpPr>
          <p:cNvPr id="140" name="Text 138"/>
          <p:cNvSpPr txBox="1"/>
          <p:nvPr/>
        </p:nvSpPr>
        <p:spPr>
          <a:xfrm>
            <a:off x="4617720" y="277063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15 %</a:t>
            </a:r>
            <a:endParaRPr lang="en-US" sz="950" dirty="0"/>
          </a:p>
        </p:txBody>
      </p:sp>
      <p:sp>
        <p:nvSpPr>
          <p:cNvPr id="141" name="Shape 139"/>
          <p:cNvSpPr/>
          <p:nvPr/>
        </p:nvSpPr>
        <p:spPr>
          <a:xfrm>
            <a:off x="5088636" y="2784348"/>
            <a:ext cx="484632" cy="246888"/>
          </a:xfrm>
          <a:prstGeom prst="rect">
            <a:avLst/>
          </a:prstGeom>
          <a:solidFill>
            <a:srgbClr val="3F689C"/>
          </a:solidFill>
          <a:ln/>
        </p:spPr>
      </p:sp>
      <p:sp>
        <p:nvSpPr>
          <p:cNvPr id="142" name="Text 140"/>
          <p:cNvSpPr txBox="1"/>
          <p:nvPr/>
        </p:nvSpPr>
        <p:spPr>
          <a:xfrm>
            <a:off x="5074920" y="277063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5.6x</a:t>
            </a:r>
            <a:endParaRPr lang="en-US" sz="950" dirty="0"/>
          </a:p>
        </p:txBody>
      </p:sp>
      <p:sp>
        <p:nvSpPr>
          <p:cNvPr id="143" name="Shape 141"/>
          <p:cNvSpPr/>
          <p:nvPr/>
        </p:nvSpPr>
        <p:spPr>
          <a:xfrm>
            <a:off x="5600700" y="2784348"/>
            <a:ext cx="484632" cy="246888"/>
          </a:xfrm>
          <a:prstGeom prst="rect">
            <a:avLst/>
          </a:prstGeom>
          <a:solidFill>
            <a:srgbClr val="76A0D2"/>
          </a:solidFill>
          <a:ln/>
        </p:spPr>
      </p:sp>
      <p:sp>
        <p:nvSpPr>
          <p:cNvPr id="144" name="Text 142"/>
          <p:cNvSpPr txBox="1"/>
          <p:nvPr/>
        </p:nvSpPr>
        <p:spPr>
          <a:xfrm>
            <a:off x="5586984"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3.9x</a:t>
            </a:r>
            <a:endParaRPr lang="en-US" sz="950" dirty="0"/>
          </a:p>
        </p:txBody>
      </p:sp>
      <p:sp>
        <p:nvSpPr>
          <p:cNvPr id="145" name="Shape 143"/>
          <p:cNvSpPr/>
          <p:nvPr/>
        </p:nvSpPr>
        <p:spPr>
          <a:xfrm>
            <a:off x="6112764" y="2784348"/>
            <a:ext cx="484632" cy="246888"/>
          </a:xfrm>
          <a:prstGeom prst="rect">
            <a:avLst/>
          </a:prstGeom>
          <a:solidFill>
            <a:srgbClr val="9DBBDF"/>
          </a:solidFill>
          <a:ln/>
        </p:spPr>
      </p:sp>
      <p:sp>
        <p:nvSpPr>
          <p:cNvPr id="146" name="Text 144"/>
          <p:cNvSpPr txBox="1"/>
          <p:nvPr/>
        </p:nvSpPr>
        <p:spPr>
          <a:xfrm>
            <a:off x="6099048"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2.9x</a:t>
            </a:r>
            <a:endParaRPr lang="en-US" sz="950" dirty="0"/>
          </a:p>
        </p:txBody>
      </p:sp>
      <p:sp>
        <p:nvSpPr>
          <p:cNvPr id="147" name="Shape 145"/>
          <p:cNvSpPr/>
          <p:nvPr/>
        </p:nvSpPr>
        <p:spPr>
          <a:xfrm>
            <a:off x="6624828" y="2784348"/>
            <a:ext cx="484632" cy="246888"/>
          </a:xfrm>
          <a:prstGeom prst="rect">
            <a:avLst/>
          </a:prstGeom>
          <a:solidFill>
            <a:srgbClr val="B5CCE7"/>
          </a:solidFill>
          <a:ln/>
        </p:spPr>
      </p:sp>
      <p:sp>
        <p:nvSpPr>
          <p:cNvPr id="148" name="Text 146"/>
          <p:cNvSpPr txBox="1"/>
          <p:nvPr/>
        </p:nvSpPr>
        <p:spPr>
          <a:xfrm>
            <a:off x="6611112"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2.4x</a:t>
            </a:r>
            <a:endParaRPr lang="en-US" sz="950" dirty="0"/>
          </a:p>
        </p:txBody>
      </p:sp>
      <p:sp>
        <p:nvSpPr>
          <p:cNvPr id="149" name="Shape 147"/>
          <p:cNvSpPr/>
          <p:nvPr/>
        </p:nvSpPr>
        <p:spPr>
          <a:xfrm>
            <a:off x="7136892" y="2784348"/>
            <a:ext cx="484632" cy="246888"/>
          </a:xfrm>
          <a:prstGeom prst="rect">
            <a:avLst/>
          </a:prstGeom>
          <a:solidFill>
            <a:srgbClr val="C5D7ED"/>
          </a:solidFill>
          <a:ln/>
        </p:spPr>
      </p:sp>
      <p:sp>
        <p:nvSpPr>
          <p:cNvPr id="150" name="Text 148"/>
          <p:cNvSpPr txBox="1"/>
          <p:nvPr/>
        </p:nvSpPr>
        <p:spPr>
          <a:xfrm>
            <a:off x="7123176"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2.0x</a:t>
            </a:r>
            <a:endParaRPr lang="en-US" sz="950" dirty="0"/>
          </a:p>
        </p:txBody>
      </p:sp>
      <p:sp>
        <p:nvSpPr>
          <p:cNvPr id="151" name="Shape 149"/>
          <p:cNvSpPr/>
          <p:nvPr/>
        </p:nvSpPr>
        <p:spPr>
          <a:xfrm>
            <a:off x="7648956" y="2784348"/>
            <a:ext cx="484632" cy="246888"/>
          </a:xfrm>
          <a:prstGeom prst="rect">
            <a:avLst/>
          </a:prstGeom>
          <a:solidFill>
            <a:srgbClr val="D9E5F4"/>
          </a:solidFill>
          <a:ln/>
        </p:spPr>
      </p:sp>
      <p:sp>
        <p:nvSpPr>
          <p:cNvPr id="152" name="Text 150"/>
          <p:cNvSpPr txBox="1"/>
          <p:nvPr/>
        </p:nvSpPr>
        <p:spPr>
          <a:xfrm>
            <a:off x="7635240" y="277063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1.5x</a:t>
            </a:r>
            <a:endParaRPr lang="en-US" sz="950" dirty="0"/>
          </a:p>
        </p:txBody>
      </p:sp>
      <p:sp>
        <p:nvSpPr>
          <p:cNvPr id="153" name="Text 151"/>
          <p:cNvSpPr txBox="1"/>
          <p:nvPr/>
        </p:nvSpPr>
        <p:spPr>
          <a:xfrm>
            <a:off x="4617720" y="304495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20 %</a:t>
            </a:r>
            <a:endParaRPr lang="en-US" sz="950" dirty="0"/>
          </a:p>
        </p:txBody>
      </p:sp>
      <p:sp>
        <p:nvSpPr>
          <p:cNvPr id="154" name="Shape 152"/>
          <p:cNvSpPr/>
          <p:nvPr/>
        </p:nvSpPr>
        <p:spPr>
          <a:xfrm>
            <a:off x="5088636" y="3058668"/>
            <a:ext cx="484632" cy="246888"/>
          </a:xfrm>
          <a:prstGeom prst="rect">
            <a:avLst/>
          </a:prstGeom>
          <a:solidFill>
            <a:srgbClr val="2B4D7C"/>
          </a:solidFill>
          <a:ln/>
        </p:spPr>
      </p:sp>
      <p:sp>
        <p:nvSpPr>
          <p:cNvPr id="155" name="Text 153"/>
          <p:cNvSpPr txBox="1"/>
          <p:nvPr/>
        </p:nvSpPr>
        <p:spPr>
          <a:xfrm>
            <a:off x="5074920" y="304495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6.5x</a:t>
            </a:r>
            <a:endParaRPr lang="en-US" sz="950" dirty="0"/>
          </a:p>
        </p:txBody>
      </p:sp>
      <p:sp>
        <p:nvSpPr>
          <p:cNvPr id="156" name="Shape 154"/>
          <p:cNvSpPr/>
          <p:nvPr/>
        </p:nvSpPr>
        <p:spPr>
          <a:xfrm>
            <a:off x="5600700" y="3058668"/>
            <a:ext cx="484632" cy="246888"/>
          </a:xfrm>
          <a:prstGeom prst="rect">
            <a:avLst/>
          </a:prstGeom>
          <a:solidFill>
            <a:srgbClr val="5E8FCA"/>
          </a:solidFill>
          <a:ln/>
        </p:spPr>
      </p:sp>
      <p:sp>
        <p:nvSpPr>
          <p:cNvPr id="157" name="Text 155"/>
          <p:cNvSpPr txBox="1"/>
          <p:nvPr/>
        </p:nvSpPr>
        <p:spPr>
          <a:xfrm>
            <a:off x="5586984" y="304495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4.4x</a:t>
            </a:r>
            <a:endParaRPr lang="en-US" sz="950" dirty="0"/>
          </a:p>
        </p:txBody>
      </p:sp>
      <p:sp>
        <p:nvSpPr>
          <p:cNvPr id="158" name="Shape 156"/>
          <p:cNvSpPr/>
          <p:nvPr/>
        </p:nvSpPr>
        <p:spPr>
          <a:xfrm>
            <a:off x="6112764" y="3058668"/>
            <a:ext cx="484632" cy="246888"/>
          </a:xfrm>
          <a:prstGeom prst="rect">
            <a:avLst/>
          </a:prstGeom>
          <a:solidFill>
            <a:srgbClr val="8BAED9"/>
          </a:solidFill>
          <a:ln/>
        </p:spPr>
      </p:sp>
      <p:sp>
        <p:nvSpPr>
          <p:cNvPr id="159" name="Text 157"/>
          <p:cNvSpPr txBox="1"/>
          <p:nvPr/>
        </p:nvSpPr>
        <p:spPr>
          <a:xfrm>
            <a:off x="6099048"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3.4x</a:t>
            </a:r>
            <a:endParaRPr lang="en-US" sz="950" dirty="0"/>
          </a:p>
        </p:txBody>
      </p:sp>
      <p:sp>
        <p:nvSpPr>
          <p:cNvPr id="160" name="Shape 158"/>
          <p:cNvSpPr/>
          <p:nvPr/>
        </p:nvSpPr>
        <p:spPr>
          <a:xfrm>
            <a:off x="6624828" y="3058668"/>
            <a:ext cx="484632" cy="246888"/>
          </a:xfrm>
          <a:prstGeom prst="rect">
            <a:avLst/>
          </a:prstGeom>
          <a:solidFill>
            <a:srgbClr val="A6C1E2"/>
          </a:solidFill>
          <a:ln/>
        </p:spPr>
      </p:sp>
      <p:sp>
        <p:nvSpPr>
          <p:cNvPr id="161" name="Text 159"/>
          <p:cNvSpPr txBox="1"/>
          <p:nvPr/>
        </p:nvSpPr>
        <p:spPr>
          <a:xfrm>
            <a:off x="6611112"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2.7x</a:t>
            </a:r>
            <a:endParaRPr lang="en-US" sz="950" dirty="0"/>
          </a:p>
        </p:txBody>
      </p:sp>
      <p:sp>
        <p:nvSpPr>
          <p:cNvPr id="162" name="Shape 160"/>
          <p:cNvSpPr/>
          <p:nvPr/>
        </p:nvSpPr>
        <p:spPr>
          <a:xfrm>
            <a:off x="7136892" y="3058668"/>
            <a:ext cx="484632" cy="246888"/>
          </a:xfrm>
          <a:prstGeom prst="rect">
            <a:avLst/>
          </a:prstGeom>
          <a:solidFill>
            <a:srgbClr val="B9CEE9"/>
          </a:solidFill>
          <a:ln/>
        </p:spPr>
      </p:sp>
      <p:sp>
        <p:nvSpPr>
          <p:cNvPr id="163" name="Text 161"/>
          <p:cNvSpPr txBox="1"/>
          <p:nvPr/>
        </p:nvSpPr>
        <p:spPr>
          <a:xfrm>
            <a:off x="7123176"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2.3x</a:t>
            </a:r>
            <a:endParaRPr lang="en-US" sz="950" dirty="0"/>
          </a:p>
        </p:txBody>
      </p:sp>
      <p:sp>
        <p:nvSpPr>
          <p:cNvPr id="164" name="Shape 162"/>
          <p:cNvSpPr/>
          <p:nvPr/>
        </p:nvSpPr>
        <p:spPr>
          <a:xfrm>
            <a:off x="7648956" y="3058668"/>
            <a:ext cx="484632" cy="246888"/>
          </a:xfrm>
          <a:prstGeom prst="rect">
            <a:avLst/>
          </a:prstGeom>
          <a:solidFill>
            <a:srgbClr val="D0DFF1"/>
          </a:solidFill>
          <a:ln/>
        </p:spPr>
      </p:sp>
      <p:sp>
        <p:nvSpPr>
          <p:cNvPr id="165" name="Text 163"/>
          <p:cNvSpPr txBox="1"/>
          <p:nvPr/>
        </p:nvSpPr>
        <p:spPr>
          <a:xfrm>
            <a:off x="7635240" y="304495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166" name="Text 164"/>
          <p:cNvSpPr txBox="1"/>
          <p:nvPr/>
        </p:nvSpPr>
        <p:spPr>
          <a:xfrm>
            <a:off x="4617720" y="331927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25 %</a:t>
            </a:r>
            <a:endParaRPr lang="en-US" sz="950" dirty="0"/>
          </a:p>
        </p:txBody>
      </p:sp>
      <p:sp>
        <p:nvSpPr>
          <p:cNvPr id="167" name="Shape 165"/>
          <p:cNvSpPr/>
          <p:nvPr/>
        </p:nvSpPr>
        <p:spPr>
          <a:xfrm>
            <a:off x="5088636" y="3332988"/>
            <a:ext cx="484632" cy="246888"/>
          </a:xfrm>
          <a:prstGeom prst="rect">
            <a:avLst/>
          </a:prstGeom>
          <a:solidFill>
            <a:srgbClr val="17325C"/>
          </a:solidFill>
          <a:ln/>
        </p:spPr>
      </p:sp>
      <p:sp>
        <p:nvSpPr>
          <p:cNvPr id="168" name="Text 166"/>
          <p:cNvSpPr txBox="1"/>
          <p:nvPr/>
        </p:nvSpPr>
        <p:spPr>
          <a:xfrm>
            <a:off x="5074920" y="331927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7.3x</a:t>
            </a:r>
            <a:endParaRPr lang="en-US" sz="950" dirty="0"/>
          </a:p>
        </p:txBody>
      </p:sp>
      <p:sp>
        <p:nvSpPr>
          <p:cNvPr id="169" name="Shape 167"/>
          <p:cNvSpPr/>
          <p:nvPr/>
        </p:nvSpPr>
        <p:spPr>
          <a:xfrm>
            <a:off x="5600700" y="3332988"/>
            <a:ext cx="484632" cy="246888"/>
          </a:xfrm>
          <a:prstGeom prst="rect">
            <a:avLst/>
          </a:prstGeom>
          <a:solidFill>
            <a:srgbClr val="4F7DB6"/>
          </a:solidFill>
          <a:ln/>
        </p:spPr>
      </p:sp>
      <p:sp>
        <p:nvSpPr>
          <p:cNvPr id="170" name="Text 168"/>
          <p:cNvSpPr txBox="1"/>
          <p:nvPr/>
        </p:nvSpPr>
        <p:spPr>
          <a:xfrm>
            <a:off x="5586984" y="3319272"/>
            <a:ext cx="512064"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5.0x</a:t>
            </a:r>
            <a:endParaRPr lang="en-US" sz="950" dirty="0"/>
          </a:p>
        </p:txBody>
      </p:sp>
      <p:sp>
        <p:nvSpPr>
          <p:cNvPr id="171" name="Shape 169"/>
          <p:cNvSpPr/>
          <p:nvPr/>
        </p:nvSpPr>
        <p:spPr>
          <a:xfrm>
            <a:off x="6112764" y="3332988"/>
            <a:ext cx="484632" cy="246888"/>
          </a:xfrm>
          <a:prstGeom prst="rect">
            <a:avLst/>
          </a:prstGeom>
          <a:solidFill>
            <a:srgbClr val="79A2D3"/>
          </a:solidFill>
          <a:ln/>
        </p:spPr>
      </p:sp>
      <p:sp>
        <p:nvSpPr>
          <p:cNvPr id="172" name="Text 170"/>
          <p:cNvSpPr txBox="1"/>
          <p:nvPr/>
        </p:nvSpPr>
        <p:spPr>
          <a:xfrm>
            <a:off x="6099048"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3.8x</a:t>
            </a:r>
            <a:endParaRPr lang="en-US" sz="950" dirty="0"/>
          </a:p>
        </p:txBody>
      </p:sp>
      <p:sp>
        <p:nvSpPr>
          <p:cNvPr id="173" name="Shape 171"/>
          <p:cNvSpPr/>
          <p:nvPr/>
        </p:nvSpPr>
        <p:spPr>
          <a:xfrm>
            <a:off x="6624828" y="3332988"/>
            <a:ext cx="484632" cy="246888"/>
          </a:xfrm>
          <a:prstGeom prst="rect">
            <a:avLst/>
          </a:prstGeom>
          <a:solidFill>
            <a:srgbClr val="98B7DD"/>
          </a:solidFill>
          <a:ln/>
        </p:spPr>
      </p:sp>
      <p:sp>
        <p:nvSpPr>
          <p:cNvPr id="174" name="Text 172"/>
          <p:cNvSpPr txBox="1"/>
          <p:nvPr/>
        </p:nvSpPr>
        <p:spPr>
          <a:xfrm>
            <a:off x="6611112"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3.0x</a:t>
            </a:r>
            <a:endParaRPr lang="en-US" sz="950" dirty="0"/>
          </a:p>
        </p:txBody>
      </p:sp>
      <p:sp>
        <p:nvSpPr>
          <p:cNvPr id="175" name="Shape 173"/>
          <p:cNvSpPr/>
          <p:nvPr/>
        </p:nvSpPr>
        <p:spPr>
          <a:xfrm>
            <a:off x="7136892" y="3332988"/>
            <a:ext cx="484632" cy="246888"/>
          </a:xfrm>
          <a:prstGeom prst="rect">
            <a:avLst/>
          </a:prstGeom>
          <a:solidFill>
            <a:srgbClr val="ADC6E5"/>
          </a:solidFill>
          <a:ln/>
        </p:spPr>
      </p:sp>
      <p:sp>
        <p:nvSpPr>
          <p:cNvPr id="176" name="Text 174"/>
          <p:cNvSpPr txBox="1"/>
          <p:nvPr/>
        </p:nvSpPr>
        <p:spPr>
          <a:xfrm>
            <a:off x="7123176"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2.5x</a:t>
            </a:r>
            <a:endParaRPr lang="en-US" sz="950" dirty="0"/>
          </a:p>
        </p:txBody>
      </p:sp>
      <p:sp>
        <p:nvSpPr>
          <p:cNvPr id="177" name="Shape 175"/>
          <p:cNvSpPr/>
          <p:nvPr/>
        </p:nvSpPr>
        <p:spPr>
          <a:xfrm>
            <a:off x="7648956" y="3332988"/>
            <a:ext cx="484632" cy="246888"/>
          </a:xfrm>
          <a:prstGeom prst="rect">
            <a:avLst/>
          </a:prstGeom>
          <a:solidFill>
            <a:srgbClr val="C7D8ED"/>
          </a:solidFill>
          <a:ln/>
        </p:spPr>
      </p:sp>
      <p:sp>
        <p:nvSpPr>
          <p:cNvPr id="178" name="Text 176"/>
          <p:cNvSpPr txBox="1"/>
          <p:nvPr/>
        </p:nvSpPr>
        <p:spPr>
          <a:xfrm>
            <a:off x="7635240" y="3319272"/>
            <a:ext cx="512064"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1.9x</a:t>
            </a:r>
            <a:endParaRPr lang="en-US" sz="950" dirty="0"/>
          </a:p>
        </p:txBody>
      </p:sp>
      <p:sp>
        <p:nvSpPr>
          <p:cNvPr id="179" name="Text 177"/>
          <p:cNvSpPr txBox="1"/>
          <p:nvPr/>
        </p:nvSpPr>
        <p:spPr>
          <a:xfrm>
            <a:off x="4617720" y="3657600"/>
            <a:ext cx="3566160" cy="237744"/>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LTV ÷ acquisition cost, by acquisition cost and monthly churn</a:t>
            </a:r>
            <a:endParaRPr lang="en-US" sz="1000" dirty="0"/>
          </a:p>
        </p:txBody>
      </p:sp>
      <p:sp>
        <p:nvSpPr>
          <p:cNvPr id="180" name="Text 178"/>
          <p:cNvSpPr txBox="1"/>
          <p:nvPr/>
        </p:nvSpPr>
        <p:spPr>
          <a:xfrm>
            <a:off x="507492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1 %</a:t>
            </a:r>
            <a:endParaRPr lang="en-US" sz="950" dirty="0"/>
          </a:p>
        </p:txBody>
      </p:sp>
      <p:sp>
        <p:nvSpPr>
          <p:cNvPr id="181" name="Text 179"/>
          <p:cNvSpPr txBox="1"/>
          <p:nvPr/>
        </p:nvSpPr>
        <p:spPr>
          <a:xfrm>
            <a:off x="571500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2 %</a:t>
            </a:r>
            <a:endParaRPr lang="en-US" sz="950" dirty="0"/>
          </a:p>
        </p:txBody>
      </p:sp>
      <p:sp>
        <p:nvSpPr>
          <p:cNvPr id="182" name="Text 180"/>
          <p:cNvSpPr txBox="1"/>
          <p:nvPr/>
        </p:nvSpPr>
        <p:spPr>
          <a:xfrm>
            <a:off x="635508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3 %</a:t>
            </a:r>
            <a:endParaRPr lang="en-US" sz="950" dirty="0"/>
          </a:p>
        </p:txBody>
      </p:sp>
      <p:sp>
        <p:nvSpPr>
          <p:cNvPr id="183" name="Text 181"/>
          <p:cNvSpPr txBox="1"/>
          <p:nvPr/>
        </p:nvSpPr>
        <p:spPr>
          <a:xfrm>
            <a:off x="699516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4 %</a:t>
            </a:r>
            <a:endParaRPr lang="en-US" sz="950" dirty="0"/>
          </a:p>
        </p:txBody>
      </p:sp>
      <p:sp>
        <p:nvSpPr>
          <p:cNvPr id="184" name="Text 182"/>
          <p:cNvSpPr txBox="1"/>
          <p:nvPr/>
        </p:nvSpPr>
        <p:spPr>
          <a:xfrm>
            <a:off x="7635240" y="3895344"/>
            <a:ext cx="640080" cy="237744"/>
          </a:xfrm>
          <a:prstGeom prst="rect">
            <a:avLst/>
          </a:prstGeom>
          <a:noFill/>
          <a:ln/>
        </p:spPr>
        <p:txBody>
          <a:bodyPr wrap="square" lIns="0" tIns="0" rIns="0" bIns="0" rtlCol="0" anchor="ctr"/>
          <a:lstStyle/>
          <a:p>
            <a:pPr algn="ctr" indent="0" marL="0">
              <a:buNone/>
            </a:pPr>
            <a:r>
              <a:rPr lang="en-US" sz="950" b="1" dirty="0">
                <a:solidFill>
                  <a:srgbClr val="5B6573"/>
                </a:solidFill>
                <a:latin typeface="Calibri" pitchFamily="34" charset="0"/>
                <a:ea typeface="Calibri" pitchFamily="34" charset="-122"/>
                <a:cs typeface="Calibri" pitchFamily="34" charset="-120"/>
              </a:rPr>
              <a:t>5 %</a:t>
            </a:r>
            <a:endParaRPr lang="en-US" sz="950" dirty="0"/>
          </a:p>
        </p:txBody>
      </p:sp>
      <p:sp>
        <p:nvSpPr>
          <p:cNvPr id="185" name="Text 183"/>
          <p:cNvSpPr txBox="1"/>
          <p:nvPr/>
        </p:nvSpPr>
        <p:spPr>
          <a:xfrm>
            <a:off x="4617720" y="414223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₹15k</a:t>
            </a:r>
            <a:endParaRPr lang="en-US" sz="950" dirty="0"/>
          </a:p>
        </p:txBody>
      </p:sp>
      <p:sp>
        <p:nvSpPr>
          <p:cNvPr id="186" name="Shape 184"/>
          <p:cNvSpPr/>
          <p:nvPr/>
        </p:nvSpPr>
        <p:spPr>
          <a:xfrm>
            <a:off x="5088636" y="4155948"/>
            <a:ext cx="612648" cy="246888"/>
          </a:xfrm>
          <a:prstGeom prst="rect">
            <a:avLst/>
          </a:prstGeom>
          <a:solidFill>
            <a:srgbClr val="17325C"/>
          </a:solidFill>
          <a:ln/>
        </p:spPr>
      </p:sp>
      <p:sp>
        <p:nvSpPr>
          <p:cNvPr id="187" name="Text 185"/>
          <p:cNvSpPr txBox="1"/>
          <p:nvPr/>
        </p:nvSpPr>
        <p:spPr>
          <a:xfrm>
            <a:off x="507492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11.0x</a:t>
            </a:r>
            <a:endParaRPr lang="en-US" sz="950" dirty="0"/>
          </a:p>
        </p:txBody>
      </p:sp>
      <p:sp>
        <p:nvSpPr>
          <p:cNvPr id="188" name="Shape 186"/>
          <p:cNvSpPr/>
          <p:nvPr/>
        </p:nvSpPr>
        <p:spPr>
          <a:xfrm>
            <a:off x="5728716" y="4155948"/>
            <a:ext cx="612648" cy="246888"/>
          </a:xfrm>
          <a:prstGeom prst="rect">
            <a:avLst/>
          </a:prstGeom>
          <a:solidFill>
            <a:srgbClr val="2D5080"/>
          </a:solidFill>
          <a:ln/>
        </p:spPr>
      </p:sp>
      <p:sp>
        <p:nvSpPr>
          <p:cNvPr id="189" name="Text 187"/>
          <p:cNvSpPr txBox="1"/>
          <p:nvPr/>
        </p:nvSpPr>
        <p:spPr>
          <a:xfrm>
            <a:off x="571500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9.6x</a:t>
            </a:r>
            <a:endParaRPr lang="en-US" sz="950" dirty="0"/>
          </a:p>
        </p:txBody>
      </p:sp>
      <p:sp>
        <p:nvSpPr>
          <p:cNvPr id="190" name="Shape 188"/>
          <p:cNvSpPr/>
          <p:nvPr/>
        </p:nvSpPr>
        <p:spPr>
          <a:xfrm>
            <a:off x="6368796" y="4155948"/>
            <a:ext cx="612648" cy="246888"/>
          </a:xfrm>
          <a:prstGeom prst="rect">
            <a:avLst/>
          </a:prstGeom>
          <a:solidFill>
            <a:srgbClr val="3C6397"/>
          </a:solidFill>
          <a:ln/>
        </p:spPr>
      </p:sp>
      <p:sp>
        <p:nvSpPr>
          <p:cNvPr id="191" name="Text 189"/>
          <p:cNvSpPr txBox="1"/>
          <p:nvPr/>
        </p:nvSpPr>
        <p:spPr>
          <a:xfrm>
            <a:off x="635508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8.7x</a:t>
            </a:r>
            <a:endParaRPr lang="en-US" sz="950" dirty="0"/>
          </a:p>
        </p:txBody>
      </p:sp>
      <p:sp>
        <p:nvSpPr>
          <p:cNvPr id="192" name="Shape 190"/>
          <p:cNvSpPr/>
          <p:nvPr/>
        </p:nvSpPr>
        <p:spPr>
          <a:xfrm>
            <a:off x="7008876" y="4155948"/>
            <a:ext cx="612648" cy="246888"/>
          </a:xfrm>
          <a:prstGeom prst="rect">
            <a:avLst/>
          </a:prstGeom>
          <a:solidFill>
            <a:srgbClr val="4874AB"/>
          </a:solidFill>
          <a:ln/>
        </p:spPr>
      </p:sp>
      <p:sp>
        <p:nvSpPr>
          <p:cNvPr id="193" name="Text 191"/>
          <p:cNvSpPr txBox="1"/>
          <p:nvPr/>
        </p:nvSpPr>
        <p:spPr>
          <a:xfrm>
            <a:off x="699516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7.9x</a:t>
            </a:r>
            <a:endParaRPr lang="en-US" sz="950" dirty="0"/>
          </a:p>
        </p:txBody>
      </p:sp>
      <p:sp>
        <p:nvSpPr>
          <p:cNvPr id="194" name="Shape 192"/>
          <p:cNvSpPr/>
          <p:nvPr/>
        </p:nvSpPr>
        <p:spPr>
          <a:xfrm>
            <a:off x="7648956" y="4155948"/>
            <a:ext cx="612648" cy="246888"/>
          </a:xfrm>
          <a:prstGeom prst="rect">
            <a:avLst/>
          </a:prstGeom>
          <a:solidFill>
            <a:srgbClr val="5281BA"/>
          </a:solidFill>
          <a:ln/>
        </p:spPr>
      </p:sp>
      <p:sp>
        <p:nvSpPr>
          <p:cNvPr id="195" name="Text 193"/>
          <p:cNvSpPr txBox="1"/>
          <p:nvPr/>
        </p:nvSpPr>
        <p:spPr>
          <a:xfrm>
            <a:off x="7635240" y="414223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7.3x</a:t>
            </a:r>
            <a:endParaRPr lang="en-US" sz="950" dirty="0"/>
          </a:p>
        </p:txBody>
      </p:sp>
      <p:sp>
        <p:nvSpPr>
          <p:cNvPr id="196" name="Text 194"/>
          <p:cNvSpPr txBox="1"/>
          <p:nvPr/>
        </p:nvSpPr>
        <p:spPr>
          <a:xfrm>
            <a:off x="4617720" y="441655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₹25k</a:t>
            </a:r>
            <a:endParaRPr lang="en-US" sz="950" dirty="0"/>
          </a:p>
        </p:txBody>
      </p:sp>
      <p:sp>
        <p:nvSpPr>
          <p:cNvPr id="197" name="Shape 195"/>
          <p:cNvSpPr/>
          <p:nvPr/>
        </p:nvSpPr>
        <p:spPr>
          <a:xfrm>
            <a:off x="5088636" y="4430268"/>
            <a:ext cx="612648" cy="246888"/>
          </a:xfrm>
          <a:prstGeom prst="rect">
            <a:avLst/>
          </a:prstGeom>
          <a:solidFill>
            <a:srgbClr val="6493CC"/>
          </a:solidFill>
          <a:ln/>
        </p:spPr>
      </p:sp>
      <p:sp>
        <p:nvSpPr>
          <p:cNvPr id="198" name="Text 196"/>
          <p:cNvSpPr txBox="1"/>
          <p:nvPr/>
        </p:nvSpPr>
        <p:spPr>
          <a:xfrm>
            <a:off x="5074920" y="441655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6.4x</a:t>
            </a:r>
            <a:endParaRPr lang="en-US" sz="950" dirty="0"/>
          </a:p>
        </p:txBody>
      </p:sp>
      <p:sp>
        <p:nvSpPr>
          <p:cNvPr id="199" name="Shape 197"/>
          <p:cNvSpPr/>
          <p:nvPr/>
        </p:nvSpPr>
        <p:spPr>
          <a:xfrm>
            <a:off x="5728716" y="4430268"/>
            <a:ext cx="612648" cy="246888"/>
          </a:xfrm>
          <a:prstGeom prst="rect">
            <a:avLst/>
          </a:prstGeom>
          <a:solidFill>
            <a:srgbClr val="759FD2"/>
          </a:solidFill>
          <a:ln/>
        </p:spPr>
      </p:sp>
      <p:sp>
        <p:nvSpPr>
          <p:cNvPr id="200" name="Text 198"/>
          <p:cNvSpPr txBox="1"/>
          <p:nvPr/>
        </p:nvSpPr>
        <p:spPr>
          <a:xfrm>
            <a:off x="5715000" y="4416552"/>
            <a:ext cx="64008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5.8x</a:t>
            </a:r>
            <a:endParaRPr lang="en-US" sz="950" dirty="0"/>
          </a:p>
        </p:txBody>
      </p:sp>
      <p:sp>
        <p:nvSpPr>
          <p:cNvPr id="201" name="Shape 199"/>
          <p:cNvSpPr/>
          <p:nvPr/>
        </p:nvSpPr>
        <p:spPr>
          <a:xfrm>
            <a:off x="6368796" y="4430268"/>
            <a:ext cx="612648" cy="246888"/>
          </a:xfrm>
          <a:prstGeom prst="rect">
            <a:avLst/>
          </a:prstGeom>
          <a:solidFill>
            <a:srgbClr val="85AAD7"/>
          </a:solidFill>
          <a:ln/>
        </p:spPr>
      </p:sp>
      <p:sp>
        <p:nvSpPr>
          <p:cNvPr id="202" name="Text 200"/>
          <p:cNvSpPr txBox="1"/>
          <p:nvPr/>
        </p:nvSpPr>
        <p:spPr>
          <a:xfrm>
            <a:off x="6355080" y="441655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5.2x</a:t>
            </a:r>
            <a:endParaRPr lang="en-US" sz="950" dirty="0"/>
          </a:p>
        </p:txBody>
      </p:sp>
      <p:sp>
        <p:nvSpPr>
          <p:cNvPr id="203" name="Shape 201"/>
          <p:cNvSpPr/>
          <p:nvPr/>
        </p:nvSpPr>
        <p:spPr>
          <a:xfrm>
            <a:off x="7008876" y="4430268"/>
            <a:ext cx="612648" cy="246888"/>
          </a:xfrm>
          <a:prstGeom prst="rect">
            <a:avLst/>
          </a:prstGeom>
          <a:solidFill>
            <a:srgbClr val="90B2DB"/>
          </a:solidFill>
          <a:ln/>
        </p:spPr>
      </p:sp>
      <p:sp>
        <p:nvSpPr>
          <p:cNvPr id="204" name="Text 202"/>
          <p:cNvSpPr txBox="1"/>
          <p:nvPr/>
        </p:nvSpPr>
        <p:spPr>
          <a:xfrm>
            <a:off x="6995160" y="441655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4.8x</a:t>
            </a:r>
            <a:endParaRPr lang="en-US" sz="950" dirty="0"/>
          </a:p>
        </p:txBody>
      </p:sp>
      <p:sp>
        <p:nvSpPr>
          <p:cNvPr id="205" name="Shape 203"/>
          <p:cNvSpPr/>
          <p:nvPr/>
        </p:nvSpPr>
        <p:spPr>
          <a:xfrm>
            <a:off x="7648956" y="4430268"/>
            <a:ext cx="612648" cy="246888"/>
          </a:xfrm>
          <a:prstGeom prst="rect">
            <a:avLst/>
          </a:prstGeom>
          <a:solidFill>
            <a:srgbClr val="9CBADF"/>
          </a:solidFill>
          <a:ln/>
        </p:spPr>
      </p:sp>
      <p:sp>
        <p:nvSpPr>
          <p:cNvPr id="206" name="Text 204"/>
          <p:cNvSpPr txBox="1"/>
          <p:nvPr/>
        </p:nvSpPr>
        <p:spPr>
          <a:xfrm>
            <a:off x="7635240" y="441655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4.4x</a:t>
            </a:r>
            <a:endParaRPr lang="en-US" sz="950" dirty="0"/>
          </a:p>
        </p:txBody>
      </p:sp>
      <p:sp>
        <p:nvSpPr>
          <p:cNvPr id="207" name="Text 205"/>
          <p:cNvSpPr txBox="1"/>
          <p:nvPr/>
        </p:nvSpPr>
        <p:spPr>
          <a:xfrm>
            <a:off x="4617720" y="469087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₹35k</a:t>
            </a:r>
            <a:endParaRPr lang="en-US" sz="950" dirty="0"/>
          </a:p>
        </p:txBody>
      </p:sp>
      <p:sp>
        <p:nvSpPr>
          <p:cNvPr id="208" name="Shape 206"/>
          <p:cNvSpPr/>
          <p:nvPr/>
        </p:nvSpPr>
        <p:spPr>
          <a:xfrm>
            <a:off x="5088636" y="4704588"/>
            <a:ext cx="612648" cy="246888"/>
          </a:xfrm>
          <a:prstGeom prst="rect">
            <a:avLst/>
          </a:prstGeom>
          <a:solidFill>
            <a:srgbClr val="96B6DD"/>
          </a:solidFill>
          <a:ln/>
        </p:spPr>
      </p:sp>
      <p:sp>
        <p:nvSpPr>
          <p:cNvPr id="209" name="Text 207"/>
          <p:cNvSpPr txBox="1"/>
          <p:nvPr/>
        </p:nvSpPr>
        <p:spPr>
          <a:xfrm>
            <a:off x="507492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4.6x</a:t>
            </a:r>
            <a:endParaRPr lang="en-US" sz="950" dirty="0"/>
          </a:p>
        </p:txBody>
      </p:sp>
      <p:sp>
        <p:nvSpPr>
          <p:cNvPr id="210" name="Shape 208"/>
          <p:cNvSpPr/>
          <p:nvPr/>
        </p:nvSpPr>
        <p:spPr>
          <a:xfrm>
            <a:off x="5728716" y="4704588"/>
            <a:ext cx="612648" cy="246888"/>
          </a:xfrm>
          <a:prstGeom prst="rect">
            <a:avLst/>
          </a:prstGeom>
          <a:solidFill>
            <a:srgbClr val="A4C0E2"/>
          </a:solidFill>
          <a:ln/>
        </p:spPr>
      </p:sp>
      <p:sp>
        <p:nvSpPr>
          <p:cNvPr id="211" name="Text 209"/>
          <p:cNvSpPr txBox="1"/>
          <p:nvPr/>
        </p:nvSpPr>
        <p:spPr>
          <a:xfrm>
            <a:off x="571500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4.1x</a:t>
            </a:r>
            <a:endParaRPr lang="en-US" sz="950" dirty="0"/>
          </a:p>
        </p:txBody>
      </p:sp>
      <p:sp>
        <p:nvSpPr>
          <p:cNvPr id="212" name="Shape 210"/>
          <p:cNvSpPr/>
          <p:nvPr/>
        </p:nvSpPr>
        <p:spPr>
          <a:xfrm>
            <a:off x="6368796" y="4704588"/>
            <a:ext cx="612648" cy="246888"/>
          </a:xfrm>
          <a:prstGeom prst="rect">
            <a:avLst/>
          </a:prstGeom>
          <a:solidFill>
            <a:srgbClr val="AFC7E5"/>
          </a:solidFill>
          <a:ln/>
        </p:spPr>
      </p:sp>
      <p:sp>
        <p:nvSpPr>
          <p:cNvPr id="213" name="Text 211"/>
          <p:cNvSpPr txBox="1"/>
          <p:nvPr/>
        </p:nvSpPr>
        <p:spPr>
          <a:xfrm>
            <a:off x="635508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3.7x</a:t>
            </a:r>
            <a:endParaRPr lang="en-US" sz="950" dirty="0"/>
          </a:p>
        </p:txBody>
      </p:sp>
      <p:sp>
        <p:nvSpPr>
          <p:cNvPr id="214" name="Shape 212"/>
          <p:cNvSpPr/>
          <p:nvPr/>
        </p:nvSpPr>
        <p:spPr>
          <a:xfrm>
            <a:off x="7008876" y="4704588"/>
            <a:ext cx="612648" cy="246888"/>
          </a:xfrm>
          <a:prstGeom prst="rect">
            <a:avLst/>
          </a:prstGeom>
          <a:solidFill>
            <a:srgbClr val="B7CDE8"/>
          </a:solidFill>
          <a:ln/>
        </p:spPr>
      </p:sp>
      <p:sp>
        <p:nvSpPr>
          <p:cNvPr id="215" name="Text 213"/>
          <p:cNvSpPr txBox="1"/>
          <p:nvPr/>
        </p:nvSpPr>
        <p:spPr>
          <a:xfrm>
            <a:off x="699516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3.4x</a:t>
            </a:r>
            <a:endParaRPr lang="en-US" sz="950" dirty="0"/>
          </a:p>
        </p:txBody>
      </p:sp>
      <p:sp>
        <p:nvSpPr>
          <p:cNvPr id="216" name="Shape 214"/>
          <p:cNvSpPr/>
          <p:nvPr/>
        </p:nvSpPr>
        <p:spPr>
          <a:xfrm>
            <a:off x="7648956" y="4704588"/>
            <a:ext cx="612648" cy="246888"/>
          </a:xfrm>
          <a:prstGeom prst="rect">
            <a:avLst/>
          </a:prstGeom>
          <a:solidFill>
            <a:srgbClr val="C0D3EB"/>
          </a:solidFill>
          <a:ln/>
        </p:spPr>
      </p:sp>
      <p:sp>
        <p:nvSpPr>
          <p:cNvPr id="217" name="Text 215"/>
          <p:cNvSpPr txBox="1"/>
          <p:nvPr/>
        </p:nvSpPr>
        <p:spPr>
          <a:xfrm>
            <a:off x="7635240" y="469087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3.1x</a:t>
            </a:r>
            <a:endParaRPr lang="en-US" sz="950" dirty="0"/>
          </a:p>
        </p:txBody>
      </p:sp>
      <p:sp>
        <p:nvSpPr>
          <p:cNvPr id="218" name="Text 216"/>
          <p:cNvSpPr txBox="1"/>
          <p:nvPr/>
        </p:nvSpPr>
        <p:spPr>
          <a:xfrm>
            <a:off x="4617720" y="496519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₹50k</a:t>
            </a:r>
            <a:endParaRPr lang="en-US" sz="950" dirty="0"/>
          </a:p>
        </p:txBody>
      </p:sp>
      <p:sp>
        <p:nvSpPr>
          <p:cNvPr id="219" name="Shape 217"/>
          <p:cNvSpPr/>
          <p:nvPr/>
        </p:nvSpPr>
        <p:spPr>
          <a:xfrm>
            <a:off x="5088636" y="4978908"/>
            <a:ext cx="612648" cy="246888"/>
          </a:xfrm>
          <a:prstGeom prst="rect">
            <a:avLst/>
          </a:prstGeom>
          <a:solidFill>
            <a:srgbClr val="BDD1EA"/>
          </a:solidFill>
          <a:ln/>
        </p:spPr>
      </p:sp>
      <p:sp>
        <p:nvSpPr>
          <p:cNvPr id="220" name="Text 218"/>
          <p:cNvSpPr txBox="1"/>
          <p:nvPr/>
        </p:nvSpPr>
        <p:spPr>
          <a:xfrm>
            <a:off x="507492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3.2x</a:t>
            </a:r>
            <a:endParaRPr lang="en-US" sz="950" dirty="0"/>
          </a:p>
        </p:txBody>
      </p:sp>
      <p:sp>
        <p:nvSpPr>
          <p:cNvPr id="221" name="Shape 219"/>
          <p:cNvSpPr/>
          <p:nvPr/>
        </p:nvSpPr>
        <p:spPr>
          <a:xfrm>
            <a:off x="5728716" y="4978908"/>
            <a:ext cx="612648" cy="246888"/>
          </a:xfrm>
          <a:prstGeom prst="rect">
            <a:avLst/>
          </a:prstGeom>
          <a:solidFill>
            <a:srgbClr val="C5D7ED"/>
          </a:solidFill>
          <a:ln/>
        </p:spPr>
      </p:sp>
      <p:sp>
        <p:nvSpPr>
          <p:cNvPr id="222" name="Text 220"/>
          <p:cNvSpPr txBox="1"/>
          <p:nvPr/>
        </p:nvSpPr>
        <p:spPr>
          <a:xfrm>
            <a:off x="571500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2.9x</a:t>
            </a:r>
            <a:endParaRPr lang="en-US" sz="950" dirty="0"/>
          </a:p>
        </p:txBody>
      </p:sp>
      <p:sp>
        <p:nvSpPr>
          <p:cNvPr id="223" name="Shape 221"/>
          <p:cNvSpPr/>
          <p:nvPr/>
        </p:nvSpPr>
        <p:spPr>
          <a:xfrm>
            <a:off x="6368796" y="4978908"/>
            <a:ext cx="612648" cy="246888"/>
          </a:xfrm>
          <a:prstGeom prst="rect">
            <a:avLst/>
          </a:prstGeom>
          <a:solidFill>
            <a:srgbClr val="CDDDF0"/>
          </a:solidFill>
          <a:ln/>
        </p:spPr>
      </p:sp>
      <p:sp>
        <p:nvSpPr>
          <p:cNvPr id="224" name="Text 222"/>
          <p:cNvSpPr txBox="1"/>
          <p:nvPr/>
        </p:nvSpPr>
        <p:spPr>
          <a:xfrm>
            <a:off x="635508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2.6x</a:t>
            </a:r>
            <a:endParaRPr lang="en-US" sz="950" dirty="0"/>
          </a:p>
        </p:txBody>
      </p:sp>
      <p:sp>
        <p:nvSpPr>
          <p:cNvPr id="225" name="Shape 223"/>
          <p:cNvSpPr/>
          <p:nvPr/>
        </p:nvSpPr>
        <p:spPr>
          <a:xfrm>
            <a:off x="7008876" y="4978908"/>
            <a:ext cx="612648" cy="246888"/>
          </a:xfrm>
          <a:prstGeom prst="rect">
            <a:avLst/>
          </a:prstGeom>
          <a:solidFill>
            <a:srgbClr val="D3E1F2"/>
          </a:solidFill>
          <a:ln/>
        </p:spPr>
      </p:sp>
      <p:sp>
        <p:nvSpPr>
          <p:cNvPr id="226" name="Text 224"/>
          <p:cNvSpPr txBox="1"/>
          <p:nvPr/>
        </p:nvSpPr>
        <p:spPr>
          <a:xfrm>
            <a:off x="699516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2.4x</a:t>
            </a:r>
            <a:endParaRPr lang="en-US" sz="950" dirty="0"/>
          </a:p>
        </p:txBody>
      </p:sp>
      <p:sp>
        <p:nvSpPr>
          <p:cNvPr id="227" name="Shape 225"/>
          <p:cNvSpPr/>
          <p:nvPr/>
        </p:nvSpPr>
        <p:spPr>
          <a:xfrm>
            <a:off x="7648956" y="4978908"/>
            <a:ext cx="612648" cy="246888"/>
          </a:xfrm>
          <a:prstGeom prst="rect">
            <a:avLst/>
          </a:prstGeom>
          <a:solidFill>
            <a:srgbClr val="D9E4F3"/>
          </a:solidFill>
          <a:ln/>
        </p:spPr>
      </p:sp>
      <p:sp>
        <p:nvSpPr>
          <p:cNvPr id="228" name="Text 226"/>
          <p:cNvSpPr txBox="1"/>
          <p:nvPr/>
        </p:nvSpPr>
        <p:spPr>
          <a:xfrm>
            <a:off x="7635240" y="496519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2.2x</a:t>
            </a:r>
            <a:endParaRPr lang="en-US" sz="950" dirty="0"/>
          </a:p>
        </p:txBody>
      </p:sp>
      <p:sp>
        <p:nvSpPr>
          <p:cNvPr id="229" name="Text 227"/>
          <p:cNvSpPr txBox="1"/>
          <p:nvPr/>
        </p:nvSpPr>
        <p:spPr>
          <a:xfrm>
            <a:off x="4617720" y="5239512"/>
            <a:ext cx="457200" cy="274320"/>
          </a:xfrm>
          <a:prstGeom prst="rect">
            <a:avLst/>
          </a:prstGeom>
          <a:noFill/>
          <a:ln/>
        </p:spPr>
        <p:txBody>
          <a:bodyPr wrap="square" lIns="0" tIns="0" rIns="0" bIns="0" rtlCol="0" anchor="ctr"/>
          <a:lstStyle/>
          <a:p>
            <a:pPr algn="l" indent="0" marL="0">
              <a:buNone/>
            </a:pPr>
            <a:r>
              <a:rPr lang="en-US" sz="950" b="1" dirty="0">
                <a:solidFill>
                  <a:srgbClr val="5B6573"/>
                </a:solidFill>
                <a:latin typeface="Calibri" pitchFamily="34" charset="0"/>
                <a:ea typeface="Calibri" pitchFamily="34" charset="-122"/>
                <a:cs typeface="Calibri" pitchFamily="34" charset="-120"/>
              </a:rPr>
              <a:t>₹75k</a:t>
            </a:r>
            <a:endParaRPr lang="en-US" sz="950" dirty="0"/>
          </a:p>
        </p:txBody>
      </p:sp>
      <p:sp>
        <p:nvSpPr>
          <p:cNvPr id="230" name="Shape 228"/>
          <p:cNvSpPr/>
          <p:nvPr/>
        </p:nvSpPr>
        <p:spPr>
          <a:xfrm>
            <a:off x="5088636" y="5253228"/>
            <a:ext cx="612648" cy="246888"/>
          </a:xfrm>
          <a:prstGeom prst="rect">
            <a:avLst/>
          </a:prstGeom>
          <a:solidFill>
            <a:srgbClr val="DBE6F4"/>
          </a:solidFill>
          <a:ln/>
        </p:spPr>
      </p:sp>
      <p:sp>
        <p:nvSpPr>
          <p:cNvPr id="231" name="Text 229"/>
          <p:cNvSpPr txBox="1"/>
          <p:nvPr/>
        </p:nvSpPr>
        <p:spPr>
          <a:xfrm>
            <a:off x="507492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2.1x</a:t>
            </a:r>
            <a:endParaRPr lang="en-US" sz="950" dirty="0"/>
          </a:p>
        </p:txBody>
      </p:sp>
      <p:sp>
        <p:nvSpPr>
          <p:cNvPr id="232" name="Shape 230"/>
          <p:cNvSpPr/>
          <p:nvPr/>
        </p:nvSpPr>
        <p:spPr>
          <a:xfrm>
            <a:off x="5728716" y="5253228"/>
            <a:ext cx="612648" cy="246888"/>
          </a:xfrm>
          <a:prstGeom prst="rect">
            <a:avLst/>
          </a:prstGeom>
          <a:solidFill>
            <a:srgbClr val="E1EAF6"/>
          </a:solidFill>
          <a:ln/>
        </p:spPr>
      </p:sp>
      <p:sp>
        <p:nvSpPr>
          <p:cNvPr id="233" name="Text 231"/>
          <p:cNvSpPr txBox="1"/>
          <p:nvPr/>
        </p:nvSpPr>
        <p:spPr>
          <a:xfrm>
            <a:off x="571500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1.9x</a:t>
            </a:r>
            <a:endParaRPr lang="en-US" sz="950" dirty="0"/>
          </a:p>
        </p:txBody>
      </p:sp>
      <p:sp>
        <p:nvSpPr>
          <p:cNvPr id="234" name="Shape 232"/>
          <p:cNvSpPr/>
          <p:nvPr/>
        </p:nvSpPr>
        <p:spPr>
          <a:xfrm>
            <a:off x="6368796" y="5253228"/>
            <a:ext cx="612648" cy="246888"/>
          </a:xfrm>
          <a:prstGeom prst="rect">
            <a:avLst/>
          </a:prstGeom>
          <a:solidFill>
            <a:srgbClr val="E6EEF8"/>
          </a:solidFill>
          <a:ln/>
        </p:spPr>
      </p:sp>
      <p:sp>
        <p:nvSpPr>
          <p:cNvPr id="235" name="Text 233"/>
          <p:cNvSpPr txBox="1"/>
          <p:nvPr/>
        </p:nvSpPr>
        <p:spPr>
          <a:xfrm>
            <a:off x="635508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1.7x</a:t>
            </a:r>
            <a:endParaRPr lang="en-US" sz="950" dirty="0"/>
          </a:p>
        </p:txBody>
      </p:sp>
      <p:sp>
        <p:nvSpPr>
          <p:cNvPr id="236" name="Shape 234"/>
          <p:cNvSpPr/>
          <p:nvPr/>
        </p:nvSpPr>
        <p:spPr>
          <a:xfrm>
            <a:off x="7008876" y="5253228"/>
            <a:ext cx="612648" cy="246888"/>
          </a:xfrm>
          <a:prstGeom prst="rect">
            <a:avLst/>
          </a:prstGeom>
          <a:solidFill>
            <a:srgbClr val="E9F0F9"/>
          </a:solidFill>
          <a:ln/>
        </p:spPr>
      </p:sp>
      <p:sp>
        <p:nvSpPr>
          <p:cNvPr id="237" name="Text 235"/>
          <p:cNvSpPr txBox="1"/>
          <p:nvPr/>
        </p:nvSpPr>
        <p:spPr>
          <a:xfrm>
            <a:off x="699516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1.6x</a:t>
            </a:r>
            <a:endParaRPr lang="en-US" sz="950" dirty="0"/>
          </a:p>
        </p:txBody>
      </p:sp>
      <p:sp>
        <p:nvSpPr>
          <p:cNvPr id="238" name="Shape 236"/>
          <p:cNvSpPr/>
          <p:nvPr/>
        </p:nvSpPr>
        <p:spPr>
          <a:xfrm>
            <a:off x="7648956" y="5253228"/>
            <a:ext cx="612648" cy="246888"/>
          </a:xfrm>
          <a:prstGeom prst="rect">
            <a:avLst/>
          </a:prstGeom>
          <a:solidFill>
            <a:srgbClr val="ECF2FA"/>
          </a:solidFill>
          <a:ln/>
        </p:spPr>
      </p:sp>
      <p:sp>
        <p:nvSpPr>
          <p:cNvPr id="239" name="Text 237"/>
          <p:cNvSpPr txBox="1"/>
          <p:nvPr/>
        </p:nvSpPr>
        <p:spPr>
          <a:xfrm>
            <a:off x="7635240" y="5239512"/>
            <a:ext cx="640080" cy="274320"/>
          </a:xfrm>
          <a:prstGeom prst="rect">
            <a:avLst/>
          </a:prstGeom>
          <a:noFill/>
          <a:ln/>
        </p:spPr>
        <p:txBody>
          <a:bodyPr wrap="square" lIns="0" tIns="0" rIns="0" bIns="0" rtlCol="0" anchor="ctr"/>
          <a:lstStyle/>
          <a:p>
            <a:pPr algn="ctr" indent="0" marL="0">
              <a:buNone/>
            </a:pPr>
            <a:r>
              <a:rPr lang="en-US" sz="950" dirty="0">
                <a:solidFill>
                  <a:srgbClr val="17325C"/>
                </a:solidFill>
                <a:latin typeface="Calibri" pitchFamily="34" charset="0"/>
                <a:ea typeface="Calibri" pitchFamily="34" charset="-122"/>
                <a:cs typeface="Calibri" pitchFamily="34" charset="-120"/>
              </a:rPr>
              <a:t>1.5x</a:t>
            </a:r>
            <a:endParaRPr lang="en-US" sz="950" dirty="0"/>
          </a:p>
        </p:txBody>
      </p:sp>
      <p:sp>
        <p:nvSpPr>
          <p:cNvPr id="240" name="Shape 238"/>
          <p:cNvSpPr/>
          <p:nvPr/>
        </p:nvSpPr>
        <p:spPr>
          <a:xfrm>
            <a:off x="4617720" y="5870448"/>
            <a:ext cx="1060704" cy="219456"/>
          </a:xfrm>
          <a:prstGeom prst="roundRect">
            <a:avLst>
              <a:gd name="adj" fmla="val 50000"/>
            </a:avLst>
          </a:prstGeom>
          <a:solidFill>
            <a:srgbClr val="FFFFFF"/>
          </a:solidFill>
          <a:ln w="12700">
            <a:solidFill>
              <a:srgbClr val="5B6573"/>
            </a:solidFill>
            <a:prstDash val="solid"/>
          </a:ln>
        </p:spPr>
      </p:sp>
      <p:sp>
        <p:nvSpPr>
          <p:cNvPr id="241" name="Text 239"/>
          <p:cNvSpPr txBox="1"/>
          <p:nvPr/>
        </p:nvSpPr>
        <p:spPr>
          <a:xfrm>
            <a:off x="4617720" y="5870448"/>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242" name="Text 240"/>
          <p:cNvSpPr txBox="1"/>
          <p:nvPr/>
        </p:nvSpPr>
        <p:spPr>
          <a:xfrm>
            <a:off x="6263640" y="5833872"/>
            <a:ext cx="1920240" cy="329184"/>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Base cells: ₹30 with 6.6 % reduction; ₹35k with 3 %.</a:t>
            </a:r>
            <a:endParaRPr lang="en-US" sz="900" dirty="0"/>
          </a:p>
        </p:txBody>
      </p:sp>
      <p:sp>
        <p:nvSpPr>
          <p:cNvPr id="243" name="Shape 241"/>
          <p:cNvSpPr/>
          <p:nvPr/>
        </p:nvSpPr>
        <p:spPr>
          <a:xfrm>
            <a:off x="8412480" y="1115568"/>
            <a:ext cx="3367735" cy="301752"/>
          </a:xfrm>
          <a:prstGeom prst="rect">
            <a:avLst/>
          </a:prstGeom>
          <a:solidFill>
            <a:srgbClr val="1F4A82"/>
          </a:solidFill>
          <a:ln/>
        </p:spPr>
      </p:sp>
      <p:sp>
        <p:nvSpPr>
          <p:cNvPr id="244" name="Text 242"/>
          <p:cNvSpPr txBox="1"/>
          <p:nvPr/>
        </p:nvSpPr>
        <p:spPr>
          <a:xfrm>
            <a:off x="8522208" y="1115568"/>
            <a:ext cx="314827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TORNADO AND SEGMENTS</a:t>
            </a:r>
            <a:endParaRPr lang="en-US" sz="1200" dirty="0"/>
          </a:p>
        </p:txBody>
      </p:sp>
      <p:sp>
        <p:nvSpPr>
          <p:cNvPr id="245" name="Text 243"/>
          <p:cNvSpPr txBox="1"/>
          <p:nvPr/>
        </p:nvSpPr>
        <p:spPr>
          <a:xfrm>
            <a:off x="8503920" y="1463040"/>
            <a:ext cx="3184855" cy="237744"/>
          </a:xfrm>
          <a:prstGeom prst="rect">
            <a:avLst/>
          </a:prstGeom>
          <a:noFill/>
          <a:ln/>
        </p:spPr>
        <p:txBody>
          <a:bodyPr wrap="square" lIns="0" tIns="0" rIns="0" bIns="0" rtlCol="0" anchor="t"/>
          <a:lstStyle/>
          <a:p>
            <a:pPr algn="l" indent="0" marL="0">
              <a:buNone/>
            </a:pPr>
            <a:r>
              <a:rPr lang="en-US" sz="1000" b="1" dirty="0">
                <a:solidFill>
                  <a:srgbClr val="17325C"/>
                </a:solidFill>
                <a:latin typeface="Calibri" pitchFamily="34" charset="0"/>
                <a:ea typeface="Calibri" pitchFamily="34" charset="-122"/>
                <a:cs typeface="Calibri" pitchFamily="34" charset="-120"/>
              </a:rPr>
              <a:t>LTV ÷ acquisition cost, one input at a time</a:t>
            </a:r>
            <a:endParaRPr lang="en-US" sz="1000" dirty="0"/>
          </a:p>
        </p:txBody>
      </p:sp>
      <p:sp>
        <p:nvSpPr>
          <p:cNvPr id="246" name="Text 244"/>
          <p:cNvSpPr txBox="1"/>
          <p:nvPr/>
        </p:nvSpPr>
        <p:spPr>
          <a:xfrm>
            <a:off x="8503920" y="17830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Price ₹20 to ₹40</a:t>
            </a:r>
            <a:endParaRPr lang="en-US" sz="900" dirty="0"/>
          </a:p>
        </p:txBody>
      </p:sp>
      <p:sp>
        <p:nvSpPr>
          <p:cNvPr id="247" name="Shape 245"/>
          <p:cNvSpPr/>
          <p:nvPr/>
        </p:nvSpPr>
        <p:spPr>
          <a:xfrm>
            <a:off x="10079383" y="1856232"/>
            <a:ext cx="610092" cy="237744"/>
          </a:xfrm>
          <a:prstGeom prst="rect">
            <a:avLst/>
          </a:prstGeom>
          <a:solidFill>
            <a:srgbClr val="F6B26B"/>
          </a:solidFill>
          <a:ln/>
        </p:spPr>
      </p:sp>
      <p:sp>
        <p:nvSpPr>
          <p:cNvPr id="248" name="Shape 246"/>
          <p:cNvSpPr/>
          <p:nvPr/>
        </p:nvSpPr>
        <p:spPr>
          <a:xfrm>
            <a:off x="10689475" y="1856232"/>
            <a:ext cx="610092" cy="237744"/>
          </a:xfrm>
          <a:prstGeom prst="rect">
            <a:avLst/>
          </a:prstGeom>
          <a:solidFill>
            <a:srgbClr val="2E6DB4"/>
          </a:solidFill>
          <a:ln/>
        </p:spPr>
      </p:sp>
      <p:sp>
        <p:nvSpPr>
          <p:cNvPr id="249" name="Text 247"/>
          <p:cNvSpPr txBox="1"/>
          <p:nvPr/>
        </p:nvSpPr>
        <p:spPr>
          <a:xfrm>
            <a:off x="9731911" y="17830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2.1</a:t>
            </a:r>
            <a:endParaRPr lang="en-US" sz="900" dirty="0"/>
          </a:p>
        </p:txBody>
      </p:sp>
      <p:sp>
        <p:nvSpPr>
          <p:cNvPr id="250" name="Text 248"/>
          <p:cNvSpPr txBox="1"/>
          <p:nvPr/>
        </p:nvSpPr>
        <p:spPr>
          <a:xfrm>
            <a:off x="11327000" y="17830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5.2</a:t>
            </a:r>
            <a:endParaRPr lang="en-US" sz="900" dirty="0"/>
          </a:p>
        </p:txBody>
      </p:sp>
      <p:sp>
        <p:nvSpPr>
          <p:cNvPr id="251" name="Text 249"/>
          <p:cNvSpPr txBox="1"/>
          <p:nvPr/>
        </p:nvSpPr>
        <p:spPr>
          <a:xfrm>
            <a:off x="8503920" y="22402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Pilot conversion 15 to 50 %</a:t>
            </a:r>
            <a:endParaRPr lang="en-US" sz="900" dirty="0"/>
          </a:p>
        </p:txBody>
      </p:sp>
      <p:sp>
        <p:nvSpPr>
          <p:cNvPr id="252" name="Shape 250"/>
          <p:cNvSpPr/>
          <p:nvPr/>
        </p:nvSpPr>
        <p:spPr>
          <a:xfrm>
            <a:off x="10095230" y="2313432"/>
            <a:ext cx="594246" cy="237744"/>
          </a:xfrm>
          <a:prstGeom prst="rect">
            <a:avLst/>
          </a:prstGeom>
          <a:solidFill>
            <a:srgbClr val="F6B26B"/>
          </a:solidFill>
          <a:ln/>
        </p:spPr>
      </p:sp>
      <p:sp>
        <p:nvSpPr>
          <p:cNvPr id="253" name="Shape 251"/>
          <p:cNvSpPr/>
          <p:nvPr/>
        </p:nvSpPr>
        <p:spPr>
          <a:xfrm>
            <a:off x="10689475" y="2313432"/>
            <a:ext cx="554629" cy="237744"/>
          </a:xfrm>
          <a:prstGeom prst="rect">
            <a:avLst/>
          </a:prstGeom>
          <a:solidFill>
            <a:srgbClr val="2E6DB4"/>
          </a:solidFill>
          <a:ln/>
        </p:spPr>
      </p:sp>
      <p:sp>
        <p:nvSpPr>
          <p:cNvPr id="254" name="Text 252"/>
          <p:cNvSpPr txBox="1"/>
          <p:nvPr/>
        </p:nvSpPr>
        <p:spPr>
          <a:xfrm>
            <a:off x="9747758" y="22402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2.2</a:t>
            </a:r>
            <a:endParaRPr lang="en-US" sz="900" dirty="0"/>
          </a:p>
        </p:txBody>
      </p:sp>
      <p:sp>
        <p:nvSpPr>
          <p:cNvPr id="255" name="Text 253"/>
          <p:cNvSpPr txBox="1"/>
          <p:nvPr/>
        </p:nvSpPr>
        <p:spPr>
          <a:xfrm>
            <a:off x="11271537" y="22402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5.1</a:t>
            </a:r>
            <a:endParaRPr lang="en-US" sz="900" dirty="0"/>
          </a:p>
        </p:txBody>
      </p:sp>
      <p:sp>
        <p:nvSpPr>
          <p:cNvPr id="256" name="Text 254"/>
          <p:cNvSpPr txBox="1"/>
          <p:nvPr/>
        </p:nvSpPr>
        <p:spPr>
          <a:xfrm>
            <a:off x="8503920" y="26974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Non-renewal 30 to 10 %</a:t>
            </a:r>
            <a:endParaRPr lang="en-US" sz="900" dirty="0"/>
          </a:p>
        </p:txBody>
      </p:sp>
      <p:sp>
        <p:nvSpPr>
          <p:cNvPr id="257" name="Shape 255"/>
          <p:cNvSpPr/>
          <p:nvPr/>
        </p:nvSpPr>
        <p:spPr>
          <a:xfrm>
            <a:off x="10483470" y="2770632"/>
            <a:ext cx="206005" cy="237744"/>
          </a:xfrm>
          <a:prstGeom prst="rect">
            <a:avLst/>
          </a:prstGeom>
          <a:solidFill>
            <a:srgbClr val="F6B26B"/>
          </a:solidFill>
          <a:ln/>
        </p:spPr>
      </p:sp>
      <p:sp>
        <p:nvSpPr>
          <p:cNvPr id="258" name="Shape 256"/>
          <p:cNvSpPr/>
          <p:nvPr/>
        </p:nvSpPr>
        <p:spPr>
          <a:xfrm>
            <a:off x="10689475" y="2770632"/>
            <a:ext cx="245622" cy="237744"/>
          </a:xfrm>
          <a:prstGeom prst="rect">
            <a:avLst/>
          </a:prstGeom>
          <a:solidFill>
            <a:srgbClr val="2E6DB4"/>
          </a:solidFill>
          <a:ln/>
        </p:spPr>
      </p:sp>
      <p:sp>
        <p:nvSpPr>
          <p:cNvPr id="259" name="Text 257"/>
          <p:cNvSpPr txBox="1"/>
          <p:nvPr/>
        </p:nvSpPr>
        <p:spPr>
          <a:xfrm>
            <a:off x="10135998" y="26974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3.1</a:t>
            </a:r>
            <a:endParaRPr lang="en-US" sz="900" dirty="0"/>
          </a:p>
        </p:txBody>
      </p:sp>
      <p:sp>
        <p:nvSpPr>
          <p:cNvPr id="260" name="Text 258"/>
          <p:cNvSpPr txBox="1"/>
          <p:nvPr/>
        </p:nvSpPr>
        <p:spPr>
          <a:xfrm>
            <a:off x="10962529" y="26974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4.3</a:t>
            </a:r>
            <a:endParaRPr lang="en-US" sz="900" dirty="0"/>
          </a:p>
        </p:txBody>
      </p:sp>
      <p:sp>
        <p:nvSpPr>
          <p:cNvPr id="261" name="Text 259"/>
          <p:cNvSpPr txBox="1"/>
          <p:nvPr/>
        </p:nvSpPr>
        <p:spPr>
          <a:xfrm>
            <a:off x="8503920" y="31546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Monthly churn 5 to 1.5 %</a:t>
            </a:r>
            <a:endParaRPr lang="en-US" sz="900" dirty="0"/>
          </a:p>
        </p:txBody>
      </p:sp>
      <p:sp>
        <p:nvSpPr>
          <p:cNvPr id="262" name="Shape 260"/>
          <p:cNvSpPr/>
          <p:nvPr/>
        </p:nvSpPr>
        <p:spPr>
          <a:xfrm>
            <a:off x="10451777" y="3227832"/>
            <a:ext cx="237698" cy="237744"/>
          </a:xfrm>
          <a:prstGeom prst="rect">
            <a:avLst/>
          </a:prstGeom>
          <a:solidFill>
            <a:srgbClr val="F6B26B"/>
          </a:solidFill>
          <a:ln/>
        </p:spPr>
      </p:sp>
      <p:sp>
        <p:nvSpPr>
          <p:cNvPr id="263" name="Shape 261"/>
          <p:cNvSpPr/>
          <p:nvPr/>
        </p:nvSpPr>
        <p:spPr>
          <a:xfrm>
            <a:off x="10689475" y="3227832"/>
            <a:ext cx="237698" cy="237744"/>
          </a:xfrm>
          <a:prstGeom prst="rect">
            <a:avLst/>
          </a:prstGeom>
          <a:solidFill>
            <a:srgbClr val="2E6DB4"/>
          </a:solidFill>
          <a:ln/>
        </p:spPr>
      </p:sp>
      <p:sp>
        <p:nvSpPr>
          <p:cNvPr id="264" name="Text 262"/>
          <p:cNvSpPr txBox="1"/>
          <p:nvPr/>
        </p:nvSpPr>
        <p:spPr>
          <a:xfrm>
            <a:off x="10104305" y="31546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3.1</a:t>
            </a:r>
            <a:endParaRPr lang="en-US" sz="900" dirty="0"/>
          </a:p>
        </p:txBody>
      </p:sp>
      <p:sp>
        <p:nvSpPr>
          <p:cNvPr id="265" name="Text 263"/>
          <p:cNvSpPr txBox="1"/>
          <p:nvPr/>
        </p:nvSpPr>
        <p:spPr>
          <a:xfrm>
            <a:off x="10954606" y="31546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4.3</a:t>
            </a:r>
            <a:endParaRPr lang="en-US" sz="900" dirty="0"/>
          </a:p>
        </p:txBody>
      </p:sp>
      <p:sp>
        <p:nvSpPr>
          <p:cNvPr id="266" name="Text 264"/>
          <p:cNvSpPr txBox="1"/>
          <p:nvPr/>
        </p:nvSpPr>
        <p:spPr>
          <a:xfrm>
            <a:off x="8503920" y="3611880"/>
            <a:ext cx="1325880" cy="384048"/>
          </a:xfrm>
          <a:prstGeom prst="rect">
            <a:avLst/>
          </a:prstGeom>
          <a:noFill/>
          <a:ln/>
        </p:spPr>
        <p:txBody>
          <a:bodyPr wrap="square" lIns="0" tIns="0" rIns="0" bIns="0" rtlCol="0" anchor="ctr"/>
          <a:lstStyle/>
          <a:p>
            <a:pPr algn="l" indent="0" marL="0">
              <a:buNone/>
            </a:pPr>
            <a:r>
              <a:rPr lang="en-US" sz="900" dirty="0">
                <a:solidFill>
                  <a:srgbClr val="1F2937"/>
                </a:solidFill>
                <a:latin typeface="Calibri" pitchFamily="34" charset="0"/>
                <a:ea typeface="Calibri" pitchFamily="34" charset="-122"/>
                <a:cs typeface="Calibri" pitchFamily="34" charset="-120"/>
              </a:rPr>
              <a:t>Pilots per rep 6 to 14</a:t>
            </a:r>
            <a:endParaRPr lang="en-US" sz="900" dirty="0"/>
          </a:p>
        </p:txBody>
      </p:sp>
      <p:sp>
        <p:nvSpPr>
          <p:cNvPr id="267" name="Shape 265"/>
          <p:cNvSpPr/>
          <p:nvPr/>
        </p:nvSpPr>
        <p:spPr>
          <a:xfrm>
            <a:off x="10467624" y="3685032"/>
            <a:ext cx="221852" cy="237744"/>
          </a:xfrm>
          <a:prstGeom prst="rect">
            <a:avLst/>
          </a:prstGeom>
          <a:solidFill>
            <a:srgbClr val="F6B26B"/>
          </a:solidFill>
          <a:ln/>
        </p:spPr>
      </p:sp>
      <p:sp>
        <p:nvSpPr>
          <p:cNvPr id="268" name="Shape 266"/>
          <p:cNvSpPr/>
          <p:nvPr/>
        </p:nvSpPr>
        <p:spPr>
          <a:xfrm>
            <a:off x="10689475" y="3685032"/>
            <a:ext cx="122811" cy="237744"/>
          </a:xfrm>
          <a:prstGeom prst="rect">
            <a:avLst/>
          </a:prstGeom>
          <a:solidFill>
            <a:srgbClr val="2E6DB4"/>
          </a:solidFill>
          <a:ln/>
        </p:spPr>
      </p:sp>
      <p:sp>
        <p:nvSpPr>
          <p:cNvPr id="269" name="Text 267"/>
          <p:cNvSpPr txBox="1"/>
          <p:nvPr/>
        </p:nvSpPr>
        <p:spPr>
          <a:xfrm>
            <a:off x="10120152" y="3611880"/>
            <a:ext cx="329184" cy="384048"/>
          </a:xfrm>
          <a:prstGeom prst="rect">
            <a:avLst/>
          </a:prstGeom>
          <a:noFill/>
          <a:ln/>
        </p:spPr>
        <p:txBody>
          <a:bodyPr wrap="square" lIns="0" tIns="0" rIns="0" bIns="0" rtlCol="0" anchor="ctr"/>
          <a:lstStyle/>
          <a:p>
            <a:pPr algn="r" indent="0" marL="0">
              <a:buNone/>
            </a:pPr>
            <a:r>
              <a:rPr lang="en-US" sz="900" dirty="0">
                <a:solidFill>
                  <a:srgbClr val="5B6573"/>
                </a:solidFill>
                <a:latin typeface="Calibri" pitchFamily="34" charset="0"/>
                <a:ea typeface="Calibri" pitchFamily="34" charset="-122"/>
                <a:cs typeface="Calibri" pitchFamily="34" charset="-120"/>
              </a:rPr>
              <a:t>3.1</a:t>
            </a:r>
            <a:endParaRPr lang="en-US" sz="900" dirty="0"/>
          </a:p>
        </p:txBody>
      </p:sp>
      <p:sp>
        <p:nvSpPr>
          <p:cNvPr id="270" name="Text 268"/>
          <p:cNvSpPr txBox="1"/>
          <p:nvPr/>
        </p:nvSpPr>
        <p:spPr>
          <a:xfrm>
            <a:off x="10839718" y="3611880"/>
            <a:ext cx="365760" cy="384048"/>
          </a:xfrm>
          <a:prstGeom prst="rect">
            <a:avLst/>
          </a:prstGeom>
          <a:noFill/>
          <a:ln/>
        </p:spPr>
        <p:txBody>
          <a:bodyPr wrap="square" lIns="0" tIns="0" rIns="0" bIns="0" rtlCol="0" anchor="ctr"/>
          <a:lstStyle/>
          <a:p>
            <a:pPr algn="l" indent="0" marL="0">
              <a:buNone/>
            </a:pPr>
            <a:r>
              <a:rPr lang="en-US" sz="900" dirty="0">
                <a:solidFill>
                  <a:srgbClr val="5B6573"/>
                </a:solidFill>
                <a:latin typeface="Calibri" pitchFamily="34" charset="0"/>
                <a:ea typeface="Calibri" pitchFamily="34" charset="-122"/>
                <a:cs typeface="Calibri" pitchFamily="34" charset="-120"/>
              </a:rPr>
              <a:t>4.0</a:t>
            </a:r>
            <a:endParaRPr lang="en-US" sz="900" dirty="0"/>
          </a:p>
        </p:txBody>
      </p:sp>
      <p:sp>
        <p:nvSpPr>
          <p:cNvPr id="271" name="Shape 269"/>
          <p:cNvSpPr/>
          <p:nvPr/>
        </p:nvSpPr>
        <p:spPr>
          <a:xfrm>
            <a:off x="10680331" y="1737360"/>
            <a:ext cx="18288" cy="2377440"/>
          </a:xfrm>
          <a:prstGeom prst="rect">
            <a:avLst/>
          </a:prstGeom>
          <a:solidFill>
            <a:srgbClr val="17325C"/>
          </a:solidFill>
          <a:ln/>
        </p:spPr>
      </p:sp>
      <p:sp>
        <p:nvSpPr>
          <p:cNvPr id="272" name="Text 270"/>
          <p:cNvSpPr txBox="1"/>
          <p:nvPr/>
        </p:nvSpPr>
        <p:spPr>
          <a:xfrm>
            <a:off x="10232275" y="4114800"/>
            <a:ext cx="914400" cy="219456"/>
          </a:xfrm>
          <a:prstGeom prst="rect">
            <a:avLst/>
          </a:prstGeom>
          <a:noFill/>
          <a:ln/>
        </p:spPr>
        <p:txBody>
          <a:bodyPr wrap="square" lIns="0" tIns="0" rIns="0" bIns="0" rtlCol="0" anchor="t"/>
          <a:lstStyle/>
          <a:p>
            <a:pPr algn="ctr" indent="0" marL="0">
              <a:buNone/>
            </a:pPr>
            <a:r>
              <a:rPr lang="en-US" sz="900" b="1" dirty="0">
                <a:solidFill>
                  <a:srgbClr val="17325C"/>
                </a:solidFill>
                <a:latin typeface="Calibri" pitchFamily="34" charset="0"/>
                <a:ea typeface="Calibri" pitchFamily="34" charset="-122"/>
                <a:cs typeface="Calibri" pitchFamily="34" charset="-120"/>
              </a:rPr>
              <a:t>Base 3.7x</a:t>
            </a:r>
            <a:endParaRPr lang="en-US" sz="900" dirty="0"/>
          </a:p>
        </p:txBody>
      </p:sp>
      <p:pic>
        <p:nvPicPr>
          <p:cNvPr id="273" name="Image 0" descr="LTV over acquisition cost by segment">    </p:cNvPr>
          <p:cNvPicPr>
            <a:picLocks noChangeAspect="1"/>
          </p:cNvPicPr>
          <p:nvPr/>
        </p:nvPicPr>
        <p:blipFill>
          <a:blip r:embed="rId1"/>
          <a:stretch>
            <a:fillRect/>
          </a:stretch>
        </p:blipFill>
        <p:spPr>
          <a:xfrm>
            <a:off x="8732520" y="4389120"/>
            <a:ext cx="2103120" cy="1572768"/>
          </a:xfrm>
          <a:prstGeom prst="rect">
            <a:avLst/>
          </a:prstGeom>
        </p:spPr>
      </p:pic>
      <p:sp>
        <p:nvSpPr>
          <p:cNvPr id="274" name="Text 271"/>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(Scenarios, Sensitivity). List price ₹30; ERP and LMS prices found: ₹4 to ₹21. Willingness to pay is untested.</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3: SCENARIOS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Bear, Base and Bull for a mid-size institute, plus segments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SCENARIOS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7406640" cy="301752"/>
          </a:xfrm>
          <a:prstGeom prst="rect">
            <a:avLst/>
          </a:prstGeom>
          <a:solidFill>
            <a:srgbClr val="1F4A82"/>
          </a:solidFill>
          <a:ln/>
        </p:spPr>
      </p:sp>
      <p:sp>
        <p:nvSpPr>
          <p:cNvPr id="17" name="Text 15"/>
          <p:cNvSpPr txBox="1"/>
          <p:nvPr/>
        </p:nvSpPr>
        <p:spPr>
          <a:xfrm>
            <a:off x="521208" y="1115568"/>
            <a:ext cx="718718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MID INSTITUTE (400 STUDENTS)</a:t>
            </a:r>
            <a:endParaRPr lang="en-US" sz="1200" dirty="0"/>
          </a:p>
        </p:txBody>
      </p:sp>
      <p:sp>
        <p:nvSpPr>
          <p:cNvPr id="18" name="Shape 16"/>
          <p:cNvSpPr/>
          <p:nvPr/>
        </p:nvSpPr>
        <p:spPr>
          <a:xfrm>
            <a:off x="7872984" y="1115568"/>
            <a:ext cx="0" cy="5212080"/>
          </a:xfrm>
          <a:prstGeom prst="line">
            <a:avLst/>
          </a:prstGeom>
          <a:noFill/>
          <a:ln w="12700">
            <a:solidFill>
              <a:srgbClr val="8FA9CC"/>
            </a:solidFill>
            <a:prstDash val="dash"/>
          </a:ln>
        </p:spPr>
      </p:sp>
      <p:sp>
        <p:nvSpPr>
          <p:cNvPr id="19" name="Shape 17"/>
          <p:cNvSpPr/>
          <p:nvPr/>
        </p:nvSpPr>
        <p:spPr>
          <a:xfrm>
            <a:off x="502920" y="1481328"/>
            <a:ext cx="3017520" cy="310896"/>
          </a:xfrm>
          <a:prstGeom prst="rect">
            <a:avLst/>
          </a:prstGeom>
          <a:solidFill>
            <a:srgbClr val="1F4A82"/>
          </a:solidFill>
          <a:ln/>
        </p:spPr>
      </p:sp>
      <p:sp>
        <p:nvSpPr>
          <p:cNvPr id="20" name="Text 18"/>
          <p:cNvSpPr txBox="1"/>
          <p:nvPr/>
        </p:nvSpPr>
        <p:spPr>
          <a:xfrm>
            <a:off x="548640" y="1481328"/>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Per year unless stated</a:t>
            </a:r>
            <a:endParaRPr lang="en-US" sz="1100" dirty="0"/>
          </a:p>
        </p:txBody>
      </p:sp>
      <p:sp>
        <p:nvSpPr>
          <p:cNvPr id="21" name="Shape 19"/>
          <p:cNvSpPr/>
          <p:nvPr/>
        </p:nvSpPr>
        <p:spPr>
          <a:xfrm>
            <a:off x="3520440" y="1481328"/>
            <a:ext cx="1371600" cy="310896"/>
          </a:xfrm>
          <a:prstGeom prst="rect">
            <a:avLst/>
          </a:prstGeom>
          <a:solidFill>
            <a:srgbClr val="5B6573"/>
          </a:solidFill>
          <a:ln/>
        </p:spPr>
      </p:sp>
      <p:sp>
        <p:nvSpPr>
          <p:cNvPr id="22" name="Text 20"/>
          <p:cNvSpPr txBox="1"/>
          <p:nvPr/>
        </p:nvSpPr>
        <p:spPr>
          <a:xfrm>
            <a:off x="3566160" y="1481328"/>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Bear</a:t>
            </a:r>
            <a:endParaRPr lang="en-US" sz="1100" dirty="0"/>
          </a:p>
        </p:txBody>
      </p:sp>
      <p:sp>
        <p:nvSpPr>
          <p:cNvPr id="23" name="Shape 21"/>
          <p:cNvSpPr/>
          <p:nvPr/>
        </p:nvSpPr>
        <p:spPr>
          <a:xfrm>
            <a:off x="4892040" y="1481328"/>
            <a:ext cx="1371600" cy="310896"/>
          </a:xfrm>
          <a:prstGeom prst="rect">
            <a:avLst/>
          </a:prstGeom>
          <a:solidFill>
            <a:srgbClr val="1F4A82"/>
          </a:solidFill>
          <a:ln/>
        </p:spPr>
      </p:sp>
      <p:sp>
        <p:nvSpPr>
          <p:cNvPr id="24" name="Text 22"/>
          <p:cNvSpPr txBox="1"/>
          <p:nvPr/>
        </p:nvSpPr>
        <p:spPr>
          <a:xfrm>
            <a:off x="4937760" y="1481328"/>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p>
        </p:txBody>
      </p:sp>
      <p:sp>
        <p:nvSpPr>
          <p:cNvPr id="25" name="Shape 23"/>
          <p:cNvSpPr/>
          <p:nvPr/>
        </p:nvSpPr>
        <p:spPr>
          <a:xfrm>
            <a:off x="6263640" y="1481328"/>
            <a:ext cx="1371600" cy="310896"/>
          </a:xfrm>
          <a:prstGeom prst="rect">
            <a:avLst/>
          </a:prstGeom>
          <a:solidFill>
            <a:srgbClr val="5B6573"/>
          </a:solidFill>
          <a:ln/>
        </p:spPr>
      </p:sp>
      <p:sp>
        <p:nvSpPr>
          <p:cNvPr id="26" name="Text 24"/>
          <p:cNvSpPr txBox="1"/>
          <p:nvPr/>
        </p:nvSpPr>
        <p:spPr>
          <a:xfrm>
            <a:off x="6309360" y="1481328"/>
            <a:ext cx="128016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Bull</a:t>
            </a:r>
            <a:endParaRPr lang="en-US" sz="1100" dirty="0"/>
          </a:p>
        </p:txBody>
      </p:sp>
      <p:sp>
        <p:nvSpPr>
          <p:cNvPr id="27" name="Shape 25"/>
          <p:cNvSpPr/>
          <p:nvPr/>
        </p:nvSpPr>
        <p:spPr>
          <a:xfrm>
            <a:off x="502920" y="1792224"/>
            <a:ext cx="3017520" cy="411480"/>
          </a:xfrm>
          <a:prstGeom prst="rect">
            <a:avLst/>
          </a:prstGeom>
          <a:solidFill>
            <a:srgbClr val="F1F7F3"/>
          </a:solidFill>
          <a:ln/>
        </p:spPr>
      </p:sp>
      <p:sp>
        <p:nvSpPr>
          <p:cNvPr id="28" name="Text 26"/>
          <p:cNvSpPr txBox="1"/>
          <p:nvPr/>
        </p:nvSpPr>
        <p:spPr>
          <a:xfrm>
            <a:off x="548640" y="179222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Effective dropout reduction</a:t>
            </a:r>
            <a:endParaRPr lang="en-US" sz="1100" dirty="0"/>
          </a:p>
        </p:txBody>
      </p:sp>
      <p:sp>
        <p:nvSpPr>
          <p:cNvPr id="29" name="Shape 27"/>
          <p:cNvSpPr/>
          <p:nvPr/>
        </p:nvSpPr>
        <p:spPr>
          <a:xfrm>
            <a:off x="3520440" y="1792224"/>
            <a:ext cx="1371600" cy="411480"/>
          </a:xfrm>
          <a:prstGeom prst="rect">
            <a:avLst/>
          </a:prstGeom>
          <a:solidFill>
            <a:srgbClr val="F1F7F3"/>
          </a:solidFill>
          <a:ln/>
        </p:spPr>
      </p:sp>
      <p:sp>
        <p:nvSpPr>
          <p:cNvPr id="30" name="Text 28"/>
          <p:cNvSpPr txBox="1"/>
          <p:nvPr/>
        </p:nvSpPr>
        <p:spPr>
          <a:xfrm>
            <a:off x="3566160" y="17922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1.0 %</a:t>
            </a:r>
            <a:endParaRPr lang="en-US" sz="1100" dirty="0"/>
          </a:p>
        </p:txBody>
      </p:sp>
      <p:sp>
        <p:nvSpPr>
          <p:cNvPr id="31" name="Shape 29"/>
          <p:cNvSpPr/>
          <p:nvPr/>
        </p:nvSpPr>
        <p:spPr>
          <a:xfrm>
            <a:off x="4892040" y="1792224"/>
            <a:ext cx="1371600" cy="411480"/>
          </a:xfrm>
          <a:prstGeom prst="rect">
            <a:avLst/>
          </a:prstGeom>
          <a:solidFill>
            <a:srgbClr val="F1F7F3"/>
          </a:solidFill>
          <a:ln/>
        </p:spPr>
      </p:sp>
      <p:sp>
        <p:nvSpPr>
          <p:cNvPr id="32" name="Text 30"/>
          <p:cNvSpPr txBox="1"/>
          <p:nvPr/>
        </p:nvSpPr>
        <p:spPr>
          <a:xfrm>
            <a:off x="4937760" y="17922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6.6 %</a:t>
            </a:r>
            <a:endParaRPr lang="en-US" sz="1100" dirty="0"/>
          </a:p>
        </p:txBody>
      </p:sp>
      <p:sp>
        <p:nvSpPr>
          <p:cNvPr id="33" name="Shape 31"/>
          <p:cNvSpPr/>
          <p:nvPr/>
        </p:nvSpPr>
        <p:spPr>
          <a:xfrm>
            <a:off x="6263640" y="1792224"/>
            <a:ext cx="1371600" cy="411480"/>
          </a:xfrm>
          <a:prstGeom prst="rect">
            <a:avLst/>
          </a:prstGeom>
          <a:solidFill>
            <a:srgbClr val="F1F7F3"/>
          </a:solidFill>
          <a:ln/>
        </p:spPr>
      </p:sp>
      <p:sp>
        <p:nvSpPr>
          <p:cNvPr id="34" name="Text 32"/>
          <p:cNvSpPr txBox="1"/>
          <p:nvPr/>
        </p:nvSpPr>
        <p:spPr>
          <a:xfrm>
            <a:off x="6309360" y="17922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22.2 %</a:t>
            </a:r>
            <a:endParaRPr lang="en-US" sz="1100" dirty="0"/>
          </a:p>
        </p:txBody>
      </p:sp>
      <p:sp>
        <p:nvSpPr>
          <p:cNvPr id="35" name="Shape 33"/>
          <p:cNvSpPr/>
          <p:nvPr/>
        </p:nvSpPr>
        <p:spPr>
          <a:xfrm>
            <a:off x="502920" y="2203704"/>
            <a:ext cx="7132320" cy="0"/>
          </a:xfrm>
          <a:prstGeom prst="line">
            <a:avLst/>
          </a:prstGeom>
          <a:noFill/>
          <a:ln w="6350">
            <a:solidFill>
              <a:srgbClr val="E3E8E4"/>
            </a:solidFill>
            <a:prstDash val="solid"/>
          </a:ln>
        </p:spPr>
      </p:sp>
      <p:sp>
        <p:nvSpPr>
          <p:cNvPr id="36" name="Shape 34"/>
          <p:cNvSpPr/>
          <p:nvPr/>
        </p:nvSpPr>
        <p:spPr>
          <a:xfrm>
            <a:off x="502920" y="2203704"/>
            <a:ext cx="3017520" cy="411480"/>
          </a:xfrm>
          <a:prstGeom prst="rect">
            <a:avLst/>
          </a:prstGeom>
          <a:solidFill>
            <a:srgbClr val="FFFFFF"/>
          </a:solidFill>
          <a:ln/>
        </p:spPr>
      </p:sp>
      <p:sp>
        <p:nvSpPr>
          <p:cNvPr id="37" name="Text 35"/>
          <p:cNvSpPr txBox="1"/>
          <p:nvPr/>
        </p:nvSpPr>
        <p:spPr>
          <a:xfrm>
            <a:off x="548640" y="220370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Dropouts prevented</a:t>
            </a:r>
            <a:endParaRPr lang="en-US" sz="1100" dirty="0"/>
          </a:p>
        </p:txBody>
      </p:sp>
      <p:sp>
        <p:nvSpPr>
          <p:cNvPr id="38" name="Shape 36"/>
          <p:cNvSpPr/>
          <p:nvPr/>
        </p:nvSpPr>
        <p:spPr>
          <a:xfrm>
            <a:off x="3520440" y="2203704"/>
            <a:ext cx="1371600" cy="411480"/>
          </a:xfrm>
          <a:prstGeom prst="rect">
            <a:avLst/>
          </a:prstGeom>
          <a:solidFill>
            <a:srgbClr val="FFFFFF"/>
          </a:solidFill>
          <a:ln/>
        </p:spPr>
      </p:sp>
      <p:sp>
        <p:nvSpPr>
          <p:cNvPr id="39" name="Text 37"/>
          <p:cNvSpPr txBox="1"/>
          <p:nvPr/>
        </p:nvSpPr>
        <p:spPr>
          <a:xfrm>
            <a:off x="3566160" y="22037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0.2</a:t>
            </a:r>
            <a:endParaRPr lang="en-US" sz="1100" dirty="0"/>
          </a:p>
        </p:txBody>
      </p:sp>
      <p:sp>
        <p:nvSpPr>
          <p:cNvPr id="40" name="Shape 38"/>
          <p:cNvSpPr/>
          <p:nvPr/>
        </p:nvSpPr>
        <p:spPr>
          <a:xfrm>
            <a:off x="4892040" y="2203704"/>
            <a:ext cx="1371600" cy="411480"/>
          </a:xfrm>
          <a:prstGeom prst="rect">
            <a:avLst/>
          </a:prstGeom>
          <a:solidFill>
            <a:srgbClr val="FFFFFF"/>
          </a:solidFill>
          <a:ln/>
        </p:spPr>
      </p:sp>
      <p:sp>
        <p:nvSpPr>
          <p:cNvPr id="41" name="Text 39"/>
          <p:cNvSpPr txBox="1"/>
          <p:nvPr/>
        </p:nvSpPr>
        <p:spPr>
          <a:xfrm>
            <a:off x="4937760" y="22037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2.6</a:t>
            </a:r>
            <a:endParaRPr lang="en-US" sz="1100" dirty="0"/>
          </a:p>
        </p:txBody>
      </p:sp>
      <p:sp>
        <p:nvSpPr>
          <p:cNvPr id="42" name="Shape 40"/>
          <p:cNvSpPr/>
          <p:nvPr/>
        </p:nvSpPr>
        <p:spPr>
          <a:xfrm>
            <a:off x="6263640" y="2203704"/>
            <a:ext cx="1371600" cy="411480"/>
          </a:xfrm>
          <a:prstGeom prst="rect">
            <a:avLst/>
          </a:prstGeom>
          <a:solidFill>
            <a:srgbClr val="FFFFFF"/>
          </a:solidFill>
          <a:ln/>
        </p:spPr>
      </p:sp>
      <p:sp>
        <p:nvSpPr>
          <p:cNvPr id="43" name="Text 41"/>
          <p:cNvSpPr txBox="1"/>
          <p:nvPr/>
        </p:nvSpPr>
        <p:spPr>
          <a:xfrm>
            <a:off x="6309360" y="22037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16</a:t>
            </a:r>
            <a:endParaRPr lang="en-US" sz="1100" dirty="0"/>
          </a:p>
        </p:txBody>
      </p:sp>
      <p:sp>
        <p:nvSpPr>
          <p:cNvPr id="44" name="Shape 42"/>
          <p:cNvSpPr/>
          <p:nvPr/>
        </p:nvSpPr>
        <p:spPr>
          <a:xfrm>
            <a:off x="502920" y="2615184"/>
            <a:ext cx="7132320" cy="0"/>
          </a:xfrm>
          <a:prstGeom prst="line">
            <a:avLst/>
          </a:prstGeom>
          <a:noFill/>
          <a:ln w="6350">
            <a:solidFill>
              <a:srgbClr val="E3E8E4"/>
            </a:solidFill>
            <a:prstDash val="solid"/>
          </a:ln>
        </p:spPr>
      </p:sp>
      <p:sp>
        <p:nvSpPr>
          <p:cNvPr id="45" name="Shape 43"/>
          <p:cNvSpPr/>
          <p:nvPr/>
        </p:nvSpPr>
        <p:spPr>
          <a:xfrm>
            <a:off x="502920" y="2615184"/>
            <a:ext cx="3017520" cy="411480"/>
          </a:xfrm>
          <a:prstGeom prst="rect">
            <a:avLst/>
          </a:prstGeom>
          <a:solidFill>
            <a:srgbClr val="D6E4F5"/>
          </a:solidFill>
          <a:ln/>
        </p:spPr>
      </p:sp>
      <p:sp>
        <p:nvSpPr>
          <p:cNvPr id="46" name="Text 44"/>
          <p:cNvSpPr txBox="1"/>
          <p:nvPr/>
        </p:nvSpPr>
        <p:spPr>
          <a:xfrm>
            <a:off x="548640" y="261518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Institute return, all benefits</a:t>
            </a:r>
            <a:endParaRPr lang="en-US" sz="1100" dirty="0"/>
          </a:p>
        </p:txBody>
      </p:sp>
      <p:sp>
        <p:nvSpPr>
          <p:cNvPr id="47" name="Shape 45"/>
          <p:cNvSpPr/>
          <p:nvPr/>
        </p:nvSpPr>
        <p:spPr>
          <a:xfrm>
            <a:off x="3520440" y="2615184"/>
            <a:ext cx="1371600" cy="411480"/>
          </a:xfrm>
          <a:prstGeom prst="rect">
            <a:avLst/>
          </a:prstGeom>
          <a:solidFill>
            <a:srgbClr val="D6E4F5"/>
          </a:solidFill>
          <a:ln/>
        </p:spPr>
      </p:sp>
      <p:sp>
        <p:nvSpPr>
          <p:cNvPr id="48" name="Text 46"/>
          <p:cNvSpPr txBox="1"/>
          <p:nvPr/>
        </p:nvSpPr>
        <p:spPr>
          <a:xfrm>
            <a:off x="3566160" y="26151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0.15x</a:t>
            </a:r>
            <a:endParaRPr lang="en-US" sz="1100" dirty="0"/>
          </a:p>
        </p:txBody>
      </p:sp>
      <p:sp>
        <p:nvSpPr>
          <p:cNvPr id="49" name="Shape 47"/>
          <p:cNvSpPr/>
          <p:nvPr/>
        </p:nvSpPr>
        <p:spPr>
          <a:xfrm>
            <a:off x="4892040" y="2615184"/>
            <a:ext cx="1371600" cy="411480"/>
          </a:xfrm>
          <a:prstGeom prst="rect">
            <a:avLst/>
          </a:prstGeom>
          <a:solidFill>
            <a:srgbClr val="D6E4F5"/>
          </a:solidFill>
          <a:ln/>
        </p:spPr>
      </p:sp>
      <p:sp>
        <p:nvSpPr>
          <p:cNvPr id="50" name="Text 48"/>
          <p:cNvSpPr txBox="1"/>
          <p:nvPr/>
        </p:nvSpPr>
        <p:spPr>
          <a:xfrm>
            <a:off x="4937760" y="26151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2.9x</a:t>
            </a:r>
            <a:endParaRPr lang="en-US" sz="1100" dirty="0"/>
          </a:p>
        </p:txBody>
      </p:sp>
      <p:sp>
        <p:nvSpPr>
          <p:cNvPr id="51" name="Shape 49"/>
          <p:cNvSpPr/>
          <p:nvPr/>
        </p:nvSpPr>
        <p:spPr>
          <a:xfrm>
            <a:off x="6263640" y="2615184"/>
            <a:ext cx="1371600" cy="411480"/>
          </a:xfrm>
          <a:prstGeom prst="rect">
            <a:avLst/>
          </a:prstGeom>
          <a:solidFill>
            <a:srgbClr val="D6E4F5"/>
          </a:solidFill>
          <a:ln/>
        </p:spPr>
      </p:sp>
      <p:sp>
        <p:nvSpPr>
          <p:cNvPr id="52" name="Text 50"/>
          <p:cNvSpPr txBox="1"/>
          <p:nvPr/>
        </p:nvSpPr>
        <p:spPr>
          <a:xfrm>
            <a:off x="6309360" y="26151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14x</a:t>
            </a:r>
            <a:endParaRPr lang="en-US" sz="1100" dirty="0"/>
          </a:p>
        </p:txBody>
      </p:sp>
      <p:sp>
        <p:nvSpPr>
          <p:cNvPr id="53" name="Shape 51"/>
          <p:cNvSpPr/>
          <p:nvPr/>
        </p:nvSpPr>
        <p:spPr>
          <a:xfrm>
            <a:off x="502920" y="3026664"/>
            <a:ext cx="7132320" cy="0"/>
          </a:xfrm>
          <a:prstGeom prst="line">
            <a:avLst/>
          </a:prstGeom>
          <a:noFill/>
          <a:ln w="6350">
            <a:solidFill>
              <a:srgbClr val="E3E8E4"/>
            </a:solidFill>
            <a:prstDash val="solid"/>
          </a:ln>
        </p:spPr>
      </p:sp>
      <p:sp>
        <p:nvSpPr>
          <p:cNvPr id="54" name="Shape 52"/>
          <p:cNvSpPr/>
          <p:nvPr/>
        </p:nvSpPr>
        <p:spPr>
          <a:xfrm>
            <a:off x="502920" y="3026664"/>
            <a:ext cx="3017520" cy="411480"/>
          </a:xfrm>
          <a:prstGeom prst="rect">
            <a:avLst/>
          </a:prstGeom>
          <a:solidFill>
            <a:srgbClr val="D6E4F5"/>
          </a:solidFill>
          <a:ln/>
        </p:spPr>
      </p:sp>
      <p:sp>
        <p:nvSpPr>
          <p:cNvPr id="55" name="Text 53"/>
          <p:cNvSpPr txBox="1"/>
          <p:nvPr/>
        </p:nvSpPr>
        <p:spPr>
          <a:xfrm>
            <a:off x="548640" y="302666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Institute return, fees only</a:t>
            </a:r>
            <a:endParaRPr lang="en-US" sz="1100" dirty="0"/>
          </a:p>
        </p:txBody>
      </p:sp>
      <p:sp>
        <p:nvSpPr>
          <p:cNvPr id="56" name="Shape 54"/>
          <p:cNvSpPr/>
          <p:nvPr/>
        </p:nvSpPr>
        <p:spPr>
          <a:xfrm>
            <a:off x="3520440" y="3026664"/>
            <a:ext cx="1371600" cy="411480"/>
          </a:xfrm>
          <a:prstGeom prst="rect">
            <a:avLst/>
          </a:prstGeom>
          <a:solidFill>
            <a:srgbClr val="D6E4F5"/>
          </a:solidFill>
          <a:ln/>
        </p:spPr>
      </p:sp>
      <p:sp>
        <p:nvSpPr>
          <p:cNvPr id="57" name="Text 55"/>
          <p:cNvSpPr txBox="1"/>
          <p:nvPr/>
        </p:nvSpPr>
        <p:spPr>
          <a:xfrm>
            <a:off x="3566160" y="302666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0.04x</a:t>
            </a:r>
            <a:endParaRPr lang="en-US" sz="1100" dirty="0"/>
          </a:p>
        </p:txBody>
      </p:sp>
      <p:sp>
        <p:nvSpPr>
          <p:cNvPr id="58" name="Shape 56"/>
          <p:cNvSpPr/>
          <p:nvPr/>
        </p:nvSpPr>
        <p:spPr>
          <a:xfrm>
            <a:off x="4892040" y="3026664"/>
            <a:ext cx="1371600" cy="411480"/>
          </a:xfrm>
          <a:prstGeom prst="rect">
            <a:avLst/>
          </a:prstGeom>
          <a:solidFill>
            <a:srgbClr val="D6E4F5"/>
          </a:solidFill>
          <a:ln/>
        </p:spPr>
      </p:sp>
      <p:sp>
        <p:nvSpPr>
          <p:cNvPr id="59" name="Text 57"/>
          <p:cNvSpPr txBox="1"/>
          <p:nvPr/>
        </p:nvSpPr>
        <p:spPr>
          <a:xfrm>
            <a:off x="4937760" y="302666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0.75x</a:t>
            </a:r>
            <a:endParaRPr lang="en-US" sz="1100" dirty="0"/>
          </a:p>
        </p:txBody>
      </p:sp>
      <p:sp>
        <p:nvSpPr>
          <p:cNvPr id="60" name="Shape 58"/>
          <p:cNvSpPr/>
          <p:nvPr/>
        </p:nvSpPr>
        <p:spPr>
          <a:xfrm>
            <a:off x="6263640" y="3026664"/>
            <a:ext cx="1371600" cy="411480"/>
          </a:xfrm>
          <a:prstGeom prst="rect">
            <a:avLst/>
          </a:prstGeom>
          <a:solidFill>
            <a:srgbClr val="D6E4F5"/>
          </a:solidFill>
          <a:ln/>
        </p:spPr>
      </p:sp>
      <p:sp>
        <p:nvSpPr>
          <p:cNvPr id="61" name="Text 59"/>
          <p:cNvSpPr txBox="1"/>
          <p:nvPr/>
        </p:nvSpPr>
        <p:spPr>
          <a:xfrm>
            <a:off x="6309360" y="302666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5.9x</a:t>
            </a:r>
            <a:endParaRPr lang="en-US" sz="1100" dirty="0"/>
          </a:p>
        </p:txBody>
      </p:sp>
      <p:sp>
        <p:nvSpPr>
          <p:cNvPr id="62" name="Shape 60"/>
          <p:cNvSpPr/>
          <p:nvPr/>
        </p:nvSpPr>
        <p:spPr>
          <a:xfrm>
            <a:off x="502920" y="3438144"/>
            <a:ext cx="7132320" cy="0"/>
          </a:xfrm>
          <a:prstGeom prst="line">
            <a:avLst/>
          </a:prstGeom>
          <a:noFill/>
          <a:ln w="6350">
            <a:solidFill>
              <a:srgbClr val="E3E8E4"/>
            </a:solidFill>
            <a:prstDash val="solid"/>
          </a:ln>
        </p:spPr>
      </p:sp>
      <p:sp>
        <p:nvSpPr>
          <p:cNvPr id="63" name="Shape 61"/>
          <p:cNvSpPr/>
          <p:nvPr/>
        </p:nvSpPr>
        <p:spPr>
          <a:xfrm>
            <a:off x="502920" y="3438144"/>
            <a:ext cx="3017520" cy="411480"/>
          </a:xfrm>
          <a:prstGeom prst="rect">
            <a:avLst/>
          </a:prstGeom>
          <a:solidFill>
            <a:srgbClr val="F1E8D3"/>
          </a:solidFill>
          <a:ln/>
        </p:spPr>
      </p:sp>
      <p:sp>
        <p:nvSpPr>
          <p:cNvPr id="64" name="Text 62"/>
          <p:cNvSpPr txBox="1"/>
          <p:nvPr/>
        </p:nvSpPr>
        <p:spPr>
          <a:xfrm>
            <a:off x="548640" y="343814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Students to save to break even</a:t>
            </a:r>
            <a:endParaRPr lang="en-US" sz="1100" dirty="0"/>
          </a:p>
        </p:txBody>
      </p:sp>
      <p:sp>
        <p:nvSpPr>
          <p:cNvPr id="65" name="Shape 63"/>
          <p:cNvSpPr/>
          <p:nvPr/>
        </p:nvSpPr>
        <p:spPr>
          <a:xfrm>
            <a:off x="3520440" y="3438144"/>
            <a:ext cx="1371600" cy="411480"/>
          </a:xfrm>
          <a:prstGeom prst="rect">
            <a:avLst/>
          </a:prstGeom>
          <a:solidFill>
            <a:srgbClr val="F1E8D3"/>
          </a:solidFill>
          <a:ln/>
        </p:spPr>
      </p:sp>
      <p:sp>
        <p:nvSpPr>
          <p:cNvPr id="66" name="Text 64"/>
          <p:cNvSpPr txBox="1"/>
          <p:nvPr/>
        </p:nvSpPr>
        <p:spPr>
          <a:xfrm>
            <a:off x="3566160" y="343814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6.5</a:t>
            </a:r>
            <a:endParaRPr lang="en-US" sz="1100" dirty="0"/>
          </a:p>
        </p:txBody>
      </p:sp>
      <p:sp>
        <p:nvSpPr>
          <p:cNvPr id="67" name="Shape 65"/>
          <p:cNvSpPr/>
          <p:nvPr/>
        </p:nvSpPr>
        <p:spPr>
          <a:xfrm>
            <a:off x="4892040" y="3438144"/>
            <a:ext cx="1371600" cy="411480"/>
          </a:xfrm>
          <a:prstGeom prst="rect">
            <a:avLst/>
          </a:prstGeom>
          <a:solidFill>
            <a:srgbClr val="F1E8D3"/>
          </a:solidFill>
          <a:ln/>
        </p:spPr>
      </p:sp>
      <p:sp>
        <p:nvSpPr>
          <p:cNvPr id="68" name="Text 66"/>
          <p:cNvSpPr txBox="1"/>
          <p:nvPr/>
        </p:nvSpPr>
        <p:spPr>
          <a:xfrm>
            <a:off x="4937760" y="343814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3.5</a:t>
            </a:r>
            <a:endParaRPr lang="en-US" sz="1100" dirty="0"/>
          </a:p>
        </p:txBody>
      </p:sp>
      <p:sp>
        <p:nvSpPr>
          <p:cNvPr id="69" name="Shape 67"/>
          <p:cNvSpPr/>
          <p:nvPr/>
        </p:nvSpPr>
        <p:spPr>
          <a:xfrm>
            <a:off x="6263640" y="3438144"/>
            <a:ext cx="1371600" cy="411480"/>
          </a:xfrm>
          <a:prstGeom prst="rect">
            <a:avLst/>
          </a:prstGeom>
          <a:solidFill>
            <a:srgbClr val="F1E8D3"/>
          </a:solidFill>
          <a:ln/>
        </p:spPr>
      </p:sp>
      <p:sp>
        <p:nvSpPr>
          <p:cNvPr id="70" name="Text 68"/>
          <p:cNvSpPr txBox="1"/>
          <p:nvPr/>
        </p:nvSpPr>
        <p:spPr>
          <a:xfrm>
            <a:off x="6309360" y="343814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2.7</a:t>
            </a:r>
            <a:endParaRPr lang="en-US" sz="1100" dirty="0"/>
          </a:p>
        </p:txBody>
      </p:sp>
      <p:sp>
        <p:nvSpPr>
          <p:cNvPr id="71" name="Shape 69"/>
          <p:cNvSpPr/>
          <p:nvPr/>
        </p:nvSpPr>
        <p:spPr>
          <a:xfrm>
            <a:off x="502920" y="3849624"/>
            <a:ext cx="7132320" cy="0"/>
          </a:xfrm>
          <a:prstGeom prst="line">
            <a:avLst/>
          </a:prstGeom>
          <a:noFill/>
          <a:ln w="6350">
            <a:solidFill>
              <a:srgbClr val="E3E8E4"/>
            </a:solidFill>
            <a:prstDash val="solid"/>
          </a:ln>
        </p:spPr>
      </p:sp>
      <p:sp>
        <p:nvSpPr>
          <p:cNvPr id="72" name="Shape 70"/>
          <p:cNvSpPr/>
          <p:nvPr/>
        </p:nvSpPr>
        <p:spPr>
          <a:xfrm>
            <a:off x="502920" y="3849624"/>
            <a:ext cx="3017520" cy="411480"/>
          </a:xfrm>
          <a:prstGeom prst="rect">
            <a:avLst/>
          </a:prstGeom>
          <a:solidFill>
            <a:srgbClr val="F1F7F3"/>
          </a:solidFill>
          <a:ln/>
        </p:spPr>
      </p:sp>
      <p:sp>
        <p:nvSpPr>
          <p:cNvPr id="73" name="Text 71"/>
          <p:cNvSpPr txBox="1"/>
          <p:nvPr/>
        </p:nvSpPr>
        <p:spPr>
          <a:xfrm>
            <a:off x="548640" y="384962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Revenue per institute, monthly</a:t>
            </a:r>
            <a:endParaRPr lang="en-US" sz="1100" dirty="0"/>
          </a:p>
        </p:txBody>
      </p:sp>
      <p:sp>
        <p:nvSpPr>
          <p:cNvPr id="74" name="Shape 72"/>
          <p:cNvSpPr/>
          <p:nvPr/>
        </p:nvSpPr>
        <p:spPr>
          <a:xfrm>
            <a:off x="3520440" y="3849624"/>
            <a:ext cx="1371600" cy="411480"/>
          </a:xfrm>
          <a:prstGeom prst="rect">
            <a:avLst/>
          </a:prstGeom>
          <a:solidFill>
            <a:srgbClr val="F1F7F3"/>
          </a:solidFill>
          <a:ln/>
        </p:spPr>
      </p:sp>
      <p:sp>
        <p:nvSpPr>
          <p:cNvPr id="75" name="Text 73"/>
          <p:cNvSpPr txBox="1"/>
          <p:nvPr/>
        </p:nvSpPr>
        <p:spPr>
          <a:xfrm>
            <a:off x="3566160" y="38496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₹4,992</a:t>
            </a:r>
            <a:endParaRPr lang="en-US" sz="1100" dirty="0"/>
          </a:p>
        </p:txBody>
      </p:sp>
      <p:sp>
        <p:nvSpPr>
          <p:cNvPr id="76" name="Shape 74"/>
          <p:cNvSpPr/>
          <p:nvPr/>
        </p:nvSpPr>
        <p:spPr>
          <a:xfrm>
            <a:off x="4892040" y="3849624"/>
            <a:ext cx="1371600" cy="411480"/>
          </a:xfrm>
          <a:prstGeom prst="rect">
            <a:avLst/>
          </a:prstGeom>
          <a:solidFill>
            <a:srgbClr val="F1F7F3"/>
          </a:solidFill>
          <a:ln/>
        </p:spPr>
      </p:sp>
      <p:sp>
        <p:nvSpPr>
          <p:cNvPr id="77" name="Text 75"/>
          <p:cNvSpPr txBox="1"/>
          <p:nvPr/>
        </p:nvSpPr>
        <p:spPr>
          <a:xfrm>
            <a:off x="4937760" y="38496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₹8,612</a:t>
            </a:r>
            <a:endParaRPr lang="en-US" sz="1100" dirty="0"/>
          </a:p>
        </p:txBody>
      </p:sp>
      <p:sp>
        <p:nvSpPr>
          <p:cNvPr id="78" name="Shape 76"/>
          <p:cNvSpPr/>
          <p:nvPr/>
        </p:nvSpPr>
        <p:spPr>
          <a:xfrm>
            <a:off x="6263640" y="3849624"/>
            <a:ext cx="1371600" cy="411480"/>
          </a:xfrm>
          <a:prstGeom prst="rect">
            <a:avLst/>
          </a:prstGeom>
          <a:solidFill>
            <a:srgbClr val="F1F7F3"/>
          </a:solidFill>
          <a:ln/>
        </p:spPr>
      </p:sp>
      <p:sp>
        <p:nvSpPr>
          <p:cNvPr id="79" name="Text 77"/>
          <p:cNvSpPr txBox="1"/>
          <p:nvPr/>
        </p:nvSpPr>
        <p:spPr>
          <a:xfrm>
            <a:off x="6309360" y="384962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₹11,999</a:t>
            </a:r>
            <a:endParaRPr lang="en-US" sz="1100" dirty="0"/>
          </a:p>
        </p:txBody>
      </p:sp>
      <p:sp>
        <p:nvSpPr>
          <p:cNvPr id="80" name="Shape 78"/>
          <p:cNvSpPr/>
          <p:nvPr/>
        </p:nvSpPr>
        <p:spPr>
          <a:xfrm>
            <a:off x="502920" y="4261104"/>
            <a:ext cx="7132320" cy="0"/>
          </a:xfrm>
          <a:prstGeom prst="line">
            <a:avLst/>
          </a:prstGeom>
          <a:noFill/>
          <a:ln w="6350">
            <a:solidFill>
              <a:srgbClr val="E3E8E4"/>
            </a:solidFill>
            <a:prstDash val="solid"/>
          </a:ln>
        </p:spPr>
      </p:sp>
      <p:sp>
        <p:nvSpPr>
          <p:cNvPr id="81" name="Shape 79"/>
          <p:cNvSpPr/>
          <p:nvPr/>
        </p:nvSpPr>
        <p:spPr>
          <a:xfrm>
            <a:off x="502920" y="4261104"/>
            <a:ext cx="3017520" cy="411480"/>
          </a:xfrm>
          <a:prstGeom prst="rect">
            <a:avLst/>
          </a:prstGeom>
          <a:solidFill>
            <a:srgbClr val="FFFFFF"/>
          </a:solidFill>
          <a:ln/>
        </p:spPr>
      </p:sp>
      <p:sp>
        <p:nvSpPr>
          <p:cNvPr id="82" name="Text 80"/>
          <p:cNvSpPr txBox="1"/>
          <p:nvPr/>
        </p:nvSpPr>
        <p:spPr>
          <a:xfrm>
            <a:off x="548640" y="426110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Fully loaded acquisition cost</a:t>
            </a:r>
            <a:endParaRPr lang="en-US" sz="1100" dirty="0"/>
          </a:p>
        </p:txBody>
      </p:sp>
      <p:sp>
        <p:nvSpPr>
          <p:cNvPr id="83" name="Shape 81"/>
          <p:cNvSpPr/>
          <p:nvPr/>
        </p:nvSpPr>
        <p:spPr>
          <a:xfrm>
            <a:off x="3520440" y="4261104"/>
            <a:ext cx="1371600" cy="411480"/>
          </a:xfrm>
          <a:prstGeom prst="rect">
            <a:avLst/>
          </a:prstGeom>
          <a:solidFill>
            <a:srgbClr val="FFFFFF"/>
          </a:solidFill>
          <a:ln/>
        </p:spPr>
      </p:sp>
      <p:sp>
        <p:nvSpPr>
          <p:cNvPr id="84" name="Text 82"/>
          <p:cNvSpPr txBox="1"/>
          <p:nvPr/>
        </p:nvSpPr>
        <p:spPr>
          <a:xfrm>
            <a:off x="3566160" y="42611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₹1.74 L</a:t>
            </a:r>
            <a:endParaRPr lang="en-US" sz="1100" dirty="0"/>
          </a:p>
        </p:txBody>
      </p:sp>
      <p:sp>
        <p:nvSpPr>
          <p:cNvPr id="85" name="Shape 83"/>
          <p:cNvSpPr/>
          <p:nvPr/>
        </p:nvSpPr>
        <p:spPr>
          <a:xfrm>
            <a:off x="4892040" y="4261104"/>
            <a:ext cx="1371600" cy="411480"/>
          </a:xfrm>
          <a:prstGeom prst="rect">
            <a:avLst/>
          </a:prstGeom>
          <a:solidFill>
            <a:srgbClr val="FFFFFF"/>
          </a:solidFill>
          <a:ln/>
        </p:spPr>
      </p:sp>
      <p:sp>
        <p:nvSpPr>
          <p:cNvPr id="86" name="Text 84"/>
          <p:cNvSpPr txBox="1"/>
          <p:nvPr/>
        </p:nvSpPr>
        <p:spPr>
          <a:xfrm>
            <a:off x="4937760" y="42611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₹35,492</a:t>
            </a:r>
            <a:endParaRPr lang="en-US" sz="1100" dirty="0"/>
          </a:p>
        </p:txBody>
      </p:sp>
      <p:sp>
        <p:nvSpPr>
          <p:cNvPr id="87" name="Shape 85"/>
          <p:cNvSpPr/>
          <p:nvPr/>
        </p:nvSpPr>
        <p:spPr>
          <a:xfrm>
            <a:off x="6263640" y="4261104"/>
            <a:ext cx="1371600" cy="411480"/>
          </a:xfrm>
          <a:prstGeom prst="rect">
            <a:avLst/>
          </a:prstGeom>
          <a:solidFill>
            <a:srgbClr val="FFFFFF"/>
          </a:solidFill>
          <a:ln/>
        </p:spPr>
      </p:sp>
      <p:sp>
        <p:nvSpPr>
          <p:cNvPr id="88" name="Text 86"/>
          <p:cNvSpPr txBox="1"/>
          <p:nvPr/>
        </p:nvSpPr>
        <p:spPr>
          <a:xfrm>
            <a:off x="6309360" y="426110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₹13,336</a:t>
            </a:r>
            <a:endParaRPr lang="en-US" sz="1100" dirty="0"/>
          </a:p>
        </p:txBody>
      </p:sp>
      <p:sp>
        <p:nvSpPr>
          <p:cNvPr id="89" name="Shape 87"/>
          <p:cNvSpPr/>
          <p:nvPr/>
        </p:nvSpPr>
        <p:spPr>
          <a:xfrm>
            <a:off x="502920" y="4672584"/>
            <a:ext cx="7132320" cy="0"/>
          </a:xfrm>
          <a:prstGeom prst="line">
            <a:avLst/>
          </a:prstGeom>
          <a:noFill/>
          <a:ln w="6350">
            <a:solidFill>
              <a:srgbClr val="E3E8E4"/>
            </a:solidFill>
            <a:prstDash val="solid"/>
          </a:ln>
        </p:spPr>
      </p:sp>
      <p:sp>
        <p:nvSpPr>
          <p:cNvPr id="90" name="Shape 88"/>
          <p:cNvSpPr/>
          <p:nvPr/>
        </p:nvSpPr>
        <p:spPr>
          <a:xfrm>
            <a:off x="502920" y="4672584"/>
            <a:ext cx="3017520" cy="411480"/>
          </a:xfrm>
          <a:prstGeom prst="rect">
            <a:avLst/>
          </a:prstGeom>
          <a:solidFill>
            <a:srgbClr val="F1E8D3"/>
          </a:solidFill>
          <a:ln/>
        </p:spPr>
      </p:sp>
      <p:sp>
        <p:nvSpPr>
          <p:cNvPr id="91" name="Text 89"/>
          <p:cNvSpPr txBox="1"/>
          <p:nvPr/>
        </p:nvSpPr>
        <p:spPr>
          <a:xfrm>
            <a:off x="548640" y="467258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LTV ÷ acquisition cost</a:t>
            </a:r>
            <a:endParaRPr lang="en-US" sz="1100" dirty="0"/>
          </a:p>
        </p:txBody>
      </p:sp>
      <p:sp>
        <p:nvSpPr>
          <p:cNvPr id="92" name="Shape 90"/>
          <p:cNvSpPr/>
          <p:nvPr/>
        </p:nvSpPr>
        <p:spPr>
          <a:xfrm>
            <a:off x="3520440" y="4672584"/>
            <a:ext cx="1371600" cy="411480"/>
          </a:xfrm>
          <a:prstGeom prst="rect">
            <a:avLst/>
          </a:prstGeom>
          <a:solidFill>
            <a:srgbClr val="F1E8D3"/>
          </a:solidFill>
          <a:ln/>
        </p:spPr>
      </p:sp>
      <p:sp>
        <p:nvSpPr>
          <p:cNvPr id="93" name="Text 91"/>
          <p:cNvSpPr txBox="1"/>
          <p:nvPr/>
        </p:nvSpPr>
        <p:spPr>
          <a:xfrm>
            <a:off x="3566160" y="46725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-0.1x</a:t>
            </a:r>
            <a:endParaRPr lang="en-US" sz="1100" dirty="0"/>
          </a:p>
        </p:txBody>
      </p:sp>
      <p:sp>
        <p:nvSpPr>
          <p:cNvPr id="94" name="Shape 92"/>
          <p:cNvSpPr/>
          <p:nvPr/>
        </p:nvSpPr>
        <p:spPr>
          <a:xfrm>
            <a:off x="4892040" y="4672584"/>
            <a:ext cx="1371600" cy="411480"/>
          </a:xfrm>
          <a:prstGeom prst="rect">
            <a:avLst/>
          </a:prstGeom>
          <a:solidFill>
            <a:srgbClr val="F1E8D3"/>
          </a:solidFill>
          <a:ln/>
        </p:spPr>
      </p:sp>
      <p:sp>
        <p:nvSpPr>
          <p:cNvPr id="95" name="Text 93"/>
          <p:cNvSpPr txBox="1"/>
          <p:nvPr/>
        </p:nvSpPr>
        <p:spPr>
          <a:xfrm>
            <a:off x="4937760" y="46725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3.7x</a:t>
            </a:r>
            <a:endParaRPr lang="en-US" sz="1100" dirty="0"/>
          </a:p>
        </p:txBody>
      </p:sp>
      <p:sp>
        <p:nvSpPr>
          <p:cNvPr id="96" name="Shape 94"/>
          <p:cNvSpPr/>
          <p:nvPr/>
        </p:nvSpPr>
        <p:spPr>
          <a:xfrm>
            <a:off x="6263640" y="4672584"/>
            <a:ext cx="1371600" cy="411480"/>
          </a:xfrm>
          <a:prstGeom prst="rect">
            <a:avLst/>
          </a:prstGeom>
          <a:solidFill>
            <a:srgbClr val="F1E8D3"/>
          </a:solidFill>
          <a:ln/>
        </p:spPr>
      </p:sp>
      <p:sp>
        <p:nvSpPr>
          <p:cNvPr id="97" name="Text 95"/>
          <p:cNvSpPr txBox="1"/>
          <p:nvPr/>
        </p:nvSpPr>
        <p:spPr>
          <a:xfrm>
            <a:off x="6309360" y="4672584"/>
            <a:ext cx="1280160" cy="41148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24x</a:t>
            </a:r>
            <a:endParaRPr lang="en-US" sz="1100" dirty="0"/>
          </a:p>
        </p:txBody>
      </p:sp>
      <p:sp>
        <p:nvSpPr>
          <p:cNvPr id="98" name="Shape 96"/>
          <p:cNvSpPr/>
          <p:nvPr/>
        </p:nvSpPr>
        <p:spPr>
          <a:xfrm>
            <a:off x="502920" y="5084064"/>
            <a:ext cx="7132320" cy="0"/>
          </a:xfrm>
          <a:prstGeom prst="line">
            <a:avLst/>
          </a:prstGeom>
          <a:noFill/>
          <a:ln w="6350">
            <a:solidFill>
              <a:srgbClr val="E3E8E4"/>
            </a:solidFill>
            <a:prstDash val="solid"/>
          </a:ln>
        </p:spPr>
      </p:sp>
      <p:sp>
        <p:nvSpPr>
          <p:cNvPr id="99" name="Shape 97"/>
          <p:cNvSpPr/>
          <p:nvPr/>
        </p:nvSpPr>
        <p:spPr>
          <a:xfrm>
            <a:off x="502920" y="5084064"/>
            <a:ext cx="3017520" cy="411480"/>
          </a:xfrm>
          <a:prstGeom prst="rect">
            <a:avLst/>
          </a:prstGeom>
          <a:solidFill>
            <a:srgbClr val="F1F7F3"/>
          </a:solidFill>
          <a:ln/>
        </p:spPr>
      </p:sp>
      <p:sp>
        <p:nvSpPr>
          <p:cNvPr id="100" name="Text 98"/>
          <p:cNvSpPr txBox="1"/>
          <p:nvPr/>
        </p:nvSpPr>
        <p:spPr>
          <a:xfrm>
            <a:off x="548640" y="5084064"/>
            <a:ext cx="2926080" cy="41148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Payback</a:t>
            </a:r>
            <a:endParaRPr lang="en-US" sz="1100" dirty="0"/>
          </a:p>
        </p:txBody>
      </p:sp>
      <p:sp>
        <p:nvSpPr>
          <p:cNvPr id="101" name="Shape 99"/>
          <p:cNvSpPr/>
          <p:nvPr/>
        </p:nvSpPr>
        <p:spPr>
          <a:xfrm>
            <a:off x="3520440" y="5084064"/>
            <a:ext cx="1371600" cy="411480"/>
          </a:xfrm>
          <a:prstGeom prst="rect">
            <a:avLst/>
          </a:prstGeom>
          <a:solidFill>
            <a:srgbClr val="F1F7F3"/>
          </a:solidFill>
          <a:ln/>
        </p:spPr>
      </p:sp>
      <p:sp>
        <p:nvSpPr>
          <p:cNvPr id="102" name="Text 100"/>
          <p:cNvSpPr txBox="1"/>
          <p:nvPr/>
        </p:nvSpPr>
        <p:spPr>
          <a:xfrm>
            <a:off x="3566160" y="508406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61 months</a:t>
            </a:r>
            <a:endParaRPr lang="en-US" sz="1100" dirty="0"/>
          </a:p>
        </p:txBody>
      </p:sp>
      <p:sp>
        <p:nvSpPr>
          <p:cNvPr id="103" name="Shape 101"/>
          <p:cNvSpPr/>
          <p:nvPr/>
        </p:nvSpPr>
        <p:spPr>
          <a:xfrm>
            <a:off x="4892040" y="5084064"/>
            <a:ext cx="1371600" cy="411480"/>
          </a:xfrm>
          <a:prstGeom prst="rect">
            <a:avLst/>
          </a:prstGeom>
          <a:solidFill>
            <a:srgbClr val="F1F7F3"/>
          </a:solidFill>
          <a:ln/>
        </p:spPr>
      </p:sp>
      <p:sp>
        <p:nvSpPr>
          <p:cNvPr id="104" name="Text 102"/>
          <p:cNvSpPr txBox="1"/>
          <p:nvPr/>
        </p:nvSpPr>
        <p:spPr>
          <a:xfrm>
            <a:off x="4937760" y="508406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 months</a:t>
            </a:r>
            <a:endParaRPr lang="en-US" sz="1100" dirty="0"/>
          </a:p>
        </p:txBody>
      </p:sp>
      <p:sp>
        <p:nvSpPr>
          <p:cNvPr id="105" name="Shape 103"/>
          <p:cNvSpPr/>
          <p:nvPr/>
        </p:nvSpPr>
        <p:spPr>
          <a:xfrm>
            <a:off x="6263640" y="5084064"/>
            <a:ext cx="1371600" cy="411480"/>
          </a:xfrm>
          <a:prstGeom prst="rect">
            <a:avLst/>
          </a:prstGeom>
          <a:solidFill>
            <a:srgbClr val="F1F7F3"/>
          </a:solidFill>
          <a:ln/>
        </p:spPr>
      </p:sp>
      <p:sp>
        <p:nvSpPr>
          <p:cNvPr id="106" name="Text 104"/>
          <p:cNvSpPr txBox="1"/>
          <p:nvPr/>
        </p:nvSpPr>
        <p:spPr>
          <a:xfrm>
            <a:off x="6309360" y="5084064"/>
            <a:ext cx="1280160" cy="4114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 months</a:t>
            </a:r>
            <a:endParaRPr lang="en-US" sz="1100" dirty="0"/>
          </a:p>
        </p:txBody>
      </p:sp>
      <p:sp>
        <p:nvSpPr>
          <p:cNvPr id="107" name="Shape 105"/>
          <p:cNvSpPr/>
          <p:nvPr/>
        </p:nvSpPr>
        <p:spPr>
          <a:xfrm>
            <a:off x="502920" y="5495544"/>
            <a:ext cx="7132320" cy="0"/>
          </a:xfrm>
          <a:prstGeom prst="line">
            <a:avLst/>
          </a:prstGeom>
          <a:noFill/>
          <a:ln w="6350">
            <a:solidFill>
              <a:srgbClr val="E3E8E4"/>
            </a:solidFill>
            <a:prstDash val="solid"/>
          </a:ln>
        </p:spPr>
      </p:sp>
      <p:sp>
        <p:nvSpPr>
          <p:cNvPr id="108" name="Shape 106"/>
          <p:cNvSpPr/>
          <p:nvPr/>
        </p:nvSpPr>
        <p:spPr>
          <a:xfrm>
            <a:off x="521208" y="5760720"/>
            <a:ext cx="1060704" cy="219456"/>
          </a:xfrm>
          <a:prstGeom prst="roundRect">
            <a:avLst>
              <a:gd name="adj" fmla="val 50000"/>
            </a:avLst>
          </a:prstGeom>
          <a:solidFill>
            <a:srgbClr val="FFFFFF"/>
          </a:solidFill>
          <a:ln w="12700">
            <a:solidFill>
              <a:srgbClr val="5B6573"/>
            </a:solidFill>
            <a:prstDash val="solid"/>
          </a:ln>
        </p:spPr>
      </p:sp>
      <p:sp>
        <p:nvSpPr>
          <p:cNvPr id="109" name="Text 107"/>
          <p:cNvSpPr txBox="1"/>
          <p:nvPr/>
        </p:nvSpPr>
        <p:spPr>
          <a:xfrm>
            <a:off x="521208" y="5760720"/>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110" name="Shape 108"/>
          <p:cNvSpPr/>
          <p:nvPr/>
        </p:nvSpPr>
        <p:spPr>
          <a:xfrm>
            <a:off x="7955280" y="1115568"/>
            <a:ext cx="3824935" cy="301752"/>
          </a:xfrm>
          <a:prstGeom prst="rect">
            <a:avLst/>
          </a:prstGeom>
          <a:solidFill>
            <a:srgbClr val="2E6DB4"/>
          </a:solidFill>
          <a:ln/>
        </p:spPr>
      </p:sp>
      <p:sp>
        <p:nvSpPr>
          <p:cNvPr id="111" name="Text 109"/>
          <p:cNvSpPr txBox="1"/>
          <p:nvPr/>
        </p:nvSpPr>
        <p:spPr>
          <a:xfrm>
            <a:off x="8065008" y="1115568"/>
            <a:ext cx="360547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BY SEGMENT (BASE)</a:t>
            </a:r>
            <a:endParaRPr lang="en-US" sz="1200" dirty="0"/>
          </a:p>
        </p:txBody>
      </p:sp>
      <p:sp>
        <p:nvSpPr>
          <p:cNvPr id="112" name="Shape 110"/>
          <p:cNvSpPr/>
          <p:nvPr/>
        </p:nvSpPr>
        <p:spPr>
          <a:xfrm>
            <a:off x="8046720" y="1481328"/>
            <a:ext cx="1371600" cy="292608"/>
          </a:xfrm>
          <a:prstGeom prst="rect">
            <a:avLst/>
          </a:prstGeom>
          <a:solidFill>
            <a:srgbClr val="1F4A82"/>
          </a:solidFill>
          <a:ln/>
        </p:spPr>
      </p:sp>
      <p:sp>
        <p:nvSpPr>
          <p:cNvPr id="113" name="Text 111"/>
          <p:cNvSpPr txBox="1"/>
          <p:nvPr/>
        </p:nvSpPr>
        <p:spPr>
          <a:xfrm>
            <a:off x="8092440" y="1481328"/>
            <a:ext cx="1280160" cy="292608"/>
          </a:xfrm>
          <a:prstGeom prst="rect">
            <a:avLst/>
          </a:prstGeom>
          <a:noFill/>
          <a:ln/>
        </p:spPr>
        <p:txBody>
          <a:bodyPr wrap="square" lIns="0" tIns="0" rIns="0" bIns="0" rtlCol="0" anchor="ctr"/>
          <a:lstStyle/>
          <a:p>
            <a:pPr algn="l" indent="0" marL="0">
              <a:buNone/>
            </a:pPr>
            <a:endParaRPr lang="en-US" sz="1100" dirty="0"/>
          </a:p>
        </p:txBody>
      </p:sp>
      <p:sp>
        <p:nvSpPr>
          <p:cNvPr id="114" name="Shape 112"/>
          <p:cNvSpPr/>
          <p:nvPr/>
        </p:nvSpPr>
        <p:spPr>
          <a:xfrm>
            <a:off x="9418320" y="1481328"/>
            <a:ext cx="731520" cy="292608"/>
          </a:xfrm>
          <a:prstGeom prst="rect">
            <a:avLst/>
          </a:prstGeom>
          <a:solidFill>
            <a:srgbClr val="5B6573"/>
          </a:solidFill>
          <a:ln/>
        </p:spPr>
      </p:sp>
      <p:sp>
        <p:nvSpPr>
          <p:cNvPr id="115" name="Text 113"/>
          <p:cNvSpPr txBox="1"/>
          <p:nvPr/>
        </p:nvSpPr>
        <p:spPr>
          <a:xfrm>
            <a:off x="9464040" y="1481328"/>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Small</a:t>
            </a:r>
            <a:endParaRPr lang="en-US" sz="1100" dirty="0"/>
          </a:p>
        </p:txBody>
      </p:sp>
      <p:sp>
        <p:nvSpPr>
          <p:cNvPr id="116" name="Shape 114"/>
          <p:cNvSpPr/>
          <p:nvPr/>
        </p:nvSpPr>
        <p:spPr>
          <a:xfrm>
            <a:off x="10149840" y="1481328"/>
            <a:ext cx="731520" cy="292608"/>
          </a:xfrm>
          <a:prstGeom prst="rect">
            <a:avLst/>
          </a:prstGeom>
          <a:solidFill>
            <a:srgbClr val="1F4A82"/>
          </a:solidFill>
          <a:ln/>
        </p:spPr>
      </p:sp>
      <p:sp>
        <p:nvSpPr>
          <p:cNvPr id="117" name="Text 115"/>
          <p:cNvSpPr txBox="1"/>
          <p:nvPr/>
        </p:nvSpPr>
        <p:spPr>
          <a:xfrm>
            <a:off x="10195560" y="1481328"/>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Mid</a:t>
            </a:r>
            <a:endParaRPr lang="en-US" sz="1100" dirty="0"/>
          </a:p>
        </p:txBody>
      </p:sp>
      <p:sp>
        <p:nvSpPr>
          <p:cNvPr id="118" name="Shape 116"/>
          <p:cNvSpPr/>
          <p:nvPr/>
        </p:nvSpPr>
        <p:spPr>
          <a:xfrm>
            <a:off x="10881360" y="1481328"/>
            <a:ext cx="731520" cy="292608"/>
          </a:xfrm>
          <a:prstGeom prst="rect">
            <a:avLst/>
          </a:prstGeom>
          <a:solidFill>
            <a:srgbClr val="5B6573"/>
          </a:solidFill>
          <a:ln/>
        </p:spPr>
      </p:sp>
      <p:sp>
        <p:nvSpPr>
          <p:cNvPr id="119" name="Text 117"/>
          <p:cNvSpPr txBox="1"/>
          <p:nvPr/>
        </p:nvSpPr>
        <p:spPr>
          <a:xfrm>
            <a:off x="10927080" y="1481328"/>
            <a:ext cx="6400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Large</a:t>
            </a:r>
            <a:endParaRPr lang="en-US" sz="1100" dirty="0"/>
          </a:p>
        </p:txBody>
      </p:sp>
      <p:sp>
        <p:nvSpPr>
          <p:cNvPr id="120" name="Shape 118"/>
          <p:cNvSpPr/>
          <p:nvPr/>
        </p:nvSpPr>
        <p:spPr>
          <a:xfrm>
            <a:off x="8046720" y="1773936"/>
            <a:ext cx="1371600" cy="457200"/>
          </a:xfrm>
          <a:prstGeom prst="rect">
            <a:avLst/>
          </a:prstGeom>
          <a:solidFill>
            <a:srgbClr val="F1F7F3"/>
          </a:solidFill>
          <a:ln/>
        </p:spPr>
      </p:sp>
      <p:sp>
        <p:nvSpPr>
          <p:cNvPr id="121" name="Text 119"/>
          <p:cNvSpPr txBox="1"/>
          <p:nvPr/>
        </p:nvSpPr>
        <p:spPr>
          <a:xfrm>
            <a:off x="8092440" y="1773936"/>
            <a:ext cx="1280160" cy="45720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Return</a:t>
            </a:r>
            <a:endParaRPr lang="en-US" sz="1100" dirty="0"/>
          </a:p>
        </p:txBody>
      </p:sp>
      <p:sp>
        <p:nvSpPr>
          <p:cNvPr id="122" name="Shape 120"/>
          <p:cNvSpPr/>
          <p:nvPr/>
        </p:nvSpPr>
        <p:spPr>
          <a:xfrm>
            <a:off x="9418320" y="1773936"/>
            <a:ext cx="731520" cy="457200"/>
          </a:xfrm>
          <a:prstGeom prst="rect">
            <a:avLst/>
          </a:prstGeom>
          <a:solidFill>
            <a:srgbClr val="F1F7F3"/>
          </a:solidFill>
          <a:ln/>
        </p:spPr>
      </p:sp>
      <p:sp>
        <p:nvSpPr>
          <p:cNvPr id="123" name="Text 121"/>
          <p:cNvSpPr txBox="1"/>
          <p:nvPr/>
        </p:nvSpPr>
        <p:spPr>
          <a:xfrm>
            <a:off x="9464040" y="17739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2.3x</a:t>
            </a:r>
            <a:endParaRPr lang="en-US" sz="1100" dirty="0"/>
          </a:p>
        </p:txBody>
      </p:sp>
      <p:sp>
        <p:nvSpPr>
          <p:cNvPr id="124" name="Shape 122"/>
          <p:cNvSpPr/>
          <p:nvPr/>
        </p:nvSpPr>
        <p:spPr>
          <a:xfrm>
            <a:off x="10149840" y="1773936"/>
            <a:ext cx="731520" cy="457200"/>
          </a:xfrm>
          <a:prstGeom prst="rect">
            <a:avLst/>
          </a:prstGeom>
          <a:solidFill>
            <a:srgbClr val="F1F7F3"/>
          </a:solidFill>
          <a:ln/>
        </p:spPr>
      </p:sp>
      <p:sp>
        <p:nvSpPr>
          <p:cNvPr id="125" name="Text 123"/>
          <p:cNvSpPr txBox="1"/>
          <p:nvPr/>
        </p:nvSpPr>
        <p:spPr>
          <a:xfrm>
            <a:off x="10195560" y="17739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2.9x</a:t>
            </a:r>
            <a:endParaRPr lang="en-US" sz="1100" dirty="0"/>
          </a:p>
        </p:txBody>
      </p:sp>
      <p:sp>
        <p:nvSpPr>
          <p:cNvPr id="126" name="Shape 124"/>
          <p:cNvSpPr/>
          <p:nvPr/>
        </p:nvSpPr>
        <p:spPr>
          <a:xfrm>
            <a:off x="10881360" y="1773936"/>
            <a:ext cx="731520" cy="457200"/>
          </a:xfrm>
          <a:prstGeom prst="rect">
            <a:avLst/>
          </a:prstGeom>
          <a:solidFill>
            <a:srgbClr val="F1F7F3"/>
          </a:solidFill>
          <a:ln/>
        </p:spPr>
      </p:sp>
      <p:sp>
        <p:nvSpPr>
          <p:cNvPr id="127" name="Text 125"/>
          <p:cNvSpPr txBox="1"/>
          <p:nvPr/>
        </p:nvSpPr>
        <p:spPr>
          <a:xfrm>
            <a:off x="10927080" y="17739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3.6x</a:t>
            </a:r>
            <a:endParaRPr lang="en-US" sz="1100" dirty="0"/>
          </a:p>
        </p:txBody>
      </p:sp>
      <p:sp>
        <p:nvSpPr>
          <p:cNvPr id="128" name="Shape 126"/>
          <p:cNvSpPr/>
          <p:nvPr/>
        </p:nvSpPr>
        <p:spPr>
          <a:xfrm>
            <a:off x="8046720" y="2231136"/>
            <a:ext cx="3566160" cy="0"/>
          </a:xfrm>
          <a:prstGeom prst="line">
            <a:avLst/>
          </a:prstGeom>
          <a:noFill/>
          <a:ln w="6350">
            <a:solidFill>
              <a:srgbClr val="E3E8E4"/>
            </a:solidFill>
            <a:prstDash val="solid"/>
          </a:ln>
        </p:spPr>
      </p:sp>
      <p:sp>
        <p:nvSpPr>
          <p:cNvPr id="129" name="Shape 127"/>
          <p:cNvSpPr/>
          <p:nvPr/>
        </p:nvSpPr>
        <p:spPr>
          <a:xfrm>
            <a:off x="8046720" y="2231136"/>
            <a:ext cx="1371600" cy="457200"/>
          </a:xfrm>
          <a:prstGeom prst="rect">
            <a:avLst/>
          </a:prstGeom>
          <a:solidFill>
            <a:srgbClr val="FFFFFF"/>
          </a:solidFill>
          <a:ln/>
        </p:spPr>
      </p:sp>
      <p:sp>
        <p:nvSpPr>
          <p:cNvPr id="130" name="Text 128"/>
          <p:cNvSpPr txBox="1"/>
          <p:nvPr/>
        </p:nvSpPr>
        <p:spPr>
          <a:xfrm>
            <a:off x="8092440" y="2231136"/>
            <a:ext cx="1280160" cy="45720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LTV÷CAC</a:t>
            </a:r>
            <a:endParaRPr lang="en-US" sz="1100" dirty="0"/>
          </a:p>
        </p:txBody>
      </p:sp>
      <p:sp>
        <p:nvSpPr>
          <p:cNvPr id="131" name="Shape 129"/>
          <p:cNvSpPr/>
          <p:nvPr/>
        </p:nvSpPr>
        <p:spPr>
          <a:xfrm>
            <a:off x="9418320" y="2231136"/>
            <a:ext cx="731520" cy="457200"/>
          </a:xfrm>
          <a:prstGeom prst="rect">
            <a:avLst/>
          </a:prstGeom>
          <a:solidFill>
            <a:srgbClr val="FFFFFF"/>
          </a:solidFill>
          <a:ln/>
        </p:spPr>
      </p:sp>
      <p:sp>
        <p:nvSpPr>
          <p:cNvPr id="132" name="Text 130"/>
          <p:cNvSpPr txBox="1"/>
          <p:nvPr/>
        </p:nvSpPr>
        <p:spPr>
          <a:xfrm>
            <a:off x="9464040" y="22311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1.5x</a:t>
            </a:r>
            <a:endParaRPr lang="en-US" sz="1100" dirty="0"/>
          </a:p>
        </p:txBody>
      </p:sp>
      <p:sp>
        <p:nvSpPr>
          <p:cNvPr id="133" name="Shape 131"/>
          <p:cNvSpPr/>
          <p:nvPr/>
        </p:nvSpPr>
        <p:spPr>
          <a:xfrm>
            <a:off x="10149840" y="2231136"/>
            <a:ext cx="731520" cy="457200"/>
          </a:xfrm>
          <a:prstGeom prst="rect">
            <a:avLst/>
          </a:prstGeom>
          <a:solidFill>
            <a:srgbClr val="FFFFFF"/>
          </a:solidFill>
          <a:ln/>
        </p:spPr>
      </p:sp>
      <p:sp>
        <p:nvSpPr>
          <p:cNvPr id="134" name="Text 132"/>
          <p:cNvSpPr txBox="1"/>
          <p:nvPr/>
        </p:nvSpPr>
        <p:spPr>
          <a:xfrm>
            <a:off x="10195560" y="22311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3.7x</a:t>
            </a:r>
            <a:endParaRPr lang="en-US" sz="1100" dirty="0"/>
          </a:p>
        </p:txBody>
      </p:sp>
      <p:sp>
        <p:nvSpPr>
          <p:cNvPr id="135" name="Shape 133"/>
          <p:cNvSpPr/>
          <p:nvPr/>
        </p:nvSpPr>
        <p:spPr>
          <a:xfrm>
            <a:off x="10881360" y="2231136"/>
            <a:ext cx="731520" cy="457200"/>
          </a:xfrm>
          <a:prstGeom prst="rect">
            <a:avLst/>
          </a:prstGeom>
          <a:solidFill>
            <a:srgbClr val="FFFFFF"/>
          </a:solidFill>
          <a:ln/>
        </p:spPr>
      </p:sp>
      <p:sp>
        <p:nvSpPr>
          <p:cNvPr id="136" name="Text 134"/>
          <p:cNvSpPr txBox="1"/>
          <p:nvPr/>
        </p:nvSpPr>
        <p:spPr>
          <a:xfrm>
            <a:off x="10927080" y="22311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9.1x</a:t>
            </a:r>
            <a:endParaRPr lang="en-US" sz="1100" dirty="0"/>
          </a:p>
        </p:txBody>
      </p:sp>
      <p:sp>
        <p:nvSpPr>
          <p:cNvPr id="137" name="Shape 135"/>
          <p:cNvSpPr/>
          <p:nvPr/>
        </p:nvSpPr>
        <p:spPr>
          <a:xfrm>
            <a:off x="8046720" y="2688336"/>
            <a:ext cx="3566160" cy="0"/>
          </a:xfrm>
          <a:prstGeom prst="line">
            <a:avLst/>
          </a:prstGeom>
          <a:noFill/>
          <a:ln w="6350">
            <a:solidFill>
              <a:srgbClr val="E3E8E4"/>
            </a:solidFill>
            <a:prstDash val="solid"/>
          </a:ln>
        </p:spPr>
      </p:sp>
      <p:sp>
        <p:nvSpPr>
          <p:cNvPr id="138" name="Shape 136"/>
          <p:cNvSpPr/>
          <p:nvPr/>
        </p:nvSpPr>
        <p:spPr>
          <a:xfrm>
            <a:off x="8046720" y="2688336"/>
            <a:ext cx="1371600" cy="457200"/>
          </a:xfrm>
          <a:prstGeom prst="rect">
            <a:avLst/>
          </a:prstGeom>
          <a:solidFill>
            <a:srgbClr val="F1F7F3"/>
          </a:solidFill>
          <a:ln/>
        </p:spPr>
      </p:sp>
      <p:sp>
        <p:nvSpPr>
          <p:cNvPr id="139" name="Text 137"/>
          <p:cNvSpPr txBox="1"/>
          <p:nvPr/>
        </p:nvSpPr>
        <p:spPr>
          <a:xfrm>
            <a:off x="8092440" y="2688336"/>
            <a:ext cx="1280160" cy="457200"/>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Payback</a:t>
            </a:r>
            <a:endParaRPr lang="en-US" sz="1100" dirty="0"/>
          </a:p>
        </p:txBody>
      </p:sp>
      <p:sp>
        <p:nvSpPr>
          <p:cNvPr id="140" name="Shape 138"/>
          <p:cNvSpPr/>
          <p:nvPr/>
        </p:nvSpPr>
        <p:spPr>
          <a:xfrm>
            <a:off x="9418320" y="2688336"/>
            <a:ext cx="731520" cy="457200"/>
          </a:xfrm>
          <a:prstGeom prst="rect">
            <a:avLst/>
          </a:prstGeom>
          <a:solidFill>
            <a:srgbClr val="F1F7F3"/>
          </a:solidFill>
          <a:ln/>
        </p:spPr>
      </p:sp>
      <p:sp>
        <p:nvSpPr>
          <p:cNvPr id="141" name="Text 139"/>
          <p:cNvSpPr txBox="1"/>
          <p:nvPr/>
        </p:nvSpPr>
        <p:spPr>
          <a:xfrm>
            <a:off x="9464040" y="26883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18 mo</a:t>
            </a:r>
            <a:endParaRPr lang="en-US" sz="1100" dirty="0"/>
          </a:p>
        </p:txBody>
      </p:sp>
      <p:sp>
        <p:nvSpPr>
          <p:cNvPr id="142" name="Shape 140"/>
          <p:cNvSpPr/>
          <p:nvPr/>
        </p:nvSpPr>
        <p:spPr>
          <a:xfrm>
            <a:off x="10149840" y="2688336"/>
            <a:ext cx="731520" cy="457200"/>
          </a:xfrm>
          <a:prstGeom prst="rect">
            <a:avLst/>
          </a:prstGeom>
          <a:solidFill>
            <a:srgbClr val="F1F7F3"/>
          </a:solidFill>
          <a:ln/>
        </p:spPr>
      </p:sp>
      <p:sp>
        <p:nvSpPr>
          <p:cNvPr id="143" name="Text 141"/>
          <p:cNvSpPr txBox="1"/>
          <p:nvPr/>
        </p:nvSpPr>
        <p:spPr>
          <a:xfrm>
            <a:off x="10195560" y="26883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6 mo</a:t>
            </a:r>
            <a:endParaRPr lang="en-US" sz="1100" dirty="0"/>
          </a:p>
        </p:txBody>
      </p:sp>
      <p:sp>
        <p:nvSpPr>
          <p:cNvPr id="144" name="Shape 142"/>
          <p:cNvSpPr/>
          <p:nvPr/>
        </p:nvSpPr>
        <p:spPr>
          <a:xfrm>
            <a:off x="10881360" y="2688336"/>
            <a:ext cx="731520" cy="457200"/>
          </a:xfrm>
          <a:prstGeom prst="rect">
            <a:avLst/>
          </a:prstGeom>
          <a:solidFill>
            <a:srgbClr val="F1F7F3"/>
          </a:solidFill>
          <a:ln/>
        </p:spPr>
      </p:sp>
      <p:sp>
        <p:nvSpPr>
          <p:cNvPr id="145" name="Text 143"/>
          <p:cNvSpPr txBox="1"/>
          <p:nvPr/>
        </p:nvSpPr>
        <p:spPr>
          <a:xfrm>
            <a:off x="10927080" y="2688336"/>
            <a:ext cx="640080" cy="45720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 mo</a:t>
            </a:r>
            <a:endParaRPr lang="en-US" sz="1100" dirty="0"/>
          </a:p>
        </p:txBody>
      </p:sp>
      <p:sp>
        <p:nvSpPr>
          <p:cNvPr id="146" name="Shape 144"/>
          <p:cNvSpPr/>
          <p:nvPr/>
        </p:nvSpPr>
        <p:spPr>
          <a:xfrm>
            <a:off x="8046720" y="3145536"/>
            <a:ext cx="3566160" cy="0"/>
          </a:xfrm>
          <a:prstGeom prst="line">
            <a:avLst/>
          </a:prstGeom>
          <a:noFill/>
          <a:ln w="6350">
            <a:solidFill>
              <a:srgbClr val="E3E8E4"/>
            </a:solidFill>
            <a:prstDash val="solid"/>
          </a:ln>
        </p:spPr>
      </p:sp>
      <p:sp>
        <p:nvSpPr>
          <p:cNvPr id="147" name="Text 145"/>
          <p:cNvSpPr txBox="1"/>
          <p:nvPr/>
        </p:nvSpPr>
        <p:spPr>
          <a:xfrm>
            <a:off x="8092440" y="3383280"/>
            <a:ext cx="3550615" cy="914400"/>
          </a:xfrm>
          <a:prstGeom prst="rect">
            <a:avLst/>
          </a:prstGeom>
          <a:noFill/>
          <a:ln/>
        </p:spPr>
        <p:txBody>
          <a:bodyPr wrap="square" lIns="0" tIns="0" rIns="0" bIns="0" rtlCol="0" anchor="t"/>
          <a:lstStyle/>
          <a:p>
            <a:pPr algn="l" indent="0" marL="0">
              <a:buNone/>
            </a:pPr>
            <a:r>
              <a:rPr lang="en-US" sz="1150" dirty="0">
                <a:solidFill>
                  <a:srgbClr val="5B6573"/>
                </a:solidFill>
                <a:latin typeface="Calibri" pitchFamily="34" charset="0"/>
                <a:ea typeface="Calibri" pitchFamily="34" charset="-122"/>
                <a:cs typeface="Calibri" pitchFamily="34" charset="-120"/>
              </a:rPr>
              <a:t>Bear changes every input to its worst value at once. It is a stress test, not a forecast.</a:t>
            </a:r>
            <a:endParaRPr lang="en-US" sz="1150" dirty="0"/>
          </a:p>
        </p:txBody>
      </p:sp>
      <p:sp>
        <p:nvSpPr>
          <p:cNvPr id="148" name="Text 14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 workbook (Scenarios sheet). Model output from sourced and assumed inputs, not measured.</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4: COST PER STUDENT</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About ₹3.6 per student per month, ₹0 extra run locally</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COST PER STUDENT</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754880" cy="301752"/>
          </a:xfrm>
          <a:prstGeom prst="rect">
            <a:avLst/>
          </a:prstGeom>
          <a:solidFill>
            <a:srgbClr val="1F4A82"/>
          </a:solidFill>
          <a:ln/>
        </p:spPr>
      </p:sp>
      <p:sp>
        <p:nvSpPr>
          <p:cNvPr id="17" name="Text 15"/>
          <p:cNvSpPr txBox="1"/>
          <p:nvPr/>
        </p:nvSpPr>
        <p:spPr>
          <a:xfrm>
            <a:off x="521208" y="1115568"/>
            <a:ext cx="453542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COST INPUTS (BEAR / BASE / BULL)</a:t>
            </a:r>
            <a:endParaRPr lang="en-US" sz="1200" dirty="0"/>
          </a:p>
        </p:txBody>
      </p:sp>
      <p:sp>
        <p:nvSpPr>
          <p:cNvPr id="18" name="Shape 16"/>
          <p:cNvSpPr/>
          <p:nvPr/>
        </p:nvSpPr>
        <p:spPr>
          <a:xfrm>
            <a:off x="5221224" y="1115568"/>
            <a:ext cx="0" cy="5212080"/>
          </a:xfrm>
          <a:prstGeom prst="line">
            <a:avLst/>
          </a:prstGeom>
          <a:noFill/>
          <a:ln w="12700">
            <a:solidFill>
              <a:srgbClr val="8FA9CC"/>
            </a:solidFill>
            <a:prstDash val="dash"/>
          </a:ln>
        </p:spPr>
      </p:sp>
      <p:sp>
        <p:nvSpPr>
          <p:cNvPr id="19" name="Shape 17"/>
          <p:cNvSpPr/>
          <p:nvPr/>
        </p:nvSpPr>
        <p:spPr>
          <a:xfrm>
            <a:off x="484632" y="1481328"/>
            <a:ext cx="2194560" cy="292608"/>
          </a:xfrm>
          <a:prstGeom prst="rect">
            <a:avLst/>
          </a:prstGeom>
          <a:solidFill>
            <a:srgbClr val="1F4A82"/>
          </a:solidFill>
          <a:ln/>
        </p:spPr>
      </p:sp>
      <p:sp>
        <p:nvSpPr>
          <p:cNvPr id="20" name="Text 18"/>
          <p:cNvSpPr txBox="1"/>
          <p:nvPr/>
        </p:nvSpPr>
        <p:spPr>
          <a:xfrm>
            <a:off x="530352" y="1481328"/>
            <a:ext cx="2103120" cy="292608"/>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p:txBody>
      </p:sp>
      <p:sp>
        <p:nvSpPr>
          <p:cNvPr id="21" name="Shape 19"/>
          <p:cNvSpPr/>
          <p:nvPr/>
        </p:nvSpPr>
        <p:spPr>
          <a:xfrm>
            <a:off x="2679192" y="1481328"/>
            <a:ext cx="822960" cy="292608"/>
          </a:xfrm>
          <a:prstGeom prst="rect">
            <a:avLst/>
          </a:prstGeom>
          <a:solidFill>
            <a:srgbClr val="1F4A82"/>
          </a:solidFill>
          <a:ln/>
        </p:spPr>
      </p:sp>
      <p:sp>
        <p:nvSpPr>
          <p:cNvPr id="22" name="Text 20"/>
          <p:cNvSpPr txBox="1"/>
          <p:nvPr/>
        </p:nvSpPr>
        <p:spPr>
          <a:xfrm>
            <a:off x="2724912" y="148132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Bear</a:t>
            </a:r>
            <a:endParaRPr lang="en-US" sz="1000" dirty="0"/>
          </a:p>
        </p:txBody>
      </p:sp>
      <p:sp>
        <p:nvSpPr>
          <p:cNvPr id="23" name="Shape 21"/>
          <p:cNvSpPr/>
          <p:nvPr/>
        </p:nvSpPr>
        <p:spPr>
          <a:xfrm>
            <a:off x="3502152" y="1481328"/>
            <a:ext cx="822960" cy="292608"/>
          </a:xfrm>
          <a:prstGeom prst="rect">
            <a:avLst/>
          </a:prstGeom>
          <a:solidFill>
            <a:srgbClr val="1F4A82"/>
          </a:solidFill>
          <a:ln/>
        </p:spPr>
      </p:sp>
      <p:sp>
        <p:nvSpPr>
          <p:cNvPr id="24" name="Text 22"/>
          <p:cNvSpPr txBox="1"/>
          <p:nvPr/>
        </p:nvSpPr>
        <p:spPr>
          <a:xfrm>
            <a:off x="3547872" y="1481328"/>
            <a:ext cx="731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Base</a:t>
            </a:r>
            <a:endParaRPr lang="en-US" sz="1000" dirty="0"/>
          </a:p>
        </p:txBody>
      </p:sp>
      <p:sp>
        <p:nvSpPr>
          <p:cNvPr id="25" name="Shape 23"/>
          <p:cNvSpPr/>
          <p:nvPr/>
        </p:nvSpPr>
        <p:spPr>
          <a:xfrm>
            <a:off x="4325112" y="1481328"/>
            <a:ext cx="731520" cy="292608"/>
          </a:xfrm>
          <a:prstGeom prst="rect">
            <a:avLst/>
          </a:prstGeom>
          <a:solidFill>
            <a:srgbClr val="1F4A82"/>
          </a:solidFill>
          <a:ln/>
        </p:spPr>
      </p:sp>
      <p:sp>
        <p:nvSpPr>
          <p:cNvPr id="26" name="Text 24"/>
          <p:cNvSpPr txBox="1"/>
          <p:nvPr/>
        </p:nvSpPr>
        <p:spPr>
          <a:xfrm>
            <a:off x="4370832" y="1481328"/>
            <a:ext cx="6400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Bull</a:t>
            </a:r>
            <a:endParaRPr lang="en-US" sz="1000" dirty="0"/>
          </a:p>
        </p:txBody>
      </p:sp>
      <p:sp>
        <p:nvSpPr>
          <p:cNvPr id="27" name="Shape 25"/>
          <p:cNvSpPr/>
          <p:nvPr/>
        </p:nvSpPr>
        <p:spPr>
          <a:xfrm>
            <a:off x="484632" y="1773936"/>
            <a:ext cx="2194560" cy="411480"/>
          </a:xfrm>
          <a:prstGeom prst="rect">
            <a:avLst/>
          </a:prstGeom>
          <a:solidFill>
            <a:srgbClr val="F1F7F3"/>
          </a:solidFill>
          <a:ln/>
        </p:spPr>
      </p:sp>
      <p:sp>
        <p:nvSpPr>
          <p:cNvPr id="28" name="Text 26"/>
          <p:cNvSpPr txBox="1"/>
          <p:nvPr/>
        </p:nvSpPr>
        <p:spPr>
          <a:xfrm>
            <a:off x="530352" y="177393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Hosted model, ₹ per 1M input tokens</a:t>
            </a:r>
            <a:endParaRPr lang="en-US" sz="1000" dirty="0"/>
          </a:p>
        </p:txBody>
      </p:sp>
      <p:sp>
        <p:nvSpPr>
          <p:cNvPr id="29" name="Shape 27"/>
          <p:cNvSpPr/>
          <p:nvPr/>
        </p:nvSpPr>
        <p:spPr>
          <a:xfrm>
            <a:off x="2679192" y="1773936"/>
            <a:ext cx="822960" cy="411480"/>
          </a:xfrm>
          <a:prstGeom prst="rect">
            <a:avLst/>
          </a:prstGeom>
          <a:solidFill>
            <a:srgbClr val="F1F7F3"/>
          </a:solidFill>
          <a:ln/>
        </p:spPr>
      </p:sp>
      <p:sp>
        <p:nvSpPr>
          <p:cNvPr id="30" name="Text 28"/>
          <p:cNvSpPr txBox="1"/>
          <p:nvPr/>
        </p:nvSpPr>
        <p:spPr>
          <a:xfrm>
            <a:off x="2724912" y="17739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142.58</a:t>
            </a:r>
            <a:endParaRPr lang="en-US" sz="1000" dirty="0"/>
          </a:p>
        </p:txBody>
      </p:sp>
      <p:sp>
        <p:nvSpPr>
          <p:cNvPr id="31" name="Shape 29"/>
          <p:cNvSpPr/>
          <p:nvPr/>
        </p:nvSpPr>
        <p:spPr>
          <a:xfrm>
            <a:off x="3502152" y="1773936"/>
            <a:ext cx="822960" cy="411480"/>
          </a:xfrm>
          <a:prstGeom prst="rect">
            <a:avLst/>
          </a:prstGeom>
          <a:solidFill>
            <a:srgbClr val="F1F7F3"/>
          </a:solidFill>
          <a:ln/>
        </p:spPr>
      </p:sp>
      <p:sp>
        <p:nvSpPr>
          <p:cNvPr id="32" name="Text 30"/>
          <p:cNvSpPr txBox="1"/>
          <p:nvPr/>
        </p:nvSpPr>
        <p:spPr>
          <a:xfrm>
            <a:off x="3547872" y="17739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23.76</a:t>
            </a:r>
            <a:endParaRPr lang="en-US" sz="1000" dirty="0"/>
          </a:p>
        </p:txBody>
      </p:sp>
      <p:sp>
        <p:nvSpPr>
          <p:cNvPr id="33" name="Shape 31"/>
          <p:cNvSpPr/>
          <p:nvPr/>
        </p:nvSpPr>
        <p:spPr>
          <a:xfrm>
            <a:off x="4325112" y="1773936"/>
            <a:ext cx="731520" cy="411480"/>
          </a:xfrm>
          <a:prstGeom prst="rect">
            <a:avLst/>
          </a:prstGeom>
          <a:solidFill>
            <a:srgbClr val="F1F7F3"/>
          </a:solidFill>
          <a:ln/>
        </p:spPr>
      </p:sp>
      <p:sp>
        <p:nvSpPr>
          <p:cNvPr id="34" name="Text 32"/>
          <p:cNvSpPr txBox="1"/>
          <p:nvPr/>
        </p:nvSpPr>
        <p:spPr>
          <a:xfrm>
            <a:off x="4370832" y="177393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9.51</a:t>
            </a:r>
            <a:endParaRPr lang="en-US" sz="1000" dirty="0"/>
          </a:p>
        </p:txBody>
      </p:sp>
      <p:sp>
        <p:nvSpPr>
          <p:cNvPr id="35" name="Shape 33"/>
          <p:cNvSpPr/>
          <p:nvPr/>
        </p:nvSpPr>
        <p:spPr>
          <a:xfrm>
            <a:off x="484632" y="2185416"/>
            <a:ext cx="4572000" cy="0"/>
          </a:xfrm>
          <a:prstGeom prst="line">
            <a:avLst/>
          </a:prstGeom>
          <a:noFill/>
          <a:ln w="6350">
            <a:solidFill>
              <a:srgbClr val="E3E8E4"/>
            </a:solidFill>
            <a:prstDash val="solid"/>
          </a:ln>
        </p:spPr>
      </p:sp>
      <p:sp>
        <p:nvSpPr>
          <p:cNvPr id="36" name="Shape 34"/>
          <p:cNvSpPr/>
          <p:nvPr/>
        </p:nvSpPr>
        <p:spPr>
          <a:xfrm>
            <a:off x="484632" y="2185416"/>
            <a:ext cx="2194560" cy="411480"/>
          </a:xfrm>
          <a:prstGeom prst="rect">
            <a:avLst/>
          </a:prstGeom>
          <a:solidFill>
            <a:srgbClr val="FFFFFF"/>
          </a:solidFill>
          <a:ln/>
        </p:spPr>
      </p:sp>
      <p:sp>
        <p:nvSpPr>
          <p:cNvPr id="37" name="Text 35"/>
          <p:cNvSpPr txBox="1"/>
          <p:nvPr/>
        </p:nvSpPr>
        <p:spPr>
          <a:xfrm>
            <a:off x="530352" y="218541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Hosted model, ₹ per 1M output tokens</a:t>
            </a:r>
            <a:endParaRPr lang="en-US" sz="1000" dirty="0"/>
          </a:p>
        </p:txBody>
      </p:sp>
      <p:sp>
        <p:nvSpPr>
          <p:cNvPr id="38" name="Shape 36"/>
          <p:cNvSpPr/>
          <p:nvPr/>
        </p:nvSpPr>
        <p:spPr>
          <a:xfrm>
            <a:off x="2679192" y="2185416"/>
            <a:ext cx="822960" cy="411480"/>
          </a:xfrm>
          <a:prstGeom prst="rect">
            <a:avLst/>
          </a:prstGeom>
          <a:solidFill>
            <a:srgbClr val="FFFFFF"/>
          </a:solidFill>
          <a:ln/>
        </p:spPr>
      </p:sp>
      <p:sp>
        <p:nvSpPr>
          <p:cNvPr id="39" name="Text 37"/>
          <p:cNvSpPr txBox="1"/>
          <p:nvPr/>
        </p:nvSpPr>
        <p:spPr>
          <a:xfrm>
            <a:off x="2724912" y="21854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712.88</a:t>
            </a:r>
            <a:endParaRPr lang="en-US" sz="1000" dirty="0"/>
          </a:p>
        </p:txBody>
      </p:sp>
      <p:sp>
        <p:nvSpPr>
          <p:cNvPr id="40" name="Shape 38"/>
          <p:cNvSpPr/>
          <p:nvPr/>
        </p:nvSpPr>
        <p:spPr>
          <a:xfrm>
            <a:off x="3502152" y="2185416"/>
            <a:ext cx="822960" cy="411480"/>
          </a:xfrm>
          <a:prstGeom prst="rect">
            <a:avLst/>
          </a:prstGeom>
          <a:solidFill>
            <a:srgbClr val="FFFFFF"/>
          </a:solidFill>
          <a:ln/>
        </p:spPr>
      </p:sp>
      <p:sp>
        <p:nvSpPr>
          <p:cNvPr id="41" name="Text 39"/>
          <p:cNvSpPr txBox="1"/>
          <p:nvPr/>
        </p:nvSpPr>
        <p:spPr>
          <a:xfrm>
            <a:off x="3547872" y="21854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142.58</a:t>
            </a:r>
            <a:endParaRPr lang="en-US" sz="1000" dirty="0"/>
          </a:p>
        </p:txBody>
      </p:sp>
      <p:sp>
        <p:nvSpPr>
          <p:cNvPr id="42" name="Shape 40"/>
          <p:cNvSpPr/>
          <p:nvPr/>
        </p:nvSpPr>
        <p:spPr>
          <a:xfrm>
            <a:off x="4325112" y="2185416"/>
            <a:ext cx="731520" cy="411480"/>
          </a:xfrm>
          <a:prstGeom prst="rect">
            <a:avLst/>
          </a:prstGeom>
          <a:solidFill>
            <a:srgbClr val="FFFFFF"/>
          </a:solidFill>
          <a:ln/>
        </p:spPr>
      </p:sp>
      <p:sp>
        <p:nvSpPr>
          <p:cNvPr id="43" name="Text 41"/>
          <p:cNvSpPr txBox="1"/>
          <p:nvPr/>
        </p:nvSpPr>
        <p:spPr>
          <a:xfrm>
            <a:off x="4370832" y="218541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47.53</a:t>
            </a:r>
            <a:endParaRPr lang="en-US" sz="1000" dirty="0"/>
          </a:p>
        </p:txBody>
      </p:sp>
      <p:sp>
        <p:nvSpPr>
          <p:cNvPr id="44" name="Shape 42"/>
          <p:cNvSpPr/>
          <p:nvPr/>
        </p:nvSpPr>
        <p:spPr>
          <a:xfrm>
            <a:off x="484632" y="2596896"/>
            <a:ext cx="4572000" cy="0"/>
          </a:xfrm>
          <a:prstGeom prst="line">
            <a:avLst/>
          </a:prstGeom>
          <a:noFill/>
          <a:ln w="6350">
            <a:solidFill>
              <a:srgbClr val="E3E8E4"/>
            </a:solidFill>
            <a:prstDash val="solid"/>
          </a:ln>
        </p:spPr>
      </p:sp>
      <p:sp>
        <p:nvSpPr>
          <p:cNvPr id="45" name="Shape 43"/>
          <p:cNvSpPr/>
          <p:nvPr/>
        </p:nvSpPr>
        <p:spPr>
          <a:xfrm>
            <a:off x="484632" y="2596896"/>
            <a:ext cx="2194560" cy="411480"/>
          </a:xfrm>
          <a:prstGeom prst="rect">
            <a:avLst/>
          </a:prstGeom>
          <a:solidFill>
            <a:srgbClr val="F1F7F3"/>
          </a:solidFill>
          <a:ln/>
        </p:spPr>
      </p:sp>
      <p:sp>
        <p:nvSpPr>
          <p:cNvPr id="46" name="Text 44"/>
          <p:cNvSpPr txBox="1"/>
          <p:nvPr/>
        </p:nvSpPr>
        <p:spPr>
          <a:xfrm>
            <a:off x="530352" y="259689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WhatsApp utility message, ₹</a:t>
            </a:r>
            <a:endParaRPr lang="en-US" sz="1000" dirty="0"/>
          </a:p>
        </p:txBody>
      </p:sp>
      <p:sp>
        <p:nvSpPr>
          <p:cNvPr id="47" name="Shape 45"/>
          <p:cNvSpPr/>
          <p:nvPr/>
        </p:nvSpPr>
        <p:spPr>
          <a:xfrm>
            <a:off x="2679192" y="2596896"/>
            <a:ext cx="822960" cy="411480"/>
          </a:xfrm>
          <a:prstGeom prst="rect">
            <a:avLst/>
          </a:prstGeom>
          <a:solidFill>
            <a:srgbClr val="F1F7F3"/>
          </a:solidFill>
          <a:ln/>
        </p:spPr>
      </p:sp>
      <p:sp>
        <p:nvSpPr>
          <p:cNvPr id="48" name="Text 46"/>
          <p:cNvSpPr txBox="1"/>
          <p:nvPr/>
        </p:nvSpPr>
        <p:spPr>
          <a:xfrm>
            <a:off x="2724912" y="25968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0.145</a:t>
            </a:r>
            <a:endParaRPr lang="en-US" sz="1000" dirty="0"/>
          </a:p>
        </p:txBody>
      </p:sp>
      <p:sp>
        <p:nvSpPr>
          <p:cNvPr id="49" name="Shape 47"/>
          <p:cNvSpPr/>
          <p:nvPr/>
        </p:nvSpPr>
        <p:spPr>
          <a:xfrm>
            <a:off x="3502152" y="2596896"/>
            <a:ext cx="822960" cy="411480"/>
          </a:xfrm>
          <a:prstGeom prst="rect">
            <a:avLst/>
          </a:prstGeom>
          <a:solidFill>
            <a:srgbClr val="F1F7F3"/>
          </a:solidFill>
          <a:ln/>
        </p:spPr>
      </p:sp>
      <p:sp>
        <p:nvSpPr>
          <p:cNvPr id="50" name="Text 48"/>
          <p:cNvSpPr txBox="1"/>
          <p:nvPr/>
        </p:nvSpPr>
        <p:spPr>
          <a:xfrm>
            <a:off x="3547872" y="25968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0.132</a:t>
            </a:r>
            <a:endParaRPr lang="en-US" sz="1000" dirty="0"/>
          </a:p>
        </p:txBody>
      </p:sp>
      <p:sp>
        <p:nvSpPr>
          <p:cNvPr id="51" name="Shape 49"/>
          <p:cNvSpPr/>
          <p:nvPr/>
        </p:nvSpPr>
        <p:spPr>
          <a:xfrm>
            <a:off x="4325112" y="2596896"/>
            <a:ext cx="731520" cy="411480"/>
          </a:xfrm>
          <a:prstGeom prst="rect">
            <a:avLst/>
          </a:prstGeom>
          <a:solidFill>
            <a:srgbClr val="F1F7F3"/>
          </a:solidFill>
          <a:ln/>
        </p:spPr>
      </p:sp>
      <p:sp>
        <p:nvSpPr>
          <p:cNvPr id="52" name="Text 50"/>
          <p:cNvSpPr txBox="1"/>
          <p:nvPr/>
        </p:nvSpPr>
        <p:spPr>
          <a:xfrm>
            <a:off x="4370832" y="259689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0.115</a:t>
            </a:r>
            <a:endParaRPr lang="en-US" sz="1000" dirty="0"/>
          </a:p>
        </p:txBody>
      </p:sp>
      <p:sp>
        <p:nvSpPr>
          <p:cNvPr id="53" name="Shape 51"/>
          <p:cNvSpPr/>
          <p:nvPr/>
        </p:nvSpPr>
        <p:spPr>
          <a:xfrm>
            <a:off x="484632" y="3008376"/>
            <a:ext cx="4572000" cy="0"/>
          </a:xfrm>
          <a:prstGeom prst="line">
            <a:avLst/>
          </a:prstGeom>
          <a:noFill/>
          <a:ln w="6350">
            <a:solidFill>
              <a:srgbClr val="E3E8E4"/>
            </a:solidFill>
            <a:prstDash val="solid"/>
          </a:ln>
        </p:spPr>
      </p:sp>
      <p:sp>
        <p:nvSpPr>
          <p:cNvPr id="54" name="Shape 52"/>
          <p:cNvSpPr/>
          <p:nvPr/>
        </p:nvSpPr>
        <p:spPr>
          <a:xfrm>
            <a:off x="484632" y="3008376"/>
            <a:ext cx="2194560" cy="411480"/>
          </a:xfrm>
          <a:prstGeom prst="rect">
            <a:avLst/>
          </a:prstGeom>
          <a:solidFill>
            <a:srgbClr val="FFFFFF"/>
          </a:solidFill>
          <a:ln/>
        </p:spPr>
      </p:sp>
      <p:sp>
        <p:nvSpPr>
          <p:cNvPr id="55" name="Text 53"/>
          <p:cNvSpPr txBox="1"/>
          <p:nvPr/>
        </p:nvSpPr>
        <p:spPr>
          <a:xfrm>
            <a:off x="530352" y="300837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AI reports per student per month</a:t>
            </a:r>
            <a:endParaRPr lang="en-US" sz="1000" dirty="0"/>
          </a:p>
        </p:txBody>
      </p:sp>
      <p:sp>
        <p:nvSpPr>
          <p:cNvPr id="56" name="Shape 54"/>
          <p:cNvSpPr/>
          <p:nvPr/>
        </p:nvSpPr>
        <p:spPr>
          <a:xfrm>
            <a:off x="2679192" y="3008376"/>
            <a:ext cx="822960" cy="411480"/>
          </a:xfrm>
          <a:prstGeom prst="rect">
            <a:avLst/>
          </a:prstGeom>
          <a:solidFill>
            <a:srgbClr val="FFFFFF"/>
          </a:solidFill>
          <a:ln/>
        </p:spPr>
      </p:sp>
      <p:sp>
        <p:nvSpPr>
          <p:cNvPr id="57" name="Text 55"/>
          <p:cNvSpPr txBox="1"/>
          <p:nvPr/>
        </p:nvSpPr>
        <p:spPr>
          <a:xfrm>
            <a:off x="2724912" y="30083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a:t>
            </a:r>
            <a:endParaRPr lang="en-US" sz="1000" dirty="0"/>
          </a:p>
        </p:txBody>
      </p:sp>
      <p:sp>
        <p:nvSpPr>
          <p:cNvPr id="58" name="Shape 56"/>
          <p:cNvSpPr/>
          <p:nvPr/>
        </p:nvSpPr>
        <p:spPr>
          <a:xfrm>
            <a:off x="3502152" y="3008376"/>
            <a:ext cx="822960" cy="411480"/>
          </a:xfrm>
          <a:prstGeom prst="rect">
            <a:avLst/>
          </a:prstGeom>
          <a:solidFill>
            <a:srgbClr val="FFFFFF"/>
          </a:solidFill>
          <a:ln/>
        </p:spPr>
      </p:sp>
      <p:sp>
        <p:nvSpPr>
          <p:cNvPr id="59" name="Text 57"/>
          <p:cNvSpPr txBox="1"/>
          <p:nvPr/>
        </p:nvSpPr>
        <p:spPr>
          <a:xfrm>
            <a:off x="3547872" y="30083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60" name="Shape 58"/>
          <p:cNvSpPr/>
          <p:nvPr/>
        </p:nvSpPr>
        <p:spPr>
          <a:xfrm>
            <a:off x="4325112" y="3008376"/>
            <a:ext cx="731520" cy="411480"/>
          </a:xfrm>
          <a:prstGeom prst="rect">
            <a:avLst/>
          </a:prstGeom>
          <a:solidFill>
            <a:srgbClr val="FFFFFF"/>
          </a:solidFill>
          <a:ln/>
        </p:spPr>
      </p:sp>
      <p:sp>
        <p:nvSpPr>
          <p:cNvPr id="61" name="Text 59"/>
          <p:cNvSpPr txBox="1"/>
          <p:nvPr/>
        </p:nvSpPr>
        <p:spPr>
          <a:xfrm>
            <a:off x="4370832" y="300837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62" name="Shape 60"/>
          <p:cNvSpPr/>
          <p:nvPr/>
        </p:nvSpPr>
        <p:spPr>
          <a:xfrm>
            <a:off x="484632" y="3419856"/>
            <a:ext cx="4572000" cy="0"/>
          </a:xfrm>
          <a:prstGeom prst="line">
            <a:avLst/>
          </a:prstGeom>
          <a:noFill/>
          <a:ln w="6350">
            <a:solidFill>
              <a:srgbClr val="E3E8E4"/>
            </a:solidFill>
            <a:prstDash val="solid"/>
          </a:ln>
        </p:spPr>
      </p:sp>
      <p:sp>
        <p:nvSpPr>
          <p:cNvPr id="63" name="Shape 61"/>
          <p:cNvSpPr/>
          <p:nvPr/>
        </p:nvSpPr>
        <p:spPr>
          <a:xfrm>
            <a:off x="484632" y="3419856"/>
            <a:ext cx="2194560" cy="411480"/>
          </a:xfrm>
          <a:prstGeom prst="rect">
            <a:avLst/>
          </a:prstGeom>
          <a:solidFill>
            <a:srgbClr val="F1F7F3"/>
          </a:solidFill>
          <a:ln/>
        </p:spPr>
      </p:sp>
      <p:sp>
        <p:nvSpPr>
          <p:cNvPr id="64" name="Text 62"/>
          <p:cNvSpPr txBox="1"/>
          <p:nvPr/>
        </p:nvSpPr>
        <p:spPr>
          <a:xfrm>
            <a:off x="530352" y="341985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WhatsApp messages per student per month</a:t>
            </a:r>
            <a:endParaRPr lang="en-US" sz="1000" dirty="0"/>
          </a:p>
        </p:txBody>
      </p:sp>
      <p:sp>
        <p:nvSpPr>
          <p:cNvPr id="65" name="Shape 63"/>
          <p:cNvSpPr/>
          <p:nvPr/>
        </p:nvSpPr>
        <p:spPr>
          <a:xfrm>
            <a:off x="2679192" y="3419856"/>
            <a:ext cx="822960" cy="411480"/>
          </a:xfrm>
          <a:prstGeom prst="rect">
            <a:avLst/>
          </a:prstGeom>
          <a:solidFill>
            <a:srgbClr val="F1F7F3"/>
          </a:solidFill>
          <a:ln/>
        </p:spPr>
      </p:sp>
      <p:sp>
        <p:nvSpPr>
          <p:cNvPr id="66" name="Text 64"/>
          <p:cNvSpPr txBox="1"/>
          <p:nvPr/>
        </p:nvSpPr>
        <p:spPr>
          <a:xfrm>
            <a:off x="2724912" y="341985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p>
        </p:txBody>
      </p:sp>
      <p:sp>
        <p:nvSpPr>
          <p:cNvPr id="67" name="Shape 65"/>
          <p:cNvSpPr/>
          <p:nvPr/>
        </p:nvSpPr>
        <p:spPr>
          <a:xfrm>
            <a:off x="3502152" y="3419856"/>
            <a:ext cx="822960" cy="411480"/>
          </a:xfrm>
          <a:prstGeom prst="rect">
            <a:avLst/>
          </a:prstGeom>
          <a:solidFill>
            <a:srgbClr val="F1F7F3"/>
          </a:solidFill>
          <a:ln/>
        </p:spPr>
      </p:sp>
      <p:sp>
        <p:nvSpPr>
          <p:cNvPr id="68" name="Text 66"/>
          <p:cNvSpPr txBox="1"/>
          <p:nvPr/>
        </p:nvSpPr>
        <p:spPr>
          <a:xfrm>
            <a:off x="3547872" y="341985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6</a:t>
            </a:r>
            <a:endParaRPr lang="en-US" sz="1000" dirty="0"/>
          </a:p>
        </p:txBody>
      </p:sp>
      <p:sp>
        <p:nvSpPr>
          <p:cNvPr id="69" name="Shape 67"/>
          <p:cNvSpPr/>
          <p:nvPr/>
        </p:nvSpPr>
        <p:spPr>
          <a:xfrm>
            <a:off x="4325112" y="3419856"/>
            <a:ext cx="731520" cy="411480"/>
          </a:xfrm>
          <a:prstGeom prst="rect">
            <a:avLst/>
          </a:prstGeom>
          <a:solidFill>
            <a:srgbClr val="F1F7F3"/>
          </a:solidFill>
          <a:ln/>
        </p:spPr>
      </p:sp>
      <p:sp>
        <p:nvSpPr>
          <p:cNvPr id="70" name="Text 68"/>
          <p:cNvSpPr txBox="1"/>
          <p:nvPr/>
        </p:nvSpPr>
        <p:spPr>
          <a:xfrm>
            <a:off x="4370832" y="341985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a:t>
            </a:r>
            <a:endParaRPr lang="en-US" sz="1000" dirty="0"/>
          </a:p>
        </p:txBody>
      </p:sp>
      <p:sp>
        <p:nvSpPr>
          <p:cNvPr id="71" name="Shape 69"/>
          <p:cNvSpPr/>
          <p:nvPr/>
        </p:nvSpPr>
        <p:spPr>
          <a:xfrm>
            <a:off x="484632" y="3831336"/>
            <a:ext cx="4572000" cy="0"/>
          </a:xfrm>
          <a:prstGeom prst="line">
            <a:avLst/>
          </a:prstGeom>
          <a:noFill/>
          <a:ln w="6350">
            <a:solidFill>
              <a:srgbClr val="E3E8E4"/>
            </a:solidFill>
            <a:prstDash val="solid"/>
          </a:ln>
        </p:spPr>
      </p:sp>
      <p:sp>
        <p:nvSpPr>
          <p:cNvPr id="72" name="Shape 70"/>
          <p:cNvSpPr/>
          <p:nvPr/>
        </p:nvSpPr>
        <p:spPr>
          <a:xfrm>
            <a:off x="484632" y="3831336"/>
            <a:ext cx="2194560" cy="411480"/>
          </a:xfrm>
          <a:prstGeom prst="rect">
            <a:avLst/>
          </a:prstGeom>
          <a:solidFill>
            <a:srgbClr val="FFFFFF"/>
          </a:solidFill>
          <a:ln/>
        </p:spPr>
      </p:sp>
      <p:sp>
        <p:nvSpPr>
          <p:cNvPr id="73" name="Text 71"/>
          <p:cNvSpPr txBox="1"/>
          <p:nvPr/>
        </p:nvSpPr>
        <p:spPr>
          <a:xfrm>
            <a:off x="530352" y="383133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Compute and storage, ₹ per student per month</a:t>
            </a:r>
            <a:endParaRPr lang="en-US" sz="1000" dirty="0"/>
          </a:p>
        </p:txBody>
      </p:sp>
      <p:sp>
        <p:nvSpPr>
          <p:cNvPr id="74" name="Shape 72"/>
          <p:cNvSpPr/>
          <p:nvPr/>
        </p:nvSpPr>
        <p:spPr>
          <a:xfrm>
            <a:off x="2679192" y="3831336"/>
            <a:ext cx="822960" cy="411480"/>
          </a:xfrm>
          <a:prstGeom prst="rect">
            <a:avLst/>
          </a:prstGeom>
          <a:solidFill>
            <a:srgbClr val="FFFFFF"/>
          </a:solidFill>
          <a:ln/>
        </p:spPr>
      </p:sp>
      <p:sp>
        <p:nvSpPr>
          <p:cNvPr id="75" name="Text 73"/>
          <p:cNvSpPr txBox="1"/>
          <p:nvPr/>
        </p:nvSpPr>
        <p:spPr>
          <a:xfrm>
            <a:off x="2724912" y="38313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76" name="Shape 74"/>
          <p:cNvSpPr/>
          <p:nvPr/>
        </p:nvSpPr>
        <p:spPr>
          <a:xfrm>
            <a:off x="3502152" y="3831336"/>
            <a:ext cx="822960" cy="411480"/>
          </a:xfrm>
          <a:prstGeom prst="rect">
            <a:avLst/>
          </a:prstGeom>
          <a:solidFill>
            <a:srgbClr val="FFFFFF"/>
          </a:solidFill>
          <a:ln/>
        </p:spPr>
      </p:sp>
      <p:sp>
        <p:nvSpPr>
          <p:cNvPr id="77" name="Text 75"/>
          <p:cNvSpPr txBox="1"/>
          <p:nvPr/>
        </p:nvSpPr>
        <p:spPr>
          <a:xfrm>
            <a:off x="3547872" y="383133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0.8</a:t>
            </a:r>
            <a:endParaRPr lang="en-US" sz="1000" dirty="0"/>
          </a:p>
        </p:txBody>
      </p:sp>
      <p:sp>
        <p:nvSpPr>
          <p:cNvPr id="78" name="Shape 76"/>
          <p:cNvSpPr/>
          <p:nvPr/>
        </p:nvSpPr>
        <p:spPr>
          <a:xfrm>
            <a:off x="4325112" y="3831336"/>
            <a:ext cx="731520" cy="411480"/>
          </a:xfrm>
          <a:prstGeom prst="rect">
            <a:avLst/>
          </a:prstGeom>
          <a:solidFill>
            <a:srgbClr val="FFFFFF"/>
          </a:solidFill>
          <a:ln/>
        </p:spPr>
      </p:sp>
      <p:sp>
        <p:nvSpPr>
          <p:cNvPr id="79" name="Text 77"/>
          <p:cNvSpPr txBox="1"/>
          <p:nvPr/>
        </p:nvSpPr>
        <p:spPr>
          <a:xfrm>
            <a:off x="4370832" y="383133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0.4</a:t>
            </a:r>
            <a:endParaRPr lang="en-US" sz="1000" dirty="0"/>
          </a:p>
        </p:txBody>
      </p:sp>
      <p:sp>
        <p:nvSpPr>
          <p:cNvPr id="80" name="Shape 78"/>
          <p:cNvSpPr/>
          <p:nvPr/>
        </p:nvSpPr>
        <p:spPr>
          <a:xfrm>
            <a:off x="484632" y="4242816"/>
            <a:ext cx="4572000" cy="0"/>
          </a:xfrm>
          <a:prstGeom prst="line">
            <a:avLst/>
          </a:prstGeom>
          <a:noFill/>
          <a:ln w="6350">
            <a:solidFill>
              <a:srgbClr val="E3E8E4"/>
            </a:solidFill>
            <a:prstDash val="solid"/>
          </a:ln>
        </p:spPr>
      </p:sp>
      <p:sp>
        <p:nvSpPr>
          <p:cNvPr id="81" name="Shape 79"/>
          <p:cNvSpPr/>
          <p:nvPr/>
        </p:nvSpPr>
        <p:spPr>
          <a:xfrm>
            <a:off x="484632" y="4242816"/>
            <a:ext cx="2194560" cy="411480"/>
          </a:xfrm>
          <a:prstGeom prst="rect">
            <a:avLst/>
          </a:prstGeom>
          <a:solidFill>
            <a:srgbClr val="F1F7F3"/>
          </a:solidFill>
          <a:ln/>
        </p:spPr>
      </p:sp>
      <p:sp>
        <p:nvSpPr>
          <p:cNvPr id="82" name="Text 80"/>
          <p:cNvSpPr txBox="1"/>
          <p:nvPr/>
        </p:nvSpPr>
        <p:spPr>
          <a:xfrm>
            <a:off x="530352" y="424281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Consent verification, ₹ per student per year</a:t>
            </a:r>
            <a:endParaRPr lang="en-US" sz="1000" dirty="0"/>
          </a:p>
        </p:txBody>
      </p:sp>
      <p:sp>
        <p:nvSpPr>
          <p:cNvPr id="83" name="Shape 81"/>
          <p:cNvSpPr/>
          <p:nvPr/>
        </p:nvSpPr>
        <p:spPr>
          <a:xfrm>
            <a:off x="2679192" y="4242816"/>
            <a:ext cx="822960" cy="411480"/>
          </a:xfrm>
          <a:prstGeom prst="rect">
            <a:avLst/>
          </a:prstGeom>
          <a:solidFill>
            <a:srgbClr val="F1F7F3"/>
          </a:solidFill>
          <a:ln/>
        </p:spPr>
      </p:sp>
      <p:sp>
        <p:nvSpPr>
          <p:cNvPr id="84" name="Text 82"/>
          <p:cNvSpPr txBox="1"/>
          <p:nvPr/>
        </p:nvSpPr>
        <p:spPr>
          <a:xfrm>
            <a:off x="2724912" y="42428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a:t>
            </a:r>
            <a:endParaRPr lang="en-US" sz="1000" dirty="0"/>
          </a:p>
        </p:txBody>
      </p:sp>
      <p:sp>
        <p:nvSpPr>
          <p:cNvPr id="85" name="Shape 83"/>
          <p:cNvSpPr/>
          <p:nvPr/>
        </p:nvSpPr>
        <p:spPr>
          <a:xfrm>
            <a:off x="3502152" y="4242816"/>
            <a:ext cx="822960" cy="411480"/>
          </a:xfrm>
          <a:prstGeom prst="rect">
            <a:avLst/>
          </a:prstGeom>
          <a:solidFill>
            <a:srgbClr val="F1F7F3"/>
          </a:solidFill>
          <a:ln/>
        </p:spPr>
      </p:sp>
      <p:sp>
        <p:nvSpPr>
          <p:cNvPr id="86" name="Text 84"/>
          <p:cNvSpPr txBox="1"/>
          <p:nvPr/>
        </p:nvSpPr>
        <p:spPr>
          <a:xfrm>
            <a:off x="3547872" y="424281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1.5</a:t>
            </a:r>
            <a:endParaRPr lang="en-US" sz="1000" dirty="0"/>
          </a:p>
        </p:txBody>
      </p:sp>
      <p:sp>
        <p:nvSpPr>
          <p:cNvPr id="87" name="Shape 85"/>
          <p:cNvSpPr/>
          <p:nvPr/>
        </p:nvSpPr>
        <p:spPr>
          <a:xfrm>
            <a:off x="4325112" y="4242816"/>
            <a:ext cx="731520" cy="411480"/>
          </a:xfrm>
          <a:prstGeom prst="rect">
            <a:avLst/>
          </a:prstGeom>
          <a:solidFill>
            <a:srgbClr val="F1F7F3"/>
          </a:solidFill>
          <a:ln/>
        </p:spPr>
      </p:sp>
      <p:sp>
        <p:nvSpPr>
          <p:cNvPr id="88" name="Text 86"/>
          <p:cNvSpPr txBox="1"/>
          <p:nvPr/>
        </p:nvSpPr>
        <p:spPr>
          <a:xfrm>
            <a:off x="4370832" y="424281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0.5</a:t>
            </a:r>
            <a:endParaRPr lang="en-US" sz="1000" dirty="0"/>
          </a:p>
        </p:txBody>
      </p:sp>
      <p:sp>
        <p:nvSpPr>
          <p:cNvPr id="89" name="Shape 87"/>
          <p:cNvSpPr/>
          <p:nvPr/>
        </p:nvSpPr>
        <p:spPr>
          <a:xfrm>
            <a:off x="484632" y="4654296"/>
            <a:ext cx="4572000" cy="0"/>
          </a:xfrm>
          <a:prstGeom prst="line">
            <a:avLst/>
          </a:prstGeom>
          <a:noFill/>
          <a:ln w="6350">
            <a:solidFill>
              <a:srgbClr val="E3E8E4"/>
            </a:solidFill>
            <a:prstDash val="solid"/>
          </a:ln>
        </p:spPr>
      </p:sp>
      <p:sp>
        <p:nvSpPr>
          <p:cNvPr id="90" name="Shape 88"/>
          <p:cNvSpPr/>
          <p:nvPr/>
        </p:nvSpPr>
        <p:spPr>
          <a:xfrm>
            <a:off x="484632" y="4654296"/>
            <a:ext cx="2194560" cy="411480"/>
          </a:xfrm>
          <a:prstGeom prst="rect">
            <a:avLst/>
          </a:prstGeom>
          <a:solidFill>
            <a:srgbClr val="FFFFFF"/>
          </a:solidFill>
          <a:ln/>
        </p:spPr>
      </p:sp>
      <p:sp>
        <p:nvSpPr>
          <p:cNvPr id="91" name="Text 89"/>
          <p:cNvSpPr txBox="1"/>
          <p:nvPr/>
        </p:nvSpPr>
        <p:spPr>
          <a:xfrm>
            <a:off x="530352" y="465429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App server + database, ₹ per month per stack</a:t>
            </a:r>
            <a:endParaRPr lang="en-US" sz="1000" dirty="0"/>
          </a:p>
        </p:txBody>
      </p:sp>
      <p:sp>
        <p:nvSpPr>
          <p:cNvPr id="92" name="Shape 90"/>
          <p:cNvSpPr/>
          <p:nvPr/>
        </p:nvSpPr>
        <p:spPr>
          <a:xfrm>
            <a:off x="2679192" y="4654296"/>
            <a:ext cx="822960" cy="411480"/>
          </a:xfrm>
          <a:prstGeom prst="rect">
            <a:avLst/>
          </a:prstGeom>
          <a:solidFill>
            <a:srgbClr val="FFFFFF"/>
          </a:solidFill>
          <a:ln/>
        </p:spPr>
      </p:sp>
      <p:sp>
        <p:nvSpPr>
          <p:cNvPr id="93" name="Text 91"/>
          <p:cNvSpPr txBox="1"/>
          <p:nvPr/>
        </p:nvSpPr>
        <p:spPr>
          <a:xfrm>
            <a:off x="2724912" y="46542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9,000</a:t>
            </a:r>
            <a:endParaRPr lang="en-US" sz="1000" dirty="0"/>
          </a:p>
        </p:txBody>
      </p:sp>
      <p:sp>
        <p:nvSpPr>
          <p:cNvPr id="94" name="Shape 92"/>
          <p:cNvSpPr/>
          <p:nvPr/>
        </p:nvSpPr>
        <p:spPr>
          <a:xfrm>
            <a:off x="3502152" y="4654296"/>
            <a:ext cx="822960" cy="411480"/>
          </a:xfrm>
          <a:prstGeom prst="rect">
            <a:avLst/>
          </a:prstGeom>
          <a:solidFill>
            <a:srgbClr val="FFFFFF"/>
          </a:solidFill>
          <a:ln/>
        </p:spPr>
      </p:sp>
      <p:sp>
        <p:nvSpPr>
          <p:cNvPr id="95" name="Text 93"/>
          <p:cNvSpPr txBox="1"/>
          <p:nvPr/>
        </p:nvSpPr>
        <p:spPr>
          <a:xfrm>
            <a:off x="3547872" y="465429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4,000</a:t>
            </a:r>
            <a:endParaRPr lang="en-US" sz="1000" dirty="0"/>
          </a:p>
        </p:txBody>
      </p:sp>
      <p:sp>
        <p:nvSpPr>
          <p:cNvPr id="96" name="Shape 94"/>
          <p:cNvSpPr/>
          <p:nvPr/>
        </p:nvSpPr>
        <p:spPr>
          <a:xfrm>
            <a:off x="4325112" y="4654296"/>
            <a:ext cx="731520" cy="411480"/>
          </a:xfrm>
          <a:prstGeom prst="rect">
            <a:avLst/>
          </a:prstGeom>
          <a:solidFill>
            <a:srgbClr val="FFFFFF"/>
          </a:solidFill>
          <a:ln/>
        </p:spPr>
      </p:sp>
      <p:sp>
        <p:nvSpPr>
          <p:cNvPr id="97" name="Text 95"/>
          <p:cNvSpPr txBox="1"/>
          <p:nvPr/>
        </p:nvSpPr>
        <p:spPr>
          <a:xfrm>
            <a:off x="4370832" y="465429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3,000</a:t>
            </a:r>
            <a:endParaRPr lang="en-US" sz="1000" dirty="0"/>
          </a:p>
        </p:txBody>
      </p:sp>
      <p:sp>
        <p:nvSpPr>
          <p:cNvPr id="98" name="Shape 96"/>
          <p:cNvSpPr/>
          <p:nvPr/>
        </p:nvSpPr>
        <p:spPr>
          <a:xfrm>
            <a:off x="484632" y="5065776"/>
            <a:ext cx="4572000" cy="0"/>
          </a:xfrm>
          <a:prstGeom prst="line">
            <a:avLst/>
          </a:prstGeom>
          <a:noFill/>
          <a:ln w="6350">
            <a:solidFill>
              <a:srgbClr val="E3E8E4"/>
            </a:solidFill>
            <a:prstDash val="solid"/>
          </a:ln>
        </p:spPr>
      </p:sp>
      <p:sp>
        <p:nvSpPr>
          <p:cNvPr id="99" name="Shape 97"/>
          <p:cNvSpPr/>
          <p:nvPr/>
        </p:nvSpPr>
        <p:spPr>
          <a:xfrm>
            <a:off x="484632" y="5065776"/>
            <a:ext cx="2194560" cy="411480"/>
          </a:xfrm>
          <a:prstGeom prst="rect">
            <a:avLst/>
          </a:prstGeom>
          <a:solidFill>
            <a:srgbClr val="F1F7F3"/>
          </a:solidFill>
          <a:ln/>
        </p:spPr>
      </p:sp>
      <p:sp>
        <p:nvSpPr>
          <p:cNvPr id="100" name="Text 98"/>
          <p:cNvSpPr txBox="1"/>
          <p:nvPr/>
        </p:nvSpPr>
        <p:spPr>
          <a:xfrm>
            <a:off x="530352" y="5065776"/>
            <a:ext cx="2103120" cy="411480"/>
          </a:xfrm>
          <a:prstGeom prst="rect">
            <a:avLst/>
          </a:prstGeom>
          <a:noFill/>
          <a:ln/>
        </p:spPr>
        <p:txBody>
          <a:bodyPr wrap="square" lIns="0" tIns="0" rIns="0" bIns="0" rtlCol="0" anchor="ctr"/>
          <a:lstStyle/>
          <a:p>
            <a:pPr algn="l" indent="0" marL="0">
              <a:buNone/>
            </a:pPr>
            <a:r>
              <a:rPr lang="en-US" sz="1000" b="1" dirty="0">
                <a:solidFill>
                  <a:srgbClr val="1F2937"/>
                </a:solidFill>
                <a:latin typeface="Calibri" pitchFamily="34" charset="0"/>
                <a:ea typeface="Calibri" pitchFamily="34" charset="-122"/>
                <a:cs typeface="Calibri" pitchFamily="34" charset="-120"/>
              </a:rPr>
              <a:t>Institutes sharing one stack</a:t>
            </a:r>
            <a:endParaRPr lang="en-US" sz="1000" dirty="0"/>
          </a:p>
        </p:txBody>
      </p:sp>
      <p:sp>
        <p:nvSpPr>
          <p:cNvPr id="101" name="Shape 99"/>
          <p:cNvSpPr/>
          <p:nvPr/>
        </p:nvSpPr>
        <p:spPr>
          <a:xfrm>
            <a:off x="2679192" y="5065776"/>
            <a:ext cx="822960" cy="411480"/>
          </a:xfrm>
          <a:prstGeom prst="rect">
            <a:avLst/>
          </a:prstGeom>
          <a:solidFill>
            <a:srgbClr val="F1F7F3"/>
          </a:solidFill>
          <a:ln/>
        </p:spPr>
      </p:sp>
      <p:sp>
        <p:nvSpPr>
          <p:cNvPr id="102" name="Text 100"/>
          <p:cNvSpPr txBox="1"/>
          <p:nvPr/>
        </p:nvSpPr>
        <p:spPr>
          <a:xfrm>
            <a:off x="2724912" y="50657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10</a:t>
            </a:r>
            <a:endParaRPr lang="en-US" sz="1000" dirty="0"/>
          </a:p>
        </p:txBody>
      </p:sp>
      <p:sp>
        <p:nvSpPr>
          <p:cNvPr id="103" name="Shape 101"/>
          <p:cNvSpPr/>
          <p:nvPr/>
        </p:nvSpPr>
        <p:spPr>
          <a:xfrm>
            <a:off x="3502152" y="5065776"/>
            <a:ext cx="822960" cy="411480"/>
          </a:xfrm>
          <a:prstGeom prst="rect">
            <a:avLst/>
          </a:prstGeom>
          <a:solidFill>
            <a:srgbClr val="F1F7F3"/>
          </a:solidFill>
          <a:ln/>
        </p:spPr>
      </p:sp>
      <p:sp>
        <p:nvSpPr>
          <p:cNvPr id="104" name="Text 102"/>
          <p:cNvSpPr txBox="1"/>
          <p:nvPr/>
        </p:nvSpPr>
        <p:spPr>
          <a:xfrm>
            <a:off x="3547872" y="5065776"/>
            <a:ext cx="73152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20</a:t>
            </a:r>
            <a:endParaRPr lang="en-US" sz="1000" dirty="0"/>
          </a:p>
        </p:txBody>
      </p:sp>
      <p:sp>
        <p:nvSpPr>
          <p:cNvPr id="105" name="Shape 103"/>
          <p:cNvSpPr/>
          <p:nvPr/>
        </p:nvSpPr>
        <p:spPr>
          <a:xfrm>
            <a:off x="4325112" y="5065776"/>
            <a:ext cx="731520" cy="411480"/>
          </a:xfrm>
          <a:prstGeom prst="rect">
            <a:avLst/>
          </a:prstGeom>
          <a:solidFill>
            <a:srgbClr val="F1F7F3"/>
          </a:solidFill>
          <a:ln/>
        </p:spPr>
      </p:sp>
      <p:sp>
        <p:nvSpPr>
          <p:cNvPr id="106" name="Text 104"/>
          <p:cNvSpPr txBox="1"/>
          <p:nvPr/>
        </p:nvSpPr>
        <p:spPr>
          <a:xfrm>
            <a:off x="4370832" y="5065776"/>
            <a:ext cx="640080" cy="411480"/>
          </a:xfrm>
          <a:prstGeom prst="rect">
            <a:avLst/>
          </a:prstGeom>
          <a:noFill/>
          <a:ln/>
        </p:spPr>
        <p:txBody>
          <a:bodyPr wrap="square" lIns="0" tIns="0" rIns="0" bIns="0"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40</a:t>
            </a:r>
            <a:endParaRPr lang="en-US" sz="1000" dirty="0"/>
          </a:p>
        </p:txBody>
      </p:sp>
      <p:sp>
        <p:nvSpPr>
          <p:cNvPr id="107" name="Shape 105"/>
          <p:cNvSpPr/>
          <p:nvPr/>
        </p:nvSpPr>
        <p:spPr>
          <a:xfrm>
            <a:off x="484632" y="5477256"/>
            <a:ext cx="4572000" cy="0"/>
          </a:xfrm>
          <a:prstGeom prst="line">
            <a:avLst/>
          </a:prstGeom>
          <a:noFill/>
          <a:ln w="6350">
            <a:solidFill>
              <a:srgbClr val="E3E8E4"/>
            </a:solidFill>
            <a:prstDash val="solid"/>
          </a:ln>
        </p:spPr>
      </p:sp>
      <p:sp>
        <p:nvSpPr>
          <p:cNvPr id="108" name="Shape 106"/>
          <p:cNvSpPr/>
          <p:nvPr/>
        </p:nvSpPr>
        <p:spPr>
          <a:xfrm>
            <a:off x="502920" y="5669280"/>
            <a:ext cx="1060704" cy="219456"/>
          </a:xfrm>
          <a:prstGeom prst="roundRect">
            <a:avLst>
              <a:gd name="adj" fmla="val 50000"/>
            </a:avLst>
          </a:prstGeom>
          <a:solidFill>
            <a:srgbClr val="FFFFFF"/>
          </a:solidFill>
          <a:ln w="12700">
            <a:solidFill>
              <a:srgbClr val="5B6573"/>
            </a:solidFill>
            <a:prstDash val="solid"/>
          </a:ln>
        </p:spPr>
      </p:sp>
      <p:sp>
        <p:nvSpPr>
          <p:cNvPr id="109" name="Text 107"/>
          <p:cNvSpPr txBox="1"/>
          <p:nvPr/>
        </p:nvSpPr>
        <p:spPr>
          <a:xfrm>
            <a:off x="502920" y="5669280"/>
            <a:ext cx="1060704" cy="219456"/>
          </a:xfrm>
          <a:prstGeom prst="rect">
            <a:avLst/>
          </a:prstGeom>
          <a:noFill/>
          <a:ln/>
        </p:spPr>
        <p:txBody>
          <a:bodyPr wrap="square" lIns="0" tIns="0" rIns="0" bIns="0" rtlCol="0" anchor="ctr"/>
          <a:lstStyle/>
          <a:p>
            <a:pPr algn="ctr" indent="0" marL="0">
              <a:buNone/>
            </a:pPr>
            <a:r>
              <a:rPr lang="en-US" sz="900" b="1" spc="100" kern="0" dirty="0">
                <a:solidFill>
                  <a:srgbClr val="5B6573"/>
                </a:solidFill>
                <a:latin typeface="Calibri" pitchFamily="34" charset="0"/>
                <a:ea typeface="Calibri" pitchFamily="34" charset="-122"/>
                <a:cs typeface="Calibri" pitchFamily="34" charset="-120"/>
              </a:rPr>
              <a:t>MODEL OUTPUT</a:t>
            </a:r>
            <a:endParaRPr lang="en-US" sz="900" dirty="0"/>
          </a:p>
        </p:txBody>
      </p:sp>
      <p:sp>
        <p:nvSpPr>
          <p:cNvPr id="110" name="Text 108"/>
          <p:cNvSpPr txBox="1"/>
          <p:nvPr/>
        </p:nvSpPr>
        <p:spPr>
          <a:xfrm>
            <a:off x="502920" y="5943600"/>
            <a:ext cx="4572000" cy="320040"/>
          </a:xfrm>
          <a:prstGeom prst="rect">
            <a:avLst/>
          </a:prstGeom>
          <a:noFill/>
          <a:ln/>
        </p:spPr>
        <p:txBody>
          <a:bodyPr wrap="square" lIns="0" tIns="0" rIns="0" bIns="0" rtlCol="0" anchor="t"/>
          <a:lstStyle/>
          <a:p>
            <a:pPr algn="l" indent="0" marL="0">
              <a:buNone/>
            </a:pPr>
            <a:r>
              <a:rPr lang="en-US" sz="950" dirty="0">
                <a:solidFill>
                  <a:srgbClr val="5B6573"/>
                </a:solidFill>
                <a:latin typeface="Calibri" pitchFamily="34" charset="0"/>
                <a:ea typeface="Calibri" pitchFamily="34" charset="-122"/>
                <a:cs typeface="Calibri" pitchFamily="34" charset="-120"/>
              </a:rPr>
              <a:t>Prices researched 20 Oct 2026 from vendor pages; exchange rate ₹95.05 per US dollar.</a:t>
            </a:r>
            <a:endParaRPr lang="en-US" sz="950" dirty="0"/>
          </a:p>
        </p:txBody>
      </p:sp>
      <p:sp>
        <p:nvSpPr>
          <p:cNvPr id="111" name="Shape 109"/>
          <p:cNvSpPr/>
          <p:nvPr/>
        </p:nvSpPr>
        <p:spPr>
          <a:xfrm>
            <a:off x="5303520" y="1115568"/>
            <a:ext cx="3108960" cy="301752"/>
          </a:xfrm>
          <a:prstGeom prst="rect">
            <a:avLst/>
          </a:prstGeom>
          <a:solidFill>
            <a:srgbClr val="2E6DB4"/>
          </a:solidFill>
          <a:ln/>
        </p:spPr>
      </p:sp>
      <p:sp>
        <p:nvSpPr>
          <p:cNvPr id="112" name="Text 110"/>
          <p:cNvSpPr txBox="1"/>
          <p:nvPr/>
        </p:nvSpPr>
        <p:spPr>
          <a:xfrm>
            <a:off x="5413248" y="1115568"/>
            <a:ext cx="288950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ALL-IN COST</a:t>
            </a:r>
            <a:endParaRPr lang="en-US" sz="1200" dirty="0"/>
          </a:p>
        </p:txBody>
      </p:sp>
      <p:sp>
        <p:nvSpPr>
          <p:cNvPr id="113" name="Shape 111"/>
          <p:cNvSpPr/>
          <p:nvPr/>
        </p:nvSpPr>
        <p:spPr>
          <a:xfrm>
            <a:off x="8467344" y="1115568"/>
            <a:ext cx="0" cy="2468880"/>
          </a:xfrm>
          <a:prstGeom prst="line">
            <a:avLst/>
          </a:prstGeom>
          <a:noFill/>
          <a:ln w="12700">
            <a:solidFill>
              <a:srgbClr val="8FA9CC"/>
            </a:solidFill>
            <a:prstDash val="dash"/>
          </a:ln>
        </p:spPr>
      </p:sp>
      <p:sp>
        <p:nvSpPr>
          <p:cNvPr id="114" name="Text 112"/>
          <p:cNvSpPr txBox="1"/>
          <p:nvPr/>
        </p:nvSpPr>
        <p:spPr>
          <a:xfrm>
            <a:off x="5486400" y="1554480"/>
            <a:ext cx="2743200" cy="822960"/>
          </a:xfrm>
          <a:prstGeom prst="rect">
            <a:avLst/>
          </a:prstGeom>
          <a:noFill/>
          <a:ln/>
        </p:spPr>
        <p:txBody>
          <a:bodyPr wrap="square" lIns="0" tIns="0" rIns="0" bIns="0" rtlCol="0" anchor="t"/>
          <a:lstStyle/>
          <a:p>
            <a:pPr algn="l" indent="0" marL="0">
              <a:buNone/>
            </a:pPr>
            <a:r>
              <a:rPr lang="en-US" sz="4800" b="1" dirty="0">
                <a:solidFill>
                  <a:srgbClr val="17325C"/>
                </a:solidFill>
                <a:latin typeface="Calibri" pitchFamily="34" charset="0"/>
                <a:ea typeface="Calibri" pitchFamily="34" charset="-122"/>
                <a:cs typeface="Calibri" pitchFamily="34" charset="-120"/>
              </a:rPr>
              <a:t>₹3.6</a:t>
            </a:r>
            <a:endParaRPr lang="en-US" sz="4800" dirty="0"/>
          </a:p>
        </p:txBody>
      </p:sp>
      <p:sp>
        <p:nvSpPr>
          <p:cNvPr id="115" name="Text 113"/>
          <p:cNvSpPr txBox="1"/>
          <p:nvPr/>
        </p:nvSpPr>
        <p:spPr>
          <a:xfrm>
            <a:off x="5486400" y="2423160"/>
            <a:ext cx="2743200" cy="82296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per student per month, inside the planned ₹3 to ₹10 band (financial model check).</a:t>
            </a:r>
            <a:endParaRPr lang="en-US" sz="1150" dirty="0"/>
          </a:p>
        </p:txBody>
      </p:sp>
      <p:sp>
        <p:nvSpPr>
          <p:cNvPr id="116" name="Text 114"/>
          <p:cNvSpPr txBox="1"/>
          <p:nvPr/>
        </p:nvSpPr>
        <p:spPr>
          <a:xfrm>
            <a:off x="5340096" y="3721608"/>
            <a:ext cx="301752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LOCAL RUN</a:t>
            </a:r>
            <a:endParaRPr lang="en-US" sz="1250" dirty="0"/>
          </a:p>
        </p:txBody>
      </p:sp>
      <p:sp>
        <p:nvSpPr>
          <p:cNvPr id="117" name="Shape 115"/>
          <p:cNvSpPr/>
          <p:nvPr/>
        </p:nvSpPr>
        <p:spPr>
          <a:xfrm>
            <a:off x="5340096" y="4014216"/>
            <a:ext cx="3017520" cy="10973"/>
          </a:xfrm>
          <a:prstGeom prst="rect">
            <a:avLst/>
          </a:prstGeom>
          <a:solidFill>
            <a:srgbClr val="C9D6E8"/>
          </a:solidFill>
          <a:ln/>
        </p:spPr>
      </p:sp>
      <p:sp>
        <p:nvSpPr>
          <p:cNvPr id="118" name="Shape 116"/>
          <p:cNvSpPr/>
          <p:nvPr/>
        </p:nvSpPr>
        <p:spPr>
          <a:xfrm>
            <a:off x="5340096" y="4005072"/>
            <a:ext cx="2194560" cy="27432"/>
          </a:xfrm>
          <a:prstGeom prst="rect">
            <a:avLst/>
          </a:prstGeom>
          <a:solidFill>
            <a:srgbClr val="1F4A82"/>
          </a:solidFill>
          <a:ln/>
        </p:spPr>
      </p:sp>
      <p:sp>
        <p:nvSpPr>
          <p:cNvPr id="119" name="Shape 117"/>
          <p:cNvSpPr/>
          <p:nvPr/>
        </p:nvSpPr>
        <p:spPr>
          <a:xfrm>
            <a:off x="8467344" y="3749040"/>
            <a:ext cx="0" cy="2578608"/>
          </a:xfrm>
          <a:prstGeom prst="line">
            <a:avLst/>
          </a:prstGeom>
          <a:noFill/>
          <a:ln w="12700">
            <a:solidFill>
              <a:srgbClr val="8FA9CC"/>
            </a:solidFill>
            <a:prstDash val="dash"/>
          </a:ln>
        </p:spPr>
      </p:sp>
      <p:sp>
        <p:nvSpPr>
          <p:cNvPr id="120" name="Text 118"/>
          <p:cNvSpPr txBox="1"/>
          <p:nvPr/>
        </p:nvSpPr>
        <p:spPr>
          <a:xfrm>
            <a:off x="5486400" y="4114800"/>
            <a:ext cx="2743200" cy="822960"/>
          </a:xfrm>
          <a:prstGeom prst="rect">
            <a:avLst/>
          </a:prstGeom>
          <a:noFill/>
          <a:ln/>
        </p:spPr>
        <p:txBody>
          <a:bodyPr wrap="square" lIns="0" tIns="0" rIns="0" bIns="0" rtlCol="0" anchor="t"/>
          <a:lstStyle/>
          <a:p>
            <a:pPr algn="l" indent="0" marL="0">
              <a:buNone/>
            </a:pPr>
            <a:r>
              <a:rPr lang="en-US" sz="4800" b="1" dirty="0">
                <a:solidFill>
                  <a:srgbClr val="1F4A82"/>
                </a:solidFill>
                <a:latin typeface="Calibri" pitchFamily="34" charset="0"/>
                <a:ea typeface="Calibri" pitchFamily="34" charset="-122"/>
                <a:cs typeface="Calibri" pitchFamily="34" charset="-120"/>
              </a:rPr>
              <a:t>₹0</a:t>
            </a:r>
            <a:endParaRPr lang="en-US" sz="4800" dirty="0"/>
          </a:p>
        </p:txBody>
      </p:sp>
      <p:sp>
        <p:nvSpPr>
          <p:cNvPr id="121" name="Text 119"/>
          <p:cNvSpPr txBox="1"/>
          <p:nvPr/>
        </p:nvSpPr>
        <p:spPr>
          <a:xfrm>
            <a:off x="5486400" y="4983480"/>
            <a:ext cx="2743200" cy="822960"/>
          </a:xfrm>
          <a:prstGeom prst="rect">
            <a:avLst/>
          </a:prstGeom>
          <a:noFill/>
          <a:ln/>
        </p:spPr>
        <p:txBody>
          <a:bodyPr wrap="square" lIns="0" tIns="0" rIns="0" bIns="0" rtlCol="0" anchor="t"/>
          <a:lstStyle/>
          <a:p>
            <a:pPr algn="l" indent="0" marL="0">
              <a:buNone/>
            </a:pPr>
            <a:r>
              <a:rPr lang="en-US" sz="1150" dirty="0">
                <a:solidFill>
                  <a:srgbClr val="1F2937"/>
                </a:solidFill>
                <a:latin typeface="Calibri" pitchFamily="34" charset="0"/>
                <a:ea typeface="Calibri" pitchFamily="34" charset="-122"/>
                <a:cs typeface="Calibri" pitchFamily="34" charset="-120"/>
              </a:rPr>
              <a:t>marginal cost: laptop, local model, local database, no paid services.</a:t>
            </a:r>
            <a:endParaRPr lang="en-US" sz="1150" dirty="0"/>
          </a:p>
        </p:txBody>
      </p:sp>
      <p:sp>
        <p:nvSpPr>
          <p:cNvPr id="122" name="Shape 120"/>
          <p:cNvSpPr/>
          <p:nvPr/>
        </p:nvSpPr>
        <p:spPr>
          <a:xfrm>
            <a:off x="8549640" y="1115568"/>
            <a:ext cx="3230575" cy="301752"/>
          </a:xfrm>
          <a:prstGeom prst="rect">
            <a:avLst/>
          </a:prstGeom>
          <a:solidFill>
            <a:srgbClr val="5B8DC9"/>
          </a:solidFill>
          <a:ln/>
        </p:spPr>
      </p:sp>
      <p:sp>
        <p:nvSpPr>
          <p:cNvPr id="123" name="Text 121"/>
          <p:cNvSpPr txBox="1"/>
          <p:nvPr/>
        </p:nvSpPr>
        <p:spPr>
          <a:xfrm>
            <a:off x="8659368" y="1115568"/>
            <a:ext cx="3011119"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HOW WE KEEP IT LOW</a:t>
            </a:r>
            <a:endParaRPr lang="en-US" sz="1200" dirty="0"/>
          </a:p>
        </p:txBody>
      </p:sp>
      <p:pic>
        <p:nvPicPr>
          <p:cNvPr id="124" name="Image 0" descr="FaCircleCheck icon">    </p:cNvPr>
          <p:cNvPicPr>
            <a:picLocks noChangeAspect="1"/>
          </p:cNvPicPr>
          <p:nvPr/>
        </p:nvPicPr>
        <p:blipFill>
          <a:blip r:embed="rId1"/>
          <a:stretch>
            <a:fillRect/>
          </a:stretch>
        </p:blipFill>
        <p:spPr>
          <a:xfrm>
            <a:off x="8686800" y="1572768"/>
            <a:ext cx="219456" cy="219456"/>
          </a:xfrm>
          <a:prstGeom prst="rect">
            <a:avLst/>
          </a:prstGeom>
        </p:spPr>
      </p:pic>
      <p:sp>
        <p:nvSpPr>
          <p:cNvPr id="125" name="Text 122"/>
          <p:cNvSpPr txBox="1"/>
          <p:nvPr/>
        </p:nvSpPr>
        <p:spPr>
          <a:xfrm>
            <a:off x="9006840" y="148132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Small local models on a laptop</a:t>
            </a:r>
            <a:endParaRPr lang="en-US" sz="1150" dirty="0"/>
          </a:p>
        </p:txBody>
      </p:sp>
      <p:pic>
        <p:nvPicPr>
          <p:cNvPr id="126" name="Image 1" descr="FaCircleCheck icon">    </p:cNvPr>
          <p:cNvPicPr>
            <a:picLocks noChangeAspect="1"/>
          </p:cNvPicPr>
          <p:nvPr/>
        </p:nvPicPr>
        <p:blipFill>
          <a:blip r:embed="rId2"/>
          <a:stretch>
            <a:fillRect/>
          </a:stretch>
        </p:blipFill>
        <p:spPr>
          <a:xfrm>
            <a:off x="8686800" y="2350008"/>
            <a:ext cx="219456" cy="219456"/>
          </a:xfrm>
          <a:prstGeom prst="rect">
            <a:avLst/>
          </a:prstGeom>
        </p:spPr>
      </p:pic>
      <p:sp>
        <p:nvSpPr>
          <p:cNvPr id="127" name="Text 123"/>
          <p:cNvSpPr txBox="1"/>
          <p:nvPr/>
        </p:nvSpPr>
        <p:spPr>
          <a:xfrm>
            <a:off x="9006840" y="225856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Template fallback: no model required</a:t>
            </a:r>
            <a:endParaRPr lang="en-US" sz="1150" dirty="0"/>
          </a:p>
        </p:txBody>
      </p:sp>
      <p:pic>
        <p:nvPicPr>
          <p:cNvPr id="128" name="Image 2" descr="FaCircleCheck icon">    </p:cNvPr>
          <p:cNvPicPr>
            <a:picLocks noChangeAspect="1"/>
          </p:cNvPicPr>
          <p:nvPr/>
        </p:nvPicPr>
        <p:blipFill>
          <a:blip r:embed="rId3"/>
          <a:stretch>
            <a:fillRect/>
          </a:stretch>
        </p:blipFill>
        <p:spPr>
          <a:xfrm>
            <a:off x="8686800" y="3127248"/>
            <a:ext cx="219456" cy="219456"/>
          </a:xfrm>
          <a:prstGeom prst="rect">
            <a:avLst/>
          </a:prstGeom>
        </p:spPr>
      </p:pic>
      <p:sp>
        <p:nvSpPr>
          <p:cNvPr id="129" name="Text 124"/>
          <p:cNvSpPr txBox="1"/>
          <p:nvPr/>
        </p:nvSpPr>
        <p:spPr>
          <a:xfrm>
            <a:off x="9006840" y="303580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No paid APIs or hosting</a:t>
            </a:r>
            <a:endParaRPr lang="en-US" sz="1150" dirty="0"/>
          </a:p>
        </p:txBody>
      </p:sp>
      <p:pic>
        <p:nvPicPr>
          <p:cNvPr id="130" name="Image 3" descr="FaCircleCheck icon">    </p:cNvPr>
          <p:cNvPicPr>
            <a:picLocks noChangeAspect="1"/>
          </p:cNvPicPr>
          <p:nvPr/>
        </p:nvPicPr>
        <p:blipFill>
          <a:blip r:embed="rId4"/>
          <a:stretch>
            <a:fillRect/>
          </a:stretch>
        </p:blipFill>
        <p:spPr>
          <a:xfrm>
            <a:off x="8686800" y="3904488"/>
            <a:ext cx="219456" cy="219456"/>
          </a:xfrm>
          <a:prstGeom prst="rect">
            <a:avLst/>
          </a:prstGeom>
        </p:spPr>
      </p:pic>
      <p:sp>
        <p:nvSpPr>
          <p:cNvPr id="131" name="Text 125"/>
          <p:cNvSpPr txBox="1"/>
          <p:nvPr/>
        </p:nvSpPr>
        <p:spPr>
          <a:xfrm>
            <a:off x="9006840" y="381304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One database per deployment, isolated per institute</a:t>
            </a:r>
            <a:endParaRPr lang="en-US" sz="1150" dirty="0"/>
          </a:p>
        </p:txBody>
      </p:sp>
      <p:pic>
        <p:nvPicPr>
          <p:cNvPr id="132" name="Image 4" descr="FaCircleCheck icon">    </p:cNvPr>
          <p:cNvPicPr>
            <a:picLocks noChangeAspect="1"/>
          </p:cNvPicPr>
          <p:nvPr/>
        </p:nvPicPr>
        <p:blipFill>
          <a:blip r:embed="rId5"/>
          <a:stretch>
            <a:fillRect/>
          </a:stretch>
        </p:blipFill>
        <p:spPr>
          <a:xfrm>
            <a:off x="8686800" y="4681728"/>
            <a:ext cx="219456" cy="219456"/>
          </a:xfrm>
          <a:prstGeom prst="rect">
            <a:avLst/>
          </a:prstGeom>
        </p:spPr>
      </p:pic>
      <p:sp>
        <p:nvSpPr>
          <p:cNvPr id="133" name="Text 126"/>
          <p:cNvSpPr txBox="1"/>
          <p:nvPr/>
        </p:nvSpPr>
        <p:spPr>
          <a:xfrm>
            <a:off x="9006840" y="4590288"/>
            <a:ext cx="2636215" cy="548640"/>
          </a:xfrm>
          <a:prstGeom prst="rect">
            <a:avLst/>
          </a:prstGeom>
          <a:noFill/>
          <a:ln/>
        </p:spPr>
        <p:txBody>
          <a:bodyPr wrap="square" lIns="0" tIns="0" rIns="0" bIns="0" rtlCol="0" anchor="ctr"/>
          <a:lstStyle/>
          <a:p>
            <a:pPr algn="l" indent="0" marL="0">
              <a:buNone/>
            </a:pPr>
            <a:r>
              <a:rPr lang="en-US" sz="1150" dirty="0">
                <a:solidFill>
                  <a:srgbClr val="1F2937"/>
                </a:solidFill>
                <a:latin typeface="Calibri" pitchFamily="34" charset="0"/>
                <a:ea typeface="Calibri" pitchFamily="34" charset="-122"/>
                <a:cs typeface="Calibri" pitchFamily="34" charset="-120"/>
              </a:rPr>
              <a:t>WhatsApp only for utility messages, in-window replies free</a:t>
            </a:r>
            <a:endParaRPr lang="en-US" sz="1150" dirty="0"/>
          </a:p>
        </p:txBody>
      </p:sp>
      <p:sp>
        <p:nvSpPr>
          <p:cNvPr id="134" name="Text 127"/>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financial/assumptions.csv (COGS rows), financial/research. Production costs are assumptions with confidence flags.</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5: DATA MODEL</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31 tables in five groups, all isolated per institute</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DATA MODEL</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88720"/>
            <a:ext cx="3703320" cy="301752"/>
          </a:xfrm>
          <a:prstGeom prst="rect">
            <a:avLst/>
          </a:prstGeom>
          <a:solidFill>
            <a:srgbClr val="1F4A82"/>
          </a:solidFill>
          <a:ln/>
        </p:spPr>
      </p:sp>
      <p:sp>
        <p:nvSpPr>
          <p:cNvPr id="17" name="Text 15"/>
          <p:cNvSpPr txBox="1"/>
          <p:nvPr/>
        </p:nvSpPr>
        <p:spPr>
          <a:xfrm>
            <a:off x="521208"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PEOPLE</a:t>
            </a:r>
            <a:endParaRPr lang="en-US" sz="1200" dirty="0"/>
          </a:p>
        </p:txBody>
      </p:sp>
      <p:sp>
        <p:nvSpPr>
          <p:cNvPr id="18" name="Shape 16"/>
          <p:cNvSpPr/>
          <p:nvPr/>
        </p:nvSpPr>
        <p:spPr>
          <a:xfrm>
            <a:off x="4169664" y="1188720"/>
            <a:ext cx="0" cy="1920240"/>
          </a:xfrm>
          <a:prstGeom prst="line">
            <a:avLst/>
          </a:prstGeom>
          <a:noFill/>
          <a:ln w="12700">
            <a:solidFill>
              <a:srgbClr val="8FA9CC"/>
            </a:solidFill>
            <a:prstDash val="dash"/>
          </a:ln>
        </p:spPr>
      </p:sp>
      <p:sp>
        <p:nvSpPr>
          <p:cNvPr id="19" name="Text 17"/>
          <p:cNvSpPr txBox="1"/>
          <p:nvPr/>
        </p:nvSpPr>
        <p:spPr>
          <a:xfrm>
            <a:off x="548640"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institutes, users, students, guardians, batches, batch_changes, consents, legal_settings</a:t>
            </a:r>
            <a:endParaRPr lang="en-US" sz="1200" dirty="0"/>
          </a:p>
        </p:txBody>
      </p:sp>
      <p:sp>
        <p:nvSpPr>
          <p:cNvPr id="20" name="Shape 18"/>
          <p:cNvSpPr/>
          <p:nvPr/>
        </p:nvSpPr>
        <p:spPr>
          <a:xfrm>
            <a:off x="4233672" y="1188720"/>
            <a:ext cx="3703320" cy="301752"/>
          </a:xfrm>
          <a:prstGeom prst="rect">
            <a:avLst/>
          </a:prstGeom>
          <a:solidFill>
            <a:srgbClr val="2E6DB4"/>
          </a:solidFill>
          <a:ln/>
        </p:spPr>
      </p:sp>
      <p:sp>
        <p:nvSpPr>
          <p:cNvPr id="21" name="Text 19"/>
          <p:cNvSpPr txBox="1"/>
          <p:nvPr/>
        </p:nvSpPr>
        <p:spPr>
          <a:xfrm>
            <a:off x="4343400"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LEARNING</a:t>
            </a:r>
            <a:endParaRPr lang="en-US" sz="1200" dirty="0"/>
          </a:p>
        </p:txBody>
      </p:sp>
      <p:sp>
        <p:nvSpPr>
          <p:cNvPr id="22" name="Shape 20"/>
          <p:cNvSpPr/>
          <p:nvPr/>
        </p:nvSpPr>
        <p:spPr>
          <a:xfrm>
            <a:off x="7991856" y="1188720"/>
            <a:ext cx="0" cy="1920240"/>
          </a:xfrm>
          <a:prstGeom prst="line">
            <a:avLst/>
          </a:prstGeom>
          <a:noFill/>
          <a:ln w="12700">
            <a:solidFill>
              <a:srgbClr val="8FA9CC"/>
            </a:solidFill>
            <a:prstDash val="dash"/>
          </a:ln>
        </p:spPr>
      </p:sp>
      <p:sp>
        <p:nvSpPr>
          <p:cNvPr id="23" name="Text 21"/>
          <p:cNvSpPr txBox="1"/>
          <p:nvPr/>
        </p:nvSpPr>
        <p:spPr>
          <a:xfrm>
            <a:off x="4370832"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topics, topic_prereqs, questions, question_topics, item_params, tests, test_questions, answer_keys, marking_schemes</a:t>
            </a:r>
            <a:endParaRPr lang="en-US" sz="1200" dirty="0"/>
          </a:p>
        </p:txBody>
      </p:sp>
      <p:sp>
        <p:nvSpPr>
          <p:cNvPr id="24" name="Shape 22"/>
          <p:cNvSpPr/>
          <p:nvPr/>
        </p:nvSpPr>
        <p:spPr>
          <a:xfrm>
            <a:off x="8055864" y="1188720"/>
            <a:ext cx="3703320" cy="301752"/>
          </a:xfrm>
          <a:prstGeom prst="rect">
            <a:avLst/>
          </a:prstGeom>
          <a:solidFill>
            <a:srgbClr val="1F4A82"/>
          </a:solidFill>
          <a:ln/>
        </p:spPr>
      </p:sp>
      <p:sp>
        <p:nvSpPr>
          <p:cNvPr id="25" name="Text 23"/>
          <p:cNvSpPr txBox="1"/>
          <p:nvPr/>
        </p:nvSpPr>
        <p:spPr>
          <a:xfrm>
            <a:off x="8165592" y="1188720"/>
            <a:ext cx="3483864"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RESULTS</a:t>
            </a:r>
            <a:endParaRPr lang="en-US" sz="1200" dirty="0"/>
          </a:p>
        </p:txBody>
      </p:sp>
      <p:sp>
        <p:nvSpPr>
          <p:cNvPr id="26" name="Text 24"/>
          <p:cNvSpPr txBox="1"/>
          <p:nvPr/>
        </p:nvSpPr>
        <p:spPr>
          <a:xfrm>
            <a:off x="8193024" y="16459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responses, test_totals, attendance, fees, engagement</a:t>
            </a:r>
            <a:endParaRPr lang="en-US" sz="1200" dirty="0"/>
          </a:p>
        </p:txBody>
      </p:sp>
      <p:sp>
        <p:nvSpPr>
          <p:cNvPr id="27" name="Text 25"/>
          <p:cNvSpPr txBox="1"/>
          <p:nvPr/>
        </p:nvSpPr>
        <p:spPr>
          <a:xfrm>
            <a:off x="448056"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INTELLIGENCE</a:t>
            </a:r>
            <a:endParaRPr lang="en-US" sz="1250" dirty="0"/>
          </a:p>
        </p:txBody>
      </p:sp>
      <p:sp>
        <p:nvSpPr>
          <p:cNvPr id="28" name="Shape 26"/>
          <p:cNvSpPr/>
          <p:nvPr/>
        </p:nvSpPr>
        <p:spPr>
          <a:xfrm>
            <a:off x="448056" y="3557016"/>
            <a:ext cx="3611880" cy="10973"/>
          </a:xfrm>
          <a:prstGeom prst="rect">
            <a:avLst/>
          </a:prstGeom>
          <a:solidFill>
            <a:srgbClr val="C9D6E8"/>
          </a:solidFill>
          <a:ln/>
        </p:spPr>
      </p:sp>
      <p:sp>
        <p:nvSpPr>
          <p:cNvPr id="29" name="Shape 27"/>
          <p:cNvSpPr/>
          <p:nvPr/>
        </p:nvSpPr>
        <p:spPr>
          <a:xfrm>
            <a:off x="448056" y="3547872"/>
            <a:ext cx="2194560" cy="27432"/>
          </a:xfrm>
          <a:prstGeom prst="rect">
            <a:avLst/>
          </a:prstGeom>
          <a:solidFill>
            <a:srgbClr val="1F4A82"/>
          </a:solidFill>
          <a:ln/>
        </p:spPr>
      </p:sp>
      <p:sp>
        <p:nvSpPr>
          <p:cNvPr id="30" name="Shape 28"/>
          <p:cNvSpPr/>
          <p:nvPr/>
        </p:nvSpPr>
        <p:spPr>
          <a:xfrm>
            <a:off x="4169664" y="3291840"/>
            <a:ext cx="0" cy="1874520"/>
          </a:xfrm>
          <a:prstGeom prst="line">
            <a:avLst/>
          </a:prstGeom>
          <a:noFill/>
          <a:ln w="12700">
            <a:solidFill>
              <a:srgbClr val="8FA9CC"/>
            </a:solidFill>
            <a:prstDash val="dash"/>
          </a:ln>
        </p:spPr>
      </p:sp>
      <p:sp>
        <p:nvSpPr>
          <p:cNvPr id="31" name="Text 29"/>
          <p:cNvSpPr txBox="1"/>
          <p:nvPr/>
        </p:nvSpPr>
        <p:spPr>
          <a:xfrm>
            <a:off x="548640"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mastery_snapshots, risk_scores, predictions, interventions, reports, model_registry</a:t>
            </a:r>
            <a:endParaRPr lang="en-US" sz="1200" dirty="0"/>
          </a:p>
        </p:txBody>
      </p:sp>
      <p:sp>
        <p:nvSpPr>
          <p:cNvPr id="32" name="Text 30"/>
          <p:cNvSpPr txBox="1"/>
          <p:nvPr/>
        </p:nvSpPr>
        <p:spPr>
          <a:xfrm>
            <a:off x="4270248" y="32644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OPERATIONS</a:t>
            </a:r>
            <a:endParaRPr lang="en-US" sz="1250" dirty="0"/>
          </a:p>
        </p:txBody>
      </p:sp>
      <p:sp>
        <p:nvSpPr>
          <p:cNvPr id="33" name="Shape 31"/>
          <p:cNvSpPr/>
          <p:nvPr/>
        </p:nvSpPr>
        <p:spPr>
          <a:xfrm>
            <a:off x="4270248" y="3557016"/>
            <a:ext cx="3611880" cy="10973"/>
          </a:xfrm>
          <a:prstGeom prst="rect">
            <a:avLst/>
          </a:prstGeom>
          <a:solidFill>
            <a:srgbClr val="C9D6E8"/>
          </a:solidFill>
          <a:ln/>
        </p:spPr>
      </p:sp>
      <p:sp>
        <p:nvSpPr>
          <p:cNvPr id="34" name="Shape 32"/>
          <p:cNvSpPr/>
          <p:nvPr/>
        </p:nvSpPr>
        <p:spPr>
          <a:xfrm>
            <a:off x="4270248" y="3547872"/>
            <a:ext cx="2194560" cy="27432"/>
          </a:xfrm>
          <a:prstGeom prst="rect">
            <a:avLst/>
          </a:prstGeom>
          <a:solidFill>
            <a:srgbClr val="1F4A82"/>
          </a:solidFill>
          <a:ln/>
        </p:spPr>
      </p:sp>
      <p:sp>
        <p:nvSpPr>
          <p:cNvPr id="35" name="Shape 33"/>
          <p:cNvSpPr/>
          <p:nvPr/>
        </p:nvSpPr>
        <p:spPr>
          <a:xfrm>
            <a:off x="7991856" y="3291840"/>
            <a:ext cx="0" cy="1874520"/>
          </a:xfrm>
          <a:prstGeom prst="line">
            <a:avLst/>
          </a:prstGeom>
          <a:noFill/>
          <a:ln w="12700">
            <a:solidFill>
              <a:srgbClr val="8FA9CC"/>
            </a:solidFill>
            <a:prstDash val="dash"/>
          </a:ln>
        </p:spPr>
      </p:sp>
      <p:sp>
        <p:nvSpPr>
          <p:cNvPr id="36" name="Text 34"/>
          <p:cNvSpPr txBox="1"/>
          <p:nvPr/>
        </p:nvSpPr>
        <p:spPr>
          <a:xfrm>
            <a:off x="4370832" y="3703320"/>
            <a:ext cx="3429000" cy="1371600"/>
          </a:xfrm>
          <a:prstGeom prst="rect">
            <a:avLst/>
          </a:prstGeom>
          <a:noFill/>
          <a:ln/>
        </p:spPr>
        <p:txBody>
          <a:bodyPr wrap="square" lIns="0" tIns="0" rIns="0" bIns="0" rtlCol="0" anchor="t"/>
          <a:lstStyle/>
          <a:p>
            <a:pPr algn="l" indent="0" marL="0">
              <a:buNone/>
            </a:pPr>
            <a:r>
              <a:rPr lang="en-US" sz="1200" dirty="0">
                <a:solidFill>
                  <a:srgbClr val="1F2937"/>
                </a:solidFill>
                <a:latin typeface="Calibri" pitchFamily="34" charset="0"/>
                <a:ea typeface="Calibri" pitchFamily="34" charset="-122"/>
                <a:cs typeface="Calibri" pitchFamily="34" charset="-120"/>
              </a:rPr>
              <a:t>ingest_jobs, omr_templates, audit_log</a:t>
            </a:r>
            <a:endParaRPr lang="en-US" sz="1200" dirty="0"/>
          </a:p>
        </p:txBody>
      </p:sp>
      <p:sp>
        <p:nvSpPr>
          <p:cNvPr id="37" name="Text 35"/>
          <p:cNvSpPr txBox="1"/>
          <p:nvPr/>
        </p:nvSpPr>
        <p:spPr>
          <a:xfrm>
            <a:off x="8092440" y="3493008"/>
            <a:ext cx="3611880" cy="274320"/>
          </a:xfrm>
          <a:prstGeom prst="rect">
            <a:avLst/>
          </a:prstGeom>
          <a:noFill/>
          <a:ln/>
        </p:spPr>
        <p:txBody>
          <a:bodyPr wrap="square" lIns="0" tIns="0" rIns="0" bIns="0" rtlCol="0" anchor="ctr"/>
          <a:lstStyle/>
          <a:p>
            <a:pPr algn="l" indent="0" marL="0">
              <a:buNone/>
            </a:pPr>
            <a:r>
              <a:rPr lang="en-US" sz="1250" b="1" dirty="0">
                <a:solidFill>
                  <a:srgbClr val="1F4A82"/>
                </a:solidFill>
                <a:latin typeface="Calibri" pitchFamily="34" charset="0"/>
                <a:ea typeface="Calibri" pitchFamily="34" charset="-122"/>
                <a:cs typeface="Calibri" pitchFamily="34" charset="-120"/>
              </a:rPr>
              <a:t>DELIBERATELY NOT STORED</a:t>
            </a:r>
            <a:endParaRPr lang="en-US" sz="1250" dirty="0"/>
          </a:p>
        </p:txBody>
      </p:sp>
      <p:sp>
        <p:nvSpPr>
          <p:cNvPr id="38" name="Shape 36"/>
          <p:cNvSpPr/>
          <p:nvPr/>
        </p:nvSpPr>
        <p:spPr>
          <a:xfrm>
            <a:off x="8092440" y="3785616"/>
            <a:ext cx="3611880" cy="10973"/>
          </a:xfrm>
          <a:prstGeom prst="rect">
            <a:avLst/>
          </a:prstGeom>
          <a:solidFill>
            <a:srgbClr val="C9D6E8"/>
          </a:solidFill>
          <a:ln/>
        </p:spPr>
      </p:sp>
      <p:sp>
        <p:nvSpPr>
          <p:cNvPr id="39" name="Shape 37"/>
          <p:cNvSpPr/>
          <p:nvPr/>
        </p:nvSpPr>
        <p:spPr>
          <a:xfrm>
            <a:off x="8092440" y="3776472"/>
            <a:ext cx="2194560" cy="27432"/>
          </a:xfrm>
          <a:prstGeom prst="rect">
            <a:avLst/>
          </a:prstGeom>
          <a:solidFill>
            <a:srgbClr val="1F4A82"/>
          </a:solidFill>
          <a:ln/>
        </p:spPr>
      </p:sp>
      <p:sp>
        <p:nvSpPr>
          <p:cNvPr id="40" name="Text 38"/>
          <p:cNvSpPr txBox="1"/>
          <p:nvPr/>
        </p:nvSpPr>
        <p:spPr>
          <a:xfrm>
            <a:off x="8238744" y="3840480"/>
            <a:ext cx="3383280" cy="1097280"/>
          </a:xfrm>
          <a:prstGeom prst="rect">
            <a:avLst/>
          </a:prstGeom>
          <a:noFill/>
          <a:ln/>
        </p:spPr>
        <p:txBody>
          <a:bodyPr wrap="square" lIns="0" tIns="0" rIns="0" bIns="0" rtlCol="0" anchor="t"/>
          <a:lstStyle/>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Counselling notes or mental-health information</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ID document images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Student photographs</a:t>
            </a:r>
            <a:endParaRPr lang="en-US" sz="1100" dirty="0"/>
          </a:p>
          <a:p>
            <a:pPr algn="l" marL="152400" indent="-1524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Any public rank</a:t>
            </a:r>
            <a:endParaRPr lang="en-US" sz="1100" dirty="0"/>
          </a:p>
        </p:txBody>
      </p:sp>
      <p:sp>
        <p:nvSpPr>
          <p:cNvPr id="41" name="Text 39"/>
          <p:cNvSpPr txBox="1"/>
          <p:nvPr/>
        </p:nvSpPr>
        <p:spPr>
          <a:xfrm>
            <a:off x="411480" y="5074920"/>
            <a:ext cx="7315200" cy="219456"/>
          </a:xfrm>
          <a:prstGeom prst="rect">
            <a:avLst/>
          </a:prstGeom>
          <a:noFill/>
          <a:ln/>
        </p:spPr>
        <p:txBody>
          <a:bodyPr wrap="square" lIns="0" tIns="0" rIns="0" bIns="0" rtlCol="0" anchor="t"/>
          <a:lstStyle/>
          <a:p>
            <a:pPr algn="l" indent="0" marL="0">
              <a:buNone/>
            </a:pPr>
            <a:r>
              <a:rPr lang="en-US" sz="1000" b="1" spc="50" kern="0" dirty="0">
                <a:solidFill>
                  <a:srgbClr val="1F4A82"/>
                </a:solidFill>
                <a:latin typeface="Calibri" pitchFamily="34" charset="0"/>
                <a:ea typeface="Calibri" pitchFamily="34" charset="-122"/>
                <a:cs typeface="Calibri" pitchFamily="34" charset="-120"/>
              </a:rPr>
              <a:t>HOW EVERY QUESTION GETS ITS TOPIC (SO TAGGING COSTS FALL AS WE GROW)</a:t>
            </a:r>
            <a:endParaRPr lang="en-US" sz="1000" dirty="0"/>
          </a:p>
        </p:txBody>
      </p:sp>
      <p:sp>
        <p:nvSpPr>
          <p:cNvPr id="42" name="Shape 40"/>
          <p:cNvSpPr/>
          <p:nvPr/>
        </p:nvSpPr>
        <p:spPr>
          <a:xfrm>
            <a:off x="411480" y="5330952"/>
            <a:ext cx="1559015" cy="457200"/>
          </a:xfrm>
          <a:prstGeom prst="homePlate">
            <a:avLst/>
          </a:prstGeom>
          <a:solidFill>
            <a:srgbClr val="1F4A82"/>
          </a:solidFill>
          <a:ln w="25400">
            <a:solidFill>
              <a:srgbClr val="FFFFFF"/>
            </a:solidFill>
            <a:prstDash val="solid"/>
          </a:ln>
        </p:spPr>
      </p:sp>
      <p:sp>
        <p:nvSpPr>
          <p:cNvPr id="43" name="Text 41"/>
          <p:cNvSpPr txBox="1"/>
          <p:nvPr/>
        </p:nvSpPr>
        <p:spPr>
          <a:xfrm>
            <a:off x="539496" y="5330952"/>
            <a:ext cx="1266407"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Question text</a:t>
            </a:r>
            <a:endParaRPr lang="en-US" sz="900" dirty="0"/>
          </a:p>
        </p:txBody>
      </p:sp>
      <p:sp>
        <p:nvSpPr>
          <p:cNvPr id="44" name="Shape 42"/>
          <p:cNvSpPr/>
          <p:nvPr/>
        </p:nvSpPr>
        <p:spPr>
          <a:xfrm>
            <a:off x="1850526" y="5330952"/>
            <a:ext cx="1559015" cy="457200"/>
          </a:xfrm>
          <a:prstGeom prst="chevron">
            <a:avLst/>
          </a:prstGeom>
          <a:solidFill>
            <a:srgbClr val="2E6DB4"/>
          </a:solidFill>
          <a:ln w="25400">
            <a:solidFill>
              <a:srgbClr val="FFFFFF"/>
            </a:solidFill>
            <a:prstDash val="solid"/>
          </a:ln>
        </p:spPr>
      </p:sp>
      <p:sp>
        <p:nvSpPr>
          <p:cNvPr id="45" name="Text 43"/>
          <p:cNvSpPr txBox="1"/>
          <p:nvPr/>
        </p:nvSpPr>
        <p:spPr>
          <a:xfrm>
            <a:off x="2033406"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Shortlist</a:t>
            </a:r>
            <a:endParaRPr lang="en-US" sz="1400" dirty="0"/>
          </a:p>
          <a:p>
            <a:pPr algn="ctr" indent="0" marL="0">
              <a:buNone/>
            </a:pPr>
            <a:r>
              <a:rPr lang="en-US" sz="650" dirty="0">
                <a:solidFill>
                  <a:srgbClr val="FFFFFF"/>
                </a:solidFill>
                <a:latin typeface="Calibri" pitchFamily="34" charset="0"/>
                <a:ea typeface="Calibri" pitchFamily="34" charset="-122"/>
                <a:cs typeface="Calibri" pitchFamily="34" charset="-120"/>
              </a:rPr>
              <a:t>embedding</a:t>
            </a:r>
            <a:endParaRPr lang="en-US" sz="1400" dirty="0"/>
          </a:p>
        </p:txBody>
      </p:sp>
      <p:sp>
        <p:nvSpPr>
          <p:cNvPr id="46" name="Shape 44"/>
          <p:cNvSpPr/>
          <p:nvPr/>
        </p:nvSpPr>
        <p:spPr>
          <a:xfrm>
            <a:off x="3289572" y="5330952"/>
            <a:ext cx="1559015" cy="457200"/>
          </a:xfrm>
          <a:prstGeom prst="chevron">
            <a:avLst/>
          </a:prstGeom>
          <a:solidFill>
            <a:srgbClr val="1F4A82"/>
          </a:solidFill>
          <a:ln w="25400">
            <a:solidFill>
              <a:srgbClr val="FFFFFF"/>
            </a:solidFill>
            <a:prstDash val="solid"/>
          </a:ln>
        </p:spPr>
      </p:sp>
      <p:sp>
        <p:nvSpPr>
          <p:cNvPr id="47" name="Text 45"/>
          <p:cNvSpPr txBox="1"/>
          <p:nvPr/>
        </p:nvSpPr>
        <p:spPr>
          <a:xfrm>
            <a:off x="3472452"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Local model picks</a:t>
            </a:r>
            <a:endParaRPr lang="en-US" sz="900" dirty="0"/>
          </a:p>
        </p:txBody>
      </p:sp>
      <p:sp>
        <p:nvSpPr>
          <p:cNvPr id="48" name="Shape 46"/>
          <p:cNvSpPr/>
          <p:nvPr/>
        </p:nvSpPr>
        <p:spPr>
          <a:xfrm>
            <a:off x="4728618" y="5330952"/>
            <a:ext cx="1559015" cy="457200"/>
          </a:xfrm>
          <a:prstGeom prst="chevron">
            <a:avLst/>
          </a:prstGeom>
          <a:solidFill>
            <a:srgbClr val="5B8DC9"/>
          </a:solidFill>
          <a:ln w="25400">
            <a:solidFill>
              <a:srgbClr val="FFFFFF"/>
            </a:solidFill>
            <a:prstDash val="solid"/>
          </a:ln>
        </p:spPr>
      </p:sp>
      <p:sp>
        <p:nvSpPr>
          <p:cNvPr id="49" name="Text 47"/>
          <p:cNvSpPr txBox="1"/>
          <p:nvPr/>
        </p:nvSpPr>
        <p:spPr>
          <a:xfrm>
            <a:off x="4911498"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Teacher 1-tap</a:t>
            </a:r>
            <a:endParaRPr lang="en-US" sz="900" dirty="0"/>
          </a:p>
        </p:txBody>
      </p:sp>
      <p:sp>
        <p:nvSpPr>
          <p:cNvPr id="50" name="Shape 48"/>
          <p:cNvSpPr/>
          <p:nvPr/>
        </p:nvSpPr>
        <p:spPr>
          <a:xfrm>
            <a:off x="6167665" y="5330952"/>
            <a:ext cx="1559015" cy="457200"/>
          </a:xfrm>
          <a:prstGeom prst="chevron">
            <a:avLst/>
          </a:prstGeom>
          <a:solidFill>
            <a:srgbClr val="1F4A82"/>
          </a:solidFill>
          <a:ln w="25400">
            <a:solidFill>
              <a:srgbClr val="FFFFFF"/>
            </a:solidFill>
            <a:prstDash val="solid"/>
          </a:ln>
        </p:spPr>
      </p:sp>
      <p:sp>
        <p:nvSpPr>
          <p:cNvPr id="51" name="Text 49"/>
          <p:cNvSpPr txBox="1"/>
          <p:nvPr/>
        </p:nvSpPr>
        <p:spPr>
          <a:xfrm>
            <a:off x="6350545" y="5330952"/>
            <a:ext cx="1211543"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Shared bank</a:t>
            </a:r>
            <a:endParaRPr lang="en-US" sz="900" dirty="0"/>
          </a:p>
        </p:txBody>
      </p:sp>
      <p:sp>
        <p:nvSpPr>
          <p:cNvPr id="52" name="Shape 50"/>
          <p:cNvSpPr/>
          <p:nvPr/>
        </p:nvSpPr>
        <p:spPr>
          <a:xfrm>
            <a:off x="411480" y="5852160"/>
            <a:ext cx="11368735" cy="310896"/>
          </a:xfrm>
          <a:prstGeom prst="rect">
            <a:avLst/>
          </a:prstGeom>
          <a:solidFill>
            <a:srgbClr val="1F4A82"/>
          </a:solidFill>
          <a:ln/>
        </p:spPr>
      </p:sp>
      <p:sp>
        <p:nvSpPr>
          <p:cNvPr id="53" name="Text 51"/>
          <p:cNvSpPr txBox="1"/>
          <p:nvPr/>
        </p:nvSpPr>
        <p:spPr>
          <a:xfrm>
            <a:off x="548640" y="5852160"/>
            <a:ext cx="11094415"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Row-level security on every tenant table; another institute sees 0 rows (tested on PostgreSQL 16)</a:t>
            </a:r>
            <a:endParaRPr lang="en-US" sz="1200" dirty="0"/>
          </a:p>
        </p:txBody>
      </p:sp>
      <p:sp>
        <p:nvSpPr>
          <p:cNvPr id="54" name="Text 52"/>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technical/contracts/schema.sql. Synthetic data: 4 institutes, 3 academic years, known ground truth.</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6: LEGAL BASIS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The rules we design against, and what we do about each</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LEGAL BASIS</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11368735" cy="5212080"/>
          </a:xfrm>
          <a:prstGeom prst="rect">
            <a:avLst/>
          </a:prstGeom>
          <a:solidFill>
            <a:srgbClr val="FFFFFF"/>
          </a:solidFill>
          <a:ln w="12700">
            <a:solidFill>
              <a:srgbClr val="C9D6E8"/>
            </a:solidFill>
            <a:prstDash val="solid"/>
          </a:ln>
        </p:spPr>
      </p:sp>
      <p:sp>
        <p:nvSpPr>
          <p:cNvPr id="17" name="Shape 15"/>
          <p:cNvSpPr/>
          <p:nvPr/>
        </p:nvSpPr>
        <p:spPr>
          <a:xfrm>
            <a:off x="502920" y="1234440"/>
            <a:ext cx="3017520" cy="310896"/>
          </a:xfrm>
          <a:prstGeom prst="rect">
            <a:avLst/>
          </a:prstGeom>
          <a:solidFill>
            <a:srgbClr val="1F4A82"/>
          </a:solidFill>
          <a:ln/>
        </p:spPr>
      </p:sp>
      <p:sp>
        <p:nvSpPr>
          <p:cNvPr id="18" name="Text 16"/>
          <p:cNvSpPr txBox="1"/>
          <p:nvPr/>
        </p:nvSpPr>
        <p:spPr>
          <a:xfrm>
            <a:off x="548640" y="1234440"/>
            <a:ext cx="292608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19" name="Shape 17"/>
          <p:cNvSpPr/>
          <p:nvPr/>
        </p:nvSpPr>
        <p:spPr>
          <a:xfrm>
            <a:off x="3520440" y="1234440"/>
            <a:ext cx="8138160" cy="310896"/>
          </a:xfrm>
          <a:prstGeom prst="rect">
            <a:avLst/>
          </a:prstGeom>
          <a:solidFill>
            <a:srgbClr val="1F4A82"/>
          </a:solidFill>
          <a:ln/>
        </p:spPr>
      </p:sp>
      <p:sp>
        <p:nvSpPr>
          <p:cNvPr id="20" name="Text 18"/>
          <p:cNvSpPr txBox="1"/>
          <p:nvPr/>
        </p:nvSpPr>
        <p:spPr>
          <a:xfrm>
            <a:off x="3566160" y="1234440"/>
            <a:ext cx="80467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Our response</a:t>
            </a:r>
            <a:endParaRPr lang="en-US" sz="1100" dirty="0"/>
          </a:p>
        </p:txBody>
      </p:sp>
      <p:sp>
        <p:nvSpPr>
          <p:cNvPr id="21" name="Shape 19"/>
          <p:cNvSpPr/>
          <p:nvPr/>
        </p:nvSpPr>
        <p:spPr>
          <a:xfrm>
            <a:off x="502920" y="1545336"/>
            <a:ext cx="3017520" cy="566928"/>
          </a:xfrm>
          <a:prstGeom prst="rect">
            <a:avLst/>
          </a:prstGeom>
          <a:solidFill>
            <a:srgbClr val="F1F7F3"/>
          </a:solidFill>
          <a:ln/>
        </p:spPr>
      </p:sp>
      <p:sp>
        <p:nvSpPr>
          <p:cNvPr id="22" name="Text 20"/>
          <p:cNvSpPr txBox="1"/>
          <p:nvPr/>
        </p:nvSpPr>
        <p:spPr>
          <a:xfrm>
            <a:off x="548640" y="154533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s.9(1), Rule 10</a:t>
            </a:r>
            <a:endParaRPr lang="en-US" sz="1100" dirty="0"/>
          </a:p>
        </p:txBody>
      </p:sp>
      <p:sp>
        <p:nvSpPr>
          <p:cNvPr id="23" name="Shape 21"/>
          <p:cNvSpPr/>
          <p:nvPr/>
        </p:nvSpPr>
        <p:spPr>
          <a:xfrm>
            <a:off x="3520440" y="1545336"/>
            <a:ext cx="8138160" cy="566928"/>
          </a:xfrm>
          <a:prstGeom prst="rect">
            <a:avLst/>
          </a:prstGeom>
          <a:solidFill>
            <a:srgbClr val="F1F7F3"/>
          </a:solidFill>
          <a:ln/>
        </p:spPr>
      </p:sp>
      <p:sp>
        <p:nvSpPr>
          <p:cNvPr id="24" name="Text 22"/>
          <p:cNvSpPr txBox="1"/>
          <p:nvPr/>
        </p:nvSpPr>
        <p:spPr>
          <a:xfrm>
            <a:off x="3566160" y="154533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Verifiable parental consent before processing a minor's data: ID checked at the admission desk, consent recorded per purpose.</a:t>
            </a:r>
            <a:endParaRPr lang="en-US" sz="1100" dirty="0"/>
          </a:p>
        </p:txBody>
      </p:sp>
      <p:sp>
        <p:nvSpPr>
          <p:cNvPr id="25" name="Shape 23"/>
          <p:cNvSpPr/>
          <p:nvPr/>
        </p:nvSpPr>
        <p:spPr>
          <a:xfrm>
            <a:off x="502920" y="2112264"/>
            <a:ext cx="11155680" cy="0"/>
          </a:xfrm>
          <a:prstGeom prst="line">
            <a:avLst/>
          </a:prstGeom>
          <a:noFill/>
          <a:ln w="6350">
            <a:solidFill>
              <a:srgbClr val="E3E8E4"/>
            </a:solidFill>
            <a:prstDash val="solid"/>
          </a:ln>
        </p:spPr>
      </p:sp>
      <p:sp>
        <p:nvSpPr>
          <p:cNvPr id="26" name="Shape 24"/>
          <p:cNvSpPr/>
          <p:nvPr/>
        </p:nvSpPr>
        <p:spPr>
          <a:xfrm>
            <a:off x="502920" y="2112264"/>
            <a:ext cx="3017520" cy="566928"/>
          </a:xfrm>
          <a:prstGeom prst="rect">
            <a:avLst/>
          </a:prstGeom>
          <a:solidFill>
            <a:srgbClr val="FFFFFF"/>
          </a:solidFill>
          <a:ln/>
        </p:spPr>
      </p:sp>
      <p:sp>
        <p:nvSpPr>
          <p:cNvPr id="27" name="Text 25"/>
          <p:cNvSpPr txBox="1"/>
          <p:nvPr/>
        </p:nvSpPr>
        <p:spPr>
          <a:xfrm>
            <a:off x="548640" y="211226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Act s.9(3)</a:t>
            </a:r>
            <a:endParaRPr lang="en-US" sz="1100" dirty="0"/>
          </a:p>
        </p:txBody>
      </p:sp>
      <p:sp>
        <p:nvSpPr>
          <p:cNvPr id="28" name="Shape 26"/>
          <p:cNvSpPr/>
          <p:nvPr/>
        </p:nvSpPr>
        <p:spPr>
          <a:xfrm>
            <a:off x="3520440" y="2112264"/>
            <a:ext cx="8138160" cy="566928"/>
          </a:xfrm>
          <a:prstGeom prst="rect">
            <a:avLst/>
          </a:prstGeom>
          <a:solidFill>
            <a:srgbClr val="FFFFFF"/>
          </a:solidFill>
          <a:ln/>
        </p:spPr>
      </p:sp>
      <p:sp>
        <p:nvSpPr>
          <p:cNvPr id="29" name="Text 27"/>
          <p:cNvSpPr txBox="1"/>
          <p:nvPr/>
        </p:nvSpPr>
        <p:spPr>
          <a:xfrm>
            <a:off x="3566160" y="211226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tracking or behavioural monitoring of children: under 18, academic support uses a model; dropout and fee signals use plain rules.</a:t>
            </a:r>
            <a:endParaRPr lang="en-US" sz="1100" dirty="0"/>
          </a:p>
        </p:txBody>
      </p:sp>
      <p:sp>
        <p:nvSpPr>
          <p:cNvPr id="30" name="Shape 28"/>
          <p:cNvSpPr/>
          <p:nvPr/>
        </p:nvSpPr>
        <p:spPr>
          <a:xfrm>
            <a:off x="502920" y="2679192"/>
            <a:ext cx="11155680" cy="0"/>
          </a:xfrm>
          <a:prstGeom prst="line">
            <a:avLst/>
          </a:prstGeom>
          <a:noFill/>
          <a:ln w="6350">
            <a:solidFill>
              <a:srgbClr val="E3E8E4"/>
            </a:solidFill>
            <a:prstDash val="solid"/>
          </a:ln>
        </p:spPr>
      </p:sp>
      <p:sp>
        <p:nvSpPr>
          <p:cNvPr id="31" name="Shape 29"/>
          <p:cNvSpPr/>
          <p:nvPr/>
        </p:nvSpPr>
        <p:spPr>
          <a:xfrm>
            <a:off x="502920" y="2679192"/>
            <a:ext cx="3017520" cy="566928"/>
          </a:xfrm>
          <a:prstGeom prst="rect">
            <a:avLst/>
          </a:prstGeom>
          <a:solidFill>
            <a:srgbClr val="F1F7F3"/>
          </a:solidFill>
          <a:ln/>
        </p:spPr>
      </p:sp>
      <p:sp>
        <p:nvSpPr>
          <p:cNvPr id="32" name="Text 30"/>
          <p:cNvSpPr txBox="1"/>
          <p:nvPr/>
        </p:nvSpPr>
        <p:spPr>
          <a:xfrm>
            <a:off x="548640" y="267919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Fourth Schedule, educational institutions</a:t>
            </a:r>
            <a:endParaRPr lang="en-US" sz="1100" dirty="0"/>
          </a:p>
        </p:txBody>
      </p:sp>
      <p:sp>
        <p:nvSpPr>
          <p:cNvPr id="33" name="Shape 31"/>
          <p:cNvSpPr/>
          <p:nvPr/>
        </p:nvSpPr>
        <p:spPr>
          <a:xfrm>
            <a:off x="3520440" y="2679192"/>
            <a:ext cx="8138160" cy="566928"/>
          </a:xfrm>
          <a:prstGeom prst="rect">
            <a:avLst/>
          </a:prstGeom>
          <a:solidFill>
            <a:srgbClr val="F1F7F3"/>
          </a:solidFill>
          <a:ln/>
        </p:spPr>
      </p:sp>
      <p:sp>
        <p:nvSpPr>
          <p:cNvPr id="34" name="Text 32"/>
          <p:cNvSpPr txBox="1"/>
          <p:nvPr/>
        </p:nvSpPr>
        <p:spPr>
          <a:xfrm>
            <a:off x="3566160" y="267919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Narrow and purpose-limited, so we do not rely on it for consent.</a:t>
            </a:r>
            <a:endParaRPr lang="en-US" sz="1100" dirty="0"/>
          </a:p>
        </p:txBody>
      </p:sp>
      <p:sp>
        <p:nvSpPr>
          <p:cNvPr id="35" name="Shape 33"/>
          <p:cNvSpPr/>
          <p:nvPr/>
        </p:nvSpPr>
        <p:spPr>
          <a:xfrm>
            <a:off x="502920" y="3246120"/>
            <a:ext cx="11155680" cy="0"/>
          </a:xfrm>
          <a:prstGeom prst="line">
            <a:avLst/>
          </a:prstGeom>
          <a:noFill/>
          <a:ln w="6350">
            <a:solidFill>
              <a:srgbClr val="E3E8E4"/>
            </a:solidFill>
            <a:prstDash val="solid"/>
          </a:ln>
        </p:spPr>
      </p:sp>
      <p:sp>
        <p:nvSpPr>
          <p:cNvPr id="36" name="Shape 34"/>
          <p:cNvSpPr/>
          <p:nvPr/>
        </p:nvSpPr>
        <p:spPr>
          <a:xfrm>
            <a:off x="502920" y="3246120"/>
            <a:ext cx="3017520" cy="566928"/>
          </a:xfrm>
          <a:prstGeom prst="rect">
            <a:avLst/>
          </a:prstGeom>
          <a:solidFill>
            <a:srgbClr val="FFFFFF"/>
          </a:solidFill>
          <a:ln/>
        </p:spPr>
      </p:sp>
      <p:sp>
        <p:nvSpPr>
          <p:cNvPr id="37" name="Text 35"/>
          <p:cNvSpPr txBox="1"/>
          <p:nvPr/>
        </p:nvSpPr>
        <p:spPr>
          <a:xfrm>
            <a:off x="548640" y="3246120"/>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DPDP Rules, Rules 6 and 7</a:t>
            </a:r>
            <a:endParaRPr lang="en-US" sz="1100" dirty="0"/>
          </a:p>
        </p:txBody>
      </p:sp>
      <p:sp>
        <p:nvSpPr>
          <p:cNvPr id="38" name="Shape 36"/>
          <p:cNvSpPr/>
          <p:nvPr/>
        </p:nvSpPr>
        <p:spPr>
          <a:xfrm>
            <a:off x="3520440" y="3246120"/>
            <a:ext cx="8138160" cy="566928"/>
          </a:xfrm>
          <a:prstGeom prst="rect">
            <a:avLst/>
          </a:prstGeom>
          <a:solidFill>
            <a:srgbClr val="FFFFFF"/>
          </a:solidFill>
          <a:ln/>
        </p:spPr>
      </p:sp>
      <p:sp>
        <p:nvSpPr>
          <p:cNvPr id="39" name="Text 37"/>
          <p:cNvSpPr txBox="1"/>
          <p:nvPr/>
        </p:nvSpPr>
        <p:spPr>
          <a:xfrm>
            <a:off x="3566160" y="3246120"/>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Encryption, access control, logs kept one year, breach notice to the institute within hours.</a:t>
            </a:r>
            <a:endParaRPr lang="en-US" sz="1100" dirty="0"/>
          </a:p>
        </p:txBody>
      </p:sp>
      <p:sp>
        <p:nvSpPr>
          <p:cNvPr id="40" name="Shape 38"/>
          <p:cNvSpPr/>
          <p:nvPr/>
        </p:nvSpPr>
        <p:spPr>
          <a:xfrm>
            <a:off x="502920" y="3813048"/>
            <a:ext cx="11155680" cy="0"/>
          </a:xfrm>
          <a:prstGeom prst="line">
            <a:avLst/>
          </a:prstGeom>
          <a:noFill/>
          <a:ln w="6350">
            <a:solidFill>
              <a:srgbClr val="E3E8E4"/>
            </a:solidFill>
            <a:prstDash val="solid"/>
          </a:ln>
        </p:spPr>
      </p:sp>
      <p:sp>
        <p:nvSpPr>
          <p:cNvPr id="41" name="Shape 39"/>
          <p:cNvSpPr/>
          <p:nvPr/>
        </p:nvSpPr>
        <p:spPr>
          <a:xfrm>
            <a:off x="502920" y="3813048"/>
            <a:ext cx="3017520" cy="566928"/>
          </a:xfrm>
          <a:prstGeom prst="rect">
            <a:avLst/>
          </a:prstGeom>
          <a:solidFill>
            <a:srgbClr val="F1F7F3"/>
          </a:solidFill>
          <a:ln/>
        </p:spPr>
      </p:sp>
      <p:sp>
        <p:nvSpPr>
          <p:cNvPr id="42" name="Text 40"/>
          <p:cNvSpPr txBox="1"/>
          <p:nvPr/>
        </p:nvSpPr>
        <p:spPr>
          <a:xfrm>
            <a:off x="548640" y="3813048"/>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10.2(xi)</a:t>
            </a:r>
            <a:endParaRPr lang="en-US" sz="1100" dirty="0"/>
          </a:p>
        </p:txBody>
      </p:sp>
      <p:sp>
        <p:nvSpPr>
          <p:cNvPr id="43" name="Shape 41"/>
          <p:cNvSpPr/>
          <p:nvPr/>
        </p:nvSpPr>
        <p:spPr>
          <a:xfrm>
            <a:off x="3520440" y="3813048"/>
            <a:ext cx="8138160" cy="566928"/>
          </a:xfrm>
          <a:prstGeom prst="rect">
            <a:avLst/>
          </a:prstGeom>
          <a:solidFill>
            <a:srgbClr val="F1F7F3"/>
          </a:solidFill>
          <a:ln/>
        </p:spPr>
      </p:sp>
      <p:sp>
        <p:nvSpPr>
          <p:cNvPr id="44" name="Text 42"/>
          <p:cNvSpPr txBox="1"/>
          <p:nvPr/>
        </p:nvSpPr>
        <p:spPr>
          <a:xfrm>
            <a:off x="3566160" y="3813048"/>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Results stay private; early warning leads to counselling, never public ranks.</a:t>
            </a:r>
            <a:endParaRPr lang="en-US" sz="1100" dirty="0"/>
          </a:p>
        </p:txBody>
      </p:sp>
      <p:sp>
        <p:nvSpPr>
          <p:cNvPr id="45" name="Shape 43"/>
          <p:cNvSpPr/>
          <p:nvPr/>
        </p:nvSpPr>
        <p:spPr>
          <a:xfrm>
            <a:off x="502920" y="4379976"/>
            <a:ext cx="11155680" cy="0"/>
          </a:xfrm>
          <a:prstGeom prst="line">
            <a:avLst/>
          </a:prstGeom>
          <a:noFill/>
          <a:ln w="6350">
            <a:solidFill>
              <a:srgbClr val="E3E8E4"/>
            </a:solidFill>
            <a:prstDash val="solid"/>
          </a:ln>
        </p:spPr>
      </p:sp>
      <p:sp>
        <p:nvSpPr>
          <p:cNvPr id="46" name="Shape 44"/>
          <p:cNvSpPr/>
          <p:nvPr/>
        </p:nvSpPr>
        <p:spPr>
          <a:xfrm>
            <a:off x="502920" y="4379976"/>
            <a:ext cx="3017520" cy="566928"/>
          </a:xfrm>
          <a:prstGeom prst="rect">
            <a:avLst/>
          </a:prstGeom>
          <a:solidFill>
            <a:srgbClr val="FFFFFF"/>
          </a:solidFill>
          <a:ln/>
        </p:spPr>
      </p:sp>
      <p:sp>
        <p:nvSpPr>
          <p:cNvPr id="47" name="Text 45"/>
          <p:cNvSpPr txBox="1"/>
          <p:nvPr/>
        </p:nvSpPr>
        <p:spPr>
          <a:xfrm>
            <a:off x="548640" y="4379976"/>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12(vii)</a:t>
            </a:r>
            <a:endParaRPr lang="en-US" sz="1100" dirty="0"/>
          </a:p>
        </p:txBody>
      </p:sp>
      <p:sp>
        <p:nvSpPr>
          <p:cNvPr id="48" name="Shape 46"/>
          <p:cNvSpPr/>
          <p:nvPr/>
        </p:nvSpPr>
        <p:spPr>
          <a:xfrm>
            <a:off x="3520440" y="4379976"/>
            <a:ext cx="8138160" cy="566928"/>
          </a:xfrm>
          <a:prstGeom prst="rect">
            <a:avLst/>
          </a:prstGeom>
          <a:solidFill>
            <a:srgbClr val="FFFFFF"/>
          </a:solidFill>
          <a:ln/>
        </p:spPr>
      </p:sp>
      <p:sp>
        <p:nvSpPr>
          <p:cNvPr id="49" name="Text 47"/>
          <p:cNvSpPr txBox="1"/>
          <p:nvPr/>
        </p:nvSpPr>
        <p:spPr>
          <a:xfrm>
            <a:off x="3566160" y="4379976"/>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No batch moves based on performance; remedial help is an extra session.</a:t>
            </a:r>
            <a:endParaRPr lang="en-US" sz="1100" dirty="0"/>
          </a:p>
        </p:txBody>
      </p:sp>
      <p:sp>
        <p:nvSpPr>
          <p:cNvPr id="50" name="Shape 48"/>
          <p:cNvSpPr/>
          <p:nvPr/>
        </p:nvSpPr>
        <p:spPr>
          <a:xfrm>
            <a:off x="502920" y="4946904"/>
            <a:ext cx="11155680" cy="0"/>
          </a:xfrm>
          <a:prstGeom prst="line">
            <a:avLst/>
          </a:prstGeom>
          <a:noFill/>
          <a:ln w="6350">
            <a:solidFill>
              <a:srgbClr val="E3E8E4"/>
            </a:solidFill>
            <a:prstDash val="solid"/>
          </a:ln>
        </p:spPr>
      </p:sp>
      <p:sp>
        <p:nvSpPr>
          <p:cNvPr id="51" name="Shape 49"/>
          <p:cNvSpPr/>
          <p:nvPr/>
        </p:nvSpPr>
        <p:spPr>
          <a:xfrm>
            <a:off x="502920" y="4946904"/>
            <a:ext cx="3017520" cy="566928"/>
          </a:xfrm>
          <a:prstGeom prst="rect">
            <a:avLst/>
          </a:prstGeom>
          <a:solidFill>
            <a:srgbClr val="F1F7F3"/>
          </a:solidFill>
          <a:ln/>
        </p:spPr>
      </p:sp>
      <p:sp>
        <p:nvSpPr>
          <p:cNvPr id="52" name="Text 50"/>
          <p:cNvSpPr txBox="1"/>
          <p:nvPr/>
        </p:nvSpPr>
        <p:spPr>
          <a:xfrm>
            <a:off x="548640" y="4946904"/>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MoE Guidelines 2024, cl. 8(iv), 10.1</a:t>
            </a:r>
            <a:endParaRPr lang="en-US" sz="1100" dirty="0"/>
          </a:p>
        </p:txBody>
      </p:sp>
      <p:sp>
        <p:nvSpPr>
          <p:cNvPr id="53" name="Shape 51"/>
          <p:cNvSpPr/>
          <p:nvPr/>
        </p:nvSpPr>
        <p:spPr>
          <a:xfrm>
            <a:off x="3520440" y="4946904"/>
            <a:ext cx="8138160" cy="566928"/>
          </a:xfrm>
          <a:prstGeom prst="rect">
            <a:avLst/>
          </a:prstGeom>
          <a:solidFill>
            <a:srgbClr val="F1F7F3"/>
          </a:solidFill>
          <a:ln/>
        </p:spPr>
      </p:sp>
      <p:sp>
        <p:nvSpPr>
          <p:cNvPr id="54" name="Text 52"/>
          <p:cNvSpPr txBox="1"/>
          <p:nvPr/>
        </p:nvSpPr>
        <p:spPr>
          <a:xfrm>
            <a:off x="3566160" y="4946904"/>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Pro-rata refund within 10 days; no test the day after the weekly off.</a:t>
            </a:r>
            <a:endParaRPr lang="en-US" sz="1100" dirty="0"/>
          </a:p>
        </p:txBody>
      </p:sp>
      <p:sp>
        <p:nvSpPr>
          <p:cNvPr id="55" name="Shape 53"/>
          <p:cNvSpPr/>
          <p:nvPr/>
        </p:nvSpPr>
        <p:spPr>
          <a:xfrm>
            <a:off x="502920" y="5513832"/>
            <a:ext cx="11155680" cy="0"/>
          </a:xfrm>
          <a:prstGeom prst="line">
            <a:avLst/>
          </a:prstGeom>
          <a:noFill/>
          <a:ln w="6350">
            <a:solidFill>
              <a:srgbClr val="E3E8E4"/>
            </a:solidFill>
            <a:prstDash val="solid"/>
          </a:ln>
        </p:spPr>
      </p:sp>
      <p:sp>
        <p:nvSpPr>
          <p:cNvPr id="56" name="Shape 54"/>
          <p:cNvSpPr/>
          <p:nvPr/>
        </p:nvSpPr>
        <p:spPr>
          <a:xfrm>
            <a:off x="502920" y="5513832"/>
            <a:ext cx="3017520" cy="566928"/>
          </a:xfrm>
          <a:prstGeom prst="rect">
            <a:avLst/>
          </a:prstGeom>
          <a:solidFill>
            <a:srgbClr val="FFFFFF"/>
          </a:solidFill>
          <a:ln/>
        </p:spPr>
      </p:sp>
      <p:sp>
        <p:nvSpPr>
          <p:cNvPr id="57" name="Text 55"/>
          <p:cNvSpPr txBox="1"/>
          <p:nvPr/>
        </p:nvSpPr>
        <p:spPr>
          <a:xfrm>
            <a:off x="548640" y="5513832"/>
            <a:ext cx="2926080" cy="566928"/>
          </a:xfrm>
          <a:prstGeom prst="rect">
            <a:avLst/>
          </a:prstGeom>
          <a:noFill/>
          <a:ln/>
        </p:spPr>
        <p:txBody>
          <a:bodyPr wrap="square" lIns="0" tIns="0" rIns="0" bIns="0" rtlCol="0" anchor="ctr"/>
          <a:lstStyle/>
          <a:p>
            <a:pPr algn="l" indent="0" marL="0">
              <a:buNone/>
            </a:pPr>
            <a:r>
              <a:rPr lang="en-US" sz="1100" b="1" dirty="0">
                <a:solidFill>
                  <a:srgbClr val="1F2937"/>
                </a:solidFill>
                <a:latin typeface="Calibri" pitchFamily="34" charset="0"/>
                <a:ea typeface="Calibri" pitchFamily="34" charset="-122"/>
                <a:cs typeface="Calibri" pitchFamily="34" charset="-120"/>
              </a:rPr>
              <a:t>Rajasthan Act 2025, s.6(2)(d)</a:t>
            </a:r>
            <a:endParaRPr lang="en-US" sz="1100" dirty="0"/>
          </a:p>
        </p:txBody>
      </p:sp>
      <p:sp>
        <p:nvSpPr>
          <p:cNvPr id="58" name="Shape 56"/>
          <p:cNvSpPr/>
          <p:nvPr/>
        </p:nvSpPr>
        <p:spPr>
          <a:xfrm>
            <a:off x="3520440" y="5513832"/>
            <a:ext cx="8138160" cy="566928"/>
          </a:xfrm>
          <a:prstGeom prst="rect">
            <a:avLst/>
          </a:prstGeom>
          <a:solidFill>
            <a:srgbClr val="FFFFFF"/>
          </a:solidFill>
          <a:ln/>
        </p:spPr>
      </p:sp>
      <p:sp>
        <p:nvSpPr>
          <p:cNvPr id="59" name="Text 57"/>
          <p:cNvSpPr txBox="1"/>
          <p:nvPr/>
        </p:nvSpPr>
        <p:spPr>
          <a:xfrm>
            <a:off x="3566160" y="5513832"/>
            <a:ext cx="8046720" cy="566928"/>
          </a:xfrm>
          <a:prstGeom prst="rect">
            <a:avLst/>
          </a:prstGeom>
          <a:noFill/>
          <a:ln/>
        </p:spPr>
        <p:txBody>
          <a:bodyPr wrap="square" lIns="0" tIns="0" rIns="0" bIns="0" rtlCol="0" anchor="ctr"/>
          <a:lstStyle/>
          <a:p>
            <a:pPr algn="l" indent="0" marL="0">
              <a:buNone/>
            </a:pPr>
            <a:r>
              <a:rPr lang="en-US" sz="1100" dirty="0">
                <a:solidFill>
                  <a:srgbClr val="1F2937"/>
                </a:solidFill>
                <a:latin typeface="Calibri" pitchFamily="34" charset="0"/>
                <a:ea typeface="Calibri" pitchFamily="34" charset="-122"/>
                <a:cs typeface="Calibri" pitchFamily="34" charset="-120"/>
              </a:rPr>
              <a:t>Fee plans support four or more equal instalments.</a:t>
            </a:r>
            <a:endParaRPr lang="en-US" sz="1100" dirty="0"/>
          </a:p>
        </p:txBody>
      </p:sp>
      <p:sp>
        <p:nvSpPr>
          <p:cNvPr id="60" name="Shape 58"/>
          <p:cNvSpPr/>
          <p:nvPr/>
        </p:nvSpPr>
        <p:spPr>
          <a:xfrm>
            <a:off x="502920" y="6080760"/>
            <a:ext cx="11155680" cy="0"/>
          </a:xfrm>
          <a:prstGeom prst="line">
            <a:avLst/>
          </a:prstGeom>
          <a:noFill/>
          <a:ln w="6350">
            <a:solidFill>
              <a:srgbClr val="E3E8E4"/>
            </a:solidFill>
            <a:prstDash val="solid"/>
          </a:ln>
        </p:spPr>
      </p:sp>
      <p:sp>
        <p:nvSpPr>
          <p:cNvPr id="61" name="Text 59"/>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DPDP Act 2023, DPDP Rules 2025, MoE Guidelines 2024, Rajasthan Coaching Centres Act 2025 (technical/docs/TECH_PLAN.md, section 24). Not legal advice.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7: MODEL CARD AND GO-LIVE GATES</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How we will know each model works before an institute relies on it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VALIDATION PLAN AND MODEL CARD</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256032" cy="256032"/>
          </a:xfrm>
          <a:prstGeom prst="rect">
            <a:avLst/>
          </a:prstGeom>
          <a:solidFill>
            <a:srgbClr val="1F4A82"/>
          </a:solidFill>
          <a:ln/>
        </p:spPr>
      </p:sp>
      <p:sp>
        <p:nvSpPr>
          <p:cNvPr id="17" name="Text 15"/>
          <p:cNvSpPr txBox="1"/>
          <p:nvPr/>
        </p:nvSpPr>
        <p:spPr>
          <a:xfrm>
            <a:off x="41148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p>
        </p:txBody>
      </p:sp>
      <p:sp>
        <p:nvSpPr>
          <p:cNvPr id="18" name="Text 16"/>
          <p:cNvSpPr txBox="1"/>
          <p:nvPr/>
        </p:nvSpPr>
        <p:spPr>
          <a:xfrm>
            <a:off x="740664" y="1115568"/>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WE SPLIT AND COMPARE</a:t>
            </a:r>
            <a:endParaRPr lang="en-US" sz="1200" dirty="0"/>
          </a:p>
        </p:txBody>
      </p:sp>
      <p:sp>
        <p:nvSpPr>
          <p:cNvPr id="19" name="Shape 17"/>
          <p:cNvSpPr/>
          <p:nvPr/>
        </p:nvSpPr>
        <p:spPr>
          <a:xfrm>
            <a:off x="411480" y="1463040"/>
            <a:ext cx="73152" cy="530352"/>
          </a:xfrm>
          <a:prstGeom prst="rect">
            <a:avLst/>
          </a:prstGeom>
          <a:solidFill>
            <a:srgbClr val="1F4A82"/>
          </a:solidFill>
          <a:ln/>
        </p:spPr>
      </p:sp>
      <p:sp>
        <p:nvSpPr>
          <p:cNvPr id="20" name="Text 18"/>
          <p:cNvSpPr txBox="1"/>
          <p:nvPr/>
        </p:nvSpPr>
        <p:spPr>
          <a:xfrm>
            <a:off x="576072" y="1463040"/>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By student and by year</a:t>
            </a:r>
            <a:endParaRPr lang="en-US" sz="1050" dirty="0"/>
          </a:p>
        </p:txBody>
      </p:sp>
      <p:sp>
        <p:nvSpPr>
          <p:cNvPr id="21" name="Text 19"/>
          <p:cNvSpPr txBox="1"/>
          <p:nvPr/>
        </p:nvSpPr>
        <p:spPr>
          <a:xfrm>
            <a:off x="576072" y="1682496"/>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Features use only data before the as-of date; never split by row.</a:t>
            </a:r>
            <a:endParaRPr lang="en-US" sz="900" dirty="0"/>
          </a:p>
        </p:txBody>
      </p:sp>
      <p:sp>
        <p:nvSpPr>
          <p:cNvPr id="22" name="Shape 20"/>
          <p:cNvSpPr/>
          <p:nvPr/>
        </p:nvSpPr>
        <p:spPr>
          <a:xfrm>
            <a:off x="411480" y="2066544"/>
            <a:ext cx="73152" cy="530352"/>
          </a:xfrm>
          <a:prstGeom prst="rect">
            <a:avLst/>
          </a:prstGeom>
          <a:solidFill>
            <a:srgbClr val="1F4A82"/>
          </a:solidFill>
          <a:ln/>
        </p:spPr>
      </p:sp>
      <p:sp>
        <p:nvSpPr>
          <p:cNvPr id="23" name="Text 21"/>
          <p:cNvSpPr txBox="1"/>
          <p:nvPr/>
        </p:nvSpPr>
        <p:spPr>
          <a:xfrm>
            <a:off x="576072" y="2066544"/>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Baselines at equal workload</a:t>
            </a:r>
            <a:endParaRPr lang="en-US" sz="1050" dirty="0"/>
          </a:p>
        </p:txBody>
      </p:sp>
      <p:sp>
        <p:nvSpPr>
          <p:cNvPr id="24" name="Text 22"/>
          <p:cNvSpPr txBox="1"/>
          <p:nvPr/>
        </p:nvSpPr>
        <p:spPr>
          <a:xfrm>
            <a:off x="576072" y="2286000"/>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Each model sits beside the institute's own rule at the same weekly list size.</a:t>
            </a:r>
            <a:endParaRPr lang="en-US" sz="900" dirty="0"/>
          </a:p>
        </p:txBody>
      </p:sp>
      <p:sp>
        <p:nvSpPr>
          <p:cNvPr id="25" name="Shape 23"/>
          <p:cNvSpPr/>
          <p:nvPr/>
        </p:nvSpPr>
        <p:spPr>
          <a:xfrm>
            <a:off x="411480" y="2670048"/>
            <a:ext cx="73152" cy="530352"/>
          </a:xfrm>
          <a:prstGeom prst="rect">
            <a:avLst/>
          </a:prstGeom>
          <a:solidFill>
            <a:srgbClr val="1F4A82"/>
          </a:solidFill>
          <a:ln/>
        </p:spPr>
      </p:sp>
      <p:sp>
        <p:nvSpPr>
          <p:cNvPr id="26" name="Text 24"/>
          <p:cNvSpPr txBox="1"/>
          <p:nvPr/>
        </p:nvSpPr>
        <p:spPr>
          <a:xfrm>
            <a:off x="576072" y="2670048"/>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Uncertainty</a:t>
            </a:r>
            <a:endParaRPr lang="en-US" sz="1050" dirty="0"/>
          </a:p>
        </p:txBody>
      </p:sp>
      <p:sp>
        <p:nvSpPr>
          <p:cNvPr id="27" name="Text 25"/>
          <p:cNvSpPr txBox="1"/>
          <p:nvPr/>
        </p:nvSpPr>
        <p:spPr>
          <a:xfrm>
            <a:off x="576072" y="2889504"/>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Bootstrap intervals over students; three generator seeds; event counts shown.</a:t>
            </a:r>
            <a:endParaRPr lang="en-US" sz="900" dirty="0"/>
          </a:p>
        </p:txBody>
      </p:sp>
      <p:sp>
        <p:nvSpPr>
          <p:cNvPr id="28" name="Shape 26"/>
          <p:cNvSpPr/>
          <p:nvPr/>
        </p:nvSpPr>
        <p:spPr>
          <a:xfrm>
            <a:off x="411480" y="3273552"/>
            <a:ext cx="73152" cy="530352"/>
          </a:xfrm>
          <a:prstGeom prst="rect">
            <a:avLst/>
          </a:prstGeom>
          <a:solidFill>
            <a:srgbClr val="1F4A82"/>
          </a:solidFill>
          <a:ln/>
        </p:spPr>
      </p:sp>
      <p:sp>
        <p:nvSpPr>
          <p:cNvPr id="29" name="Text 27"/>
          <p:cNvSpPr txBox="1"/>
          <p:nvPr/>
        </p:nvSpPr>
        <p:spPr>
          <a:xfrm>
            <a:off x="576072" y="3273552"/>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Stress tests</a:t>
            </a:r>
            <a:endParaRPr lang="en-US" sz="1050" dirty="0"/>
          </a:p>
        </p:txBody>
      </p:sp>
      <p:sp>
        <p:nvSpPr>
          <p:cNvPr id="30" name="Text 28"/>
          <p:cNvSpPr txBox="1"/>
          <p:nvPr/>
        </p:nvSpPr>
        <p:spPr>
          <a:xfrm>
            <a:off x="576072" y="3493008"/>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Misspecified generators, a held-out institute, an independent attack on the report checker.</a:t>
            </a:r>
            <a:endParaRPr lang="en-US" sz="900" dirty="0"/>
          </a:p>
        </p:txBody>
      </p:sp>
      <p:sp>
        <p:nvSpPr>
          <p:cNvPr id="31" name="Shape 29"/>
          <p:cNvSpPr/>
          <p:nvPr/>
        </p:nvSpPr>
        <p:spPr>
          <a:xfrm>
            <a:off x="411480" y="3877056"/>
            <a:ext cx="73152" cy="530352"/>
          </a:xfrm>
          <a:prstGeom prst="rect">
            <a:avLst/>
          </a:prstGeom>
          <a:solidFill>
            <a:srgbClr val="1F4A82"/>
          </a:solidFill>
          <a:ln/>
        </p:spPr>
      </p:sp>
      <p:sp>
        <p:nvSpPr>
          <p:cNvPr id="32" name="Text 30"/>
          <p:cNvSpPr txBox="1"/>
          <p:nvPr/>
        </p:nvSpPr>
        <p:spPr>
          <a:xfrm>
            <a:off x="576072" y="3877056"/>
            <a:ext cx="3474720" cy="219456"/>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Honest misses</a:t>
            </a:r>
            <a:endParaRPr lang="en-US" sz="1050" dirty="0"/>
          </a:p>
        </p:txBody>
      </p:sp>
      <p:sp>
        <p:nvSpPr>
          <p:cNvPr id="33" name="Text 31"/>
          <p:cNvSpPr txBox="1"/>
          <p:nvPr/>
        </p:nvSpPr>
        <p:spPr>
          <a:xfrm>
            <a:off x="576072" y="4096512"/>
            <a:ext cx="3474720" cy="329184"/>
          </a:xfrm>
          <a:prstGeom prst="rect">
            <a:avLst/>
          </a:prstGeom>
          <a:noFill/>
          <a:ln/>
        </p:spPr>
        <p:txBody>
          <a:bodyPr wrap="square" lIns="0" tIns="0" rIns="0" bIns="0" rtlCol="0" anchor="t"/>
          <a:lstStyle/>
          <a:p>
            <a:pPr algn="l" indent="0" marL="0">
              <a:buNone/>
            </a:pPr>
            <a:r>
              <a:rPr lang="en-US" sz="900" dirty="0">
                <a:solidFill>
                  <a:srgbClr val="1F2937"/>
                </a:solidFill>
                <a:latin typeface="Calibri" pitchFamily="34" charset="0"/>
                <a:ea typeface="Calibri" pitchFamily="34" charset="-122"/>
                <a:cs typeface="Calibri" pitchFamily="34" charset="-120"/>
              </a:rPr>
              <a:t>A missed gate is reported with its cause; gates are never moved to pass.</a:t>
            </a:r>
            <a:endParaRPr lang="en-US" sz="900" dirty="0"/>
          </a:p>
        </p:txBody>
      </p:sp>
      <p:sp>
        <p:nvSpPr>
          <p:cNvPr id="34" name="Shape 32"/>
          <p:cNvSpPr/>
          <p:nvPr/>
        </p:nvSpPr>
        <p:spPr>
          <a:xfrm>
            <a:off x="411480" y="4553712"/>
            <a:ext cx="256032" cy="256032"/>
          </a:xfrm>
          <a:prstGeom prst="rect">
            <a:avLst/>
          </a:prstGeom>
          <a:solidFill>
            <a:srgbClr val="1F4A82"/>
          </a:solidFill>
          <a:ln/>
        </p:spPr>
      </p:sp>
      <p:sp>
        <p:nvSpPr>
          <p:cNvPr id="35" name="Text 33"/>
          <p:cNvSpPr txBox="1"/>
          <p:nvPr/>
        </p:nvSpPr>
        <p:spPr>
          <a:xfrm>
            <a:off x="411480" y="4553712"/>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endParaRPr lang="en-US" sz="1150" dirty="0"/>
          </a:p>
        </p:txBody>
      </p:sp>
      <p:sp>
        <p:nvSpPr>
          <p:cNvPr id="36" name="Text 34"/>
          <p:cNvSpPr txBox="1"/>
          <p:nvPr/>
        </p:nvSpPr>
        <p:spPr>
          <a:xfrm>
            <a:off x="740664" y="4553712"/>
            <a:ext cx="332841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KNOWN LIMITATIONS, STATED</a:t>
            </a:r>
            <a:endParaRPr lang="en-US" sz="1200" dirty="0"/>
          </a:p>
        </p:txBody>
      </p:sp>
      <p:sp>
        <p:nvSpPr>
          <p:cNvPr id="37" name="Text 35"/>
          <p:cNvSpPr txBox="1"/>
          <p:nvPr/>
        </p:nvSpPr>
        <p:spPr>
          <a:xfrm>
            <a:off x="411480" y="4864608"/>
            <a:ext cx="3657600" cy="1371600"/>
          </a:xfrm>
          <a:prstGeom prst="rect">
            <a:avLst/>
          </a:prstGeom>
          <a:noFill/>
          <a:ln/>
        </p:spPr>
        <p:txBody>
          <a:bodyPr wrap="square" lIns="0" tIns="0" rIns="0" bIns="0" rtlCol="0" anchor="t"/>
          <a:lstStyle/>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Synthetic data proves the pipeline, not real-world accuracy.</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OULAD is a UK online university; ASSISTments is US school maths.</a:t>
            </a:r>
            <a:endParaRPr lang="en-US" sz="950" dirty="0"/>
          </a:p>
          <a:p>
            <a:pPr algn="l" marL="152400" indent="-1524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The percentile mapping is an editable assumption table until real mock-vs-exam pairs exist.</a:t>
            </a:r>
            <a:endParaRPr lang="en-US" sz="950" dirty="0"/>
          </a:p>
        </p:txBody>
      </p:sp>
      <p:sp>
        <p:nvSpPr>
          <p:cNvPr id="38" name="Shape 36"/>
          <p:cNvSpPr/>
          <p:nvPr/>
        </p:nvSpPr>
        <p:spPr>
          <a:xfrm>
            <a:off x="4343400" y="1115568"/>
            <a:ext cx="256032" cy="256032"/>
          </a:xfrm>
          <a:prstGeom prst="rect">
            <a:avLst/>
          </a:prstGeom>
          <a:solidFill>
            <a:srgbClr val="1F4A82"/>
          </a:solidFill>
          <a:ln/>
        </p:spPr>
      </p:sp>
      <p:sp>
        <p:nvSpPr>
          <p:cNvPr id="39" name="Text 37"/>
          <p:cNvSpPr txBox="1"/>
          <p:nvPr/>
        </p:nvSpPr>
        <p:spPr>
          <a:xfrm>
            <a:off x="4343400" y="1115568"/>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a:t>
            </a:r>
            <a:endParaRPr lang="en-US" sz="1150" dirty="0"/>
          </a:p>
        </p:txBody>
      </p:sp>
      <p:sp>
        <p:nvSpPr>
          <p:cNvPr id="40" name="Text 38"/>
          <p:cNvSpPr txBox="1"/>
          <p:nvPr/>
        </p:nvSpPr>
        <p:spPr>
          <a:xfrm>
            <a:off x="4672584" y="1115568"/>
            <a:ext cx="7107631"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METRICS AND GATES (FROM contracts/metrics_bars.yaml)</a:t>
            </a:r>
            <a:endParaRPr lang="en-US" sz="1200" dirty="0"/>
          </a:p>
        </p:txBody>
      </p:sp>
      <p:sp>
        <p:nvSpPr>
          <p:cNvPr id="41" name="Shape 39"/>
          <p:cNvSpPr/>
          <p:nvPr/>
        </p:nvSpPr>
        <p:spPr>
          <a:xfrm>
            <a:off x="4343400" y="1444752"/>
            <a:ext cx="1417320" cy="274320"/>
          </a:xfrm>
          <a:prstGeom prst="rect">
            <a:avLst/>
          </a:prstGeom>
          <a:solidFill>
            <a:srgbClr val="1F4A82"/>
          </a:solidFill>
          <a:ln/>
        </p:spPr>
      </p:sp>
      <p:sp>
        <p:nvSpPr>
          <p:cNvPr id="42" name="Text 40"/>
          <p:cNvSpPr txBox="1"/>
          <p:nvPr/>
        </p:nvSpPr>
        <p:spPr>
          <a:xfrm>
            <a:off x="4389120" y="1444752"/>
            <a:ext cx="13258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Component</a:t>
            </a:r>
            <a:endParaRPr lang="en-US" sz="950" dirty="0"/>
          </a:p>
        </p:txBody>
      </p:sp>
      <p:sp>
        <p:nvSpPr>
          <p:cNvPr id="43" name="Shape 41"/>
          <p:cNvSpPr/>
          <p:nvPr/>
        </p:nvSpPr>
        <p:spPr>
          <a:xfrm>
            <a:off x="5760720" y="1444752"/>
            <a:ext cx="3291840" cy="274320"/>
          </a:xfrm>
          <a:prstGeom prst="rect">
            <a:avLst/>
          </a:prstGeom>
          <a:solidFill>
            <a:srgbClr val="1F4A82"/>
          </a:solidFill>
          <a:ln/>
        </p:spPr>
      </p:sp>
      <p:sp>
        <p:nvSpPr>
          <p:cNvPr id="44" name="Text 42"/>
          <p:cNvSpPr txBox="1"/>
          <p:nvPr/>
        </p:nvSpPr>
        <p:spPr>
          <a:xfrm>
            <a:off x="5806440" y="1444752"/>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Metric</a:t>
            </a:r>
            <a:endParaRPr lang="en-US" sz="950" dirty="0"/>
          </a:p>
        </p:txBody>
      </p:sp>
      <p:sp>
        <p:nvSpPr>
          <p:cNvPr id="45" name="Shape 43"/>
          <p:cNvSpPr/>
          <p:nvPr/>
        </p:nvSpPr>
        <p:spPr>
          <a:xfrm>
            <a:off x="9052560" y="1444752"/>
            <a:ext cx="1051560" cy="274320"/>
          </a:xfrm>
          <a:prstGeom prst="rect">
            <a:avLst/>
          </a:prstGeom>
          <a:solidFill>
            <a:srgbClr val="1F4A82"/>
          </a:solidFill>
          <a:ln/>
        </p:spPr>
      </p:sp>
      <p:sp>
        <p:nvSpPr>
          <p:cNvPr id="46" name="Text 44"/>
          <p:cNvSpPr txBox="1"/>
          <p:nvPr/>
        </p:nvSpPr>
        <p:spPr>
          <a:xfrm>
            <a:off x="9098280" y="1444752"/>
            <a:ext cx="9601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Gate</a:t>
            </a:r>
            <a:endParaRPr lang="en-US" sz="950" dirty="0"/>
          </a:p>
        </p:txBody>
      </p:sp>
      <p:sp>
        <p:nvSpPr>
          <p:cNvPr id="47" name="Shape 45"/>
          <p:cNvSpPr/>
          <p:nvPr/>
        </p:nvSpPr>
        <p:spPr>
          <a:xfrm>
            <a:off x="10104120" y="1444752"/>
            <a:ext cx="1676095" cy="274320"/>
          </a:xfrm>
          <a:prstGeom prst="rect">
            <a:avLst/>
          </a:prstGeom>
          <a:solidFill>
            <a:srgbClr val="1F4A82"/>
          </a:solidFill>
          <a:ln/>
        </p:spPr>
      </p:sp>
      <p:sp>
        <p:nvSpPr>
          <p:cNvPr id="48" name="Text 46"/>
          <p:cNvSpPr txBox="1"/>
          <p:nvPr/>
        </p:nvSpPr>
        <p:spPr>
          <a:xfrm>
            <a:off x="10149840" y="1444752"/>
            <a:ext cx="158465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Status</a:t>
            </a:r>
            <a:endParaRPr lang="en-US" sz="950" dirty="0"/>
          </a:p>
        </p:txBody>
      </p:sp>
      <p:sp>
        <p:nvSpPr>
          <p:cNvPr id="49" name="Shape 47"/>
          <p:cNvSpPr/>
          <p:nvPr/>
        </p:nvSpPr>
        <p:spPr>
          <a:xfrm>
            <a:off x="4343400" y="1719072"/>
            <a:ext cx="1417320" cy="384048"/>
          </a:xfrm>
          <a:prstGeom prst="rect">
            <a:avLst/>
          </a:prstGeom>
          <a:solidFill>
            <a:srgbClr val="F1F7F3"/>
          </a:solidFill>
          <a:ln/>
        </p:spPr>
      </p:sp>
      <p:sp>
        <p:nvSpPr>
          <p:cNvPr id="50" name="Text 48"/>
          <p:cNvSpPr txBox="1"/>
          <p:nvPr/>
        </p:nvSpPr>
        <p:spPr>
          <a:xfrm>
            <a:off x="4389120" y="171907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Difficulty (IRT)</a:t>
            </a:r>
            <a:endParaRPr lang="en-US" sz="950" dirty="0"/>
          </a:p>
        </p:txBody>
      </p:sp>
      <p:sp>
        <p:nvSpPr>
          <p:cNvPr id="51" name="Shape 49"/>
          <p:cNvSpPr/>
          <p:nvPr/>
        </p:nvSpPr>
        <p:spPr>
          <a:xfrm>
            <a:off x="5760720" y="1719072"/>
            <a:ext cx="3291840" cy="384048"/>
          </a:xfrm>
          <a:prstGeom prst="rect">
            <a:avLst/>
          </a:prstGeom>
          <a:solidFill>
            <a:srgbClr val="F1F7F3"/>
          </a:solidFill>
          <a:ln/>
        </p:spPr>
      </p:sp>
      <p:sp>
        <p:nvSpPr>
          <p:cNvPr id="52" name="Text 50"/>
          <p:cNvSpPr txBox="1"/>
          <p:nvPr/>
        </p:nvSpPr>
        <p:spPr>
          <a:xfrm>
            <a:off x="5806440" y="171907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Recovery r(b̂, b) at 60 answers per item; at 30 answers</a:t>
            </a:r>
            <a:endParaRPr lang="en-US" sz="950" dirty="0"/>
          </a:p>
        </p:txBody>
      </p:sp>
      <p:sp>
        <p:nvSpPr>
          <p:cNvPr id="53" name="Shape 51"/>
          <p:cNvSpPr/>
          <p:nvPr/>
        </p:nvSpPr>
        <p:spPr>
          <a:xfrm>
            <a:off x="9052560" y="1719072"/>
            <a:ext cx="1051560" cy="384048"/>
          </a:xfrm>
          <a:prstGeom prst="rect">
            <a:avLst/>
          </a:prstGeom>
          <a:solidFill>
            <a:srgbClr val="F1F7F3"/>
          </a:solidFill>
          <a:ln/>
        </p:spPr>
      </p:sp>
      <p:sp>
        <p:nvSpPr>
          <p:cNvPr id="54" name="Text 52"/>
          <p:cNvSpPr txBox="1"/>
          <p:nvPr/>
        </p:nvSpPr>
        <p:spPr>
          <a:xfrm>
            <a:off x="9098280" y="171907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0.90; ≥ 0.85</a:t>
            </a:r>
            <a:endParaRPr lang="en-US" sz="950" dirty="0"/>
          </a:p>
        </p:txBody>
      </p:sp>
      <p:sp>
        <p:nvSpPr>
          <p:cNvPr id="55" name="Shape 53"/>
          <p:cNvSpPr/>
          <p:nvPr/>
        </p:nvSpPr>
        <p:spPr>
          <a:xfrm>
            <a:off x="10104120" y="1719072"/>
            <a:ext cx="1676095" cy="384048"/>
          </a:xfrm>
          <a:prstGeom prst="rect">
            <a:avLst/>
          </a:prstGeom>
          <a:solidFill>
            <a:srgbClr val="F1E8D3"/>
          </a:solidFill>
          <a:ln/>
        </p:spPr>
      </p:sp>
      <p:sp>
        <p:nvSpPr>
          <p:cNvPr id="56" name="Text 54"/>
          <p:cNvSpPr txBox="1"/>
          <p:nvPr/>
        </p:nvSpPr>
        <p:spPr>
          <a:xfrm>
            <a:off x="10149840" y="171907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57" name="Shape 55"/>
          <p:cNvSpPr/>
          <p:nvPr/>
        </p:nvSpPr>
        <p:spPr>
          <a:xfrm>
            <a:off x="4343400" y="2103120"/>
            <a:ext cx="7436815" cy="0"/>
          </a:xfrm>
          <a:prstGeom prst="line">
            <a:avLst/>
          </a:prstGeom>
          <a:noFill/>
          <a:ln w="6350">
            <a:solidFill>
              <a:srgbClr val="E3E8E4"/>
            </a:solidFill>
            <a:prstDash val="solid"/>
          </a:ln>
        </p:spPr>
      </p:sp>
      <p:sp>
        <p:nvSpPr>
          <p:cNvPr id="58" name="Shape 56"/>
          <p:cNvSpPr/>
          <p:nvPr/>
        </p:nvSpPr>
        <p:spPr>
          <a:xfrm>
            <a:off x="4343400" y="2103120"/>
            <a:ext cx="1417320" cy="384048"/>
          </a:xfrm>
          <a:prstGeom prst="rect">
            <a:avLst/>
          </a:prstGeom>
          <a:solidFill>
            <a:srgbClr val="FFFFFF"/>
          </a:solidFill>
          <a:ln/>
        </p:spPr>
      </p:sp>
      <p:sp>
        <p:nvSpPr>
          <p:cNvPr id="59" name="Text 57"/>
          <p:cNvSpPr txBox="1"/>
          <p:nvPr/>
        </p:nvSpPr>
        <p:spPr>
          <a:xfrm>
            <a:off x="4389120" y="210312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Wrong-key detector</a:t>
            </a:r>
            <a:endParaRPr lang="en-US" sz="950" dirty="0"/>
          </a:p>
        </p:txBody>
      </p:sp>
      <p:sp>
        <p:nvSpPr>
          <p:cNvPr id="60" name="Shape 58"/>
          <p:cNvSpPr/>
          <p:nvPr/>
        </p:nvSpPr>
        <p:spPr>
          <a:xfrm>
            <a:off x="5760720" y="2103120"/>
            <a:ext cx="3291840" cy="384048"/>
          </a:xfrm>
          <a:prstGeom prst="rect">
            <a:avLst/>
          </a:prstGeom>
          <a:solidFill>
            <a:srgbClr val="FFFFFF"/>
          </a:solidFill>
          <a:ln/>
        </p:spPr>
      </p:sp>
      <p:sp>
        <p:nvSpPr>
          <p:cNvPr id="61" name="Text 59"/>
          <p:cNvSpPr txBox="1"/>
          <p:nvPr/>
        </p:nvSpPr>
        <p:spPr>
          <a:xfrm>
            <a:off x="5806440" y="210312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Recall on planted wrong keys; false flags per 300 items</a:t>
            </a:r>
            <a:endParaRPr lang="en-US" sz="950" dirty="0"/>
          </a:p>
        </p:txBody>
      </p:sp>
      <p:sp>
        <p:nvSpPr>
          <p:cNvPr id="62" name="Shape 60"/>
          <p:cNvSpPr/>
          <p:nvPr/>
        </p:nvSpPr>
        <p:spPr>
          <a:xfrm>
            <a:off x="9052560" y="2103120"/>
            <a:ext cx="1051560" cy="384048"/>
          </a:xfrm>
          <a:prstGeom prst="rect">
            <a:avLst/>
          </a:prstGeom>
          <a:solidFill>
            <a:srgbClr val="FFFFFF"/>
          </a:solidFill>
          <a:ln/>
        </p:spPr>
      </p:sp>
      <p:sp>
        <p:nvSpPr>
          <p:cNvPr id="63" name="Text 61"/>
          <p:cNvSpPr txBox="1"/>
          <p:nvPr/>
        </p:nvSpPr>
        <p:spPr>
          <a:xfrm>
            <a:off x="9098280" y="210312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 2</a:t>
            </a:r>
            <a:endParaRPr lang="en-US" sz="950" dirty="0"/>
          </a:p>
        </p:txBody>
      </p:sp>
      <p:sp>
        <p:nvSpPr>
          <p:cNvPr id="64" name="Shape 62"/>
          <p:cNvSpPr/>
          <p:nvPr/>
        </p:nvSpPr>
        <p:spPr>
          <a:xfrm>
            <a:off x="10104120" y="2103120"/>
            <a:ext cx="1676095" cy="384048"/>
          </a:xfrm>
          <a:prstGeom prst="rect">
            <a:avLst/>
          </a:prstGeom>
          <a:solidFill>
            <a:srgbClr val="F1E8D3"/>
          </a:solidFill>
          <a:ln/>
        </p:spPr>
      </p:sp>
      <p:sp>
        <p:nvSpPr>
          <p:cNvPr id="65" name="Text 63"/>
          <p:cNvSpPr txBox="1"/>
          <p:nvPr/>
        </p:nvSpPr>
        <p:spPr>
          <a:xfrm>
            <a:off x="10149840" y="210312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66" name="Shape 64"/>
          <p:cNvSpPr/>
          <p:nvPr/>
        </p:nvSpPr>
        <p:spPr>
          <a:xfrm>
            <a:off x="4343400" y="2487168"/>
            <a:ext cx="7436815" cy="0"/>
          </a:xfrm>
          <a:prstGeom prst="line">
            <a:avLst/>
          </a:prstGeom>
          <a:noFill/>
          <a:ln w="6350">
            <a:solidFill>
              <a:srgbClr val="E3E8E4"/>
            </a:solidFill>
            <a:prstDash val="solid"/>
          </a:ln>
        </p:spPr>
      </p:sp>
      <p:sp>
        <p:nvSpPr>
          <p:cNvPr id="67" name="Shape 65"/>
          <p:cNvSpPr/>
          <p:nvPr/>
        </p:nvSpPr>
        <p:spPr>
          <a:xfrm>
            <a:off x="4343400" y="2487168"/>
            <a:ext cx="1417320" cy="384048"/>
          </a:xfrm>
          <a:prstGeom prst="rect">
            <a:avLst/>
          </a:prstGeom>
          <a:solidFill>
            <a:srgbClr val="F1F7F3"/>
          </a:solidFill>
          <a:ln/>
        </p:spPr>
      </p:sp>
      <p:sp>
        <p:nvSpPr>
          <p:cNvPr id="68" name="Text 66"/>
          <p:cNvSpPr txBox="1"/>
          <p:nvPr/>
        </p:nvSpPr>
        <p:spPr>
          <a:xfrm>
            <a:off x="4389120" y="248716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Topic mastery</a:t>
            </a:r>
            <a:endParaRPr lang="en-US" sz="950" dirty="0"/>
          </a:p>
        </p:txBody>
      </p:sp>
      <p:sp>
        <p:nvSpPr>
          <p:cNvPr id="69" name="Shape 67"/>
          <p:cNvSpPr/>
          <p:nvPr/>
        </p:nvSpPr>
        <p:spPr>
          <a:xfrm>
            <a:off x="5760720" y="2487168"/>
            <a:ext cx="3291840" cy="384048"/>
          </a:xfrm>
          <a:prstGeom prst="rect">
            <a:avLst/>
          </a:prstGeom>
          <a:solidFill>
            <a:srgbClr val="F1F7F3"/>
          </a:solidFill>
          <a:ln/>
        </p:spPr>
      </p:sp>
      <p:sp>
        <p:nvSpPr>
          <p:cNvPr id="70" name="Text 68"/>
          <p:cNvSpPr txBox="1"/>
          <p:nvPr/>
        </p:nvSpPr>
        <p:spPr>
          <a:xfrm>
            <a:off x="5806440" y="248716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Ability recovery r; next-test AUC vs raw % and BKT</a:t>
            </a:r>
            <a:endParaRPr lang="en-US" sz="950" dirty="0"/>
          </a:p>
        </p:txBody>
      </p:sp>
      <p:sp>
        <p:nvSpPr>
          <p:cNvPr id="71" name="Shape 69"/>
          <p:cNvSpPr/>
          <p:nvPr/>
        </p:nvSpPr>
        <p:spPr>
          <a:xfrm>
            <a:off x="9052560" y="2487168"/>
            <a:ext cx="1051560" cy="384048"/>
          </a:xfrm>
          <a:prstGeom prst="rect">
            <a:avLst/>
          </a:prstGeom>
          <a:solidFill>
            <a:srgbClr val="F1F7F3"/>
          </a:solidFill>
          <a:ln/>
        </p:spPr>
      </p:sp>
      <p:sp>
        <p:nvSpPr>
          <p:cNvPr id="72" name="Text 70"/>
          <p:cNvSpPr txBox="1"/>
          <p:nvPr/>
        </p:nvSpPr>
        <p:spPr>
          <a:xfrm>
            <a:off x="9098280" y="248716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0.80; better</a:t>
            </a:r>
            <a:endParaRPr lang="en-US" sz="950" dirty="0"/>
          </a:p>
        </p:txBody>
      </p:sp>
      <p:sp>
        <p:nvSpPr>
          <p:cNvPr id="73" name="Shape 71"/>
          <p:cNvSpPr/>
          <p:nvPr/>
        </p:nvSpPr>
        <p:spPr>
          <a:xfrm>
            <a:off x="10104120" y="2487168"/>
            <a:ext cx="1676095" cy="384048"/>
          </a:xfrm>
          <a:prstGeom prst="rect">
            <a:avLst/>
          </a:prstGeom>
          <a:solidFill>
            <a:srgbClr val="F1E8D3"/>
          </a:solidFill>
          <a:ln/>
        </p:spPr>
      </p:sp>
      <p:sp>
        <p:nvSpPr>
          <p:cNvPr id="74" name="Text 72"/>
          <p:cNvSpPr txBox="1"/>
          <p:nvPr/>
        </p:nvSpPr>
        <p:spPr>
          <a:xfrm>
            <a:off x="10149840" y="2487168"/>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75" name="Shape 73"/>
          <p:cNvSpPr/>
          <p:nvPr/>
        </p:nvSpPr>
        <p:spPr>
          <a:xfrm>
            <a:off x="4343400" y="2871216"/>
            <a:ext cx="7436815" cy="0"/>
          </a:xfrm>
          <a:prstGeom prst="line">
            <a:avLst/>
          </a:prstGeom>
          <a:noFill/>
          <a:ln w="6350">
            <a:solidFill>
              <a:srgbClr val="E3E8E4"/>
            </a:solidFill>
            <a:prstDash val="solid"/>
          </a:ln>
        </p:spPr>
      </p:sp>
      <p:sp>
        <p:nvSpPr>
          <p:cNvPr id="76" name="Shape 74"/>
          <p:cNvSpPr/>
          <p:nvPr/>
        </p:nvSpPr>
        <p:spPr>
          <a:xfrm>
            <a:off x="4343400" y="2871216"/>
            <a:ext cx="1417320" cy="384048"/>
          </a:xfrm>
          <a:prstGeom prst="rect">
            <a:avLst/>
          </a:prstGeom>
          <a:solidFill>
            <a:srgbClr val="FFFFFF"/>
          </a:solidFill>
          <a:ln/>
        </p:spPr>
      </p:sp>
      <p:sp>
        <p:nvSpPr>
          <p:cNvPr id="77" name="Text 75"/>
          <p:cNvSpPr txBox="1"/>
          <p:nvPr/>
        </p:nvSpPr>
        <p:spPr>
          <a:xfrm>
            <a:off x="4389120" y="287121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Knowledge tracing</a:t>
            </a:r>
            <a:endParaRPr lang="en-US" sz="950" dirty="0"/>
          </a:p>
        </p:txBody>
      </p:sp>
      <p:sp>
        <p:nvSpPr>
          <p:cNvPr id="78" name="Shape 76"/>
          <p:cNvSpPr/>
          <p:nvPr/>
        </p:nvSpPr>
        <p:spPr>
          <a:xfrm>
            <a:off x="5760720" y="2871216"/>
            <a:ext cx="3291840" cy="384048"/>
          </a:xfrm>
          <a:prstGeom prst="rect">
            <a:avLst/>
          </a:prstGeom>
          <a:solidFill>
            <a:srgbClr val="FFFFFF"/>
          </a:solidFill>
          <a:ln/>
        </p:spPr>
      </p:sp>
      <p:sp>
        <p:nvSpPr>
          <p:cNvPr id="79" name="Text 77"/>
          <p:cNvSpPr txBox="1"/>
          <p:nvPr/>
        </p:nvSpPr>
        <p:spPr>
          <a:xfrm>
            <a:off x="5806440" y="287121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Next-answer AUC, ASSISTments 2009 (public)</a:t>
            </a:r>
            <a:endParaRPr lang="en-US" sz="950" dirty="0"/>
          </a:p>
        </p:txBody>
      </p:sp>
      <p:sp>
        <p:nvSpPr>
          <p:cNvPr id="80" name="Shape 78"/>
          <p:cNvSpPr/>
          <p:nvPr/>
        </p:nvSpPr>
        <p:spPr>
          <a:xfrm>
            <a:off x="9052560" y="2871216"/>
            <a:ext cx="1051560" cy="384048"/>
          </a:xfrm>
          <a:prstGeom prst="rect">
            <a:avLst/>
          </a:prstGeom>
          <a:solidFill>
            <a:srgbClr val="FFFFFF"/>
          </a:solidFill>
          <a:ln/>
        </p:spPr>
      </p:sp>
      <p:sp>
        <p:nvSpPr>
          <p:cNvPr id="81" name="Text 79"/>
          <p:cNvSpPr txBox="1"/>
          <p:nvPr/>
        </p:nvSpPr>
        <p:spPr>
          <a:xfrm>
            <a:off x="9098280" y="287121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82" name="Shape 80"/>
          <p:cNvSpPr/>
          <p:nvPr/>
        </p:nvSpPr>
        <p:spPr>
          <a:xfrm>
            <a:off x="10104120" y="2871216"/>
            <a:ext cx="1676095" cy="384048"/>
          </a:xfrm>
          <a:prstGeom prst="rect">
            <a:avLst/>
          </a:prstGeom>
          <a:solidFill>
            <a:srgbClr val="D6E4F5"/>
          </a:solidFill>
          <a:ln/>
        </p:spPr>
      </p:sp>
      <p:sp>
        <p:nvSpPr>
          <p:cNvPr id="83" name="Text 81"/>
          <p:cNvSpPr txBox="1"/>
          <p:nvPr/>
        </p:nvSpPr>
        <p:spPr>
          <a:xfrm>
            <a:off x="10149840" y="2871216"/>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0.763</a:t>
            </a:r>
            <a:endParaRPr lang="en-US" sz="950" dirty="0"/>
          </a:p>
        </p:txBody>
      </p:sp>
      <p:sp>
        <p:nvSpPr>
          <p:cNvPr id="84" name="Shape 82"/>
          <p:cNvSpPr/>
          <p:nvPr/>
        </p:nvSpPr>
        <p:spPr>
          <a:xfrm>
            <a:off x="4343400" y="3255264"/>
            <a:ext cx="7436815" cy="0"/>
          </a:xfrm>
          <a:prstGeom prst="line">
            <a:avLst/>
          </a:prstGeom>
          <a:noFill/>
          <a:ln w="6350">
            <a:solidFill>
              <a:srgbClr val="E3E8E4"/>
            </a:solidFill>
            <a:prstDash val="solid"/>
          </a:ln>
        </p:spPr>
      </p:sp>
      <p:sp>
        <p:nvSpPr>
          <p:cNvPr id="85" name="Shape 83"/>
          <p:cNvSpPr/>
          <p:nvPr/>
        </p:nvSpPr>
        <p:spPr>
          <a:xfrm>
            <a:off x="4343400" y="3255264"/>
            <a:ext cx="1417320" cy="384048"/>
          </a:xfrm>
          <a:prstGeom prst="rect">
            <a:avLst/>
          </a:prstGeom>
          <a:solidFill>
            <a:srgbClr val="F1F7F3"/>
          </a:solidFill>
          <a:ln/>
        </p:spPr>
      </p:sp>
      <p:sp>
        <p:nvSpPr>
          <p:cNvPr id="86" name="Text 84"/>
          <p:cNvSpPr txBox="1"/>
          <p:nvPr/>
        </p:nvSpPr>
        <p:spPr>
          <a:xfrm>
            <a:off x="4389120" y="325526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87" name="Shape 85"/>
          <p:cNvSpPr/>
          <p:nvPr/>
        </p:nvSpPr>
        <p:spPr>
          <a:xfrm>
            <a:off x="5760720" y="3255264"/>
            <a:ext cx="3291840" cy="384048"/>
          </a:xfrm>
          <a:prstGeom prst="rect">
            <a:avLst/>
          </a:prstGeom>
          <a:solidFill>
            <a:srgbClr val="F1F7F3"/>
          </a:solidFill>
          <a:ln/>
        </p:spPr>
      </p:sp>
      <p:sp>
        <p:nvSpPr>
          <p:cNvPr id="88" name="Text 86"/>
          <p:cNvSpPr txBox="1"/>
          <p:nvPr/>
        </p:nvSpPr>
        <p:spPr>
          <a:xfrm>
            <a:off x="5806440" y="325526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AUC-PR vs institute rule; precision at capacity vs rule</a:t>
            </a:r>
            <a:endParaRPr lang="en-US" sz="950" dirty="0"/>
          </a:p>
        </p:txBody>
      </p:sp>
      <p:sp>
        <p:nvSpPr>
          <p:cNvPr id="89" name="Shape 87"/>
          <p:cNvSpPr/>
          <p:nvPr/>
        </p:nvSpPr>
        <p:spPr>
          <a:xfrm>
            <a:off x="9052560" y="3255264"/>
            <a:ext cx="1051560" cy="384048"/>
          </a:xfrm>
          <a:prstGeom prst="rect">
            <a:avLst/>
          </a:prstGeom>
          <a:solidFill>
            <a:srgbClr val="F1F7F3"/>
          </a:solidFill>
          <a:ln/>
        </p:spPr>
      </p:sp>
      <p:sp>
        <p:nvSpPr>
          <p:cNvPr id="90" name="Text 88"/>
          <p:cNvSpPr txBox="1"/>
          <p:nvPr/>
        </p:nvSpPr>
        <p:spPr>
          <a:xfrm>
            <a:off x="9098280" y="325526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+30 %; +25 %</a:t>
            </a:r>
            <a:endParaRPr lang="en-US" sz="950" dirty="0"/>
          </a:p>
        </p:txBody>
      </p:sp>
      <p:sp>
        <p:nvSpPr>
          <p:cNvPr id="91" name="Shape 89"/>
          <p:cNvSpPr/>
          <p:nvPr/>
        </p:nvSpPr>
        <p:spPr>
          <a:xfrm>
            <a:off x="10104120" y="3255264"/>
            <a:ext cx="1676095" cy="384048"/>
          </a:xfrm>
          <a:prstGeom prst="rect">
            <a:avLst/>
          </a:prstGeom>
          <a:solidFill>
            <a:srgbClr val="F1E8D3"/>
          </a:solidFill>
          <a:ln/>
        </p:spPr>
      </p:sp>
      <p:sp>
        <p:nvSpPr>
          <p:cNvPr id="92" name="Text 90"/>
          <p:cNvSpPr txBox="1"/>
          <p:nvPr/>
        </p:nvSpPr>
        <p:spPr>
          <a:xfrm>
            <a:off x="10149840" y="325526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93" name="Shape 91"/>
          <p:cNvSpPr/>
          <p:nvPr/>
        </p:nvSpPr>
        <p:spPr>
          <a:xfrm>
            <a:off x="4343400" y="3639312"/>
            <a:ext cx="7436815" cy="0"/>
          </a:xfrm>
          <a:prstGeom prst="line">
            <a:avLst/>
          </a:prstGeom>
          <a:noFill/>
          <a:ln w="6350">
            <a:solidFill>
              <a:srgbClr val="E3E8E4"/>
            </a:solidFill>
            <a:prstDash val="solid"/>
          </a:ln>
        </p:spPr>
      </p:sp>
      <p:sp>
        <p:nvSpPr>
          <p:cNvPr id="94" name="Shape 92"/>
          <p:cNvSpPr/>
          <p:nvPr/>
        </p:nvSpPr>
        <p:spPr>
          <a:xfrm>
            <a:off x="4343400" y="3639312"/>
            <a:ext cx="1417320" cy="384048"/>
          </a:xfrm>
          <a:prstGeom prst="rect">
            <a:avLst/>
          </a:prstGeom>
          <a:solidFill>
            <a:srgbClr val="FFFFFF"/>
          </a:solidFill>
          <a:ln/>
        </p:spPr>
      </p:sp>
      <p:sp>
        <p:nvSpPr>
          <p:cNvPr id="95" name="Text 93"/>
          <p:cNvSpPr txBox="1"/>
          <p:nvPr/>
        </p:nvSpPr>
        <p:spPr>
          <a:xfrm>
            <a:off x="4389120" y="363931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96" name="Shape 94"/>
          <p:cNvSpPr/>
          <p:nvPr/>
        </p:nvSpPr>
        <p:spPr>
          <a:xfrm>
            <a:off x="5760720" y="3639312"/>
            <a:ext cx="3291840" cy="384048"/>
          </a:xfrm>
          <a:prstGeom prst="rect">
            <a:avLst/>
          </a:prstGeom>
          <a:solidFill>
            <a:srgbClr val="FFFFFF"/>
          </a:solidFill>
          <a:ln/>
        </p:spPr>
      </p:sp>
      <p:sp>
        <p:nvSpPr>
          <p:cNvPr id="97" name="Text 95"/>
          <p:cNvSpPr txBox="1"/>
          <p:nvPr/>
        </p:nvSpPr>
        <p:spPr>
          <a:xfrm>
            <a:off x="5806440" y="363931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Calibration error (public: OULAD day 28)</a:t>
            </a:r>
            <a:endParaRPr lang="en-US" sz="950" dirty="0"/>
          </a:p>
        </p:txBody>
      </p:sp>
      <p:sp>
        <p:nvSpPr>
          <p:cNvPr id="98" name="Shape 96"/>
          <p:cNvSpPr/>
          <p:nvPr/>
        </p:nvSpPr>
        <p:spPr>
          <a:xfrm>
            <a:off x="9052560" y="3639312"/>
            <a:ext cx="1051560" cy="384048"/>
          </a:xfrm>
          <a:prstGeom prst="rect">
            <a:avLst/>
          </a:prstGeom>
          <a:solidFill>
            <a:srgbClr val="FFFFFF"/>
          </a:solidFill>
          <a:ln/>
        </p:spPr>
      </p:sp>
      <p:sp>
        <p:nvSpPr>
          <p:cNvPr id="99" name="Text 97"/>
          <p:cNvSpPr txBox="1"/>
          <p:nvPr/>
        </p:nvSpPr>
        <p:spPr>
          <a:xfrm>
            <a:off x="9098280" y="363931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&lt; 0.05</a:t>
            </a:r>
            <a:endParaRPr lang="en-US" sz="950" dirty="0"/>
          </a:p>
        </p:txBody>
      </p:sp>
      <p:sp>
        <p:nvSpPr>
          <p:cNvPr id="100" name="Shape 98"/>
          <p:cNvSpPr/>
          <p:nvPr/>
        </p:nvSpPr>
        <p:spPr>
          <a:xfrm>
            <a:off x="10104120" y="3639312"/>
            <a:ext cx="1676095" cy="384048"/>
          </a:xfrm>
          <a:prstGeom prst="rect">
            <a:avLst/>
          </a:prstGeom>
          <a:solidFill>
            <a:srgbClr val="D6E4F5"/>
          </a:solidFill>
          <a:ln/>
        </p:spPr>
      </p:sp>
      <p:sp>
        <p:nvSpPr>
          <p:cNvPr id="101" name="Text 99"/>
          <p:cNvSpPr txBox="1"/>
          <p:nvPr/>
        </p:nvSpPr>
        <p:spPr>
          <a:xfrm>
            <a:off x="10149840" y="3639312"/>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0.009</a:t>
            </a:r>
            <a:endParaRPr lang="en-US" sz="950" dirty="0"/>
          </a:p>
        </p:txBody>
      </p:sp>
      <p:sp>
        <p:nvSpPr>
          <p:cNvPr id="102" name="Shape 100"/>
          <p:cNvSpPr/>
          <p:nvPr/>
        </p:nvSpPr>
        <p:spPr>
          <a:xfrm>
            <a:off x="4343400" y="4023360"/>
            <a:ext cx="7436815" cy="0"/>
          </a:xfrm>
          <a:prstGeom prst="line">
            <a:avLst/>
          </a:prstGeom>
          <a:noFill/>
          <a:ln w="6350">
            <a:solidFill>
              <a:srgbClr val="E3E8E4"/>
            </a:solidFill>
            <a:prstDash val="solid"/>
          </a:ln>
        </p:spPr>
      </p:sp>
      <p:sp>
        <p:nvSpPr>
          <p:cNvPr id="103" name="Shape 101"/>
          <p:cNvSpPr/>
          <p:nvPr/>
        </p:nvSpPr>
        <p:spPr>
          <a:xfrm>
            <a:off x="4343400" y="4023360"/>
            <a:ext cx="1417320" cy="384048"/>
          </a:xfrm>
          <a:prstGeom prst="rect">
            <a:avLst/>
          </a:prstGeom>
          <a:solidFill>
            <a:srgbClr val="F1F7F3"/>
          </a:solidFill>
          <a:ln/>
        </p:spPr>
      </p:sp>
      <p:sp>
        <p:nvSpPr>
          <p:cNvPr id="104" name="Text 102"/>
          <p:cNvSpPr txBox="1"/>
          <p:nvPr/>
        </p:nvSpPr>
        <p:spPr>
          <a:xfrm>
            <a:off x="4389120" y="4023360"/>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105" name="Shape 103"/>
          <p:cNvSpPr/>
          <p:nvPr/>
        </p:nvSpPr>
        <p:spPr>
          <a:xfrm>
            <a:off x="5760720" y="4023360"/>
            <a:ext cx="3291840" cy="384048"/>
          </a:xfrm>
          <a:prstGeom prst="rect">
            <a:avLst/>
          </a:prstGeom>
          <a:solidFill>
            <a:srgbClr val="F1F7F3"/>
          </a:solidFill>
          <a:ln/>
        </p:spPr>
      </p:sp>
      <p:sp>
        <p:nvSpPr>
          <p:cNvPr id="106" name="Text 104"/>
          <p:cNvSpPr txBox="1"/>
          <p:nvPr/>
        </p:nvSpPr>
        <p:spPr>
          <a:xfrm>
            <a:off x="5806440" y="4023360"/>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Median lead time before a student leaves</a:t>
            </a:r>
            <a:endParaRPr lang="en-US" sz="950" dirty="0"/>
          </a:p>
        </p:txBody>
      </p:sp>
      <p:sp>
        <p:nvSpPr>
          <p:cNvPr id="107" name="Shape 105"/>
          <p:cNvSpPr/>
          <p:nvPr/>
        </p:nvSpPr>
        <p:spPr>
          <a:xfrm>
            <a:off x="9052560" y="4023360"/>
            <a:ext cx="1051560" cy="384048"/>
          </a:xfrm>
          <a:prstGeom prst="rect">
            <a:avLst/>
          </a:prstGeom>
          <a:solidFill>
            <a:srgbClr val="F1F7F3"/>
          </a:solidFill>
          <a:ln/>
        </p:spPr>
      </p:sp>
      <p:sp>
        <p:nvSpPr>
          <p:cNvPr id="108" name="Text 106"/>
          <p:cNvSpPr txBox="1"/>
          <p:nvPr/>
        </p:nvSpPr>
        <p:spPr>
          <a:xfrm>
            <a:off x="9098280" y="4023360"/>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21 days</a:t>
            </a:r>
            <a:endParaRPr lang="en-US" sz="950" dirty="0"/>
          </a:p>
        </p:txBody>
      </p:sp>
      <p:sp>
        <p:nvSpPr>
          <p:cNvPr id="109" name="Shape 107"/>
          <p:cNvSpPr/>
          <p:nvPr/>
        </p:nvSpPr>
        <p:spPr>
          <a:xfrm>
            <a:off x="10104120" y="4023360"/>
            <a:ext cx="1676095" cy="384048"/>
          </a:xfrm>
          <a:prstGeom prst="rect">
            <a:avLst/>
          </a:prstGeom>
          <a:solidFill>
            <a:srgbClr val="F1E8D3"/>
          </a:solidFill>
          <a:ln/>
        </p:spPr>
      </p:sp>
      <p:sp>
        <p:nvSpPr>
          <p:cNvPr id="110" name="Text 108"/>
          <p:cNvSpPr txBox="1"/>
          <p:nvPr/>
        </p:nvSpPr>
        <p:spPr>
          <a:xfrm>
            <a:off x="10149840" y="4023360"/>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11" name="Shape 109"/>
          <p:cNvSpPr/>
          <p:nvPr/>
        </p:nvSpPr>
        <p:spPr>
          <a:xfrm>
            <a:off x="4343400" y="4407408"/>
            <a:ext cx="7436815" cy="0"/>
          </a:xfrm>
          <a:prstGeom prst="line">
            <a:avLst/>
          </a:prstGeom>
          <a:noFill/>
          <a:ln w="6350">
            <a:solidFill>
              <a:srgbClr val="E3E8E4"/>
            </a:solidFill>
            <a:prstDash val="solid"/>
          </a:ln>
        </p:spPr>
      </p:sp>
      <p:sp>
        <p:nvSpPr>
          <p:cNvPr id="112" name="Shape 110"/>
          <p:cNvSpPr/>
          <p:nvPr/>
        </p:nvSpPr>
        <p:spPr>
          <a:xfrm>
            <a:off x="4343400" y="4407408"/>
            <a:ext cx="1417320" cy="384048"/>
          </a:xfrm>
          <a:prstGeom prst="rect">
            <a:avLst/>
          </a:prstGeom>
          <a:solidFill>
            <a:srgbClr val="FFFFFF"/>
          </a:solidFill>
          <a:ln/>
        </p:spPr>
      </p:sp>
      <p:sp>
        <p:nvSpPr>
          <p:cNvPr id="113" name="Text 111"/>
          <p:cNvSpPr txBox="1"/>
          <p:nvPr/>
        </p:nvSpPr>
        <p:spPr>
          <a:xfrm>
            <a:off x="4389120" y="4407408"/>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Withdrawal, public</a:t>
            </a:r>
            <a:endParaRPr lang="en-US" sz="950" dirty="0"/>
          </a:p>
        </p:txBody>
      </p:sp>
      <p:sp>
        <p:nvSpPr>
          <p:cNvPr id="114" name="Shape 112"/>
          <p:cNvSpPr/>
          <p:nvPr/>
        </p:nvSpPr>
        <p:spPr>
          <a:xfrm>
            <a:off x="5760720" y="4407408"/>
            <a:ext cx="3291840" cy="384048"/>
          </a:xfrm>
          <a:prstGeom prst="rect">
            <a:avLst/>
          </a:prstGeom>
          <a:solidFill>
            <a:srgbClr val="FFFFFF"/>
          </a:solidFill>
          <a:ln/>
        </p:spPr>
      </p:sp>
      <p:sp>
        <p:nvSpPr>
          <p:cNvPr id="115" name="Text 113"/>
          <p:cNvSpPr txBox="1"/>
          <p:nvPr/>
        </p:nvSpPr>
        <p:spPr>
          <a:xfrm>
            <a:off x="5806440" y="4407408"/>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day-28 AUC, student-grouped 5-fold</a:t>
            </a:r>
            <a:endParaRPr lang="en-US" sz="950" dirty="0"/>
          </a:p>
        </p:txBody>
      </p:sp>
      <p:sp>
        <p:nvSpPr>
          <p:cNvPr id="116" name="Shape 114"/>
          <p:cNvSpPr/>
          <p:nvPr/>
        </p:nvSpPr>
        <p:spPr>
          <a:xfrm>
            <a:off x="9052560" y="4407408"/>
            <a:ext cx="1051560" cy="384048"/>
          </a:xfrm>
          <a:prstGeom prst="rect">
            <a:avLst/>
          </a:prstGeom>
          <a:solidFill>
            <a:srgbClr val="FFFFFF"/>
          </a:solidFill>
          <a:ln/>
        </p:spPr>
      </p:sp>
      <p:sp>
        <p:nvSpPr>
          <p:cNvPr id="117" name="Text 115"/>
          <p:cNvSpPr txBox="1"/>
          <p:nvPr/>
        </p:nvSpPr>
        <p:spPr>
          <a:xfrm>
            <a:off x="9098280" y="4407408"/>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report</a:t>
            </a:r>
            <a:endParaRPr lang="en-US" sz="950" dirty="0"/>
          </a:p>
        </p:txBody>
      </p:sp>
      <p:sp>
        <p:nvSpPr>
          <p:cNvPr id="118" name="Shape 116"/>
          <p:cNvSpPr/>
          <p:nvPr/>
        </p:nvSpPr>
        <p:spPr>
          <a:xfrm>
            <a:off x="10104120" y="4407408"/>
            <a:ext cx="1676095" cy="384048"/>
          </a:xfrm>
          <a:prstGeom prst="rect">
            <a:avLst/>
          </a:prstGeom>
          <a:solidFill>
            <a:srgbClr val="D6E4F5"/>
          </a:solidFill>
          <a:ln/>
        </p:spPr>
      </p:sp>
      <p:sp>
        <p:nvSpPr>
          <p:cNvPr id="119" name="Text 117"/>
          <p:cNvSpPr txBox="1"/>
          <p:nvPr/>
        </p:nvSpPr>
        <p:spPr>
          <a:xfrm>
            <a:off x="10149840" y="4407408"/>
            <a:ext cx="1584655" cy="384048"/>
          </a:xfrm>
          <a:prstGeom prst="rect">
            <a:avLst/>
          </a:prstGeom>
          <a:noFill/>
          <a:ln/>
        </p:spPr>
        <p:txBody>
          <a:bodyPr wrap="square" lIns="0" tIns="0" rIns="0" bIns="0" rtlCol="0" anchor="ctr"/>
          <a:lstStyle/>
          <a:p>
            <a:pPr algn="ctr" indent="0" marL="0">
              <a:buNone/>
            </a:pPr>
            <a:r>
              <a:rPr lang="en-US" sz="950" b="1" dirty="0">
                <a:solidFill>
                  <a:srgbClr val="1F4A82"/>
                </a:solidFill>
                <a:latin typeface="Calibri" pitchFamily="34" charset="0"/>
                <a:ea typeface="Calibri" pitchFamily="34" charset="-122"/>
                <a:cs typeface="Calibri" pitchFamily="34" charset="-120"/>
              </a:rPr>
              <a:t>0.706</a:t>
            </a:r>
            <a:endParaRPr lang="en-US" sz="950" dirty="0"/>
          </a:p>
        </p:txBody>
      </p:sp>
      <p:sp>
        <p:nvSpPr>
          <p:cNvPr id="120" name="Shape 118"/>
          <p:cNvSpPr/>
          <p:nvPr/>
        </p:nvSpPr>
        <p:spPr>
          <a:xfrm>
            <a:off x="4343400" y="4791456"/>
            <a:ext cx="7436815" cy="0"/>
          </a:xfrm>
          <a:prstGeom prst="line">
            <a:avLst/>
          </a:prstGeom>
          <a:noFill/>
          <a:ln w="6350">
            <a:solidFill>
              <a:srgbClr val="E3E8E4"/>
            </a:solidFill>
            <a:prstDash val="solid"/>
          </a:ln>
        </p:spPr>
      </p:sp>
      <p:sp>
        <p:nvSpPr>
          <p:cNvPr id="121" name="Shape 119"/>
          <p:cNvSpPr/>
          <p:nvPr/>
        </p:nvSpPr>
        <p:spPr>
          <a:xfrm>
            <a:off x="4343400" y="4791456"/>
            <a:ext cx="1417320" cy="384048"/>
          </a:xfrm>
          <a:prstGeom prst="rect">
            <a:avLst/>
          </a:prstGeom>
          <a:solidFill>
            <a:srgbClr val="F1F7F3"/>
          </a:solidFill>
          <a:ln/>
        </p:spPr>
      </p:sp>
      <p:sp>
        <p:nvSpPr>
          <p:cNvPr id="122" name="Text 120"/>
          <p:cNvSpPr txBox="1"/>
          <p:nvPr/>
        </p:nvSpPr>
        <p:spPr>
          <a:xfrm>
            <a:off x="4389120" y="4791456"/>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Fairness</a:t>
            </a:r>
            <a:endParaRPr lang="en-US" sz="950" dirty="0"/>
          </a:p>
        </p:txBody>
      </p:sp>
      <p:sp>
        <p:nvSpPr>
          <p:cNvPr id="123" name="Shape 121"/>
          <p:cNvSpPr/>
          <p:nvPr/>
        </p:nvSpPr>
        <p:spPr>
          <a:xfrm>
            <a:off x="5760720" y="4791456"/>
            <a:ext cx="3291840" cy="384048"/>
          </a:xfrm>
          <a:prstGeom prst="rect">
            <a:avLst/>
          </a:prstGeom>
          <a:solidFill>
            <a:srgbClr val="F1F7F3"/>
          </a:solidFill>
          <a:ln/>
        </p:spPr>
      </p:sp>
      <p:sp>
        <p:nvSpPr>
          <p:cNvPr id="124" name="Text 122"/>
          <p:cNvSpPr txBox="1"/>
          <p:nvPr/>
        </p:nvSpPr>
        <p:spPr>
          <a:xfrm>
            <a:off x="5806440" y="4791456"/>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Largest recall gap across slices (gender, city tier)</a:t>
            </a:r>
            <a:endParaRPr lang="en-US" sz="950" dirty="0"/>
          </a:p>
        </p:txBody>
      </p:sp>
      <p:sp>
        <p:nvSpPr>
          <p:cNvPr id="125" name="Shape 123"/>
          <p:cNvSpPr/>
          <p:nvPr/>
        </p:nvSpPr>
        <p:spPr>
          <a:xfrm>
            <a:off x="9052560" y="4791456"/>
            <a:ext cx="1051560" cy="384048"/>
          </a:xfrm>
          <a:prstGeom prst="rect">
            <a:avLst/>
          </a:prstGeom>
          <a:solidFill>
            <a:srgbClr val="F1F7F3"/>
          </a:solidFill>
          <a:ln/>
        </p:spPr>
      </p:sp>
      <p:sp>
        <p:nvSpPr>
          <p:cNvPr id="126" name="Text 124"/>
          <p:cNvSpPr txBox="1"/>
          <p:nvPr/>
        </p:nvSpPr>
        <p:spPr>
          <a:xfrm>
            <a:off x="9098280" y="4791456"/>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 0.10</a:t>
            </a:r>
            <a:endParaRPr lang="en-US" sz="950" dirty="0"/>
          </a:p>
        </p:txBody>
      </p:sp>
      <p:sp>
        <p:nvSpPr>
          <p:cNvPr id="127" name="Shape 125"/>
          <p:cNvSpPr/>
          <p:nvPr/>
        </p:nvSpPr>
        <p:spPr>
          <a:xfrm>
            <a:off x="10104120" y="4791456"/>
            <a:ext cx="1676095" cy="384048"/>
          </a:xfrm>
          <a:prstGeom prst="rect">
            <a:avLst/>
          </a:prstGeom>
          <a:solidFill>
            <a:srgbClr val="F1E8D3"/>
          </a:solidFill>
          <a:ln/>
        </p:spPr>
      </p:sp>
      <p:sp>
        <p:nvSpPr>
          <p:cNvPr id="128" name="Text 126"/>
          <p:cNvSpPr txBox="1"/>
          <p:nvPr/>
        </p:nvSpPr>
        <p:spPr>
          <a:xfrm>
            <a:off x="10149840" y="4791456"/>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29" name="Shape 127"/>
          <p:cNvSpPr/>
          <p:nvPr/>
        </p:nvSpPr>
        <p:spPr>
          <a:xfrm>
            <a:off x="4343400" y="5175504"/>
            <a:ext cx="7436815" cy="0"/>
          </a:xfrm>
          <a:prstGeom prst="line">
            <a:avLst/>
          </a:prstGeom>
          <a:noFill/>
          <a:ln w="6350">
            <a:solidFill>
              <a:srgbClr val="E3E8E4"/>
            </a:solidFill>
            <a:prstDash val="solid"/>
          </a:ln>
        </p:spPr>
      </p:sp>
      <p:sp>
        <p:nvSpPr>
          <p:cNvPr id="130" name="Shape 128"/>
          <p:cNvSpPr/>
          <p:nvPr/>
        </p:nvSpPr>
        <p:spPr>
          <a:xfrm>
            <a:off x="4343400" y="5175504"/>
            <a:ext cx="1417320" cy="384048"/>
          </a:xfrm>
          <a:prstGeom prst="rect">
            <a:avLst/>
          </a:prstGeom>
          <a:solidFill>
            <a:srgbClr val="FFFFFF"/>
          </a:solidFill>
          <a:ln/>
        </p:spPr>
      </p:sp>
      <p:sp>
        <p:nvSpPr>
          <p:cNvPr id="131" name="Text 129"/>
          <p:cNvSpPr txBox="1"/>
          <p:nvPr/>
        </p:nvSpPr>
        <p:spPr>
          <a:xfrm>
            <a:off x="4389120" y="5175504"/>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Percentile range</a:t>
            </a:r>
            <a:endParaRPr lang="en-US" sz="950" dirty="0"/>
          </a:p>
        </p:txBody>
      </p:sp>
      <p:sp>
        <p:nvSpPr>
          <p:cNvPr id="132" name="Shape 130"/>
          <p:cNvSpPr/>
          <p:nvPr/>
        </p:nvSpPr>
        <p:spPr>
          <a:xfrm>
            <a:off x="5760720" y="5175504"/>
            <a:ext cx="3291840" cy="384048"/>
          </a:xfrm>
          <a:prstGeom prst="rect">
            <a:avLst/>
          </a:prstGeom>
          <a:solidFill>
            <a:srgbClr val="FFFFFF"/>
          </a:solidFill>
          <a:ln/>
        </p:spPr>
      </p:sp>
      <p:sp>
        <p:nvSpPr>
          <p:cNvPr id="133" name="Text 131"/>
          <p:cNvSpPr txBox="1"/>
          <p:nvPr/>
        </p:nvSpPr>
        <p:spPr>
          <a:xfrm>
            <a:off x="5806440" y="5175504"/>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Coverage of the 80 % band</a:t>
            </a:r>
            <a:endParaRPr lang="en-US" sz="950" dirty="0"/>
          </a:p>
        </p:txBody>
      </p:sp>
      <p:sp>
        <p:nvSpPr>
          <p:cNvPr id="134" name="Shape 132"/>
          <p:cNvSpPr/>
          <p:nvPr/>
        </p:nvSpPr>
        <p:spPr>
          <a:xfrm>
            <a:off x="9052560" y="5175504"/>
            <a:ext cx="1051560" cy="384048"/>
          </a:xfrm>
          <a:prstGeom prst="rect">
            <a:avLst/>
          </a:prstGeom>
          <a:solidFill>
            <a:srgbClr val="FFFFFF"/>
          </a:solidFill>
          <a:ln/>
        </p:spPr>
      </p:sp>
      <p:sp>
        <p:nvSpPr>
          <p:cNvPr id="135" name="Text 133"/>
          <p:cNvSpPr txBox="1"/>
          <p:nvPr/>
        </p:nvSpPr>
        <p:spPr>
          <a:xfrm>
            <a:off x="9098280" y="5175504"/>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77 to 83 %</a:t>
            </a:r>
            <a:endParaRPr lang="en-US" sz="950" dirty="0"/>
          </a:p>
        </p:txBody>
      </p:sp>
      <p:sp>
        <p:nvSpPr>
          <p:cNvPr id="136" name="Shape 134"/>
          <p:cNvSpPr/>
          <p:nvPr/>
        </p:nvSpPr>
        <p:spPr>
          <a:xfrm>
            <a:off x="10104120" y="5175504"/>
            <a:ext cx="1676095" cy="384048"/>
          </a:xfrm>
          <a:prstGeom prst="rect">
            <a:avLst/>
          </a:prstGeom>
          <a:solidFill>
            <a:srgbClr val="F1E8D3"/>
          </a:solidFill>
          <a:ln/>
        </p:spPr>
      </p:sp>
      <p:sp>
        <p:nvSpPr>
          <p:cNvPr id="137" name="Text 135"/>
          <p:cNvSpPr txBox="1"/>
          <p:nvPr/>
        </p:nvSpPr>
        <p:spPr>
          <a:xfrm>
            <a:off x="10149840" y="5175504"/>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38" name="Shape 136"/>
          <p:cNvSpPr/>
          <p:nvPr/>
        </p:nvSpPr>
        <p:spPr>
          <a:xfrm>
            <a:off x="4343400" y="5559552"/>
            <a:ext cx="7436815" cy="0"/>
          </a:xfrm>
          <a:prstGeom prst="line">
            <a:avLst/>
          </a:prstGeom>
          <a:noFill/>
          <a:ln w="6350">
            <a:solidFill>
              <a:srgbClr val="E3E8E4"/>
            </a:solidFill>
            <a:prstDash val="solid"/>
          </a:ln>
        </p:spPr>
      </p:sp>
      <p:sp>
        <p:nvSpPr>
          <p:cNvPr id="139" name="Shape 137"/>
          <p:cNvSpPr/>
          <p:nvPr/>
        </p:nvSpPr>
        <p:spPr>
          <a:xfrm>
            <a:off x="4343400" y="5559552"/>
            <a:ext cx="1417320" cy="384048"/>
          </a:xfrm>
          <a:prstGeom prst="rect">
            <a:avLst/>
          </a:prstGeom>
          <a:solidFill>
            <a:srgbClr val="F1F7F3"/>
          </a:solidFill>
          <a:ln/>
        </p:spPr>
      </p:sp>
      <p:sp>
        <p:nvSpPr>
          <p:cNvPr id="140" name="Text 138"/>
          <p:cNvSpPr txBox="1"/>
          <p:nvPr/>
        </p:nvSpPr>
        <p:spPr>
          <a:xfrm>
            <a:off x="4389120" y="5559552"/>
            <a:ext cx="1325880" cy="38404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Parent reports</a:t>
            </a:r>
            <a:endParaRPr lang="en-US" sz="950" dirty="0"/>
          </a:p>
        </p:txBody>
      </p:sp>
      <p:sp>
        <p:nvSpPr>
          <p:cNvPr id="141" name="Shape 139"/>
          <p:cNvSpPr/>
          <p:nvPr/>
        </p:nvSpPr>
        <p:spPr>
          <a:xfrm>
            <a:off x="5760720" y="5559552"/>
            <a:ext cx="3291840" cy="384048"/>
          </a:xfrm>
          <a:prstGeom prst="rect">
            <a:avLst/>
          </a:prstGeom>
          <a:solidFill>
            <a:srgbClr val="F1F7F3"/>
          </a:solidFill>
          <a:ln/>
        </p:spPr>
      </p:sp>
      <p:sp>
        <p:nvSpPr>
          <p:cNvPr id="142" name="Text 140"/>
          <p:cNvSpPr txBox="1"/>
          <p:nvPr/>
        </p:nvSpPr>
        <p:spPr>
          <a:xfrm>
            <a:off x="5806440" y="5559552"/>
            <a:ext cx="3200400" cy="38404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Numbers matching the facts; independent attack passes</a:t>
            </a:r>
            <a:endParaRPr lang="en-US" sz="950" dirty="0"/>
          </a:p>
        </p:txBody>
      </p:sp>
      <p:sp>
        <p:nvSpPr>
          <p:cNvPr id="143" name="Shape 141"/>
          <p:cNvSpPr/>
          <p:nvPr/>
        </p:nvSpPr>
        <p:spPr>
          <a:xfrm>
            <a:off x="9052560" y="5559552"/>
            <a:ext cx="1051560" cy="384048"/>
          </a:xfrm>
          <a:prstGeom prst="rect">
            <a:avLst/>
          </a:prstGeom>
          <a:solidFill>
            <a:srgbClr val="F1F7F3"/>
          </a:solidFill>
          <a:ln/>
        </p:spPr>
      </p:sp>
      <p:sp>
        <p:nvSpPr>
          <p:cNvPr id="144" name="Text 142"/>
          <p:cNvSpPr txBox="1"/>
          <p:nvPr/>
        </p:nvSpPr>
        <p:spPr>
          <a:xfrm>
            <a:off x="9098280" y="5559552"/>
            <a:ext cx="960120" cy="384048"/>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100 %</a:t>
            </a:r>
            <a:endParaRPr lang="en-US" sz="950" dirty="0"/>
          </a:p>
        </p:txBody>
      </p:sp>
      <p:sp>
        <p:nvSpPr>
          <p:cNvPr id="145" name="Shape 143"/>
          <p:cNvSpPr/>
          <p:nvPr/>
        </p:nvSpPr>
        <p:spPr>
          <a:xfrm>
            <a:off x="10104120" y="5559552"/>
            <a:ext cx="1676095" cy="384048"/>
          </a:xfrm>
          <a:prstGeom prst="rect">
            <a:avLst/>
          </a:prstGeom>
          <a:solidFill>
            <a:srgbClr val="F1E8D3"/>
          </a:solidFill>
          <a:ln/>
        </p:spPr>
      </p:sp>
      <p:sp>
        <p:nvSpPr>
          <p:cNvPr id="146" name="Text 144"/>
          <p:cNvSpPr txBox="1"/>
          <p:nvPr/>
        </p:nvSpPr>
        <p:spPr>
          <a:xfrm>
            <a:off x="10149840" y="5559552"/>
            <a:ext cx="1584655" cy="384048"/>
          </a:xfrm>
          <a:prstGeom prst="rect">
            <a:avLst/>
          </a:prstGeom>
          <a:noFill/>
          <a:ln/>
        </p:spPr>
        <p:txBody>
          <a:bodyPr wrap="square" lIns="0" tIns="0" rIns="0" bIns="0" rtlCol="0" anchor="ctr"/>
          <a:lstStyle/>
          <a:p>
            <a:pPr algn="ctr" indent="0" marL="0">
              <a:buNone/>
            </a:pPr>
            <a:r>
              <a:rPr lang="en-US" sz="950" b="1" dirty="0">
                <a:solidFill>
                  <a:srgbClr val="17325C"/>
                </a:solidFill>
                <a:latin typeface="Calibri" pitchFamily="34" charset="0"/>
                <a:ea typeface="Calibri" pitchFamily="34" charset="-122"/>
                <a:cs typeface="Calibri" pitchFamily="34" charset="-120"/>
              </a:rPr>
              <a:t>pending</a:t>
            </a:r>
            <a:endParaRPr lang="en-US" sz="950" dirty="0"/>
          </a:p>
        </p:txBody>
      </p:sp>
      <p:sp>
        <p:nvSpPr>
          <p:cNvPr id="147" name="Shape 145"/>
          <p:cNvSpPr/>
          <p:nvPr/>
        </p:nvSpPr>
        <p:spPr>
          <a:xfrm>
            <a:off x="4343400" y="5943600"/>
            <a:ext cx="7436815" cy="0"/>
          </a:xfrm>
          <a:prstGeom prst="line">
            <a:avLst/>
          </a:prstGeom>
          <a:noFill/>
          <a:ln w="6350">
            <a:solidFill>
              <a:srgbClr val="E3E8E4"/>
            </a:solidFill>
            <a:prstDash val="solid"/>
          </a:ln>
        </p:spPr>
      </p:sp>
      <p:sp>
        <p:nvSpPr>
          <p:cNvPr id="148" name="Text 146"/>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Sources: technical/contracts/metrics_bars.yaml, technical/docs/agent_prompts/R1_00_COMMON.md, ml/public_validation. Pending gates are filled from metrics.json by technical/scripts/deck_numbers.py.</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8: PRODUCT TOUR</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Six screens of the same flow, from upload to parent report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PRODUCT TOUR</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374904" y="1078992"/>
            <a:ext cx="3776472" cy="2130552"/>
          </a:xfrm>
          <a:prstGeom prst="rect">
            <a:avLst/>
          </a:prstGeom>
          <a:solidFill>
            <a:srgbClr val="FFFFFF"/>
          </a:solidFill>
          <a:ln w="19050">
            <a:solidFill>
              <a:srgbClr val="1F4A82"/>
            </a:solidFill>
            <a:prstDash val="solid"/>
          </a:ln>
        </p:spPr>
      </p:sp>
      <p:pic>
        <p:nvPicPr>
          <p:cNvPr id="17" name="Image 0" descr="Upload and map: the system fixes the mess">    </p:cNvPr>
          <p:cNvPicPr>
            <a:picLocks noChangeAspect="1"/>
          </p:cNvPicPr>
          <p:nvPr/>
        </p:nvPicPr>
        <p:blipFill>
          <a:blip r:embed="rId1"/>
          <a:stretch>
            <a:fillRect/>
          </a:stretch>
        </p:blipFill>
        <p:spPr>
          <a:xfrm>
            <a:off x="411480" y="1115568"/>
            <a:ext cx="3703320" cy="2057400"/>
          </a:xfrm>
          <a:prstGeom prst="rect">
            <a:avLst/>
          </a:prstGeom>
        </p:spPr>
      </p:pic>
      <p:sp>
        <p:nvSpPr>
          <p:cNvPr id="18" name="Shape 15"/>
          <p:cNvSpPr/>
          <p:nvPr/>
        </p:nvSpPr>
        <p:spPr>
          <a:xfrm>
            <a:off x="411480" y="3282696"/>
            <a:ext cx="274320" cy="274320"/>
          </a:xfrm>
          <a:prstGeom prst="rect">
            <a:avLst/>
          </a:prstGeom>
          <a:solidFill>
            <a:srgbClr val="1F4A82"/>
          </a:solidFill>
          <a:ln/>
        </p:spPr>
      </p:sp>
      <p:sp>
        <p:nvSpPr>
          <p:cNvPr id="19" name="Text 16"/>
          <p:cNvSpPr txBox="1"/>
          <p:nvPr/>
        </p:nvSpPr>
        <p:spPr>
          <a:xfrm>
            <a:off x="411480"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777240"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Upload and map: the system fixes the mess</a:t>
            </a:r>
            <a:endParaRPr lang="en-US" sz="1150" dirty="0"/>
          </a:p>
        </p:txBody>
      </p:sp>
      <p:sp>
        <p:nvSpPr>
          <p:cNvPr id="21" name="Shape 18"/>
          <p:cNvSpPr/>
          <p:nvPr/>
        </p:nvSpPr>
        <p:spPr>
          <a:xfrm>
            <a:off x="4206240" y="1078992"/>
            <a:ext cx="3776472" cy="2130552"/>
          </a:xfrm>
          <a:prstGeom prst="rect">
            <a:avLst/>
          </a:prstGeom>
          <a:solidFill>
            <a:srgbClr val="FFFFFF"/>
          </a:solidFill>
          <a:ln w="19050">
            <a:solidFill>
              <a:srgbClr val="1F4A82"/>
            </a:solidFill>
            <a:prstDash val="solid"/>
          </a:ln>
        </p:spPr>
      </p:sp>
      <p:pic>
        <p:nvPicPr>
          <p:cNvPr id="22" name="Image 1" descr="Topic map: strengths, gaps, untaught topics">    </p:cNvPr>
          <p:cNvPicPr>
            <a:picLocks noChangeAspect="1"/>
          </p:cNvPicPr>
          <p:nvPr/>
        </p:nvPicPr>
        <p:blipFill>
          <a:blip r:embed="rId2"/>
          <a:stretch>
            <a:fillRect/>
          </a:stretch>
        </p:blipFill>
        <p:spPr>
          <a:xfrm>
            <a:off x="4242816" y="1115568"/>
            <a:ext cx="3703320" cy="2057400"/>
          </a:xfrm>
          <a:prstGeom prst="rect">
            <a:avLst/>
          </a:prstGeom>
        </p:spPr>
      </p:pic>
      <p:sp>
        <p:nvSpPr>
          <p:cNvPr id="23" name="Shape 19"/>
          <p:cNvSpPr/>
          <p:nvPr/>
        </p:nvSpPr>
        <p:spPr>
          <a:xfrm>
            <a:off x="4242816" y="3282696"/>
            <a:ext cx="274320" cy="274320"/>
          </a:xfrm>
          <a:prstGeom prst="rect">
            <a:avLst/>
          </a:prstGeom>
          <a:solidFill>
            <a:srgbClr val="1F4A82"/>
          </a:solidFill>
          <a:ln/>
        </p:spPr>
      </p:sp>
      <p:sp>
        <p:nvSpPr>
          <p:cNvPr id="24" name="Text 20"/>
          <p:cNvSpPr txBox="1"/>
          <p:nvPr/>
        </p:nvSpPr>
        <p:spPr>
          <a:xfrm>
            <a:off x="4242816"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1"/>
          <p:cNvSpPr txBox="1"/>
          <p:nvPr/>
        </p:nvSpPr>
        <p:spPr>
          <a:xfrm>
            <a:off x="4608576"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Topic map: strengths, gaps, untaught topics</a:t>
            </a:r>
            <a:endParaRPr lang="en-US" sz="1150" dirty="0"/>
          </a:p>
        </p:txBody>
      </p:sp>
      <p:sp>
        <p:nvSpPr>
          <p:cNvPr id="26" name="Shape 22"/>
          <p:cNvSpPr/>
          <p:nvPr/>
        </p:nvSpPr>
        <p:spPr>
          <a:xfrm>
            <a:off x="8037576" y="1078992"/>
            <a:ext cx="3776472" cy="2130552"/>
          </a:xfrm>
          <a:prstGeom prst="rect">
            <a:avLst/>
          </a:prstGeom>
          <a:solidFill>
            <a:srgbClr val="FFFFFF"/>
          </a:solidFill>
          <a:ln w="19050">
            <a:solidFill>
              <a:srgbClr val="1F4A82"/>
            </a:solidFill>
            <a:prstDash val="solid"/>
          </a:ln>
        </p:spPr>
      </p:sp>
      <p:pic>
        <p:nvPicPr>
          <p:cNvPr id="27" name="Image 2" descr="Weekly support list: reasons and actions">    </p:cNvPr>
          <p:cNvPicPr>
            <a:picLocks noChangeAspect="1"/>
          </p:cNvPicPr>
          <p:nvPr/>
        </p:nvPicPr>
        <p:blipFill>
          <a:blip r:embed="rId3"/>
          <a:stretch>
            <a:fillRect/>
          </a:stretch>
        </p:blipFill>
        <p:spPr>
          <a:xfrm>
            <a:off x="8074152" y="1115568"/>
            <a:ext cx="3703320" cy="2057400"/>
          </a:xfrm>
          <a:prstGeom prst="rect">
            <a:avLst/>
          </a:prstGeom>
        </p:spPr>
      </p:pic>
      <p:sp>
        <p:nvSpPr>
          <p:cNvPr id="28" name="Shape 23"/>
          <p:cNvSpPr/>
          <p:nvPr/>
        </p:nvSpPr>
        <p:spPr>
          <a:xfrm>
            <a:off x="8074152" y="3282696"/>
            <a:ext cx="274320" cy="274320"/>
          </a:xfrm>
          <a:prstGeom prst="rect">
            <a:avLst/>
          </a:prstGeom>
          <a:solidFill>
            <a:srgbClr val="1F4A82"/>
          </a:solidFill>
          <a:ln/>
        </p:spPr>
      </p:sp>
      <p:sp>
        <p:nvSpPr>
          <p:cNvPr id="29" name="Text 24"/>
          <p:cNvSpPr txBox="1"/>
          <p:nvPr/>
        </p:nvSpPr>
        <p:spPr>
          <a:xfrm>
            <a:off x="8074152" y="32826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5"/>
          <p:cNvSpPr txBox="1"/>
          <p:nvPr/>
        </p:nvSpPr>
        <p:spPr>
          <a:xfrm>
            <a:off x="8439912" y="323697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Weekly support list: reasons and actions</a:t>
            </a:r>
            <a:endParaRPr lang="en-US" sz="1150" dirty="0"/>
          </a:p>
        </p:txBody>
      </p:sp>
      <p:sp>
        <p:nvSpPr>
          <p:cNvPr id="31" name="Shape 26"/>
          <p:cNvSpPr/>
          <p:nvPr/>
        </p:nvSpPr>
        <p:spPr>
          <a:xfrm>
            <a:off x="374904" y="3685032"/>
            <a:ext cx="3776472" cy="2130552"/>
          </a:xfrm>
          <a:prstGeom prst="rect">
            <a:avLst/>
          </a:prstGeom>
          <a:solidFill>
            <a:srgbClr val="FFFFFF"/>
          </a:solidFill>
          <a:ln w="19050">
            <a:solidFill>
              <a:srgbClr val="1F4A82"/>
            </a:solidFill>
            <a:prstDash val="solid"/>
          </a:ln>
        </p:spPr>
      </p:sp>
      <p:pic>
        <p:nvPicPr>
          <p:cNvPr id="32" name="Image 3" descr="Student profile: mastery with doubt, honest range">    </p:cNvPr>
          <p:cNvPicPr>
            <a:picLocks noChangeAspect="1"/>
          </p:cNvPicPr>
          <p:nvPr/>
        </p:nvPicPr>
        <p:blipFill>
          <a:blip r:embed="rId4"/>
          <a:stretch>
            <a:fillRect/>
          </a:stretch>
        </p:blipFill>
        <p:spPr>
          <a:xfrm>
            <a:off x="411480" y="3721608"/>
            <a:ext cx="3703320" cy="2057400"/>
          </a:xfrm>
          <a:prstGeom prst="rect">
            <a:avLst/>
          </a:prstGeom>
        </p:spPr>
      </p:pic>
      <p:sp>
        <p:nvSpPr>
          <p:cNvPr id="33" name="Shape 27"/>
          <p:cNvSpPr/>
          <p:nvPr/>
        </p:nvSpPr>
        <p:spPr>
          <a:xfrm>
            <a:off x="411480" y="5888736"/>
            <a:ext cx="274320" cy="274320"/>
          </a:xfrm>
          <a:prstGeom prst="rect">
            <a:avLst/>
          </a:prstGeom>
          <a:solidFill>
            <a:srgbClr val="1F4A82"/>
          </a:solidFill>
          <a:ln/>
        </p:spPr>
      </p:sp>
      <p:sp>
        <p:nvSpPr>
          <p:cNvPr id="34" name="Text 28"/>
          <p:cNvSpPr txBox="1"/>
          <p:nvPr/>
        </p:nvSpPr>
        <p:spPr>
          <a:xfrm>
            <a:off x="411480"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5" name="Text 29"/>
          <p:cNvSpPr txBox="1"/>
          <p:nvPr/>
        </p:nvSpPr>
        <p:spPr>
          <a:xfrm>
            <a:off x="777240"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Student profile: mastery with doubt, honest range</a:t>
            </a:r>
            <a:endParaRPr lang="en-US" sz="1150" dirty="0"/>
          </a:p>
        </p:txBody>
      </p:sp>
      <p:sp>
        <p:nvSpPr>
          <p:cNvPr id="36" name="Shape 30"/>
          <p:cNvSpPr/>
          <p:nvPr/>
        </p:nvSpPr>
        <p:spPr>
          <a:xfrm>
            <a:off x="4206240" y="3685032"/>
            <a:ext cx="3776472" cy="2130552"/>
          </a:xfrm>
          <a:prstGeom prst="rect">
            <a:avLst/>
          </a:prstGeom>
          <a:solidFill>
            <a:srgbClr val="FFFFFF"/>
          </a:solidFill>
          <a:ln w="19050">
            <a:solidFill>
              <a:srgbClr val="1F4A82"/>
            </a:solidFill>
            <a:prstDash val="solid"/>
          </a:ln>
        </p:spPr>
      </p:sp>
      <p:pic>
        <p:nvPicPr>
          <p:cNvPr id="37" name="Image 4" descr="Owner dashboard: retention, coverage, compliance">    </p:cNvPr>
          <p:cNvPicPr>
            <a:picLocks noChangeAspect="1"/>
          </p:cNvPicPr>
          <p:nvPr/>
        </p:nvPicPr>
        <p:blipFill>
          <a:blip r:embed="rId5"/>
          <a:stretch>
            <a:fillRect/>
          </a:stretch>
        </p:blipFill>
        <p:spPr>
          <a:xfrm>
            <a:off x="4242816" y="3721608"/>
            <a:ext cx="3703320" cy="2057400"/>
          </a:xfrm>
          <a:prstGeom prst="rect">
            <a:avLst/>
          </a:prstGeom>
        </p:spPr>
      </p:pic>
      <p:sp>
        <p:nvSpPr>
          <p:cNvPr id="38" name="Shape 31"/>
          <p:cNvSpPr/>
          <p:nvPr/>
        </p:nvSpPr>
        <p:spPr>
          <a:xfrm>
            <a:off x="4242816" y="5888736"/>
            <a:ext cx="274320" cy="274320"/>
          </a:xfrm>
          <a:prstGeom prst="rect">
            <a:avLst/>
          </a:prstGeom>
          <a:solidFill>
            <a:srgbClr val="1F4A82"/>
          </a:solidFill>
          <a:ln/>
        </p:spPr>
      </p:sp>
      <p:sp>
        <p:nvSpPr>
          <p:cNvPr id="39" name="Text 32"/>
          <p:cNvSpPr txBox="1"/>
          <p:nvPr/>
        </p:nvSpPr>
        <p:spPr>
          <a:xfrm>
            <a:off x="4242816"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0" name="Text 33"/>
          <p:cNvSpPr txBox="1"/>
          <p:nvPr/>
        </p:nvSpPr>
        <p:spPr>
          <a:xfrm>
            <a:off x="4608576"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Owner dashboard: retention, coverage, compliance</a:t>
            </a:r>
            <a:endParaRPr lang="en-US" sz="1150" dirty="0"/>
          </a:p>
        </p:txBody>
      </p:sp>
      <p:sp>
        <p:nvSpPr>
          <p:cNvPr id="41" name="Shape 34"/>
          <p:cNvSpPr/>
          <p:nvPr/>
        </p:nvSpPr>
        <p:spPr>
          <a:xfrm>
            <a:off x="8174736" y="3685032"/>
            <a:ext cx="3502152" cy="2130552"/>
          </a:xfrm>
          <a:prstGeom prst="rect">
            <a:avLst/>
          </a:prstGeom>
          <a:solidFill>
            <a:srgbClr val="FFFFFF"/>
          </a:solidFill>
          <a:ln w="19050">
            <a:solidFill>
              <a:srgbClr val="1F4A82"/>
            </a:solidFill>
            <a:prstDash val="solid"/>
          </a:ln>
        </p:spPr>
      </p:sp>
      <p:pic>
        <p:nvPicPr>
          <p:cNvPr id="42" name="Image 5" descr="Parent report in Hindi and English">    </p:cNvPr>
          <p:cNvPicPr>
            <a:picLocks noChangeAspect="1"/>
          </p:cNvPicPr>
          <p:nvPr/>
        </p:nvPicPr>
        <p:blipFill>
          <a:blip r:embed="rId6"/>
          <a:stretch>
            <a:fillRect/>
          </a:stretch>
        </p:blipFill>
        <p:spPr>
          <a:xfrm>
            <a:off x="8211312" y="3721608"/>
            <a:ext cx="3429000" cy="2057400"/>
          </a:xfrm>
          <a:prstGeom prst="rect">
            <a:avLst/>
          </a:prstGeom>
        </p:spPr>
      </p:pic>
      <p:sp>
        <p:nvSpPr>
          <p:cNvPr id="43" name="Shape 35"/>
          <p:cNvSpPr/>
          <p:nvPr/>
        </p:nvSpPr>
        <p:spPr>
          <a:xfrm>
            <a:off x="8074152" y="5888736"/>
            <a:ext cx="274320" cy="274320"/>
          </a:xfrm>
          <a:prstGeom prst="rect">
            <a:avLst/>
          </a:prstGeom>
          <a:solidFill>
            <a:srgbClr val="1F4A82"/>
          </a:solidFill>
          <a:ln/>
        </p:spPr>
      </p:sp>
      <p:sp>
        <p:nvSpPr>
          <p:cNvPr id="44" name="Text 36"/>
          <p:cNvSpPr txBox="1"/>
          <p:nvPr/>
        </p:nvSpPr>
        <p:spPr>
          <a:xfrm>
            <a:off x="8074152" y="5888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37"/>
          <p:cNvSpPr txBox="1"/>
          <p:nvPr/>
        </p:nvSpPr>
        <p:spPr>
          <a:xfrm>
            <a:off x="8439912" y="5843016"/>
            <a:ext cx="3291840" cy="365760"/>
          </a:xfrm>
          <a:prstGeom prst="rect">
            <a:avLst/>
          </a:prstGeom>
          <a:noFill/>
          <a:ln/>
        </p:spPr>
        <p:txBody>
          <a:bodyPr wrap="square" lIns="0" tIns="0" rIns="0" bIns="0" rtlCol="0" anchor="ctr"/>
          <a:lstStyle/>
          <a:p>
            <a:pPr algn="l" indent="0" marL="0">
              <a:buNone/>
            </a:pPr>
            <a:r>
              <a:rPr lang="en-US" sz="1150" b="1" dirty="0">
                <a:solidFill>
                  <a:srgbClr val="17325C"/>
                </a:solidFill>
                <a:latin typeface="Calibri" pitchFamily="34" charset="0"/>
                <a:ea typeface="Calibri" pitchFamily="34" charset="-122"/>
                <a:cs typeface="Calibri" pitchFamily="34" charset="-120"/>
              </a:rPr>
              <a:t>Parent report in Hindi and English</a:t>
            </a:r>
            <a:endParaRPr lang="en-US" sz="1150" dirty="0"/>
          </a:p>
        </p:txBody>
      </p:sp>
      <p:sp>
        <p:nvSpPr>
          <p:cNvPr id="46" name="Text 38"/>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Illustrative mock-ups rendered from HTML with synthetic values; they become real screenshots once the web app is wired to the models.</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What makes us different: eight differentiator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10: SOURCE REGISTER</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Every external number in the deck, where it came from, and where we used it</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SOURCE REGISTER</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320040" cy="274320"/>
          </a:xfrm>
          <a:prstGeom prst="rect">
            <a:avLst/>
          </a:prstGeom>
          <a:solidFill>
            <a:srgbClr val="1F4A82"/>
          </a:solidFill>
          <a:ln/>
        </p:spPr>
      </p:sp>
      <p:sp>
        <p:nvSpPr>
          <p:cNvPr id="17" name="Text 15"/>
          <p:cNvSpPr txBox="1"/>
          <p:nvPr/>
        </p:nvSpPr>
        <p:spPr>
          <a:xfrm>
            <a:off x="457200" y="1115568"/>
            <a:ext cx="2286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18" name="Shape 16"/>
          <p:cNvSpPr/>
          <p:nvPr/>
        </p:nvSpPr>
        <p:spPr>
          <a:xfrm>
            <a:off x="731520" y="1115568"/>
            <a:ext cx="3291840" cy="274320"/>
          </a:xfrm>
          <a:prstGeom prst="rect">
            <a:avLst/>
          </a:prstGeom>
          <a:solidFill>
            <a:srgbClr val="1F4A82"/>
          </a:solidFill>
          <a:ln/>
        </p:spPr>
      </p:sp>
      <p:sp>
        <p:nvSpPr>
          <p:cNvPr id="19" name="Text 17"/>
          <p:cNvSpPr txBox="1"/>
          <p:nvPr/>
        </p:nvSpPr>
        <p:spPr>
          <a:xfrm>
            <a:off x="777240" y="1115568"/>
            <a:ext cx="320040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p>
        </p:txBody>
      </p:sp>
      <p:sp>
        <p:nvSpPr>
          <p:cNvPr id="20" name="Shape 18"/>
          <p:cNvSpPr/>
          <p:nvPr/>
        </p:nvSpPr>
        <p:spPr>
          <a:xfrm>
            <a:off x="4023360" y="1115568"/>
            <a:ext cx="4572000" cy="274320"/>
          </a:xfrm>
          <a:prstGeom prst="rect">
            <a:avLst/>
          </a:prstGeom>
          <a:solidFill>
            <a:srgbClr val="1F4A82"/>
          </a:solidFill>
          <a:ln/>
        </p:spPr>
      </p:sp>
      <p:sp>
        <p:nvSpPr>
          <p:cNvPr id="21" name="Text 19"/>
          <p:cNvSpPr txBox="1"/>
          <p:nvPr/>
        </p:nvSpPr>
        <p:spPr>
          <a:xfrm>
            <a:off x="4069080" y="1115568"/>
            <a:ext cx="448056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Used for</a:t>
            </a:r>
            <a:endParaRPr lang="en-US" sz="950" dirty="0"/>
          </a:p>
        </p:txBody>
      </p:sp>
      <p:sp>
        <p:nvSpPr>
          <p:cNvPr id="22" name="Shape 20"/>
          <p:cNvSpPr/>
          <p:nvPr/>
        </p:nvSpPr>
        <p:spPr>
          <a:xfrm>
            <a:off x="8595360" y="1115568"/>
            <a:ext cx="2331720" cy="274320"/>
          </a:xfrm>
          <a:prstGeom prst="rect">
            <a:avLst/>
          </a:prstGeom>
          <a:solidFill>
            <a:srgbClr val="1F4A82"/>
          </a:solidFill>
          <a:ln/>
        </p:spPr>
      </p:sp>
      <p:sp>
        <p:nvSpPr>
          <p:cNvPr id="23" name="Text 21"/>
          <p:cNvSpPr txBox="1"/>
          <p:nvPr/>
        </p:nvSpPr>
        <p:spPr>
          <a:xfrm>
            <a:off x="8641080" y="1115568"/>
            <a:ext cx="2240280" cy="274320"/>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Confidence</a:t>
            </a:r>
            <a:endParaRPr lang="en-US" sz="950" dirty="0"/>
          </a:p>
        </p:txBody>
      </p:sp>
      <p:sp>
        <p:nvSpPr>
          <p:cNvPr id="24" name="Shape 22"/>
          <p:cNvSpPr/>
          <p:nvPr/>
        </p:nvSpPr>
        <p:spPr>
          <a:xfrm>
            <a:off x="10927080" y="1115568"/>
            <a:ext cx="853135" cy="274320"/>
          </a:xfrm>
          <a:prstGeom prst="rect">
            <a:avLst/>
          </a:prstGeom>
          <a:solidFill>
            <a:srgbClr val="1F4A82"/>
          </a:solidFill>
          <a:ln/>
        </p:spPr>
      </p:sp>
      <p:sp>
        <p:nvSpPr>
          <p:cNvPr id="25" name="Text 23"/>
          <p:cNvSpPr txBox="1"/>
          <p:nvPr/>
        </p:nvSpPr>
        <p:spPr>
          <a:xfrm>
            <a:off x="10972800" y="1115568"/>
            <a:ext cx="761695"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Slide</a:t>
            </a:r>
            <a:endParaRPr lang="en-US" sz="950" dirty="0"/>
          </a:p>
        </p:txBody>
      </p:sp>
      <p:sp>
        <p:nvSpPr>
          <p:cNvPr id="26" name="Shape 24"/>
          <p:cNvSpPr/>
          <p:nvPr/>
        </p:nvSpPr>
        <p:spPr>
          <a:xfrm>
            <a:off x="411480" y="1389888"/>
            <a:ext cx="320040" cy="370332"/>
          </a:xfrm>
          <a:prstGeom prst="rect">
            <a:avLst/>
          </a:prstGeom>
          <a:solidFill>
            <a:srgbClr val="F1F7F3"/>
          </a:solidFill>
          <a:ln/>
        </p:spPr>
      </p:sp>
      <p:sp>
        <p:nvSpPr>
          <p:cNvPr id="27" name="Text 25"/>
          <p:cNvSpPr txBox="1"/>
          <p:nvPr/>
        </p:nvSpPr>
        <p:spPr>
          <a:xfrm>
            <a:off x="457200" y="1389888"/>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a:t>
            </a:r>
            <a:endParaRPr lang="en-US" sz="950" dirty="0"/>
          </a:p>
        </p:txBody>
      </p:sp>
      <p:sp>
        <p:nvSpPr>
          <p:cNvPr id="28" name="Shape 26"/>
          <p:cNvSpPr/>
          <p:nvPr/>
        </p:nvSpPr>
        <p:spPr>
          <a:xfrm>
            <a:off x="731520" y="1389888"/>
            <a:ext cx="3291840" cy="370332"/>
          </a:xfrm>
          <a:prstGeom prst="rect">
            <a:avLst/>
          </a:prstGeom>
          <a:solidFill>
            <a:srgbClr val="F1F7F3"/>
          </a:solidFill>
          <a:ln/>
        </p:spPr>
      </p:sp>
      <p:sp>
        <p:nvSpPr>
          <p:cNvPr id="29" name="Text 27"/>
          <p:cNvSpPr txBox="1"/>
          <p:nvPr/>
        </p:nvSpPr>
        <p:spPr>
          <a:xfrm>
            <a:off x="777240" y="1389888"/>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NTA NEET UG 2025 result data (via Careers360, ALLEN)</a:t>
            </a:r>
            <a:endParaRPr lang="en-US" sz="950" dirty="0"/>
          </a:p>
        </p:txBody>
      </p:sp>
      <p:sp>
        <p:nvSpPr>
          <p:cNvPr id="30" name="Shape 28"/>
          <p:cNvSpPr/>
          <p:nvPr/>
        </p:nvSpPr>
        <p:spPr>
          <a:xfrm>
            <a:off x="4023360" y="1389888"/>
            <a:ext cx="4572000" cy="370332"/>
          </a:xfrm>
          <a:prstGeom prst="rect">
            <a:avLst/>
          </a:prstGeom>
          <a:solidFill>
            <a:srgbClr val="F1F7F3"/>
          </a:solidFill>
          <a:ln/>
        </p:spPr>
      </p:sp>
      <p:sp>
        <p:nvSpPr>
          <p:cNvPr id="31" name="Text 29"/>
          <p:cNvSpPr txBox="1"/>
          <p:nvPr/>
        </p:nvSpPr>
        <p:spPr>
          <a:xfrm>
            <a:off x="4069080" y="1389888"/>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22.76 lakh registered candidates</a:t>
            </a:r>
            <a:endParaRPr lang="en-US" sz="950" dirty="0"/>
          </a:p>
        </p:txBody>
      </p:sp>
      <p:sp>
        <p:nvSpPr>
          <p:cNvPr id="32" name="Shape 30"/>
          <p:cNvSpPr/>
          <p:nvPr/>
        </p:nvSpPr>
        <p:spPr>
          <a:xfrm>
            <a:off x="8595360" y="1389888"/>
            <a:ext cx="2331720" cy="370332"/>
          </a:xfrm>
          <a:prstGeom prst="rect">
            <a:avLst/>
          </a:prstGeom>
          <a:solidFill>
            <a:srgbClr val="F1F7F3"/>
          </a:solidFill>
          <a:ln/>
        </p:spPr>
      </p:sp>
      <p:sp>
        <p:nvSpPr>
          <p:cNvPr id="33" name="Text 31"/>
          <p:cNvSpPr txBox="1"/>
          <p:nvPr/>
        </p:nvSpPr>
        <p:spPr>
          <a:xfrm>
            <a:off x="8641080" y="1389888"/>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34" name="Shape 32"/>
          <p:cNvSpPr/>
          <p:nvPr/>
        </p:nvSpPr>
        <p:spPr>
          <a:xfrm>
            <a:off x="10927080" y="1389888"/>
            <a:ext cx="853135" cy="370332"/>
          </a:xfrm>
          <a:prstGeom prst="rect">
            <a:avLst/>
          </a:prstGeom>
          <a:solidFill>
            <a:srgbClr val="F1F7F3"/>
          </a:solidFill>
          <a:ln/>
        </p:spPr>
      </p:sp>
      <p:sp>
        <p:nvSpPr>
          <p:cNvPr id="35" name="Text 33"/>
          <p:cNvSpPr txBox="1"/>
          <p:nvPr/>
        </p:nvSpPr>
        <p:spPr>
          <a:xfrm>
            <a:off x="10972800" y="1389888"/>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2, 3</a:t>
            </a:r>
            <a:endParaRPr lang="en-US" sz="950" dirty="0"/>
          </a:p>
        </p:txBody>
      </p:sp>
      <p:sp>
        <p:nvSpPr>
          <p:cNvPr id="36" name="Shape 34"/>
          <p:cNvSpPr/>
          <p:nvPr/>
        </p:nvSpPr>
        <p:spPr>
          <a:xfrm>
            <a:off x="411480" y="1760220"/>
            <a:ext cx="11368735" cy="0"/>
          </a:xfrm>
          <a:prstGeom prst="line">
            <a:avLst/>
          </a:prstGeom>
          <a:noFill/>
          <a:ln w="6350">
            <a:solidFill>
              <a:srgbClr val="E3E8E4"/>
            </a:solidFill>
            <a:prstDash val="solid"/>
          </a:ln>
        </p:spPr>
      </p:sp>
      <p:sp>
        <p:nvSpPr>
          <p:cNvPr id="37" name="Shape 35"/>
          <p:cNvSpPr/>
          <p:nvPr/>
        </p:nvSpPr>
        <p:spPr>
          <a:xfrm>
            <a:off x="411480" y="1760220"/>
            <a:ext cx="320040" cy="370332"/>
          </a:xfrm>
          <a:prstGeom prst="rect">
            <a:avLst/>
          </a:prstGeom>
          <a:solidFill>
            <a:srgbClr val="FFFFFF"/>
          </a:solidFill>
          <a:ln/>
        </p:spPr>
      </p:sp>
      <p:sp>
        <p:nvSpPr>
          <p:cNvPr id="38" name="Text 36"/>
          <p:cNvSpPr txBox="1"/>
          <p:nvPr/>
        </p:nvSpPr>
        <p:spPr>
          <a:xfrm>
            <a:off x="457200" y="1760220"/>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2</a:t>
            </a:r>
            <a:endParaRPr lang="en-US" sz="950" dirty="0"/>
          </a:p>
        </p:txBody>
      </p:sp>
      <p:sp>
        <p:nvSpPr>
          <p:cNvPr id="39" name="Shape 37"/>
          <p:cNvSpPr/>
          <p:nvPr/>
        </p:nvSpPr>
        <p:spPr>
          <a:xfrm>
            <a:off x="731520" y="1760220"/>
            <a:ext cx="3291840" cy="370332"/>
          </a:xfrm>
          <a:prstGeom prst="rect">
            <a:avLst/>
          </a:prstGeom>
          <a:solidFill>
            <a:srgbClr val="FFFFFF"/>
          </a:solidFill>
          <a:ln/>
        </p:spPr>
      </p:sp>
      <p:sp>
        <p:nvSpPr>
          <p:cNvPr id="40" name="Text 38"/>
          <p:cNvSpPr txBox="1"/>
          <p:nvPr/>
        </p:nvSpPr>
        <p:spPr>
          <a:xfrm>
            <a:off x="777240" y="1760220"/>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JEE Main 2025 statistics (Vedantu; NTA total not found)</a:t>
            </a:r>
            <a:endParaRPr lang="en-US" sz="950" dirty="0"/>
          </a:p>
        </p:txBody>
      </p:sp>
      <p:sp>
        <p:nvSpPr>
          <p:cNvPr id="41" name="Shape 39"/>
          <p:cNvSpPr/>
          <p:nvPr/>
        </p:nvSpPr>
        <p:spPr>
          <a:xfrm>
            <a:off x="4023360" y="1760220"/>
            <a:ext cx="4572000" cy="370332"/>
          </a:xfrm>
          <a:prstGeom prst="rect">
            <a:avLst/>
          </a:prstGeom>
          <a:solidFill>
            <a:srgbClr val="FFFFFF"/>
          </a:solidFill>
          <a:ln/>
        </p:spPr>
      </p:sp>
      <p:sp>
        <p:nvSpPr>
          <p:cNvPr id="42" name="Text 40"/>
          <p:cNvSpPr txBox="1"/>
          <p:nvPr/>
        </p:nvSpPr>
        <p:spPr>
          <a:xfrm>
            <a:off x="4069080" y="1760220"/>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About 15.4 lakh unique registrations</a:t>
            </a:r>
            <a:endParaRPr lang="en-US" sz="950" dirty="0"/>
          </a:p>
        </p:txBody>
      </p:sp>
      <p:sp>
        <p:nvSpPr>
          <p:cNvPr id="43" name="Shape 41"/>
          <p:cNvSpPr/>
          <p:nvPr/>
        </p:nvSpPr>
        <p:spPr>
          <a:xfrm>
            <a:off x="8595360" y="1760220"/>
            <a:ext cx="2331720" cy="370332"/>
          </a:xfrm>
          <a:prstGeom prst="rect">
            <a:avLst/>
          </a:prstGeom>
          <a:solidFill>
            <a:srgbClr val="FFFFFF"/>
          </a:solidFill>
          <a:ln/>
        </p:spPr>
      </p:sp>
      <p:sp>
        <p:nvSpPr>
          <p:cNvPr id="44" name="Text 42"/>
          <p:cNvSpPr txBox="1"/>
          <p:nvPr/>
        </p:nvSpPr>
        <p:spPr>
          <a:xfrm>
            <a:off x="8641080" y="1760220"/>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(secondary)</a:t>
            </a:r>
            <a:endParaRPr lang="en-US" sz="950" dirty="0"/>
          </a:p>
        </p:txBody>
      </p:sp>
      <p:sp>
        <p:nvSpPr>
          <p:cNvPr id="45" name="Shape 43"/>
          <p:cNvSpPr/>
          <p:nvPr/>
        </p:nvSpPr>
        <p:spPr>
          <a:xfrm>
            <a:off x="10927080" y="1760220"/>
            <a:ext cx="853135" cy="370332"/>
          </a:xfrm>
          <a:prstGeom prst="rect">
            <a:avLst/>
          </a:prstGeom>
          <a:solidFill>
            <a:srgbClr val="FFFFFF"/>
          </a:solidFill>
          <a:ln/>
        </p:spPr>
      </p:sp>
      <p:sp>
        <p:nvSpPr>
          <p:cNvPr id="46" name="Text 44"/>
          <p:cNvSpPr txBox="1"/>
          <p:nvPr/>
        </p:nvSpPr>
        <p:spPr>
          <a:xfrm>
            <a:off x="10972800" y="1760220"/>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2, 3</a:t>
            </a:r>
            <a:endParaRPr lang="en-US" sz="950" dirty="0"/>
          </a:p>
        </p:txBody>
      </p:sp>
      <p:sp>
        <p:nvSpPr>
          <p:cNvPr id="47" name="Shape 45"/>
          <p:cNvSpPr/>
          <p:nvPr/>
        </p:nvSpPr>
        <p:spPr>
          <a:xfrm>
            <a:off x="411480" y="2130552"/>
            <a:ext cx="11368735" cy="0"/>
          </a:xfrm>
          <a:prstGeom prst="line">
            <a:avLst/>
          </a:prstGeom>
          <a:noFill/>
          <a:ln w="6350">
            <a:solidFill>
              <a:srgbClr val="E3E8E4"/>
            </a:solidFill>
            <a:prstDash val="solid"/>
          </a:ln>
        </p:spPr>
      </p:sp>
      <p:sp>
        <p:nvSpPr>
          <p:cNvPr id="48" name="Shape 46"/>
          <p:cNvSpPr/>
          <p:nvPr/>
        </p:nvSpPr>
        <p:spPr>
          <a:xfrm>
            <a:off x="411480" y="2130552"/>
            <a:ext cx="320040" cy="370332"/>
          </a:xfrm>
          <a:prstGeom prst="rect">
            <a:avLst/>
          </a:prstGeom>
          <a:solidFill>
            <a:srgbClr val="F1F7F3"/>
          </a:solidFill>
          <a:ln/>
        </p:spPr>
      </p:sp>
      <p:sp>
        <p:nvSpPr>
          <p:cNvPr id="49" name="Text 47"/>
          <p:cNvSpPr txBox="1"/>
          <p:nvPr/>
        </p:nvSpPr>
        <p:spPr>
          <a:xfrm>
            <a:off x="457200" y="2130552"/>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3</a:t>
            </a:r>
            <a:endParaRPr lang="en-US" sz="950" dirty="0"/>
          </a:p>
        </p:txBody>
      </p:sp>
      <p:sp>
        <p:nvSpPr>
          <p:cNvPr id="50" name="Shape 48"/>
          <p:cNvSpPr/>
          <p:nvPr/>
        </p:nvSpPr>
        <p:spPr>
          <a:xfrm>
            <a:off x="731520" y="2130552"/>
            <a:ext cx="3291840" cy="370332"/>
          </a:xfrm>
          <a:prstGeom prst="rect">
            <a:avLst/>
          </a:prstGeom>
          <a:solidFill>
            <a:srgbClr val="F1F7F3"/>
          </a:solidFill>
          <a:ln/>
        </p:spPr>
      </p:sp>
      <p:sp>
        <p:nvSpPr>
          <p:cNvPr id="51" name="Text 49"/>
          <p:cNvSpPr txBox="1"/>
          <p:nvPr/>
        </p:nvSpPr>
        <p:spPr>
          <a:xfrm>
            <a:off x="777240" y="2130552"/>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NSO Comprehensive Modular Survey: Education 2025 (via Careers360)</a:t>
            </a:r>
            <a:endParaRPr lang="en-US" sz="950" dirty="0"/>
          </a:p>
        </p:txBody>
      </p:sp>
      <p:sp>
        <p:nvSpPr>
          <p:cNvPr id="52" name="Shape 50"/>
          <p:cNvSpPr/>
          <p:nvPr/>
        </p:nvSpPr>
        <p:spPr>
          <a:xfrm>
            <a:off x="4023360" y="2130552"/>
            <a:ext cx="4572000" cy="370332"/>
          </a:xfrm>
          <a:prstGeom prst="rect">
            <a:avLst/>
          </a:prstGeom>
          <a:solidFill>
            <a:srgbClr val="F1F7F3"/>
          </a:solidFill>
          <a:ln/>
        </p:spPr>
      </p:sp>
      <p:sp>
        <p:nvSpPr>
          <p:cNvPr id="53" name="Text 51"/>
          <p:cNvSpPr txBox="1"/>
          <p:nvPr/>
        </p:nvSpPr>
        <p:spPr>
          <a:xfrm>
            <a:off x="4069080" y="2130552"/>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27 % of school students in private coaching</a:t>
            </a:r>
            <a:endParaRPr lang="en-US" sz="950" dirty="0"/>
          </a:p>
        </p:txBody>
      </p:sp>
      <p:sp>
        <p:nvSpPr>
          <p:cNvPr id="54" name="Shape 52"/>
          <p:cNvSpPr/>
          <p:nvPr/>
        </p:nvSpPr>
        <p:spPr>
          <a:xfrm>
            <a:off x="8595360" y="2130552"/>
            <a:ext cx="2331720" cy="370332"/>
          </a:xfrm>
          <a:prstGeom prst="rect">
            <a:avLst/>
          </a:prstGeom>
          <a:solidFill>
            <a:srgbClr val="F1F7F3"/>
          </a:solidFill>
          <a:ln/>
        </p:spPr>
      </p:sp>
      <p:sp>
        <p:nvSpPr>
          <p:cNvPr id="55" name="Text 53"/>
          <p:cNvSpPr txBox="1"/>
          <p:nvPr/>
        </p:nvSpPr>
        <p:spPr>
          <a:xfrm>
            <a:off x="8641080" y="2130552"/>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(official)</a:t>
            </a:r>
            <a:endParaRPr lang="en-US" sz="950" dirty="0"/>
          </a:p>
        </p:txBody>
      </p:sp>
      <p:sp>
        <p:nvSpPr>
          <p:cNvPr id="56" name="Shape 54"/>
          <p:cNvSpPr/>
          <p:nvPr/>
        </p:nvSpPr>
        <p:spPr>
          <a:xfrm>
            <a:off x="10927080" y="2130552"/>
            <a:ext cx="853135" cy="370332"/>
          </a:xfrm>
          <a:prstGeom prst="rect">
            <a:avLst/>
          </a:prstGeom>
          <a:solidFill>
            <a:srgbClr val="F1F7F3"/>
          </a:solidFill>
          <a:ln/>
        </p:spPr>
      </p:sp>
      <p:sp>
        <p:nvSpPr>
          <p:cNvPr id="57" name="Text 55"/>
          <p:cNvSpPr txBox="1"/>
          <p:nvPr/>
        </p:nvSpPr>
        <p:spPr>
          <a:xfrm>
            <a:off x="10972800" y="2130552"/>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58" name="Shape 56"/>
          <p:cNvSpPr/>
          <p:nvPr/>
        </p:nvSpPr>
        <p:spPr>
          <a:xfrm>
            <a:off x="411480" y="2500884"/>
            <a:ext cx="11368735" cy="0"/>
          </a:xfrm>
          <a:prstGeom prst="line">
            <a:avLst/>
          </a:prstGeom>
          <a:noFill/>
          <a:ln w="6350">
            <a:solidFill>
              <a:srgbClr val="E3E8E4"/>
            </a:solidFill>
            <a:prstDash val="solid"/>
          </a:ln>
        </p:spPr>
      </p:sp>
      <p:sp>
        <p:nvSpPr>
          <p:cNvPr id="59" name="Shape 57"/>
          <p:cNvSpPr/>
          <p:nvPr/>
        </p:nvSpPr>
        <p:spPr>
          <a:xfrm>
            <a:off x="411480" y="2500884"/>
            <a:ext cx="320040" cy="370332"/>
          </a:xfrm>
          <a:prstGeom prst="rect">
            <a:avLst/>
          </a:prstGeom>
          <a:solidFill>
            <a:srgbClr val="FFFFFF"/>
          </a:solidFill>
          <a:ln/>
        </p:spPr>
      </p:sp>
      <p:sp>
        <p:nvSpPr>
          <p:cNvPr id="60" name="Text 58"/>
          <p:cNvSpPr txBox="1"/>
          <p:nvPr/>
        </p:nvSpPr>
        <p:spPr>
          <a:xfrm>
            <a:off x="457200" y="2500884"/>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4</a:t>
            </a:r>
            <a:endParaRPr lang="en-US" sz="950" dirty="0"/>
          </a:p>
        </p:txBody>
      </p:sp>
      <p:sp>
        <p:nvSpPr>
          <p:cNvPr id="61" name="Shape 59"/>
          <p:cNvSpPr/>
          <p:nvPr/>
        </p:nvSpPr>
        <p:spPr>
          <a:xfrm>
            <a:off x="731520" y="2500884"/>
            <a:ext cx="3291840" cy="370332"/>
          </a:xfrm>
          <a:prstGeom prst="rect">
            <a:avLst/>
          </a:prstGeom>
          <a:solidFill>
            <a:srgbClr val="FFFFFF"/>
          </a:solidFill>
          <a:ln/>
        </p:spPr>
      </p:sp>
      <p:sp>
        <p:nvSpPr>
          <p:cNvPr id="62" name="Text 60"/>
          <p:cNvSpPr txBox="1"/>
          <p:nvPr/>
        </p:nvSpPr>
        <p:spPr>
          <a:xfrm>
            <a:off x="777240" y="2500884"/>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Case participant guide</a:t>
            </a:r>
            <a:endParaRPr lang="en-US" sz="950" dirty="0"/>
          </a:p>
        </p:txBody>
      </p:sp>
      <p:sp>
        <p:nvSpPr>
          <p:cNvPr id="63" name="Shape 61"/>
          <p:cNvSpPr/>
          <p:nvPr/>
        </p:nvSpPr>
        <p:spPr>
          <a:xfrm>
            <a:off x="4023360" y="2500884"/>
            <a:ext cx="4572000" cy="370332"/>
          </a:xfrm>
          <a:prstGeom prst="rect">
            <a:avLst/>
          </a:prstGeom>
          <a:solidFill>
            <a:srgbClr val="FFFFFF"/>
          </a:solidFill>
          <a:ln/>
        </p:spPr>
      </p:sp>
      <p:sp>
        <p:nvSpPr>
          <p:cNvPr id="64" name="Text 62"/>
          <p:cNvSpPr txBox="1"/>
          <p:nvPr/>
        </p:nvSpPr>
        <p:spPr>
          <a:xfrm>
            <a:off x="4069080" y="2500884"/>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to 15 % dropout, ₹36,000 per leaver, ₹17.3 lakh, ₹40, 25 %</a:t>
            </a:r>
            <a:endParaRPr lang="en-US" sz="950" dirty="0"/>
          </a:p>
        </p:txBody>
      </p:sp>
      <p:sp>
        <p:nvSpPr>
          <p:cNvPr id="65" name="Shape 63"/>
          <p:cNvSpPr/>
          <p:nvPr/>
        </p:nvSpPr>
        <p:spPr>
          <a:xfrm>
            <a:off x="8595360" y="2500884"/>
            <a:ext cx="2331720" cy="370332"/>
          </a:xfrm>
          <a:prstGeom prst="rect">
            <a:avLst/>
          </a:prstGeom>
          <a:solidFill>
            <a:srgbClr val="FFFFFF"/>
          </a:solidFill>
          <a:ln/>
        </p:spPr>
      </p:sp>
      <p:sp>
        <p:nvSpPr>
          <p:cNvPr id="66" name="Text 64"/>
          <p:cNvSpPr txBox="1"/>
          <p:nvPr/>
        </p:nvSpPr>
        <p:spPr>
          <a:xfrm>
            <a:off x="8641080" y="2500884"/>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Illustrative</a:t>
            </a:r>
            <a:endParaRPr lang="en-US" sz="950" dirty="0"/>
          </a:p>
        </p:txBody>
      </p:sp>
      <p:sp>
        <p:nvSpPr>
          <p:cNvPr id="67" name="Shape 65"/>
          <p:cNvSpPr/>
          <p:nvPr/>
        </p:nvSpPr>
        <p:spPr>
          <a:xfrm>
            <a:off x="10927080" y="2500884"/>
            <a:ext cx="853135" cy="370332"/>
          </a:xfrm>
          <a:prstGeom prst="rect">
            <a:avLst/>
          </a:prstGeom>
          <a:solidFill>
            <a:srgbClr val="FFFFFF"/>
          </a:solidFill>
          <a:ln/>
        </p:spPr>
      </p:sp>
      <p:sp>
        <p:nvSpPr>
          <p:cNvPr id="68" name="Text 66"/>
          <p:cNvSpPr txBox="1"/>
          <p:nvPr/>
        </p:nvSpPr>
        <p:spPr>
          <a:xfrm>
            <a:off x="10972800" y="2500884"/>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2, 3, 4</a:t>
            </a:r>
            <a:endParaRPr lang="en-US" sz="950" dirty="0"/>
          </a:p>
        </p:txBody>
      </p:sp>
      <p:sp>
        <p:nvSpPr>
          <p:cNvPr id="69" name="Shape 67"/>
          <p:cNvSpPr/>
          <p:nvPr/>
        </p:nvSpPr>
        <p:spPr>
          <a:xfrm>
            <a:off x="411480" y="2871216"/>
            <a:ext cx="11368735" cy="0"/>
          </a:xfrm>
          <a:prstGeom prst="line">
            <a:avLst/>
          </a:prstGeom>
          <a:noFill/>
          <a:ln w="6350">
            <a:solidFill>
              <a:srgbClr val="E3E8E4"/>
            </a:solidFill>
            <a:prstDash val="solid"/>
          </a:ln>
        </p:spPr>
      </p:sp>
      <p:sp>
        <p:nvSpPr>
          <p:cNvPr id="70" name="Shape 68"/>
          <p:cNvSpPr/>
          <p:nvPr/>
        </p:nvSpPr>
        <p:spPr>
          <a:xfrm>
            <a:off x="411480" y="2871216"/>
            <a:ext cx="320040" cy="370332"/>
          </a:xfrm>
          <a:prstGeom prst="rect">
            <a:avLst/>
          </a:prstGeom>
          <a:solidFill>
            <a:srgbClr val="F1F7F3"/>
          </a:solidFill>
          <a:ln/>
        </p:spPr>
      </p:sp>
      <p:sp>
        <p:nvSpPr>
          <p:cNvPr id="71" name="Text 69"/>
          <p:cNvSpPr txBox="1"/>
          <p:nvPr/>
        </p:nvSpPr>
        <p:spPr>
          <a:xfrm>
            <a:off x="457200" y="2871216"/>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5</a:t>
            </a:r>
            <a:endParaRPr lang="en-US" sz="950" dirty="0"/>
          </a:p>
        </p:txBody>
      </p:sp>
      <p:sp>
        <p:nvSpPr>
          <p:cNvPr id="72" name="Shape 70"/>
          <p:cNvSpPr/>
          <p:nvPr/>
        </p:nvSpPr>
        <p:spPr>
          <a:xfrm>
            <a:off x="731520" y="2871216"/>
            <a:ext cx="3291840" cy="370332"/>
          </a:xfrm>
          <a:prstGeom prst="rect">
            <a:avLst/>
          </a:prstGeom>
          <a:solidFill>
            <a:srgbClr val="F1F7F3"/>
          </a:solidFill>
          <a:ln/>
        </p:spPr>
      </p:sp>
      <p:sp>
        <p:nvSpPr>
          <p:cNvPr id="73" name="Text 71"/>
          <p:cNvSpPr txBox="1"/>
          <p:nvPr/>
        </p:nvSpPr>
        <p:spPr>
          <a:xfrm>
            <a:off x="777240" y="2871216"/>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Vendor listings: Classplus, Fedena, Graphy, Edmingle (financial/research R1)</a:t>
            </a:r>
            <a:endParaRPr lang="en-US" sz="950" dirty="0"/>
          </a:p>
        </p:txBody>
      </p:sp>
      <p:sp>
        <p:nvSpPr>
          <p:cNvPr id="74" name="Shape 72"/>
          <p:cNvSpPr/>
          <p:nvPr/>
        </p:nvSpPr>
        <p:spPr>
          <a:xfrm>
            <a:off x="4023360" y="2871216"/>
            <a:ext cx="4572000" cy="370332"/>
          </a:xfrm>
          <a:prstGeom prst="rect">
            <a:avLst/>
          </a:prstGeom>
          <a:solidFill>
            <a:srgbClr val="F1F7F3"/>
          </a:solidFill>
          <a:ln/>
        </p:spPr>
      </p:sp>
      <p:sp>
        <p:nvSpPr>
          <p:cNvPr id="75" name="Text 73"/>
          <p:cNvSpPr txBox="1"/>
          <p:nvPr/>
        </p:nvSpPr>
        <p:spPr>
          <a:xfrm>
            <a:off x="4069080" y="2871216"/>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₹4 to ₹21 per student per month anchors</a:t>
            </a:r>
            <a:endParaRPr lang="en-US" sz="950" dirty="0"/>
          </a:p>
        </p:txBody>
      </p:sp>
      <p:sp>
        <p:nvSpPr>
          <p:cNvPr id="76" name="Shape 74"/>
          <p:cNvSpPr/>
          <p:nvPr/>
        </p:nvSpPr>
        <p:spPr>
          <a:xfrm>
            <a:off x="8595360" y="2871216"/>
            <a:ext cx="2331720" cy="370332"/>
          </a:xfrm>
          <a:prstGeom prst="rect">
            <a:avLst/>
          </a:prstGeom>
          <a:solidFill>
            <a:srgbClr val="F1F7F3"/>
          </a:solidFill>
          <a:ln/>
        </p:spPr>
      </p:sp>
      <p:sp>
        <p:nvSpPr>
          <p:cNvPr id="77" name="Text 75"/>
          <p:cNvSpPr txBox="1"/>
          <p:nvPr/>
        </p:nvSpPr>
        <p:spPr>
          <a:xfrm>
            <a:off x="8641080" y="2871216"/>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78" name="Shape 76"/>
          <p:cNvSpPr/>
          <p:nvPr/>
        </p:nvSpPr>
        <p:spPr>
          <a:xfrm>
            <a:off x="10927080" y="2871216"/>
            <a:ext cx="853135" cy="370332"/>
          </a:xfrm>
          <a:prstGeom prst="rect">
            <a:avLst/>
          </a:prstGeom>
          <a:solidFill>
            <a:srgbClr val="F1F7F3"/>
          </a:solidFill>
          <a:ln/>
        </p:spPr>
      </p:sp>
      <p:sp>
        <p:nvSpPr>
          <p:cNvPr id="79" name="Text 77"/>
          <p:cNvSpPr txBox="1"/>
          <p:nvPr/>
        </p:nvSpPr>
        <p:spPr>
          <a:xfrm>
            <a:off x="10972800" y="2871216"/>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4, 12</a:t>
            </a:r>
            <a:endParaRPr lang="en-US" sz="950" dirty="0"/>
          </a:p>
        </p:txBody>
      </p:sp>
      <p:sp>
        <p:nvSpPr>
          <p:cNvPr id="80" name="Shape 78"/>
          <p:cNvSpPr/>
          <p:nvPr/>
        </p:nvSpPr>
        <p:spPr>
          <a:xfrm>
            <a:off x="411480" y="3241548"/>
            <a:ext cx="11368735" cy="0"/>
          </a:xfrm>
          <a:prstGeom prst="line">
            <a:avLst/>
          </a:prstGeom>
          <a:noFill/>
          <a:ln w="6350">
            <a:solidFill>
              <a:srgbClr val="E3E8E4"/>
            </a:solidFill>
            <a:prstDash val="solid"/>
          </a:ln>
        </p:spPr>
      </p:sp>
      <p:sp>
        <p:nvSpPr>
          <p:cNvPr id="81" name="Shape 79"/>
          <p:cNvSpPr/>
          <p:nvPr/>
        </p:nvSpPr>
        <p:spPr>
          <a:xfrm>
            <a:off x="411480" y="3241548"/>
            <a:ext cx="320040" cy="370332"/>
          </a:xfrm>
          <a:prstGeom prst="rect">
            <a:avLst/>
          </a:prstGeom>
          <a:solidFill>
            <a:srgbClr val="FFFFFF"/>
          </a:solidFill>
          <a:ln/>
        </p:spPr>
      </p:sp>
      <p:sp>
        <p:nvSpPr>
          <p:cNvPr id="82" name="Text 80"/>
          <p:cNvSpPr txBox="1"/>
          <p:nvPr/>
        </p:nvSpPr>
        <p:spPr>
          <a:xfrm>
            <a:off x="457200" y="3241548"/>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6</a:t>
            </a:r>
            <a:endParaRPr lang="en-US" sz="950" dirty="0"/>
          </a:p>
        </p:txBody>
      </p:sp>
      <p:sp>
        <p:nvSpPr>
          <p:cNvPr id="83" name="Shape 81"/>
          <p:cNvSpPr/>
          <p:nvPr/>
        </p:nvSpPr>
        <p:spPr>
          <a:xfrm>
            <a:off x="731520" y="3241548"/>
            <a:ext cx="3291840" cy="370332"/>
          </a:xfrm>
          <a:prstGeom prst="rect">
            <a:avLst/>
          </a:prstGeom>
          <a:solidFill>
            <a:srgbClr val="FFFFFF"/>
          </a:solidFill>
          <a:ln/>
        </p:spPr>
      </p:sp>
      <p:sp>
        <p:nvSpPr>
          <p:cNvPr id="84" name="Text 82"/>
          <p:cNvSpPr txBox="1"/>
          <p:nvPr/>
        </p:nvSpPr>
        <p:spPr>
          <a:xfrm>
            <a:off x="777240" y="3241548"/>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Outreach trials in comparable settings (financial/research R4)</a:t>
            </a:r>
            <a:endParaRPr lang="en-US" sz="950" dirty="0"/>
          </a:p>
        </p:txBody>
      </p:sp>
      <p:sp>
        <p:nvSpPr>
          <p:cNvPr id="85" name="Shape 83"/>
          <p:cNvSpPr/>
          <p:nvPr/>
        </p:nvSpPr>
        <p:spPr>
          <a:xfrm>
            <a:off x="4023360" y="3241548"/>
            <a:ext cx="4572000" cy="370332"/>
          </a:xfrm>
          <a:prstGeom prst="rect">
            <a:avLst/>
          </a:prstGeom>
          <a:solidFill>
            <a:srgbClr val="FFFFFF"/>
          </a:solidFill>
          <a:ln/>
        </p:spPr>
      </p:sp>
      <p:sp>
        <p:nvSpPr>
          <p:cNvPr id="86" name="Text 84"/>
          <p:cNvSpPr txBox="1"/>
          <p:nvPr/>
        </p:nvSpPr>
        <p:spPr>
          <a:xfrm>
            <a:off x="4069080" y="3241548"/>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8 trials, mean 15.8 % reduction</a:t>
            </a:r>
            <a:endParaRPr lang="en-US" sz="950" dirty="0"/>
          </a:p>
        </p:txBody>
      </p:sp>
      <p:sp>
        <p:nvSpPr>
          <p:cNvPr id="87" name="Shape 85"/>
          <p:cNvSpPr/>
          <p:nvPr/>
        </p:nvSpPr>
        <p:spPr>
          <a:xfrm>
            <a:off x="8595360" y="3241548"/>
            <a:ext cx="2331720" cy="370332"/>
          </a:xfrm>
          <a:prstGeom prst="rect">
            <a:avLst/>
          </a:prstGeom>
          <a:solidFill>
            <a:srgbClr val="FFFFFF"/>
          </a:solidFill>
          <a:ln/>
        </p:spPr>
      </p:sp>
      <p:sp>
        <p:nvSpPr>
          <p:cNvPr id="88" name="Text 86"/>
          <p:cNvSpPr txBox="1"/>
          <p:nvPr/>
        </p:nvSpPr>
        <p:spPr>
          <a:xfrm>
            <a:off x="8641080" y="3241548"/>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p>
        </p:txBody>
      </p:sp>
      <p:sp>
        <p:nvSpPr>
          <p:cNvPr id="89" name="Shape 87"/>
          <p:cNvSpPr/>
          <p:nvPr/>
        </p:nvSpPr>
        <p:spPr>
          <a:xfrm>
            <a:off x="10927080" y="3241548"/>
            <a:ext cx="853135" cy="370332"/>
          </a:xfrm>
          <a:prstGeom prst="rect">
            <a:avLst/>
          </a:prstGeom>
          <a:solidFill>
            <a:srgbClr val="FFFFFF"/>
          </a:solidFill>
          <a:ln/>
        </p:spPr>
      </p:sp>
      <p:sp>
        <p:nvSpPr>
          <p:cNvPr id="90" name="Text 88"/>
          <p:cNvSpPr txBox="1"/>
          <p:nvPr/>
        </p:nvSpPr>
        <p:spPr>
          <a:xfrm>
            <a:off x="10972800" y="3241548"/>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4, 11</a:t>
            </a:r>
            <a:endParaRPr lang="en-US" sz="950" dirty="0"/>
          </a:p>
        </p:txBody>
      </p:sp>
      <p:sp>
        <p:nvSpPr>
          <p:cNvPr id="91" name="Shape 89"/>
          <p:cNvSpPr/>
          <p:nvPr/>
        </p:nvSpPr>
        <p:spPr>
          <a:xfrm>
            <a:off x="411480" y="3611880"/>
            <a:ext cx="11368735" cy="0"/>
          </a:xfrm>
          <a:prstGeom prst="line">
            <a:avLst/>
          </a:prstGeom>
          <a:noFill/>
          <a:ln w="6350">
            <a:solidFill>
              <a:srgbClr val="E3E8E4"/>
            </a:solidFill>
            <a:prstDash val="solid"/>
          </a:ln>
        </p:spPr>
      </p:sp>
      <p:sp>
        <p:nvSpPr>
          <p:cNvPr id="92" name="Shape 90"/>
          <p:cNvSpPr/>
          <p:nvPr/>
        </p:nvSpPr>
        <p:spPr>
          <a:xfrm>
            <a:off x="411480" y="3611880"/>
            <a:ext cx="320040" cy="370332"/>
          </a:xfrm>
          <a:prstGeom prst="rect">
            <a:avLst/>
          </a:prstGeom>
          <a:solidFill>
            <a:srgbClr val="F1F7F3"/>
          </a:solidFill>
          <a:ln/>
        </p:spPr>
      </p:sp>
      <p:sp>
        <p:nvSpPr>
          <p:cNvPr id="93" name="Text 91"/>
          <p:cNvSpPr txBox="1"/>
          <p:nvPr/>
        </p:nvSpPr>
        <p:spPr>
          <a:xfrm>
            <a:off x="457200" y="3611880"/>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7</a:t>
            </a:r>
            <a:endParaRPr lang="en-US" sz="950" dirty="0"/>
          </a:p>
        </p:txBody>
      </p:sp>
      <p:sp>
        <p:nvSpPr>
          <p:cNvPr id="94" name="Shape 92"/>
          <p:cNvSpPr/>
          <p:nvPr/>
        </p:nvSpPr>
        <p:spPr>
          <a:xfrm>
            <a:off x="731520" y="3611880"/>
            <a:ext cx="3291840" cy="370332"/>
          </a:xfrm>
          <a:prstGeom prst="rect">
            <a:avLst/>
          </a:prstGeom>
          <a:solidFill>
            <a:srgbClr val="F1F7F3"/>
          </a:solidFill>
          <a:ln/>
        </p:spPr>
      </p:sp>
      <p:sp>
        <p:nvSpPr>
          <p:cNvPr id="95" name="Text 93"/>
          <p:cNvSpPr txBox="1"/>
          <p:nvPr/>
        </p:nvSpPr>
        <p:spPr>
          <a:xfrm>
            <a:off x="777240" y="3611880"/>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OULAD (Open University, CC BY 4.0), our runs</a:t>
            </a:r>
            <a:endParaRPr lang="en-US" sz="950" dirty="0"/>
          </a:p>
        </p:txBody>
      </p:sp>
      <p:sp>
        <p:nvSpPr>
          <p:cNvPr id="96" name="Shape 94"/>
          <p:cNvSpPr/>
          <p:nvPr/>
        </p:nvSpPr>
        <p:spPr>
          <a:xfrm>
            <a:off x="4023360" y="3611880"/>
            <a:ext cx="4572000" cy="370332"/>
          </a:xfrm>
          <a:prstGeom prst="rect">
            <a:avLst/>
          </a:prstGeom>
          <a:solidFill>
            <a:srgbClr val="F1F7F3"/>
          </a:solidFill>
          <a:ln/>
        </p:spPr>
      </p:sp>
      <p:sp>
        <p:nvSpPr>
          <p:cNvPr id="97" name="Text 95"/>
          <p:cNvSpPr txBox="1"/>
          <p:nvPr/>
        </p:nvSpPr>
        <p:spPr>
          <a:xfrm>
            <a:off x="4069080" y="3611880"/>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0.706 AUC, 0.009 calibration, 0.46 precision</a:t>
            </a:r>
            <a:endParaRPr lang="en-US" sz="950" dirty="0"/>
          </a:p>
        </p:txBody>
      </p:sp>
      <p:sp>
        <p:nvSpPr>
          <p:cNvPr id="98" name="Shape 96"/>
          <p:cNvSpPr/>
          <p:nvPr/>
        </p:nvSpPr>
        <p:spPr>
          <a:xfrm>
            <a:off x="8595360" y="3611880"/>
            <a:ext cx="2331720" cy="370332"/>
          </a:xfrm>
          <a:prstGeom prst="rect">
            <a:avLst/>
          </a:prstGeom>
          <a:solidFill>
            <a:srgbClr val="F1F7F3"/>
          </a:solidFill>
          <a:ln/>
        </p:spPr>
      </p:sp>
      <p:sp>
        <p:nvSpPr>
          <p:cNvPr id="99" name="Text 97"/>
          <p:cNvSpPr txBox="1"/>
          <p:nvPr/>
        </p:nvSpPr>
        <p:spPr>
          <a:xfrm>
            <a:off x="8641080" y="3611880"/>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00" name="Shape 98"/>
          <p:cNvSpPr/>
          <p:nvPr/>
        </p:nvSpPr>
        <p:spPr>
          <a:xfrm>
            <a:off x="10927080" y="3611880"/>
            <a:ext cx="853135" cy="370332"/>
          </a:xfrm>
          <a:prstGeom prst="rect">
            <a:avLst/>
          </a:prstGeom>
          <a:solidFill>
            <a:srgbClr val="F1F7F3"/>
          </a:solidFill>
          <a:ln/>
        </p:spPr>
      </p:sp>
      <p:sp>
        <p:nvSpPr>
          <p:cNvPr id="101" name="Text 99"/>
          <p:cNvSpPr txBox="1"/>
          <p:nvPr/>
        </p:nvSpPr>
        <p:spPr>
          <a:xfrm>
            <a:off x="10972800" y="3611880"/>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2, 4, 8, 13</a:t>
            </a:r>
            <a:endParaRPr lang="en-US" sz="950" dirty="0"/>
          </a:p>
        </p:txBody>
      </p:sp>
      <p:sp>
        <p:nvSpPr>
          <p:cNvPr id="102" name="Shape 100"/>
          <p:cNvSpPr/>
          <p:nvPr/>
        </p:nvSpPr>
        <p:spPr>
          <a:xfrm>
            <a:off x="411480" y="3982212"/>
            <a:ext cx="11368735" cy="0"/>
          </a:xfrm>
          <a:prstGeom prst="line">
            <a:avLst/>
          </a:prstGeom>
          <a:noFill/>
          <a:ln w="6350">
            <a:solidFill>
              <a:srgbClr val="E3E8E4"/>
            </a:solidFill>
            <a:prstDash val="solid"/>
          </a:ln>
        </p:spPr>
      </p:sp>
      <p:sp>
        <p:nvSpPr>
          <p:cNvPr id="103" name="Shape 101"/>
          <p:cNvSpPr/>
          <p:nvPr/>
        </p:nvSpPr>
        <p:spPr>
          <a:xfrm>
            <a:off x="411480" y="3982212"/>
            <a:ext cx="320040" cy="370332"/>
          </a:xfrm>
          <a:prstGeom prst="rect">
            <a:avLst/>
          </a:prstGeom>
          <a:solidFill>
            <a:srgbClr val="FFFFFF"/>
          </a:solidFill>
          <a:ln/>
        </p:spPr>
      </p:sp>
      <p:sp>
        <p:nvSpPr>
          <p:cNvPr id="104" name="Text 102"/>
          <p:cNvSpPr txBox="1"/>
          <p:nvPr/>
        </p:nvSpPr>
        <p:spPr>
          <a:xfrm>
            <a:off x="457200" y="3982212"/>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8</a:t>
            </a:r>
            <a:endParaRPr lang="en-US" sz="950" dirty="0"/>
          </a:p>
        </p:txBody>
      </p:sp>
      <p:sp>
        <p:nvSpPr>
          <p:cNvPr id="105" name="Shape 103"/>
          <p:cNvSpPr/>
          <p:nvPr/>
        </p:nvSpPr>
        <p:spPr>
          <a:xfrm>
            <a:off x="731520" y="3982212"/>
            <a:ext cx="3291840" cy="370332"/>
          </a:xfrm>
          <a:prstGeom prst="rect">
            <a:avLst/>
          </a:prstGeom>
          <a:solidFill>
            <a:srgbClr val="FFFFFF"/>
          </a:solidFill>
          <a:ln/>
        </p:spPr>
      </p:sp>
      <p:sp>
        <p:nvSpPr>
          <p:cNvPr id="106" name="Text 104"/>
          <p:cNvSpPr txBox="1"/>
          <p:nvPr/>
        </p:nvSpPr>
        <p:spPr>
          <a:xfrm>
            <a:off x="777240" y="3982212"/>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PLOS ONE 2026, OULAD withdrawal study</a:t>
            </a:r>
            <a:endParaRPr lang="en-US" sz="950" dirty="0"/>
          </a:p>
        </p:txBody>
      </p:sp>
      <p:sp>
        <p:nvSpPr>
          <p:cNvPr id="107" name="Shape 105"/>
          <p:cNvSpPr/>
          <p:nvPr/>
        </p:nvSpPr>
        <p:spPr>
          <a:xfrm>
            <a:off x="4023360" y="3982212"/>
            <a:ext cx="4572000" cy="370332"/>
          </a:xfrm>
          <a:prstGeom prst="rect">
            <a:avLst/>
          </a:prstGeom>
          <a:solidFill>
            <a:srgbClr val="FFFFFF"/>
          </a:solidFill>
          <a:ln/>
        </p:spPr>
      </p:sp>
      <p:sp>
        <p:nvSpPr>
          <p:cNvPr id="108" name="Text 106"/>
          <p:cNvSpPr txBox="1"/>
          <p:nvPr/>
        </p:nvSpPr>
        <p:spPr>
          <a:xfrm>
            <a:off x="4069080" y="3982212"/>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Published 0.727 / 0.794 / 0.804 anchors</a:t>
            </a:r>
            <a:endParaRPr lang="en-US" sz="950" dirty="0"/>
          </a:p>
        </p:txBody>
      </p:sp>
      <p:sp>
        <p:nvSpPr>
          <p:cNvPr id="109" name="Shape 107"/>
          <p:cNvSpPr/>
          <p:nvPr/>
        </p:nvSpPr>
        <p:spPr>
          <a:xfrm>
            <a:off x="8595360" y="3982212"/>
            <a:ext cx="2331720" cy="370332"/>
          </a:xfrm>
          <a:prstGeom prst="rect">
            <a:avLst/>
          </a:prstGeom>
          <a:solidFill>
            <a:srgbClr val="FFFFFF"/>
          </a:solidFill>
          <a:ln/>
        </p:spPr>
      </p:sp>
      <p:sp>
        <p:nvSpPr>
          <p:cNvPr id="110" name="Text 108"/>
          <p:cNvSpPr txBox="1"/>
          <p:nvPr/>
        </p:nvSpPr>
        <p:spPr>
          <a:xfrm>
            <a:off x="8641080" y="3982212"/>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a:t>
            </a:r>
            <a:endParaRPr lang="en-US" sz="950" dirty="0"/>
          </a:p>
        </p:txBody>
      </p:sp>
      <p:sp>
        <p:nvSpPr>
          <p:cNvPr id="111" name="Shape 109"/>
          <p:cNvSpPr/>
          <p:nvPr/>
        </p:nvSpPr>
        <p:spPr>
          <a:xfrm>
            <a:off x="10927080" y="3982212"/>
            <a:ext cx="853135" cy="370332"/>
          </a:xfrm>
          <a:prstGeom prst="rect">
            <a:avLst/>
          </a:prstGeom>
          <a:solidFill>
            <a:srgbClr val="FFFFFF"/>
          </a:solidFill>
          <a:ln/>
        </p:spPr>
      </p:sp>
      <p:sp>
        <p:nvSpPr>
          <p:cNvPr id="112" name="Text 110"/>
          <p:cNvSpPr txBox="1"/>
          <p:nvPr/>
        </p:nvSpPr>
        <p:spPr>
          <a:xfrm>
            <a:off x="10972800" y="3982212"/>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4, 8</a:t>
            </a:r>
            <a:endParaRPr lang="en-US" sz="950" dirty="0"/>
          </a:p>
        </p:txBody>
      </p:sp>
      <p:sp>
        <p:nvSpPr>
          <p:cNvPr id="113" name="Shape 111"/>
          <p:cNvSpPr/>
          <p:nvPr/>
        </p:nvSpPr>
        <p:spPr>
          <a:xfrm>
            <a:off x="411480" y="4352544"/>
            <a:ext cx="11368735" cy="0"/>
          </a:xfrm>
          <a:prstGeom prst="line">
            <a:avLst/>
          </a:prstGeom>
          <a:noFill/>
          <a:ln w="6350">
            <a:solidFill>
              <a:srgbClr val="E3E8E4"/>
            </a:solidFill>
            <a:prstDash val="solid"/>
          </a:ln>
        </p:spPr>
      </p:sp>
      <p:sp>
        <p:nvSpPr>
          <p:cNvPr id="114" name="Shape 112"/>
          <p:cNvSpPr/>
          <p:nvPr/>
        </p:nvSpPr>
        <p:spPr>
          <a:xfrm>
            <a:off x="411480" y="4352544"/>
            <a:ext cx="320040" cy="370332"/>
          </a:xfrm>
          <a:prstGeom prst="rect">
            <a:avLst/>
          </a:prstGeom>
          <a:solidFill>
            <a:srgbClr val="F1F7F3"/>
          </a:solidFill>
          <a:ln/>
        </p:spPr>
      </p:sp>
      <p:sp>
        <p:nvSpPr>
          <p:cNvPr id="115" name="Text 113"/>
          <p:cNvSpPr txBox="1"/>
          <p:nvPr/>
        </p:nvSpPr>
        <p:spPr>
          <a:xfrm>
            <a:off x="457200" y="4352544"/>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9</a:t>
            </a:r>
            <a:endParaRPr lang="en-US" sz="950" dirty="0"/>
          </a:p>
        </p:txBody>
      </p:sp>
      <p:sp>
        <p:nvSpPr>
          <p:cNvPr id="116" name="Shape 114"/>
          <p:cNvSpPr/>
          <p:nvPr/>
        </p:nvSpPr>
        <p:spPr>
          <a:xfrm>
            <a:off x="731520" y="4352544"/>
            <a:ext cx="3291840" cy="370332"/>
          </a:xfrm>
          <a:prstGeom prst="rect">
            <a:avLst/>
          </a:prstGeom>
          <a:solidFill>
            <a:srgbClr val="F1F7F3"/>
          </a:solidFill>
          <a:ln/>
        </p:spPr>
      </p:sp>
      <p:sp>
        <p:nvSpPr>
          <p:cNvPr id="117" name="Text 115"/>
          <p:cNvSpPr txBox="1"/>
          <p:nvPr/>
        </p:nvSpPr>
        <p:spPr>
          <a:xfrm>
            <a:off x="777240" y="4352544"/>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Liu et al., pyKT, NeurIPS 2022; ASSISTments 2009, our runs</a:t>
            </a:r>
            <a:endParaRPr lang="en-US" sz="950" dirty="0"/>
          </a:p>
        </p:txBody>
      </p:sp>
      <p:sp>
        <p:nvSpPr>
          <p:cNvPr id="118" name="Shape 116"/>
          <p:cNvSpPr/>
          <p:nvPr/>
        </p:nvSpPr>
        <p:spPr>
          <a:xfrm>
            <a:off x="4023360" y="4352544"/>
            <a:ext cx="4572000" cy="370332"/>
          </a:xfrm>
          <a:prstGeom prst="rect">
            <a:avLst/>
          </a:prstGeom>
          <a:solidFill>
            <a:srgbClr val="F1F7F3"/>
          </a:solidFill>
          <a:ln/>
        </p:spPr>
      </p:sp>
      <p:sp>
        <p:nvSpPr>
          <p:cNvPr id="119" name="Text 117"/>
          <p:cNvSpPr txBox="1"/>
          <p:nvPr/>
        </p:nvSpPr>
        <p:spPr>
          <a:xfrm>
            <a:off x="4069080" y="4352544"/>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DKT 0.754, SAKT 0.725, AKT 0.785; ours 0.763</a:t>
            </a:r>
            <a:endParaRPr lang="en-US" sz="950" dirty="0"/>
          </a:p>
        </p:txBody>
      </p:sp>
      <p:sp>
        <p:nvSpPr>
          <p:cNvPr id="120" name="Shape 118"/>
          <p:cNvSpPr/>
          <p:nvPr/>
        </p:nvSpPr>
        <p:spPr>
          <a:xfrm>
            <a:off x="8595360" y="4352544"/>
            <a:ext cx="2331720" cy="370332"/>
          </a:xfrm>
          <a:prstGeom prst="rect">
            <a:avLst/>
          </a:prstGeom>
          <a:solidFill>
            <a:srgbClr val="F1F7F3"/>
          </a:solidFill>
          <a:ln/>
        </p:spPr>
      </p:sp>
      <p:sp>
        <p:nvSpPr>
          <p:cNvPr id="121" name="Text 119"/>
          <p:cNvSpPr txBox="1"/>
          <p:nvPr/>
        </p:nvSpPr>
        <p:spPr>
          <a:xfrm>
            <a:off x="8641080" y="4352544"/>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Measured</a:t>
            </a:r>
            <a:endParaRPr lang="en-US" sz="950" dirty="0"/>
          </a:p>
        </p:txBody>
      </p:sp>
      <p:sp>
        <p:nvSpPr>
          <p:cNvPr id="122" name="Shape 120"/>
          <p:cNvSpPr/>
          <p:nvPr/>
        </p:nvSpPr>
        <p:spPr>
          <a:xfrm>
            <a:off x="10927080" y="4352544"/>
            <a:ext cx="853135" cy="370332"/>
          </a:xfrm>
          <a:prstGeom prst="rect">
            <a:avLst/>
          </a:prstGeom>
          <a:solidFill>
            <a:srgbClr val="F1F7F3"/>
          </a:solidFill>
          <a:ln/>
        </p:spPr>
      </p:sp>
      <p:sp>
        <p:nvSpPr>
          <p:cNvPr id="123" name="Text 121"/>
          <p:cNvSpPr txBox="1"/>
          <p:nvPr/>
        </p:nvSpPr>
        <p:spPr>
          <a:xfrm>
            <a:off x="10972800" y="4352544"/>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2, 7</a:t>
            </a:r>
            <a:endParaRPr lang="en-US" sz="950" dirty="0"/>
          </a:p>
        </p:txBody>
      </p:sp>
      <p:sp>
        <p:nvSpPr>
          <p:cNvPr id="124" name="Shape 122"/>
          <p:cNvSpPr/>
          <p:nvPr/>
        </p:nvSpPr>
        <p:spPr>
          <a:xfrm>
            <a:off x="411480" y="4722876"/>
            <a:ext cx="11368735" cy="0"/>
          </a:xfrm>
          <a:prstGeom prst="line">
            <a:avLst/>
          </a:prstGeom>
          <a:noFill/>
          <a:ln w="6350">
            <a:solidFill>
              <a:srgbClr val="E3E8E4"/>
            </a:solidFill>
            <a:prstDash val="solid"/>
          </a:ln>
        </p:spPr>
      </p:sp>
      <p:sp>
        <p:nvSpPr>
          <p:cNvPr id="125" name="Shape 123"/>
          <p:cNvSpPr/>
          <p:nvPr/>
        </p:nvSpPr>
        <p:spPr>
          <a:xfrm>
            <a:off x="411480" y="4722876"/>
            <a:ext cx="320040" cy="370332"/>
          </a:xfrm>
          <a:prstGeom prst="rect">
            <a:avLst/>
          </a:prstGeom>
          <a:solidFill>
            <a:srgbClr val="FFFFFF"/>
          </a:solidFill>
          <a:ln/>
        </p:spPr>
      </p:sp>
      <p:sp>
        <p:nvSpPr>
          <p:cNvPr id="126" name="Text 124"/>
          <p:cNvSpPr txBox="1"/>
          <p:nvPr/>
        </p:nvSpPr>
        <p:spPr>
          <a:xfrm>
            <a:off x="457200" y="4722876"/>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10</a:t>
            </a:r>
            <a:endParaRPr lang="en-US" sz="950" dirty="0"/>
          </a:p>
        </p:txBody>
      </p:sp>
      <p:sp>
        <p:nvSpPr>
          <p:cNvPr id="127" name="Shape 125"/>
          <p:cNvSpPr/>
          <p:nvPr/>
        </p:nvSpPr>
        <p:spPr>
          <a:xfrm>
            <a:off x="731520" y="4722876"/>
            <a:ext cx="3291840" cy="370332"/>
          </a:xfrm>
          <a:prstGeom prst="rect">
            <a:avLst/>
          </a:prstGeom>
          <a:solidFill>
            <a:srgbClr val="FFFFFF"/>
          </a:solidFill>
          <a:ln/>
        </p:spPr>
      </p:sp>
      <p:sp>
        <p:nvSpPr>
          <p:cNvPr id="128" name="Text 126"/>
          <p:cNvSpPr txBox="1"/>
          <p:nvPr/>
        </p:nvSpPr>
        <p:spPr>
          <a:xfrm>
            <a:off x="777240" y="4722876"/>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DPDP Act 2023 s.9; DPDP Rules 2025</a:t>
            </a:r>
            <a:endParaRPr lang="en-US" sz="950" dirty="0"/>
          </a:p>
        </p:txBody>
      </p:sp>
      <p:sp>
        <p:nvSpPr>
          <p:cNvPr id="129" name="Shape 127"/>
          <p:cNvSpPr/>
          <p:nvPr/>
        </p:nvSpPr>
        <p:spPr>
          <a:xfrm>
            <a:off x="4023360" y="4722876"/>
            <a:ext cx="4572000" cy="370332"/>
          </a:xfrm>
          <a:prstGeom prst="rect">
            <a:avLst/>
          </a:prstGeom>
          <a:solidFill>
            <a:srgbClr val="FFFFFF"/>
          </a:solidFill>
          <a:ln/>
        </p:spPr>
      </p:sp>
      <p:sp>
        <p:nvSpPr>
          <p:cNvPr id="130" name="Text 128"/>
          <p:cNvSpPr txBox="1"/>
          <p:nvPr/>
        </p:nvSpPr>
        <p:spPr>
          <a:xfrm>
            <a:off x="4069080" y="4722876"/>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Parental consent, no tracking of children</a:t>
            </a:r>
            <a:endParaRPr lang="en-US" sz="950" dirty="0"/>
          </a:p>
        </p:txBody>
      </p:sp>
      <p:sp>
        <p:nvSpPr>
          <p:cNvPr id="131" name="Shape 129"/>
          <p:cNvSpPr/>
          <p:nvPr/>
        </p:nvSpPr>
        <p:spPr>
          <a:xfrm>
            <a:off x="8595360" y="4722876"/>
            <a:ext cx="2331720" cy="370332"/>
          </a:xfrm>
          <a:prstGeom prst="rect">
            <a:avLst/>
          </a:prstGeom>
          <a:solidFill>
            <a:srgbClr val="FFFFFF"/>
          </a:solidFill>
          <a:ln/>
        </p:spPr>
      </p:sp>
      <p:sp>
        <p:nvSpPr>
          <p:cNvPr id="132" name="Text 130"/>
          <p:cNvSpPr txBox="1"/>
          <p:nvPr/>
        </p:nvSpPr>
        <p:spPr>
          <a:xfrm>
            <a:off x="8641080" y="4722876"/>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33" name="Shape 131"/>
          <p:cNvSpPr/>
          <p:nvPr/>
        </p:nvSpPr>
        <p:spPr>
          <a:xfrm>
            <a:off x="10927080" y="4722876"/>
            <a:ext cx="853135" cy="370332"/>
          </a:xfrm>
          <a:prstGeom prst="rect">
            <a:avLst/>
          </a:prstGeom>
          <a:solidFill>
            <a:srgbClr val="FFFFFF"/>
          </a:solidFill>
          <a:ln/>
        </p:spPr>
      </p:sp>
      <p:sp>
        <p:nvSpPr>
          <p:cNvPr id="134" name="Text 132"/>
          <p:cNvSpPr txBox="1"/>
          <p:nvPr/>
        </p:nvSpPr>
        <p:spPr>
          <a:xfrm>
            <a:off x="10972800" y="4722876"/>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4, 10</a:t>
            </a:r>
            <a:endParaRPr lang="en-US" sz="950" dirty="0"/>
          </a:p>
        </p:txBody>
      </p:sp>
      <p:sp>
        <p:nvSpPr>
          <p:cNvPr id="135" name="Shape 133"/>
          <p:cNvSpPr/>
          <p:nvPr/>
        </p:nvSpPr>
        <p:spPr>
          <a:xfrm>
            <a:off x="411480" y="5093208"/>
            <a:ext cx="11368735" cy="0"/>
          </a:xfrm>
          <a:prstGeom prst="line">
            <a:avLst/>
          </a:prstGeom>
          <a:noFill/>
          <a:ln w="6350">
            <a:solidFill>
              <a:srgbClr val="E3E8E4"/>
            </a:solidFill>
            <a:prstDash val="solid"/>
          </a:ln>
        </p:spPr>
      </p:sp>
      <p:sp>
        <p:nvSpPr>
          <p:cNvPr id="136" name="Shape 134"/>
          <p:cNvSpPr/>
          <p:nvPr/>
        </p:nvSpPr>
        <p:spPr>
          <a:xfrm>
            <a:off x="411480" y="5093208"/>
            <a:ext cx="320040" cy="370332"/>
          </a:xfrm>
          <a:prstGeom prst="rect">
            <a:avLst/>
          </a:prstGeom>
          <a:solidFill>
            <a:srgbClr val="F1F7F3"/>
          </a:solidFill>
          <a:ln/>
        </p:spPr>
      </p:sp>
      <p:sp>
        <p:nvSpPr>
          <p:cNvPr id="137" name="Text 135"/>
          <p:cNvSpPr txBox="1"/>
          <p:nvPr/>
        </p:nvSpPr>
        <p:spPr>
          <a:xfrm>
            <a:off x="457200" y="5093208"/>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11</a:t>
            </a:r>
            <a:endParaRPr lang="en-US" sz="950" dirty="0"/>
          </a:p>
        </p:txBody>
      </p:sp>
      <p:sp>
        <p:nvSpPr>
          <p:cNvPr id="138" name="Shape 136"/>
          <p:cNvSpPr/>
          <p:nvPr/>
        </p:nvSpPr>
        <p:spPr>
          <a:xfrm>
            <a:off x="731520" y="5093208"/>
            <a:ext cx="3291840" cy="370332"/>
          </a:xfrm>
          <a:prstGeom prst="rect">
            <a:avLst/>
          </a:prstGeom>
          <a:solidFill>
            <a:srgbClr val="F1F7F3"/>
          </a:solidFill>
          <a:ln/>
        </p:spPr>
      </p:sp>
      <p:sp>
        <p:nvSpPr>
          <p:cNvPr id="139" name="Text 137"/>
          <p:cNvSpPr txBox="1"/>
          <p:nvPr/>
        </p:nvSpPr>
        <p:spPr>
          <a:xfrm>
            <a:off x="777240" y="5093208"/>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MoE Guidelines for Coaching Centres 2024</a:t>
            </a:r>
            <a:endParaRPr lang="en-US" sz="950" dirty="0"/>
          </a:p>
        </p:txBody>
      </p:sp>
      <p:sp>
        <p:nvSpPr>
          <p:cNvPr id="140" name="Shape 138"/>
          <p:cNvSpPr/>
          <p:nvPr/>
        </p:nvSpPr>
        <p:spPr>
          <a:xfrm>
            <a:off x="4023360" y="5093208"/>
            <a:ext cx="4572000" cy="370332"/>
          </a:xfrm>
          <a:prstGeom prst="rect">
            <a:avLst/>
          </a:prstGeom>
          <a:solidFill>
            <a:srgbClr val="F1F7F3"/>
          </a:solidFill>
          <a:ln/>
        </p:spPr>
      </p:sp>
      <p:sp>
        <p:nvSpPr>
          <p:cNvPr id="141" name="Text 139"/>
          <p:cNvSpPr txBox="1"/>
          <p:nvPr/>
        </p:nvSpPr>
        <p:spPr>
          <a:xfrm>
            <a:off x="4069080" y="5093208"/>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cl. 10.2(xi), 12(vii), 10.1, 8(iv)</a:t>
            </a:r>
            <a:endParaRPr lang="en-US" sz="950" dirty="0"/>
          </a:p>
        </p:txBody>
      </p:sp>
      <p:sp>
        <p:nvSpPr>
          <p:cNvPr id="142" name="Shape 140"/>
          <p:cNvSpPr/>
          <p:nvPr/>
        </p:nvSpPr>
        <p:spPr>
          <a:xfrm>
            <a:off x="8595360" y="5093208"/>
            <a:ext cx="2331720" cy="370332"/>
          </a:xfrm>
          <a:prstGeom prst="rect">
            <a:avLst/>
          </a:prstGeom>
          <a:solidFill>
            <a:srgbClr val="F1F7F3"/>
          </a:solidFill>
          <a:ln/>
        </p:spPr>
      </p:sp>
      <p:sp>
        <p:nvSpPr>
          <p:cNvPr id="143" name="Text 141"/>
          <p:cNvSpPr txBox="1"/>
          <p:nvPr/>
        </p:nvSpPr>
        <p:spPr>
          <a:xfrm>
            <a:off x="8641080" y="5093208"/>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44" name="Shape 142"/>
          <p:cNvSpPr/>
          <p:nvPr/>
        </p:nvSpPr>
        <p:spPr>
          <a:xfrm>
            <a:off x="10927080" y="5093208"/>
            <a:ext cx="853135" cy="370332"/>
          </a:xfrm>
          <a:prstGeom prst="rect">
            <a:avLst/>
          </a:prstGeom>
          <a:solidFill>
            <a:srgbClr val="F1F7F3"/>
          </a:solidFill>
          <a:ln/>
        </p:spPr>
      </p:sp>
      <p:sp>
        <p:nvSpPr>
          <p:cNvPr id="145" name="Text 143"/>
          <p:cNvSpPr txBox="1"/>
          <p:nvPr/>
        </p:nvSpPr>
        <p:spPr>
          <a:xfrm>
            <a:off x="10972800" y="5093208"/>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10, A6</a:t>
            </a:r>
            <a:endParaRPr lang="en-US" sz="950" dirty="0"/>
          </a:p>
        </p:txBody>
      </p:sp>
      <p:sp>
        <p:nvSpPr>
          <p:cNvPr id="146" name="Shape 144"/>
          <p:cNvSpPr/>
          <p:nvPr/>
        </p:nvSpPr>
        <p:spPr>
          <a:xfrm>
            <a:off x="411480" y="5463540"/>
            <a:ext cx="11368735" cy="0"/>
          </a:xfrm>
          <a:prstGeom prst="line">
            <a:avLst/>
          </a:prstGeom>
          <a:noFill/>
          <a:ln w="6350">
            <a:solidFill>
              <a:srgbClr val="E3E8E4"/>
            </a:solidFill>
            <a:prstDash val="solid"/>
          </a:ln>
        </p:spPr>
      </p:sp>
      <p:sp>
        <p:nvSpPr>
          <p:cNvPr id="147" name="Shape 145"/>
          <p:cNvSpPr/>
          <p:nvPr/>
        </p:nvSpPr>
        <p:spPr>
          <a:xfrm>
            <a:off x="411480" y="5463540"/>
            <a:ext cx="320040" cy="370332"/>
          </a:xfrm>
          <a:prstGeom prst="rect">
            <a:avLst/>
          </a:prstGeom>
          <a:solidFill>
            <a:srgbClr val="FFFFFF"/>
          </a:solidFill>
          <a:ln/>
        </p:spPr>
      </p:sp>
      <p:sp>
        <p:nvSpPr>
          <p:cNvPr id="148" name="Text 146"/>
          <p:cNvSpPr txBox="1"/>
          <p:nvPr/>
        </p:nvSpPr>
        <p:spPr>
          <a:xfrm>
            <a:off x="457200" y="5463540"/>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12</a:t>
            </a:r>
            <a:endParaRPr lang="en-US" sz="950" dirty="0"/>
          </a:p>
        </p:txBody>
      </p:sp>
      <p:sp>
        <p:nvSpPr>
          <p:cNvPr id="149" name="Shape 147"/>
          <p:cNvSpPr/>
          <p:nvPr/>
        </p:nvSpPr>
        <p:spPr>
          <a:xfrm>
            <a:off x="731520" y="5463540"/>
            <a:ext cx="3291840" cy="370332"/>
          </a:xfrm>
          <a:prstGeom prst="rect">
            <a:avLst/>
          </a:prstGeom>
          <a:solidFill>
            <a:srgbClr val="FFFFFF"/>
          </a:solidFill>
          <a:ln/>
        </p:spPr>
      </p:sp>
      <p:sp>
        <p:nvSpPr>
          <p:cNvPr id="150" name="Text 148"/>
          <p:cNvSpPr txBox="1"/>
          <p:nvPr/>
        </p:nvSpPr>
        <p:spPr>
          <a:xfrm>
            <a:off x="777240" y="5463540"/>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Rajasthan Coaching Centres Act 2025</a:t>
            </a:r>
            <a:endParaRPr lang="en-US" sz="950" dirty="0"/>
          </a:p>
        </p:txBody>
      </p:sp>
      <p:sp>
        <p:nvSpPr>
          <p:cNvPr id="151" name="Shape 149"/>
          <p:cNvSpPr/>
          <p:nvPr/>
        </p:nvSpPr>
        <p:spPr>
          <a:xfrm>
            <a:off x="4023360" y="5463540"/>
            <a:ext cx="4572000" cy="370332"/>
          </a:xfrm>
          <a:prstGeom prst="rect">
            <a:avLst/>
          </a:prstGeom>
          <a:solidFill>
            <a:srgbClr val="FFFFFF"/>
          </a:solidFill>
          <a:ln/>
        </p:spPr>
      </p:sp>
      <p:sp>
        <p:nvSpPr>
          <p:cNvPr id="152" name="Text 150"/>
          <p:cNvSpPr txBox="1"/>
          <p:nvPr/>
        </p:nvSpPr>
        <p:spPr>
          <a:xfrm>
            <a:off x="4069080" y="5463540"/>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s.6(2)(d) instalments</a:t>
            </a:r>
            <a:endParaRPr lang="en-US" sz="950" dirty="0"/>
          </a:p>
        </p:txBody>
      </p:sp>
      <p:sp>
        <p:nvSpPr>
          <p:cNvPr id="153" name="Shape 151"/>
          <p:cNvSpPr/>
          <p:nvPr/>
        </p:nvSpPr>
        <p:spPr>
          <a:xfrm>
            <a:off x="8595360" y="5463540"/>
            <a:ext cx="2331720" cy="370332"/>
          </a:xfrm>
          <a:prstGeom prst="rect">
            <a:avLst/>
          </a:prstGeom>
          <a:solidFill>
            <a:srgbClr val="FFFFFF"/>
          </a:solidFill>
          <a:ln/>
        </p:spPr>
      </p:sp>
      <p:sp>
        <p:nvSpPr>
          <p:cNvPr id="154" name="Text 152"/>
          <p:cNvSpPr txBox="1"/>
          <p:nvPr/>
        </p:nvSpPr>
        <p:spPr>
          <a:xfrm>
            <a:off x="8641080" y="5463540"/>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High (primary)</a:t>
            </a:r>
            <a:endParaRPr lang="en-US" sz="950" dirty="0"/>
          </a:p>
        </p:txBody>
      </p:sp>
      <p:sp>
        <p:nvSpPr>
          <p:cNvPr id="155" name="Shape 153"/>
          <p:cNvSpPr/>
          <p:nvPr/>
        </p:nvSpPr>
        <p:spPr>
          <a:xfrm>
            <a:off x="10927080" y="5463540"/>
            <a:ext cx="853135" cy="370332"/>
          </a:xfrm>
          <a:prstGeom prst="rect">
            <a:avLst/>
          </a:prstGeom>
          <a:solidFill>
            <a:srgbClr val="FFFFFF"/>
          </a:solidFill>
          <a:ln/>
        </p:spPr>
      </p:sp>
      <p:sp>
        <p:nvSpPr>
          <p:cNvPr id="156" name="Text 154"/>
          <p:cNvSpPr txBox="1"/>
          <p:nvPr/>
        </p:nvSpPr>
        <p:spPr>
          <a:xfrm>
            <a:off x="10972800" y="5463540"/>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A6</a:t>
            </a:r>
            <a:endParaRPr lang="en-US" sz="950" dirty="0"/>
          </a:p>
        </p:txBody>
      </p:sp>
      <p:sp>
        <p:nvSpPr>
          <p:cNvPr id="157" name="Shape 155"/>
          <p:cNvSpPr/>
          <p:nvPr/>
        </p:nvSpPr>
        <p:spPr>
          <a:xfrm>
            <a:off x="411480" y="5833872"/>
            <a:ext cx="11368735" cy="0"/>
          </a:xfrm>
          <a:prstGeom prst="line">
            <a:avLst/>
          </a:prstGeom>
          <a:noFill/>
          <a:ln w="6350">
            <a:solidFill>
              <a:srgbClr val="E3E8E4"/>
            </a:solidFill>
            <a:prstDash val="solid"/>
          </a:ln>
        </p:spPr>
      </p:sp>
      <p:sp>
        <p:nvSpPr>
          <p:cNvPr id="158" name="Shape 156"/>
          <p:cNvSpPr/>
          <p:nvPr/>
        </p:nvSpPr>
        <p:spPr>
          <a:xfrm>
            <a:off x="411480" y="5833872"/>
            <a:ext cx="320040" cy="370332"/>
          </a:xfrm>
          <a:prstGeom prst="rect">
            <a:avLst/>
          </a:prstGeom>
          <a:solidFill>
            <a:srgbClr val="F1F7F3"/>
          </a:solidFill>
          <a:ln/>
        </p:spPr>
      </p:sp>
      <p:sp>
        <p:nvSpPr>
          <p:cNvPr id="159" name="Text 157"/>
          <p:cNvSpPr txBox="1"/>
          <p:nvPr/>
        </p:nvSpPr>
        <p:spPr>
          <a:xfrm>
            <a:off x="457200" y="5833872"/>
            <a:ext cx="228600" cy="370332"/>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13</a:t>
            </a:r>
            <a:endParaRPr lang="en-US" sz="950" dirty="0"/>
          </a:p>
        </p:txBody>
      </p:sp>
      <p:sp>
        <p:nvSpPr>
          <p:cNvPr id="160" name="Shape 158"/>
          <p:cNvSpPr/>
          <p:nvPr/>
        </p:nvSpPr>
        <p:spPr>
          <a:xfrm>
            <a:off x="731520" y="5833872"/>
            <a:ext cx="3291840" cy="370332"/>
          </a:xfrm>
          <a:prstGeom prst="rect">
            <a:avLst/>
          </a:prstGeom>
          <a:solidFill>
            <a:srgbClr val="F1F7F3"/>
          </a:solidFill>
          <a:ln/>
        </p:spPr>
      </p:sp>
      <p:sp>
        <p:nvSpPr>
          <p:cNvPr id="161" name="Text 159"/>
          <p:cNvSpPr txBox="1"/>
          <p:nvPr/>
        </p:nvSpPr>
        <p:spPr>
          <a:xfrm>
            <a:off x="777240" y="5833872"/>
            <a:ext cx="320040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WhatsApp and LLM price pages, Patna pay data (financial/research R5, R6)</a:t>
            </a:r>
            <a:endParaRPr lang="en-US" sz="950" dirty="0"/>
          </a:p>
        </p:txBody>
      </p:sp>
      <p:sp>
        <p:nvSpPr>
          <p:cNvPr id="162" name="Shape 160"/>
          <p:cNvSpPr/>
          <p:nvPr/>
        </p:nvSpPr>
        <p:spPr>
          <a:xfrm>
            <a:off x="4023360" y="5833872"/>
            <a:ext cx="4572000" cy="370332"/>
          </a:xfrm>
          <a:prstGeom prst="rect">
            <a:avLst/>
          </a:prstGeom>
          <a:solidFill>
            <a:srgbClr val="F1F7F3"/>
          </a:solidFill>
          <a:ln/>
        </p:spPr>
      </p:sp>
      <p:sp>
        <p:nvSpPr>
          <p:cNvPr id="163" name="Text 161"/>
          <p:cNvSpPr txBox="1"/>
          <p:nvPr/>
        </p:nvSpPr>
        <p:spPr>
          <a:xfrm>
            <a:off x="4069080" y="5833872"/>
            <a:ext cx="448056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Cost per student, staff hour ₹100</a:t>
            </a:r>
            <a:endParaRPr lang="en-US" sz="950" dirty="0"/>
          </a:p>
        </p:txBody>
      </p:sp>
      <p:sp>
        <p:nvSpPr>
          <p:cNvPr id="164" name="Shape 162"/>
          <p:cNvSpPr/>
          <p:nvPr/>
        </p:nvSpPr>
        <p:spPr>
          <a:xfrm>
            <a:off x="8595360" y="5833872"/>
            <a:ext cx="2331720" cy="370332"/>
          </a:xfrm>
          <a:prstGeom prst="rect">
            <a:avLst/>
          </a:prstGeom>
          <a:solidFill>
            <a:srgbClr val="F1F7F3"/>
          </a:solidFill>
          <a:ln/>
        </p:spPr>
      </p:sp>
      <p:sp>
        <p:nvSpPr>
          <p:cNvPr id="165" name="Text 163"/>
          <p:cNvSpPr txBox="1"/>
          <p:nvPr/>
        </p:nvSpPr>
        <p:spPr>
          <a:xfrm>
            <a:off x="8641080" y="5833872"/>
            <a:ext cx="2240280" cy="370332"/>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Medium to high</a:t>
            </a:r>
            <a:endParaRPr lang="en-US" sz="950" dirty="0"/>
          </a:p>
        </p:txBody>
      </p:sp>
      <p:sp>
        <p:nvSpPr>
          <p:cNvPr id="166" name="Shape 164"/>
          <p:cNvSpPr/>
          <p:nvPr/>
        </p:nvSpPr>
        <p:spPr>
          <a:xfrm>
            <a:off x="10927080" y="5833872"/>
            <a:ext cx="853135" cy="370332"/>
          </a:xfrm>
          <a:prstGeom prst="rect">
            <a:avLst/>
          </a:prstGeom>
          <a:solidFill>
            <a:srgbClr val="F1F7F3"/>
          </a:solidFill>
          <a:ln/>
        </p:spPr>
      </p:sp>
      <p:sp>
        <p:nvSpPr>
          <p:cNvPr id="167" name="Text 165"/>
          <p:cNvSpPr txBox="1"/>
          <p:nvPr/>
        </p:nvSpPr>
        <p:spPr>
          <a:xfrm>
            <a:off x="10972800" y="5833872"/>
            <a:ext cx="761695" cy="370332"/>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11, A4</a:t>
            </a:r>
            <a:endParaRPr lang="en-US" sz="950" dirty="0"/>
          </a:p>
        </p:txBody>
      </p:sp>
      <p:sp>
        <p:nvSpPr>
          <p:cNvPr id="168" name="Shape 166"/>
          <p:cNvSpPr/>
          <p:nvPr/>
        </p:nvSpPr>
        <p:spPr>
          <a:xfrm>
            <a:off x="411480" y="6204204"/>
            <a:ext cx="11368735" cy="0"/>
          </a:xfrm>
          <a:prstGeom prst="line">
            <a:avLst/>
          </a:prstGeom>
          <a:noFill/>
          <a:ln w="6350">
            <a:solidFill>
              <a:srgbClr val="E3E8E4"/>
            </a:solidFill>
            <a:prstDash val="solid"/>
          </a:ln>
        </p:spPr>
      </p:sp>
      <p:sp>
        <p:nvSpPr>
          <p:cNvPr id="169" name="Text 167"/>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Full citations with URLs and licences: technical/docs/CITATIONS.md and financial/research. Every model number traces to the financial workbook or a metrics.json file.</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title" hasCustomPrompt="1"/>
          </p:nvPr>
        </p:nvSpPr>
        <p:spPr>
          <a:xfrm>
            <a:off x="411480" y="128016"/>
            <a:ext cx="8412480" cy="438912"/>
          </a:xfrm>
          <a:prstGeom prst="rect">
            <a:avLst/>
          </a:prstGeom>
          <a:noFill/>
          <a:ln/>
        </p:spPr>
        <p:txBody>
          <a:bodyPr wrap="square" lIns="0" tIns="0" rIns="0" bIns="0" rtlCol="0" anchor="ctr"/>
          <a:lstStyle/>
          <a:p>
            <a:pPr indent="0" marL="0">
              <a:buNone/>
            </a:pPr>
            <a:r>
              <a:rPr lang="en-US" sz="2400" b="1" dirty="0">
                <a:solidFill>
                  <a:srgbClr val="1F4A82"/>
                </a:solidFill>
                <a:latin typeface="Calibri" pitchFamily="34" charset="0"/>
                <a:ea typeface="Calibri" pitchFamily="34" charset="-122"/>
                <a:cs typeface="Calibri" pitchFamily="34" charset="-120"/>
              </a:rPr>
              <a:t>APPENDIX 11: CASE QUESTIONS, ANSWERED</a:t>
            </a:r>
            <a:endParaRPr lang="en-US" sz="2400" dirty="0"/>
          </a:p>
        </p:txBody>
      </p:sp>
      <p:sp>
        <p:nvSpPr>
          <p:cNvPr id="3" name="Text 1"/>
          <p:cNvSpPr txBox="1"/>
          <p:nvPr/>
        </p:nvSpPr>
        <p:spPr>
          <a:xfrm>
            <a:off x="411480" y="548640"/>
            <a:ext cx="11368735" cy="310896"/>
          </a:xfrm>
          <a:prstGeom prst="rect">
            <a:avLst/>
          </a:prstGeom>
          <a:noFill/>
          <a:ln/>
        </p:spPr>
        <p:txBody>
          <a:bodyPr wrap="square" lIns="0" tIns="0" rIns="0" bIns="0" rtlCol="0" anchor="ctr"/>
          <a:lstStyle/>
          <a:p>
            <a:pPr algn="l" indent="0" marL="0">
              <a:buNone/>
            </a:pPr>
            <a:r>
              <a:rPr lang="en-US" sz="1450" dirty="0">
                <a:solidFill>
                  <a:srgbClr val="5B6573"/>
                </a:solidFill>
                <a:latin typeface="Calibri" pitchFamily="34" charset="0"/>
                <a:ea typeface="Calibri" pitchFamily="34" charset="-122"/>
                <a:cs typeface="Calibri" pitchFamily="34" charset="-120"/>
              </a:rPr>
              <a:t>Where the case's twelve questions are answered, and how strong the evidence is</a:t>
            </a:r>
            <a:endParaRPr lang="en-US" sz="1450" dirty="0"/>
          </a:p>
        </p:txBody>
      </p:sp>
      <p:sp>
        <p:nvSpPr>
          <p:cNvPr id="4" name="Shape 2"/>
          <p:cNvSpPr/>
          <p:nvPr/>
        </p:nvSpPr>
        <p:spPr>
          <a:xfrm>
            <a:off x="411480" y="896112"/>
            <a:ext cx="11368735" cy="22860"/>
          </a:xfrm>
          <a:prstGeom prst="rect">
            <a:avLst/>
          </a:prstGeom>
          <a:solidFill>
            <a:srgbClr val="1F4A82"/>
          </a:solidFill>
          <a:ln/>
        </p:spPr>
      </p:sp>
      <p:sp>
        <p:nvSpPr>
          <p:cNvPr id="5" name="Text 3"/>
          <p:cNvSpPr txBox="1"/>
          <p:nvPr/>
        </p:nvSpPr>
        <p:spPr>
          <a:xfrm>
            <a:off x="8138160" y="146304"/>
            <a:ext cx="3639312" cy="201168"/>
          </a:xfrm>
          <a:prstGeom prst="rect">
            <a:avLst/>
          </a:prstGeom>
          <a:noFill/>
          <a:ln/>
        </p:spPr>
        <p:txBody>
          <a:bodyPr wrap="square" lIns="0" tIns="0" rIns="0" bIns="0" rtlCol="0" anchor="t"/>
          <a:lstStyle/>
          <a:p>
            <a:pPr algn="r" indent="0" marL="0">
              <a:buNone/>
            </a:pPr>
            <a:r>
              <a:rPr lang="en-US" sz="850" b="1" spc="100" kern="0" dirty="0">
                <a:solidFill>
                  <a:srgbClr val="5B6573"/>
                </a:solidFill>
                <a:latin typeface="Calibri" pitchFamily="34" charset="0"/>
                <a:ea typeface="Calibri" pitchFamily="34" charset="-122"/>
                <a:cs typeface="Calibri" pitchFamily="34" charset="-120"/>
              </a:rPr>
              <a:t>PROBLEM STATEMENT COVERAGE</a:t>
            </a:r>
            <a:endParaRPr lang="en-US" sz="850" dirty="0"/>
          </a:p>
        </p:txBody>
      </p:sp>
      <p:sp>
        <p:nvSpPr>
          <p:cNvPr id="6" name="Shape 4"/>
          <p:cNvSpPr/>
          <p:nvPr/>
        </p:nvSpPr>
        <p:spPr>
          <a:xfrm>
            <a:off x="411480" y="6501384"/>
            <a:ext cx="10744200" cy="22860"/>
          </a:xfrm>
          <a:prstGeom prst="rect">
            <a:avLst/>
          </a:prstGeom>
          <a:solidFill>
            <a:srgbClr val="17325C"/>
          </a:solidFill>
          <a:ln/>
        </p:spPr>
      </p:sp>
      <p:sp>
        <p:nvSpPr>
          <p:cNvPr id="7" name="Text 5"/>
          <p:cNvSpPr txBox="1"/>
          <p:nvPr/>
        </p:nvSpPr>
        <p:spPr>
          <a:xfrm>
            <a:off x="4114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Summary</a:t>
            </a:r>
            <a:endParaRPr lang="en-US" sz="1050" dirty="0"/>
          </a:p>
        </p:txBody>
      </p:sp>
      <p:sp>
        <p:nvSpPr>
          <p:cNvPr id="8" name="Text 6"/>
          <p:cNvSpPr txBox="1"/>
          <p:nvPr/>
        </p:nvSpPr>
        <p:spPr>
          <a:xfrm>
            <a:off x="17545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Problem</a:t>
            </a:r>
            <a:endParaRPr lang="en-US" sz="1050" dirty="0"/>
          </a:p>
        </p:txBody>
      </p:sp>
      <p:sp>
        <p:nvSpPr>
          <p:cNvPr id="9" name="Text 7"/>
          <p:cNvSpPr txBox="1"/>
          <p:nvPr/>
        </p:nvSpPr>
        <p:spPr>
          <a:xfrm>
            <a:off x="30975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Product</a:t>
            </a:r>
            <a:endParaRPr lang="en-US" sz="1050" dirty="0"/>
          </a:p>
        </p:txBody>
      </p:sp>
      <p:sp>
        <p:nvSpPr>
          <p:cNvPr id="10" name="Text 8"/>
          <p:cNvSpPr txBox="1"/>
          <p:nvPr/>
        </p:nvSpPr>
        <p:spPr>
          <a:xfrm>
            <a:off x="444055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Technology</a:t>
            </a:r>
            <a:endParaRPr lang="en-US" sz="1050" dirty="0"/>
          </a:p>
        </p:txBody>
      </p:sp>
      <p:sp>
        <p:nvSpPr>
          <p:cNvPr id="11" name="Text 9"/>
          <p:cNvSpPr txBox="1"/>
          <p:nvPr/>
        </p:nvSpPr>
        <p:spPr>
          <a:xfrm>
            <a:off x="578358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Trust</a:t>
            </a:r>
            <a:endParaRPr lang="en-US" sz="1050" dirty="0"/>
          </a:p>
        </p:txBody>
      </p:sp>
      <p:sp>
        <p:nvSpPr>
          <p:cNvPr id="12" name="Text 10"/>
          <p:cNvSpPr txBox="1"/>
          <p:nvPr/>
        </p:nvSpPr>
        <p:spPr>
          <a:xfrm>
            <a:off x="7126605"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Business</a:t>
            </a:r>
            <a:endParaRPr lang="en-US" sz="1050" dirty="0"/>
          </a:p>
        </p:txBody>
      </p:sp>
      <p:sp>
        <p:nvSpPr>
          <p:cNvPr id="13" name="Text 11"/>
          <p:cNvSpPr txBox="1"/>
          <p:nvPr/>
        </p:nvSpPr>
        <p:spPr>
          <a:xfrm>
            <a:off x="8469630" y="6528816"/>
            <a:ext cx="1343025" cy="27432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Validation</a:t>
            </a:r>
            <a:endParaRPr lang="en-US" sz="1050" dirty="0"/>
          </a:p>
        </p:txBody>
      </p:sp>
      <p:sp>
        <p:nvSpPr>
          <p:cNvPr id="14" name="Shape 12"/>
          <p:cNvSpPr/>
          <p:nvPr/>
        </p:nvSpPr>
        <p:spPr>
          <a:xfrm>
            <a:off x="9812655" y="6528816"/>
            <a:ext cx="1343025" cy="274320"/>
          </a:xfrm>
          <a:prstGeom prst="rect">
            <a:avLst/>
          </a:prstGeom>
          <a:solidFill>
            <a:srgbClr val="1F4A82"/>
          </a:solidFill>
          <a:ln/>
        </p:spPr>
      </p:sp>
      <p:sp>
        <p:nvSpPr>
          <p:cNvPr id="15" name="Text 13"/>
          <p:cNvSpPr txBox="1"/>
          <p:nvPr/>
        </p:nvSpPr>
        <p:spPr>
          <a:xfrm>
            <a:off x="9812655" y="6528816"/>
            <a:ext cx="1343025"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Appendix</a:t>
            </a:r>
            <a:endParaRPr lang="en-US" sz="1050" dirty="0"/>
          </a:p>
        </p:txBody>
      </p:sp>
      <p:sp>
        <p:nvSpPr>
          <p:cNvPr id="16" name="Shape 14"/>
          <p:cNvSpPr/>
          <p:nvPr/>
        </p:nvSpPr>
        <p:spPr>
          <a:xfrm>
            <a:off x="411480" y="1115568"/>
            <a:ext cx="411480" cy="292608"/>
          </a:xfrm>
          <a:prstGeom prst="rect">
            <a:avLst/>
          </a:prstGeom>
          <a:solidFill>
            <a:srgbClr val="1F4A82"/>
          </a:solidFill>
          <a:ln/>
        </p:spPr>
      </p:sp>
      <p:sp>
        <p:nvSpPr>
          <p:cNvPr id="17" name="Text 15"/>
          <p:cNvSpPr txBox="1"/>
          <p:nvPr/>
        </p:nvSpPr>
        <p:spPr>
          <a:xfrm>
            <a:off x="457200" y="1115568"/>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18" name="Shape 16"/>
          <p:cNvSpPr/>
          <p:nvPr/>
        </p:nvSpPr>
        <p:spPr>
          <a:xfrm>
            <a:off x="822960" y="1115568"/>
            <a:ext cx="2926080" cy="292608"/>
          </a:xfrm>
          <a:prstGeom prst="rect">
            <a:avLst/>
          </a:prstGeom>
          <a:solidFill>
            <a:srgbClr val="1F4A82"/>
          </a:solidFill>
          <a:ln/>
        </p:spPr>
      </p:sp>
      <p:sp>
        <p:nvSpPr>
          <p:cNvPr id="19" name="Text 17"/>
          <p:cNvSpPr txBox="1"/>
          <p:nvPr/>
        </p:nvSpPr>
        <p:spPr>
          <a:xfrm>
            <a:off x="868680" y="1115568"/>
            <a:ext cx="28346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Technology (70 %)</a:t>
            </a:r>
            <a:endParaRPr lang="en-US" sz="950" dirty="0"/>
          </a:p>
        </p:txBody>
      </p:sp>
      <p:sp>
        <p:nvSpPr>
          <p:cNvPr id="20" name="Shape 18"/>
          <p:cNvSpPr/>
          <p:nvPr/>
        </p:nvSpPr>
        <p:spPr>
          <a:xfrm>
            <a:off x="3749040" y="1115568"/>
            <a:ext cx="1691640" cy="292608"/>
          </a:xfrm>
          <a:prstGeom prst="rect">
            <a:avLst/>
          </a:prstGeom>
          <a:solidFill>
            <a:srgbClr val="1F4A82"/>
          </a:solidFill>
          <a:ln/>
        </p:spPr>
      </p:sp>
      <p:sp>
        <p:nvSpPr>
          <p:cNvPr id="21" name="Text 19"/>
          <p:cNvSpPr txBox="1"/>
          <p:nvPr/>
        </p:nvSpPr>
        <p:spPr>
          <a:xfrm>
            <a:off x="3794760" y="1115568"/>
            <a:ext cx="160020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22" name="Shape 20"/>
          <p:cNvSpPr/>
          <p:nvPr/>
        </p:nvSpPr>
        <p:spPr>
          <a:xfrm>
            <a:off x="5440680" y="1115568"/>
            <a:ext cx="685800" cy="292608"/>
          </a:xfrm>
          <a:prstGeom prst="rect">
            <a:avLst/>
          </a:prstGeom>
          <a:solidFill>
            <a:srgbClr val="1F4A82"/>
          </a:solidFill>
          <a:ln/>
        </p:spPr>
      </p:sp>
      <p:sp>
        <p:nvSpPr>
          <p:cNvPr id="23" name="Text 21"/>
          <p:cNvSpPr txBox="1"/>
          <p:nvPr/>
        </p:nvSpPr>
        <p:spPr>
          <a:xfrm>
            <a:off x="5486400" y="1115568"/>
            <a:ext cx="59436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24" name="Shape 22"/>
          <p:cNvSpPr/>
          <p:nvPr/>
        </p:nvSpPr>
        <p:spPr>
          <a:xfrm>
            <a:off x="411480" y="1408176"/>
            <a:ext cx="411480" cy="475488"/>
          </a:xfrm>
          <a:prstGeom prst="rect">
            <a:avLst/>
          </a:prstGeom>
          <a:solidFill>
            <a:srgbClr val="F1F7F3"/>
          </a:solidFill>
          <a:ln/>
        </p:spPr>
      </p:sp>
      <p:sp>
        <p:nvSpPr>
          <p:cNvPr id="25" name="Text 23"/>
          <p:cNvSpPr txBox="1"/>
          <p:nvPr/>
        </p:nvSpPr>
        <p:spPr>
          <a:xfrm>
            <a:off x="457200" y="140817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T1</a:t>
            </a:r>
            <a:endParaRPr lang="en-US" sz="950" dirty="0"/>
          </a:p>
        </p:txBody>
      </p:sp>
      <p:sp>
        <p:nvSpPr>
          <p:cNvPr id="26" name="Shape 24"/>
          <p:cNvSpPr/>
          <p:nvPr/>
        </p:nvSpPr>
        <p:spPr>
          <a:xfrm>
            <a:off x="822960" y="1408176"/>
            <a:ext cx="2926080" cy="475488"/>
          </a:xfrm>
          <a:prstGeom prst="rect">
            <a:avLst/>
          </a:prstGeom>
          <a:solidFill>
            <a:srgbClr val="F1F7F3"/>
          </a:solidFill>
          <a:ln/>
        </p:spPr>
      </p:sp>
      <p:sp>
        <p:nvSpPr>
          <p:cNvPr id="27" name="Text 25"/>
          <p:cNvSpPr txBox="1"/>
          <p:nvPr/>
        </p:nvSpPr>
        <p:spPr>
          <a:xfrm>
            <a:off x="868680" y="140817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capture, offline, low effort</a:t>
            </a:r>
            <a:endParaRPr lang="en-US" sz="950" dirty="0"/>
          </a:p>
        </p:txBody>
      </p:sp>
      <p:sp>
        <p:nvSpPr>
          <p:cNvPr id="28" name="Shape 26"/>
          <p:cNvSpPr/>
          <p:nvPr/>
        </p:nvSpPr>
        <p:spPr>
          <a:xfrm>
            <a:off x="3749040" y="1408176"/>
            <a:ext cx="1691640" cy="475488"/>
          </a:xfrm>
          <a:prstGeom prst="rect">
            <a:avLst/>
          </a:prstGeom>
          <a:solidFill>
            <a:srgbClr val="F1F7F3"/>
          </a:solidFill>
          <a:ln/>
        </p:spPr>
      </p:sp>
      <p:sp>
        <p:nvSpPr>
          <p:cNvPr id="29" name="Text 27"/>
          <p:cNvSpPr txBox="1"/>
          <p:nvPr/>
        </p:nvSpPr>
        <p:spPr>
          <a:xfrm>
            <a:off x="3794760" y="1408176"/>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Architecture, Product</a:t>
            </a:r>
            <a:endParaRPr lang="en-US" sz="950" dirty="0"/>
          </a:p>
        </p:txBody>
      </p:sp>
      <p:sp>
        <p:nvSpPr>
          <p:cNvPr id="30" name="Shape 28"/>
          <p:cNvSpPr/>
          <p:nvPr/>
        </p:nvSpPr>
        <p:spPr>
          <a:xfrm>
            <a:off x="5440680" y="1408176"/>
            <a:ext cx="685800" cy="475488"/>
          </a:xfrm>
          <a:prstGeom prst="rect">
            <a:avLst/>
          </a:prstGeom>
          <a:solidFill>
            <a:srgbClr val="2E6DB4"/>
          </a:solidFill>
          <a:ln/>
        </p:spPr>
      </p:sp>
      <p:sp>
        <p:nvSpPr>
          <p:cNvPr id="31" name="Text 29"/>
          <p:cNvSpPr txBox="1"/>
          <p:nvPr/>
        </p:nvSpPr>
        <p:spPr>
          <a:xfrm>
            <a:off x="5486400" y="1408176"/>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32" name="Shape 30"/>
          <p:cNvSpPr/>
          <p:nvPr/>
        </p:nvSpPr>
        <p:spPr>
          <a:xfrm>
            <a:off x="411480" y="1883664"/>
            <a:ext cx="5715000" cy="0"/>
          </a:xfrm>
          <a:prstGeom prst="line">
            <a:avLst/>
          </a:prstGeom>
          <a:noFill/>
          <a:ln w="6350">
            <a:solidFill>
              <a:srgbClr val="E3E8E4"/>
            </a:solidFill>
            <a:prstDash val="solid"/>
          </a:ln>
        </p:spPr>
      </p:sp>
      <p:sp>
        <p:nvSpPr>
          <p:cNvPr id="33" name="Shape 31"/>
          <p:cNvSpPr/>
          <p:nvPr/>
        </p:nvSpPr>
        <p:spPr>
          <a:xfrm>
            <a:off x="411480" y="1883664"/>
            <a:ext cx="411480" cy="475488"/>
          </a:xfrm>
          <a:prstGeom prst="rect">
            <a:avLst/>
          </a:prstGeom>
          <a:solidFill>
            <a:srgbClr val="FFFFFF"/>
          </a:solidFill>
          <a:ln/>
        </p:spPr>
      </p:sp>
      <p:sp>
        <p:nvSpPr>
          <p:cNvPr id="34" name="Text 32"/>
          <p:cNvSpPr txBox="1"/>
          <p:nvPr/>
        </p:nvSpPr>
        <p:spPr>
          <a:xfrm>
            <a:off x="457200" y="188366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T2</a:t>
            </a:r>
            <a:endParaRPr lang="en-US" sz="950" dirty="0"/>
          </a:p>
        </p:txBody>
      </p:sp>
      <p:sp>
        <p:nvSpPr>
          <p:cNvPr id="35" name="Shape 33"/>
          <p:cNvSpPr/>
          <p:nvPr/>
        </p:nvSpPr>
        <p:spPr>
          <a:xfrm>
            <a:off x="822960" y="1883664"/>
            <a:ext cx="2926080" cy="475488"/>
          </a:xfrm>
          <a:prstGeom prst="rect">
            <a:avLst/>
          </a:prstGeom>
          <a:solidFill>
            <a:srgbClr val="FFFFFF"/>
          </a:solidFill>
          <a:ln/>
        </p:spPr>
      </p:sp>
      <p:sp>
        <p:nvSpPr>
          <p:cNvPr id="36" name="Text 34"/>
          <p:cNvSpPr txBox="1"/>
          <p:nvPr/>
        </p:nvSpPr>
        <p:spPr>
          <a:xfrm>
            <a:off x="868680" y="188366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Data model; tagging questions to topics at scale</a:t>
            </a:r>
            <a:endParaRPr lang="en-US" sz="950" dirty="0"/>
          </a:p>
        </p:txBody>
      </p:sp>
      <p:sp>
        <p:nvSpPr>
          <p:cNvPr id="37" name="Shape 35"/>
          <p:cNvSpPr/>
          <p:nvPr/>
        </p:nvSpPr>
        <p:spPr>
          <a:xfrm>
            <a:off x="3749040" y="1883664"/>
            <a:ext cx="1691640" cy="475488"/>
          </a:xfrm>
          <a:prstGeom prst="rect">
            <a:avLst/>
          </a:prstGeom>
          <a:solidFill>
            <a:srgbClr val="FFFFFF"/>
          </a:solidFill>
          <a:ln/>
        </p:spPr>
      </p:sp>
      <p:sp>
        <p:nvSpPr>
          <p:cNvPr id="38" name="Text 36"/>
          <p:cNvSpPr txBox="1"/>
          <p:nvPr/>
        </p:nvSpPr>
        <p:spPr>
          <a:xfrm>
            <a:off x="3794760" y="1883664"/>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Appendices 5, 6</a:t>
            </a:r>
            <a:endParaRPr lang="en-US" sz="950" dirty="0"/>
          </a:p>
        </p:txBody>
      </p:sp>
      <p:sp>
        <p:nvSpPr>
          <p:cNvPr id="39" name="Shape 37"/>
          <p:cNvSpPr/>
          <p:nvPr/>
        </p:nvSpPr>
        <p:spPr>
          <a:xfrm>
            <a:off x="5440680" y="1883664"/>
            <a:ext cx="685800" cy="475488"/>
          </a:xfrm>
          <a:prstGeom prst="rect">
            <a:avLst/>
          </a:prstGeom>
          <a:solidFill>
            <a:srgbClr val="1F4A82"/>
          </a:solidFill>
          <a:ln/>
        </p:spPr>
      </p:sp>
      <p:sp>
        <p:nvSpPr>
          <p:cNvPr id="40" name="Text 38"/>
          <p:cNvSpPr txBox="1"/>
          <p:nvPr/>
        </p:nvSpPr>
        <p:spPr>
          <a:xfrm>
            <a:off x="5486400" y="1883664"/>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41" name="Shape 39"/>
          <p:cNvSpPr/>
          <p:nvPr/>
        </p:nvSpPr>
        <p:spPr>
          <a:xfrm>
            <a:off x="411480" y="2359152"/>
            <a:ext cx="5715000" cy="0"/>
          </a:xfrm>
          <a:prstGeom prst="line">
            <a:avLst/>
          </a:prstGeom>
          <a:noFill/>
          <a:ln w="6350">
            <a:solidFill>
              <a:srgbClr val="E3E8E4"/>
            </a:solidFill>
            <a:prstDash val="solid"/>
          </a:ln>
        </p:spPr>
      </p:sp>
      <p:sp>
        <p:nvSpPr>
          <p:cNvPr id="42" name="Shape 40"/>
          <p:cNvSpPr/>
          <p:nvPr/>
        </p:nvSpPr>
        <p:spPr>
          <a:xfrm>
            <a:off x="411480" y="2359152"/>
            <a:ext cx="411480" cy="475488"/>
          </a:xfrm>
          <a:prstGeom prst="rect">
            <a:avLst/>
          </a:prstGeom>
          <a:solidFill>
            <a:srgbClr val="F1F7F3"/>
          </a:solidFill>
          <a:ln/>
        </p:spPr>
      </p:sp>
      <p:sp>
        <p:nvSpPr>
          <p:cNvPr id="43" name="Text 41"/>
          <p:cNvSpPr txBox="1"/>
          <p:nvPr/>
        </p:nvSpPr>
        <p:spPr>
          <a:xfrm>
            <a:off x="457200" y="235915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T3</a:t>
            </a:r>
            <a:endParaRPr lang="en-US" sz="950" dirty="0"/>
          </a:p>
        </p:txBody>
      </p:sp>
      <p:sp>
        <p:nvSpPr>
          <p:cNvPr id="44" name="Shape 42"/>
          <p:cNvSpPr/>
          <p:nvPr/>
        </p:nvSpPr>
        <p:spPr>
          <a:xfrm>
            <a:off x="822960" y="2359152"/>
            <a:ext cx="2926080" cy="475488"/>
          </a:xfrm>
          <a:prstGeom prst="rect">
            <a:avLst/>
          </a:prstGeom>
          <a:solidFill>
            <a:srgbClr val="F1F7F3"/>
          </a:solidFill>
          <a:ln/>
        </p:spPr>
      </p:sp>
      <p:sp>
        <p:nvSpPr>
          <p:cNvPr id="45" name="Text 43"/>
          <p:cNvSpPr txBox="1"/>
          <p:nvPr/>
        </p:nvSpPr>
        <p:spPr>
          <a:xfrm>
            <a:off x="868680" y="2359152"/>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Mastery and question difficulty (IRT)</a:t>
            </a:r>
            <a:endParaRPr lang="en-US" sz="950" dirty="0"/>
          </a:p>
        </p:txBody>
      </p:sp>
      <p:sp>
        <p:nvSpPr>
          <p:cNvPr id="46" name="Shape 44"/>
          <p:cNvSpPr/>
          <p:nvPr/>
        </p:nvSpPr>
        <p:spPr>
          <a:xfrm>
            <a:off x="3749040" y="2359152"/>
            <a:ext cx="1691640" cy="475488"/>
          </a:xfrm>
          <a:prstGeom prst="rect">
            <a:avLst/>
          </a:prstGeom>
          <a:solidFill>
            <a:srgbClr val="F1F7F3"/>
          </a:solidFill>
          <a:ln/>
        </p:spPr>
      </p:sp>
      <p:sp>
        <p:nvSpPr>
          <p:cNvPr id="47" name="Text 45"/>
          <p:cNvSpPr txBox="1"/>
          <p:nvPr/>
        </p:nvSpPr>
        <p:spPr>
          <a:xfrm>
            <a:off x="3794760" y="2359152"/>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Learning analytics</a:t>
            </a:r>
            <a:endParaRPr lang="en-US" sz="950" dirty="0"/>
          </a:p>
        </p:txBody>
      </p:sp>
      <p:sp>
        <p:nvSpPr>
          <p:cNvPr id="48" name="Shape 46"/>
          <p:cNvSpPr/>
          <p:nvPr/>
        </p:nvSpPr>
        <p:spPr>
          <a:xfrm>
            <a:off x="5440680" y="2359152"/>
            <a:ext cx="685800" cy="475488"/>
          </a:xfrm>
          <a:prstGeom prst="rect">
            <a:avLst/>
          </a:prstGeom>
          <a:solidFill>
            <a:srgbClr val="1F4A82"/>
          </a:solidFill>
          <a:ln/>
        </p:spPr>
      </p:sp>
      <p:sp>
        <p:nvSpPr>
          <p:cNvPr id="49" name="Text 47"/>
          <p:cNvSpPr txBox="1"/>
          <p:nvPr/>
        </p:nvSpPr>
        <p:spPr>
          <a:xfrm>
            <a:off x="5486400" y="2359152"/>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50" name="Shape 48"/>
          <p:cNvSpPr/>
          <p:nvPr/>
        </p:nvSpPr>
        <p:spPr>
          <a:xfrm>
            <a:off x="411480" y="2834640"/>
            <a:ext cx="5715000" cy="0"/>
          </a:xfrm>
          <a:prstGeom prst="line">
            <a:avLst/>
          </a:prstGeom>
          <a:noFill/>
          <a:ln w="6350">
            <a:solidFill>
              <a:srgbClr val="E3E8E4"/>
            </a:solidFill>
            <a:prstDash val="solid"/>
          </a:ln>
        </p:spPr>
      </p:sp>
      <p:sp>
        <p:nvSpPr>
          <p:cNvPr id="51" name="Shape 49"/>
          <p:cNvSpPr/>
          <p:nvPr/>
        </p:nvSpPr>
        <p:spPr>
          <a:xfrm>
            <a:off x="411480" y="2834640"/>
            <a:ext cx="411480" cy="475488"/>
          </a:xfrm>
          <a:prstGeom prst="rect">
            <a:avLst/>
          </a:prstGeom>
          <a:solidFill>
            <a:srgbClr val="FFFFFF"/>
          </a:solidFill>
          <a:ln/>
        </p:spPr>
      </p:sp>
      <p:sp>
        <p:nvSpPr>
          <p:cNvPr id="52" name="Text 50"/>
          <p:cNvSpPr txBox="1"/>
          <p:nvPr/>
        </p:nvSpPr>
        <p:spPr>
          <a:xfrm>
            <a:off x="457200" y="283464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T4</a:t>
            </a:r>
            <a:endParaRPr lang="en-US" sz="950" dirty="0"/>
          </a:p>
        </p:txBody>
      </p:sp>
      <p:sp>
        <p:nvSpPr>
          <p:cNvPr id="53" name="Shape 51"/>
          <p:cNvSpPr/>
          <p:nvPr/>
        </p:nvSpPr>
        <p:spPr>
          <a:xfrm>
            <a:off x="822960" y="2834640"/>
            <a:ext cx="2926080" cy="475488"/>
          </a:xfrm>
          <a:prstGeom prst="rect">
            <a:avLst/>
          </a:prstGeom>
          <a:solidFill>
            <a:srgbClr val="FFFFFF"/>
          </a:solidFill>
          <a:ln/>
        </p:spPr>
      </p:sp>
      <p:sp>
        <p:nvSpPr>
          <p:cNvPr id="54" name="Text 52"/>
          <p:cNvSpPr txBox="1"/>
          <p:nvPr/>
        </p:nvSpPr>
        <p:spPr>
          <a:xfrm>
            <a:off x="868680" y="2834640"/>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Early warning: dropout, falling behind, fees</a:t>
            </a:r>
            <a:endParaRPr lang="en-US" sz="950" dirty="0"/>
          </a:p>
        </p:txBody>
      </p:sp>
      <p:sp>
        <p:nvSpPr>
          <p:cNvPr id="55" name="Shape 53"/>
          <p:cNvSpPr/>
          <p:nvPr/>
        </p:nvSpPr>
        <p:spPr>
          <a:xfrm>
            <a:off x="3749040" y="2834640"/>
            <a:ext cx="1691640" cy="475488"/>
          </a:xfrm>
          <a:prstGeom prst="rect">
            <a:avLst/>
          </a:prstGeom>
          <a:solidFill>
            <a:srgbClr val="FFFFFF"/>
          </a:solidFill>
          <a:ln/>
        </p:spPr>
      </p:sp>
      <p:sp>
        <p:nvSpPr>
          <p:cNvPr id="56" name="Text 54"/>
          <p:cNvSpPr txBox="1"/>
          <p:nvPr/>
        </p:nvSpPr>
        <p:spPr>
          <a:xfrm>
            <a:off x="3794760" y="2834640"/>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Early warning</a:t>
            </a:r>
            <a:endParaRPr lang="en-US" sz="950" dirty="0"/>
          </a:p>
        </p:txBody>
      </p:sp>
      <p:sp>
        <p:nvSpPr>
          <p:cNvPr id="57" name="Shape 55"/>
          <p:cNvSpPr/>
          <p:nvPr/>
        </p:nvSpPr>
        <p:spPr>
          <a:xfrm>
            <a:off x="5440680" y="2834640"/>
            <a:ext cx="685800" cy="475488"/>
          </a:xfrm>
          <a:prstGeom prst="rect">
            <a:avLst/>
          </a:prstGeom>
          <a:solidFill>
            <a:srgbClr val="1F4A82"/>
          </a:solidFill>
          <a:ln/>
        </p:spPr>
      </p:sp>
      <p:sp>
        <p:nvSpPr>
          <p:cNvPr id="58" name="Text 56"/>
          <p:cNvSpPr txBox="1"/>
          <p:nvPr/>
        </p:nvSpPr>
        <p:spPr>
          <a:xfrm>
            <a:off x="5486400" y="2834640"/>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59" name="Shape 57"/>
          <p:cNvSpPr/>
          <p:nvPr/>
        </p:nvSpPr>
        <p:spPr>
          <a:xfrm>
            <a:off x="411480" y="3310128"/>
            <a:ext cx="5715000" cy="0"/>
          </a:xfrm>
          <a:prstGeom prst="line">
            <a:avLst/>
          </a:prstGeom>
          <a:noFill/>
          <a:ln w="6350">
            <a:solidFill>
              <a:srgbClr val="E3E8E4"/>
            </a:solidFill>
            <a:prstDash val="solid"/>
          </a:ln>
        </p:spPr>
      </p:sp>
      <p:sp>
        <p:nvSpPr>
          <p:cNvPr id="60" name="Shape 58"/>
          <p:cNvSpPr/>
          <p:nvPr/>
        </p:nvSpPr>
        <p:spPr>
          <a:xfrm>
            <a:off x="411480" y="3310128"/>
            <a:ext cx="411480" cy="475488"/>
          </a:xfrm>
          <a:prstGeom prst="rect">
            <a:avLst/>
          </a:prstGeom>
          <a:solidFill>
            <a:srgbClr val="F1F7F3"/>
          </a:solidFill>
          <a:ln/>
        </p:spPr>
      </p:sp>
      <p:sp>
        <p:nvSpPr>
          <p:cNvPr id="61" name="Text 59"/>
          <p:cNvSpPr txBox="1"/>
          <p:nvPr/>
        </p:nvSpPr>
        <p:spPr>
          <a:xfrm>
            <a:off x="457200" y="33101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T5</a:t>
            </a:r>
            <a:endParaRPr lang="en-US" sz="950" dirty="0"/>
          </a:p>
        </p:txBody>
      </p:sp>
      <p:sp>
        <p:nvSpPr>
          <p:cNvPr id="62" name="Shape 60"/>
          <p:cNvSpPr/>
          <p:nvPr/>
        </p:nvSpPr>
        <p:spPr>
          <a:xfrm>
            <a:off x="822960" y="3310128"/>
            <a:ext cx="2926080" cy="475488"/>
          </a:xfrm>
          <a:prstGeom prst="rect">
            <a:avLst/>
          </a:prstGeom>
          <a:solidFill>
            <a:srgbClr val="F1F7F3"/>
          </a:solidFill>
          <a:ln/>
        </p:spPr>
      </p:sp>
      <p:sp>
        <p:nvSpPr>
          <p:cNvPr id="63" name="Text 61"/>
          <p:cNvSpPr txBox="1"/>
          <p:nvPr/>
        </p:nvSpPr>
        <p:spPr>
          <a:xfrm>
            <a:off x="868680" y="3310128"/>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Percentile range with honest uncertainty</a:t>
            </a:r>
            <a:endParaRPr lang="en-US" sz="950" dirty="0"/>
          </a:p>
        </p:txBody>
      </p:sp>
      <p:sp>
        <p:nvSpPr>
          <p:cNvPr id="64" name="Shape 62"/>
          <p:cNvSpPr/>
          <p:nvPr/>
        </p:nvSpPr>
        <p:spPr>
          <a:xfrm>
            <a:off x="3749040" y="3310128"/>
            <a:ext cx="1691640" cy="475488"/>
          </a:xfrm>
          <a:prstGeom prst="rect">
            <a:avLst/>
          </a:prstGeom>
          <a:solidFill>
            <a:srgbClr val="F1F7F3"/>
          </a:solidFill>
          <a:ln/>
        </p:spPr>
      </p:sp>
      <p:sp>
        <p:nvSpPr>
          <p:cNvPr id="65" name="Text 63"/>
          <p:cNvSpPr txBox="1"/>
          <p:nvPr/>
        </p:nvSpPr>
        <p:spPr>
          <a:xfrm>
            <a:off x="3794760" y="3310128"/>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Percentile and reports</a:t>
            </a:r>
            <a:endParaRPr lang="en-US" sz="950" dirty="0"/>
          </a:p>
        </p:txBody>
      </p:sp>
      <p:sp>
        <p:nvSpPr>
          <p:cNvPr id="66" name="Shape 64"/>
          <p:cNvSpPr/>
          <p:nvPr/>
        </p:nvSpPr>
        <p:spPr>
          <a:xfrm>
            <a:off x="5440680" y="3310128"/>
            <a:ext cx="685800" cy="475488"/>
          </a:xfrm>
          <a:prstGeom prst="rect">
            <a:avLst/>
          </a:prstGeom>
          <a:solidFill>
            <a:srgbClr val="2E6DB4"/>
          </a:solidFill>
          <a:ln/>
        </p:spPr>
      </p:sp>
      <p:sp>
        <p:nvSpPr>
          <p:cNvPr id="67" name="Text 65"/>
          <p:cNvSpPr txBox="1"/>
          <p:nvPr/>
        </p:nvSpPr>
        <p:spPr>
          <a:xfrm>
            <a:off x="5486400" y="3310128"/>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68" name="Shape 66"/>
          <p:cNvSpPr/>
          <p:nvPr/>
        </p:nvSpPr>
        <p:spPr>
          <a:xfrm>
            <a:off x="411480" y="3785616"/>
            <a:ext cx="5715000" cy="0"/>
          </a:xfrm>
          <a:prstGeom prst="line">
            <a:avLst/>
          </a:prstGeom>
          <a:noFill/>
          <a:ln w="6350">
            <a:solidFill>
              <a:srgbClr val="E3E8E4"/>
            </a:solidFill>
            <a:prstDash val="solid"/>
          </a:ln>
        </p:spPr>
      </p:sp>
      <p:sp>
        <p:nvSpPr>
          <p:cNvPr id="69" name="Shape 67"/>
          <p:cNvSpPr/>
          <p:nvPr/>
        </p:nvSpPr>
        <p:spPr>
          <a:xfrm>
            <a:off x="411480" y="3785616"/>
            <a:ext cx="411480" cy="475488"/>
          </a:xfrm>
          <a:prstGeom prst="rect">
            <a:avLst/>
          </a:prstGeom>
          <a:solidFill>
            <a:srgbClr val="FFFFFF"/>
          </a:solidFill>
          <a:ln/>
        </p:spPr>
      </p:sp>
      <p:sp>
        <p:nvSpPr>
          <p:cNvPr id="70" name="Text 68"/>
          <p:cNvSpPr txBox="1"/>
          <p:nvPr/>
        </p:nvSpPr>
        <p:spPr>
          <a:xfrm>
            <a:off x="457200" y="37856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T6</a:t>
            </a:r>
            <a:endParaRPr lang="en-US" sz="950" dirty="0"/>
          </a:p>
        </p:txBody>
      </p:sp>
      <p:sp>
        <p:nvSpPr>
          <p:cNvPr id="71" name="Shape 69"/>
          <p:cNvSpPr/>
          <p:nvPr/>
        </p:nvSpPr>
        <p:spPr>
          <a:xfrm>
            <a:off x="822960" y="3785616"/>
            <a:ext cx="2926080" cy="475488"/>
          </a:xfrm>
          <a:prstGeom prst="rect">
            <a:avLst/>
          </a:prstGeom>
          <a:solidFill>
            <a:srgbClr val="FFFFFF"/>
          </a:solidFill>
          <a:ln/>
        </p:spPr>
      </p:sp>
      <p:sp>
        <p:nvSpPr>
          <p:cNvPr id="72" name="Text 70"/>
          <p:cNvSpPr txBox="1"/>
          <p:nvPr/>
        </p:nvSpPr>
        <p:spPr>
          <a:xfrm>
            <a:off x="868680" y="3785616"/>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GenAI: reports, study plans, doubts</a:t>
            </a:r>
            <a:endParaRPr lang="en-US" sz="950" dirty="0"/>
          </a:p>
        </p:txBody>
      </p:sp>
      <p:sp>
        <p:nvSpPr>
          <p:cNvPr id="73" name="Shape 71"/>
          <p:cNvSpPr/>
          <p:nvPr/>
        </p:nvSpPr>
        <p:spPr>
          <a:xfrm>
            <a:off x="3749040" y="3785616"/>
            <a:ext cx="1691640" cy="475488"/>
          </a:xfrm>
          <a:prstGeom prst="rect">
            <a:avLst/>
          </a:prstGeom>
          <a:solidFill>
            <a:srgbClr val="FFFFFF"/>
          </a:solidFill>
          <a:ln/>
        </p:spPr>
      </p:sp>
      <p:sp>
        <p:nvSpPr>
          <p:cNvPr id="74" name="Text 72"/>
          <p:cNvSpPr txBox="1"/>
          <p:nvPr/>
        </p:nvSpPr>
        <p:spPr>
          <a:xfrm>
            <a:off x="3794760" y="3785616"/>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Percentile and reports</a:t>
            </a:r>
            <a:endParaRPr lang="en-US" sz="950" dirty="0"/>
          </a:p>
        </p:txBody>
      </p:sp>
      <p:sp>
        <p:nvSpPr>
          <p:cNvPr id="75" name="Shape 73"/>
          <p:cNvSpPr/>
          <p:nvPr/>
        </p:nvSpPr>
        <p:spPr>
          <a:xfrm>
            <a:off x="5440680" y="3785616"/>
            <a:ext cx="685800" cy="475488"/>
          </a:xfrm>
          <a:prstGeom prst="rect">
            <a:avLst/>
          </a:prstGeom>
          <a:solidFill>
            <a:srgbClr val="1F4A82"/>
          </a:solidFill>
          <a:ln/>
        </p:spPr>
      </p:sp>
      <p:sp>
        <p:nvSpPr>
          <p:cNvPr id="76" name="Text 74"/>
          <p:cNvSpPr txBox="1"/>
          <p:nvPr/>
        </p:nvSpPr>
        <p:spPr>
          <a:xfrm>
            <a:off x="5486400" y="3785616"/>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77" name="Shape 75"/>
          <p:cNvSpPr/>
          <p:nvPr/>
        </p:nvSpPr>
        <p:spPr>
          <a:xfrm>
            <a:off x="411480" y="4261104"/>
            <a:ext cx="5715000" cy="0"/>
          </a:xfrm>
          <a:prstGeom prst="line">
            <a:avLst/>
          </a:prstGeom>
          <a:noFill/>
          <a:ln w="6350">
            <a:solidFill>
              <a:srgbClr val="E3E8E4"/>
            </a:solidFill>
            <a:prstDash val="solid"/>
          </a:ln>
        </p:spPr>
      </p:sp>
      <p:sp>
        <p:nvSpPr>
          <p:cNvPr id="78" name="Shape 76"/>
          <p:cNvSpPr/>
          <p:nvPr/>
        </p:nvSpPr>
        <p:spPr>
          <a:xfrm>
            <a:off x="411480" y="4261104"/>
            <a:ext cx="411480" cy="475488"/>
          </a:xfrm>
          <a:prstGeom prst="rect">
            <a:avLst/>
          </a:prstGeom>
          <a:solidFill>
            <a:srgbClr val="F1F7F3"/>
          </a:solidFill>
          <a:ln/>
        </p:spPr>
      </p:sp>
      <p:sp>
        <p:nvSpPr>
          <p:cNvPr id="79" name="Text 77"/>
          <p:cNvSpPr txBox="1"/>
          <p:nvPr/>
        </p:nvSpPr>
        <p:spPr>
          <a:xfrm>
            <a:off x="457200" y="426110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T7</a:t>
            </a:r>
            <a:endParaRPr lang="en-US" sz="950" dirty="0"/>
          </a:p>
        </p:txBody>
      </p:sp>
      <p:sp>
        <p:nvSpPr>
          <p:cNvPr id="80" name="Shape 78"/>
          <p:cNvSpPr/>
          <p:nvPr/>
        </p:nvSpPr>
        <p:spPr>
          <a:xfrm>
            <a:off x="822960" y="4261104"/>
            <a:ext cx="2926080" cy="475488"/>
          </a:xfrm>
          <a:prstGeom prst="rect">
            <a:avLst/>
          </a:prstGeom>
          <a:solidFill>
            <a:srgbClr val="F1F7F3"/>
          </a:solidFill>
          <a:ln/>
        </p:spPr>
      </p:sp>
      <p:sp>
        <p:nvSpPr>
          <p:cNvPr id="81" name="Text 79"/>
          <p:cNvSpPr txBox="1"/>
          <p:nvPr/>
        </p:nvSpPr>
        <p:spPr>
          <a:xfrm>
            <a:off x="868680" y="4261104"/>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Multi-tenant, secure, low-cost architecture</a:t>
            </a:r>
            <a:endParaRPr lang="en-US" sz="950" dirty="0"/>
          </a:p>
        </p:txBody>
      </p:sp>
      <p:sp>
        <p:nvSpPr>
          <p:cNvPr id="82" name="Shape 80"/>
          <p:cNvSpPr/>
          <p:nvPr/>
        </p:nvSpPr>
        <p:spPr>
          <a:xfrm>
            <a:off x="3749040" y="4261104"/>
            <a:ext cx="1691640" cy="475488"/>
          </a:xfrm>
          <a:prstGeom prst="rect">
            <a:avLst/>
          </a:prstGeom>
          <a:solidFill>
            <a:srgbClr val="F1F7F3"/>
          </a:solidFill>
          <a:ln/>
        </p:spPr>
      </p:sp>
      <p:sp>
        <p:nvSpPr>
          <p:cNvPr id="83" name="Text 81"/>
          <p:cNvSpPr txBox="1"/>
          <p:nvPr/>
        </p:nvSpPr>
        <p:spPr>
          <a:xfrm>
            <a:off x="3794760" y="4261104"/>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Architecture, Appendix 4</a:t>
            </a:r>
            <a:endParaRPr lang="en-US" sz="950" dirty="0"/>
          </a:p>
        </p:txBody>
      </p:sp>
      <p:sp>
        <p:nvSpPr>
          <p:cNvPr id="84" name="Shape 82"/>
          <p:cNvSpPr/>
          <p:nvPr/>
        </p:nvSpPr>
        <p:spPr>
          <a:xfrm>
            <a:off x="5440680" y="4261104"/>
            <a:ext cx="685800" cy="475488"/>
          </a:xfrm>
          <a:prstGeom prst="rect">
            <a:avLst/>
          </a:prstGeom>
          <a:solidFill>
            <a:srgbClr val="1F4A82"/>
          </a:solidFill>
          <a:ln/>
        </p:spPr>
      </p:sp>
      <p:sp>
        <p:nvSpPr>
          <p:cNvPr id="85" name="Text 83"/>
          <p:cNvSpPr txBox="1"/>
          <p:nvPr/>
        </p:nvSpPr>
        <p:spPr>
          <a:xfrm>
            <a:off x="5486400" y="4261104"/>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86" name="Shape 84"/>
          <p:cNvSpPr/>
          <p:nvPr/>
        </p:nvSpPr>
        <p:spPr>
          <a:xfrm>
            <a:off x="411480" y="4736592"/>
            <a:ext cx="5715000" cy="0"/>
          </a:xfrm>
          <a:prstGeom prst="line">
            <a:avLst/>
          </a:prstGeom>
          <a:noFill/>
          <a:ln w="6350">
            <a:solidFill>
              <a:srgbClr val="E3E8E4"/>
            </a:solidFill>
            <a:prstDash val="solid"/>
          </a:ln>
        </p:spPr>
      </p:sp>
      <p:sp>
        <p:nvSpPr>
          <p:cNvPr id="87" name="Shape 85"/>
          <p:cNvSpPr/>
          <p:nvPr/>
        </p:nvSpPr>
        <p:spPr>
          <a:xfrm>
            <a:off x="411480" y="4736592"/>
            <a:ext cx="411480" cy="475488"/>
          </a:xfrm>
          <a:prstGeom prst="rect">
            <a:avLst/>
          </a:prstGeom>
          <a:solidFill>
            <a:srgbClr val="FFFFFF"/>
          </a:solidFill>
          <a:ln/>
        </p:spPr>
      </p:sp>
      <p:sp>
        <p:nvSpPr>
          <p:cNvPr id="88" name="Text 86"/>
          <p:cNvSpPr txBox="1"/>
          <p:nvPr/>
        </p:nvSpPr>
        <p:spPr>
          <a:xfrm>
            <a:off x="457200" y="473659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T8</a:t>
            </a:r>
            <a:endParaRPr lang="en-US" sz="950" dirty="0"/>
          </a:p>
        </p:txBody>
      </p:sp>
      <p:sp>
        <p:nvSpPr>
          <p:cNvPr id="89" name="Shape 87"/>
          <p:cNvSpPr/>
          <p:nvPr/>
        </p:nvSpPr>
        <p:spPr>
          <a:xfrm>
            <a:off x="822960" y="4736592"/>
            <a:ext cx="2926080" cy="475488"/>
          </a:xfrm>
          <a:prstGeom prst="rect">
            <a:avLst/>
          </a:prstGeom>
          <a:solidFill>
            <a:srgbClr val="FFFFFF"/>
          </a:solidFill>
          <a:ln/>
        </p:spPr>
      </p:sp>
      <p:sp>
        <p:nvSpPr>
          <p:cNvPr id="90" name="Text 88"/>
          <p:cNvSpPr txBox="1"/>
          <p:nvPr/>
        </p:nvSpPr>
        <p:spPr>
          <a:xfrm>
            <a:off x="868680" y="4736592"/>
            <a:ext cx="283464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Privacy and safety for minors</a:t>
            </a:r>
            <a:endParaRPr lang="en-US" sz="950" dirty="0"/>
          </a:p>
        </p:txBody>
      </p:sp>
      <p:sp>
        <p:nvSpPr>
          <p:cNvPr id="91" name="Shape 89"/>
          <p:cNvSpPr/>
          <p:nvPr/>
        </p:nvSpPr>
        <p:spPr>
          <a:xfrm>
            <a:off x="3749040" y="4736592"/>
            <a:ext cx="1691640" cy="475488"/>
          </a:xfrm>
          <a:prstGeom prst="rect">
            <a:avLst/>
          </a:prstGeom>
          <a:solidFill>
            <a:srgbClr val="FFFFFF"/>
          </a:solidFill>
          <a:ln/>
        </p:spPr>
      </p:sp>
      <p:sp>
        <p:nvSpPr>
          <p:cNvPr id="92" name="Text 90"/>
          <p:cNvSpPr txBox="1"/>
          <p:nvPr/>
        </p:nvSpPr>
        <p:spPr>
          <a:xfrm>
            <a:off x="3794760" y="4736592"/>
            <a:ext cx="160020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Privacy, Appendix 7</a:t>
            </a:r>
            <a:endParaRPr lang="en-US" sz="950" dirty="0"/>
          </a:p>
        </p:txBody>
      </p:sp>
      <p:sp>
        <p:nvSpPr>
          <p:cNvPr id="93" name="Shape 91"/>
          <p:cNvSpPr/>
          <p:nvPr/>
        </p:nvSpPr>
        <p:spPr>
          <a:xfrm>
            <a:off x="5440680" y="4736592"/>
            <a:ext cx="685800" cy="475488"/>
          </a:xfrm>
          <a:prstGeom prst="rect">
            <a:avLst/>
          </a:prstGeom>
          <a:solidFill>
            <a:srgbClr val="1F4A82"/>
          </a:solidFill>
          <a:ln/>
        </p:spPr>
      </p:sp>
      <p:sp>
        <p:nvSpPr>
          <p:cNvPr id="94" name="Text 92"/>
          <p:cNvSpPr txBox="1"/>
          <p:nvPr/>
        </p:nvSpPr>
        <p:spPr>
          <a:xfrm>
            <a:off x="5486400" y="4736592"/>
            <a:ext cx="59436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Built</a:t>
            </a:r>
            <a:endParaRPr lang="en-US" sz="950" dirty="0"/>
          </a:p>
        </p:txBody>
      </p:sp>
      <p:sp>
        <p:nvSpPr>
          <p:cNvPr id="95" name="Shape 93"/>
          <p:cNvSpPr/>
          <p:nvPr/>
        </p:nvSpPr>
        <p:spPr>
          <a:xfrm>
            <a:off x="411480" y="5212080"/>
            <a:ext cx="5715000" cy="0"/>
          </a:xfrm>
          <a:prstGeom prst="line">
            <a:avLst/>
          </a:prstGeom>
          <a:noFill/>
          <a:ln w="6350">
            <a:solidFill>
              <a:srgbClr val="E3E8E4"/>
            </a:solidFill>
            <a:prstDash val="solid"/>
          </a:ln>
        </p:spPr>
      </p:sp>
      <p:sp>
        <p:nvSpPr>
          <p:cNvPr id="96" name="Shape 94"/>
          <p:cNvSpPr/>
          <p:nvPr/>
        </p:nvSpPr>
        <p:spPr>
          <a:xfrm>
            <a:off x="6355080" y="1115568"/>
            <a:ext cx="411480" cy="292608"/>
          </a:xfrm>
          <a:prstGeom prst="rect">
            <a:avLst/>
          </a:prstGeom>
          <a:solidFill>
            <a:srgbClr val="1F4A82"/>
          </a:solidFill>
          <a:ln/>
        </p:spPr>
      </p:sp>
      <p:sp>
        <p:nvSpPr>
          <p:cNvPr id="97" name="Text 95"/>
          <p:cNvSpPr txBox="1"/>
          <p:nvPr/>
        </p:nvSpPr>
        <p:spPr>
          <a:xfrm>
            <a:off x="6400800" y="1115568"/>
            <a:ext cx="32004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p>
        </p:txBody>
      </p:sp>
      <p:sp>
        <p:nvSpPr>
          <p:cNvPr id="98" name="Shape 96"/>
          <p:cNvSpPr/>
          <p:nvPr/>
        </p:nvSpPr>
        <p:spPr>
          <a:xfrm>
            <a:off x="6766560" y="1115568"/>
            <a:ext cx="2743200" cy="292608"/>
          </a:xfrm>
          <a:prstGeom prst="rect">
            <a:avLst/>
          </a:prstGeom>
          <a:solidFill>
            <a:srgbClr val="1F4A82"/>
          </a:solidFill>
          <a:ln/>
        </p:spPr>
      </p:sp>
      <p:sp>
        <p:nvSpPr>
          <p:cNvPr id="99" name="Text 97"/>
          <p:cNvSpPr txBox="1"/>
          <p:nvPr/>
        </p:nvSpPr>
        <p:spPr>
          <a:xfrm>
            <a:off x="6812280" y="1115568"/>
            <a:ext cx="265176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Market (30 %) and deliverables</a:t>
            </a:r>
            <a:endParaRPr lang="en-US" sz="950" dirty="0"/>
          </a:p>
        </p:txBody>
      </p:sp>
      <p:sp>
        <p:nvSpPr>
          <p:cNvPr id="100" name="Shape 98"/>
          <p:cNvSpPr/>
          <p:nvPr/>
        </p:nvSpPr>
        <p:spPr>
          <a:xfrm>
            <a:off x="9509760" y="1115568"/>
            <a:ext cx="1737360" cy="292608"/>
          </a:xfrm>
          <a:prstGeom prst="rect">
            <a:avLst/>
          </a:prstGeom>
          <a:solidFill>
            <a:srgbClr val="1F4A82"/>
          </a:solidFill>
          <a:ln/>
        </p:spPr>
      </p:sp>
      <p:sp>
        <p:nvSpPr>
          <p:cNvPr id="101" name="Text 99"/>
          <p:cNvSpPr txBox="1"/>
          <p:nvPr/>
        </p:nvSpPr>
        <p:spPr>
          <a:xfrm>
            <a:off x="9555480" y="1115568"/>
            <a:ext cx="1645920" cy="292608"/>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Where</a:t>
            </a:r>
            <a:endParaRPr lang="en-US" sz="950" dirty="0"/>
          </a:p>
        </p:txBody>
      </p:sp>
      <p:sp>
        <p:nvSpPr>
          <p:cNvPr id="102" name="Shape 100"/>
          <p:cNvSpPr/>
          <p:nvPr/>
        </p:nvSpPr>
        <p:spPr>
          <a:xfrm>
            <a:off x="11247120" y="1115568"/>
            <a:ext cx="822960" cy="292608"/>
          </a:xfrm>
          <a:prstGeom prst="rect">
            <a:avLst/>
          </a:prstGeom>
          <a:solidFill>
            <a:srgbClr val="1F4A82"/>
          </a:solidFill>
          <a:ln/>
        </p:spPr>
      </p:sp>
      <p:sp>
        <p:nvSpPr>
          <p:cNvPr id="103" name="Text 101"/>
          <p:cNvSpPr txBox="1"/>
          <p:nvPr/>
        </p:nvSpPr>
        <p:spPr>
          <a:xfrm>
            <a:off x="11292840" y="1115568"/>
            <a:ext cx="73152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p>
        </p:txBody>
      </p:sp>
      <p:sp>
        <p:nvSpPr>
          <p:cNvPr id="104" name="Shape 102"/>
          <p:cNvSpPr/>
          <p:nvPr/>
        </p:nvSpPr>
        <p:spPr>
          <a:xfrm>
            <a:off x="6355080" y="1408176"/>
            <a:ext cx="411480" cy="475488"/>
          </a:xfrm>
          <a:prstGeom prst="rect">
            <a:avLst/>
          </a:prstGeom>
          <a:solidFill>
            <a:srgbClr val="F1F7F3"/>
          </a:solidFill>
          <a:ln/>
        </p:spPr>
      </p:sp>
      <p:sp>
        <p:nvSpPr>
          <p:cNvPr id="105" name="Text 103"/>
          <p:cNvSpPr txBox="1"/>
          <p:nvPr/>
        </p:nvSpPr>
        <p:spPr>
          <a:xfrm>
            <a:off x="6400800" y="140817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B1</a:t>
            </a:r>
            <a:endParaRPr lang="en-US" sz="950" dirty="0"/>
          </a:p>
        </p:txBody>
      </p:sp>
      <p:sp>
        <p:nvSpPr>
          <p:cNvPr id="106" name="Shape 104"/>
          <p:cNvSpPr/>
          <p:nvPr/>
        </p:nvSpPr>
        <p:spPr>
          <a:xfrm>
            <a:off x="6766560" y="1408176"/>
            <a:ext cx="2743200" cy="475488"/>
          </a:xfrm>
          <a:prstGeom prst="rect">
            <a:avLst/>
          </a:prstGeom>
          <a:solidFill>
            <a:srgbClr val="F1F7F3"/>
          </a:solidFill>
          <a:ln/>
        </p:spPr>
      </p:sp>
      <p:sp>
        <p:nvSpPr>
          <p:cNvPr id="107" name="Text 105"/>
          <p:cNvSpPr txBox="1"/>
          <p:nvPr/>
        </p:nvSpPr>
        <p:spPr>
          <a:xfrm>
            <a:off x="6812280" y="1408176"/>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Buyer and measurable institute return</a:t>
            </a:r>
            <a:endParaRPr lang="en-US" sz="950" dirty="0"/>
          </a:p>
        </p:txBody>
      </p:sp>
      <p:sp>
        <p:nvSpPr>
          <p:cNvPr id="108" name="Shape 106"/>
          <p:cNvSpPr/>
          <p:nvPr/>
        </p:nvSpPr>
        <p:spPr>
          <a:xfrm>
            <a:off x="9509760" y="1408176"/>
            <a:ext cx="1737360" cy="475488"/>
          </a:xfrm>
          <a:prstGeom prst="rect">
            <a:avLst/>
          </a:prstGeom>
          <a:solidFill>
            <a:srgbClr val="F1F7F3"/>
          </a:solidFill>
          <a:ln/>
        </p:spPr>
      </p:sp>
      <p:sp>
        <p:nvSpPr>
          <p:cNvPr id="109" name="Text 107"/>
          <p:cNvSpPr txBox="1"/>
          <p:nvPr/>
        </p:nvSpPr>
        <p:spPr>
          <a:xfrm>
            <a:off x="9555480" y="1408176"/>
            <a:ext cx="164592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Business model, Appendix 1</a:t>
            </a:r>
            <a:endParaRPr lang="en-US" sz="950" dirty="0"/>
          </a:p>
        </p:txBody>
      </p:sp>
      <p:sp>
        <p:nvSpPr>
          <p:cNvPr id="110" name="Shape 108"/>
          <p:cNvSpPr/>
          <p:nvPr/>
        </p:nvSpPr>
        <p:spPr>
          <a:xfrm>
            <a:off x="11247120" y="1408176"/>
            <a:ext cx="822960" cy="475488"/>
          </a:xfrm>
          <a:prstGeom prst="rect">
            <a:avLst/>
          </a:prstGeom>
          <a:solidFill>
            <a:srgbClr val="D4A24C"/>
          </a:solidFill>
          <a:ln/>
        </p:spPr>
      </p:sp>
      <p:sp>
        <p:nvSpPr>
          <p:cNvPr id="111" name="Text 109"/>
          <p:cNvSpPr txBox="1"/>
          <p:nvPr/>
        </p:nvSpPr>
        <p:spPr>
          <a:xfrm>
            <a:off x="11292840" y="1408176"/>
            <a:ext cx="7315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12" name="Shape 110"/>
          <p:cNvSpPr/>
          <p:nvPr/>
        </p:nvSpPr>
        <p:spPr>
          <a:xfrm>
            <a:off x="6355080" y="1883664"/>
            <a:ext cx="5715000" cy="0"/>
          </a:xfrm>
          <a:prstGeom prst="line">
            <a:avLst/>
          </a:prstGeom>
          <a:noFill/>
          <a:ln w="6350">
            <a:solidFill>
              <a:srgbClr val="E3E8E4"/>
            </a:solidFill>
            <a:prstDash val="solid"/>
          </a:ln>
        </p:spPr>
      </p:sp>
      <p:sp>
        <p:nvSpPr>
          <p:cNvPr id="113" name="Shape 111"/>
          <p:cNvSpPr/>
          <p:nvPr/>
        </p:nvSpPr>
        <p:spPr>
          <a:xfrm>
            <a:off x="6355080" y="1883664"/>
            <a:ext cx="411480" cy="475488"/>
          </a:xfrm>
          <a:prstGeom prst="rect">
            <a:avLst/>
          </a:prstGeom>
          <a:solidFill>
            <a:srgbClr val="FFFFFF"/>
          </a:solidFill>
          <a:ln/>
        </p:spPr>
      </p:sp>
      <p:sp>
        <p:nvSpPr>
          <p:cNvPr id="114" name="Text 112"/>
          <p:cNvSpPr txBox="1"/>
          <p:nvPr/>
        </p:nvSpPr>
        <p:spPr>
          <a:xfrm>
            <a:off x="6400800" y="1883664"/>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B2</a:t>
            </a:r>
            <a:endParaRPr lang="en-US" sz="950" dirty="0"/>
          </a:p>
        </p:txBody>
      </p:sp>
      <p:sp>
        <p:nvSpPr>
          <p:cNvPr id="115" name="Shape 113"/>
          <p:cNvSpPr/>
          <p:nvPr/>
        </p:nvSpPr>
        <p:spPr>
          <a:xfrm>
            <a:off x="6766560" y="1883664"/>
            <a:ext cx="2743200" cy="475488"/>
          </a:xfrm>
          <a:prstGeom prst="rect">
            <a:avLst/>
          </a:prstGeom>
          <a:solidFill>
            <a:srgbClr val="FFFFFF"/>
          </a:solidFill>
          <a:ln/>
        </p:spPr>
      </p:sp>
      <p:sp>
        <p:nvSpPr>
          <p:cNvPr id="116" name="Text 114"/>
          <p:cNvSpPr txBox="1"/>
          <p:nvPr/>
        </p:nvSpPr>
        <p:spPr>
          <a:xfrm>
            <a:off x="6812280" y="1883664"/>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Pricing, CAC, payback, churn, LTV</a:t>
            </a:r>
            <a:endParaRPr lang="en-US" sz="950" dirty="0"/>
          </a:p>
        </p:txBody>
      </p:sp>
      <p:sp>
        <p:nvSpPr>
          <p:cNvPr id="117" name="Shape 115"/>
          <p:cNvSpPr/>
          <p:nvPr/>
        </p:nvSpPr>
        <p:spPr>
          <a:xfrm>
            <a:off x="9509760" y="1883664"/>
            <a:ext cx="1737360" cy="475488"/>
          </a:xfrm>
          <a:prstGeom prst="rect">
            <a:avLst/>
          </a:prstGeom>
          <a:solidFill>
            <a:srgbClr val="FFFFFF"/>
          </a:solidFill>
          <a:ln/>
        </p:spPr>
      </p:sp>
      <p:sp>
        <p:nvSpPr>
          <p:cNvPr id="118" name="Text 116"/>
          <p:cNvSpPr txBox="1"/>
          <p:nvPr/>
        </p:nvSpPr>
        <p:spPr>
          <a:xfrm>
            <a:off x="9555480" y="1883664"/>
            <a:ext cx="164592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Business model, Appendix 3</a:t>
            </a:r>
            <a:endParaRPr lang="en-US" sz="950" dirty="0"/>
          </a:p>
        </p:txBody>
      </p:sp>
      <p:sp>
        <p:nvSpPr>
          <p:cNvPr id="119" name="Shape 117"/>
          <p:cNvSpPr/>
          <p:nvPr/>
        </p:nvSpPr>
        <p:spPr>
          <a:xfrm>
            <a:off x="11247120" y="1883664"/>
            <a:ext cx="822960" cy="475488"/>
          </a:xfrm>
          <a:prstGeom prst="rect">
            <a:avLst/>
          </a:prstGeom>
          <a:solidFill>
            <a:srgbClr val="D4A24C"/>
          </a:solidFill>
          <a:ln/>
        </p:spPr>
      </p:sp>
      <p:sp>
        <p:nvSpPr>
          <p:cNvPr id="120" name="Text 118"/>
          <p:cNvSpPr txBox="1"/>
          <p:nvPr/>
        </p:nvSpPr>
        <p:spPr>
          <a:xfrm>
            <a:off x="11292840" y="1883664"/>
            <a:ext cx="7315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21" name="Shape 119"/>
          <p:cNvSpPr/>
          <p:nvPr/>
        </p:nvSpPr>
        <p:spPr>
          <a:xfrm>
            <a:off x="6355080" y="2359152"/>
            <a:ext cx="5715000" cy="0"/>
          </a:xfrm>
          <a:prstGeom prst="line">
            <a:avLst/>
          </a:prstGeom>
          <a:noFill/>
          <a:ln w="6350">
            <a:solidFill>
              <a:srgbClr val="E3E8E4"/>
            </a:solidFill>
            <a:prstDash val="solid"/>
          </a:ln>
        </p:spPr>
      </p:sp>
      <p:sp>
        <p:nvSpPr>
          <p:cNvPr id="122" name="Shape 120"/>
          <p:cNvSpPr/>
          <p:nvPr/>
        </p:nvSpPr>
        <p:spPr>
          <a:xfrm>
            <a:off x="6355080" y="2359152"/>
            <a:ext cx="411480" cy="475488"/>
          </a:xfrm>
          <a:prstGeom prst="rect">
            <a:avLst/>
          </a:prstGeom>
          <a:solidFill>
            <a:srgbClr val="F1F7F3"/>
          </a:solidFill>
          <a:ln/>
        </p:spPr>
      </p:sp>
      <p:sp>
        <p:nvSpPr>
          <p:cNvPr id="123" name="Text 121"/>
          <p:cNvSpPr txBox="1"/>
          <p:nvPr/>
        </p:nvSpPr>
        <p:spPr>
          <a:xfrm>
            <a:off x="6400800" y="2359152"/>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B3</a:t>
            </a:r>
            <a:endParaRPr lang="en-US" sz="950" dirty="0"/>
          </a:p>
        </p:txBody>
      </p:sp>
      <p:sp>
        <p:nvSpPr>
          <p:cNvPr id="124" name="Shape 122"/>
          <p:cNvSpPr/>
          <p:nvPr/>
        </p:nvSpPr>
        <p:spPr>
          <a:xfrm>
            <a:off x="6766560" y="2359152"/>
            <a:ext cx="2743200" cy="475488"/>
          </a:xfrm>
          <a:prstGeom prst="rect">
            <a:avLst/>
          </a:prstGeom>
          <a:solidFill>
            <a:srgbClr val="F1F7F3"/>
          </a:solidFill>
          <a:ln/>
        </p:spPr>
      </p:sp>
      <p:sp>
        <p:nvSpPr>
          <p:cNvPr id="125" name="Text 123"/>
          <p:cNvSpPr txBox="1"/>
          <p:nvPr/>
        </p:nvSpPr>
        <p:spPr>
          <a:xfrm>
            <a:off x="6812280" y="2359152"/>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Cities and sizes first; channels</a:t>
            </a:r>
            <a:endParaRPr lang="en-US" sz="950" dirty="0"/>
          </a:p>
        </p:txBody>
      </p:sp>
      <p:sp>
        <p:nvSpPr>
          <p:cNvPr id="126" name="Shape 124"/>
          <p:cNvSpPr/>
          <p:nvPr/>
        </p:nvSpPr>
        <p:spPr>
          <a:xfrm>
            <a:off x="9509760" y="2359152"/>
            <a:ext cx="1737360" cy="475488"/>
          </a:xfrm>
          <a:prstGeom prst="rect">
            <a:avLst/>
          </a:prstGeom>
          <a:solidFill>
            <a:srgbClr val="F1F7F3"/>
          </a:solidFill>
          <a:ln/>
        </p:spPr>
      </p:sp>
      <p:sp>
        <p:nvSpPr>
          <p:cNvPr id="127" name="Text 125"/>
          <p:cNvSpPr txBox="1"/>
          <p:nvPr/>
        </p:nvSpPr>
        <p:spPr>
          <a:xfrm>
            <a:off x="9555480" y="2359152"/>
            <a:ext cx="164592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Go-to-market</a:t>
            </a:r>
            <a:endParaRPr lang="en-US" sz="950" dirty="0"/>
          </a:p>
        </p:txBody>
      </p:sp>
      <p:sp>
        <p:nvSpPr>
          <p:cNvPr id="128" name="Shape 126"/>
          <p:cNvSpPr/>
          <p:nvPr/>
        </p:nvSpPr>
        <p:spPr>
          <a:xfrm>
            <a:off x="11247120" y="2359152"/>
            <a:ext cx="822960" cy="475488"/>
          </a:xfrm>
          <a:prstGeom prst="rect">
            <a:avLst/>
          </a:prstGeom>
          <a:solidFill>
            <a:srgbClr val="D4A24C"/>
          </a:solidFill>
          <a:ln/>
        </p:spPr>
      </p:sp>
      <p:sp>
        <p:nvSpPr>
          <p:cNvPr id="129" name="Text 127"/>
          <p:cNvSpPr txBox="1"/>
          <p:nvPr/>
        </p:nvSpPr>
        <p:spPr>
          <a:xfrm>
            <a:off x="11292840" y="2359152"/>
            <a:ext cx="7315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30" name="Shape 128"/>
          <p:cNvSpPr/>
          <p:nvPr/>
        </p:nvSpPr>
        <p:spPr>
          <a:xfrm>
            <a:off x="6355080" y="2834640"/>
            <a:ext cx="5715000" cy="0"/>
          </a:xfrm>
          <a:prstGeom prst="line">
            <a:avLst/>
          </a:prstGeom>
          <a:noFill/>
          <a:ln w="6350">
            <a:solidFill>
              <a:srgbClr val="E3E8E4"/>
            </a:solidFill>
            <a:prstDash val="solid"/>
          </a:ln>
        </p:spPr>
      </p:sp>
      <p:sp>
        <p:nvSpPr>
          <p:cNvPr id="131" name="Shape 129"/>
          <p:cNvSpPr/>
          <p:nvPr/>
        </p:nvSpPr>
        <p:spPr>
          <a:xfrm>
            <a:off x="6355080" y="2834640"/>
            <a:ext cx="411480" cy="475488"/>
          </a:xfrm>
          <a:prstGeom prst="rect">
            <a:avLst/>
          </a:prstGeom>
          <a:solidFill>
            <a:srgbClr val="FFFFFF"/>
          </a:solidFill>
          <a:ln/>
        </p:spPr>
      </p:sp>
      <p:sp>
        <p:nvSpPr>
          <p:cNvPr id="132" name="Text 130"/>
          <p:cNvSpPr txBox="1"/>
          <p:nvPr/>
        </p:nvSpPr>
        <p:spPr>
          <a:xfrm>
            <a:off x="6400800" y="2834640"/>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B4</a:t>
            </a:r>
            <a:endParaRPr lang="en-US" sz="950" dirty="0"/>
          </a:p>
        </p:txBody>
      </p:sp>
      <p:sp>
        <p:nvSpPr>
          <p:cNvPr id="133" name="Shape 131"/>
          <p:cNvSpPr/>
          <p:nvPr/>
        </p:nvSpPr>
        <p:spPr>
          <a:xfrm>
            <a:off x="6766560" y="2834640"/>
            <a:ext cx="2743200" cy="475488"/>
          </a:xfrm>
          <a:prstGeom prst="rect">
            <a:avLst/>
          </a:prstGeom>
          <a:solidFill>
            <a:srgbClr val="FFFFFF"/>
          </a:solidFill>
          <a:ln/>
        </p:spPr>
      </p:sp>
      <p:sp>
        <p:nvSpPr>
          <p:cNvPr id="134" name="Text 132"/>
          <p:cNvSpPr txBox="1"/>
          <p:nvPr/>
        </p:nvSpPr>
        <p:spPr>
          <a:xfrm>
            <a:off x="6812280" y="2834640"/>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Competition and a moat that grows</a:t>
            </a:r>
            <a:endParaRPr lang="en-US" sz="950" dirty="0"/>
          </a:p>
        </p:txBody>
      </p:sp>
      <p:sp>
        <p:nvSpPr>
          <p:cNvPr id="135" name="Shape 133"/>
          <p:cNvSpPr/>
          <p:nvPr/>
        </p:nvSpPr>
        <p:spPr>
          <a:xfrm>
            <a:off x="9509760" y="2834640"/>
            <a:ext cx="1737360" cy="475488"/>
          </a:xfrm>
          <a:prstGeom prst="rect">
            <a:avLst/>
          </a:prstGeom>
          <a:solidFill>
            <a:srgbClr val="FFFFFF"/>
          </a:solidFill>
          <a:ln/>
        </p:spPr>
      </p:sp>
      <p:sp>
        <p:nvSpPr>
          <p:cNvPr id="136" name="Text 134"/>
          <p:cNvSpPr txBox="1"/>
          <p:nvPr/>
        </p:nvSpPr>
        <p:spPr>
          <a:xfrm>
            <a:off x="9555480" y="2834640"/>
            <a:ext cx="164592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Go-to-market</a:t>
            </a:r>
            <a:endParaRPr lang="en-US" sz="950" dirty="0"/>
          </a:p>
        </p:txBody>
      </p:sp>
      <p:sp>
        <p:nvSpPr>
          <p:cNvPr id="137" name="Shape 135"/>
          <p:cNvSpPr/>
          <p:nvPr/>
        </p:nvSpPr>
        <p:spPr>
          <a:xfrm>
            <a:off x="11247120" y="2834640"/>
            <a:ext cx="822960" cy="475488"/>
          </a:xfrm>
          <a:prstGeom prst="rect">
            <a:avLst/>
          </a:prstGeom>
          <a:solidFill>
            <a:srgbClr val="2E6DB4"/>
          </a:solidFill>
          <a:ln/>
        </p:spPr>
      </p:sp>
      <p:sp>
        <p:nvSpPr>
          <p:cNvPr id="138" name="Text 136"/>
          <p:cNvSpPr txBox="1"/>
          <p:nvPr/>
        </p:nvSpPr>
        <p:spPr>
          <a:xfrm>
            <a:off x="11292840" y="2834640"/>
            <a:ext cx="7315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Designed</a:t>
            </a:r>
            <a:endParaRPr lang="en-US" sz="950" dirty="0"/>
          </a:p>
        </p:txBody>
      </p:sp>
      <p:sp>
        <p:nvSpPr>
          <p:cNvPr id="139" name="Shape 137"/>
          <p:cNvSpPr/>
          <p:nvPr/>
        </p:nvSpPr>
        <p:spPr>
          <a:xfrm>
            <a:off x="6355080" y="3310128"/>
            <a:ext cx="5715000" cy="0"/>
          </a:xfrm>
          <a:prstGeom prst="line">
            <a:avLst/>
          </a:prstGeom>
          <a:noFill/>
          <a:ln w="6350">
            <a:solidFill>
              <a:srgbClr val="E3E8E4"/>
            </a:solidFill>
            <a:prstDash val="solid"/>
          </a:ln>
        </p:spPr>
      </p:sp>
      <p:sp>
        <p:nvSpPr>
          <p:cNvPr id="140" name="Shape 138"/>
          <p:cNvSpPr/>
          <p:nvPr/>
        </p:nvSpPr>
        <p:spPr>
          <a:xfrm>
            <a:off x="6355080" y="3310128"/>
            <a:ext cx="411480" cy="475488"/>
          </a:xfrm>
          <a:prstGeom prst="rect">
            <a:avLst/>
          </a:prstGeom>
          <a:solidFill>
            <a:srgbClr val="F1F7F3"/>
          </a:solidFill>
          <a:ln/>
        </p:spPr>
      </p:sp>
      <p:sp>
        <p:nvSpPr>
          <p:cNvPr id="141" name="Text 139"/>
          <p:cNvSpPr txBox="1"/>
          <p:nvPr/>
        </p:nvSpPr>
        <p:spPr>
          <a:xfrm>
            <a:off x="6400800" y="3310128"/>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R1</a:t>
            </a:r>
            <a:endParaRPr lang="en-US" sz="950" dirty="0"/>
          </a:p>
        </p:txBody>
      </p:sp>
      <p:sp>
        <p:nvSpPr>
          <p:cNvPr id="142" name="Shape 140"/>
          <p:cNvSpPr/>
          <p:nvPr/>
        </p:nvSpPr>
        <p:spPr>
          <a:xfrm>
            <a:off x="6766560" y="3310128"/>
            <a:ext cx="2743200" cy="475488"/>
          </a:xfrm>
          <a:prstGeom prst="rect">
            <a:avLst/>
          </a:prstGeom>
          <a:solidFill>
            <a:srgbClr val="F1F7F3"/>
          </a:solidFill>
          <a:ln/>
        </p:spPr>
      </p:sp>
      <p:sp>
        <p:nvSpPr>
          <p:cNvPr id="143" name="Text 141"/>
          <p:cNvSpPr txBox="1"/>
          <p:nvPr/>
        </p:nvSpPr>
        <p:spPr>
          <a:xfrm>
            <a:off x="6812280" y="3310128"/>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Financial model with sensitivity</a:t>
            </a:r>
            <a:endParaRPr lang="en-US" sz="950" dirty="0"/>
          </a:p>
        </p:txBody>
      </p:sp>
      <p:sp>
        <p:nvSpPr>
          <p:cNvPr id="144" name="Shape 142"/>
          <p:cNvSpPr/>
          <p:nvPr/>
        </p:nvSpPr>
        <p:spPr>
          <a:xfrm>
            <a:off x="9509760" y="3310128"/>
            <a:ext cx="1737360" cy="475488"/>
          </a:xfrm>
          <a:prstGeom prst="rect">
            <a:avLst/>
          </a:prstGeom>
          <a:solidFill>
            <a:srgbClr val="F1F7F3"/>
          </a:solidFill>
          <a:ln/>
        </p:spPr>
      </p:sp>
      <p:sp>
        <p:nvSpPr>
          <p:cNvPr id="145" name="Text 143"/>
          <p:cNvSpPr txBox="1"/>
          <p:nvPr/>
        </p:nvSpPr>
        <p:spPr>
          <a:xfrm>
            <a:off x="9555480" y="3310128"/>
            <a:ext cx="164592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Appendices 1, 2, 3</a:t>
            </a:r>
            <a:endParaRPr lang="en-US" sz="950" dirty="0"/>
          </a:p>
        </p:txBody>
      </p:sp>
      <p:sp>
        <p:nvSpPr>
          <p:cNvPr id="146" name="Shape 144"/>
          <p:cNvSpPr/>
          <p:nvPr/>
        </p:nvSpPr>
        <p:spPr>
          <a:xfrm>
            <a:off x="11247120" y="3310128"/>
            <a:ext cx="822960" cy="475488"/>
          </a:xfrm>
          <a:prstGeom prst="rect">
            <a:avLst/>
          </a:prstGeom>
          <a:solidFill>
            <a:srgbClr val="D4A24C"/>
          </a:solidFill>
          <a:ln/>
        </p:spPr>
      </p:sp>
      <p:sp>
        <p:nvSpPr>
          <p:cNvPr id="147" name="Text 145"/>
          <p:cNvSpPr txBox="1"/>
          <p:nvPr/>
        </p:nvSpPr>
        <p:spPr>
          <a:xfrm>
            <a:off x="11292840" y="3310128"/>
            <a:ext cx="7315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Assumption</a:t>
            </a:r>
            <a:endParaRPr lang="en-US" sz="950" dirty="0"/>
          </a:p>
        </p:txBody>
      </p:sp>
      <p:sp>
        <p:nvSpPr>
          <p:cNvPr id="148" name="Shape 146"/>
          <p:cNvSpPr/>
          <p:nvPr/>
        </p:nvSpPr>
        <p:spPr>
          <a:xfrm>
            <a:off x="6355080" y="3785616"/>
            <a:ext cx="5715000" cy="0"/>
          </a:xfrm>
          <a:prstGeom prst="line">
            <a:avLst/>
          </a:prstGeom>
          <a:noFill/>
          <a:ln w="6350">
            <a:solidFill>
              <a:srgbClr val="E3E8E4"/>
            </a:solidFill>
            <a:prstDash val="solid"/>
          </a:ln>
        </p:spPr>
      </p:sp>
      <p:sp>
        <p:nvSpPr>
          <p:cNvPr id="149" name="Shape 147"/>
          <p:cNvSpPr/>
          <p:nvPr/>
        </p:nvSpPr>
        <p:spPr>
          <a:xfrm>
            <a:off x="6355080" y="3785616"/>
            <a:ext cx="411480" cy="475488"/>
          </a:xfrm>
          <a:prstGeom prst="rect">
            <a:avLst/>
          </a:prstGeom>
          <a:solidFill>
            <a:srgbClr val="FFFFFF"/>
          </a:solidFill>
          <a:ln/>
        </p:spPr>
      </p:sp>
      <p:sp>
        <p:nvSpPr>
          <p:cNvPr id="150" name="Text 148"/>
          <p:cNvSpPr txBox="1"/>
          <p:nvPr/>
        </p:nvSpPr>
        <p:spPr>
          <a:xfrm>
            <a:off x="6400800" y="3785616"/>
            <a:ext cx="320040" cy="475488"/>
          </a:xfrm>
          <a:prstGeom prst="rect">
            <a:avLst/>
          </a:prstGeom>
          <a:noFill/>
          <a:ln/>
        </p:spPr>
        <p:txBody>
          <a:bodyPr wrap="square" lIns="0" tIns="0" rIns="0" bIns="0" rtlCol="0" anchor="ctr"/>
          <a:lstStyle/>
          <a:p>
            <a:pPr algn="l" indent="0" marL="0">
              <a:buNone/>
            </a:pPr>
            <a:r>
              <a:rPr lang="en-US" sz="950" b="1" dirty="0">
                <a:solidFill>
                  <a:srgbClr val="1F2937"/>
                </a:solidFill>
                <a:latin typeface="Calibri" pitchFamily="34" charset="0"/>
                <a:ea typeface="Calibri" pitchFamily="34" charset="-122"/>
                <a:cs typeface="Calibri" pitchFamily="34" charset="-120"/>
              </a:rPr>
              <a:t>R2</a:t>
            </a:r>
            <a:endParaRPr lang="en-US" sz="950" dirty="0"/>
          </a:p>
        </p:txBody>
      </p:sp>
      <p:sp>
        <p:nvSpPr>
          <p:cNvPr id="151" name="Shape 149"/>
          <p:cNvSpPr/>
          <p:nvPr/>
        </p:nvSpPr>
        <p:spPr>
          <a:xfrm>
            <a:off x="6766560" y="3785616"/>
            <a:ext cx="2743200" cy="475488"/>
          </a:xfrm>
          <a:prstGeom prst="rect">
            <a:avLst/>
          </a:prstGeom>
          <a:solidFill>
            <a:srgbClr val="FFFFFF"/>
          </a:solidFill>
          <a:ln/>
        </p:spPr>
      </p:sp>
      <p:sp>
        <p:nvSpPr>
          <p:cNvPr id="152" name="Text 150"/>
          <p:cNvSpPr txBox="1"/>
          <p:nvPr/>
        </p:nvSpPr>
        <p:spPr>
          <a:xfrm>
            <a:off x="6812280" y="3785616"/>
            <a:ext cx="265176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Limits and what we did not prove</a:t>
            </a:r>
            <a:endParaRPr lang="en-US" sz="950" dirty="0"/>
          </a:p>
        </p:txBody>
      </p:sp>
      <p:sp>
        <p:nvSpPr>
          <p:cNvPr id="153" name="Shape 151"/>
          <p:cNvSpPr/>
          <p:nvPr/>
        </p:nvSpPr>
        <p:spPr>
          <a:xfrm>
            <a:off x="9509760" y="3785616"/>
            <a:ext cx="1737360" cy="475488"/>
          </a:xfrm>
          <a:prstGeom prst="rect">
            <a:avLst/>
          </a:prstGeom>
          <a:solidFill>
            <a:srgbClr val="FFFFFF"/>
          </a:solidFill>
          <a:ln/>
        </p:spPr>
      </p:sp>
      <p:sp>
        <p:nvSpPr>
          <p:cNvPr id="154" name="Text 152"/>
          <p:cNvSpPr txBox="1"/>
          <p:nvPr/>
        </p:nvSpPr>
        <p:spPr>
          <a:xfrm>
            <a:off x="9555480" y="3785616"/>
            <a:ext cx="1645920" cy="475488"/>
          </a:xfrm>
          <a:prstGeom prst="rect">
            <a:avLst/>
          </a:prstGeom>
          <a:noFill/>
          <a:ln/>
        </p:spPr>
        <p:txBody>
          <a:bodyPr wrap="square" lIns="0" tIns="0" rIns="0" bIns="0" rtlCol="0" anchor="ctr"/>
          <a:lstStyle/>
          <a:p>
            <a:pPr algn="l" indent="0" marL="0">
              <a:buNone/>
            </a:pPr>
            <a:r>
              <a:rPr lang="en-US" sz="950" dirty="0">
                <a:solidFill>
                  <a:srgbClr val="1F2937"/>
                </a:solidFill>
                <a:latin typeface="Calibri" pitchFamily="34" charset="0"/>
                <a:ea typeface="Calibri" pitchFamily="34" charset="-122"/>
                <a:cs typeface="Calibri" pitchFamily="34" charset="-120"/>
              </a:rPr>
              <a:t>Validation, Appendix 7</a:t>
            </a:r>
            <a:endParaRPr lang="en-US" sz="950" dirty="0"/>
          </a:p>
        </p:txBody>
      </p:sp>
      <p:sp>
        <p:nvSpPr>
          <p:cNvPr id="155" name="Shape 153"/>
          <p:cNvSpPr/>
          <p:nvPr/>
        </p:nvSpPr>
        <p:spPr>
          <a:xfrm>
            <a:off x="11247120" y="3785616"/>
            <a:ext cx="822960" cy="475488"/>
          </a:xfrm>
          <a:prstGeom prst="rect">
            <a:avLst/>
          </a:prstGeom>
          <a:solidFill>
            <a:srgbClr val="1F4A82"/>
          </a:solidFill>
          <a:ln/>
        </p:spPr>
      </p:sp>
      <p:sp>
        <p:nvSpPr>
          <p:cNvPr id="156" name="Text 154"/>
          <p:cNvSpPr txBox="1"/>
          <p:nvPr/>
        </p:nvSpPr>
        <p:spPr>
          <a:xfrm>
            <a:off x="11292840" y="3785616"/>
            <a:ext cx="73152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p>
        </p:txBody>
      </p:sp>
      <p:sp>
        <p:nvSpPr>
          <p:cNvPr id="157" name="Shape 155"/>
          <p:cNvSpPr/>
          <p:nvPr/>
        </p:nvSpPr>
        <p:spPr>
          <a:xfrm>
            <a:off x="6355080" y="4261104"/>
            <a:ext cx="5715000" cy="0"/>
          </a:xfrm>
          <a:prstGeom prst="line">
            <a:avLst/>
          </a:prstGeom>
          <a:noFill/>
          <a:ln w="6350">
            <a:solidFill>
              <a:srgbClr val="E3E8E4"/>
            </a:solidFill>
            <a:prstDash val="solid"/>
          </a:ln>
        </p:spPr>
      </p:sp>
      <p:sp>
        <p:nvSpPr>
          <p:cNvPr id="158" name="Shape 156"/>
          <p:cNvSpPr/>
          <p:nvPr/>
        </p:nvSpPr>
        <p:spPr>
          <a:xfrm>
            <a:off x="6355080" y="4297680"/>
            <a:ext cx="256032" cy="256032"/>
          </a:xfrm>
          <a:prstGeom prst="rect">
            <a:avLst/>
          </a:prstGeom>
          <a:solidFill>
            <a:srgbClr val="1F4A82"/>
          </a:solidFill>
          <a:ln/>
        </p:spPr>
      </p:sp>
      <p:sp>
        <p:nvSpPr>
          <p:cNvPr id="159" name="Text 157"/>
          <p:cNvSpPr txBox="1"/>
          <p:nvPr/>
        </p:nvSpPr>
        <p:spPr>
          <a:xfrm>
            <a:off x="6355080" y="4297680"/>
            <a:ext cx="256032"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a:t>
            </a:r>
            <a:endParaRPr lang="en-US" sz="1150" dirty="0"/>
          </a:p>
        </p:txBody>
      </p:sp>
      <p:sp>
        <p:nvSpPr>
          <p:cNvPr id="160" name="Text 158"/>
          <p:cNvSpPr txBox="1"/>
          <p:nvPr/>
        </p:nvSpPr>
        <p:spPr>
          <a:xfrm>
            <a:off x="6684264" y="4297680"/>
            <a:ext cx="5065776" cy="256032"/>
          </a:xfrm>
          <a:prstGeom prst="rect">
            <a:avLst/>
          </a:prstGeom>
          <a:noFill/>
          <a:ln/>
        </p:spPr>
        <p:txBody>
          <a:bodyPr wrap="square" lIns="0" tIns="0" rIns="0" bIns="0" rtlCol="0" anchor="ctr"/>
          <a:lstStyle/>
          <a:p>
            <a:pPr algn="l" indent="0" marL="0">
              <a:buNone/>
            </a:pPr>
            <a:r>
              <a:rPr lang="en-US" sz="1200" b="1" spc="50" kern="0" dirty="0">
                <a:solidFill>
                  <a:srgbClr val="1F4A82"/>
                </a:solidFill>
                <a:latin typeface="Calibri" pitchFamily="34" charset="0"/>
                <a:ea typeface="Calibri" pitchFamily="34" charset="-122"/>
                <a:cs typeface="Calibri" pitchFamily="34" charset="-120"/>
              </a:rPr>
              <a:t>HOW TO READ THE EVIDENCE COLUMN</a:t>
            </a:r>
            <a:endParaRPr lang="en-US" sz="1200" dirty="0"/>
          </a:p>
        </p:txBody>
      </p:sp>
      <p:sp>
        <p:nvSpPr>
          <p:cNvPr id="161" name="Text 159"/>
          <p:cNvSpPr txBox="1"/>
          <p:nvPr/>
        </p:nvSpPr>
        <p:spPr>
          <a:xfrm>
            <a:off x="6355080" y="4617720"/>
            <a:ext cx="5394960" cy="1097280"/>
          </a:xfrm>
          <a:prstGeom prst="rect">
            <a:avLst/>
          </a:prstGeom>
          <a:noFill/>
          <a:ln/>
        </p:spPr>
        <p:txBody>
          <a:bodyPr wrap="square" lIns="0" tIns="0" rIns="0" bIns="0" rtlCol="0" anchor="t"/>
          <a:lstStyle/>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Measured: a number from our own run on public data or the test suite.</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Built: working code with tests, shown on synthetic data.</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Designed: specified in the contracts, not coded yet.</a:t>
            </a:r>
            <a:endParaRPr lang="en-US" sz="1000" dirty="0"/>
          </a:p>
          <a:p>
            <a:pPr algn="l" marL="152400" indent="-1524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Assumption: a model input with a stated range, to be tested in interviews and the pilot.</a:t>
            </a:r>
            <a:endParaRPr lang="en-US" sz="1000" dirty="0"/>
          </a:p>
        </p:txBody>
      </p:sp>
      <p:sp>
        <p:nvSpPr>
          <p:cNvPr id="162" name="Shape 160"/>
          <p:cNvSpPr/>
          <p:nvPr/>
        </p:nvSpPr>
        <p:spPr>
          <a:xfrm>
            <a:off x="411480" y="5029200"/>
            <a:ext cx="5669280" cy="1188720"/>
          </a:xfrm>
          <a:prstGeom prst="rect">
            <a:avLst/>
          </a:prstGeom>
          <a:solidFill>
            <a:srgbClr val="F4F7FB"/>
          </a:solidFill>
          <a:ln/>
        </p:spPr>
      </p:sp>
      <p:sp>
        <p:nvSpPr>
          <p:cNvPr id="163" name="Text 161"/>
          <p:cNvSpPr txBox="1"/>
          <p:nvPr/>
        </p:nvSpPr>
        <p:spPr>
          <a:xfrm>
            <a:off x="548640" y="5029200"/>
            <a:ext cx="5394960" cy="1188720"/>
          </a:xfrm>
          <a:prstGeom prst="rect">
            <a:avLst/>
          </a:prstGeom>
          <a:noFill/>
          <a:ln/>
        </p:spPr>
        <p:txBody>
          <a:bodyPr wrap="square" lIns="0" tIns="0" rIns="0" bIns="0" rtlCol="0" anchor="ctr"/>
          <a:lstStyle/>
          <a:p>
            <a:pPr algn="l" indent="0" marL="0">
              <a:buNone/>
            </a:pPr>
            <a:r>
              <a:rPr lang="en-US" sz="1050" b="1" dirty="0">
                <a:solidFill>
                  <a:srgbClr val="1F4A82"/>
                </a:solidFill>
                <a:latin typeface="Calibri" pitchFamily="34" charset="0"/>
                <a:ea typeface="Calibri" pitchFamily="34" charset="-122"/>
                <a:cs typeface="Calibri" pitchFamily="34" charset="-120"/>
              </a:rPr>
              <a:t>Every slide states its limits. </a:t>
            </a:r>
            <a:pPr algn="l" indent="0" marL="0">
              <a:buNone/>
            </a:pPr>
            <a:r>
              <a:rPr lang="en-US" sz="1050" dirty="0">
                <a:solidFill>
                  <a:srgbClr val="1F2937"/>
                </a:solidFill>
                <a:latin typeface="Calibri" pitchFamily="34" charset="0"/>
                <a:ea typeface="Calibri" pitchFamily="34" charset="-122"/>
                <a:cs typeface="Calibri" pitchFamily="34" charset="-120"/>
              </a:rPr>
              <a:t>We would rather show an honest 6.6 % than copy a hopeful 25 %, and rather mark a gate as pending than quote a number we have not measured. The case says teams that state assumptions and limits score higher, so we put them on the page.</a:t>
            </a:r>
            <a:endParaRPr lang="en-US" sz="1050" dirty="0"/>
          </a:p>
        </p:txBody>
      </p:sp>
      <p:sp>
        <p:nvSpPr>
          <p:cNvPr id="164" name="Text 162"/>
          <p:cNvSpPr txBox="1"/>
          <p:nvPr/>
        </p:nvSpPr>
        <p:spPr>
          <a:xfrm>
            <a:off x="411480" y="6364224"/>
            <a:ext cx="11338560" cy="146304"/>
          </a:xfrm>
          <a:prstGeom prst="rect">
            <a:avLst/>
          </a:prstGeom>
          <a:noFill/>
          <a:ln/>
        </p:spPr>
        <p:txBody>
          <a:bodyPr wrap="square" lIns="0" tIns="0" rIns="0" bIns="0" rtlCol="0" anchor="ctr"/>
          <a:lstStyle/>
          <a:p>
            <a:pPr algn="l" indent="0" marL="0">
              <a:buNone/>
            </a:pPr>
            <a:r>
              <a:rPr lang="en-US" sz="850" i="1" dirty="0">
                <a:solidFill>
                  <a:srgbClr val="5B6573"/>
                </a:solidFill>
                <a:latin typeface="Calibri" pitchFamily="34" charset="0"/>
                <a:ea typeface="Calibri" pitchFamily="34" charset="-122"/>
                <a:cs typeface="Calibri" pitchFamily="34" charset="-120"/>
              </a:rPr>
              <a:t>Source: Participant Guide sections 4, 8 and 10 (questions and rubric). T = technology question, B = business question, R = round-1 deliverable or limit.</a:t>
            </a:r>
            <a:endParaRPr lang="en-US" sz="850" dirty="0"/>
          </a:p>
        </p:txBody>
      </p:sp>
      <p:sp>
        <p:nvSpPr>
          <p:cNvPr id="25" name="Slide Number Placeholder 0"/>
          <p:cNvSpPr>
            <a:spLocks noGrp="1"/>
          </p:cNvSpPr>
          <p:nvPr>
            <p:ph type="sldNum" sz="quarter" idx="4294967295"/>
          </p:nvPr>
        </p:nvSpPr>
        <p:spPr>
          <a:xfrm>
            <a:off x="11247120" y="6528816"/>
            <a:ext cx="530352" cy="274320"/>
          </a:xfrm>
          <a:prstGeom prst="rect">
            <a:avLst/>
          </a:prstGeom>
          <a:extLst>
            <a:ext uri="{C572A759-6A51-4108-AA02-DFA0A04FC94B}">
              <ma14:wrappingTextBoxFlag xmlns:ma14="http://schemas.microsoft.com/office/mac/drawingml/2011/main" val="0"/>
            </a:ext>
          </a:extLst>
        </p:spPr>
        <p:txBody>
          <a:bodyPr anchor="ctr"/>
          <a:lstStyle>
            <a:lvl1pPr>
              <a:defRPr sz="13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411480" y="274320"/>
            <a:ext cx="8412480" cy="548640"/>
          </a:xfrm>
          <a:prstGeom prst="rect">
            <a:avLst/>
          </a:prstGeom>
          <a:noFill/>
          <a:ln/>
        </p:spPr>
        <p:txBody>
          <a:bodyPr wrap="square" lIns="0" tIns="0" rIns="0" bIns="0" rtlCol="0" anchor="ctr"/>
          <a:lstStyle/>
          <a:p>
            <a:pPr indent="0" marL="0">
              <a:buNone/>
            </a:pPr>
            <a:r>
              <a:rPr lang="en-US" sz="2800" b="1" dirty="0">
                <a:solidFill>
                  <a:srgbClr val="1F4A82"/>
                </a:solidFill>
                <a:latin typeface="Calibri" pitchFamily="34" charset="0"/>
                <a:ea typeface="Calibri" pitchFamily="34" charset="-122"/>
                <a:cs typeface="Calibri" pitchFamily="34" charset="-120"/>
              </a:rPr>
              <a:t>How we used AI, and what we cited</a:t>
            </a:r>
            <a:endParaRPr lang="en-US" sz="2800" dirty="0"/>
          </a:p>
        </p:txBody>
      </p:sp>
      <p:sp>
        <p:nvSpPr>
          <p:cNvPr id="3" name="Shape 1"/>
          <p:cNvSpPr/>
          <p:nvPr/>
        </p:nvSpPr>
        <p:spPr>
          <a:xfrm>
            <a:off x="411480" y="1554480"/>
            <a:ext cx="5547208" cy="4206240"/>
          </a:xfrm>
          <a:prstGeom prst="roundRect">
            <a:avLst>
              <a:gd name="adj" fmla="val 435"/>
            </a:avLst>
          </a:prstGeom>
          <a:solidFill>
            <a:srgbClr val="E3ECF7"/>
          </a:solidFill>
          <a:ln w="19050">
            <a:solidFill>
              <a:srgbClr val="1F4A82"/>
            </a:solidFill>
            <a:prstDash val="solid"/>
          </a:ln>
        </p:spPr>
      </p:sp>
      <p:sp>
        <p:nvSpPr>
          <p:cNvPr id="4" name="Shape 2"/>
          <p:cNvSpPr/>
          <p:nvPr/>
        </p:nvSpPr>
        <p:spPr>
          <a:xfrm>
            <a:off x="685800" y="1737360"/>
            <a:ext cx="2560320" cy="411480"/>
          </a:xfrm>
          <a:prstGeom prst="roundRect">
            <a:avLst>
              <a:gd name="adj" fmla="val 4444"/>
            </a:avLst>
          </a:prstGeom>
          <a:solidFill>
            <a:srgbClr val="1F4A82"/>
          </a:solidFill>
          <a:ln/>
        </p:spPr>
      </p:sp>
      <p:sp>
        <p:nvSpPr>
          <p:cNvPr id="5" name="Text 3"/>
          <p:cNvSpPr txBox="1"/>
          <p:nvPr/>
        </p:nvSpPr>
        <p:spPr>
          <a:xfrm>
            <a:off x="685800"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AI tools</a:t>
            </a:r>
            <a:endParaRPr lang="en-US" sz="1500" dirty="0"/>
          </a:p>
        </p:txBody>
      </p:sp>
      <p:sp>
        <p:nvSpPr>
          <p:cNvPr id="6" name="Text 4"/>
          <p:cNvSpPr txBox="1"/>
          <p:nvPr/>
        </p:nvSpPr>
        <p:spPr>
          <a:xfrm>
            <a:off x="685800"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Claude: planning, code review, documentation.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Google Antigravity agents: code generation.</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Perplexity and Gemini Deep Research: literature and regulation research.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Everything was reviewed and tested by the team; research claims were checked against primary sources where possible.</a:t>
            </a:r>
            <a:endParaRPr lang="en-US" sz="1700" dirty="0"/>
          </a:p>
        </p:txBody>
      </p:sp>
      <p:sp>
        <p:nvSpPr>
          <p:cNvPr id="7" name="Shape 5"/>
          <p:cNvSpPr/>
          <p:nvPr/>
        </p:nvSpPr>
        <p:spPr>
          <a:xfrm>
            <a:off x="6233008" y="1554480"/>
            <a:ext cx="5547208" cy="4206240"/>
          </a:xfrm>
          <a:prstGeom prst="roundRect">
            <a:avLst>
              <a:gd name="adj" fmla="val 435"/>
            </a:avLst>
          </a:prstGeom>
          <a:solidFill>
            <a:srgbClr val="E3ECF7"/>
          </a:solidFill>
          <a:ln w="19050">
            <a:solidFill>
              <a:srgbClr val="1F4A82"/>
            </a:solidFill>
            <a:prstDash val="solid"/>
          </a:ln>
        </p:spPr>
      </p:sp>
      <p:sp>
        <p:nvSpPr>
          <p:cNvPr id="8" name="Shape 6"/>
          <p:cNvSpPr/>
          <p:nvPr/>
        </p:nvSpPr>
        <p:spPr>
          <a:xfrm>
            <a:off x="6507328" y="1737360"/>
            <a:ext cx="2560320" cy="411480"/>
          </a:xfrm>
          <a:prstGeom prst="roundRect">
            <a:avLst>
              <a:gd name="adj" fmla="val 4444"/>
            </a:avLst>
          </a:prstGeom>
          <a:solidFill>
            <a:srgbClr val="1F4A82"/>
          </a:solidFill>
          <a:ln/>
        </p:spPr>
      </p:sp>
      <p:sp>
        <p:nvSpPr>
          <p:cNvPr id="9" name="Text 7"/>
          <p:cNvSpPr txBox="1"/>
          <p:nvPr/>
        </p:nvSpPr>
        <p:spPr>
          <a:xfrm>
            <a:off x="6507328" y="1737360"/>
            <a:ext cx="256032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Public data and libraries</a:t>
            </a:r>
            <a:endParaRPr lang="en-US" sz="1500" dirty="0"/>
          </a:p>
        </p:txBody>
      </p:sp>
      <p:sp>
        <p:nvSpPr>
          <p:cNvPr id="10" name="Text 8"/>
          <p:cNvSpPr txBox="1"/>
          <p:nvPr/>
        </p:nvSpPr>
        <p:spPr>
          <a:xfrm>
            <a:off x="6507328" y="2377440"/>
            <a:ext cx="4998568" cy="3291840"/>
          </a:xfrm>
          <a:prstGeom prst="rect">
            <a:avLst/>
          </a:prstGeom>
          <a:noFill/>
          <a:ln/>
        </p:spPr>
        <p:txBody>
          <a:bodyPr wrap="square" lIns="0" tIns="0" rIns="0" bIns="0" rtlCol="0" anchor="t"/>
          <a:lstStyle/>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OULAD (CC BY 4.0), ASSISTments 2009, the pyKT benchmark, JEEBench.</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Noto Sans Devanagari (SIL OFL), LightGBM, Ollama, FastAPI, PostgreSQL.</a:t>
            </a:r>
            <a:endParaRPr lang="en-US" sz="1700" dirty="0"/>
          </a:p>
          <a:p>
            <a:pPr algn="l" marL="177800" indent="-177800">
              <a:spcAft>
                <a:spcPts val="1000"/>
              </a:spcAft>
              <a:buSzPct val="100000"/>
              <a:buChar char="•"/>
            </a:pPr>
            <a:r>
              <a:rPr lang="en-US" sz="1700" dirty="0">
                <a:solidFill>
                  <a:srgbClr val="1F2937"/>
                </a:solidFill>
                <a:latin typeface="Calibri" pitchFamily="34" charset="0"/>
                <a:ea typeface="Calibri" pitchFamily="34" charset="-122"/>
                <a:cs typeface="Calibri" pitchFamily="34" charset="-120"/>
              </a:rPr>
              <a:t>Full list with licences: technical/docs/CITATIONS.md in the repository.</a:t>
            </a:r>
            <a:endParaRPr lang="en-US" sz="1700" dirty="0"/>
          </a:p>
        </p:txBody>
      </p:sp>
      <p:sp>
        <p:nvSpPr>
          <p:cNvPr id="11" name="Text 9"/>
          <p:cNvSpPr txBox="1"/>
          <p:nvPr/>
        </p:nvSpPr>
        <p:spPr>
          <a:xfrm>
            <a:off x="4572000" y="6126480"/>
            <a:ext cx="7205472" cy="411480"/>
          </a:xfrm>
          <a:prstGeom prst="rect">
            <a:avLst/>
          </a:prstGeom>
          <a:noFill/>
          <a:ln/>
        </p:spPr>
        <p:txBody>
          <a:bodyPr wrap="square" lIns="0" tIns="0" rIns="0" bIns="0" rtlCol="0" anchor="ctr"/>
          <a:lstStyle/>
          <a:p>
            <a:pPr algn="r" indent="0" marL="0">
              <a:buNone/>
            </a:pPr>
            <a:r>
              <a:rPr lang="en-US" sz="1300" dirty="0">
                <a:solidFill>
                  <a:srgbClr val="5B6573"/>
                </a:solidFill>
                <a:latin typeface="Calibri" pitchFamily="34" charset="0"/>
                <a:ea typeface="Calibri" pitchFamily="34" charset="-122"/>
                <a:cs typeface="Calibri" pitchFamily="34" charset="-120"/>
              </a:rPr>
              <a:t>github.com/AdityaKuranjekar/institute-intelligence-platform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AlphaQ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AlphaQ: Case B, The Data Moat (Round 1)</dc:title>
  <dc:subject>PptxGenJS Presentation</dc:subject>
  <dc:creator>AlphaQ</dc:creator>
  <cp:lastModifiedBy>AlphaQ</cp:lastModifiedBy>
  <cp:revision>1</cp:revision>
  <dcterms:created xsi:type="dcterms:W3CDTF">2026-10-22T14:51:08Z</dcterms:created>
  <dcterms:modified xsi:type="dcterms:W3CDTF">2026-10-22T14:51:08Z</dcterms:modified>
</cp:coreProperties>
</file>